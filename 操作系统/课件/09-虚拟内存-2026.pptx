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75"/>
  </p:notesMasterIdLst>
  <p:handoutMasterIdLst>
    <p:handoutMasterId r:id="rId76"/>
  </p:handoutMasterIdLst>
  <p:sldIdLst>
    <p:sldId id="331" r:id="rId2"/>
    <p:sldId id="332" r:id="rId3"/>
    <p:sldId id="334" r:id="rId4"/>
    <p:sldId id="335" r:id="rId5"/>
    <p:sldId id="407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7" r:id="rId17"/>
    <p:sldId id="348" r:id="rId18"/>
    <p:sldId id="349" r:id="rId19"/>
    <p:sldId id="351" r:id="rId20"/>
    <p:sldId id="352" r:id="rId21"/>
    <p:sldId id="353" r:id="rId22"/>
    <p:sldId id="354" r:id="rId23"/>
    <p:sldId id="356" r:id="rId24"/>
    <p:sldId id="358" r:id="rId25"/>
    <p:sldId id="355" r:id="rId26"/>
    <p:sldId id="359" r:id="rId27"/>
    <p:sldId id="360" r:id="rId28"/>
    <p:sldId id="361" r:id="rId29"/>
    <p:sldId id="362" r:id="rId30"/>
    <p:sldId id="363" r:id="rId31"/>
    <p:sldId id="364" r:id="rId32"/>
    <p:sldId id="365" r:id="rId33"/>
    <p:sldId id="366" r:id="rId34"/>
    <p:sldId id="367" r:id="rId35"/>
    <p:sldId id="368" r:id="rId36"/>
    <p:sldId id="369" r:id="rId37"/>
    <p:sldId id="370" r:id="rId38"/>
    <p:sldId id="371" r:id="rId39"/>
    <p:sldId id="372" r:id="rId40"/>
    <p:sldId id="412" r:id="rId41"/>
    <p:sldId id="373" r:id="rId42"/>
    <p:sldId id="374" r:id="rId43"/>
    <p:sldId id="375" r:id="rId44"/>
    <p:sldId id="376" r:id="rId45"/>
    <p:sldId id="413" r:id="rId46"/>
    <p:sldId id="377" r:id="rId47"/>
    <p:sldId id="378" r:id="rId48"/>
    <p:sldId id="414" r:id="rId49"/>
    <p:sldId id="380" r:id="rId50"/>
    <p:sldId id="382" r:id="rId51"/>
    <p:sldId id="383" r:id="rId52"/>
    <p:sldId id="384" r:id="rId53"/>
    <p:sldId id="385" r:id="rId54"/>
    <p:sldId id="386" r:id="rId55"/>
    <p:sldId id="415" r:id="rId56"/>
    <p:sldId id="387" r:id="rId57"/>
    <p:sldId id="388" r:id="rId58"/>
    <p:sldId id="389" r:id="rId59"/>
    <p:sldId id="390" r:id="rId60"/>
    <p:sldId id="409" r:id="rId61"/>
    <p:sldId id="391" r:id="rId62"/>
    <p:sldId id="397" r:id="rId63"/>
    <p:sldId id="398" r:id="rId64"/>
    <p:sldId id="416" r:id="rId65"/>
    <p:sldId id="399" r:id="rId66"/>
    <p:sldId id="400" r:id="rId67"/>
    <p:sldId id="410" r:id="rId68"/>
    <p:sldId id="401" r:id="rId69"/>
    <p:sldId id="402" r:id="rId70"/>
    <p:sldId id="403" r:id="rId71"/>
    <p:sldId id="404" r:id="rId72"/>
    <p:sldId id="411" r:id="rId73"/>
    <p:sldId id="406" r:id="rId74"/>
  </p:sldIdLst>
  <p:sldSz cx="12192000" cy="6858000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5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89" autoAdjust="0"/>
    <p:restoredTop sz="77528" autoAdjust="0"/>
  </p:normalViewPr>
  <p:slideViewPr>
    <p:cSldViewPr snapToGrid="0">
      <p:cViewPr varScale="1">
        <p:scale>
          <a:sx n="92" d="100"/>
          <a:sy n="92" d="100"/>
        </p:scale>
        <p:origin x="1829" y="77"/>
      </p:cViewPr>
      <p:guideLst>
        <p:guide orient="horz" pos="816"/>
        <p:guide pos="587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38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73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D802E82-771D-44F0-6B56-1620A64779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B6335F1-F124-C59E-173B-2A113121D74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ED42776C-E122-9A09-5AC5-4ACD7D9A694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06D8BCE5-94F1-2D13-9F34-84651F6C89D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fld id="{AA8E1446-5B3D-4A1D-A8F3-3A3A16BDFD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AAD2732-0338-1076-EAEB-B8BFDD3B84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CCC1BF7-D13D-A303-9DB7-574445CB85A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4342621-8C95-FE36-9054-1D813D63EEEB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420688" y="704850"/>
            <a:ext cx="6246812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6B7CBD24-7053-5BA7-CC96-8EC0A58FD5C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CC428FC5-470B-F28C-13B2-0EC391426C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88D19158-9FBC-2C6D-AF53-9AA2BC65C7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3ED4D20-9103-469F-A427-A01CE8C1B1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8BB5595E-4BBE-6EDC-59C0-5580E30336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58C1241-A4B1-4E18-A3A2-379FB2C0BE5B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6456E15-42E0-8306-0CE7-50E0176F7FA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7718464B-AC85-372D-B3EF-1768F17FEA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262A2E85-31D1-866B-FA8D-AC4FC52B1E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CE00258-0132-430D-A77C-3EFE672F4C7C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807FFDCD-02BE-B02D-F819-8E89405DB6A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CD57748-D141-A7C7-350B-2DCCFE503D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01523F6A-2E38-F7A0-B07A-9083965405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E275583-77E0-48AF-A6AD-A76B0FE03286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23E25DEA-9061-75FE-C019-79EDA6B013A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0FF0BACF-5EEB-0B1D-B753-A48D2A8878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74136B47-F31E-1CA7-B0B0-996080A046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06EF0-C8D0-4A22-BAEB-FA35A7A1F885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9F482705-6D66-0138-B075-D18CBF8B987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9B9E676D-D984-4110-45B1-DCC1A51C3B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A0E86B4D-14B0-AE93-6A29-B6FE13B76F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F5F740-9F2A-44DE-968E-AEF1F3145872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5A1AA9BD-BF04-EBFE-6925-45295AC72BF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E42C8343-3E2B-B6B9-1DE7-A395968632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D9B5EE81-78C3-EEF8-C32A-1CFF8B4BAA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4279ED-333D-4A9E-87CC-427E8BF9D742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3DAD27C5-3F1F-0971-171D-2C198B3DC83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10B0E03-08C5-A688-3768-976D1A24C5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A1706363-D2F2-A786-C3E2-552AF96AA7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C11144-EE2A-4C90-BFD8-E09BD010A35D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F70ADAC7-0BB5-CDBB-05B1-C5ADA13F96E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FC1D1B3E-AC98-57B0-8FFE-C0EA2480DD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387BA4EA-51D5-BC04-8643-C745D5F118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619866-4E8E-47D8-B476-26F2CBEEDC25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A02B5BA-8672-5989-9300-4B834811374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135671D2-20F9-BCF2-8E91-E6B026597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B47A1168-973C-651E-3F95-C408A224BC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6F3D3C-0D53-4803-83EB-8050F8936D56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07D08887-0416-F902-4A34-219EE2ADF75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F980DF2B-4A76-9BDE-B1A9-1C57E068B6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3D</a:t>
            </a:r>
            <a:r>
              <a:rPr lang="zh-CN" altLang="en-US">
                <a:latin typeface="Times New Roman" panose="02020603050405020304" pitchFamily="18" charset="0"/>
              </a:rPr>
              <a:t>游戏中场景的加载</a:t>
            </a: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4F854759-FC6B-4953-FF4E-C46C2D0B3C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46693E0-8A96-44C6-A04A-0E6EDA93A434}" type="slidenum">
              <a:rPr lang="en-US" altLang="en-US" smtClean="0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59A5537F-2855-1C4F-7CDA-E69CAA38D69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1FC19426-AE5C-2890-9488-5F37E03482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086667DC-8CA8-EE86-0144-6596534B4D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FEB7D29-F361-4B0C-A04E-5DE84BA1DB6A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38D0434A-C70D-2CAF-6A3F-D9CDC24EE45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67F20F02-44A9-9862-10D1-285D6A43B1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88619C0-FF8F-856E-9CA7-505D4379AC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8DCCD2-B05B-4907-9462-0EE69F6D411C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A44B8662-E65A-A152-615A-FB71885F86F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02D98E6-0690-EDB1-803E-2B5EDCB45B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30F062C8-F839-41A1-9DCB-17C6E7E449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103C4CF-EA1C-4391-BA57-A90476F5A57A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1F06FF3-C203-4080-57E8-18AE62B5C81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74949482-4C41-CC11-5591-BA7B6EE0F4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C557E6F3-102E-3085-28B1-1BAC492E75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70B221B5-C61B-30DB-CA4B-6DEF6097C4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935B0FD5-D855-B089-698B-D85E426A48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49D80C-0FBE-424A-8D0E-9572BFD38BF3}" type="slidenum">
              <a:rPr lang="en-US" altLang="zh-CN" smtClean="0">
                <a:latin typeface="Times New Roman" panose="02020603050405020304" pitchFamily="18" charset="0"/>
              </a:rPr>
              <a:pPr/>
              <a:t>15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DFEE1B3B-F616-0FC6-151F-206A984A6B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5F6492-58F8-4F8B-AAA0-6FB1D20DCB1F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42D0437-B5DC-D50B-B350-CE9071457EA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78C32B9-28EC-AE07-D3F8-B300688E4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A6A6EAFC-DD50-2482-1EC8-B6B6111301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7A95934-E50B-4837-8A20-928AEDDA63C4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E9FDF260-335B-A158-D734-3A538E9CF3C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1274E3CC-8E50-D4C0-46D1-2521F1E7A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C0D5C2BE-E6BB-29B3-94B0-14FFB3E07E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20DB0A6-3E56-48DB-8423-AA3666C99BFE}" type="slidenum">
              <a:rPr lang="en-US" altLang="en-US" smtClean="0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FE1BB41-57DC-A5BA-6F44-187A94217F1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0532FE78-02A6-803C-216A-952EB41518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AD5627BB-2886-D450-4E44-DD5B81F3FA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7945F6-D2CD-48EC-88EA-0E33E60DBD1E}" type="slidenum">
              <a:rPr lang="en-US" altLang="en-US" smtClean="0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BEF0072B-0E35-3724-959B-9CB7FB53039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7A8D1CEF-1DA0-85A8-B77D-14E7D4AC55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D10C5A93-52BE-92D6-0F12-FE96A6F1B8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2BC85D-64D8-4A86-9E74-905BDAF1E362}" type="slidenum">
              <a:rPr lang="en-US" altLang="en-US" smtClean="0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B14FD91A-D107-15B1-C0C1-F88E07DCC28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4D0D7D4-2684-B345-24CE-16DEA7AFE8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D5423FD5-CC4F-A08D-EEDA-38041BE70E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57B8B7-B1B5-48C2-8714-AED2868DC9C0}" type="slidenum">
              <a:rPr lang="en-US" altLang="en-US" smtClean="0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BB7E85C9-8F28-678E-D4DA-5ECA1437A28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5A8535FC-627A-9CE8-134F-2426CF7D0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81BDD9DD-FE53-0521-E4DC-7846710872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73AC297-3DBC-4FB8-B78F-4BD2FBF82461}" type="slidenum">
              <a:rPr lang="en-US" altLang="en-US" smtClean="0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8FB79AA0-C636-A7B6-1297-B46B28F10E9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31D76F60-CB46-A4B5-422F-CACA896208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67728F3B-CEAC-B647-4095-EAAAEDDB51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710E75C-01C7-4FF7-B370-870810459339}" type="slidenum">
              <a:rPr lang="en-US" altLang="en-US" smtClean="0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4679BA2A-5C19-4CEE-30E9-BF596F9FEEF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A3DD3144-2F21-BF14-BBB4-D9B45DF6BF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AC0E18BB-8DC6-A69D-AC2B-74B90B323B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591FE23-9C06-42BF-83C1-739BE7954ED4}" type="slidenum">
              <a:rPr lang="en-US" altLang="en-US" smtClean="0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AE84B6D0-B273-652D-CBD5-B90CB1D1704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D7D51514-C962-B99B-9098-B13B430DF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F871DE87-0FAD-1699-675C-4240774D66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96063A-77B1-4EBA-9CEB-C5FE7B557BCD}" type="slidenum">
              <a:rPr lang="en-US" altLang="en-US" smtClean="0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47E2C8D4-B08A-ECD1-D8BD-3D7F5690BE5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97EBF5E7-5499-11F8-8818-3A7E6EEED3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9FBD89BD-E539-0FF7-B682-ECD5F566E6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C508E0-EF62-41FC-B808-72329B26C85E}" type="slidenum">
              <a:rPr lang="en-US" altLang="en-US" smtClean="0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923F67E0-1873-6B4F-4F50-B29B71AEBE6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AC21AE9E-776E-B433-FAE1-6CAD8A0E94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6E8F729F-BDFB-7D48-A68D-4DB2AA0F97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DAECA49-0779-4449-B0D4-FB24713194C2}" type="slidenum">
              <a:rPr lang="en-US" altLang="en-US" smtClean="0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ADBC76B3-0772-F751-61FC-C39C3D11133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4B9D1E16-6803-4542-A0AC-DA18170446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82FE8569-14E4-CB6E-C9DE-77111070B3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52F871-C89D-4D42-8D91-8E433570B9F4}" type="slidenum">
              <a:rPr lang="en-US" altLang="en-US" smtClean="0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D3F1E67C-E9B1-F0E9-8D29-F735A359857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93E5E727-B3AA-164C-91B2-1EB44B8B58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332C11BE-CB26-6E20-2AD3-C4DE016934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D282A2-8E35-41CB-8A2C-4F9EA7CED508}" type="slidenum">
              <a:rPr lang="en-US" altLang="en-US" smtClean="0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C67CB79A-2820-376E-B07E-9B814C79245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5C1F77A8-5A9D-474C-2BF0-E15534F76C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D9F24320-A81C-068E-5B92-F016ABFBC3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52E655-7186-41D3-90E8-A10213B46776}" type="slidenum">
              <a:rPr lang="en-US" altLang="en-US" smtClean="0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1E4C1F10-3F0B-C2E6-8DB6-8B8279ED5E3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D7C8B0C6-C640-58E9-7A79-FD0F552AEC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319B5ADA-5B7D-BBB0-2054-639666EABC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AA382F-3B21-41E7-BE98-C8AEF5F42832}" type="slidenum">
              <a:rPr lang="en-US" altLang="en-US" smtClean="0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BC3FC2E8-570F-16A9-817C-0ECF16DD3FD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EA571E75-0879-1741-E7F3-17BAD5F7C2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97DC2F3D-F7EC-F19E-953F-615753EADF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B03CA5-14E8-4F4E-9550-C8908D82EE5B}" type="slidenum">
              <a:rPr lang="en-US" altLang="en-US" smtClean="0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AE7FE153-84F7-1E3B-684D-91E0079AA1E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EC75E847-4A72-BC4F-CD77-DD5F9D4B3E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21E661CE-4B83-5B70-E83F-591CBA2287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9D8F2E0-17D2-4925-9B43-4F6EF5E240AF}" type="slidenum">
              <a:rPr lang="en-US" altLang="en-US" smtClean="0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C611B6E6-2B52-8C81-EFBD-F17A33DB2C6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764DD377-E3B9-0017-89D8-2879AB9BD7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D516D9D5-240C-5270-8E5B-8A165079B9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BE264CA-7A3E-4008-B11D-C8BA33E940C8}" type="slidenum">
              <a:rPr lang="en-US" altLang="en-US" smtClean="0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0EF89795-CFAF-02C5-744A-F3963D76970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6009FC39-8118-E754-6BA0-04785595B1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376F16DB-5A7C-A8C0-4BA5-597B5DDF3E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C421A8-C753-47B6-A964-A423AB70AF4F}" type="slidenum">
              <a:rPr lang="en-US" altLang="en-US" smtClean="0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F2B87F49-4A06-6774-7E59-AC97FF02109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59A5D16A-D94E-4007-0326-DEE7C710FD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C60E00E5-1F59-CF6E-FABF-92DDFB5B9D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D2CB8BC-0CA4-4195-B7A9-055AF2371873}" type="slidenum">
              <a:rPr lang="en-US" altLang="en-US" smtClean="0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0DA29DE0-D051-A406-CE93-9DA0630C18E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5CE431AF-E0DD-8ED5-C252-2691DBFE80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1074FA0E-F6DF-86AC-2778-32045AF236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1BA811B-7FCB-4CBC-B3AE-032BD7FC64B1}" type="slidenum">
              <a:rPr lang="en-US" altLang="en-US" smtClean="0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EF85C16F-AE0D-6E02-AA6B-4D0A09F770E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1F4F1264-DD47-E40B-6E48-574C8501B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2E26808E-19B7-6230-1278-32C3848528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A9C828B-7228-480A-8375-AF97F385202C}" type="slidenum">
              <a:rPr lang="en-US" altLang="en-US" smtClean="0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9C14B857-7C05-0011-DCA9-B4E9C0A1032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468934CA-D22B-F47D-322B-61382F1188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85373587-D286-0587-D8C9-E775363409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FA5E095-A4EA-468F-9AB5-BF2EEFB0A0B4}" type="slidenum">
              <a:rPr lang="en-US" altLang="en-US" smtClean="0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E12675C4-983E-F93B-93BB-57C8EFA8B37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75235B2D-AFD3-F4B7-7151-0FB8185D70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3DFE598B-DF9C-2658-F471-AEF51C7C10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6C0AD78-E1AA-4637-A2D3-6D12434F049A}" type="slidenum">
              <a:rPr lang="en-US" altLang="en-US" smtClean="0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2CA36F97-F1C5-42E0-4434-B8DEBE74AD2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13F9C2D6-740D-2AE0-28C0-9CE67FFD96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50F569BC-BD46-4F6D-D98B-3EA54C3D0E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82A9AE-F6F5-4290-8995-40B83BE6C5E8}" type="slidenum">
              <a:rPr lang="en-US" altLang="en-US" smtClean="0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EB972E3C-527F-6D38-1540-AE1517050DC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3EC24934-33B5-D821-5C31-6DCA90E57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3713776E-A5BA-B29F-7D7D-85AB34749B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B62C44F-2231-4F82-A422-F0400F35A96F}" type="slidenum">
              <a:rPr lang="en-US" altLang="en-US" smtClean="0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2822DB88-BA87-6A17-3EC8-3FEBD0AD01F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8AACFB14-254C-5953-4CB2-DC68E0A074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1843D05E-3D45-8A66-4194-401F8380D2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4D0CA5-18B7-4FF4-9BE4-5D61C19D8060}" type="slidenum">
              <a:rPr lang="en-US" altLang="en-US" smtClean="0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D0512AA0-6862-5732-A30D-33F3D94C203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88C217D2-2DD0-EFE4-12C3-879292D306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462F9B1C-94A7-4434-303F-70611F8009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2177DA6-F16F-4113-BF3A-97804222BD03}" type="slidenum">
              <a:rPr lang="en-US" altLang="en-US" smtClean="0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BE7453CE-14D0-2464-CCC6-5D5AADFCD8D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1179F78B-CD9B-5A81-0450-1479DF4754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D6BBF993-722D-D154-F5A0-543BECE060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932A32-C7F8-4D04-8653-5FB1DE37F60C}" type="slidenum">
              <a:rPr lang="en-US" altLang="en-US" smtClean="0">
                <a:latin typeface="Times New Roman" panose="02020603050405020304" pitchFamily="18" charset="0"/>
              </a:rPr>
              <a:pPr/>
              <a:t>49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0CA55177-A823-EACF-FBA0-A67C705C606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8234C256-3A89-02EF-23BB-F1DDBE99F1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0A04A927-12D3-A25C-140C-5993A44939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3947E8F-CF5D-400F-BF96-BA93FB5EA0DA}" type="slidenum">
              <a:rPr lang="en-US" altLang="en-US" smtClean="0">
                <a:latin typeface="Times New Roman" panose="02020603050405020304" pitchFamily="18" charset="0"/>
              </a:rPr>
              <a:pPr/>
              <a:t>50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89E73434-BEB4-DF04-FF15-C538C53F0D1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CDDE61E2-84E8-9E7D-411D-B422A67E62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5216A393-EC8D-7B51-3D5D-42E23403A2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A6F175-EC67-4686-9F3B-B9E17EEAC649}" type="slidenum">
              <a:rPr lang="en-US" altLang="en-US" smtClean="0">
                <a:latin typeface="Times New Roman" panose="02020603050405020304" pitchFamily="18" charset="0"/>
              </a:rPr>
              <a:pPr/>
              <a:t>51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48068D6-A5D5-EC3C-8BF9-B740C4C8A70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260F03E1-10CB-ABF0-BAD5-58C890F981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8047238D-4260-34A1-4F8B-BB3847A49D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7E34D5-F6D6-4DC7-94CC-EEA9B6D28FC8}" type="slidenum">
              <a:rPr lang="en-US" altLang="en-US" smtClean="0">
                <a:latin typeface="Times New Roman" panose="02020603050405020304" pitchFamily="18" charset="0"/>
              </a:rPr>
              <a:pPr/>
              <a:t>52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65245AFA-262F-2311-D584-934FDF8AED6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676F0CB7-8CD5-9225-02CA-A2BA9BD8C3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82BEE8EC-6D7E-824C-F2B4-FDBB641737D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EF6FC404-F657-68D5-BACB-FA31835774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D9C2F70F-B442-2E98-6D54-54F61EB82A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B1BA555-F928-4622-9797-5D28BFF7DBDB}" type="slidenum">
              <a:rPr lang="en-US" altLang="en-US" smtClean="0">
                <a:latin typeface="Times New Roman" panose="02020603050405020304" pitchFamily="18" charset="0"/>
              </a:rPr>
              <a:pPr/>
              <a:t>54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AA8DB536-D84B-17F9-20EA-A2235F4CF54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60145EA7-B4D1-AA9C-F4A1-CD5009F812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A3A350D-0386-6A7D-B83D-1DEA6DA6D2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2CEE95-A6D5-4C8C-B58F-5DE0E5E287E7}" type="slidenum">
              <a:rPr lang="en-US" altLang="en-US" smtClean="0">
                <a:latin typeface="Times New Roman" panose="02020603050405020304" pitchFamily="18" charset="0"/>
              </a:rPr>
              <a:pPr/>
              <a:t>57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801B4C7D-9D0A-F8AB-756D-C1B07A8BEF1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E43C107-B157-12EF-CDCD-F9CEF48A88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B88E9FE6-9001-44C3-FEDD-A92AE93F73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E4E19A-1062-4A22-AAE0-AFE6AD0C48D2}" type="slidenum">
              <a:rPr lang="en-US" altLang="en-US" smtClean="0">
                <a:latin typeface="Times New Roman" panose="02020603050405020304" pitchFamily="18" charset="0"/>
              </a:rPr>
              <a:pPr/>
              <a:t>58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F4FF612-DCB0-84C7-3E4D-1C5B3837880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18344E60-CD65-B87E-2E06-058DEF079F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AA586270-9540-6406-08BA-CDA166821A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ADB6DF6-8AB8-4407-AB52-CAB614812A3F}" type="slidenum">
              <a:rPr lang="en-US" altLang="en-US" smtClean="0">
                <a:latin typeface="Times New Roman" panose="02020603050405020304" pitchFamily="18" charset="0"/>
              </a:rPr>
              <a:pPr/>
              <a:t>59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18462FA7-1556-3799-C214-BEC3C249015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7D72B448-0080-3D04-9D83-5A77C816C4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F34CAB6D-C0B7-D013-1E18-E7A796BF85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7C89847-7E5E-478C-8660-8694934DFA8E}" type="slidenum">
              <a:rPr lang="en-US" altLang="en-US" smtClean="0">
                <a:latin typeface="Times New Roman" panose="02020603050405020304" pitchFamily="18" charset="0"/>
              </a:rPr>
              <a:pPr/>
              <a:t>61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FF7FF7DA-7813-C55E-8B32-68BB00AF7F4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34BBD33C-A9DE-DACE-26D6-91AC03EDDC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1FE6205F-37D5-6DB7-12C5-42CFF758D3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9488D6D-8488-4D49-8B06-0B4CA54F8A03}" type="slidenum">
              <a:rPr lang="en-US" altLang="en-US" smtClean="0">
                <a:latin typeface="Times New Roman" panose="02020603050405020304" pitchFamily="18" charset="0"/>
              </a:rPr>
              <a:pPr/>
              <a:t>62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85FB4E83-1B4A-BC69-53C0-EA3B7731AE0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0F603ECD-2523-CE99-8B8F-B79DC3C6B2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7A50D513-FC89-A0ED-0FE9-03C31752D6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7E0E074-1EFE-40B2-BE62-4FB02B72926E}" type="slidenum">
              <a:rPr lang="en-US" altLang="en-US" smtClean="0">
                <a:latin typeface="Times New Roman" panose="02020603050405020304" pitchFamily="18" charset="0"/>
              </a:rPr>
              <a:pPr/>
              <a:t>63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429E5EF1-CE92-C9F5-9C56-A15E622D406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5904C9AC-A9DF-C7C2-F971-8C51846A0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E3AC879B-B805-C2F4-2197-E79C131494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46FF53-EE7D-42E6-8313-D6DD23A0CEDF}" type="slidenum">
              <a:rPr lang="en-US" altLang="en-US" smtClean="0">
                <a:latin typeface="Times New Roman" panose="02020603050405020304" pitchFamily="18" charset="0"/>
              </a:rPr>
              <a:pPr/>
              <a:t>64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BE63D220-CE33-9145-88A3-A009C3F823C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EF5E0483-D252-F392-90A7-FFBD2A709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813B6D25-F8C3-2980-0A22-78F2583CAE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0EBD1C-BCBE-4E3A-9F35-316A4A90EA32}" type="slidenum">
              <a:rPr lang="en-US" altLang="en-US" smtClean="0">
                <a:latin typeface="Times New Roman" panose="02020603050405020304" pitchFamily="18" charset="0"/>
              </a:rPr>
              <a:pPr/>
              <a:t>65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0B532524-4BF2-5C9A-7FE0-567EDB1B693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6855D37F-FFE1-5FA3-6209-DCACF434DF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287CCD3B-3015-6A40-29C8-48AC2EB5C7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C281453-42E9-45CE-B139-2243D5439F08}" type="slidenum">
              <a:rPr lang="en-US" altLang="en-US" smtClean="0">
                <a:latin typeface="Times New Roman" panose="02020603050405020304" pitchFamily="18" charset="0"/>
              </a:rPr>
              <a:pPr/>
              <a:t>66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99B731F7-96C1-0E9C-CC13-83ECBD8F07D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CC3F2B7E-35B5-30E1-3B25-C8FD012CB0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2B6E5041-33C7-C094-F90F-ACEABBCC93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363AD4-8C7E-4BD3-A26E-CDDCD0639EE4}" type="slidenum">
              <a:rPr lang="en-US" altLang="en-US" smtClean="0">
                <a:latin typeface="Times New Roman" panose="02020603050405020304" pitchFamily="18" charset="0"/>
              </a:rPr>
              <a:pPr/>
              <a:t>67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EA1DE3B5-AF10-19EA-1538-9A220CC8F30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588941D4-95AF-F3BF-F6BF-BEA496415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512C488D-4E7A-8B46-52B9-747CC5FA20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26BE1D-64B5-4B23-BC41-56E69ECD32D4}" type="slidenum">
              <a:rPr lang="en-US" altLang="en-US" smtClean="0">
                <a:latin typeface="Times New Roman" panose="02020603050405020304" pitchFamily="18" charset="0"/>
              </a:rPr>
              <a:pPr/>
              <a:t>68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E1E7C94A-580E-2A49-D366-F8B27D3CDB3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364326AB-A7C0-18E7-B5F7-477B80B5E4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03B8C5EA-A81A-5587-414E-4E43F21DF5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317A90-49FA-467F-BE54-2C82A9551DC0}" type="slidenum">
              <a:rPr lang="en-US" altLang="en-US" smtClean="0">
                <a:latin typeface="Times New Roman" panose="02020603050405020304" pitchFamily="18" charset="0"/>
              </a:rPr>
              <a:pPr/>
              <a:t>69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0DFEC664-E604-5890-07D7-24836D2C705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75BC69CF-4792-3E2E-4B80-52A7EF7C14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2D038A72-70CF-7B1B-90FF-5EBDCA7194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81EB423-ACD8-4238-B39B-C65136CA7CDC}" type="slidenum">
              <a:rPr lang="en-US" altLang="en-US" smtClean="0">
                <a:latin typeface="Times New Roman" panose="02020603050405020304" pitchFamily="18" charset="0"/>
              </a:rPr>
              <a:pPr/>
              <a:t>70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7AB4DC2E-489E-398F-6CE9-B6CA9400C69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CF4BAF73-F784-0A47-287C-454AA4D52A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>
            <a:extLst>
              <a:ext uri="{FF2B5EF4-FFF2-40B4-BE49-F238E27FC236}">
                <a16:creationId xmlns:a16="http://schemas.microsoft.com/office/drawing/2014/main" id="{02F1D085-9184-7D81-6437-0E88429ABC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E84DDD-15FB-42A2-89D5-F523FC856EA9}" type="slidenum">
              <a:rPr lang="en-US" altLang="en-US" smtClean="0">
                <a:latin typeface="Times New Roman" panose="02020603050405020304" pitchFamily="18" charset="0"/>
              </a:rPr>
              <a:pPr/>
              <a:t>71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DB5F0D18-98B1-DAE9-4006-75BBC5DAC7D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8E592FF2-EB8F-D9BE-CFC8-68A691137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533900AA-E966-48B9-B07D-DFF826B684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7E8490-1596-4659-B4AF-9A86881EBA36}" type="slidenum">
              <a:rPr lang="en-US" altLang="en-US" smtClean="0">
                <a:latin typeface="Times New Roman" panose="02020603050405020304" pitchFamily="18" charset="0"/>
              </a:rPr>
              <a:pPr/>
              <a:t>73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B4AD9063-5A28-D38E-B9F9-6BD38312CA8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40BA6E02-31D9-3A4E-0A8E-04816058B5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7CC44226-6771-5FC1-4A5E-FFB6D755D47B}"/>
              </a:ext>
            </a:extLst>
          </p:cNvPr>
          <p:cNvGrpSpPr>
            <a:grpSpLocks/>
          </p:cNvGrpSpPr>
          <p:nvPr/>
        </p:nvGrpSpPr>
        <p:grpSpPr bwMode="auto">
          <a:xfrm>
            <a:off x="265113" y="2960688"/>
            <a:ext cx="11480800" cy="201612"/>
            <a:chOff x="125" y="1865"/>
            <a:chExt cx="5424" cy="127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E7BDE165-6075-D308-F2DF-F6817586B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B89EC9A8-AFF6-D6A0-290B-ED8E23CB3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C48E3A86-043A-16DA-0800-4ED368864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pic>
        <p:nvPicPr>
          <p:cNvPr id="6" name="Picture 9" descr="dino_4">
            <a:extLst>
              <a:ext uri="{FF2B5EF4-FFF2-40B4-BE49-F238E27FC236}">
                <a16:creationId xmlns:a16="http://schemas.microsoft.com/office/drawing/2014/main" id="{2180075F-7875-93E5-6F35-9C7F5F5CC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513" y="4157663"/>
            <a:ext cx="2749550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0">
            <a:extLst>
              <a:ext uri="{FF2B5EF4-FFF2-40B4-BE49-F238E27FC236}">
                <a16:creationId xmlns:a16="http://schemas.microsoft.com/office/drawing/2014/main" id="{B6B52206-4941-FCAC-C12E-9E6858DDB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4006850"/>
            <a:ext cx="311626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5EB76C11-FC1B-99A5-E3F0-B31FBFFDC0A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513" y="6613525"/>
            <a:ext cx="2659062" cy="246063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1000" b="1">
                <a:solidFill>
                  <a:srgbClr val="336699"/>
                </a:solidFill>
              </a:rPr>
              <a:t>Operating System Concepts – 9</a:t>
            </a:r>
            <a:r>
              <a:rPr lang="en-US" altLang="zh-CN" sz="1000" b="1" baseline="30000">
                <a:solidFill>
                  <a:srgbClr val="336699"/>
                </a:solidFill>
              </a:rPr>
              <a:t>th</a:t>
            </a:r>
            <a:r>
              <a:rPr lang="en-US" altLang="zh-CN" sz="1000" b="1">
                <a:solidFill>
                  <a:srgbClr val="336699"/>
                </a:solidFill>
              </a:rPr>
              <a:t> Edition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363C7808-2BF3-E37E-FA70-D8A6FB5A675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89913" y="6611938"/>
            <a:ext cx="4002087" cy="246062"/>
          </a:xfrm>
          <a:prstGeom prst="rect">
            <a:avLst/>
          </a:prstGeom>
          <a:noFill/>
          <a:ln>
            <a:noFill/>
          </a:ln>
        </p:spPr>
        <p:txBody>
          <a:bodyPr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zh-CN" sz="1000" b="1" dirty="0" err="1">
                <a:solidFill>
                  <a:srgbClr val="336699"/>
                </a:solidFill>
                <a:latin typeface="Helvetica" panose="020B0604020202020204" pitchFamily="34" charset="0"/>
              </a:rPr>
              <a:t>Xidian</a:t>
            </a:r>
            <a:r>
              <a:rPr lang="en-US" altLang="zh-CN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University, Cyber Engineering, </a:t>
            </a:r>
            <a:r>
              <a:rPr lang="en-US" altLang="zh-CN" sz="1000" b="1" dirty="0" err="1">
                <a:solidFill>
                  <a:srgbClr val="336699"/>
                </a:solidFill>
                <a:latin typeface="Helvetica" panose="020B0604020202020204" pitchFamily="34" charset="0"/>
              </a:rPr>
              <a:t>Xiangyu</a:t>
            </a:r>
            <a:r>
              <a:rPr lang="en-US" altLang="zh-CN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Wang© 2026</a:t>
            </a: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632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05267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038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3872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6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8364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850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7597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4473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1462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88451" y="277813"/>
            <a:ext cx="285961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375651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0245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F3453E96-5EC6-DE4C-0A2B-C1AA6025D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59385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66F13EC-337B-DDE3-20A2-2977D14AD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65933DB-78A7-E61F-2537-6D2682ACF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4738" y="1233488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2602293-5E84-5793-85F0-A3A1ACB06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D9A125EE-EAD0-2605-0598-B9A3CAE7C0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860425"/>
            <a:ext cx="107696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0D1D952-D254-09C2-EF09-C8D1E8F87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EFE4D3D0-936F-8EDA-0A15-BA13F5B37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E6A19EE6-1B17-AD6C-7902-0724C313A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9925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3447036B-4D14-4301-A684-976870E79C07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pic>
        <p:nvPicPr>
          <p:cNvPr id="1034" name="Picture 12" descr="dino_6">
            <a:extLst>
              <a:ext uri="{FF2B5EF4-FFF2-40B4-BE49-F238E27FC236}">
                <a16:creationId xmlns:a16="http://schemas.microsoft.com/office/drawing/2014/main" id="{2FEC32B9-0239-B653-4BCF-B01E1646D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788" y="5849938"/>
            <a:ext cx="1712912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79" r:id="rId1"/>
    <p:sldLayoutId id="2147484469" r:id="rId2"/>
    <p:sldLayoutId id="2147484470" r:id="rId3"/>
    <p:sldLayoutId id="2147484471" r:id="rId4"/>
    <p:sldLayoutId id="2147484472" r:id="rId5"/>
    <p:sldLayoutId id="2147484473" r:id="rId6"/>
    <p:sldLayoutId id="2147484474" r:id="rId7"/>
    <p:sldLayoutId id="2147484475" r:id="rId8"/>
    <p:sldLayoutId id="2147484476" r:id="rId9"/>
    <p:sldLayoutId id="2147484477" r:id="rId10"/>
    <p:sldLayoutId id="214748447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2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BE85A84-2FB4-2006-67E1-8910FA44ED4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806450"/>
            <a:ext cx="7772400" cy="2127250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第九章  虚拟内存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C797A40-D41E-46E0-3A2B-DD7A68D9CB6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20925" y="195263"/>
            <a:ext cx="7704138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第九章  虚拟内存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60C4D2A-6375-2277-E9F7-1D8D41C14B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9125" y="1077913"/>
            <a:ext cx="8229600" cy="5584825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请求分页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页面置换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帧分配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颠簸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  <a:buFont typeface="Monotype Sorts" pitchFamily="-84" charset="2"/>
              <a:buNone/>
              <a:defRPr/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2" name="矩形 1">
            <a:extLst>
              <a:ext uri="{FF2B5EF4-FFF2-40B4-BE49-F238E27FC236}">
                <a16:creationId xmlns:a16="http://schemas.microsoft.com/office/drawing/2014/main" id="{0A1D8EB3-8B7E-333F-F74E-07CBA1F7C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063" y="1077913"/>
            <a:ext cx="6096000" cy="426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内存映射文件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分配内核内存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其他考虑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操作系统实例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3CD864F-2299-34DC-D0F4-802BD42FD8E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412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1E719A7-D167-FF1D-B61B-BC399DF65F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7538" y="1163638"/>
            <a:ext cx="10956925" cy="45307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代码需要在内存中执行，但有些代码部分整个程序很少使用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错误代码、异常例程、大型数据结构</a:t>
            </a:r>
            <a:endParaRPr lang="en-US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不需要同时使用整个程序代码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仅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加载执行部分程序</a:t>
            </a:r>
            <a:endParaRPr lang="en-US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程序不再受物理内存的限制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每个程序运行时占用更少的内存 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-&gt;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更多的程序在同一时间运行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提高了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利用率和吞吐量，但没有增加响应时间或周转时间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将程序加载或交换到内存中所需的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I/O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更少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-&gt;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每个用户程序运行更快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5509125-4555-C715-7A82-DB44E649AF1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508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807E438-04DD-CA1F-EB48-FAD05990C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1663" y="938213"/>
            <a:ext cx="10988675" cy="4529137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虚拟内存 </a:t>
            </a:r>
            <a:r>
              <a:rPr lang="en-US" altLang="zh-CN" sz="3200"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用户逻辑内存与物理内存的分离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只有部分程序需要在内存中执行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因此逻辑地址空间可以比物理地址空间大得多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允许多个进程共享地址空间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允许更高效的进程创建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更多程序同时运行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加载或交换进程所需的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I/O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更少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US" sz="200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US" sz="20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79759EF-3643-EC75-3961-3691398657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508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B560CAD-FFD1-D446-4512-1542EDFA9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3250" y="846138"/>
            <a:ext cx="10663238" cy="4529137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虚拟地址空间</a:t>
            </a:r>
            <a:r>
              <a:rPr lang="en-US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200"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进程如何存储在内存中的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逻辑视图</a:t>
            </a:r>
            <a:endParaRPr lang="en-US" altLang="en-US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通常从地址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开始，连续地址直到空间结束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同时，物理内存组织在页框中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MMU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必须将逻辑地址映射到物理地址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虚拟内存可以通过以下方式实现：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请求分页调度（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Demand paging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请求分段调度（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Demand segmentation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4350B9D-AAF4-3760-C3C8-890D4C6DC7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76200"/>
            <a:ext cx="8080375" cy="608013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比物理内存更大的虚拟内存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363" name="Picture 5" descr="9">
            <a:extLst>
              <a:ext uri="{FF2B5EF4-FFF2-40B4-BE49-F238E27FC236}">
                <a16:creationId xmlns:a16="http://schemas.microsoft.com/office/drawing/2014/main" id="{7CD2DE9C-F324-5F2B-401A-8E20DE113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088" y="1003300"/>
            <a:ext cx="6557962" cy="519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40AC801-B031-0B5B-F24E-9D2CE1D96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6975" y="176213"/>
            <a:ext cx="7743825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虚拟地址空间</a:t>
            </a:r>
            <a:endParaRPr lang="en-US" altLang="en-US"/>
          </a:p>
        </p:txBody>
      </p:sp>
      <p:pic>
        <p:nvPicPr>
          <p:cNvPr id="17411" name="Picture 5">
            <a:extLst>
              <a:ext uri="{FF2B5EF4-FFF2-40B4-BE49-F238E27FC236}">
                <a16:creationId xmlns:a16="http://schemas.microsoft.com/office/drawing/2014/main" id="{B79505D7-F111-292D-808E-39C932A57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625" y="1306513"/>
            <a:ext cx="2063750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Rectangle 3">
            <a:extLst>
              <a:ext uri="{FF2B5EF4-FFF2-40B4-BE49-F238E27FC236}">
                <a16:creationId xmlns:a16="http://schemas.microsoft.com/office/drawing/2014/main" id="{4578F3C8-5580-BB10-714B-8D63B7595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" y="955675"/>
            <a:ext cx="9010650" cy="5359400"/>
          </a:xfrm>
          <a:prstGeom prst="rect">
            <a:avLst/>
          </a:prstGeom>
          <a:noFill/>
          <a:ln>
            <a:noFill/>
          </a:ln>
        </p:spPr>
        <p:txBody>
          <a:bodyPr lIns="64008" tIns="32004" rIns="64008" bIns="32004"/>
          <a:lstStyle>
            <a:lvl1pPr marL="268288" indent="-2682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758825" indent="-2682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774700" indent="-2682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1231900" indent="-2682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1689100" indent="-2682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2146300" indent="-2682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2603500" indent="-2682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>
              <a:lnSpc>
                <a:spcPct val="200000"/>
              </a:lnSpc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采用堆栈式设计逻辑地址空间，堆“向上”增长，栈从最大逻辑地址开始， “向下”增长</a:t>
            </a:r>
            <a:endParaRPr kumimoji="1" lang="en-US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33437" lvl="2" indent="-342900" algn="just">
              <a:lnSpc>
                <a:spcPct val="200000"/>
              </a:lnSpc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最大限度地利用地址空间</a:t>
            </a:r>
            <a:endParaRPr kumimoji="1"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33437" lvl="2" indent="-342900" algn="just">
              <a:lnSpc>
                <a:spcPct val="200000"/>
              </a:lnSpc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两者之间未使用的地址空间为空</a:t>
            </a:r>
            <a:endParaRPr kumimoji="1"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33437" lvl="2" indent="-342900" algn="just">
              <a:lnSpc>
                <a:spcPct val="200000"/>
              </a:lnSpc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在堆或堆栈增长到给定的新页之前，不需要物理内存</a:t>
            </a:r>
            <a:endParaRPr kumimoji="1" lang="en-US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启用</a:t>
            </a:r>
            <a:r>
              <a:rPr kumimoji="1" lang="zh-CN" altLang="en-US" sz="2000" b="1" dirty="0">
                <a:solidFill>
                  <a:srgbClr val="3366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稀疏</a:t>
            </a:r>
            <a:r>
              <a:rPr kumimoji="1"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地址空间，并留有可供增长的孔、动态链接的库等</a:t>
            </a:r>
            <a:endParaRPr kumimoji="1"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通过映射虚拟地址空间进行系统库的共享</a:t>
            </a:r>
            <a:endParaRPr kumimoji="1"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通过将页面读写映射到虚拟地址空间来共享内存</a:t>
            </a:r>
            <a:endParaRPr kumimoji="1"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fork()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期间共享页面，从而加快进程创建</a:t>
            </a:r>
            <a:endParaRPr kumimoji="1" lang="en-US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Clr>
                <a:srgbClr val="993300"/>
              </a:buClr>
              <a:buSzPct val="90000"/>
              <a:buFont typeface="Arial" panose="020B0604020202020204" pitchFamily="34" charset="0"/>
              <a:buChar char="•"/>
              <a:defRPr/>
            </a:pPr>
            <a:endParaRPr kumimoji="1" lang="en-US" altLang="en-US" sz="2000" dirty="0">
              <a:latin typeface="Helvetica" panose="020B0604020202020204" pitchFamily="34" charset="0"/>
            </a:endParaRPr>
          </a:p>
          <a:p>
            <a:pPr lvl="1" algn="just">
              <a:lnSpc>
                <a:spcPct val="200000"/>
              </a:lnSpc>
              <a:buClr>
                <a:srgbClr val="CC6600"/>
              </a:buClr>
              <a:buSzPct val="80000"/>
              <a:buFont typeface="Arial" panose="020B0604020202020204" pitchFamily="34" charset="0"/>
              <a:buChar char="•"/>
              <a:defRPr/>
            </a:pPr>
            <a:endParaRPr kumimoji="1" lang="en-US" altLang="en-US" sz="2400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0A48CDC-0A7A-D35E-AC9D-37C69A373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16238" y="188913"/>
            <a:ext cx="756126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使用虚拟内存的共享库</a:t>
            </a:r>
            <a:endParaRPr lang="en-US" altLang="en-US"/>
          </a:p>
        </p:txBody>
      </p:sp>
      <p:pic>
        <p:nvPicPr>
          <p:cNvPr id="19459" name="Picture 6">
            <a:extLst>
              <a:ext uri="{FF2B5EF4-FFF2-40B4-BE49-F238E27FC236}">
                <a16:creationId xmlns:a16="http://schemas.microsoft.com/office/drawing/2014/main" id="{E619E604-D931-30E7-F25E-2AC65D103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800" y="1255713"/>
            <a:ext cx="6296025" cy="415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941CEC8-2DD3-30FF-39F1-998FC5818DA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254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请求分页</a:t>
            </a:r>
            <a:endParaRPr lang="en-US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1FCC629-AFBC-FDB9-7EB7-24AA9097C9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0863" y="965200"/>
            <a:ext cx="7123112" cy="535146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可以在加载时将整个进程放入内存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或者仅在需要时才将页面放入内存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需要更少的 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I/O，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没有不必要的 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需要更少的内存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快速响应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多用户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类似于</a:t>
            </a:r>
            <a:r>
              <a:rPr lang="zh-CN" altLang="en-US" sz="20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带交换的分页系统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（右图）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需要页面存在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访问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无效访问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中止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不在内存中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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换入内存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0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懒惰交换</a:t>
            </a:r>
            <a:r>
              <a:rPr lang="en-US" altLang="zh-CN" sz="20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–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除非需要页面，否则不要将页面交换到内存中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处理页面的转换器是</a:t>
            </a:r>
            <a:r>
              <a:rPr lang="zh-CN" altLang="en-US" sz="20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调页程序</a:t>
            </a:r>
            <a:endParaRPr lang="en-US" altLang="en-US" sz="2000" b="1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2000" b="1">
              <a:solidFill>
                <a:srgbClr val="3366FF"/>
              </a:solidFill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2400">
              <a:sym typeface="Symbol" panose="05050102010706020507" pitchFamily="18" charset="2"/>
            </a:endParaRPr>
          </a:p>
        </p:txBody>
      </p:sp>
      <p:pic>
        <p:nvPicPr>
          <p:cNvPr id="21508" name="Picture 4" descr="9">
            <a:extLst>
              <a:ext uri="{FF2B5EF4-FFF2-40B4-BE49-F238E27FC236}">
                <a16:creationId xmlns:a16="http://schemas.microsoft.com/office/drawing/2014/main" id="{3EFE20E7-97C5-1CC9-10C9-1F834B6B0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800" y="1573213"/>
            <a:ext cx="4052888" cy="371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C1059188-034E-9019-60C3-89CC5E1CEE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01613"/>
            <a:ext cx="8229600" cy="576262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346D796B-F7D2-98FA-74A6-9BC00ECF88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966788"/>
            <a:ext cx="11376025" cy="52165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通过交换，调页程序在再次交换之前会猜测将使用哪些页面，调页程序只将那些页面调入内存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如何确定那组页面？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需要内存管理单元（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MMU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）支持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请求分页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功能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如果所需的页面已经</a:t>
            </a:r>
            <a:r>
              <a:rPr lang="zh-CN" altLang="en-US" sz="20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驻留在内存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endParaRPr lang="en-US" altLang="en-US" sz="2000" b="1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与分页管理没有区别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如果需要页面且不在内存中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需要检测页面并将其从存储加载到内存中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不改变程序行为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程序员无需更改代码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000"/>
          </a:p>
        </p:txBody>
      </p:sp>
      <p:sp>
        <p:nvSpPr>
          <p:cNvPr id="23556" name="矩形 1">
            <a:extLst>
              <a:ext uri="{FF2B5EF4-FFF2-40B4-BE49-F238E27FC236}">
                <a16:creationId xmlns:a16="http://schemas.microsoft.com/office/drawing/2014/main" id="{265BCAD0-0357-0F34-7A24-A6A49BF5F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38" y="6578600"/>
            <a:ext cx="2608262" cy="279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18689DF-46B4-0237-4825-AB55A0F147E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762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有效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无效位</a:t>
            </a:r>
            <a:endParaRPr lang="en-US" altLang="en-U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F5F5AD8-F621-5C7E-C702-3BE78FA1AC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9125" y="1046163"/>
            <a:ext cx="10063163" cy="5472112"/>
          </a:xfrm>
        </p:spPr>
        <p:txBody>
          <a:bodyPr/>
          <a:lstStyle/>
          <a:p>
            <a:pPr>
              <a:lnSpc>
                <a:spcPct val="300000"/>
              </a:lnSpc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与每个页表条目相关联的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有效</a:t>
            </a:r>
            <a:r>
              <a:rPr lang="en-US" altLang="zh-CN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无效位</a:t>
            </a:r>
            <a:br>
              <a:rPr lang="en-US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在内存中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内存驻留 </a:t>
            </a:r>
            <a:r>
              <a:rPr lang="en-US" altLang="zh-CN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memory resident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不在内存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300000"/>
              </a:lnSpc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初始所有条目上的有效 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无效位设置为</a:t>
            </a:r>
            <a:r>
              <a:rPr lang="en-US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i 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300000"/>
              </a:lnSpc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页表快照如右图所示</a:t>
            </a:r>
            <a:endParaRPr lang="en-US" altLang="en-US" sz="9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300000"/>
              </a:lnSpc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在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MMU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地址转换期间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如果页表项中的有效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无效位为</a:t>
            </a:r>
            <a:r>
              <a:rPr lang="en-US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缺页中断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(Page Fault)</a:t>
            </a:r>
            <a:endParaRPr lang="en-US" altLang="en-US" sz="2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24580" name="Picture 1">
            <a:extLst>
              <a:ext uri="{FF2B5EF4-FFF2-40B4-BE49-F238E27FC236}">
                <a16:creationId xmlns:a16="http://schemas.microsoft.com/office/drawing/2014/main" id="{4C8CC611-522D-9AB9-A105-DB7F21217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713" y="1401763"/>
            <a:ext cx="2828925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2CBA93B-2D02-917E-14FE-FBB6BCF622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16200" y="139700"/>
            <a:ext cx="8296275" cy="501650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某些页面不在主存中时的页表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627" name="Picture 4" descr="9">
            <a:extLst>
              <a:ext uri="{FF2B5EF4-FFF2-40B4-BE49-F238E27FC236}">
                <a16:creationId xmlns:a16="http://schemas.microsoft.com/office/drawing/2014/main" id="{9A98FE45-5DEB-FF0D-C5FE-C28200C63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700" y="1174750"/>
            <a:ext cx="4967288" cy="481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DD87D9F4-1460-6A9E-A02D-B215B07C993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016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缺页中断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7580E56-79EB-8376-5D45-324F9982C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4363" y="904875"/>
            <a:ext cx="10990262" cy="421005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如果要访问一个页面，当该页面没有在内存中，则操作系统将陷入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缺页中断，</a:t>
            </a:r>
            <a:r>
              <a:rPr lang="zh-CN" altLang="en-US" sz="20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如第一次访问该页时；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具体流程如下：</a:t>
            </a:r>
            <a:endParaRPr lang="en-US" altLang="en-US" sz="20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操作系统查看页表来决定：</a:t>
            </a:r>
            <a:endParaRPr lang="en-US" altLang="en-US" sz="20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无效访问</a:t>
            </a:r>
            <a:r>
              <a:rPr lang="en-US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中止</a:t>
            </a:r>
            <a:endParaRPr lang="en-US" altLang="en-US" sz="20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不在内存中</a:t>
            </a:r>
            <a:endParaRPr lang="en-US" altLang="en-US" sz="20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寻找空闲的页帧</a:t>
            </a:r>
            <a:endParaRPr lang="en-US" altLang="en-US" sz="20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通过预定的磁盘操作将页面交换到页帧中</a:t>
            </a:r>
            <a:endParaRPr lang="en-US" altLang="en-US" sz="20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重置页表以指示内存中的页面</a:t>
            </a:r>
            <a:b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设置 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validation bit = </a:t>
            </a:r>
            <a:r>
              <a:rPr lang="en-US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重新执行导致页面中断的指令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US" altLang="en-US" sz="20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4E17485-84C5-8078-0302-786FEE4D1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14563" y="188913"/>
            <a:ext cx="7996237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处理缺页中断的步骤</a:t>
            </a:r>
            <a:endParaRPr lang="en-US" altLang="en-US"/>
          </a:p>
        </p:txBody>
      </p:sp>
      <p:pic>
        <p:nvPicPr>
          <p:cNvPr id="30723" name="Picture 4" descr="9">
            <a:extLst>
              <a:ext uri="{FF2B5EF4-FFF2-40B4-BE49-F238E27FC236}">
                <a16:creationId xmlns:a16="http://schemas.microsoft.com/office/drawing/2014/main" id="{304318A9-DC10-92B3-7924-2BD21B706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900" y="1217613"/>
            <a:ext cx="5800725" cy="48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32C04349-163A-8C2B-0F2F-53F1F1094B1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01613"/>
            <a:ext cx="8229600" cy="576262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请求分页</a:t>
            </a:r>
            <a:endParaRPr lang="en-US" altLang="en-US"/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0A36C6B8-3844-CB67-05D5-AD00446B03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081088"/>
            <a:ext cx="11260138" cy="5233987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极端情况</a:t>
            </a:r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启动进程时所有页都不在内存中</a:t>
            </a:r>
            <a:endParaRPr lang="en-US" altLang="en-US" sz="20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操作系统将指令指针设置为进程的第一条指令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非内存驻留</a:t>
            </a:r>
            <a:r>
              <a:rPr lang="en-US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-&gt;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缺页中断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每一次新的页访问都导致缺页中段</a:t>
            </a:r>
            <a:endParaRPr lang="en-US" altLang="zh-CN" sz="20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纯请求分页（</a:t>
            </a:r>
            <a:r>
              <a:rPr lang="en-US" altLang="zh-CN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pure demand paging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en-US" sz="20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实际上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给定的指令可以访问多个页面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-&gt;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多个页面中断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考虑指令的提取和解码，它从存储器中读取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个数字并将结果写回存储器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因为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局部访问性</a:t>
            </a:r>
            <a:r>
              <a:rPr lang="en-US" altLang="zh-CN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locality of reference)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开销减少</a:t>
            </a:r>
            <a:endParaRPr lang="en-US" altLang="en-US" sz="2000" b="1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硬件支持</a:t>
            </a:r>
            <a:endParaRPr lang="en-US" altLang="en-US" sz="2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具有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有效</a:t>
            </a:r>
            <a:r>
              <a:rPr lang="en-US" altLang="zh-CN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无效位、保护位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的页表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二级内存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带有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交换空间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的交换设备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指令重启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2F35CD42-D91B-0152-3BED-D6552488D6F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41563" y="201613"/>
            <a:ext cx="7869237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请求分页的性能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E930A0B3-2C5E-D4F4-C90E-954764FF89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1825" y="1081088"/>
            <a:ext cx="10768013" cy="54625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  <a:tabLst>
                <a:tab pos="2163763" algn="l"/>
                <a:tab pos="2855913" algn="l"/>
              </a:tabLst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完整请求分页调度阶段</a:t>
            </a:r>
            <a:r>
              <a:rPr lang="en-US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最坏情况</a:t>
            </a:r>
            <a:r>
              <a:rPr lang="en-US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627063" indent="-268288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操作系统中断</a:t>
            </a:r>
            <a:endParaRPr lang="en-US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27063" indent="-268288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保存用户注册信息和进程状态</a:t>
            </a:r>
            <a:endParaRPr lang="en-US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27063" indent="-268288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确定中断是页面中断</a:t>
            </a:r>
            <a:endParaRPr lang="en-US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27063" indent="-268288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  <a:defRPr/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检查页面访问是否合法，并确定页面在磁盘上的位置</a:t>
            </a:r>
            <a:endParaRPr lang="en-US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27063" indent="-268288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从磁盘读入页到空闲帧：</a:t>
            </a:r>
            <a:endParaRPr lang="en-US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69963" lvl="2" indent="-268288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  <a:defRPr/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在队列中等待该设备，直到读取请求得到服务</a:t>
            </a:r>
            <a:endParaRPr lang="en-US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69963" lvl="2" indent="-268288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等待设备寻道或延迟时间</a:t>
            </a:r>
            <a:endParaRPr lang="en-US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69963" lvl="2" indent="-268288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开始将页面装载到空闲的页帧内</a:t>
            </a:r>
            <a:endParaRPr lang="en-US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27063" indent="-268288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在等待时，将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分配给其他用户</a:t>
            </a:r>
            <a:endParaRPr lang="en-US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27063" indent="-268288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从磁盘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I/O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子系统接收中断（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I/O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完成）</a:t>
            </a:r>
            <a:endParaRPr lang="en-US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27063" indent="-268288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为其他用户保存寄存器和进程状态</a:t>
            </a:r>
            <a:endParaRPr lang="en-US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27063" indent="-268288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确定中断来自磁盘</a:t>
            </a:r>
            <a:endParaRPr lang="en-US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27063" indent="-268288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更正页表和其他表以显示页面现在在内存中</a:t>
            </a:r>
            <a:endParaRPr lang="en-US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27063" indent="-268288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等待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再次分配给这个进程</a:t>
            </a:r>
            <a:endParaRPr lang="en-US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27063" indent="-268288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恢复用户寄存器、进程状态和新页表，然后恢复被中断的指令</a:t>
            </a:r>
            <a:endParaRPr lang="en-US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27063" indent="-268288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  <a:defRPr/>
            </a:pPr>
            <a:endParaRPr lang="en-US" altLang="en-US" sz="1600" dirty="0"/>
          </a:p>
          <a:p>
            <a:pPr>
              <a:tabLst>
                <a:tab pos="2163763" algn="l"/>
                <a:tab pos="2855913" algn="l"/>
              </a:tabLst>
              <a:defRPr/>
            </a:pPr>
            <a:endParaRPr lang="en-US" altLang="en-US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63071C6-CF30-8330-B709-8DC0E8D39BD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68563" y="188913"/>
            <a:ext cx="794226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请求分页的性能</a:t>
            </a:r>
            <a:endParaRPr lang="en-US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83F70EF-F9F6-8CE1-124A-624A042791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2613" y="1119188"/>
            <a:ext cx="11004550" cy="464661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2163763" algn="l"/>
                <a:tab pos="2855913" algn="l"/>
              </a:tabLst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三项主要开销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  <a:tabLst>
                <a:tab pos="2163763" algn="l"/>
                <a:tab pos="2855913" algn="l"/>
              </a:tabLst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服务中断</a:t>
            </a:r>
            <a:r>
              <a:rPr lang="en-US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仔细编码意味着只需要几百条指令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  <a:tabLst>
                <a:tab pos="2163763" algn="l"/>
                <a:tab pos="2855913" algn="l"/>
              </a:tabLst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读页</a:t>
            </a:r>
            <a:r>
              <a:rPr lang="en-US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很多时间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  <a:tabLst>
                <a:tab pos="2163763" algn="l"/>
                <a:tab pos="2855913" algn="l"/>
              </a:tabLst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重启进程</a:t>
            </a:r>
            <a:r>
              <a:rPr lang="en-US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再次只是一小段时间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2163763" algn="l"/>
                <a:tab pos="2855913" algn="l"/>
              </a:tabLst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页面中断率</a:t>
            </a:r>
            <a:r>
              <a:rPr lang="en-US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 1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  <a:tabLst>
                <a:tab pos="2163763" algn="l"/>
                <a:tab pos="2855913" algn="l"/>
              </a:tabLst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如果</a:t>
            </a:r>
            <a:r>
              <a:rPr lang="en-US" altLang="en-US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= 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，没有页面中断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  <a:tabLst>
                <a:tab pos="2163763" algn="l"/>
                <a:tab pos="2855913" algn="l"/>
              </a:tabLst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如果</a:t>
            </a:r>
            <a:r>
              <a:rPr lang="en-US" altLang="en-US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= 1,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每一次访问都有一次中断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2163763" algn="l"/>
                <a:tab pos="2855913" algn="l"/>
              </a:tabLst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有效访问时间</a:t>
            </a:r>
            <a:r>
              <a:rPr lang="en-US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(EAT)</a:t>
            </a:r>
          </a:p>
          <a:p>
            <a:pPr marL="0" indent="0">
              <a:lnSpc>
                <a:spcPct val="150000"/>
              </a:lnSpc>
              <a:buFont typeface="Monotype Sorts" pitchFamily="-84" charset="2"/>
              <a:buNone/>
              <a:tabLst>
                <a:tab pos="2163763" algn="l"/>
                <a:tab pos="2855913" algn="l"/>
              </a:tabLst>
              <a:defRPr/>
            </a:pP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EAT = (1 – </a:t>
            </a:r>
            <a:r>
              <a:rPr lang="en-US" altLang="en-US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x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访问内存</a:t>
            </a:r>
            <a:r>
              <a:rPr lang="en-US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en-US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(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缺页开销 </a:t>
            </a:r>
            <a:r>
              <a:rPr lang="en-US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页换出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页换入</a:t>
            </a:r>
            <a:r>
              <a:rPr lang="en-US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)</a:t>
            </a:r>
          </a:p>
          <a:p>
            <a:pPr marL="0" indent="0">
              <a:lnSpc>
                <a:spcPct val="150000"/>
              </a:lnSpc>
              <a:buFont typeface="Monotype Sorts" pitchFamily="-84" charset="2"/>
              <a:buNone/>
              <a:tabLst>
                <a:tab pos="2163763" algn="l"/>
                <a:tab pos="2855913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				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FFD4962-989E-A077-7099-D1D2A1A0326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59038" y="214313"/>
            <a:ext cx="775176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请求分页示例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5AE2BDD9-91F8-1FAB-2E2A-6391EF58D3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6588" y="1004888"/>
            <a:ext cx="9469437" cy="48482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  <a:tabLst>
                <a:tab pos="1773238" algn="l"/>
                <a:tab pos="2278063" algn="l"/>
              </a:tabLst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内存访问时间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200 ns</a:t>
            </a:r>
          </a:p>
          <a:p>
            <a:pPr>
              <a:buFont typeface="Wingdings" panose="05000000000000000000" pitchFamily="2" charset="2"/>
              <a:buChar char="p"/>
              <a:tabLst>
                <a:tab pos="1773238" algn="l"/>
                <a:tab pos="2278063" algn="l"/>
              </a:tabLst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平均页面中断服务时间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8 </a:t>
            </a:r>
            <a:r>
              <a:rPr lang="en-US" altLang="en-US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ms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p"/>
              <a:tabLst>
                <a:tab pos="1773238" algn="l"/>
                <a:tab pos="2278063" algn="l"/>
              </a:tabLst>
              <a:defRPr/>
            </a:pP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EAT = (1 – p) x 200 + p x(8 </a:t>
            </a:r>
            <a:r>
              <a:rPr lang="en-US" altLang="en-US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ms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</a:p>
          <a:p>
            <a:pPr marL="0" indent="0">
              <a:buFont typeface="Monotype Sorts" pitchFamily="-84" charset="2"/>
              <a:buNone/>
              <a:tabLst>
                <a:tab pos="1773238" algn="l"/>
                <a:tab pos="2278063" algn="l"/>
              </a:tabLst>
              <a:defRPr/>
            </a:pP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= (1 – p  x 200 + p x 8,000,000 </a:t>
            </a:r>
          </a:p>
          <a:p>
            <a:pPr marL="0" indent="0">
              <a:buFont typeface="Monotype Sorts" pitchFamily="-84" charset="2"/>
              <a:buNone/>
              <a:tabLst>
                <a:tab pos="1773238" algn="l"/>
                <a:tab pos="2278063" algn="l"/>
              </a:tabLst>
              <a:defRPr/>
            </a:pP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= 200 + p x 7,999,800</a:t>
            </a:r>
          </a:p>
          <a:p>
            <a:pPr>
              <a:buFont typeface="Wingdings" panose="05000000000000000000" pitchFamily="2" charset="2"/>
              <a:buChar char="p"/>
              <a:tabLst>
                <a:tab pos="1773238" algn="l"/>
                <a:tab pos="2278063" algn="l"/>
              </a:tabLst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次访问中有一次页面中断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buFont typeface="Monotype Sorts" pitchFamily="-84" charset="2"/>
              <a:buNone/>
              <a:tabLst>
                <a:tab pos="1773238" algn="l"/>
                <a:tab pos="2278063" algn="l"/>
              </a:tabLst>
              <a:defRPr/>
            </a:pP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EAT = 8.2 </a:t>
            </a:r>
            <a:r>
              <a:rPr lang="en-US" altLang="en-US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ms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Font typeface="Monotype Sorts" pitchFamily="-84" charset="2"/>
              <a:buNone/>
              <a:tabLst>
                <a:tab pos="1773238" algn="l"/>
                <a:tab pos="2278063" algn="l"/>
              </a:tabLst>
              <a:defRPr/>
            </a:pP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这是一个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40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倍的减速</a:t>
            </a:r>
            <a:endParaRPr lang="en-US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Font typeface="Monotype Sorts" pitchFamily="-84" charset="2"/>
              <a:buNone/>
              <a:tabLst>
                <a:tab pos="1773238" algn="l"/>
                <a:tab pos="2278063" algn="l"/>
              </a:tabLst>
              <a:defRPr/>
            </a:pP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p"/>
              <a:tabLst>
                <a:tab pos="1773238" algn="l"/>
                <a:tab pos="2278063" algn="l"/>
              </a:tabLst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如果想要性能下降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&lt; 10 %</a:t>
            </a:r>
          </a:p>
          <a:p>
            <a:pPr marL="457200" lvl="1" indent="0" algn="ctr">
              <a:buFont typeface="Monotype Sorts" pitchFamily="-84" charset="2"/>
              <a:buNone/>
              <a:tabLst>
                <a:tab pos="1773238" algn="l"/>
                <a:tab pos="2278063" algn="l"/>
              </a:tabLst>
              <a:defRPr/>
            </a:pP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220 &gt; 200 + 7,999,800 x p</a:t>
            </a:r>
            <a:b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20 &gt; 7,999,800 x p</a:t>
            </a:r>
          </a:p>
          <a:p>
            <a:pPr marL="457200" lvl="1" indent="0" algn="ctr">
              <a:buFont typeface="Monotype Sorts" pitchFamily="-84" charset="2"/>
              <a:buNone/>
              <a:tabLst>
                <a:tab pos="1773238" algn="l"/>
                <a:tab pos="2278063" algn="l"/>
              </a:tabLst>
              <a:defRPr/>
            </a:pPr>
            <a:r>
              <a:rPr lang="en-US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 &lt; 0.0000025</a:t>
            </a:r>
          </a:p>
          <a:p>
            <a:pPr marL="457200" lvl="1" indent="0">
              <a:buFont typeface="Monotype Sorts" pitchFamily="-84" charset="2"/>
              <a:buNone/>
              <a:tabLst>
                <a:tab pos="1773238" algn="l"/>
                <a:tab pos="2278063" algn="l"/>
              </a:tabLst>
              <a:defRPr/>
            </a:pP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&lt;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400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000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次内存访问中出现一次缺页中断</a:t>
            </a:r>
            <a:endParaRPr lang="en-US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p"/>
              <a:tabLst>
                <a:tab pos="1773238" algn="l"/>
                <a:tab pos="2278063" algn="l"/>
              </a:tabLst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在请求分页系统中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保持低页面错误率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很重要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Font typeface="Monotype Sorts" pitchFamily="-84" charset="2"/>
              <a:buNone/>
              <a:tabLst>
                <a:tab pos="1773238" algn="l"/>
                <a:tab pos="2278063" algn="l"/>
              </a:tabLst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593CBE6-8B5C-B0DC-0198-238C00F5BCB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254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请求分页优化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写时复制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D711FC7F-0A89-7FEA-479D-17949D2C1E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4838" y="1106488"/>
            <a:ext cx="10936287" cy="5354637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写时复制</a:t>
            </a:r>
            <a:r>
              <a:rPr lang="en-US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(COW)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允许父进程和子进程最初在内存中共享相同的页面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如果任一进程修改共享页面，那么该页面才会被复制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写时复制是多种操作系统（包括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Windows XP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Solaris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）使用的常用技术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COW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允许更有效的流程创建，因为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只复制修改的页面</a:t>
            </a:r>
            <a:endParaRPr lang="en-US" altLang="en-US" sz="2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通常，空闲页面是从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按需填零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页面池（</a:t>
            </a:r>
            <a:r>
              <a:rPr lang="en-US" altLang="zh-CN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pool of zero-fill-on-demand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中分配的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池中始终具有空闲帧以快速执行请求页面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fork()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的变种调用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vfork()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使父进程挂起，子进程共享父进程的地址空间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子进程调用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exec()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非常高效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DADC24CD-3369-B57F-41BD-C377EE1BA8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08250" y="227013"/>
            <a:ext cx="779145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进程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修改页面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之前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3011" name="Picture 4" descr="9">
            <a:extLst>
              <a:ext uri="{FF2B5EF4-FFF2-40B4-BE49-F238E27FC236}">
                <a16:creationId xmlns:a16="http://schemas.microsoft.com/office/drawing/2014/main" id="{D4464470-C67D-8A0D-54E1-D4931D641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700" y="1354138"/>
            <a:ext cx="73390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882757A-8984-2066-E5E1-F5DC98F05C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13000" y="138113"/>
            <a:ext cx="78105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进程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修改页面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之后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5059" name="Picture 4" descr="9">
            <a:extLst>
              <a:ext uri="{FF2B5EF4-FFF2-40B4-BE49-F238E27FC236}">
                <a16:creationId xmlns:a16="http://schemas.microsoft.com/office/drawing/2014/main" id="{2D109162-4CE7-30EE-A408-70DC55C82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0" y="1319213"/>
            <a:ext cx="6403975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7B74A1F-17A6-686C-DB72-3126F4A6741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063750" y="198438"/>
            <a:ext cx="7869238" cy="576262"/>
          </a:xfrm>
        </p:spPr>
        <p:txBody>
          <a:bodyPr/>
          <a:lstStyle/>
          <a:p>
            <a:pPr eaLnBrk="1" hangingPunct="1"/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页面置换</a:t>
            </a:r>
            <a:endParaRPr lang="en-US" altLang="en-US" sz="2800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46C6C67-B419-FEA8-E3AD-061020A77D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7063" y="1133475"/>
            <a:ext cx="10901362" cy="539273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页面被进程用完，内核、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I/O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缓冲区等也需要请求页面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I/O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缓冲也会大量消耗内存，如何分配？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页面置换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Page Replacement)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在内存中找到一些页面，但没有真正使用，将其换出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如何终止？换出？更换页面？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性能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需要一种能导致页面错误最少的算法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同一个页面可能会多次进入内存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9F7755C-8087-625C-2BD8-6FB880F50A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7775" y="188913"/>
            <a:ext cx="7693025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按需页面置换</a:t>
            </a:r>
            <a:endParaRPr lang="en-US" altLang="en-US"/>
          </a:p>
        </p:txBody>
      </p:sp>
      <p:pic>
        <p:nvPicPr>
          <p:cNvPr id="49155" name="Picture 4" descr="9">
            <a:extLst>
              <a:ext uri="{FF2B5EF4-FFF2-40B4-BE49-F238E27FC236}">
                <a16:creationId xmlns:a16="http://schemas.microsoft.com/office/drawing/2014/main" id="{8618DB8D-BF26-55FE-F338-464A4A7DA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1192213"/>
            <a:ext cx="6192838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1407E3C8-5B68-7762-9B2D-11C0EE4590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6350" y="176213"/>
            <a:ext cx="766445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页面置换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203" name="Picture 4" descr="9">
            <a:extLst>
              <a:ext uri="{FF2B5EF4-FFF2-40B4-BE49-F238E27FC236}">
                <a16:creationId xmlns:a16="http://schemas.microsoft.com/office/drawing/2014/main" id="{EA2E4965-4449-2B05-59AB-9650CE610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1631950"/>
            <a:ext cx="5065712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3A0F331-F206-0228-5E26-8BFB449417AB}"/>
              </a:ext>
            </a:extLst>
          </p:cNvPr>
          <p:cNvSpPr/>
          <p:nvPr/>
        </p:nvSpPr>
        <p:spPr>
          <a:xfrm>
            <a:off x="6096000" y="1293813"/>
            <a:ext cx="5824538" cy="44243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68288" indent="-268288">
              <a:lnSpc>
                <a:spcPct val="150000"/>
              </a:lnSpc>
              <a:spcBef>
                <a:spcPts val="1800"/>
              </a:spcBef>
              <a:buClr>
                <a:srgbClr val="993300"/>
              </a:buClr>
              <a:buSzPct val="90000"/>
              <a:buFont typeface="Monotype Sorts" pitchFamily="-84" charset="2"/>
              <a:buAutoNum type="arabicPeriod"/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在磁盘上找到所需页面的位置</a:t>
            </a:r>
            <a:endParaRPr kumimoji="1" lang="en-US" altLang="en-US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8288" indent="-268288">
              <a:lnSpc>
                <a:spcPct val="150000"/>
              </a:lnSpc>
              <a:spcBef>
                <a:spcPts val="1800"/>
              </a:spcBef>
              <a:buClr>
                <a:srgbClr val="993300"/>
              </a:buClr>
              <a:buSzPct val="90000"/>
              <a:buFont typeface="Monotype Sorts" pitchFamily="-84" charset="2"/>
              <a:buAutoNum type="arabicPeriod"/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找到一个</a:t>
            </a:r>
            <a:r>
              <a:rPr kumimoji="1"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空闲帧：</a:t>
            </a:r>
            <a:br>
              <a:rPr kumimoji="1" lang="en-US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-  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如果有空闲帧，那么就使用它</a:t>
            </a:r>
            <a:br>
              <a:rPr kumimoji="1" lang="en-US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-  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如果没有空闲帧，那么就是用页置换算法选择一个</a:t>
            </a:r>
            <a:r>
              <a:rPr kumimoji="1"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牺牲帧</a:t>
            </a:r>
            <a:r>
              <a:rPr kumimoji="1"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(victim frame)</a:t>
            </a:r>
            <a:r>
              <a:rPr kumimoji="1" lang="zh-CN" altLang="en-US" sz="2000" b="1" kern="0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将牺牲帧的内容写入磁盘上，修改页表和帧表</a:t>
            </a:r>
            <a:endParaRPr kumimoji="1" lang="en-US" altLang="en-US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8288" indent="-268288">
              <a:lnSpc>
                <a:spcPct val="150000"/>
              </a:lnSpc>
              <a:spcBef>
                <a:spcPts val="1800"/>
              </a:spcBef>
              <a:buClr>
                <a:srgbClr val="993300"/>
              </a:buClr>
              <a:buSzPct val="90000"/>
              <a:buFont typeface="Monotype Sorts" pitchFamily="-84" charset="2"/>
              <a:buAutoNum type="arabicPeriod"/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将所需页面放入</a:t>
            </a:r>
            <a:r>
              <a:rPr kumimoji="1"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空闲页帧中，更新页表和帧表</a:t>
            </a:r>
            <a:endParaRPr kumimoji="1" lang="en-US" altLang="en-US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8288" indent="-268288">
              <a:lnSpc>
                <a:spcPct val="150000"/>
              </a:lnSpc>
              <a:spcBef>
                <a:spcPts val="1800"/>
              </a:spcBef>
              <a:buClr>
                <a:srgbClr val="993300"/>
              </a:buClr>
              <a:buSzPct val="90000"/>
              <a:buFont typeface="Monotype Sorts" pitchFamily="-84" charset="2"/>
              <a:buAutoNum type="arabicPeriod"/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重新执行被中断的指令继续该进程</a:t>
            </a:r>
            <a:endParaRPr kumimoji="1" lang="en-US" altLang="zh-CN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7D69CA9-9329-7A40-E4A8-6465A9E4134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86025" y="188913"/>
            <a:ext cx="7724775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页面置换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B08801F5-6ED0-65F8-17F2-2A66A74696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4363" y="1233488"/>
            <a:ext cx="11272837" cy="4530725"/>
          </a:xfrm>
        </p:spPr>
        <p:txBody>
          <a:bodyPr/>
          <a:lstStyle/>
          <a:p>
            <a:pPr algn="just">
              <a:lnSpc>
                <a:spcPct val="2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如果没有空闲帧，则需要进行两次页面传输（一次进一次出）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增加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EAT</a:t>
            </a:r>
          </a:p>
          <a:p>
            <a:pPr algn="just">
              <a:lnSpc>
                <a:spcPct val="2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标记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dirty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来减小页面传输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被标记的页面（修改的页面）将被写入磁盘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2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页面中断采用页面置换算法来防止内存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过度分配</a:t>
            </a:r>
            <a:endParaRPr lang="en-US" altLang="en-US" sz="24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2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页面置换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完成了逻辑内存和物理内存之间的分离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可以在较小的物理内存上提供大的虚拟内存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DBFED8B-69CE-D878-1AC0-654A52FB5F7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63838" y="163513"/>
            <a:ext cx="767556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页和帧置换算法</a:t>
            </a:r>
            <a:endParaRPr lang="en-US" alt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C838CA33-5AFA-C60D-8D87-BD1B99EDA6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4363" y="896938"/>
            <a:ext cx="11263312" cy="56022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p"/>
              <a:tabLst>
                <a:tab pos="3144838" algn="ctr"/>
              </a:tabLst>
              <a:defRPr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帧分配算法</a:t>
            </a:r>
            <a:r>
              <a:rPr lang="en-US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确定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n"/>
              <a:tabLst>
                <a:tab pos="3144838" algn="ctr"/>
              </a:tabLst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每个进程给多少帧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n"/>
              <a:tabLst>
                <a:tab pos="3144838" algn="ctr"/>
              </a:tabLst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置换哪些帧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p"/>
              <a:tabLst>
                <a:tab pos="3144838" algn="ctr"/>
              </a:tabLst>
              <a:defRPr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页面置换算法</a:t>
            </a:r>
            <a:endParaRPr lang="en-US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n"/>
              <a:tabLst>
                <a:tab pos="3144838" algn="ctr"/>
              </a:tabLst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保证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首次访问和重新访问时缺页率最低</a:t>
            </a:r>
            <a:endParaRPr lang="en-US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p"/>
              <a:tabLst>
                <a:tab pos="3144838" algn="ctr"/>
              </a:tabLst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依据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特定的内存引用序列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引用串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置换中的缺页数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进行性能评估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n"/>
              <a:tabLst>
                <a:tab pos="3144838" algn="ctr"/>
              </a:tabLst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字符串表示页码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n"/>
              <a:tabLst>
                <a:tab pos="3144838" algn="ctr"/>
              </a:tabLst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重复访问同一个页面不会导致页面中断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n"/>
              <a:tabLst>
                <a:tab pos="3144838" algn="ctr"/>
              </a:tabLst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结果取决于可用的帧数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p"/>
              <a:tabLst>
                <a:tab pos="3144838" algn="ctr"/>
              </a:tabLst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本书中采用的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引用字符串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Bef>
                <a:spcPts val="300"/>
              </a:spcBef>
              <a:buFont typeface="Monotype Sorts" pitchFamily="-84" charset="2"/>
              <a:buNone/>
              <a:tabLst>
                <a:tab pos="3144838" algn="ctr"/>
              </a:tabLst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7,0,1,2,0,3,0,4,2,3,0,3,0,3,2,1,2,0,1,7,0,1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63C1CC6-CDB0-C632-3FFC-2A501F8D0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28900" y="98425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页面错误与帧数的关系图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7347" name="Picture 5">
            <a:extLst>
              <a:ext uri="{FF2B5EF4-FFF2-40B4-BE49-F238E27FC236}">
                <a16:creationId xmlns:a16="http://schemas.microsoft.com/office/drawing/2014/main" id="{1F11500F-D933-8605-F4CF-780CE8B55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3" y="1112838"/>
            <a:ext cx="8929687" cy="525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0C9210FB-BA5A-19DD-A571-9C9978BBB9A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65388" y="176213"/>
            <a:ext cx="782161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先进先出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(FIFO)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置换算法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0466077E-BDAF-7002-DE69-742F91904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2938" y="985838"/>
            <a:ext cx="9105900" cy="57626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引用串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en-US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7,0,1,2,0,3,0,4,2,3,0,3,0,3,2,1,2,0,1,7,0,1</a:t>
            </a:r>
            <a:endParaRPr lang="en-US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驻留集大小为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每个进程一次可以在内存中存储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个页面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参照排队顺序先进先出</a:t>
            </a:r>
            <a:endParaRPr lang="en-US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Monotype Sorts" pitchFamily="-84" charset="2"/>
              <a:buNone/>
              <a:defRPr/>
            </a:pPr>
            <a:b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Monotype Sorts" pitchFamily="-84" charset="2"/>
              <a:buNone/>
              <a:defRPr/>
            </a:pP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因引用串而异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思考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1,2,3,4,1,2,5,1,2,3,4,5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en-US" altLang="en-US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Belady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异常现象</a:t>
            </a:r>
            <a:endParaRPr lang="en-US" altLang="zh-CN" sz="9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添加更多帧可能会导致更多页面错误！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9396" name="Text Box 16">
            <a:extLst>
              <a:ext uri="{FF2B5EF4-FFF2-40B4-BE49-F238E27FC236}">
                <a16:creationId xmlns:a16="http://schemas.microsoft.com/office/drawing/2014/main" id="{FCBD9684-87BD-B3EC-F5C2-BDDB52B55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7188" y="3482975"/>
            <a:ext cx="166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b="1" i="1">
                <a:solidFill>
                  <a:srgbClr val="FF0000"/>
                </a:solidFill>
              </a:rPr>
              <a:t>15 </a:t>
            </a:r>
            <a:r>
              <a:rPr kumimoji="0" lang="zh-CN" altLang="en-US" b="1" i="1">
                <a:solidFill>
                  <a:srgbClr val="FF0000"/>
                </a:solidFill>
              </a:rPr>
              <a:t>次页面错误</a:t>
            </a:r>
            <a:endParaRPr kumimoji="0" lang="en-US" altLang="en-US" b="1" i="1">
              <a:solidFill>
                <a:srgbClr val="FF0000"/>
              </a:solidFill>
            </a:endParaRPr>
          </a:p>
        </p:txBody>
      </p:sp>
      <p:pic>
        <p:nvPicPr>
          <p:cNvPr id="59397" name="Picture 1">
            <a:extLst>
              <a:ext uri="{FF2B5EF4-FFF2-40B4-BE49-F238E27FC236}">
                <a16:creationId xmlns:a16="http://schemas.microsoft.com/office/drawing/2014/main" id="{F512CDEB-F9BE-42F2-F980-16E45EF100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0" y="2540000"/>
            <a:ext cx="7085013" cy="225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FA6B153A-9B0E-CCAF-36B1-421E10682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2400" y="214313"/>
            <a:ext cx="7734300" cy="576262"/>
          </a:xfrm>
        </p:spPr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FIFO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说明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Belady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的异常情况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1443" name="Picture 1" descr="9_13.pdf">
            <a:extLst>
              <a:ext uri="{FF2B5EF4-FFF2-40B4-BE49-F238E27FC236}">
                <a16:creationId xmlns:a16="http://schemas.microsoft.com/office/drawing/2014/main" id="{05112780-49C6-9D4C-77A7-D96A54CBF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50" y="1289050"/>
            <a:ext cx="66706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D06BEB79-FB5E-18D4-EE6E-4AE43371333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73300" y="138113"/>
            <a:ext cx="79375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最优（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optimal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）算法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FA23D053-6A04-5019-0A3C-61CC78117A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7063" y="895350"/>
            <a:ext cx="10872787" cy="45307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1889125" algn="l"/>
              </a:tabLs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替换最长时间不使用的页面</a:t>
            </a:r>
            <a:endParaRPr lang="en-US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  <a:tabLst>
                <a:tab pos="1889125" algn="l"/>
              </a:tabLst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是示例的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最佳选择</a:t>
            </a:r>
            <a:endParaRPr lang="en-US" altLang="en-US" sz="2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1889125" algn="l"/>
              </a:tabLst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1889125" algn="l"/>
              </a:tabLst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1889125" algn="l"/>
              </a:tabLst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1889125" algn="l"/>
              </a:tabLst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1889125" algn="l"/>
              </a:tabLst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1889125" algn="l"/>
              </a:tabLst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如何知道这个？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  <a:tabLst>
                <a:tab pos="1889125" algn="l"/>
              </a:tabLst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无法预知以后要读的页面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1889125" algn="l"/>
              </a:tabLst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可以用来评价其它的页面置换算法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889125" algn="l"/>
              </a:tabLst>
            </a:pPr>
            <a:endParaRPr lang="en-US" altLang="en-US" sz="2000"/>
          </a:p>
        </p:txBody>
      </p:sp>
      <p:pic>
        <p:nvPicPr>
          <p:cNvPr id="63492" name="Picture 3">
            <a:extLst>
              <a:ext uri="{FF2B5EF4-FFF2-40B4-BE49-F238E27FC236}">
                <a16:creationId xmlns:a16="http://schemas.microsoft.com/office/drawing/2014/main" id="{BB61B256-EC97-84F5-9A94-2B66A604A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763" y="1989138"/>
            <a:ext cx="8561387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007EDF1E-850D-44E8-468E-0801FCCAA98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892425" y="163513"/>
            <a:ext cx="7673975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最近最少使用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(LRU)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B3FA1F91-853B-0FA2-709B-3AE8BDB96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936625"/>
            <a:ext cx="10358438" cy="521335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Least-Recent-Used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）使用过去的知识而不是未来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替换最近最久未使用的页面</a:t>
            </a:r>
            <a:endParaRPr lang="en-US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将最后使用时间与每个页面相关联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次缺页</a:t>
            </a:r>
            <a:r>
              <a:rPr lang="en-US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比</a:t>
            </a:r>
            <a:r>
              <a:rPr lang="en-US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FIFO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好，但是比 </a:t>
            </a:r>
            <a:r>
              <a:rPr lang="en-US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OPT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差</a:t>
            </a:r>
            <a:endParaRPr lang="en-US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算法总体较好，使用频率较高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但如何实施呢？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5540" name="Picture 4" descr="9">
            <a:extLst>
              <a:ext uri="{FF2B5EF4-FFF2-40B4-BE49-F238E27FC236}">
                <a16:creationId xmlns:a16="http://schemas.microsoft.com/office/drawing/2014/main" id="{D10C495A-FE3B-4798-7CD4-9B4B3BC7A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163" y="2695575"/>
            <a:ext cx="7577137" cy="206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AA12632-6788-53CD-D200-AB5990F422B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LRU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DD803471-21AE-295D-9B71-6F87F7A1AF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4363" y="965200"/>
            <a:ext cx="10790237" cy="5246688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计数器实现</a:t>
            </a:r>
            <a:endParaRPr lang="en-US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每个页面条目都有一个计数器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每次通过此条目引用页面时，将最近使用时间更新至计数器中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当需要更改页面时，查看计数器以找到最小值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根据需要搜索页表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618C165B-F666-EC2E-F8BB-16D3B38B89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6350" y="153988"/>
            <a:ext cx="762635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使用堆栈记录最近的页面访问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9635" name="Picture 1" descr="9_16.pdf">
            <a:extLst>
              <a:ext uri="{FF2B5EF4-FFF2-40B4-BE49-F238E27FC236}">
                <a16:creationId xmlns:a16="http://schemas.microsoft.com/office/drawing/2014/main" id="{753D3021-6C40-920C-188D-C0574B3EC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692275"/>
            <a:ext cx="5138738" cy="401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E0BEFA9-2EFE-7F6D-D290-AAA59931EABE}"/>
              </a:ext>
            </a:extLst>
          </p:cNvPr>
          <p:cNvSpPr/>
          <p:nvPr/>
        </p:nvSpPr>
        <p:spPr>
          <a:xfrm>
            <a:off x="539750" y="1003300"/>
            <a:ext cx="8248650" cy="60134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200000"/>
              </a:lnSpc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堆栈实现</a:t>
            </a:r>
            <a:endParaRPr kumimoji="1" lang="en-US" altLang="en-US" sz="28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双向链表</a:t>
            </a: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形式保留页码堆栈：</a:t>
            </a:r>
            <a:endParaRPr kumimoji="1" lang="en-US" altLang="en-US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访问页面：</a:t>
            </a:r>
            <a:endParaRPr kumimoji="1" lang="en-US" altLang="en-US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228600">
              <a:lnSpc>
                <a:spcPct val="200000"/>
              </a:lnSpc>
              <a:buClr>
                <a:srgbClr val="009900"/>
              </a:buClr>
              <a:buSzPct val="75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删除一个页面将其移至顶部</a:t>
            </a:r>
            <a:endParaRPr kumimoji="1" lang="en-US" altLang="zh-CN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228600">
              <a:lnSpc>
                <a:spcPct val="200000"/>
              </a:lnSpc>
              <a:buClr>
                <a:srgbClr val="009900"/>
              </a:buClr>
              <a:buSzPct val="75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最坏情况需要更改 </a:t>
            </a:r>
            <a:r>
              <a:rPr kumimoji="1"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个指针</a:t>
            </a:r>
            <a:r>
              <a:rPr kumimoji="1" lang="zh-CN" altLang="en-US" sz="1400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（相邻</a:t>
            </a:r>
            <a:r>
              <a:rPr kumimoji="1" lang="en-US" altLang="zh-CN" sz="1400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1400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个，首部</a:t>
            </a:r>
            <a:r>
              <a:rPr kumimoji="1" lang="en-US" altLang="zh-CN" sz="1400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400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个）</a:t>
            </a:r>
            <a:endParaRPr kumimoji="1" lang="en-US" altLang="en-US" sz="1400" i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每次更新开销大</a:t>
            </a:r>
            <a:endParaRPr kumimoji="1" lang="en-US" altLang="en-US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但置换时不需要搜索，替换尾指针的帧</a:t>
            </a:r>
            <a:endParaRPr kumimoji="1" lang="en-US" altLang="zh-CN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1" lang="en-US" altLang="en-US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72D9CAC3-8130-D3F0-278B-126BFC56827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38400" y="150813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LRU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近似算法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45E220AF-DE1D-4809-4965-B5A1C63852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2138" y="982663"/>
            <a:ext cx="9221787" cy="514667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置换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最优置换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不会产生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Belady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（可证明）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需要特殊的硬件，但仍然很慢，提出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近似算法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访问位算法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与每个页面关联一位，初始值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当页面被访问时，位设置为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用访问位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= 0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的替换（如果存在）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但是我们不知道顺序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27C8B082-8F7D-B4F5-5EAB-99206E41C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1100" y="177800"/>
            <a:ext cx="8010525" cy="463550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二次机会（时钟）页面置换算法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731" name="Picture 1" descr="9_17.pdf">
            <a:extLst>
              <a:ext uri="{FF2B5EF4-FFF2-40B4-BE49-F238E27FC236}">
                <a16:creationId xmlns:a16="http://schemas.microsoft.com/office/drawing/2014/main" id="{C96B1BA4-88EC-96B0-7A20-7E04E5D9E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463" y="1284288"/>
            <a:ext cx="4402137" cy="444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600F25B-834F-403F-A789-783FF433C839}"/>
              </a:ext>
            </a:extLst>
          </p:cNvPr>
          <p:cNvSpPr/>
          <p:nvPr/>
        </p:nvSpPr>
        <p:spPr>
          <a:xfrm>
            <a:off x="561975" y="1092200"/>
            <a:ext cx="6567488" cy="53625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35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二次机会算法</a:t>
            </a:r>
            <a:endParaRPr kumimoji="1" lang="en-US" altLang="en-US" sz="24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spcBef>
                <a:spcPct val="35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 </a:t>
            </a:r>
            <a:r>
              <a:rPr kumimoji="1"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，外加硬件提供的访问位</a:t>
            </a:r>
            <a:endParaRPr kumimoji="1" lang="en-US" altLang="en-US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spcBef>
                <a:spcPct val="35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时钟置换</a:t>
            </a:r>
            <a:endParaRPr kumimoji="1" lang="en-US" altLang="en-US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spcBef>
                <a:spcPct val="35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如果要替换的页面有</a:t>
            </a:r>
            <a:endParaRPr kumimoji="1" lang="en-US" altLang="en-US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228600">
              <a:lnSpc>
                <a:spcPct val="150000"/>
              </a:lnSpc>
              <a:spcBef>
                <a:spcPct val="35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访问位 </a:t>
            </a:r>
            <a:r>
              <a:rPr kumimoji="1"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0</a:t>
            </a:r>
            <a:r>
              <a:rPr kumimoji="1" lang="en-US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-&gt; </a:t>
            </a: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替换它</a:t>
            </a:r>
            <a:endParaRPr kumimoji="1" lang="en-US" altLang="zh-CN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5850" lvl="2" indent="-228600">
              <a:lnSpc>
                <a:spcPct val="150000"/>
              </a:lnSpc>
              <a:spcBef>
                <a:spcPct val="35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访问位 </a:t>
            </a:r>
            <a:r>
              <a:rPr kumimoji="1"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 </a:t>
            </a: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则：</a:t>
            </a:r>
            <a:endParaRPr kumimoji="1" lang="en-US" altLang="en-US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28750" lvl="3" indent="-228600">
              <a:lnSpc>
                <a:spcPct val="150000"/>
              </a:lnSpc>
              <a:spcBef>
                <a:spcPct val="35000"/>
              </a:spcBef>
              <a:buClr>
                <a:srgbClr val="FFCC00"/>
              </a:buClr>
              <a:buSzPct val="75000"/>
              <a:buFont typeface="微软雅黑" panose="020B0503020204020204" pitchFamily="34" charset="-122"/>
              <a:buChar char="−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将访问位设为 </a:t>
            </a:r>
            <a:r>
              <a:rPr kumimoji="1"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，将页面留在内存中</a:t>
            </a:r>
            <a:endParaRPr kumimoji="1" lang="en-US" altLang="zh-CN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28750" lvl="3" indent="-228600">
              <a:lnSpc>
                <a:spcPct val="150000"/>
              </a:lnSpc>
              <a:spcBef>
                <a:spcPct val="35000"/>
              </a:spcBef>
              <a:buClr>
                <a:srgbClr val="FFCC00"/>
              </a:buClr>
              <a:buSzPct val="75000"/>
              <a:buFont typeface="微软雅黑" panose="020B0503020204020204" pitchFamily="34" charset="-122"/>
              <a:buChar char="−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置换下一个页面，遵循相同的规则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E6D165A5-4131-29E5-D71A-96FE9C45592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40000" y="138113"/>
            <a:ext cx="77724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增强型二次机会算法</a:t>
            </a:r>
            <a:endParaRPr lang="en-US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F495FC7E-CF05-3BDD-AB4C-4AF9D81495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1488" y="981075"/>
            <a:ext cx="11249025" cy="514667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通过使用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改进算法</a:t>
            </a:r>
            <a:endParaRPr lang="en-US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取有序对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（参考位、修改位）</a:t>
            </a:r>
            <a:endParaRPr lang="en-US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7063" indent="-268288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最近未使用未修改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最佳置换页面</a:t>
            </a:r>
            <a:endParaRPr lang="en-US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7063" indent="-268288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最近未使用但已修改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不太好，必须在置换前写出</a:t>
            </a:r>
            <a:endParaRPr lang="en-US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7063" indent="-268288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最近使用但未修改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可能很快会再次使用</a:t>
            </a:r>
            <a:endParaRPr lang="en-US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7063" indent="-268288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最近使用且已修改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可能很快会再次使用，需要在更换之前写出</a:t>
            </a:r>
            <a:endParaRPr lang="en-US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当需要页面置换时，使用时钟方案置换在最低非空类型中所碰到的页</a:t>
            </a:r>
            <a:endParaRPr lang="en-US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需要多次搜索循环队列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降低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开销</a:t>
            </a:r>
            <a:endParaRPr lang="en-US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7BAEAB63-D437-2696-27B5-A004744EBDE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635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其他算法：计数算法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5C1C73C9-D6DE-B601-525E-1CB807F5A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0075" y="1155700"/>
            <a:ext cx="10909300" cy="4551363"/>
          </a:xfrm>
        </p:spPr>
        <p:txBody>
          <a:bodyPr/>
          <a:lstStyle/>
          <a:p>
            <a:pPr>
              <a:lnSpc>
                <a:spcPct val="2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保留对每一页的访问次数的计数器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最不经常使用页置换算法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en-US" sz="24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LFU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en-US" sz="24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置换访问次数最少的页面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最常使用页置换算法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en-US" sz="24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MFU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en-US" sz="24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基于最小计数的页面可能刚刚引入并且尚未使用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应用较少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C646C8F8-861F-FA46-0B93-1738AB42A1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01613"/>
            <a:ext cx="8229600" cy="576262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页面缓冲算法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875" name="Content Placeholder 2">
            <a:extLst>
              <a:ext uri="{FF2B5EF4-FFF2-40B4-BE49-F238E27FC236}">
                <a16:creationId xmlns:a16="http://schemas.microsoft.com/office/drawing/2014/main" id="{103C398D-25F6-5EE6-6B7F-DD7788E5BA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5950" y="946150"/>
            <a:ext cx="10958513" cy="507841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始终保留一个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空闲帧</a:t>
            </a:r>
            <a:endParaRPr lang="en-US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当帧在需要时可用，而不是在发现缺页时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将页面读入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空闲帧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，选择一个要移除的牺牲帧并且添加到空闲池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方便时，移除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牺牲帧</a:t>
            </a:r>
            <a:endParaRPr lang="en-US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保留修改页面的列表</a:t>
            </a:r>
            <a:endParaRPr lang="en-US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当后备存储处于空闲状态时，在那里写入页面并将其设置为非脏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(Dirty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位置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0)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下次被置换时就不用再进行写入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保留空闲帧池</a:t>
            </a:r>
            <a:endParaRPr lang="en-US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如果在重用之前再次访问，则无需再次从磁盘加载内容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如果选择了错误的牺牲帧，可以减小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>
            <a:extLst>
              <a:ext uri="{FF2B5EF4-FFF2-40B4-BE49-F238E27FC236}">
                <a16:creationId xmlns:a16="http://schemas.microsoft.com/office/drawing/2014/main" id="{045F7919-6E28-0006-F5C6-536B7909899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55850" y="125413"/>
            <a:ext cx="7867650" cy="576262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应用程序和页面置换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899" name="Content Placeholder 2">
            <a:extLst>
              <a:ext uri="{FF2B5EF4-FFF2-40B4-BE49-F238E27FC236}">
                <a16:creationId xmlns:a16="http://schemas.microsoft.com/office/drawing/2014/main" id="{92E7EAC6-B64B-121E-EC70-565E6904D5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0075" y="1131888"/>
            <a:ext cx="11304588" cy="523081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以上算法都有操作系统猜测未来的页面访问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应用程序也可以自己进行管理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，但会导致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双缓冲</a:t>
            </a:r>
            <a:endParaRPr lang="en-US" altLang="en-US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将页面副本作为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缓冲区保存在内存中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应用程序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将页面保留在内存中用供自己的操作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应用程序可以直接访问磁盘，避开操作系统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原始磁盘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模式（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raw disk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），二进制数据块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原始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，绕过文件系统服务：缓冲、锁、文件名、目录等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6667A2E4-53AD-D6EC-8560-87E9D6E7FE1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620838" y="163513"/>
            <a:ext cx="8589962" cy="576262"/>
          </a:xfrm>
        </p:spPr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9.4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帧分配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7A6A4188-A62B-FFC8-8DBC-522CD7EC2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4363" y="998538"/>
            <a:ext cx="10963275" cy="5411787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如何向各个进程分配固定数量的可用内存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每个进程需要的帧的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最小值</a:t>
            </a:r>
            <a:endParaRPr lang="en-US" altLang="en-US" sz="24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由计算机体系结构定义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每个进程可分配的帧的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最大值</a:t>
            </a:r>
            <a:endParaRPr lang="en-US" altLang="zh-CN" sz="24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操作系统中可用的总帧数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endParaRPr lang="en-US" altLang="en-US" sz="24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8BC7CFFA-6616-1C14-EC33-2D71E095D53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620838" y="163513"/>
            <a:ext cx="858996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帧分配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111B29FC-C42B-1F3F-843A-EE2780C69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4363" y="998538"/>
            <a:ext cx="10963275" cy="5411787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两个主要的分配方案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固定分配</a:t>
            </a:r>
            <a:endParaRPr lang="en-US" altLang="en-US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优先级分配</a:t>
            </a:r>
            <a:endParaRPr lang="en-US" altLang="en-US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其他变种方案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D2A0E58B-E8AA-F484-5E39-01921F98088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62188" y="188913"/>
            <a:ext cx="794861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固定分配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A6E6696F-E4EA-3286-A13D-9A6999AB5F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008063"/>
            <a:ext cx="10972800" cy="3252787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平均分配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例如，如果有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个页帧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为操作系统分配页帧后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个进程，给每个进程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个帧</a:t>
            </a:r>
            <a:endParaRPr lang="en-US" altLang="en-US" sz="2400"/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保留一些作为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空闲帧缓冲池</a:t>
            </a:r>
            <a:endParaRPr lang="en-US" altLang="en-US" sz="1000" b="1"/>
          </a:p>
          <a:p>
            <a:pPr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按比例分配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根据进程的大小进行分配</a:t>
            </a:r>
            <a:endParaRPr lang="en-US" altLang="en-US" sz="2400"/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受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并行程度、进程大小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grpSp>
        <p:nvGrpSpPr>
          <p:cNvPr id="86020" name="组合 1">
            <a:extLst>
              <a:ext uri="{FF2B5EF4-FFF2-40B4-BE49-F238E27FC236}">
                <a16:creationId xmlns:a16="http://schemas.microsoft.com/office/drawing/2014/main" id="{45F5C521-DFD9-2471-A761-A60BB92B30BB}"/>
              </a:ext>
            </a:extLst>
          </p:cNvPr>
          <p:cNvGrpSpPr>
            <a:grpSpLocks/>
          </p:cNvGrpSpPr>
          <p:nvPr/>
        </p:nvGrpSpPr>
        <p:grpSpPr bwMode="auto">
          <a:xfrm>
            <a:off x="3398838" y="4210050"/>
            <a:ext cx="5675312" cy="1924050"/>
            <a:chOff x="3163936" y="3670915"/>
            <a:chExt cx="5675312" cy="1924050"/>
          </a:xfrm>
        </p:grpSpPr>
        <p:graphicFrame>
          <p:nvGraphicFramePr>
            <p:cNvPr id="86021" name="Object 2">
              <a:extLst>
                <a:ext uri="{FF2B5EF4-FFF2-40B4-BE49-F238E27FC236}">
                  <a16:creationId xmlns:a16="http://schemas.microsoft.com/office/drawing/2014/main" id="{5BF1A1CA-2914-3E81-D67B-D4602317B1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3961" y="3876273"/>
            <a:ext cx="2857500" cy="161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857500" imgH="1612900" progId="Equation.3">
                    <p:embed/>
                  </p:oleObj>
                </mc:Choice>
                <mc:Fallback>
                  <p:oleObj name="Equation" r:id="rId3" imgW="2857500" imgH="16129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3961" y="3876273"/>
                          <a:ext cx="2857500" cy="1611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6022" name="Line 5">
              <a:extLst>
                <a:ext uri="{FF2B5EF4-FFF2-40B4-BE49-F238E27FC236}">
                  <a16:creationId xmlns:a16="http://schemas.microsoft.com/office/drawing/2014/main" id="{4052D583-ADD4-01C4-9295-3B15306102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0286" y="4038198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zh-CN" altLang="en-US"/>
            </a:p>
          </p:txBody>
        </p:sp>
        <p:sp>
          <p:nvSpPr>
            <p:cNvPr id="86023" name="Line 6">
              <a:extLst>
                <a:ext uri="{FF2B5EF4-FFF2-40B4-BE49-F238E27FC236}">
                  <a16:creationId xmlns:a16="http://schemas.microsoft.com/office/drawing/2014/main" id="{BC5F9BEE-47E1-B2BC-5F85-AE49B0CD8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0286" y="4374748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zh-CN" altLang="en-US"/>
            </a:p>
          </p:txBody>
        </p:sp>
        <p:sp>
          <p:nvSpPr>
            <p:cNvPr id="86024" name="Line 7">
              <a:extLst>
                <a:ext uri="{FF2B5EF4-FFF2-40B4-BE49-F238E27FC236}">
                  <a16:creationId xmlns:a16="http://schemas.microsoft.com/office/drawing/2014/main" id="{360BD667-45D0-B7B9-8E29-395D985943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0286" y="5235173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zh-CN" altLang="en-US"/>
            </a:p>
          </p:txBody>
        </p:sp>
        <p:sp>
          <p:nvSpPr>
            <p:cNvPr id="86025" name="Line 8">
              <a:extLst>
                <a:ext uri="{FF2B5EF4-FFF2-40B4-BE49-F238E27FC236}">
                  <a16:creationId xmlns:a16="http://schemas.microsoft.com/office/drawing/2014/main" id="{A7D6FA26-597B-F6CA-46C3-F24C281432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3936" y="4701773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zh-CN" altLang="en-US"/>
            </a:p>
          </p:txBody>
        </p:sp>
        <p:graphicFrame>
          <p:nvGraphicFramePr>
            <p:cNvPr id="86026" name="Object 3">
              <a:extLst>
                <a:ext uri="{FF2B5EF4-FFF2-40B4-BE49-F238E27FC236}">
                  <a16:creationId xmlns:a16="http://schemas.microsoft.com/office/drawing/2014/main" id="{F0733FD5-95C6-7D62-D518-9835320DF3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32711" y="3670915"/>
            <a:ext cx="1506537" cy="1924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43000" imgH="1460500" progId="Equation.3">
                    <p:embed/>
                  </p:oleObj>
                </mc:Choice>
                <mc:Fallback>
                  <p:oleObj name="Equation" r:id="rId5" imgW="1143000" imgH="14605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32711" y="3670915"/>
                          <a:ext cx="1506537" cy="1924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6879BCD8-86B1-D0D2-1FB7-E98876D812C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90775" y="201613"/>
            <a:ext cx="7820025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优先级分配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426715DA-4BCD-3369-E8A3-429D7FDAEE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190625"/>
            <a:ext cx="10982325" cy="439420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使用优先级分配方案，此方案根据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而不是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比例</a:t>
            </a:r>
            <a:endParaRPr lang="en-US" altLang="zh-CN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高优先级分配更多帧，低优先级少一些</a:t>
            </a:r>
            <a:endParaRPr lang="en-US" altLang="en-US" sz="240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如果进程</a:t>
            </a:r>
            <a:r>
              <a:rPr lang="en-US" altLang="en-US" sz="2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en-US" sz="2400" b="1" i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产生一个缺页中断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endParaRPr lang="en-US" altLang="en-US" sz="2400"/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选择置换其中一个帧</a:t>
            </a:r>
            <a:endParaRPr lang="en-US" altLang="en-US" sz="2400"/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从优先级较低的进程中选择一个帧进行置换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21568920-5DB7-E20F-9B52-22387236653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54288" y="188913"/>
            <a:ext cx="765651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全局分配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vs.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局部分配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F0318406-B3BD-0F95-C30E-265FDB0BEA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116013"/>
            <a:ext cx="10977563" cy="44704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全局置换</a:t>
            </a:r>
            <a:r>
              <a:rPr lang="en-US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进程从所有帧集合中选择一个进行置换，一个进程可以从其他进程获取帧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通常能提高系统吞吐量，因此是更常用的方法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受其他进程影响，随后进程执行时间可能会有很大差异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局部置换</a:t>
            </a:r>
            <a:r>
              <a:rPr lang="en-US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每个进程仅从它自己的一组分配帧中进行选择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每个进程有更一致的性能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但可能无法充分利用内存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>
            <a:extLst>
              <a:ext uri="{FF2B5EF4-FFF2-40B4-BE49-F238E27FC236}">
                <a16:creationId xmlns:a16="http://schemas.microsoft.com/office/drawing/2014/main" id="{7A9FF006-CB39-8AB6-5136-692B894CC4D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019300" y="201613"/>
            <a:ext cx="8229600" cy="576262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非均匀内存访问</a:t>
            </a:r>
            <a:endParaRPr lang="en-US" altLang="en-US"/>
          </a:p>
        </p:txBody>
      </p:sp>
      <p:sp>
        <p:nvSpPr>
          <p:cNvPr id="92163" name="Content Placeholder 2">
            <a:extLst>
              <a:ext uri="{FF2B5EF4-FFF2-40B4-BE49-F238E27FC236}">
                <a16:creationId xmlns:a16="http://schemas.microsoft.com/office/drawing/2014/main" id="{606C42F1-460F-9C59-2C90-9118A3D381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3250" y="954088"/>
            <a:ext cx="11272838" cy="5246687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到目前为止，所有的内存访问是平均对等的</a:t>
            </a:r>
          </a:p>
          <a:p>
            <a:pPr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许多系统都是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NUMA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Non-Uniform Memory Access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系统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访问内存的速度各不相同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考虑包含多个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和内存的系统板，通过系统总线互连，访问内存时间不同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最大限度地减少整体内存延迟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最大限度地提高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缓存命中率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>
            <a:extLst>
              <a:ext uri="{FF2B5EF4-FFF2-40B4-BE49-F238E27FC236}">
                <a16:creationId xmlns:a16="http://schemas.microsoft.com/office/drawing/2014/main" id="{54ED295B-5D1A-626E-200F-631CCE48F24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019300" y="201613"/>
            <a:ext cx="8229600" cy="576262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非均匀内存访问</a:t>
            </a:r>
            <a:endParaRPr lang="en-US" altLang="en-US"/>
          </a:p>
        </p:txBody>
      </p:sp>
      <p:sp>
        <p:nvSpPr>
          <p:cNvPr id="93187" name="Content Placeholder 2">
            <a:extLst>
              <a:ext uri="{FF2B5EF4-FFF2-40B4-BE49-F238E27FC236}">
                <a16:creationId xmlns:a16="http://schemas.microsoft.com/office/drawing/2014/main" id="{CF528520-383F-8C3F-7D1A-4AACB7A4D7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3250" y="954088"/>
            <a:ext cx="10985500" cy="52466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分配的内存帧“尽可能靠近”运行进程的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en-US" altLang="ja-JP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尽可能在同一系统板上调度线程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Solaris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通过创建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来解决</a:t>
            </a:r>
            <a:endParaRPr lang="en-US" altLang="en-US" sz="2400" b="1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跟踪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CPU/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内存低延迟组的结构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使用自己的调度器和调页程序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尽可能调度一个进程的所有线程，并在组内为该进程分配所有内存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4368A470-C8B9-FB95-8743-1EE0C65B3E3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889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9.5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抖动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颠簸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05667EB0-3E9A-E7B4-6277-01B050256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7688" y="1000125"/>
            <a:ext cx="11017250" cy="542766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抖动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颠簸（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Thrashing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—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一个进程忙于换进换出页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如果一个进程没有“足够”的页面，缺页率就会很高</a:t>
            </a:r>
            <a:endParaRPr lang="en-US" altLang="ja-JP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缺页获取页面，替换现有帧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但是很快需要置换帧回来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这将导致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使用率低</a:t>
            </a:r>
          </a:p>
          <a:p>
            <a:pPr lvl="2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操作系统认为需要提高程序并行数量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额外增加进程</a:t>
            </a:r>
          </a:p>
          <a:p>
            <a:pPr lvl="2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缺页率大大增加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pic>
        <p:nvPicPr>
          <p:cNvPr id="94212" name="Picture 4" descr="9">
            <a:extLst>
              <a:ext uri="{FF2B5EF4-FFF2-40B4-BE49-F238E27FC236}">
                <a16:creationId xmlns:a16="http://schemas.microsoft.com/office/drawing/2014/main" id="{7326F28A-6C61-FF89-DC56-5A388D92C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4738" y="2693988"/>
            <a:ext cx="4637087" cy="26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FA71E414-CECD-9D5E-62A2-C8BAB08A7F8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86063" y="188913"/>
            <a:ext cx="7159625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请求分页和颠簸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en-US" sz="2400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7BD0DF86-0446-2885-A785-100AAD2BA5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0075" y="1084263"/>
            <a:ext cx="11123613" cy="501173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为什么会发生颠簸？</a:t>
            </a:r>
            <a:b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 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局部大小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&gt; 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总内存大小</a:t>
            </a:r>
            <a:endParaRPr lang="en-US" altLang="en-US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通过使用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局部置换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或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优先级页面置换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来限制影响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由于颠簸进程大部分时间都在页面设备的队列中，即使对于没有颠簸的进程，有效访问时间也会增加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为了防止颠簸，我们必须提供一个进程相应所需要数量的帧。但我们怎么知道它需要多少帧呢？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A0BD20FE-643E-393E-F70A-34FD3A1CB50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86063" y="188913"/>
            <a:ext cx="7159625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请求分页和颠簸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en-US" sz="2400"/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702EF17A-39BD-515A-C699-30926087E3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0075" y="1084263"/>
            <a:ext cx="11123613" cy="5011737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请求分页的</a:t>
            </a:r>
            <a:r>
              <a:rPr lang="zh-CN" altLang="en-US" sz="24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局部性</a:t>
            </a:r>
            <a:endParaRPr lang="en-US" altLang="en-US" sz="2400" b="1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进程从一个局部迁移到另一个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局部可能覆盖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一组经常一起使用的页面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由程序结构及其数据结构定义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内存访问模式中的局部性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如右图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8308" name="图片 3">
            <a:extLst>
              <a:ext uri="{FF2B5EF4-FFF2-40B4-BE49-F238E27FC236}">
                <a16:creationId xmlns:a16="http://schemas.microsoft.com/office/drawing/2014/main" id="{5CC59589-2433-1590-85EA-81280B47C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313" y="1084263"/>
            <a:ext cx="3649662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687D2A18-CD5C-1533-8FBC-A09BC2F5FD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508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工作集模型（</a:t>
            </a:r>
            <a:r>
              <a:rPr lang="en-US" altLang="en-US"/>
              <a:t>Working-Set Model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246D921D-E40C-1213-3F65-6B9FF5EBE3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76325"/>
            <a:ext cx="10723562" cy="488156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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=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工作集窗口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=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固定的页面访问数量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en-US" sz="2400" b="1" i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WSS</a:t>
            </a:r>
            <a:r>
              <a:rPr lang="en-US" altLang="en-US" sz="2400" b="1" i="1" baseline="-25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i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进程</a:t>
            </a:r>
            <a:r>
              <a:rPr lang="en-US" altLang="en-US" sz="2400" b="1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P</a:t>
            </a:r>
            <a:r>
              <a:rPr lang="en-US" altLang="en-US" sz="2400" b="1" i="1" baseline="-25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i 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的工作集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) 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=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最近访问的总的页面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 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随时间变化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如果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太小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将不能包含整个局部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如果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太大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将包含几个局部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如果 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 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= 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将包含整个程序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en-US" sz="2400" b="1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=  </a:t>
            </a:r>
            <a:r>
              <a:rPr lang="en-US" altLang="en-US" sz="2400" b="1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WSS</a:t>
            </a:r>
            <a:r>
              <a:rPr lang="en-US" altLang="en-US" sz="2400" b="1" i="1" baseline="-25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i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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总需求帧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局部近似</a:t>
            </a:r>
            <a:endParaRPr lang="en-US" altLang="en-US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if </a:t>
            </a:r>
            <a:r>
              <a:rPr lang="en-US" altLang="en-US" sz="2400" b="1" i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&gt; </a:t>
            </a:r>
            <a:r>
              <a:rPr lang="en-US" altLang="en-US" sz="2400" b="1" i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m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颠簸，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则需要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中止或换出其中的一个进程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endParaRPr lang="en-US" altLang="en-US" sz="2800" b="1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pic>
        <p:nvPicPr>
          <p:cNvPr id="100356" name="Picture 5">
            <a:extLst>
              <a:ext uri="{FF2B5EF4-FFF2-40B4-BE49-F238E27FC236}">
                <a16:creationId xmlns:a16="http://schemas.microsoft.com/office/drawing/2014/main" id="{5BE8A967-0247-CA0E-090D-5D463A77A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8" y="3160713"/>
            <a:ext cx="6048375" cy="161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AA255DFB-8806-E878-0C5E-0F48F9EA17C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93963" y="163513"/>
            <a:ext cx="7742237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跟踪工作集</a:t>
            </a:r>
            <a:endParaRPr lang="en-US" altLang="en-US"/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D968DA7C-EA22-5727-39EA-6996CB1B43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8813" y="1047750"/>
            <a:ext cx="10872787" cy="525938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用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定时中断器 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+ 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一个引用位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来近似工作集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示例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:  = 10,000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，每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5000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个引用后定时器中断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每页在内存中保留两位（引用位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+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位于内存位）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每当计时器中断时复制并将所有的引用位设置为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0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如果内存中的一个位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= 1 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工作集的页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只是近似，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5000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个内部引用次数不知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改进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= 10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位，每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1000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个时间单位中断一次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为这些更频繁的中断提供服务的成本将相应地更高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A8C95F4C-CADE-B2DC-4B05-0243904B611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20925" y="163513"/>
            <a:ext cx="7889875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缺页率置换算法</a:t>
            </a:r>
            <a:endParaRPr lang="en-US" altLang="en-US"/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C223BF9A-D078-9476-4E07-FF26D76515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00125"/>
            <a:ext cx="10925175" cy="1668463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比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WSS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更直接的方法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建立“可接受的”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缺页率置换算法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(PFF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Page-Fault Frequency)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，并使用局部置换策略</a:t>
            </a:r>
            <a:endParaRPr lang="en-US" altLang="ja-JP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pic>
        <p:nvPicPr>
          <p:cNvPr id="104452" name="Picture 1" descr="9_21.pdf">
            <a:extLst>
              <a:ext uri="{FF2B5EF4-FFF2-40B4-BE49-F238E27FC236}">
                <a16:creationId xmlns:a16="http://schemas.microsoft.com/office/drawing/2014/main" id="{6495B10E-1A5E-F2D4-C5C7-300700C10B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001963"/>
            <a:ext cx="5103813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1803900-2421-87BE-4546-DD040999D567}"/>
              </a:ext>
            </a:extLst>
          </p:cNvPr>
          <p:cNvSpPr/>
          <p:nvPr/>
        </p:nvSpPr>
        <p:spPr>
          <a:xfrm>
            <a:off x="611188" y="3429000"/>
            <a:ext cx="4924425" cy="2243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>
              <a:lnSpc>
                <a:spcPct val="150000"/>
              </a:lnSpc>
              <a:spcBef>
                <a:spcPts val="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如果缺页率太低，进程降低物理页面数</a:t>
            </a:r>
            <a:endParaRPr kumimoji="1" lang="en-US" altLang="zh-CN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如果缺页率太高，进程增加物理页面数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>
            <a:extLst>
              <a:ext uri="{FF2B5EF4-FFF2-40B4-BE49-F238E27FC236}">
                <a16:creationId xmlns:a16="http://schemas.microsoft.com/office/drawing/2014/main" id="{7F3484ED-C7B9-B58C-9B81-C23A6E2D84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182813" y="1762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工作集和缺页率关系</a:t>
            </a:r>
            <a:endParaRPr lang="en-US" altLang="en-US"/>
          </a:p>
        </p:txBody>
      </p:sp>
      <p:pic>
        <p:nvPicPr>
          <p:cNvPr id="106499" name="Picture 4" descr="9">
            <a:extLst>
              <a:ext uri="{FF2B5EF4-FFF2-40B4-BE49-F238E27FC236}">
                <a16:creationId xmlns:a16="http://schemas.microsoft.com/office/drawing/2014/main" id="{E057255A-3635-6047-9826-B65392A06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388" y="2835275"/>
            <a:ext cx="5802312" cy="264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0" name="Rectangle 3">
            <a:extLst>
              <a:ext uri="{FF2B5EF4-FFF2-40B4-BE49-F238E27FC236}">
                <a16:creationId xmlns:a16="http://schemas.microsoft.com/office/drawing/2014/main" id="{3E7FAE76-0493-7E61-ABFE-D1C5F656A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985838"/>
            <a:ext cx="11012487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进程的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工作集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与其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缺页率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之间存在直接关系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与工作集策略一样，我们可能不得不交换一个进程。然后，释放的帧被分发到缺页率较高的进程。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>
              <a:ea typeface="微软雅黑" panose="020B0503020204020204" pitchFamily="34" charset="-122"/>
            </a:endParaRPr>
          </a:p>
        </p:txBody>
      </p:sp>
      <p:sp>
        <p:nvSpPr>
          <p:cNvPr id="106501" name="矩形 2">
            <a:extLst>
              <a:ext uri="{FF2B5EF4-FFF2-40B4-BE49-F238E27FC236}">
                <a16:creationId xmlns:a16="http://schemas.microsoft.com/office/drawing/2014/main" id="{C61511F7-D8D9-5F66-B001-A36315074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8" y="2835275"/>
            <a:ext cx="4719637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1950" indent="-361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Clr>
                <a:srgbClr val="C00000"/>
              </a:buClr>
              <a:buSzTx/>
              <a:buFont typeface="Wingdings" panose="05000000000000000000" pitchFamily="2" charset="2"/>
              <a:buChar char="p"/>
            </a:pPr>
            <a:r>
              <a:rPr kumimoji="0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工作集随时间变化</a:t>
            </a:r>
            <a:endParaRPr kumimoji="0"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Clr>
                <a:srgbClr val="C00000"/>
              </a:buClr>
              <a:buSzTx/>
              <a:buFont typeface="Wingdings" panose="05000000000000000000" pitchFamily="2" charset="2"/>
              <a:buChar char="p"/>
            </a:pPr>
            <a:r>
              <a:rPr kumimoji="0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随着时间的推移，有高峰也有 低谷</a:t>
            </a:r>
            <a:endParaRPr kumimoji="0"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Clr>
                <a:srgbClr val="C00000"/>
              </a:buClr>
              <a:buSzTx/>
              <a:buFont typeface="Wingdings" panose="05000000000000000000" pitchFamily="2" charset="2"/>
              <a:buChar char="p"/>
            </a:pPr>
            <a:r>
              <a:rPr kumimoji="0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尽可能包括足够物理内存，以 避免颠簸和交换</a:t>
            </a:r>
            <a:endParaRPr kumimoji="0"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4D1D375F-4EA0-93C7-F0A7-8AFE13E49A8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9.7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内存映射文件</a:t>
            </a:r>
            <a:endParaRPr lang="en-US" altLang="en-US"/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28253BB7-014A-65F8-0E74-115FFACD5A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4838" y="939800"/>
            <a:ext cx="11104562" cy="542925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内存映射文件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通过将磁盘块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映射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到内存中的页面，允许将文件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视为常规内存访问 </a:t>
            </a:r>
            <a:endParaRPr lang="en-US" altLang="en-US" sz="2400"/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文件最初使用请求分页读取</a:t>
            </a:r>
            <a:endParaRPr lang="en-US" altLang="en-US" sz="2400"/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文件的一个页面部分从文件系统读入物理页面</a:t>
            </a:r>
            <a:endParaRPr lang="en-US" altLang="zh-CN" sz="2400" b="1"/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对文件的后续读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写操作被视为普通内存访问</a:t>
            </a:r>
            <a:endParaRPr lang="en-US" altLang="en-US" sz="2400" b="1"/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通过内存驱动文件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减小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read()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write()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系统调用开销，加快文件访问</a:t>
            </a:r>
            <a:endParaRPr lang="en-US" altLang="en-US" sz="2400" b="1"/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还允许多个进程映射同一个文件，从而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共享内存中的页面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但是写入的数据什么时候进入磁盘呢？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周期性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或在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close()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例如，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当调页程序扫描脏页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CD95F1CB-DC03-3DD2-CC66-D5C40521AF2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21013" y="138113"/>
            <a:ext cx="7431087" cy="576262"/>
          </a:xfrm>
        </p:spPr>
        <p:txBody>
          <a:bodyPr/>
          <a:lstStyle/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lang="en-US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的内存映射文件技术</a:t>
            </a:r>
            <a:endParaRPr lang="en-US" altLang="en-US" sz="2800"/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E9AFE49-BEB5-62E6-8869-E9BF0807B9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4363" y="1042988"/>
            <a:ext cx="11009312" cy="54117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进程可以通过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mmap()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系统调用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明确请求内存映射文件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现在文件映射到进程地址空间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所有标准的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open(), read(), write(), close()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),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仍然可以使用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mmap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但是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将文件映射到内核地址空间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进程仍然可以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read()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write()</a:t>
            </a: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从内核空间和用户空间复制数据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使用高效的内存管理子系统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避免需要单独的子系统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itle 1">
            <a:extLst>
              <a:ext uri="{FF2B5EF4-FFF2-40B4-BE49-F238E27FC236}">
                <a16:creationId xmlns:a16="http://schemas.microsoft.com/office/drawing/2014/main" id="{68C4BB78-9240-3E66-CBED-DB71B742B91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21013" y="138113"/>
            <a:ext cx="7431087" cy="576262"/>
          </a:xfrm>
        </p:spPr>
        <p:txBody>
          <a:bodyPr/>
          <a:lstStyle/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lang="en-US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的内存映射文件技术</a:t>
            </a:r>
            <a:endParaRPr lang="en-US" altLang="en-US" sz="2800"/>
          </a:p>
        </p:txBody>
      </p:sp>
      <p:sp>
        <p:nvSpPr>
          <p:cNvPr id="111619" name="Content Placeholder 2">
            <a:extLst>
              <a:ext uri="{FF2B5EF4-FFF2-40B4-BE49-F238E27FC236}">
                <a16:creationId xmlns:a16="http://schemas.microsoft.com/office/drawing/2014/main" id="{519C5292-AB30-E6E2-451C-0C3EC051F5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4363" y="1042988"/>
            <a:ext cx="11009312" cy="4900612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允许多个进程同时映射同一个文件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，以便数据共享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需要使用互斥机制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写时拷贝机制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COW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可用于读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写非共享页面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内存映射文件可用于共享内存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尽管也是通过单独的系统调用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296F06EC-6549-7BE4-2AC9-9943D09F51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254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内存映射文件</a:t>
            </a:r>
            <a:endParaRPr lang="en-US" altLang="en-US"/>
          </a:p>
        </p:txBody>
      </p:sp>
      <p:pic>
        <p:nvPicPr>
          <p:cNvPr id="112643" name="Picture 1" descr="9_22.pdf">
            <a:extLst>
              <a:ext uri="{FF2B5EF4-FFF2-40B4-BE49-F238E27FC236}">
                <a16:creationId xmlns:a16="http://schemas.microsoft.com/office/drawing/2014/main" id="{64046FF0-C34F-130C-86A7-48BB5D424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50" y="1173163"/>
            <a:ext cx="6043613" cy="545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CFCE554A-F3D3-3C27-606B-DFDDA14D875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81300" y="103188"/>
            <a:ext cx="7658100" cy="576262"/>
          </a:xfrm>
        </p:spPr>
        <p:txBody>
          <a:bodyPr/>
          <a:lstStyle/>
          <a:p>
            <a:pPr eaLnBrk="1" hangingPunct="1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通过内存映射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共享内存</a:t>
            </a:r>
            <a:endParaRPr lang="en-US" altLang="en-US" sz="2800"/>
          </a:p>
        </p:txBody>
      </p:sp>
      <p:pic>
        <p:nvPicPr>
          <p:cNvPr id="114691" name="Picture 1" descr="9_23.pdf">
            <a:extLst>
              <a:ext uri="{FF2B5EF4-FFF2-40B4-BE49-F238E27FC236}">
                <a16:creationId xmlns:a16="http://schemas.microsoft.com/office/drawing/2014/main" id="{F25CBF7E-554E-4AC4-EC76-CEC6F2C3A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313" y="1320800"/>
            <a:ext cx="6070600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96FB6579-291E-ACD3-DEDD-3B893E90304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108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Windows API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中的共享内存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en-US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709CE126-81C7-A180-93FB-243ABD62E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9125" y="1131888"/>
            <a:ext cx="11085513" cy="4530725"/>
          </a:xfrm>
        </p:spPr>
        <p:txBody>
          <a:bodyPr/>
          <a:lstStyle/>
          <a:p>
            <a:pPr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首先为要映射的文件创建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文件映射</a:t>
            </a:r>
            <a:endParaRPr lang="en-US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然后在进程的虚拟地址空间中建立映射文件的视图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考虑生产者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消费者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生产者使用内存映射功能创建共享内存对象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0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CreateFile</a:t>
            </a:r>
            <a:r>
              <a:rPr lang="en-US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创建文件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,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返回一个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HANDLE</a:t>
            </a:r>
          </a:p>
          <a:p>
            <a:pPr marL="914400" lvl="1" indent="-457200" algn="just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0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CreateFileMapping</a:t>
            </a:r>
            <a:r>
              <a:rPr lang="en-US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创建映射创建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命名共享内存对象</a:t>
            </a:r>
            <a:r>
              <a:rPr lang="en-US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914400" lvl="1" indent="-457200" algn="just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en-US" sz="20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MapViewOfFile</a:t>
            </a:r>
            <a:r>
              <a:rPr lang="en-US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创建视图，整个文件或文件的一部分</a:t>
            </a:r>
            <a:endParaRPr lang="en-US" altLang="en-US" sz="20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教科书的示例代码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altLang="en-US" sz="2000" dirty="0"/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标题 1">
            <a:extLst>
              <a:ext uri="{FF2B5EF4-FFF2-40B4-BE49-F238E27FC236}">
                <a16:creationId xmlns:a16="http://schemas.microsoft.com/office/drawing/2014/main" id="{F3765E6F-A74C-8EBE-91CD-DD52C0FDF85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/>
              <a:t> </a:t>
            </a:r>
            <a:endParaRPr lang="zh-CN" altLang="en-US"/>
          </a:p>
        </p:txBody>
      </p:sp>
      <p:pic>
        <p:nvPicPr>
          <p:cNvPr id="118787" name="图片 3">
            <a:extLst>
              <a:ext uri="{FF2B5EF4-FFF2-40B4-BE49-F238E27FC236}">
                <a16:creationId xmlns:a16="http://schemas.microsoft.com/office/drawing/2014/main" id="{777ACC7D-4BAD-F17E-751C-A89EDDA31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1019175"/>
            <a:ext cx="6015037" cy="531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788" name="图片 4">
            <a:extLst>
              <a:ext uri="{FF2B5EF4-FFF2-40B4-BE49-F238E27FC236}">
                <a16:creationId xmlns:a16="http://schemas.microsoft.com/office/drawing/2014/main" id="{7F2ECAFE-352A-1CCD-7906-95D62B77A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700" y="1316038"/>
            <a:ext cx="5478463" cy="271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423ED628-DFC9-8881-9344-A78FA3ED06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87613" y="163513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9.8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分配内核内存</a:t>
            </a:r>
            <a:endParaRPr lang="en-US" altLang="en-US"/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468ADC42-EE7F-B60A-80DE-0F4BB2D281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6588" y="1093788"/>
            <a:ext cx="9459912" cy="4530725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与用户内存的处理方式不同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通常从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空闲帧池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中分配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内核以不同大小的结构请求内存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一些内核内存是需要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连续的</a:t>
            </a:r>
            <a:endParaRPr lang="en-US" altLang="en-US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例如用于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endParaRPr lang="en-US" altLang="en-US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A1F8011F-02A3-3620-CFBA-5BD9B54E6E7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70150" y="188913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9.9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其他注意事项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预先调页</a:t>
            </a:r>
            <a:endParaRPr lang="en-US" altLang="en-US"/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E5D13EC1-754A-6679-FB30-E8A090ECC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104900"/>
            <a:ext cx="10904538" cy="490855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预先调页</a:t>
            </a:r>
            <a:endParaRPr lang="en-US" altLang="en-US" sz="2400"/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为了减少进程启动时出现的大量缺页情况</a:t>
            </a:r>
            <a:endParaRPr lang="en-US" altLang="zh-CN" sz="2400"/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在访问之前，准备进程需要的全部或部分页面</a:t>
            </a:r>
            <a:endParaRPr lang="en-US" altLang="zh-CN" sz="2400"/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但是如果预先准备的页面未被使用，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和内存就会被浪费</a:t>
            </a:r>
            <a:endParaRPr lang="en-US" altLang="zh-CN" sz="2400"/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假设预先准备了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页面，并且使用了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单位（比例）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的页面</a:t>
            </a:r>
            <a:endParaRPr lang="en-US" altLang="en-US" sz="2400"/>
          </a:p>
          <a:p>
            <a:pPr lvl="2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* α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的缺页成本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预先保存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* (1- α)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的成本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大小</a:t>
            </a:r>
            <a:endParaRPr lang="en-US" altLang="zh-CN" sz="2400" i="1"/>
          </a:p>
          <a:p>
            <a:pPr lvl="2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l-GR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接近于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预先分页输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7EC5190F-00B4-A77A-C765-9FC3979EFF0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79713" y="163513"/>
            <a:ext cx="7431087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其他问题 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页面大小</a:t>
            </a:r>
            <a:endParaRPr lang="en-US" altLang="en-US"/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880F0B3F-0830-69BD-6FF6-2CC97C66BC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069975"/>
            <a:ext cx="10945813" cy="47593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页面尺寸选择必须考虑：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碎片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页表大小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精度</a:t>
            </a:r>
            <a:endParaRPr lang="en-US" altLang="zh-CN" sz="2400" b="1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I/O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开销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缺页数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位置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TLB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的大小和有效性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F5B269DB-FC5B-71E7-491B-D5ACD23139A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79713" y="163513"/>
            <a:ext cx="7431087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其他问题 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页面大小</a:t>
            </a:r>
            <a:endParaRPr lang="en-US" altLang="en-US"/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EB421323-A477-EF7F-02D7-5CF09B015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069975"/>
            <a:ext cx="10945813" cy="4759325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总是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的幂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，通常在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en-US" sz="2400" b="1" baseline="30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(4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096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)~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en-US" sz="2400" b="1" baseline="30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(4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194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304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的范围内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平均而言，随着时间的推移而增长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历史趋势是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更大的页面大小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，即使对于移动系统也是如此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97876180-697C-0E76-EAC4-BF4E1111179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16188" y="176213"/>
            <a:ext cx="769461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其他问题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– TLB Reach </a:t>
            </a:r>
            <a:endParaRPr lang="en-US" altLang="en-US"/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AF6F3498-97E2-FE93-5A9E-BADDFFCE6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1663" y="957263"/>
            <a:ext cx="10987087" cy="5526087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en-US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TLB Reach -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可访问的内存量</a:t>
            </a:r>
            <a:endParaRPr lang="en-US" altLang="en-US" sz="2400" dirty="0"/>
          </a:p>
          <a:p>
            <a:pPr marL="0" indent="0" algn="ctr">
              <a:lnSpc>
                <a:spcPct val="150000"/>
              </a:lnSpc>
              <a:buFont typeface="Monotype Sorts" pitchFamily="-84" charset="2"/>
              <a:buNone/>
              <a:defRPr/>
            </a:pPr>
            <a:r>
              <a:rPr lang="en-US" altLang="en-US" sz="2400" b="1" dirty="0">
                <a:solidFill>
                  <a:srgbClr val="0070C0"/>
                </a:solidFill>
              </a:rPr>
              <a:t>TLB Reach = (TLB Size) X (Page Size)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理想情况下，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每个进程的工作集都存储在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TLB</a:t>
            </a:r>
            <a:endParaRPr lang="en-US" altLang="en-US" sz="2400" b="1" dirty="0">
              <a:solidFill>
                <a:srgbClr val="0070C0"/>
              </a:solidFill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否则会有很高程度的缺页率</a:t>
            </a:r>
            <a:endParaRPr lang="en-US" altLang="en-US" sz="24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增加页面大小</a:t>
            </a:r>
            <a:endParaRPr lang="en-US" altLang="en-US" sz="24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这可能会导致碎片增加，因为并非所有应用程序都需要大的页面大小</a:t>
            </a:r>
            <a:endParaRPr lang="en-US" altLang="en-US" sz="24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提供多种页面尺寸</a:t>
            </a:r>
            <a:endParaRPr lang="en-US" altLang="en-US" sz="24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这使得需要更大页面的应用程序有机会使用它们，而不会增加碎片</a:t>
            </a:r>
            <a:endParaRPr lang="en-US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algn="just">
              <a:lnSpc>
                <a:spcPct val="150000"/>
              </a:lnSpc>
              <a:buFont typeface="Monotype Sorts" pitchFamily="-84" charset="2"/>
              <a:buNone/>
              <a:defRPr/>
            </a:pPr>
            <a:endParaRPr lang="en-US" altLang="en-US" sz="2400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48FDEC92-5D48-9985-6898-D9053265941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643188" y="163513"/>
            <a:ext cx="760571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其他问题 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程序结构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AEE3FFF7-41B7-8EA4-D1D9-70CC968F41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930275"/>
            <a:ext cx="10275888" cy="499586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tabLst>
                <a:tab pos="3317875" algn="l"/>
                <a:tab pos="3649663" algn="l"/>
              </a:tabLst>
              <a:defRPr/>
            </a:pPr>
            <a:r>
              <a:rPr lang="en-US" altLang="en-US" sz="2400" b="1" dirty="0">
                <a:ea typeface="微软雅黑" panose="020B0503020204020204" pitchFamily="34" charset="-122"/>
              </a:rPr>
              <a:t>int[128,128] data;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tabLst>
                <a:tab pos="3317875" algn="l"/>
                <a:tab pos="3649663" algn="l"/>
              </a:tabLst>
              <a:defRPr/>
            </a:pPr>
            <a:r>
              <a:rPr lang="zh-CN" altLang="en-US" sz="2400" b="1" dirty="0">
                <a:ea typeface="微软雅黑" panose="020B0503020204020204" pitchFamily="34" charset="-122"/>
              </a:rPr>
              <a:t>每行存储在一页中</a:t>
            </a:r>
            <a:endParaRPr lang="en-US" altLang="zh-CN" sz="2400" b="1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tabLst>
                <a:tab pos="3317875" algn="l"/>
                <a:tab pos="3649663" algn="l"/>
              </a:tabLst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方案 </a:t>
            </a:r>
            <a:r>
              <a:rPr lang="en-US" altLang="en-US" sz="2400" dirty="0">
                <a:ea typeface="微软雅黑" panose="020B0503020204020204" pitchFamily="34" charset="-122"/>
              </a:rPr>
              <a:t>1 	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Monotype Sorts" pitchFamily="-84" charset="2"/>
              <a:buNone/>
              <a:tabLst>
                <a:tab pos="3317875" algn="l"/>
                <a:tab pos="3649663" algn="l"/>
              </a:tabLst>
              <a:defRPr/>
            </a:pPr>
            <a:r>
              <a:rPr lang="en-US" altLang="en-US" sz="2400" dirty="0">
                <a:ea typeface="微软雅黑" panose="020B0503020204020204" pitchFamily="34" charset="-122"/>
              </a:rPr>
              <a:t>              	</a:t>
            </a:r>
            <a:r>
              <a:rPr lang="en-US" altLang="en-US" sz="2400" b="1" dirty="0">
                <a:ea typeface="微软雅黑" panose="020B0503020204020204" pitchFamily="34" charset="-122"/>
              </a:rPr>
              <a:t> for (j = 0; j &lt;128; </a:t>
            </a:r>
            <a:r>
              <a:rPr lang="en-US" altLang="en-US" sz="2400" b="1" dirty="0" err="1">
                <a:ea typeface="微软雅黑" panose="020B0503020204020204" pitchFamily="34" charset="-122"/>
              </a:rPr>
              <a:t>j++</a:t>
            </a:r>
            <a:r>
              <a:rPr lang="en-US" altLang="en-US" sz="2400" b="1" dirty="0">
                <a:ea typeface="微软雅黑" panose="020B0503020204020204" pitchFamily="34" charset="-122"/>
              </a:rPr>
              <a:t>)</a:t>
            </a:r>
            <a:br>
              <a:rPr lang="en-US" altLang="en-US" sz="2400" b="1" dirty="0">
                <a:ea typeface="微软雅黑" panose="020B0503020204020204" pitchFamily="34" charset="-122"/>
              </a:rPr>
            </a:br>
            <a:r>
              <a:rPr lang="en-US" altLang="en-US" sz="2400" b="1" dirty="0">
                <a:ea typeface="微软雅黑" panose="020B0503020204020204" pitchFamily="34" charset="-122"/>
              </a:rPr>
              <a:t>                  		for (</a:t>
            </a:r>
            <a:r>
              <a:rPr lang="en-US" altLang="en-US" sz="2400" b="1" dirty="0" err="1">
                <a:ea typeface="微软雅黑" panose="020B0503020204020204" pitchFamily="34" charset="-122"/>
              </a:rPr>
              <a:t>i</a:t>
            </a:r>
            <a:r>
              <a:rPr lang="en-US" altLang="en-US" sz="2400" b="1" dirty="0">
                <a:ea typeface="微软雅黑" panose="020B0503020204020204" pitchFamily="34" charset="-122"/>
              </a:rPr>
              <a:t> = 0; </a:t>
            </a:r>
            <a:r>
              <a:rPr lang="en-US" altLang="en-US" sz="2400" b="1" dirty="0" err="1">
                <a:ea typeface="微软雅黑" panose="020B0503020204020204" pitchFamily="34" charset="-122"/>
              </a:rPr>
              <a:t>i</a:t>
            </a:r>
            <a:r>
              <a:rPr lang="en-US" altLang="en-US" sz="2400" b="1" dirty="0">
                <a:ea typeface="微软雅黑" panose="020B0503020204020204" pitchFamily="34" charset="-122"/>
              </a:rPr>
              <a:t> &lt; 128; </a:t>
            </a:r>
            <a:r>
              <a:rPr lang="en-US" altLang="en-US" sz="2400" b="1" dirty="0" err="1">
                <a:ea typeface="微软雅黑" panose="020B0503020204020204" pitchFamily="34" charset="-122"/>
              </a:rPr>
              <a:t>i</a:t>
            </a:r>
            <a:r>
              <a:rPr lang="en-US" altLang="en-US" sz="2400" b="1" dirty="0">
                <a:ea typeface="微软雅黑" panose="020B0503020204020204" pitchFamily="34" charset="-122"/>
              </a:rPr>
              <a:t>++)</a:t>
            </a:r>
            <a:br>
              <a:rPr lang="en-US" altLang="en-US" sz="2400" b="1" dirty="0">
                <a:ea typeface="微软雅黑" panose="020B0503020204020204" pitchFamily="34" charset="-122"/>
              </a:rPr>
            </a:br>
            <a:r>
              <a:rPr lang="en-US" altLang="en-US" sz="2400" b="1" dirty="0">
                <a:ea typeface="微软雅黑" panose="020B0503020204020204" pitchFamily="34" charset="-122"/>
              </a:rPr>
              <a:t>                      			        data[</a:t>
            </a:r>
            <a:r>
              <a:rPr lang="en-US" altLang="en-US" sz="2400" b="1" dirty="0" err="1">
                <a:ea typeface="微软雅黑" panose="020B0503020204020204" pitchFamily="34" charset="-122"/>
              </a:rPr>
              <a:t>i,j</a:t>
            </a:r>
            <a:r>
              <a:rPr lang="en-US" altLang="en-US" sz="2400" b="1" dirty="0">
                <a:ea typeface="微软雅黑" panose="020B0503020204020204" pitchFamily="34" charset="-122"/>
              </a:rPr>
              <a:t>] = 0;</a:t>
            </a:r>
            <a:endParaRPr lang="en-US" altLang="en-US" sz="2400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tabLst>
                <a:tab pos="3317875" algn="l"/>
                <a:tab pos="3649663" algn="l"/>
              </a:tabLst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方案</a:t>
            </a:r>
            <a:r>
              <a:rPr lang="en-US" altLang="en-US" sz="2400" dirty="0">
                <a:ea typeface="微软雅黑" panose="020B0503020204020204" pitchFamily="34" charset="-122"/>
              </a:rPr>
              <a:t> 2 	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Font typeface="Monotype Sorts" pitchFamily="-84" charset="2"/>
              <a:buNone/>
              <a:tabLst>
                <a:tab pos="3317875" algn="l"/>
                <a:tab pos="3649663" algn="l"/>
              </a:tabLst>
              <a:defRPr/>
            </a:pPr>
            <a:r>
              <a:rPr lang="en-US" altLang="en-US" sz="2400" dirty="0">
                <a:ea typeface="微软雅黑" panose="020B0503020204020204" pitchFamily="34" charset="-122"/>
              </a:rPr>
              <a:t>             	</a:t>
            </a:r>
            <a:r>
              <a:rPr lang="en-US" altLang="en-US" sz="2400" b="1" dirty="0">
                <a:ea typeface="微软雅黑" panose="020B0503020204020204" pitchFamily="34" charset="-122"/>
              </a:rPr>
              <a:t>for (</a:t>
            </a:r>
            <a:r>
              <a:rPr lang="en-US" altLang="en-US" sz="2400" b="1" dirty="0" err="1">
                <a:ea typeface="微软雅黑" panose="020B0503020204020204" pitchFamily="34" charset="-122"/>
              </a:rPr>
              <a:t>i</a:t>
            </a:r>
            <a:r>
              <a:rPr lang="en-US" altLang="en-US" sz="2400" b="1" dirty="0">
                <a:ea typeface="微软雅黑" panose="020B0503020204020204" pitchFamily="34" charset="-122"/>
              </a:rPr>
              <a:t> = 0; </a:t>
            </a:r>
            <a:r>
              <a:rPr lang="en-US" altLang="en-US" sz="2400" b="1" dirty="0" err="1">
                <a:ea typeface="微软雅黑" panose="020B0503020204020204" pitchFamily="34" charset="-122"/>
              </a:rPr>
              <a:t>i</a:t>
            </a:r>
            <a:r>
              <a:rPr lang="en-US" altLang="en-US" sz="2400" b="1" dirty="0">
                <a:ea typeface="微软雅黑" panose="020B0503020204020204" pitchFamily="34" charset="-122"/>
              </a:rPr>
              <a:t> &lt; 128; </a:t>
            </a:r>
            <a:r>
              <a:rPr lang="en-US" altLang="en-US" sz="2400" b="1" dirty="0" err="1">
                <a:ea typeface="微软雅黑" panose="020B0503020204020204" pitchFamily="34" charset="-122"/>
              </a:rPr>
              <a:t>i</a:t>
            </a:r>
            <a:r>
              <a:rPr lang="en-US" altLang="en-US" sz="2400" b="1" dirty="0">
                <a:ea typeface="微软雅黑" panose="020B0503020204020204" pitchFamily="34" charset="-122"/>
              </a:rPr>
              <a:t>++)</a:t>
            </a:r>
            <a:br>
              <a:rPr lang="en-US" altLang="en-US" sz="2400" b="1" dirty="0">
                <a:ea typeface="微软雅黑" panose="020B0503020204020204" pitchFamily="34" charset="-122"/>
              </a:rPr>
            </a:br>
            <a:r>
              <a:rPr lang="en-US" altLang="en-US" sz="2400" b="1" dirty="0">
                <a:ea typeface="微软雅黑" panose="020B0503020204020204" pitchFamily="34" charset="-122"/>
              </a:rPr>
              <a:t>            	   for (j = 0; j &lt; 128; </a:t>
            </a:r>
            <a:r>
              <a:rPr lang="en-US" altLang="en-US" sz="2400" b="1" dirty="0" err="1">
                <a:ea typeface="微软雅黑" panose="020B0503020204020204" pitchFamily="34" charset="-122"/>
              </a:rPr>
              <a:t>j++</a:t>
            </a:r>
            <a:r>
              <a:rPr lang="en-US" altLang="en-US" sz="2400" b="1" dirty="0">
                <a:ea typeface="微软雅黑" panose="020B0503020204020204" pitchFamily="34" charset="-122"/>
              </a:rPr>
              <a:t>)</a:t>
            </a:r>
            <a:br>
              <a:rPr lang="en-US" altLang="en-US" sz="2400" b="1" dirty="0">
                <a:ea typeface="微软雅黑" panose="020B0503020204020204" pitchFamily="34" charset="-122"/>
              </a:rPr>
            </a:br>
            <a:r>
              <a:rPr lang="en-US" altLang="en-US" sz="2400" b="1" dirty="0">
                <a:ea typeface="微软雅黑" panose="020B0503020204020204" pitchFamily="34" charset="-122"/>
              </a:rPr>
              <a:t>            		         data[</a:t>
            </a:r>
            <a:r>
              <a:rPr lang="en-US" altLang="en-US" sz="2400" b="1" dirty="0" err="1">
                <a:ea typeface="微软雅黑" panose="020B0503020204020204" pitchFamily="34" charset="-122"/>
              </a:rPr>
              <a:t>i,j</a:t>
            </a:r>
            <a:r>
              <a:rPr lang="en-US" altLang="en-US" sz="2400" b="1" dirty="0">
                <a:ea typeface="微软雅黑" panose="020B0503020204020204" pitchFamily="34" charset="-122"/>
              </a:rPr>
              <a:t>] = 0;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9FEFB5-5E7A-CFAD-DEBC-93D97B695190}"/>
              </a:ext>
            </a:extLst>
          </p:cNvPr>
          <p:cNvSpPr/>
          <p:nvPr/>
        </p:nvSpPr>
        <p:spPr>
          <a:xfrm>
            <a:off x="7927975" y="3198813"/>
            <a:ext cx="3856038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C00000"/>
              </a:buClr>
              <a:defRPr/>
            </a:pPr>
            <a:r>
              <a:rPr kumimoji="1" lang="en-US" altLang="en-US" sz="2400" b="1" i="1" kern="0" dirty="0">
                <a:solidFill>
                  <a:srgbClr val="0070C0"/>
                </a:solidFill>
                <a:latin typeface="Helvetica"/>
                <a:ea typeface="微软雅黑" panose="020B0503020204020204" pitchFamily="34" charset="-122"/>
              </a:rPr>
              <a:t>128 x 128 = 16,384 </a:t>
            </a:r>
            <a:r>
              <a:rPr kumimoji="1" lang="zh-CN" altLang="en-US" sz="2400" b="1" i="1" kern="0" dirty="0">
                <a:solidFill>
                  <a:srgbClr val="0070C0"/>
                </a:solidFill>
                <a:latin typeface="Helvetica"/>
                <a:ea typeface="微软雅黑" panose="020B0503020204020204" pitchFamily="34" charset="-122"/>
              </a:rPr>
              <a:t>次缺页</a:t>
            </a:r>
            <a:endParaRPr lang="zh-CN" altLang="en-US" b="1" i="1" dirty="0">
              <a:solidFill>
                <a:srgbClr val="0070C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53224D-32C4-3CAF-DBD5-CA35A2150A27}"/>
              </a:ext>
            </a:extLst>
          </p:cNvPr>
          <p:cNvSpPr/>
          <p:nvPr/>
        </p:nvSpPr>
        <p:spPr>
          <a:xfrm>
            <a:off x="7562850" y="5300663"/>
            <a:ext cx="2168525" cy="4254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90000"/>
              </a:lnSpc>
              <a:spcBef>
                <a:spcPct val="35000"/>
              </a:spcBef>
              <a:buClr>
                <a:srgbClr val="CC6600"/>
              </a:buClr>
              <a:buSzPct val="80000"/>
              <a:tabLst>
                <a:tab pos="3317875" algn="l"/>
                <a:tab pos="3649663" algn="l"/>
              </a:tabLst>
              <a:defRPr/>
            </a:pPr>
            <a:r>
              <a:rPr kumimoji="1" lang="en-US" altLang="en-US" sz="2400" b="1" i="1" kern="0" dirty="0">
                <a:solidFill>
                  <a:srgbClr val="0070C0"/>
                </a:solidFill>
                <a:latin typeface="Helvetica"/>
                <a:ea typeface="微软雅黑" panose="020B0503020204020204" pitchFamily="34" charset="-122"/>
              </a:rPr>
              <a:t>128 </a:t>
            </a:r>
            <a:r>
              <a:rPr kumimoji="1" lang="zh-CN" altLang="en-US" sz="2400" b="1" i="1" kern="0" dirty="0">
                <a:solidFill>
                  <a:srgbClr val="0070C0"/>
                </a:solidFill>
                <a:latin typeface="Helvetica"/>
                <a:ea typeface="微软雅黑" panose="020B0503020204020204" pitchFamily="34" charset="-122"/>
              </a:rPr>
              <a:t>次缺页</a:t>
            </a:r>
            <a:endParaRPr kumimoji="1" lang="en-US" altLang="en-US" sz="2400" b="1" i="1" kern="0" dirty="0">
              <a:solidFill>
                <a:srgbClr val="0070C0"/>
              </a:solidFill>
              <a:latin typeface="Helvetica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C8F4EAD4-C8F4-87C6-1BFE-D5CB0816BA7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643188" y="163513"/>
            <a:ext cx="760571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其他问题 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程序结构</a:t>
            </a:r>
            <a:endParaRPr lang="en-US" altLang="en-US"/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85A3AF6A-7B7D-0601-A9F8-B13A1A9E41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0075" y="1104900"/>
            <a:ext cx="10982325" cy="4995863"/>
          </a:xfrm>
        </p:spPr>
        <p:txBody>
          <a:bodyPr/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p"/>
              <a:tabLst>
                <a:tab pos="3317875" algn="l"/>
                <a:tab pos="3649663" algn="l"/>
              </a:tabLs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加载程序可以避免跨页边界放置例程，将每个例程完全保持在一页中。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p"/>
              <a:tabLst>
                <a:tab pos="3317875" algn="l"/>
                <a:tab pos="3649663" algn="l"/>
              </a:tabLs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多次相互调用的例程可以打包到同一个页面中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6D9DB0DC-0B90-5DF7-02E6-DA58A1C09AB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09825" y="150813"/>
            <a:ext cx="7800975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其他问题 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– I/O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互锁</a:t>
            </a:r>
            <a:endParaRPr lang="en-US" altLang="en-US"/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92708582-73FF-AD1C-A1AF-948DEBC9B2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193800"/>
            <a:ext cx="6732588" cy="4459288"/>
          </a:xfrm>
        </p:spPr>
        <p:txBody>
          <a:bodyPr/>
          <a:lstStyle/>
          <a:p>
            <a:pPr algn="just">
              <a:lnSpc>
                <a:spcPct val="250000"/>
              </a:lnSpc>
              <a:buFont typeface="Wingdings" panose="05000000000000000000" pitchFamily="2" charset="2"/>
              <a:buChar char="p"/>
            </a:pPr>
            <a:r>
              <a:rPr lang="en-US" altLang="en-US" sz="24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互锁 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有时必须将页面锁定到内存中</a:t>
            </a:r>
            <a:endParaRPr lang="en-US" altLang="en-US" sz="2400"/>
          </a:p>
          <a:p>
            <a:pPr algn="just">
              <a:lnSpc>
                <a:spcPct val="2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考虑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I/O –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用于从设备复制文件的页面必须被锁定，不能被页面替换算法选择移除</a:t>
            </a:r>
            <a:endParaRPr lang="en-US" altLang="zh-CN" sz="2400"/>
          </a:p>
          <a:p>
            <a:pPr algn="just">
              <a:lnSpc>
                <a:spcPct val="25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固定（</a:t>
            </a:r>
            <a:r>
              <a:rPr lang="en-US" altLang="en-US" sz="24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Pinning</a:t>
            </a:r>
            <a:r>
              <a:rPr lang="zh-CN" altLang="en-US" sz="24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页面以锁定到内存中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pic>
        <p:nvPicPr>
          <p:cNvPr id="134148" name="Picture 5">
            <a:extLst>
              <a:ext uri="{FF2B5EF4-FFF2-40B4-BE49-F238E27FC236}">
                <a16:creationId xmlns:a16="http://schemas.microsoft.com/office/drawing/2014/main" id="{995D7276-2AB8-4B3C-F79F-9F8376D2A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606550"/>
            <a:ext cx="2914650" cy="337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3530B618-0731-0A09-5356-7F85AC01F19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00300" y="176213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9.10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操作系统示例</a:t>
            </a:r>
            <a:endParaRPr lang="en-US" altLang="en-US"/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525338B6-A47F-EF9A-3904-3518E3AA66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775" y="1293813"/>
            <a:ext cx="7351713" cy="44831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en-US" sz="2400"/>
              <a:t>Windows*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>
              <a:buFont typeface="Wingdings" panose="05000000000000000000" pitchFamily="2" charset="2"/>
              <a:buChar char="p"/>
            </a:pPr>
            <a:r>
              <a:rPr lang="en-US" altLang="en-US" sz="2400"/>
              <a:t>Solaris*</a:t>
            </a:r>
          </a:p>
        </p:txBody>
      </p:sp>
    </p:spTree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44BBF9FB-31F3-C4B1-F185-58FDB4D5F3A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Windows*</a:t>
            </a:r>
          </a:p>
        </p:txBody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1F77B301-75D4-3387-1D94-30FEFA8367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9125" y="1017588"/>
            <a:ext cx="10985500" cy="5299075"/>
          </a:xfrm>
        </p:spPr>
        <p:txBody>
          <a:bodyPr/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使用带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集群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的按需分页。集群带来了缺页附近的页面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进程被分配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最小工作集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最大工作集</a:t>
            </a:r>
            <a:endParaRPr lang="en-US" altLang="zh-CN" sz="10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最小工作集是进程在内存中保证的最小页数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一个进程可以被分配到它的最大工作集的页数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当系统中的空闲内存量低于阈值时，会执行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自动工作集调整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以恢复空闲内存量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工作集调整从页面超过其最小工作集的进程中移除页面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</p:spTree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E07F54E8-85D5-E23F-8236-FA4FE2B0E26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127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Solaris* </a:t>
            </a:r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206F0CA3-0F21-0CE5-24D2-A06D93C6EB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00125"/>
            <a:ext cx="10968037" cy="538638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维护一个空闲页面列表以分配缺页进程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Lotsfree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开始分页的阈值参数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可用内存量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Desfree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增加分页的阈值参数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Minfree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交换的阈值参数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分页由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pageout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进程执行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Pageout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使用修改的时钟算法扫描页面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Scanrate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是扫描页面的速率。范围从慢速扫描到快速扫描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Pageout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被调用频率取决于可用的空闲内存量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优先分页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赋予进程代码页优先权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</p:spTree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标题 1">
            <a:extLst>
              <a:ext uri="{FF2B5EF4-FFF2-40B4-BE49-F238E27FC236}">
                <a16:creationId xmlns:a16="http://schemas.microsoft.com/office/drawing/2014/main" id="{D39A9BE3-F5A0-4431-6DCF-960787A7417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习 题</a:t>
            </a:r>
          </a:p>
        </p:txBody>
      </p:sp>
      <p:sp>
        <p:nvSpPr>
          <p:cNvPr id="142339" name="内容占位符 2">
            <a:extLst>
              <a:ext uri="{FF2B5EF4-FFF2-40B4-BE49-F238E27FC236}">
                <a16:creationId xmlns:a16="http://schemas.microsoft.com/office/drawing/2014/main" id="{7D77A1F4-5A5F-14BE-ECA7-8018AAF10C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33488"/>
            <a:ext cx="11437938" cy="4530725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9.1, 9.3, 9.4, 9.5, 9.7, 9.8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9.15, 9.18, 9.21, 9.22, 9.32, 9.34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CA37D19D-7095-5994-8C12-16789074EEC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第九章结束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15500</TotalTime>
  <Words>4536</Words>
  <Application>Microsoft Office PowerPoint</Application>
  <PresentationFormat>宽屏</PresentationFormat>
  <Paragraphs>561</Paragraphs>
  <Slides>73</Slides>
  <Notes>64</Notes>
  <HiddenSlides>7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73</vt:i4>
      </vt:variant>
    </vt:vector>
  </HeadingPairs>
  <TitlesOfParts>
    <vt:vector size="87" baseType="lpstr">
      <vt:lpstr>Verdana</vt:lpstr>
      <vt:lpstr>MS PGothic</vt:lpstr>
      <vt:lpstr>Arial</vt:lpstr>
      <vt:lpstr>Helvetica</vt:lpstr>
      <vt:lpstr>Monotype Sorts</vt:lpstr>
      <vt:lpstr>Webdings</vt:lpstr>
      <vt:lpstr>Times New Roman</vt:lpstr>
      <vt:lpstr>微软雅黑</vt:lpstr>
      <vt:lpstr>Wingdings</vt:lpstr>
      <vt:lpstr>Symbol</vt:lpstr>
      <vt:lpstr>Courier New</vt:lpstr>
      <vt:lpstr>os-8</vt:lpstr>
      <vt:lpstr>Microsoft Equation 3.0</vt:lpstr>
      <vt:lpstr>Microsoft Equation</vt:lpstr>
      <vt:lpstr>第九章  虚拟内存</vt:lpstr>
      <vt:lpstr>第九章  虚拟内存</vt:lpstr>
      <vt:lpstr>9.1 背景</vt:lpstr>
      <vt:lpstr>背景</vt:lpstr>
      <vt:lpstr>背景</vt:lpstr>
      <vt:lpstr>比物理内存更大的虚拟内存</vt:lpstr>
      <vt:lpstr>虚拟地址空间</vt:lpstr>
      <vt:lpstr>使用虚拟内存的共享库</vt:lpstr>
      <vt:lpstr>9.2 请求分页</vt:lpstr>
      <vt:lpstr>基本概念</vt:lpstr>
      <vt:lpstr>有效-无效位</vt:lpstr>
      <vt:lpstr>某些页面不在主存中时的页表</vt:lpstr>
      <vt:lpstr>缺页中断</vt:lpstr>
      <vt:lpstr>处理缺页中断的步骤</vt:lpstr>
      <vt:lpstr>请求分页</vt:lpstr>
      <vt:lpstr>请求分页的性能</vt:lpstr>
      <vt:lpstr>请求分页的性能</vt:lpstr>
      <vt:lpstr>请求分页示例</vt:lpstr>
      <vt:lpstr>请求分页优化—写时复制</vt:lpstr>
      <vt:lpstr>进程 1 修改页面 C 之前</vt:lpstr>
      <vt:lpstr>进程 1 修改页面 C 之后</vt:lpstr>
      <vt:lpstr>9.3 页面置换</vt:lpstr>
      <vt:lpstr>按需页面置换</vt:lpstr>
      <vt:lpstr>页面置换</vt:lpstr>
      <vt:lpstr>页面置换</vt:lpstr>
      <vt:lpstr>页和帧置换算法</vt:lpstr>
      <vt:lpstr>页面错误与帧数的关系图</vt:lpstr>
      <vt:lpstr>先进先出 (FIFO) 置换算法</vt:lpstr>
      <vt:lpstr>FIFO 说明 Belady 的异常情况</vt:lpstr>
      <vt:lpstr>最优（optimal）算法</vt:lpstr>
      <vt:lpstr>最近最少使用 (LRU) 算法</vt:lpstr>
      <vt:lpstr>LRU 算法</vt:lpstr>
      <vt:lpstr>使用堆栈记录最近的页面访问</vt:lpstr>
      <vt:lpstr>LRU 近似算法</vt:lpstr>
      <vt:lpstr>二次机会（时钟）页面置换算法</vt:lpstr>
      <vt:lpstr>增强型二次机会算法</vt:lpstr>
      <vt:lpstr>其他算法：计数算法</vt:lpstr>
      <vt:lpstr>页面缓冲算法</vt:lpstr>
      <vt:lpstr>应用程序和页面置换</vt:lpstr>
      <vt:lpstr>9.4 帧分配</vt:lpstr>
      <vt:lpstr>帧分配</vt:lpstr>
      <vt:lpstr>固定分配</vt:lpstr>
      <vt:lpstr>优先级分配</vt:lpstr>
      <vt:lpstr>全局分配 vs. 局部分配</vt:lpstr>
      <vt:lpstr>非均匀内存访问</vt:lpstr>
      <vt:lpstr>非均匀内存访问</vt:lpstr>
      <vt:lpstr>9.5 抖动/颠簸</vt:lpstr>
      <vt:lpstr>请求分页和颠簸 </vt:lpstr>
      <vt:lpstr>请求分页和颠簸 </vt:lpstr>
      <vt:lpstr>工作集模型（Working-Set Model）</vt:lpstr>
      <vt:lpstr>跟踪工作集</vt:lpstr>
      <vt:lpstr>缺页率置换算法</vt:lpstr>
      <vt:lpstr>工作集和缺页率关系</vt:lpstr>
      <vt:lpstr>9.7 内存映射文件</vt:lpstr>
      <vt:lpstr>所有I/O的内存映射文件技术</vt:lpstr>
      <vt:lpstr>所有I/O的内存映射文件技术</vt:lpstr>
      <vt:lpstr>内存映射文件</vt:lpstr>
      <vt:lpstr>通过内存映射I/O共享内存</vt:lpstr>
      <vt:lpstr>Windows API中的共享内存*</vt:lpstr>
      <vt:lpstr> </vt:lpstr>
      <vt:lpstr>9.8 分配内核内存</vt:lpstr>
      <vt:lpstr>9.9 其他注意事项 – 预先调页</vt:lpstr>
      <vt:lpstr>其他问题 – 页面大小</vt:lpstr>
      <vt:lpstr>其他问题 – 页面大小</vt:lpstr>
      <vt:lpstr>其他问题 – TLB Reach </vt:lpstr>
      <vt:lpstr>其他问题 – 程序结构</vt:lpstr>
      <vt:lpstr>其他问题 – 程序结构</vt:lpstr>
      <vt:lpstr>其他问题 – I/O 互锁</vt:lpstr>
      <vt:lpstr>9.10 操作系统示例</vt:lpstr>
      <vt:lpstr>Windows*</vt:lpstr>
      <vt:lpstr>Solaris* </vt:lpstr>
      <vt:lpstr>习 题</vt:lpstr>
      <vt:lpstr>第九章结束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浩嘉 申</cp:lastModifiedBy>
  <cp:revision>458</cp:revision>
  <cp:lastPrinted>2013-09-10T17:57:57Z</cp:lastPrinted>
  <dcterms:created xsi:type="dcterms:W3CDTF">2011-01-13T23:43:38Z</dcterms:created>
  <dcterms:modified xsi:type="dcterms:W3CDTF">2026-06-03T15:01:30Z</dcterms:modified>
</cp:coreProperties>
</file>