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3"/>
  </p:notesMasterIdLst>
  <p:sldIdLst>
    <p:sldId id="330" r:id="rId2"/>
    <p:sldId id="411" r:id="rId3"/>
    <p:sldId id="499" r:id="rId4"/>
    <p:sldId id="413" r:id="rId5"/>
    <p:sldId id="468" r:id="rId6"/>
    <p:sldId id="415" r:id="rId7"/>
    <p:sldId id="416" r:id="rId8"/>
    <p:sldId id="347" r:id="rId9"/>
    <p:sldId id="417" r:id="rId10"/>
    <p:sldId id="469" r:id="rId11"/>
    <p:sldId id="419" r:id="rId12"/>
    <p:sldId id="421" r:id="rId13"/>
    <p:sldId id="423" r:id="rId14"/>
    <p:sldId id="422" r:id="rId15"/>
    <p:sldId id="424" r:id="rId16"/>
    <p:sldId id="425" r:id="rId17"/>
    <p:sldId id="500" r:id="rId18"/>
    <p:sldId id="427" r:id="rId19"/>
    <p:sldId id="418" r:id="rId20"/>
    <p:sldId id="428" r:id="rId21"/>
    <p:sldId id="429" r:id="rId22"/>
    <p:sldId id="430" r:id="rId23"/>
    <p:sldId id="501" r:id="rId24"/>
    <p:sldId id="431" r:id="rId25"/>
    <p:sldId id="432" r:id="rId26"/>
    <p:sldId id="478" r:id="rId27"/>
    <p:sldId id="502" r:id="rId28"/>
    <p:sldId id="434" r:id="rId29"/>
    <p:sldId id="471" r:id="rId30"/>
    <p:sldId id="503" r:id="rId31"/>
    <p:sldId id="435" r:id="rId32"/>
    <p:sldId id="437" r:id="rId33"/>
    <p:sldId id="488" r:id="rId34"/>
    <p:sldId id="489" r:id="rId35"/>
    <p:sldId id="490" r:id="rId36"/>
    <p:sldId id="491" r:id="rId37"/>
    <p:sldId id="492" r:id="rId38"/>
    <p:sldId id="443" r:id="rId39"/>
    <p:sldId id="479" r:id="rId40"/>
    <p:sldId id="473" r:id="rId41"/>
    <p:sldId id="476" r:id="rId42"/>
    <p:sldId id="445" r:id="rId43"/>
    <p:sldId id="446" r:id="rId44"/>
    <p:sldId id="447" r:id="rId45"/>
    <p:sldId id="448" r:id="rId46"/>
    <p:sldId id="449" r:id="rId47"/>
    <p:sldId id="495" r:id="rId48"/>
    <p:sldId id="451" r:id="rId49"/>
    <p:sldId id="496" r:id="rId50"/>
    <p:sldId id="497" r:id="rId51"/>
    <p:sldId id="455" r:id="rId52"/>
    <p:sldId id="456" r:id="rId53"/>
    <p:sldId id="457" r:id="rId54"/>
    <p:sldId id="458" r:id="rId55"/>
    <p:sldId id="464" r:id="rId56"/>
    <p:sldId id="465" r:id="rId57"/>
    <p:sldId id="505" r:id="rId58"/>
    <p:sldId id="466" r:id="rId59"/>
    <p:sldId id="506" r:id="rId60"/>
    <p:sldId id="377" r:id="rId61"/>
    <p:sldId id="467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193" autoAdjust="0"/>
  </p:normalViewPr>
  <p:slideViewPr>
    <p:cSldViewPr snapToGrid="0">
      <p:cViewPr varScale="1">
        <p:scale>
          <a:sx n="91" d="100"/>
          <a:sy n="91" d="100"/>
        </p:scale>
        <p:origin x="156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3899D-56CA-4428-AC83-C31E5D7CF5DB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8BB334-FCDD-4A9A-BA25-043E3AFEF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184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IEEE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baike.baidu.com/item/%E6%93%8D%E4%BD%9C%E7%B3%BB%E7%BB%9F" TargetMode="External"/><Relationship Id="rId4" Type="http://schemas.openxmlformats.org/officeDocument/2006/relationships/hyperlink" Target="https://baike.baidu.com/item/UNIX" TargetMode="Externa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A068260-C542-415A-988B-B3A88F7711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286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286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286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286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14DEFA1-53DF-4C9B-83E2-71FBA53BA815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34808D87-721A-417D-8F9A-33CB1AF8537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B0F45D5F-A9B4-47FD-B1C0-BD4599456C6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21E252C-D58F-42E1-901A-FD82DF362B8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ABBFB89-9E4B-4F2E-9C84-CDCE0A3B52A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0BCB23D-4699-4F79-A0E9-7A73DE68B3A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2279D20-B002-4986-82FB-B99244E8A55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3594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0BCB23D-4699-4F79-A0E9-7A73DE68B3A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2279D20-B002-4986-82FB-B99244E8A55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B0F2071-96C2-4A31-8FD4-F268CBE1915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559E74E-28A9-4D6F-919C-C164D8AF617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B55CE14-7809-4A18-BCD0-7638B7418E4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89733BF-87DE-4720-A13B-5AA277F7960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6E492E4-E2BA-486C-817E-C4C9B532948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3EBE164-EF07-46EB-9B66-E063B26BB76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062A590-7A38-4EB6-88B3-4D3FD6F92A6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012A071-C502-4F0B-B244-F5511550A3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E2072F7-26ED-4058-94DE-DF627338667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75839FA-2D9B-4052-BD9A-9A28DCDCCF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4F6621A-FCEE-4E37-A5C0-87ECBFF4168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159E709-40A9-4E18-BC5F-9387D6D61C4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6FD5C4E-8F82-45BB-AE5F-2C0D0E3D12D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B9504F8-A03C-4482-827E-EFC587375D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AD41992-C41E-4B43-A523-213B3A8F112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233C76C7-22AE-42FB-977B-B41C55133A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17BAE3E-6F93-448C-B269-9D256FB97AF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3BC47DA-75B1-4360-8007-7051153629D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2BC8C8C-398D-48A2-A540-9200CC675E2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0DE9350-4826-4885-913F-59CAF263391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17BAE3E-6F93-448C-B269-9D256FB97AF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3BC47DA-75B1-4360-8007-7051153629D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98156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CBD1194-D88A-46F0-9070-961DAC83A07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6FCE403-649E-4AA9-9F80-33A64AB575E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8DB8093-446C-4B0D-BC53-3F63AD44FFF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222A04A-252E-4324-893C-F75404D5159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2FEAA390-1FE9-4E19-8C2D-88AE619DA54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0357E24-5F9A-477F-84B4-04DBD902217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2A7FD8E-FB50-4F91-8275-BB1A5BEC957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34D9128-230B-450D-BA12-0A531A282A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0AD3D07-7A9B-419B-BB5C-5CE7D9D2E37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3DB647C-AB22-4A3E-9D5E-77B5A4B18F6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2A7FD8E-FB50-4F91-8275-BB1A5BEC957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34D9128-230B-450D-BA12-0A531A282A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0659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9045960-730D-49BF-A660-C5726FB5CCB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38F8375-20F8-4A45-B069-B5BC40B0D8B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7BF4EB5-0B62-4B08-8B5B-A127F3E514F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30E58F87-3C06-4CA7-9F61-492913818FC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950E6AED-3479-4649-8CC5-F80B3B4ACC9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6C1FB696-2284-4F29-9409-7EFCD245AAC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B504A32F-A74D-4EAB-A108-3B0A4C28CD4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592335C-2F86-4A91-83F5-10DC6E338A0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91378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B504A32F-A74D-4EAB-A108-3B0A4C28CD4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592335C-2F86-4A91-83F5-10DC6E338A0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110E850E-3931-4793-B6CC-6FB19E78001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4308BB30-E117-4D95-B187-08E720DC727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110E850E-3931-4793-B6CC-6FB19E78001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4308BB30-E117-4D95-B187-08E720DC727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29248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977982D-146B-4590-A39B-81BDDA3EE5A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D9C0911-F75C-44DB-BB2A-421A7EA4E4C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5710366-8FEA-4074-9A00-EFFC26613BE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661CCFBC-40E3-4591-9EDE-52FA9F575BC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88F0806-0F2D-4DFD-88BC-1E897A6BC6F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6B802585-6F3B-4A1B-A134-86692A0F286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7873FBE2-3249-4824-B368-2EF292B92E2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EAB18633-56D2-43C0-97F2-AD9735D6647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793C68CC-6343-4CB2-AED5-6AD023BE39A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CEAC84E6-53D2-4391-825F-7EF279068EA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5DF47446-1545-4C1B-BA35-02BFF4A3E1A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D826FD90-616F-4DD8-A3F4-EE3C452438B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C5D34B0B-498C-4CB5-9283-0356DE6D2B9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D9DA707-7B14-4023-9E06-95DA24CA067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53CBC0C1-B350-423D-A774-01F006E2B67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62929B9E-066C-40A6-8FEE-D7DE94858BB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56CEC0EE-C73A-4338-9230-084F95FC0AC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310D067-FA50-4AD4-817D-D87D8260B36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177EA46F-FEF1-4617-9505-1D8D6760020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0513FF94-75C3-4B4B-AC1F-16963B79AB0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76979161-FD8B-43E5-8502-6F12946FFBF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EE365967-58E6-49A6-AE52-DC2B7C39E54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666AA99-2547-4A56-B798-07E1D0B4B8E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5036114E-4931-45A5-9FC9-BAF1C85064D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F31B5127-D350-4CC8-9E04-14C14F9BCCC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FE9B4F3D-D797-4CCF-BDAF-A11A550C4A1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155320CE-DA68-4515-9942-9E18997B3EA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F711BC9-DAC2-4BB5-ADBA-0B03BC214D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E2881A51-253C-4D01-B875-D3AB2A1839C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BD9F2EC0-12F3-4799-B314-A81DD10AF66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77C93D84-5C18-45EE-9479-43C0D241E97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158B9A48-B36A-4003-A493-31C8ACDDC16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96BBC4D9-37E8-49F7-BDAF-AC3A93830C7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9574B659-2EBE-4C20-8D77-F47947A002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12182A0C-15A8-4A32-B7E8-69A0927296A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DC7C1C5C-F6BA-40C0-9701-79F1F2DE79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r>
              <a:rPr lang="en-US" altLang="zh-CN" dirty="0"/>
              <a:t>1 </a:t>
            </a:r>
            <a:r>
              <a:rPr lang="zh-CN" altLang="en-US" dirty="0"/>
              <a:t>缓冲</a:t>
            </a:r>
            <a:r>
              <a:rPr lang="en-US" altLang="zh-CN" dirty="0"/>
              <a:t>(Buffer) </a:t>
            </a:r>
            <a:r>
              <a:rPr lang="zh-CN" altLang="en-US" dirty="0"/>
              <a:t>和缓存</a:t>
            </a:r>
            <a:r>
              <a:rPr lang="en-US" altLang="zh-CN" dirty="0"/>
              <a:t>(Cache)</a:t>
            </a:r>
            <a:r>
              <a:rPr lang="zh-CN" altLang="en-US" dirty="0"/>
              <a:t>区别和联系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区别</a:t>
            </a:r>
            <a:r>
              <a:rPr lang="en-US" altLang="zh-CN" dirty="0"/>
              <a:t>: </a:t>
            </a:r>
            <a:r>
              <a:rPr lang="zh-CN" altLang="en-US" dirty="0"/>
              <a:t>两者操作的对象不一样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(1) buffer(</a:t>
            </a:r>
            <a:r>
              <a:rPr lang="zh-CN" altLang="en-US" dirty="0"/>
              <a:t>缓冲</a:t>
            </a:r>
            <a:r>
              <a:rPr lang="en-US" altLang="zh-CN" dirty="0"/>
              <a:t>): </a:t>
            </a:r>
            <a:r>
              <a:rPr lang="zh-CN" altLang="en-US" dirty="0"/>
              <a:t>是为了提高 内存和硬盘或其他</a:t>
            </a:r>
            <a:r>
              <a:rPr lang="en-US" altLang="zh-CN" dirty="0"/>
              <a:t>I/0</a:t>
            </a:r>
            <a:r>
              <a:rPr lang="zh-CN" altLang="en-US" dirty="0"/>
              <a:t>设备 之间的数据交换的速度而设计的</a:t>
            </a:r>
            <a:r>
              <a:rPr lang="en-US" altLang="zh-CN" dirty="0"/>
              <a:t>.</a:t>
            </a:r>
            <a:r>
              <a:rPr lang="zh-CN" altLang="en-US" dirty="0"/>
              <a:t>当创建</a:t>
            </a:r>
            <a:r>
              <a:rPr lang="en-US" altLang="zh-CN" dirty="0"/>
              <a:t>buffer</a:t>
            </a:r>
            <a:r>
              <a:rPr lang="zh-CN" altLang="en-US" dirty="0"/>
              <a:t>对象时</a:t>
            </a:r>
            <a:r>
              <a:rPr lang="en-US" altLang="zh-CN" dirty="0"/>
              <a:t>, </a:t>
            </a:r>
            <a:r>
              <a:rPr lang="zh-CN" altLang="en-US" dirty="0"/>
              <a:t>会先创建一个缓冲区数组</a:t>
            </a:r>
            <a:r>
              <a:rPr lang="en-US" altLang="zh-CN" dirty="0"/>
              <a:t>. </a:t>
            </a:r>
            <a:r>
              <a:rPr lang="zh-CN" altLang="en-US" dirty="0"/>
              <a:t>然后当我们读一个文件时</a:t>
            </a:r>
            <a:r>
              <a:rPr lang="en-US" altLang="zh-CN" dirty="0"/>
              <a:t>, </a:t>
            </a:r>
            <a:r>
              <a:rPr lang="zh-CN" altLang="en-US" dirty="0"/>
              <a:t>先从硬盘中读到缓冲区</a:t>
            </a:r>
            <a:r>
              <a:rPr lang="en-US" altLang="zh-CN" dirty="0"/>
              <a:t>, </a:t>
            </a:r>
            <a:r>
              <a:rPr lang="zh-CN" altLang="en-US" dirty="0"/>
              <a:t>待缓冲区满后再进行传送</a:t>
            </a:r>
            <a:r>
              <a:rPr lang="en-US" altLang="zh-CN" dirty="0"/>
              <a:t>. </a:t>
            </a:r>
            <a:r>
              <a:rPr lang="zh-CN" altLang="en-US" dirty="0"/>
              <a:t>这样会大大减少读写次数，这样就可以节省很多时间</a:t>
            </a:r>
            <a:r>
              <a:rPr lang="en-US" altLang="zh-CN" dirty="0"/>
              <a:t>, </a:t>
            </a:r>
            <a:r>
              <a:rPr lang="zh-CN" altLang="en-US" dirty="0"/>
              <a:t>效率会更高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(2) cache(</a:t>
            </a:r>
            <a:r>
              <a:rPr lang="zh-CN" altLang="en-US" dirty="0"/>
              <a:t>缓存</a:t>
            </a:r>
            <a:r>
              <a:rPr lang="en-US" altLang="zh-CN" dirty="0"/>
              <a:t>) </a:t>
            </a:r>
            <a:r>
              <a:rPr lang="zh-CN" altLang="en-US" dirty="0"/>
              <a:t>是为了提高 </a:t>
            </a:r>
            <a:r>
              <a:rPr lang="en-US" altLang="zh-CN" dirty="0" err="1"/>
              <a:t>cpu</a:t>
            </a:r>
            <a:r>
              <a:rPr lang="zh-CN" altLang="en-US" dirty="0"/>
              <a:t>和内存 之间的数据交换速度而设计</a:t>
            </a:r>
            <a:r>
              <a:rPr lang="en-US" altLang="zh-CN" dirty="0"/>
              <a:t>.</a:t>
            </a:r>
            <a:r>
              <a:rPr lang="zh-CN" altLang="en-US" dirty="0"/>
              <a:t>高速缓冲存储器</a:t>
            </a:r>
            <a:r>
              <a:rPr lang="en-US" altLang="zh-CN" dirty="0"/>
              <a:t>, </a:t>
            </a:r>
            <a:r>
              <a:rPr lang="zh-CN" altLang="en-US" dirty="0"/>
              <a:t>读写速度很快，几乎与</a:t>
            </a:r>
            <a:r>
              <a:rPr lang="en-US" altLang="zh-CN" dirty="0"/>
              <a:t>CPU</a:t>
            </a:r>
            <a:r>
              <a:rPr lang="zh-CN" altLang="en-US" dirty="0"/>
              <a:t>一样。由于</a:t>
            </a:r>
            <a:r>
              <a:rPr lang="en-US" altLang="zh-CN" dirty="0"/>
              <a:t>CPU</a:t>
            </a:r>
            <a:r>
              <a:rPr lang="zh-CN" altLang="en-US" dirty="0"/>
              <a:t>的运算速度太快，内存的数据存取速度无法跟上</a:t>
            </a:r>
            <a:r>
              <a:rPr lang="en-US" altLang="zh-CN" dirty="0"/>
              <a:t>CPU</a:t>
            </a:r>
            <a:r>
              <a:rPr lang="zh-CN" altLang="en-US" dirty="0"/>
              <a:t>的速度，所以在</a:t>
            </a:r>
            <a:r>
              <a:rPr lang="en-US" altLang="zh-CN" dirty="0" err="1"/>
              <a:t>cpu</a:t>
            </a:r>
            <a:r>
              <a:rPr lang="zh-CN" altLang="en-US" dirty="0"/>
              <a:t>与内存间设置了</a:t>
            </a:r>
            <a:r>
              <a:rPr lang="en-US" altLang="zh-CN" dirty="0"/>
              <a:t>cache</a:t>
            </a:r>
            <a:r>
              <a:rPr lang="zh-CN" altLang="en-US" dirty="0"/>
              <a:t>为</a:t>
            </a:r>
            <a:r>
              <a:rPr lang="en-US" altLang="zh-CN" dirty="0" err="1"/>
              <a:t>cpu</a:t>
            </a:r>
            <a:r>
              <a:rPr lang="zh-CN" altLang="en-US" dirty="0"/>
              <a:t>的数据快取区。当计算机执行程序时，数据与地址管理部件会 预测 可能要用到的数据和指令</a:t>
            </a:r>
            <a:r>
              <a:rPr lang="en-US" altLang="zh-CN" dirty="0"/>
              <a:t>, </a:t>
            </a:r>
            <a:r>
              <a:rPr lang="zh-CN" altLang="en-US" dirty="0"/>
              <a:t>并将这些数据和指令预先从内存中读出送到</a:t>
            </a:r>
            <a:r>
              <a:rPr lang="en-US" altLang="zh-CN" dirty="0"/>
              <a:t>Cache. </a:t>
            </a:r>
            <a:r>
              <a:rPr lang="zh-CN" altLang="en-US" dirty="0"/>
              <a:t>一旦需要时，先检查</a:t>
            </a:r>
            <a:r>
              <a:rPr lang="en-US" altLang="zh-CN" dirty="0"/>
              <a:t>Cache</a:t>
            </a:r>
            <a:r>
              <a:rPr lang="zh-CN" altLang="en-US" dirty="0"/>
              <a:t>，若有就从</a:t>
            </a:r>
            <a:r>
              <a:rPr lang="en-US" altLang="zh-CN" dirty="0"/>
              <a:t>Cache</a:t>
            </a:r>
            <a:r>
              <a:rPr lang="zh-CN" altLang="en-US" dirty="0"/>
              <a:t>中读取，若无再访问内存，现在的</a:t>
            </a:r>
            <a:r>
              <a:rPr lang="en-US" altLang="zh-CN" dirty="0"/>
              <a:t>CPU</a:t>
            </a:r>
            <a:r>
              <a:rPr lang="zh-CN" altLang="en-US" dirty="0"/>
              <a:t>还有一级</a:t>
            </a:r>
            <a:r>
              <a:rPr lang="en-US" altLang="zh-CN" dirty="0"/>
              <a:t>cache</a:t>
            </a:r>
            <a:r>
              <a:rPr lang="zh-CN" altLang="en-US" dirty="0"/>
              <a:t>，二级</a:t>
            </a:r>
            <a:r>
              <a:rPr lang="en-US" altLang="zh-CN" dirty="0"/>
              <a:t>cache</a:t>
            </a:r>
            <a:r>
              <a:rPr lang="zh-CN" altLang="en-US" dirty="0"/>
              <a:t>。简单来说，</a:t>
            </a:r>
            <a:r>
              <a:rPr lang="en-US" altLang="zh-CN" dirty="0"/>
              <a:t>Cache</a:t>
            </a:r>
            <a:r>
              <a:rPr lang="zh-CN" altLang="en-US" dirty="0"/>
              <a:t>就是用来解决</a:t>
            </a:r>
            <a:r>
              <a:rPr lang="en-US" altLang="zh-CN" dirty="0"/>
              <a:t>CPU</a:t>
            </a:r>
            <a:r>
              <a:rPr lang="zh-CN" altLang="en-US" dirty="0"/>
              <a:t>与内存之间速度不匹配的问题，避免内存与辅助内存频繁存取数据，这样就提高了系统的执行效率</a:t>
            </a:r>
            <a:r>
              <a:rPr lang="en-US" altLang="zh-CN" dirty="0"/>
              <a:t>. </a:t>
            </a:r>
            <a:r>
              <a:rPr lang="zh-CN" altLang="en-US" dirty="0"/>
              <a:t>设置缓存的理论基础</a:t>
            </a:r>
            <a:r>
              <a:rPr lang="en-US" altLang="zh-CN" dirty="0"/>
              <a:t>, </a:t>
            </a:r>
            <a:r>
              <a:rPr lang="zh-CN" altLang="en-US" dirty="0"/>
              <a:t>是程序访问的局部性原理</a:t>
            </a:r>
            <a:r>
              <a:rPr lang="en-US" altLang="zh-CN" dirty="0"/>
              <a:t>. </a:t>
            </a:r>
            <a:r>
              <a:rPr lang="zh-CN" altLang="en-US" dirty="0"/>
              <a:t>缓存的功能均由硬件实现，对程序员是透明的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(3) buffer</a:t>
            </a:r>
            <a:r>
              <a:rPr lang="zh-CN" altLang="en-US" dirty="0"/>
              <a:t>偏重于写</a:t>
            </a:r>
            <a:r>
              <a:rPr lang="en-US" altLang="zh-CN" dirty="0"/>
              <a:t>, </a:t>
            </a:r>
            <a:r>
              <a:rPr lang="zh-CN" altLang="en-US" dirty="0"/>
              <a:t>而</a:t>
            </a:r>
            <a:r>
              <a:rPr lang="en-US" altLang="zh-CN" dirty="0"/>
              <a:t>cache</a:t>
            </a:r>
            <a:r>
              <a:rPr lang="zh-CN" altLang="en-US" dirty="0"/>
              <a:t>偏重于读</a:t>
            </a:r>
            <a:r>
              <a:rPr lang="en-US" altLang="zh-CN" dirty="0"/>
              <a:t>.</a:t>
            </a:r>
          </a:p>
          <a:p>
            <a:endParaRPr lang="en-US" altLang="zh-CN"/>
          </a:p>
          <a:p>
            <a:r>
              <a:rPr lang="en-US" altLang="zh-CN"/>
              <a:t>3 </a:t>
            </a:r>
            <a:r>
              <a:rPr lang="zh-CN" altLang="en-US" dirty="0"/>
              <a:t>相同点</a:t>
            </a:r>
            <a:r>
              <a:rPr lang="en-US" altLang="zh-CN" dirty="0"/>
              <a:t>: </a:t>
            </a:r>
            <a:r>
              <a:rPr lang="zh-CN" altLang="en-US" dirty="0"/>
              <a:t>两者都加快了系统的反应速度。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EF3FB5AD-530E-4253-9753-BC7F0FDD9B4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7E4912FF-1018-46D4-9E31-94F895C07E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可移植操作系统接口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（英语：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Portable Operating System Interface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，缩写为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）是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IEEE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为要在各种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UNIX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操作系统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上运行软件，而定义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的一系列互相关联的标准的总称，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CEE199C7-99BF-4B2D-A448-939FE855AA8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4D76BD02-CEF8-4CED-94FA-0CAACC91837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EC03BED7-6A29-4E54-B0EE-4DC5CDD8275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34319DC6-BE6A-4937-9911-0959B8B595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26C3648D-FBE8-48DC-9E72-FF0DA4B122C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1789438B-E5AE-43DF-B0D6-0F2992DE856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6BCDBBC4-4C1A-4AE4-84D9-76A0D69042D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AE9428ED-49DF-4D6E-8BEF-E293C29967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9362E9E4-1304-4DCD-86F8-DBA4EAD3851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31474318-94B6-42D3-8E35-8423C169F7A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7A9B344C-A967-4180-B70F-94D868D6F5D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CFA89063-B22D-4449-BA0C-B978100DDBD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97792C31-CF33-4A01-9B7D-2871A745CF0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EFEBA984-ADDB-45C0-8C21-100DC94E7B9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97792C31-CF33-4A01-9B7D-2871A745CF0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EFEBA984-ADDB-45C0-8C21-100DC94E7B9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484915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FBD0FBFC-D2F0-402D-982A-0D0F0BA68AA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44A162B6-510E-4654-9ECD-5723D3C49A2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FBD0FBFC-D2F0-402D-982A-0D0F0BA68AA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44A162B6-510E-4654-9ECD-5723D3C49A2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456821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3415EB4F-02AF-417D-AA2B-C00DFA74542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1A673C88-E135-424F-A7D5-656F4FDF159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5984" y="6613526"/>
            <a:ext cx="2659692" cy="246217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000" b="1">
                <a:solidFill>
                  <a:srgbClr val="336699"/>
                </a:solidFill>
                <a:ea typeface="MS PGothic" panose="020B0600070205080204" pitchFamily="34" charset="-128"/>
              </a:rPr>
              <a:t>Operating System Concepts – 9</a:t>
            </a:r>
            <a:r>
              <a:rPr lang="en-US" sz="1000" b="1" baseline="30000">
                <a:solidFill>
                  <a:srgbClr val="336699"/>
                </a:solidFill>
                <a:ea typeface="MS PGothic" panose="020B0600070205080204" pitchFamily="34" charset="-128"/>
              </a:rPr>
              <a:t>th</a:t>
            </a:r>
            <a:r>
              <a:rPr lang="en-US" sz="1000" b="1">
                <a:solidFill>
                  <a:srgbClr val="336699"/>
                </a:solidFill>
                <a:ea typeface="MS PGothic" panose="020B0600070205080204" pitchFamily="34" charset="-128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37FDAE40-37DC-4D88-B117-D96496E36FC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099854" y="6611937"/>
            <a:ext cx="4092146" cy="246217"/>
          </a:xfrm>
          <a:prstGeom prst="rect">
            <a:avLst/>
          </a:prstGeom>
          <a:noFill/>
          <a:ln>
            <a:noFill/>
          </a:ln>
        </p:spPr>
        <p:txBody>
          <a:bodyPr wrap="square" lIns="91435" tIns="45718" rIns="91435" bIns="4571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sz="1000" b="1" dirty="0" err="1">
                <a:solidFill>
                  <a:srgbClr val="336699"/>
                </a:solidFill>
                <a:latin typeface="Helvetica" pitchFamily="-84" charset="0"/>
              </a:rPr>
              <a:t>Xidian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University,</a:t>
            </a:r>
            <a:r>
              <a:rPr lang="en-US" sz="1000" b="1" baseline="0" dirty="0">
                <a:solidFill>
                  <a:srgbClr val="336699"/>
                </a:solidFill>
                <a:latin typeface="Helvetica" pitchFamily="-84" charset="0"/>
              </a:rPr>
              <a:t> Cyber Engineering, </a:t>
            </a:r>
            <a:r>
              <a:rPr lang="en-US" altLang="zh-CN" sz="1000" b="1" baseline="0" dirty="0" err="1">
                <a:solidFill>
                  <a:srgbClr val="336699"/>
                </a:solidFill>
                <a:latin typeface="Helvetica" pitchFamily="-84" charset="0"/>
              </a:rPr>
              <a:t>Xiangyu</a:t>
            </a:r>
            <a:r>
              <a:rPr lang="en-US" altLang="zh-CN" sz="1000" b="1" baseline="0" dirty="0">
                <a:solidFill>
                  <a:srgbClr val="336699"/>
                </a:solidFill>
                <a:latin typeface="Helvetica" pitchFamily="-84" charset="0"/>
              </a:rPr>
              <a:t> Wang</a:t>
            </a:r>
            <a:r>
              <a:rPr lang="en-US" altLang="zh-CN" sz="1000" b="1" dirty="0">
                <a:solidFill>
                  <a:srgbClr val="336699"/>
                </a:solidFill>
                <a:latin typeface="Helvetica" pitchFamily="-84" charset="0"/>
              </a:rPr>
              <a:t> 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32575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1313" indent="-341313">
              <a:buFont typeface="Wingdings" panose="05000000000000000000" pitchFamily="2" charset="2"/>
              <a:buChar char="p"/>
              <a:defRPr/>
            </a:lvl1pPr>
            <a:lvl2pPr marL="741363" indent="-284163">
              <a:buFont typeface="Wingdings" panose="05000000000000000000" pitchFamily="2" charset="2"/>
              <a:buChar char="n"/>
              <a:defRPr/>
            </a:lvl2pPr>
            <a:lvl3pPr marL="1084263" indent="-227013">
              <a:buFont typeface="Wingdings" panose="05000000000000000000" pitchFamily="2" charset="2"/>
              <a:buChar char="Ø"/>
              <a:defRPr/>
            </a:lvl3pPr>
            <a:lvl4pPr marL="1427163" indent="-227013">
              <a:buFont typeface="Wingdings" panose="05000000000000000000" pitchFamily="2" charset="2"/>
              <a:buChar char="ü"/>
              <a:defRPr/>
            </a:lvl4pPr>
            <a:lvl5pPr marL="1770063" indent="-227013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738F31-17F0-4509-8CE3-5AA80137EAEE}"/>
              </a:ext>
            </a:extLst>
          </p:cNvPr>
          <p:cNvSpPr txBox="1"/>
          <p:nvPr userDrawn="1"/>
        </p:nvSpPr>
        <p:spPr>
          <a:xfrm>
            <a:off x="6037865" y="6615139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006699"/>
                </a:solidFill>
              </a:rPr>
              <a:t>/61</a:t>
            </a:r>
            <a:endParaRPr lang="zh-CN" altLang="en-US" sz="1000" b="1" dirty="0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5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C196E5-D95D-4C93-82CC-3BACC676DD5A}"/>
              </a:ext>
            </a:extLst>
          </p:cNvPr>
          <p:cNvSpPr txBox="1"/>
          <p:nvPr userDrawn="1"/>
        </p:nvSpPr>
        <p:spPr>
          <a:xfrm>
            <a:off x="6037865" y="6615139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006699"/>
                </a:solidFill>
              </a:rPr>
              <a:t>/61</a:t>
            </a:r>
            <a:endParaRPr lang="zh-CN" altLang="en-US" sz="1000" b="1" dirty="0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39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267" y="1233490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90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B36ED3-030B-4E43-A8D5-CE949EE5E02B}"/>
              </a:ext>
            </a:extLst>
          </p:cNvPr>
          <p:cNvSpPr txBox="1"/>
          <p:nvPr userDrawn="1"/>
        </p:nvSpPr>
        <p:spPr>
          <a:xfrm>
            <a:off x="6037865" y="6615139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006699"/>
                </a:solidFill>
              </a:rPr>
              <a:t>/61</a:t>
            </a:r>
            <a:endParaRPr lang="zh-CN" altLang="en-US" sz="1000" b="1" dirty="0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20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583B5D-609E-464A-849B-6174186760A6}"/>
              </a:ext>
            </a:extLst>
          </p:cNvPr>
          <p:cNvSpPr txBox="1"/>
          <p:nvPr userDrawn="1"/>
        </p:nvSpPr>
        <p:spPr>
          <a:xfrm>
            <a:off x="6037865" y="6615139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006699"/>
                </a:solidFill>
              </a:rPr>
              <a:t>/61</a:t>
            </a:r>
            <a:endParaRPr lang="zh-CN" altLang="en-US" sz="1000" b="1" dirty="0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846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A43452-842E-4FF8-914B-0ED1FC1722BD}"/>
              </a:ext>
            </a:extLst>
          </p:cNvPr>
          <p:cNvSpPr txBox="1"/>
          <p:nvPr userDrawn="1"/>
        </p:nvSpPr>
        <p:spPr>
          <a:xfrm>
            <a:off x="6037865" y="6615139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006699"/>
                </a:solidFill>
              </a:rPr>
              <a:t>/61</a:t>
            </a:r>
            <a:endParaRPr lang="zh-CN" altLang="en-US" sz="1000" b="1" dirty="0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10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16BDCD7-C27A-43CE-BBEC-2480BDE564E0}"/>
              </a:ext>
            </a:extLst>
          </p:cNvPr>
          <p:cNvSpPr txBox="1"/>
          <p:nvPr userDrawn="1"/>
        </p:nvSpPr>
        <p:spPr>
          <a:xfrm>
            <a:off x="6037865" y="6615139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006699"/>
                </a:solidFill>
              </a:rPr>
              <a:t>/61</a:t>
            </a:r>
            <a:endParaRPr lang="zh-CN" altLang="en-US" sz="1000" b="1" dirty="0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096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0888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912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0659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8451" y="277813"/>
            <a:ext cx="285961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375651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0242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5"/>
            <a:ext cx="10972800" cy="5762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75267" y="123349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9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082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593851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267" y="1233489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860425"/>
            <a:ext cx="107696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 lIns="91435" tIns="45718" rIns="91435" bIns="4571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5749461" y="6613526"/>
            <a:ext cx="447548" cy="246217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1000" b="1">
                <a:solidFill>
                  <a:srgbClr val="006699"/>
                </a:solidFill>
                <a:latin typeface="Helvetica" panose="020B0604020202020204" pitchFamily="34" charset="0"/>
              </a:rPr>
              <a:t>5.</a:t>
            </a:r>
            <a:fld id="{08C61524-A86C-4EEA-897F-D0BC5AB60DA3}" type="slidenum">
              <a:rPr lang="en-US" altLang="zh-CN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t>‹#›</a:t>
            </a:fld>
            <a:endParaRPr lang="en-US" altLang="zh-CN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5318" y="5849938"/>
            <a:ext cx="171238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47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5pPr>
      <a:lvl6pPr marL="457177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354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532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709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Wingdings" panose="05000000000000000000" pitchFamily="2" charset="2"/>
        <a:buChar char="p"/>
        <a:defRPr kumimoji="1"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741363" indent="-284163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Wingdings" panose="05000000000000000000" pitchFamily="2" charset="2"/>
        <a:buChar char="n"/>
        <a:defRPr kumimoji="1"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084263" indent="-227013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Ø"/>
        <a:defRPr kumimoji="1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427163" indent="-227013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ü"/>
        <a:defRPr kumimoji="1" sz="16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1770063" indent="-227013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Font typeface="Arial" panose="020B0604020202020204" pitchFamily="34" charset="0"/>
        <a:buChar char="•"/>
        <a:defRPr kumimoji="1" sz="16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228738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5915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093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270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46DB4D64-93A9-4000-956E-BF83B41A62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95475" y="1831975"/>
            <a:ext cx="8458200" cy="1143000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第三章  进程管理</a:t>
            </a:r>
            <a:endParaRPr lang="en-US" altLang="en-US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2D9A238-C581-4C87-9D34-80BEE7960B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68651" y="182563"/>
            <a:ext cx="6380163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第三章  进程管理</a:t>
            </a:r>
            <a:endParaRPr lang="en-US" alt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0BCF3FA-32B0-430D-AAA2-8FB39BBEBC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8078" y="1107228"/>
            <a:ext cx="7370763" cy="38227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进程概念</a:t>
            </a:r>
            <a:endParaRPr lang="en-US" altLang="en-US" sz="32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进程调度</a:t>
            </a:r>
            <a:endParaRPr lang="en-US" altLang="en-US" sz="32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进程操作</a:t>
            </a:r>
            <a:endParaRPr lang="en-US" altLang="en-US" sz="32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进程间通信</a:t>
            </a:r>
            <a:endParaRPr lang="en-US" altLang="en-US" sz="32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ea typeface="微软雅黑" panose="020B0503020204020204" pitchFamily="34" charset="-122"/>
              </a:rPr>
              <a:t>IPC </a:t>
            </a:r>
            <a:r>
              <a:rPr lang="zh-CN" altLang="en-US" sz="3200" dirty="0">
                <a:ea typeface="微软雅黑" panose="020B0503020204020204" pitchFamily="34" charset="-122"/>
              </a:rPr>
              <a:t>系统示例</a:t>
            </a:r>
          </a:p>
          <a:p>
            <a:pPr>
              <a:lnSpc>
                <a:spcPct val="15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客户机</a:t>
            </a:r>
            <a:r>
              <a:rPr lang="en-US" altLang="zh-CN" sz="3200" dirty="0">
                <a:ea typeface="微软雅黑" panose="020B0503020204020204" pitchFamily="34" charset="-122"/>
              </a:rPr>
              <a:t>—</a:t>
            </a:r>
            <a:r>
              <a:rPr lang="zh-CN" altLang="en-US" sz="3200" dirty="0">
                <a:ea typeface="微软雅黑" panose="020B0503020204020204" pitchFamily="34" charset="-122"/>
              </a:rPr>
              <a:t>服务器通信</a:t>
            </a:r>
            <a:r>
              <a:rPr lang="en-US" altLang="zh-CN" sz="3200" dirty="0">
                <a:ea typeface="微软雅黑" panose="020B0503020204020204" pitchFamily="34" charset="-122"/>
              </a:rPr>
              <a:t>*</a:t>
            </a:r>
            <a:endParaRPr lang="en-US" altLang="en-US" sz="32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3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8486BB9-81BF-4879-9B9D-384802D09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00388" y="166688"/>
            <a:ext cx="6107112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3.1 </a:t>
            </a:r>
            <a:r>
              <a:rPr lang="zh-CN" altLang="en-US" dirty="0">
                <a:ea typeface="微软雅黑" panose="020B0503020204020204" pitchFamily="34" charset="-122"/>
              </a:rPr>
              <a:t>进程概念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66F5454-4556-4BF5-8BE2-C23E9BF72F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177926"/>
            <a:ext cx="10993120" cy="478631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操作系统执行多种程序：</a:t>
            </a:r>
          </a:p>
          <a:p>
            <a:pPr lvl="1">
              <a:lnSpc>
                <a:spcPct val="20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批处理系统 </a:t>
            </a:r>
            <a:r>
              <a:rPr lang="en-US" altLang="zh-CN" sz="2400" dirty="0">
                <a:ea typeface="微软雅黑" panose="020B0503020204020204" pitchFamily="34" charset="-122"/>
              </a:rPr>
              <a:t>——</a:t>
            </a:r>
            <a:r>
              <a:rPr lang="zh-CN" altLang="en-US" sz="2400" b="1" dirty="0"/>
              <a:t>作业</a:t>
            </a:r>
            <a:r>
              <a:rPr lang="en-US" altLang="zh-CN" sz="2400" b="1" dirty="0"/>
              <a:t>(Job)</a:t>
            </a:r>
            <a:endParaRPr lang="zh-CN" altLang="en-US" sz="2400" b="1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分时系统</a:t>
            </a:r>
            <a:r>
              <a:rPr lang="en-US" altLang="zh-CN" sz="2400" dirty="0"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ea typeface="微软雅黑" panose="020B0503020204020204" pitchFamily="34" charset="-122"/>
              </a:rPr>
              <a:t>用户程序</a:t>
            </a:r>
            <a:r>
              <a:rPr lang="zh-CN" altLang="en-US" sz="2400" dirty="0">
                <a:ea typeface="微软雅黑" panose="020B0503020204020204" pitchFamily="34" charset="-122"/>
              </a:rPr>
              <a:t>或</a:t>
            </a:r>
            <a:r>
              <a:rPr lang="zh-CN" altLang="en-US" sz="2400" b="1" dirty="0">
                <a:ea typeface="微软雅黑" panose="020B0503020204020204" pitchFamily="34" charset="-122"/>
              </a:rPr>
              <a:t>任务</a:t>
            </a:r>
            <a:r>
              <a:rPr lang="en-US" altLang="zh-CN" sz="2400" b="1" dirty="0">
                <a:ea typeface="微软雅黑" panose="020B0503020204020204" pitchFamily="34" charset="-122"/>
              </a:rPr>
              <a:t>(Task or Process)</a:t>
            </a:r>
            <a:endParaRPr lang="zh-CN" altLang="en-US" sz="2400" b="1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400" b="0" dirty="0">
                <a:ea typeface="微软雅黑" panose="020B0503020204020204" pitchFamily="34" charset="-122"/>
              </a:rPr>
              <a:t>在本书中， 作业与进程这两个概念几乎可以互换使用</a:t>
            </a:r>
            <a:endParaRPr lang="en-US" altLang="en-US" sz="2400" b="0" dirty="0"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ea typeface="微软雅黑" panose="020B0503020204020204" pitchFamily="34" charset="-122"/>
              </a:rPr>
              <a:t>进程</a:t>
            </a:r>
            <a:r>
              <a:rPr lang="en-US" altLang="zh-CN" sz="2800" dirty="0"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ea typeface="微软雅黑" panose="020B0503020204020204" pitchFamily="34" charset="-122"/>
              </a:rPr>
              <a:t>一个正在执行的程序； 进程的执行必须按顺序进行</a:t>
            </a:r>
          </a:p>
        </p:txBody>
      </p:sp>
    </p:spTree>
    <p:extLst>
      <p:ext uri="{BB962C8B-B14F-4D97-AF65-F5344CB8AC3E}">
        <p14:creationId xmlns:p14="http://schemas.microsoft.com/office/powerpoint/2010/main" val="118258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8486BB9-81BF-4879-9B9D-384802D09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00388" y="166688"/>
            <a:ext cx="6107112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进程概念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66F5454-4556-4BF5-8BE2-C23E9BF72F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9440" y="899900"/>
            <a:ext cx="10993120" cy="478631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dirty="0">
                <a:ea typeface="微软雅黑" panose="020B0503020204020204" pitchFamily="34" charset="-122"/>
              </a:rPr>
              <a:t>多个部分 </a:t>
            </a:r>
            <a:endParaRPr lang="en-US" altLang="en-US" sz="2800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ea typeface="微软雅黑" panose="020B0503020204020204" pitchFamily="34" charset="-122"/>
              </a:rPr>
              <a:t>内存</a:t>
            </a:r>
            <a:endParaRPr lang="en-US" altLang="zh-CN" sz="2400" b="1" dirty="0"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dirty="0"/>
              <a:t>程序代码，也称为</a:t>
            </a:r>
            <a:r>
              <a:rPr lang="zh-CN" altLang="en-US" sz="2400" b="1" dirty="0"/>
              <a:t>文本段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/>
              <a:t>数据段</a:t>
            </a:r>
            <a:r>
              <a:rPr lang="zh-CN" altLang="en-US" sz="2400" dirty="0"/>
              <a:t>包含全局变量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/>
              <a:t>堆</a:t>
            </a:r>
            <a:r>
              <a:rPr lang="zh-CN" altLang="en-US" sz="2400" dirty="0"/>
              <a:t>在进程运行时动态分配的内存</a:t>
            </a:r>
            <a:endParaRPr lang="en-US" altLang="zh-CN" sz="2400" dirty="0"/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/>
              <a:t>堆栈：</a:t>
            </a:r>
            <a:r>
              <a:rPr lang="zh-CN" altLang="en-US" sz="2400" dirty="0"/>
              <a:t>如函数参数、返回地址和局部变量</a:t>
            </a:r>
            <a:endParaRPr lang="en-US" altLang="zh-CN" sz="2400" b="1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ea typeface="微软雅黑" panose="020B0503020204020204" pitchFamily="34" charset="-122"/>
              </a:rPr>
              <a:t>当前活动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(Current activity)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zh-CN" altLang="en-US" sz="2200" dirty="0"/>
              <a:t>当前状态、程序计数器、处理器寄存器</a:t>
            </a:r>
            <a:endParaRPr lang="en-US" altLang="zh-CN" sz="2200" dirty="0"/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zh-CN" altLang="en-US" sz="2200" dirty="0"/>
              <a:t>上下文信息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information)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：所有寄存器当前的数据值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endParaRPr lang="en-US" altLang="zh-CN" sz="2400" b="1" dirty="0"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53DCC9-2B35-441E-8C95-36862A632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516" y="1112319"/>
            <a:ext cx="2962913" cy="46333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4D3BB9FA-C4F5-4EE9-99DB-E51C21C192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6054" y="1035843"/>
            <a:ext cx="10884746" cy="478631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程序是存储在磁盘上的</a:t>
            </a:r>
            <a:r>
              <a:rPr lang="zh-CN" altLang="en-US" sz="2800" b="1" dirty="0">
                <a:ea typeface="微软雅黑" panose="020B0503020204020204" pitchFamily="34" charset="-122"/>
              </a:rPr>
              <a:t>被动</a:t>
            </a:r>
            <a:r>
              <a:rPr lang="zh-CN" altLang="en-US" sz="2800" dirty="0">
                <a:ea typeface="微软雅黑" panose="020B0503020204020204" pitchFamily="34" charset="-122"/>
              </a:rPr>
              <a:t>实体（</a:t>
            </a:r>
            <a:r>
              <a:rPr lang="zh-CN" altLang="en-US" sz="2800" b="1" dirty="0">
                <a:ea typeface="微软雅黑" panose="020B0503020204020204" pitchFamily="34" charset="-122"/>
              </a:rPr>
              <a:t>可执行文件</a:t>
            </a:r>
            <a:r>
              <a:rPr lang="zh-CN" altLang="en-US" sz="2800" dirty="0">
                <a:ea typeface="微软雅黑" panose="020B0503020204020204" pitchFamily="34" charset="-122"/>
              </a:rPr>
              <a:t>），进程是</a:t>
            </a:r>
            <a:r>
              <a:rPr lang="zh-CN" altLang="en-US" sz="2800" b="1" dirty="0">
                <a:ea typeface="微软雅黑" panose="020B0503020204020204" pitchFamily="34" charset="-122"/>
              </a:rPr>
              <a:t>主动</a:t>
            </a:r>
            <a:r>
              <a:rPr lang="zh-CN" altLang="en-US" sz="2800" dirty="0">
                <a:ea typeface="微软雅黑" panose="020B0503020204020204" pitchFamily="34" charset="-122"/>
              </a:rPr>
              <a:t>的</a:t>
            </a:r>
          </a:p>
          <a:p>
            <a:pPr lvl="1">
              <a:lnSpc>
                <a:spcPct val="20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当一个可执行文件被加载到内存时，这个程序就成为进程</a:t>
            </a:r>
            <a:endParaRPr lang="en-US" altLang="en-US" sz="2400" dirty="0"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0" dirty="0">
                <a:ea typeface="微软雅黑" panose="020B0503020204020204" pitchFamily="34" charset="-122"/>
              </a:rPr>
              <a:t>通过</a:t>
            </a:r>
            <a:r>
              <a:rPr lang="en-US" altLang="zh-CN" sz="2800" b="0" dirty="0">
                <a:ea typeface="微软雅黑" panose="020B0503020204020204" pitchFamily="34" charset="-122"/>
              </a:rPr>
              <a:t>GUI</a:t>
            </a:r>
            <a:r>
              <a:rPr lang="zh-CN" altLang="en-US" sz="2800" b="0" dirty="0">
                <a:ea typeface="微软雅黑" panose="020B0503020204020204" pitchFamily="34" charset="-122"/>
              </a:rPr>
              <a:t>鼠标单击或在命令行上输入可执行文件的名称来加载程序</a:t>
            </a:r>
          </a:p>
          <a:p>
            <a:pPr>
              <a:lnSpc>
                <a:spcPct val="20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一个程序可以是多个进程</a:t>
            </a:r>
          </a:p>
          <a:p>
            <a:pPr lvl="1">
              <a:lnSpc>
                <a:spcPct val="20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考虑多个用户执行同一个程序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400" dirty="0"/>
              <a:t>一个程序执行多个任务</a:t>
            </a:r>
            <a:endParaRPr lang="en-US" altLang="en-US" sz="2400" dirty="0"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en-US" sz="2800" dirty="0"/>
          </a:p>
          <a:p>
            <a:pPr>
              <a:lnSpc>
                <a:spcPct val="200000"/>
              </a:lnSpc>
              <a:buFont typeface="Monotype Sorts" pitchFamily="-84" charset="2"/>
              <a:buNone/>
            </a:pPr>
            <a:endParaRPr lang="en-US" altLang="en-US" sz="2800" dirty="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BB615DB6-CE2B-475D-8A11-F38147852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00388" y="166688"/>
            <a:ext cx="6107112" cy="576262"/>
          </a:xfrm>
        </p:spPr>
        <p:txBody>
          <a:bodyPr/>
          <a:lstStyle/>
          <a:p>
            <a:pPr eaLnBrk="1" hangingPunct="1"/>
            <a:r>
              <a:rPr lang="zh-CN" altLang="en-US" dirty="0"/>
              <a:t>程序 </a:t>
            </a:r>
            <a:r>
              <a:rPr lang="en-US" altLang="zh-CN" dirty="0"/>
              <a:t>VS </a:t>
            </a:r>
            <a:r>
              <a:rPr lang="zh-CN" altLang="en-US" dirty="0"/>
              <a:t>进程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E077209-33DF-4272-8B1E-9E4045E1E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3940" y="4326406"/>
            <a:ext cx="1853345" cy="14022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EA3E64A-7D00-482D-BCA5-EE3F79826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489" y="182563"/>
            <a:ext cx="6251575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进程状态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C0E71A9-5D0A-4493-991A-1F3DDFC200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3251" y="1063310"/>
            <a:ext cx="10891096" cy="51478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进程在执行时会改变</a:t>
            </a:r>
            <a:r>
              <a:rPr lang="zh-CN" altLang="en-US" sz="2800" b="1" dirty="0">
                <a:ea typeface="微软雅黑" panose="020B0503020204020204" pitchFamily="34" charset="-122"/>
              </a:rPr>
              <a:t>状态</a:t>
            </a:r>
            <a:endParaRPr lang="en-US" altLang="en-US" sz="2800" b="1" dirty="0">
              <a:solidFill>
                <a:srgbClr val="3366FF"/>
              </a:solidFill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创建（</a:t>
            </a:r>
            <a:r>
              <a:rPr lang="en-US" altLang="zh-CN" sz="2400" b="1" dirty="0">
                <a:ea typeface="微软雅黑" panose="020B0503020204020204" pitchFamily="34" charset="-122"/>
              </a:rPr>
              <a:t>new</a:t>
            </a:r>
            <a:r>
              <a:rPr lang="zh-CN" altLang="en-US" sz="2400" b="1" dirty="0"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ea typeface="微软雅黑" panose="020B0503020204020204" pitchFamily="34" charset="-122"/>
              </a:rPr>
              <a:t>：进程正在创建</a:t>
            </a:r>
          </a:p>
          <a:p>
            <a:pPr lvl="1">
              <a:lnSpc>
                <a:spcPct val="20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运行 </a:t>
            </a:r>
            <a:r>
              <a:rPr lang="en-US" altLang="zh-CN" sz="2400" b="1" dirty="0">
                <a:ea typeface="微软雅黑" panose="020B0503020204020204" pitchFamily="34" charset="-122"/>
              </a:rPr>
              <a:t>(running)</a:t>
            </a:r>
            <a:r>
              <a:rPr lang="zh-CN" altLang="en-US" sz="2400" dirty="0">
                <a:ea typeface="微软雅黑" panose="020B0503020204020204" pitchFamily="34" charset="-122"/>
              </a:rPr>
              <a:t>：指令正在执行</a:t>
            </a:r>
          </a:p>
          <a:p>
            <a:pPr lvl="1">
              <a:lnSpc>
                <a:spcPct val="20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等待 </a:t>
            </a:r>
            <a:r>
              <a:rPr lang="en-US" altLang="zh-CN" sz="2400" b="1" dirty="0">
                <a:ea typeface="微软雅黑" panose="020B0503020204020204" pitchFamily="34" charset="-122"/>
              </a:rPr>
              <a:t>(waiting)</a:t>
            </a:r>
            <a:r>
              <a:rPr lang="zh-CN" altLang="en-US" sz="2400" dirty="0">
                <a:ea typeface="微软雅黑" panose="020B0503020204020204" pitchFamily="34" charset="-122"/>
              </a:rPr>
              <a:t>：进程正在等待某个事件发生</a:t>
            </a:r>
          </a:p>
          <a:p>
            <a:pPr lvl="1">
              <a:lnSpc>
                <a:spcPct val="20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就绪</a:t>
            </a:r>
            <a:r>
              <a:rPr lang="en-US" altLang="zh-CN" sz="2400" b="1" dirty="0">
                <a:ea typeface="微软雅黑" panose="020B0503020204020204" pitchFamily="34" charset="-122"/>
              </a:rPr>
              <a:t>(ready)</a:t>
            </a:r>
            <a:r>
              <a:rPr lang="zh-CN" altLang="en-US" sz="2400" dirty="0">
                <a:ea typeface="微软雅黑" panose="020B0503020204020204" pitchFamily="34" charset="-122"/>
              </a:rPr>
              <a:t>：进程正在等待分配处理器</a:t>
            </a:r>
          </a:p>
          <a:p>
            <a:pPr lvl="1">
              <a:lnSpc>
                <a:spcPct val="20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终止</a:t>
            </a:r>
            <a:r>
              <a:rPr lang="en-US" altLang="zh-CN" sz="2400" b="1" dirty="0">
                <a:ea typeface="微软雅黑" panose="020B0503020204020204" pitchFamily="34" charset="-122"/>
              </a:rPr>
              <a:t>(terminated)</a:t>
            </a:r>
            <a:r>
              <a:rPr lang="zh-CN" altLang="en-US" sz="2400" dirty="0">
                <a:ea typeface="微软雅黑" panose="020B0503020204020204" pitchFamily="34" charset="-122"/>
              </a:rPr>
              <a:t>：进程已完成执行</a:t>
            </a:r>
            <a:endParaRPr lang="en-US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F7A8AAF-056C-42E8-92DB-5EEFA7FB56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63776" y="182563"/>
            <a:ext cx="7947025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进程状态图</a:t>
            </a:r>
            <a:endParaRPr lang="en-US" altLang="en-US">
              <a:ea typeface="微软雅黑" panose="020B0503020204020204" pitchFamily="34" charset="-122"/>
            </a:endParaRPr>
          </a:p>
        </p:txBody>
      </p:sp>
      <p:grpSp>
        <p:nvGrpSpPr>
          <p:cNvPr id="19459" name="组合 2">
            <a:extLst>
              <a:ext uri="{FF2B5EF4-FFF2-40B4-BE49-F238E27FC236}">
                <a16:creationId xmlns:a16="http://schemas.microsoft.com/office/drawing/2014/main" id="{B8F45F08-33F8-4E4A-B99D-7FA7D19188B7}"/>
              </a:ext>
            </a:extLst>
          </p:cNvPr>
          <p:cNvGrpSpPr>
            <a:grpSpLocks/>
          </p:cNvGrpSpPr>
          <p:nvPr/>
        </p:nvGrpSpPr>
        <p:grpSpPr bwMode="auto">
          <a:xfrm>
            <a:off x="1566833" y="1565488"/>
            <a:ext cx="8864100" cy="4151205"/>
            <a:chOff x="1555750" y="1308100"/>
            <a:chExt cx="6635750" cy="2646363"/>
          </a:xfrm>
        </p:grpSpPr>
        <p:pic>
          <p:nvPicPr>
            <p:cNvPr id="19460" name="Picture 9">
              <a:extLst>
                <a:ext uri="{FF2B5EF4-FFF2-40B4-BE49-F238E27FC236}">
                  <a16:creationId xmlns:a16="http://schemas.microsoft.com/office/drawing/2014/main" id="{24192EB1-2FB1-442E-B427-298B50730F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5750" y="1308100"/>
              <a:ext cx="6635750" cy="2646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1" name="矩形 1">
              <a:extLst>
                <a:ext uri="{FF2B5EF4-FFF2-40B4-BE49-F238E27FC236}">
                  <a16:creationId xmlns:a16="http://schemas.microsoft.com/office/drawing/2014/main" id="{E218E298-9D3E-4020-BA81-1ED76D236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179" y="1515979"/>
              <a:ext cx="625642" cy="324853"/>
            </a:xfrm>
            <a:prstGeom prst="rect">
              <a:avLst/>
            </a:prstGeom>
            <a:solidFill>
              <a:srgbClr val="C6E9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dirty="0">
                  <a:ea typeface="微软雅黑" panose="020B0503020204020204" pitchFamily="34" charset="-122"/>
                </a:rPr>
                <a:t>创建</a:t>
              </a:r>
            </a:p>
          </p:txBody>
        </p:sp>
        <p:sp>
          <p:nvSpPr>
            <p:cNvPr id="19462" name="矩形 4">
              <a:extLst>
                <a:ext uri="{FF2B5EF4-FFF2-40B4-BE49-F238E27FC236}">
                  <a16:creationId xmlns:a16="http://schemas.microsoft.com/office/drawing/2014/main" id="{18ECB720-8578-4B5B-BC87-C28797CD5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7021" y="2306428"/>
              <a:ext cx="625642" cy="324853"/>
            </a:xfrm>
            <a:prstGeom prst="rect">
              <a:avLst/>
            </a:prstGeom>
            <a:solidFill>
              <a:srgbClr val="C6E9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微软雅黑" panose="020B0503020204020204" pitchFamily="34" charset="-122"/>
                </a:rPr>
                <a:t>就绪</a:t>
              </a:r>
            </a:p>
          </p:txBody>
        </p:sp>
        <p:sp>
          <p:nvSpPr>
            <p:cNvPr id="19463" name="矩形 5">
              <a:extLst>
                <a:ext uri="{FF2B5EF4-FFF2-40B4-BE49-F238E27FC236}">
                  <a16:creationId xmlns:a16="http://schemas.microsoft.com/office/drawing/2014/main" id="{5DDEB84C-A5CF-4A5B-9865-E266889DB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1439" y="2306428"/>
              <a:ext cx="625642" cy="324853"/>
            </a:xfrm>
            <a:prstGeom prst="rect">
              <a:avLst/>
            </a:prstGeom>
            <a:solidFill>
              <a:srgbClr val="C6E9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微软雅黑" panose="020B0503020204020204" pitchFamily="34" charset="-122"/>
                </a:rPr>
                <a:t>运行</a:t>
              </a:r>
            </a:p>
          </p:txBody>
        </p:sp>
        <p:sp>
          <p:nvSpPr>
            <p:cNvPr id="19464" name="矩形 6">
              <a:extLst>
                <a:ext uri="{FF2B5EF4-FFF2-40B4-BE49-F238E27FC236}">
                  <a16:creationId xmlns:a16="http://schemas.microsoft.com/office/drawing/2014/main" id="{D1786F71-F282-498B-A3A2-4EDCFADAA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4568" y="1497931"/>
              <a:ext cx="878306" cy="324853"/>
            </a:xfrm>
            <a:prstGeom prst="rect">
              <a:avLst/>
            </a:prstGeom>
            <a:solidFill>
              <a:srgbClr val="C6E9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微软雅黑" panose="020B0503020204020204" pitchFamily="34" charset="-122"/>
                </a:rPr>
                <a:t>终止</a:t>
              </a:r>
            </a:p>
          </p:txBody>
        </p:sp>
        <p:sp>
          <p:nvSpPr>
            <p:cNvPr id="19465" name="矩形 7">
              <a:extLst>
                <a:ext uri="{FF2B5EF4-FFF2-40B4-BE49-F238E27FC236}">
                  <a16:creationId xmlns:a16="http://schemas.microsoft.com/office/drawing/2014/main" id="{F326F579-6D8B-4D5D-82B3-F893F4DBB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708" y="3429000"/>
              <a:ext cx="625642" cy="324853"/>
            </a:xfrm>
            <a:prstGeom prst="rect">
              <a:avLst/>
            </a:prstGeom>
            <a:solidFill>
              <a:srgbClr val="C6E9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微软雅黑" panose="020B0503020204020204" pitchFamily="34" charset="-122"/>
                </a:rPr>
                <a:t>等待</a:t>
              </a:r>
            </a:p>
          </p:txBody>
        </p:sp>
        <p:sp>
          <p:nvSpPr>
            <p:cNvPr id="19466" name="矩形 8">
              <a:extLst>
                <a:ext uri="{FF2B5EF4-FFF2-40B4-BE49-F238E27FC236}">
                  <a16:creationId xmlns:a16="http://schemas.microsoft.com/office/drawing/2014/main" id="{5F55CC2F-26F3-4672-89C3-4A8A3AA23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453" y="1383632"/>
              <a:ext cx="842210" cy="3248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微软雅黑" panose="020B0503020204020204" pitchFamily="34" charset="-122"/>
                </a:rPr>
                <a:t>允许</a:t>
              </a:r>
            </a:p>
          </p:txBody>
        </p:sp>
        <p:sp>
          <p:nvSpPr>
            <p:cNvPr id="19467" name="矩形 9">
              <a:extLst>
                <a:ext uri="{FF2B5EF4-FFF2-40B4-BE49-F238E27FC236}">
                  <a16:creationId xmlns:a16="http://schemas.microsoft.com/office/drawing/2014/main" id="{6C7AA366-0635-44BF-950E-FF1D0FF4B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7514" y="1431760"/>
              <a:ext cx="842210" cy="3248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微软雅黑" panose="020B0503020204020204" pitchFamily="34" charset="-122"/>
                </a:rPr>
                <a:t>中断</a:t>
              </a:r>
            </a:p>
          </p:txBody>
        </p:sp>
        <p:sp>
          <p:nvSpPr>
            <p:cNvPr id="19468" name="矩形 10">
              <a:extLst>
                <a:ext uri="{FF2B5EF4-FFF2-40B4-BE49-F238E27FC236}">
                  <a16:creationId xmlns:a16="http://schemas.microsoft.com/office/drawing/2014/main" id="{18F6F31A-2B83-444E-BFCC-15FB30EDA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594" y="1383631"/>
              <a:ext cx="842210" cy="3248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微软雅黑" panose="020B0503020204020204" pitchFamily="34" charset="-122"/>
                </a:rPr>
                <a:t>退出</a:t>
              </a:r>
            </a:p>
          </p:txBody>
        </p:sp>
        <p:sp>
          <p:nvSpPr>
            <p:cNvPr id="19469" name="矩形 11">
              <a:extLst>
                <a:ext uri="{FF2B5EF4-FFF2-40B4-BE49-F238E27FC236}">
                  <a16:creationId xmlns:a16="http://schemas.microsoft.com/office/drawing/2014/main" id="{57AC16E0-C0E8-4E13-8F75-665B08C37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2547" y="3194389"/>
              <a:ext cx="2105526" cy="3248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ea typeface="微软雅黑" panose="020B0503020204020204" pitchFamily="34" charset="-122"/>
                </a:rPr>
                <a:t>I/O</a:t>
              </a:r>
              <a:r>
                <a:rPr lang="zh-CN" altLang="en-US">
                  <a:ea typeface="微软雅黑" panose="020B0503020204020204" pitchFamily="34" charset="-122"/>
                </a:rPr>
                <a:t>或事件的完成</a:t>
              </a:r>
            </a:p>
          </p:txBody>
        </p:sp>
        <p:sp>
          <p:nvSpPr>
            <p:cNvPr id="19470" name="矩形 12">
              <a:extLst>
                <a:ext uri="{FF2B5EF4-FFF2-40B4-BE49-F238E27FC236}">
                  <a16:creationId xmlns:a16="http://schemas.microsoft.com/office/drawing/2014/main" id="{33D66DC4-2868-450D-B99D-72AB67F4F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4268" y="3194388"/>
              <a:ext cx="2105526" cy="3248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ea typeface="微软雅黑" panose="020B0503020204020204" pitchFamily="34" charset="-122"/>
                </a:rPr>
                <a:t>I/O</a:t>
              </a:r>
              <a:r>
                <a:rPr lang="zh-CN" altLang="en-US">
                  <a:ea typeface="微软雅黑" panose="020B0503020204020204" pitchFamily="34" charset="-122"/>
                </a:rPr>
                <a:t>或事件的等待</a:t>
              </a:r>
            </a:p>
          </p:txBody>
        </p:sp>
        <p:sp>
          <p:nvSpPr>
            <p:cNvPr id="19471" name="矩形 13">
              <a:extLst>
                <a:ext uri="{FF2B5EF4-FFF2-40B4-BE49-F238E27FC236}">
                  <a16:creationId xmlns:a16="http://schemas.microsoft.com/office/drawing/2014/main" id="{81C2B334-B5B7-493F-A97D-0AFF74F59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0806" y="3078289"/>
              <a:ext cx="1652004" cy="174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微软雅黑" panose="020B0503020204020204" pitchFamily="34" charset="-122"/>
                </a:rPr>
                <a:t>调度器调度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351338"/>
          </a:xfrm>
        </p:spPr>
        <p:txBody>
          <a:bodyPr>
            <a:normAutofit fontScale="97500"/>
          </a:bodyPr>
          <a:lstStyle/>
          <a:p>
            <a:r>
              <a:rPr lang="en-US" altLang="zh-CN" dirty="0"/>
              <a:t>Task manager </a:t>
            </a:r>
            <a:r>
              <a:rPr lang="en-US" altLang="zh-CN" b="0" dirty="0"/>
              <a:t>in Windows</a:t>
            </a:r>
          </a:p>
          <a:p>
            <a:r>
              <a:rPr lang="en-US" altLang="zh-CN" dirty="0" err="1"/>
              <a:t>ps</a:t>
            </a:r>
            <a:r>
              <a:rPr lang="en-US" altLang="zh-CN" dirty="0"/>
              <a:t>, top </a:t>
            </a:r>
            <a:r>
              <a:rPr lang="en-US" altLang="zh-CN" b="0" dirty="0"/>
              <a:t>for Linux</a:t>
            </a:r>
          </a:p>
          <a:p>
            <a:endParaRPr lang="en-US" altLang="zh-CN" dirty="0"/>
          </a:p>
          <a:p>
            <a:r>
              <a:rPr lang="zh-CN" altLang="en-US" b="0" dirty="0"/>
              <a:t>Some systems may have other states besides the ones listed here.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040" y="4400175"/>
            <a:ext cx="1853345" cy="140220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F4C5C35F-A894-48E1-86E7-2B40A8C7C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489" y="182563"/>
            <a:ext cx="6251575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进程</a:t>
            </a:r>
            <a:r>
              <a:rPr lang="zh-CN" altLang="en-US" dirty="0"/>
              <a:t>查看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4118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55D930C-42A9-4C24-AE41-836591EAC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0814" y="136526"/>
            <a:ext cx="7519987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进程控制块 </a:t>
            </a:r>
            <a:r>
              <a:rPr lang="en-US" altLang="zh-CN">
                <a:ea typeface="微软雅黑" panose="020B0503020204020204" pitchFamily="34" charset="-122"/>
              </a:rPr>
              <a:t>(</a:t>
            </a:r>
            <a:r>
              <a:rPr lang="en-US" altLang="en-US">
                <a:ea typeface="微软雅黑" panose="020B0503020204020204" pitchFamily="34" charset="-122"/>
              </a:rPr>
              <a:t>PCB)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1596FDE-EF28-47C7-BB53-43DB878B59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80090" y="900113"/>
            <a:ext cx="10991535" cy="47720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进程控制块</a:t>
            </a:r>
            <a:r>
              <a:rPr lang="en-US" altLang="zh-CN" dirty="0">
                <a:ea typeface="微软雅黑" panose="020B0503020204020204" pitchFamily="34" charset="-122"/>
              </a:rPr>
              <a:t>(PCB)</a:t>
            </a:r>
            <a:r>
              <a:rPr lang="zh-CN" altLang="en-US" dirty="0">
                <a:ea typeface="微软雅黑" panose="020B0503020204020204" pitchFamily="34" charset="-122"/>
              </a:rPr>
              <a:t>：</a:t>
            </a:r>
            <a:r>
              <a:rPr lang="zh-CN" altLang="en-US" b="0" dirty="0">
                <a:ea typeface="微软雅黑" panose="020B0503020204020204" pitchFamily="34" charset="-122"/>
              </a:rPr>
              <a:t>包含许多与每个进程相关的信息</a:t>
            </a:r>
            <a:endParaRPr lang="en-US" altLang="zh-CN" b="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r>
              <a:rPr lang="zh-CN" altLang="en-US" dirty="0">
                <a:ea typeface="微软雅黑" panose="020B0503020204020204" pitchFamily="34" charset="-122"/>
              </a:rPr>
              <a:t>（也称为</a:t>
            </a:r>
            <a:r>
              <a:rPr lang="zh-CN" altLang="en-US" b="1" dirty="0">
                <a:ea typeface="微软雅黑" panose="020B0503020204020204" pitchFamily="34" charset="-122"/>
              </a:rPr>
              <a:t>任务控制块</a:t>
            </a:r>
            <a:r>
              <a:rPr lang="zh-CN" altLang="en-US" dirty="0">
                <a:ea typeface="微软雅黑" panose="020B0503020204020204" pitchFamily="34" charset="-122"/>
              </a:rPr>
              <a:t>）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b="1" dirty="0">
                <a:ea typeface="微软雅黑" panose="020B0503020204020204" pitchFamily="34" charset="-122"/>
              </a:rPr>
              <a:t>进程状态</a:t>
            </a:r>
            <a:r>
              <a:rPr lang="en-US" altLang="zh-CN" dirty="0">
                <a:ea typeface="微软雅黑" panose="020B0503020204020204" pitchFamily="34" charset="-122"/>
              </a:rPr>
              <a:t>—</a:t>
            </a:r>
            <a:r>
              <a:rPr lang="zh-CN" altLang="en-US" dirty="0">
                <a:ea typeface="微软雅黑" panose="020B0503020204020204" pitchFamily="34" charset="-122"/>
              </a:rPr>
              <a:t>运行、等待、停止等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b="1" dirty="0"/>
              <a:t>进程</a:t>
            </a:r>
            <a:r>
              <a:rPr lang="en-US" altLang="zh-CN" b="1" dirty="0"/>
              <a:t>ID </a:t>
            </a:r>
            <a:r>
              <a:rPr lang="en-US" altLang="zh-CN" dirty="0"/>
              <a:t>—</a:t>
            </a:r>
            <a:r>
              <a:rPr lang="zh-CN" altLang="en-US" dirty="0"/>
              <a:t>进程编号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b="1" dirty="0">
                <a:ea typeface="微软雅黑" panose="020B0503020204020204" pitchFamily="34" charset="-122"/>
              </a:rPr>
              <a:t>程序计数器</a:t>
            </a:r>
            <a:r>
              <a:rPr lang="en-US" altLang="zh-CN" dirty="0">
                <a:ea typeface="微软雅黑" panose="020B0503020204020204" pitchFamily="34" charset="-122"/>
              </a:rPr>
              <a:t>—</a:t>
            </a:r>
            <a:r>
              <a:rPr lang="zh-CN" altLang="en-US" dirty="0">
                <a:ea typeface="微软雅黑" panose="020B0503020204020204" pitchFamily="34" charset="-122"/>
              </a:rPr>
              <a:t>下个要执行指令的位置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ea typeface="微软雅黑" panose="020B0503020204020204" pitchFamily="34" charset="-122"/>
              </a:rPr>
              <a:t>CPU </a:t>
            </a:r>
            <a:r>
              <a:rPr lang="zh-CN" altLang="en-US" b="1" dirty="0">
                <a:ea typeface="微软雅黑" panose="020B0503020204020204" pitchFamily="34" charset="-122"/>
              </a:rPr>
              <a:t>寄存器</a:t>
            </a:r>
            <a:r>
              <a:rPr lang="en-US" altLang="zh-CN" dirty="0">
                <a:ea typeface="微软雅黑" panose="020B0503020204020204" pitchFamily="34" charset="-122"/>
              </a:rPr>
              <a:t>—</a:t>
            </a:r>
            <a:r>
              <a:rPr lang="zh-CN" altLang="en-US" dirty="0">
                <a:ea typeface="微软雅黑" panose="020B0503020204020204" pitchFamily="34" charset="-122"/>
              </a:rPr>
              <a:t>所有以进程相关寄存器的内容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ea typeface="微软雅黑" panose="020B0503020204020204" pitchFamily="34" charset="-122"/>
              </a:rPr>
              <a:t>CPU</a:t>
            </a:r>
            <a:r>
              <a:rPr lang="zh-CN" altLang="en-US" b="1" dirty="0">
                <a:ea typeface="微软雅黑" panose="020B0503020204020204" pitchFamily="34" charset="-122"/>
              </a:rPr>
              <a:t>调度信息</a:t>
            </a:r>
            <a:r>
              <a:rPr lang="en-US" altLang="zh-CN" dirty="0">
                <a:ea typeface="微软雅黑" panose="020B0503020204020204" pitchFamily="34" charset="-122"/>
              </a:rPr>
              <a:t>—</a:t>
            </a:r>
            <a:r>
              <a:rPr lang="zh-CN" altLang="en-US" dirty="0">
                <a:ea typeface="微软雅黑" panose="020B0503020204020204" pitchFamily="34" charset="-122"/>
              </a:rPr>
              <a:t>进程优先级、调度队列指针和其它调度参数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b="1" dirty="0">
                <a:ea typeface="微软雅黑" panose="020B0503020204020204" pitchFamily="34" charset="-122"/>
              </a:rPr>
              <a:t>内存信息</a:t>
            </a:r>
            <a:r>
              <a:rPr lang="en-US" altLang="zh-CN" dirty="0">
                <a:ea typeface="微软雅黑" panose="020B0503020204020204" pitchFamily="34" charset="-122"/>
              </a:rPr>
              <a:t>—</a:t>
            </a:r>
            <a:r>
              <a:rPr lang="zh-CN" altLang="en-US" dirty="0">
                <a:ea typeface="微软雅黑" panose="020B0503020204020204" pitchFamily="34" charset="-122"/>
              </a:rPr>
              <a:t>内存页表、段表等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b="1" dirty="0">
                <a:ea typeface="微软雅黑" panose="020B0503020204020204" pitchFamily="34" charset="-122"/>
              </a:rPr>
              <a:t>记帐信息</a:t>
            </a:r>
            <a:r>
              <a:rPr lang="en-US" altLang="zh-CN" dirty="0">
                <a:ea typeface="微软雅黑" panose="020B0503020204020204" pitchFamily="34" charset="-122"/>
              </a:rPr>
              <a:t>—CPU </a:t>
            </a:r>
            <a:r>
              <a:rPr lang="zh-CN" altLang="en-US" dirty="0">
                <a:ea typeface="微软雅黑" panose="020B0503020204020204" pitchFamily="34" charset="-122"/>
              </a:rPr>
              <a:t>时间、 实际使用时间、 时间期限、 记账数据、 作业或进程数量等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ea typeface="微软雅黑" panose="020B0503020204020204" pitchFamily="34" charset="-122"/>
              </a:rPr>
              <a:t>I/O </a:t>
            </a:r>
            <a:r>
              <a:rPr lang="zh-CN" altLang="en-US" b="1" dirty="0">
                <a:ea typeface="微软雅黑" panose="020B0503020204020204" pitchFamily="34" charset="-122"/>
              </a:rPr>
              <a:t>状态信息</a:t>
            </a:r>
            <a:r>
              <a:rPr lang="en-US" altLang="zh-CN" dirty="0">
                <a:ea typeface="微软雅黑" panose="020B0503020204020204" pitchFamily="34" charset="-122"/>
              </a:rPr>
              <a:t>—</a:t>
            </a:r>
            <a:r>
              <a:rPr lang="zh-CN" altLang="en-US" dirty="0">
                <a:ea typeface="微软雅黑" panose="020B0503020204020204" pitchFamily="34" charset="-122"/>
              </a:rPr>
              <a:t>分配给进程的 </a:t>
            </a:r>
            <a:r>
              <a:rPr lang="en-US" altLang="zh-CN" dirty="0">
                <a:ea typeface="微软雅黑" panose="020B0503020204020204" pitchFamily="34" charset="-122"/>
              </a:rPr>
              <a:t>I/O </a:t>
            </a:r>
            <a:r>
              <a:rPr lang="zh-CN" altLang="en-US" dirty="0">
                <a:ea typeface="微软雅黑" panose="020B0503020204020204" pitchFamily="34" charset="-122"/>
              </a:rPr>
              <a:t>设列表备、打开的文件列表等</a:t>
            </a:r>
            <a:endParaRPr lang="en-US" altLang="en-US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en-US" dirty="0"/>
          </a:p>
        </p:txBody>
      </p:sp>
      <p:grpSp>
        <p:nvGrpSpPr>
          <p:cNvPr id="21508" name="组合 2">
            <a:extLst>
              <a:ext uri="{FF2B5EF4-FFF2-40B4-BE49-F238E27FC236}">
                <a16:creationId xmlns:a16="http://schemas.microsoft.com/office/drawing/2014/main" id="{13DD7A1E-47CC-4B41-8786-CC948AF5762A}"/>
              </a:ext>
            </a:extLst>
          </p:cNvPr>
          <p:cNvGrpSpPr>
            <a:grpSpLocks/>
          </p:cNvGrpSpPr>
          <p:nvPr/>
        </p:nvGrpSpPr>
        <p:grpSpPr bwMode="auto">
          <a:xfrm>
            <a:off x="9110444" y="1023456"/>
            <a:ext cx="2352866" cy="4004054"/>
            <a:chOff x="5740400" y="1393825"/>
            <a:chExt cx="2795588" cy="4489450"/>
          </a:xfrm>
        </p:grpSpPr>
        <p:pic>
          <p:nvPicPr>
            <p:cNvPr id="21509" name="Picture 9">
              <a:extLst>
                <a:ext uri="{FF2B5EF4-FFF2-40B4-BE49-F238E27FC236}">
                  <a16:creationId xmlns:a16="http://schemas.microsoft.com/office/drawing/2014/main" id="{F92B84DE-5671-4753-BB52-47B02EE507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0400" y="1393825"/>
              <a:ext cx="2795588" cy="4489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0" name="矩形 1">
              <a:extLst>
                <a:ext uri="{FF2B5EF4-FFF2-40B4-BE49-F238E27FC236}">
                  <a16:creationId xmlns:a16="http://schemas.microsoft.com/office/drawing/2014/main" id="{B0F43F6A-E057-4265-8EED-D05DEC6C2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9731" y="1552073"/>
              <a:ext cx="1876926" cy="300789"/>
            </a:xfrm>
            <a:prstGeom prst="rect">
              <a:avLst/>
            </a:pr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微软雅黑" panose="020B0503020204020204" pitchFamily="34" charset="-122"/>
                </a:rPr>
                <a:t>进程状态</a:t>
              </a:r>
            </a:p>
          </p:txBody>
        </p:sp>
        <p:sp>
          <p:nvSpPr>
            <p:cNvPr id="21511" name="矩形 5">
              <a:extLst>
                <a:ext uri="{FF2B5EF4-FFF2-40B4-BE49-F238E27FC236}">
                  <a16:creationId xmlns:a16="http://schemas.microsoft.com/office/drawing/2014/main" id="{547D2BD6-DC40-4CB4-972F-7E757C4E2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3372" y="2011110"/>
              <a:ext cx="2118101" cy="300789"/>
            </a:xfrm>
            <a:prstGeom prst="rect">
              <a:avLst/>
            </a:pr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微软雅黑" panose="020B0503020204020204" pitchFamily="34" charset="-122"/>
                </a:rPr>
                <a:t>进程编号</a:t>
              </a:r>
            </a:p>
          </p:txBody>
        </p:sp>
        <p:sp>
          <p:nvSpPr>
            <p:cNvPr id="21512" name="矩形 6">
              <a:extLst>
                <a:ext uri="{FF2B5EF4-FFF2-40B4-BE49-F238E27FC236}">
                  <a16:creationId xmlns:a16="http://schemas.microsoft.com/office/drawing/2014/main" id="{89DD4BCA-B390-4481-AA7A-76189B975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9153" y="2470147"/>
              <a:ext cx="2262479" cy="300789"/>
            </a:xfrm>
            <a:prstGeom prst="rect">
              <a:avLst/>
            </a:pr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微软雅黑" panose="020B0503020204020204" pitchFamily="34" charset="-122"/>
                </a:rPr>
                <a:t>程序计数器</a:t>
              </a:r>
            </a:p>
          </p:txBody>
        </p:sp>
        <p:sp>
          <p:nvSpPr>
            <p:cNvPr id="21513" name="矩形 7">
              <a:extLst>
                <a:ext uri="{FF2B5EF4-FFF2-40B4-BE49-F238E27FC236}">
                  <a16:creationId xmlns:a16="http://schemas.microsoft.com/office/drawing/2014/main" id="{5734104A-C595-49A9-B111-952063268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4546" y="3187366"/>
              <a:ext cx="1876926" cy="410076"/>
            </a:xfrm>
            <a:prstGeom prst="rect">
              <a:avLst/>
            </a:prstGeom>
            <a:solidFill>
              <a:srgbClr val="C7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微软雅黑" panose="020B0503020204020204" pitchFamily="34" charset="-122"/>
                </a:rPr>
                <a:t>寄存器</a:t>
              </a:r>
            </a:p>
          </p:txBody>
        </p:sp>
        <p:sp>
          <p:nvSpPr>
            <p:cNvPr id="21514" name="矩形 8">
              <a:extLst>
                <a:ext uri="{FF2B5EF4-FFF2-40B4-BE49-F238E27FC236}">
                  <a16:creationId xmlns:a16="http://schemas.microsoft.com/office/drawing/2014/main" id="{20FBD7CA-3B37-43EA-977F-E51AD1DF4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954" y="4026316"/>
              <a:ext cx="2262479" cy="300789"/>
            </a:xfrm>
            <a:prstGeom prst="rect">
              <a:avLst/>
            </a:pr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dirty="0">
                  <a:ea typeface="微软雅黑" panose="020B0503020204020204" pitchFamily="34" charset="-122"/>
                </a:rPr>
                <a:t>内存上下界</a:t>
              </a:r>
            </a:p>
          </p:txBody>
        </p:sp>
        <p:sp>
          <p:nvSpPr>
            <p:cNvPr id="21515" name="矩形 9">
              <a:extLst>
                <a:ext uri="{FF2B5EF4-FFF2-40B4-BE49-F238E27FC236}">
                  <a16:creationId xmlns:a16="http://schemas.microsoft.com/office/drawing/2014/main" id="{A8535F04-31FA-43D3-B69F-2A6116342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3372" y="4500975"/>
              <a:ext cx="2262479" cy="300789"/>
            </a:xfrm>
            <a:prstGeom prst="rect">
              <a:avLst/>
            </a:pr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微软雅黑" panose="020B0503020204020204" pitchFamily="34" charset="-122"/>
                </a:rPr>
                <a:t>打开文件列表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2DE9318A-DD05-4000-A98C-5F8C0812E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3045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微软雅黑" panose="020B0503020204020204" pitchFamily="34" charset="-122"/>
              </a:rPr>
              <a:t>Linux</a:t>
            </a:r>
            <a:r>
              <a:rPr lang="zh-CN" altLang="en-US">
                <a:ea typeface="微软雅黑" panose="020B0503020204020204" pitchFamily="34" charset="-122"/>
              </a:rPr>
              <a:t>的进程表示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3678CB11-DC46-4049-BEE5-92B7CF6296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2481" y="945526"/>
            <a:ext cx="8229600" cy="453072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zh-CN" altLang="en-US" dirty="0">
                <a:ea typeface="微软雅黑" panose="020B0503020204020204" pitchFamily="34" charset="-122"/>
              </a:rPr>
              <a:t>由</a:t>
            </a:r>
            <a:r>
              <a:rPr lang="en-US" altLang="en-US" dirty="0">
                <a:ea typeface="微软雅黑" panose="020B0503020204020204" pitchFamily="34" charset="-122"/>
              </a:rPr>
              <a:t>C</a:t>
            </a:r>
            <a:r>
              <a:rPr lang="zh-CN" altLang="en-US" dirty="0">
                <a:ea typeface="微软雅黑" panose="020B0503020204020204" pitchFamily="34" charset="-122"/>
              </a:rPr>
              <a:t>语言结构</a:t>
            </a:r>
            <a:r>
              <a:rPr lang="en-US" altLang="en-US" dirty="0" err="1">
                <a:ea typeface="微软雅黑" panose="020B0503020204020204" pitchFamily="34" charset="-122"/>
              </a:rPr>
              <a:t>task_struct</a:t>
            </a:r>
            <a:r>
              <a:rPr lang="zh-CN" altLang="en-US" dirty="0">
                <a:ea typeface="微软雅黑" panose="020B0503020204020204" pitchFamily="34" charset="-122"/>
              </a:rPr>
              <a:t>表示</a:t>
            </a:r>
            <a:endParaRPr lang="en-US" altLang="en-US" dirty="0">
              <a:ea typeface="微软雅黑" panose="020B0503020204020204" pitchFamily="34" charset="-122"/>
            </a:endParaRPr>
          </a:p>
          <a:p>
            <a:pPr>
              <a:buFont typeface="Monotype Sorts" pitchFamily="-84" charset="2"/>
              <a:buNone/>
            </a:pPr>
            <a:br>
              <a:rPr lang="en-US" altLang="en-US" dirty="0"/>
            </a:br>
            <a:r>
              <a:rPr lang="en-US" altLang="en-US" sz="1600" dirty="0" err="1"/>
              <a:t>pid</a:t>
            </a:r>
            <a:r>
              <a:rPr lang="en-US" altLang="en-US" sz="1600" dirty="0"/>
              <a:t> </a:t>
            </a:r>
            <a:r>
              <a:rPr lang="en-US" altLang="en-US" sz="1600" dirty="0" err="1"/>
              <a:t>t_pid</a:t>
            </a:r>
            <a:r>
              <a:rPr lang="en-US" altLang="en-US" sz="1600" dirty="0"/>
              <a:t>; /* process identifier */ </a:t>
            </a:r>
            <a:br>
              <a:rPr lang="en-US" altLang="en-US" sz="1600" dirty="0"/>
            </a:br>
            <a:r>
              <a:rPr lang="en-US" altLang="en-US" sz="1600" dirty="0"/>
              <a:t>long state; /* state of the process */ </a:t>
            </a:r>
            <a:br>
              <a:rPr lang="en-US" altLang="en-US" sz="1600" dirty="0"/>
            </a:br>
            <a:r>
              <a:rPr lang="en-US" altLang="en-US" sz="1600" dirty="0"/>
              <a:t>unsigned int </a:t>
            </a:r>
            <a:r>
              <a:rPr lang="en-US" altLang="en-US" sz="1600" dirty="0" err="1"/>
              <a:t>time_slice</a:t>
            </a:r>
            <a:r>
              <a:rPr lang="en-US" altLang="en-US" sz="1600" dirty="0"/>
              <a:t> /* scheduling information */ </a:t>
            </a:r>
            <a:br>
              <a:rPr lang="en-US" altLang="en-US" sz="1600" dirty="0"/>
            </a:br>
            <a:r>
              <a:rPr lang="en-US" altLang="en-US" sz="1600" dirty="0"/>
              <a:t>struct </a:t>
            </a:r>
            <a:r>
              <a:rPr lang="en-US" altLang="en-US" sz="1600" dirty="0" err="1"/>
              <a:t>task_struct</a:t>
            </a:r>
            <a:r>
              <a:rPr lang="en-US" altLang="en-US" sz="1600" dirty="0"/>
              <a:t> *parent; /* this process</a:t>
            </a:r>
            <a:r>
              <a:rPr lang="ja-JP" altLang="en-US" sz="1600" dirty="0"/>
              <a:t>’</a:t>
            </a:r>
            <a:r>
              <a:rPr lang="en-US" altLang="ja-JP" sz="1600" dirty="0"/>
              <a:t>s parent */ </a:t>
            </a:r>
            <a:br>
              <a:rPr lang="en-US" altLang="ja-JP" sz="1600" dirty="0"/>
            </a:br>
            <a:r>
              <a:rPr lang="en-US" altLang="ja-JP" sz="1600" dirty="0"/>
              <a:t>struct </a:t>
            </a:r>
            <a:r>
              <a:rPr lang="en-US" altLang="ja-JP" sz="1600" dirty="0" err="1"/>
              <a:t>list_head</a:t>
            </a:r>
            <a:r>
              <a:rPr lang="en-US" altLang="ja-JP" sz="1600" dirty="0"/>
              <a:t> children; /* this process</a:t>
            </a:r>
            <a:r>
              <a:rPr lang="ja-JP" altLang="en-US" sz="1600" dirty="0"/>
              <a:t>’</a:t>
            </a:r>
            <a:r>
              <a:rPr lang="en-US" altLang="ja-JP" sz="1600" dirty="0"/>
              <a:t>s children */ </a:t>
            </a:r>
            <a:br>
              <a:rPr lang="en-US" altLang="ja-JP" sz="1600" dirty="0"/>
            </a:br>
            <a:r>
              <a:rPr lang="en-US" altLang="ja-JP" sz="1600" dirty="0"/>
              <a:t>struct </a:t>
            </a:r>
            <a:r>
              <a:rPr lang="en-US" altLang="ja-JP" sz="1600" dirty="0" err="1"/>
              <a:t>files_struct</a:t>
            </a:r>
            <a:r>
              <a:rPr lang="en-US" altLang="ja-JP" sz="1600" dirty="0"/>
              <a:t> *files; /* list of open files */ </a:t>
            </a:r>
            <a:br>
              <a:rPr lang="en-US" altLang="ja-JP" sz="1600" dirty="0"/>
            </a:br>
            <a:r>
              <a:rPr lang="en-US" altLang="ja-JP" sz="1600" dirty="0"/>
              <a:t>struct </a:t>
            </a:r>
            <a:r>
              <a:rPr lang="en-US" altLang="ja-JP" sz="1600" dirty="0" err="1"/>
              <a:t>mm_struct</a:t>
            </a:r>
            <a:r>
              <a:rPr lang="en-US" altLang="ja-JP" sz="1600" dirty="0"/>
              <a:t> *mm; /* address space of this process */</a:t>
            </a:r>
            <a:endParaRPr lang="en-US" altLang="en-US" sz="1600" dirty="0">
              <a:cs typeface="Courier New" panose="02070309020205020404" pitchFamily="49" charset="0"/>
            </a:endParaRPr>
          </a:p>
        </p:txBody>
      </p:sp>
      <p:grpSp>
        <p:nvGrpSpPr>
          <p:cNvPr id="27652" name="组合 2">
            <a:extLst>
              <a:ext uri="{FF2B5EF4-FFF2-40B4-BE49-F238E27FC236}">
                <a16:creationId xmlns:a16="http://schemas.microsoft.com/office/drawing/2014/main" id="{C7B58C93-494A-4094-AFF6-A69EDB22203C}"/>
              </a:ext>
            </a:extLst>
          </p:cNvPr>
          <p:cNvGrpSpPr>
            <a:grpSpLocks/>
          </p:cNvGrpSpPr>
          <p:nvPr/>
        </p:nvGrpSpPr>
        <p:grpSpPr bwMode="auto">
          <a:xfrm>
            <a:off x="3151188" y="4111625"/>
            <a:ext cx="5865812" cy="2019300"/>
            <a:chOff x="1627188" y="4111625"/>
            <a:chExt cx="5865812" cy="2019300"/>
          </a:xfrm>
        </p:grpSpPr>
        <p:pic>
          <p:nvPicPr>
            <p:cNvPr id="27653" name="Picture 3" descr="C:\Users\as668\Desktop\in-3_1.jpg">
              <a:extLst>
                <a:ext uri="{FF2B5EF4-FFF2-40B4-BE49-F238E27FC236}">
                  <a16:creationId xmlns:a16="http://schemas.microsoft.com/office/drawing/2014/main" id="{57E98A8C-4559-49C2-BEB4-4674F493A1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7188" y="4111625"/>
              <a:ext cx="5865812" cy="2019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4" name="矩形 1">
              <a:extLst>
                <a:ext uri="{FF2B5EF4-FFF2-40B4-BE49-F238E27FC236}">
                  <a16:creationId xmlns:a16="http://schemas.microsoft.com/office/drawing/2014/main" id="{2D647A78-4876-4B3F-8A0C-BF2138C8E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1000" y="4656221"/>
              <a:ext cx="1429084" cy="1443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进程信息</a:t>
              </a:r>
            </a:p>
          </p:txBody>
        </p:sp>
        <p:sp>
          <p:nvSpPr>
            <p:cNvPr id="27655" name="矩形 5">
              <a:extLst>
                <a:ext uri="{FF2B5EF4-FFF2-40B4-BE49-F238E27FC236}">
                  <a16:creationId xmlns:a16="http://schemas.microsoft.com/office/drawing/2014/main" id="{0200C6B6-54C9-48E0-8C0A-1634107F7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6154" y="4656221"/>
              <a:ext cx="1429084" cy="1443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进程信息</a:t>
              </a:r>
            </a:p>
          </p:txBody>
        </p:sp>
        <p:sp>
          <p:nvSpPr>
            <p:cNvPr id="27656" name="矩形 7">
              <a:extLst>
                <a:ext uri="{FF2B5EF4-FFF2-40B4-BE49-F238E27FC236}">
                  <a16:creationId xmlns:a16="http://schemas.microsoft.com/office/drawing/2014/main" id="{524B0258-9B64-40BE-916C-8DDC18EAE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3916" y="4656220"/>
              <a:ext cx="1299410" cy="1443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进程信息</a:t>
              </a:r>
            </a:p>
          </p:txBody>
        </p:sp>
        <p:sp>
          <p:nvSpPr>
            <p:cNvPr id="27657" name="矩形 8">
              <a:extLst>
                <a:ext uri="{FF2B5EF4-FFF2-40B4-BE49-F238E27FC236}">
                  <a16:creationId xmlns:a16="http://schemas.microsoft.com/office/drawing/2014/main" id="{4AB4FFD8-0CFA-4725-A4C6-A856D7EF0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904" y="5986546"/>
              <a:ext cx="1973179" cy="1443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（当前执行进程）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506F012F-1031-40B7-9746-04CF4BCFB4A8}"/>
              </a:ext>
            </a:extLst>
          </p:cNvPr>
          <p:cNvSpPr/>
          <p:nvPr/>
        </p:nvSpPr>
        <p:spPr>
          <a:xfrm>
            <a:off x="4916904" y="945526"/>
            <a:ext cx="37593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solidFill>
                  <a:srgbClr val="0070C0"/>
                </a:solidFill>
              </a:rPr>
              <a:t>kernel$/include/</a:t>
            </a:r>
            <a:r>
              <a:rPr lang="en-US" altLang="zh-CN" sz="2000" b="1" i="1" dirty="0" err="1">
                <a:solidFill>
                  <a:srgbClr val="0070C0"/>
                </a:solidFill>
              </a:rPr>
              <a:t>linux</a:t>
            </a:r>
            <a:r>
              <a:rPr lang="en-US" altLang="zh-CN" sz="2000" b="1" i="1" dirty="0">
                <a:solidFill>
                  <a:srgbClr val="0070C0"/>
                </a:solidFill>
              </a:rPr>
              <a:t>/</a:t>
            </a:r>
            <a:r>
              <a:rPr lang="en-US" altLang="zh-CN" sz="2000" b="1" i="1" dirty="0" err="1">
                <a:solidFill>
                  <a:srgbClr val="0070C0"/>
                </a:solidFill>
              </a:rPr>
              <a:t>sched.h</a:t>
            </a:r>
            <a:endParaRPr lang="zh-CN" altLang="en-US" sz="2000" b="1" i="1" dirty="0">
              <a:solidFill>
                <a:srgbClr val="0070C0"/>
              </a:solidFill>
            </a:endParaRPr>
          </a:p>
        </p:txBody>
      </p:sp>
      <p:pic>
        <p:nvPicPr>
          <p:cNvPr id="11" name="内容占位符 5">
            <a:extLst>
              <a:ext uri="{FF2B5EF4-FFF2-40B4-BE49-F238E27FC236}">
                <a16:creationId xmlns:a16="http://schemas.microsoft.com/office/drawing/2014/main" id="{27AC0B85-34D8-4B43-A7C7-B99A195A8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796585" y="5694702"/>
            <a:ext cx="3596848" cy="490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3121E1B-D0CC-4C72-96CF-50EB8B90D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5400" y="136526"/>
            <a:ext cx="7645400" cy="576263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线程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6E04781-55FF-4E59-B49E-E7C6CAD65C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0451" y="1017589"/>
            <a:ext cx="10779854" cy="5391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0" dirty="0"/>
              <a:t>现代操作系统允许</a:t>
            </a:r>
            <a:r>
              <a:rPr lang="zh-CN" altLang="en-US" sz="2800" dirty="0"/>
              <a:t>一个进程可以包含多个并行执行的线程</a:t>
            </a:r>
            <a:r>
              <a:rPr lang="en-US" altLang="zh-CN" sz="2800" dirty="0"/>
              <a:t>(Thread)</a:t>
            </a:r>
            <a:r>
              <a:rPr lang="zh-CN" altLang="en-US" sz="2800" dirty="0"/>
              <a:t>，</a:t>
            </a:r>
            <a:r>
              <a:rPr lang="zh-CN" altLang="en-US" sz="2800" b="0" dirty="0"/>
              <a:t>尤其是</a:t>
            </a:r>
            <a:r>
              <a:rPr lang="zh-CN" altLang="en-US" sz="2800" dirty="0"/>
              <a:t>多核系统，多个线程可以并发执行。</a:t>
            </a:r>
            <a:endParaRPr lang="zh-CN" altLang="en-US" sz="28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考虑每个进程有多个程序计数器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多个</a:t>
            </a:r>
            <a:r>
              <a:rPr lang="zh-CN" altLang="en-US" sz="2800" dirty="0"/>
              <a:t>线程</a:t>
            </a:r>
            <a:r>
              <a:rPr lang="zh-CN" altLang="en-US" sz="2800" dirty="0">
                <a:ea typeface="微软雅黑" panose="020B0503020204020204" pitchFamily="34" charset="-122"/>
              </a:rPr>
              <a:t>可以一次执行</a:t>
            </a:r>
            <a:endParaRPr lang="en-US" altLang="en-US" sz="2800" dirty="0"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多</a:t>
            </a:r>
            <a:r>
              <a:rPr lang="zh-CN" altLang="en-US" sz="2400" dirty="0"/>
              <a:t>线程</a:t>
            </a:r>
            <a:r>
              <a:rPr lang="zh-CN" altLang="en-US" sz="2400" dirty="0">
                <a:ea typeface="微软雅黑" panose="020B0503020204020204" pitchFamily="34" charset="-122"/>
              </a:rPr>
              <a:t>控制 </a:t>
            </a:r>
            <a:r>
              <a:rPr lang="en-US" altLang="zh-CN" sz="2400" dirty="0">
                <a:ea typeface="微软雅黑" panose="020B0503020204020204" pitchFamily="34" charset="-122"/>
              </a:rPr>
              <a:t>-&gt; </a:t>
            </a:r>
            <a:r>
              <a:rPr lang="zh-CN" altLang="en-US" sz="2400" b="1" dirty="0">
                <a:ea typeface="微软雅黑" panose="020B0503020204020204" pitchFamily="34" charset="-122"/>
              </a:rPr>
              <a:t>线程</a:t>
            </a:r>
            <a:r>
              <a:rPr lang="en-US" altLang="zh-CN" sz="2400" b="1" dirty="0">
                <a:ea typeface="微软雅黑" panose="020B0503020204020204" pitchFamily="34" charset="-122"/>
              </a:rPr>
              <a:t>, TCB</a:t>
            </a:r>
            <a:endParaRPr lang="zh-CN" altLang="en-US" sz="2400" b="1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线程的详细讨论见下一章</a:t>
            </a:r>
            <a:endParaRPr lang="en-US" altLang="en-US" sz="28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AB24533-2A06-4425-8424-A81E7D87C7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6350" y="136526"/>
            <a:ext cx="7645400" cy="576263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3.2 </a:t>
            </a:r>
            <a:r>
              <a:rPr lang="zh-CN" altLang="en-US" dirty="0">
                <a:ea typeface="微软雅黑" panose="020B0503020204020204" pitchFamily="34" charset="-122"/>
              </a:rPr>
              <a:t>进程调度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C0064EC-EED3-4888-B3CF-4D8E8DAC66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2397" y="925119"/>
            <a:ext cx="11367082" cy="488006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进程调度的目的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最大限度地利用 </a:t>
            </a:r>
            <a:r>
              <a:rPr lang="en-US" altLang="zh-CN" dirty="0">
                <a:ea typeface="微软雅黑" panose="020B0503020204020204" pitchFamily="34" charset="-122"/>
              </a:rPr>
              <a:t>CPU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b="0" dirty="0">
                <a:ea typeface="微软雅黑" panose="020B0503020204020204" pitchFamily="34" charset="-122"/>
              </a:rPr>
              <a:t>在可接受的响应时间内在</a:t>
            </a:r>
            <a:r>
              <a:rPr lang="zh-CN" altLang="en-US" dirty="0">
                <a:ea typeface="微软雅黑" panose="020B0503020204020204" pitchFamily="34" charset="-122"/>
              </a:rPr>
              <a:t>进程之间快速切换</a:t>
            </a:r>
            <a:r>
              <a:rPr lang="en-US" altLang="zh-CN" dirty="0"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ea typeface="微软雅黑" panose="020B0503020204020204" pitchFamily="34" charset="-122"/>
              </a:rPr>
              <a:t>，尤其是需要和用户交互的进程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b="1" dirty="0">
                <a:ea typeface="微软雅黑" panose="020B0503020204020204" pitchFamily="34" charset="-122"/>
              </a:rPr>
              <a:t>进程调度器</a:t>
            </a:r>
            <a:r>
              <a:rPr lang="zh-CN" altLang="en-US" dirty="0">
                <a:ea typeface="微软雅黑" panose="020B0503020204020204" pitchFamily="34" charset="-122"/>
              </a:rPr>
              <a:t>从多个可用进程队列中选择一个可用进程到</a:t>
            </a:r>
            <a:r>
              <a:rPr lang="en-US" altLang="zh-CN" dirty="0"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ea typeface="微软雅黑" panose="020B0503020204020204" pitchFamily="34" charset="-122"/>
              </a:rPr>
              <a:t>上执行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维护进程调度的</a:t>
            </a:r>
            <a:r>
              <a:rPr lang="zh-CN" altLang="en-US" b="1" dirty="0">
                <a:ea typeface="微软雅黑" panose="020B0503020204020204" pitchFamily="34" charset="-122"/>
              </a:rPr>
              <a:t>队列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ea typeface="微软雅黑" panose="020B0503020204020204" pitchFamily="34" charset="-122"/>
              </a:rPr>
              <a:t>作业队列</a:t>
            </a:r>
            <a:r>
              <a:rPr lang="en-US" altLang="zh-CN" sz="2400" dirty="0"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ea typeface="微软雅黑" panose="020B0503020204020204" pitchFamily="34" charset="-122"/>
              </a:rPr>
              <a:t>系统中所有进程的集合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ea typeface="微软雅黑" panose="020B0503020204020204" pitchFamily="34" charset="-122"/>
              </a:rPr>
              <a:t>就绪队列</a:t>
            </a:r>
            <a:r>
              <a:rPr lang="en-US" altLang="zh-CN" sz="2400" dirty="0"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ea typeface="微软雅黑" panose="020B0503020204020204" pitchFamily="34" charset="-122"/>
              </a:rPr>
              <a:t>保存驻留在内存中的、 就绪的、 等待运行的进程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ea typeface="微软雅黑" panose="020B0503020204020204" pitchFamily="34" charset="-122"/>
              </a:rPr>
              <a:t>设备队列</a:t>
            </a:r>
            <a:r>
              <a:rPr lang="en-US" altLang="zh-CN" sz="2400" dirty="0"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ea typeface="微软雅黑" panose="020B0503020204020204" pitchFamily="34" charset="-122"/>
              </a:rPr>
              <a:t>一组等待 </a:t>
            </a:r>
            <a:r>
              <a:rPr lang="en-US" altLang="zh-CN" sz="2400" dirty="0">
                <a:ea typeface="微软雅黑" panose="020B0503020204020204" pitchFamily="34" charset="-122"/>
              </a:rPr>
              <a:t>I/O </a:t>
            </a:r>
            <a:r>
              <a:rPr lang="zh-CN" altLang="en-US" sz="2400" dirty="0">
                <a:ea typeface="微软雅黑" panose="020B0503020204020204" pitchFamily="34" charset="-122"/>
              </a:rPr>
              <a:t>设备的进程列表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dirty="0">
                <a:ea typeface="微软雅黑" panose="020B0503020204020204" pitchFamily="34" charset="-122"/>
              </a:rPr>
              <a:t>进程在各个队列之间迁移</a:t>
            </a:r>
            <a:endParaRPr lang="en-US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62E29E1-9084-4F11-9466-6947152DF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5550" y="152401"/>
            <a:ext cx="7874423" cy="576263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表示进程调度的队列图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83F5723-2025-46CF-8436-C133EB4B2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18" y="906065"/>
            <a:ext cx="11590789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1313" indent="-341313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1363" lvl="1" indent="-284163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 kumimoji="1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084263" indent="-227013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Ø"/>
              <a:defRPr kumimoji="1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427163" indent="-227013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ü"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770063" indent="-227013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Arial" panose="020B0604020202020204" pitchFamily="34" charset="0"/>
              <a:buChar char="•"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228738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6pPr>
            <a:lvl7pPr marL="2685915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7pPr>
            <a:lvl8pPr marL="3143093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8pPr>
            <a:lvl9pPr marL="3600270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9pPr>
          </a:lstStyle>
          <a:p>
            <a:r>
              <a:rPr lang="zh-CN" altLang="en-US" dirty="0"/>
              <a:t>队列图中矩形框代表队列；圆圈表示服务队列的资源；箭头表示系统内的进程流向</a:t>
            </a:r>
            <a:endParaRPr lang="en-US" altLang="en-US" dirty="0"/>
          </a:p>
        </p:txBody>
      </p:sp>
      <p:grpSp>
        <p:nvGrpSpPr>
          <p:cNvPr id="32772" name="组合 2">
            <a:extLst>
              <a:ext uri="{FF2B5EF4-FFF2-40B4-BE49-F238E27FC236}">
                <a16:creationId xmlns:a16="http://schemas.microsoft.com/office/drawing/2014/main" id="{D9B4398A-1DA5-40FA-B973-C54A64C5A6EF}"/>
              </a:ext>
            </a:extLst>
          </p:cNvPr>
          <p:cNvGrpSpPr>
            <a:grpSpLocks/>
          </p:cNvGrpSpPr>
          <p:nvPr/>
        </p:nvGrpSpPr>
        <p:grpSpPr bwMode="auto">
          <a:xfrm>
            <a:off x="1803473" y="1824301"/>
            <a:ext cx="7894199" cy="4333218"/>
            <a:chOff x="1487488" y="1966913"/>
            <a:chExt cx="6546850" cy="3781425"/>
          </a:xfrm>
        </p:grpSpPr>
        <p:pic>
          <p:nvPicPr>
            <p:cNvPr id="32773" name="Picture 4" descr="3">
              <a:extLst>
                <a:ext uri="{FF2B5EF4-FFF2-40B4-BE49-F238E27FC236}">
                  <a16:creationId xmlns:a16="http://schemas.microsoft.com/office/drawing/2014/main" id="{D489E99D-FF06-49F7-A634-FBFBBAD796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7488" y="1966913"/>
              <a:ext cx="6546850" cy="3781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4" name="矩形 4">
              <a:extLst>
                <a:ext uri="{FF2B5EF4-FFF2-40B4-BE49-F238E27FC236}">
                  <a16:creationId xmlns:a16="http://schemas.microsoft.com/office/drawing/2014/main" id="{3C781A5E-CD47-4088-850B-CB786B7C2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999" y="2116929"/>
              <a:ext cx="1266825" cy="254796"/>
            </a:xfrm>
            <a:prstGeom prst="rect">
              <a:avLst/>
            </a:prstGeom>
            <a:solidFill>
              <a:srgbClr val="D0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就绪队列</a:t>
              </a:r>
            </a:p>
          </p:txBody>
        </p:sp>
        <p:sp>
          <p:nvSpPr>
            <p:cNvPr id="32775" name="矩形 5">
              <a:extLst>
                <a:ext uri="{FF2B5EF4-FFF2-40B4-BE49-F238E27FC236}">
                  <a16:creationId xmlns:a16="http://schemas.microsoft.com/office/drawing/2014/main" id="{21A5A631-7F2C-40A9-AE73-9AC46F34D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4088" y="2910679"/>
              <a:ext cx="1266825" cy="254796"/>
            </a:xfrm>
            <a:prstGeom prst="rect">
              <a:avLst/>
            </a:prstGeom>
            <a:solidFill>
              <a:srgbClr val="D0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微软雅黑" panose="020B0503020204020204" pitchFamily="34" charset="-122"/>
                </a:rPr>
                <a:t>I/O</a:t>
              </a:r>
              <a:r>
                <a:rPr lang="zh-CN" altLang="en-US" sz="1600">
                  <a:ea typeface="微软雅黑" panose="020B0503020204020204" pitchFamily="34" charset="-122"/>
                </a:rPr>
                <a:t>队列</a:t>
              </a:r>
            </a:p>
          </p:txBody>
        </p:sp>
        <p:sp>
          <p:nvSpPr>
            <p:cNvPr id="32776" name="矩形 6">
              <a:extLst>
                <a:ext uri="{FF2B5EF4-FFF2-40B4-BE49-F238E27FC236}">
                  <a16:creationId xmlns:a16="http://schemas.microsoft.com/office/drawing/2014/main" id="{E337F06D-49EF-4693-BC98-706CC99A0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0688" y="2910679"/>
              <a:ext cx="1266825" cy="254796"/>
            </a:xfrm>
            <a:prstGeom prst="rect">
              <a:avLst/>
            </a:prstGeom>
            <a:solidFill>
              <a:srgbClr val="D0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ea typeface="微软雅黑" panose="020B0503020204020204" pitchFamily="34" charset="-122"/>
                </a:rPr>
                <a:t>I/O</a:t>
              </a:r>
              <a:r>
                <a:rPr lang="zh-CN" altLang="en-US" sz="1600">
                  <a:ea typeface="微软雅黑" panose="020B0503020204020204" pitchFamily="34" charset="-122"/>
                </a:rPr>
                <a:t>请求</a:t>
              </a:r>
            </a:p>
          </p:txBody>
        </p:sp>
        <p:sp>
          <p:nvSpPr>
            <p:cNvPr id="32777" name="矩形 7">
              <a:extLst>
                <a:ext uri="{FF2B5EF4-FFF2-40B4-BE49-F238E27FC236}">
                  <a16:creationId xmlns:a16="http://schemas.microsoft.com/office/drawing/2014/main" id="{85A21E8C-2F7B-44C4-A16B-24255408C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0687" y="4377129"/>
              <a:ext cx="1266825" cy="425847"/>
            </a:xfrm>
            <a:prstGeom prst="rect">
              <a:avLst/>
            </a:prstGeom>
            <a:solidFill>
              <a:srgbClr val="D0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ea typeface="微软雅黑" panose="020B0503020204020204" pitchFamily="34" charset="-122"/>
                </a:rPr>
                <a:t>创建子进程</a:t>
              </a:r>
            </a:p>
          </p:txBody>
        </p:sp>
        <p:sp>
          <p:nvSpPr>
            <p:cNvPr id="32778" name="矩形 8">
              <a:extLst>
                <a:ext uri="{FF2B5EF4-FFF2-40B4-BE49-F238E27FC236}">
                  <a16:creationId xmlns:a16="http://schemas.microsoft.com/office/drawing/2014/main" id="{8B54DA1E-7B54-4711-9EC6-315778A67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6251" y="3565127"/>
              <a:ext cx="1266825" cy="425847"/>
            </a:xfrm>
            <a:prstGeom prst="rect">
              <a:avLst/>
            </a:prstGeom>
            <a:solidFill>
              <a:srgbClr val="D0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0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ea typeface="微软雅黑" panose="020B0503020204020204" pitchFamily="34" charset="-122"/>
                </a:rPr>
                <a:t>时间片过期</a:t>
              </a:r>
            </a:p>
          </p:txBody>
        </p:sp>
        <p:sp>
          <p:nvSpPr>
            <p:cNvPr id="32779" name="矩形 9">
              <a:extLst>
                <a:ext uri="{FF2B5EF4-FFF2-40B4-BE49-F238E27FC236}">
                  <a16:creationId xmlns:a16="http://schemas.microsoft.com/office/drawing/2014/main" id="{72ED2B06-1E6E-4CB1-BA79-01DC92DD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6251" y="5229224"/>
              <a:ext cx="1266825" cy="448467"/>
            </a:xfrm>
            <a:prstGeom prst="rect">
              <a:avLst/>
            </a:prstGeom>
            <a:solidFill>
              <a:srgbClr val="D0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等待中断</a:t>
              </a:r>
            </a:p>
          </p:txBody>
        </p:sp>
        <p:sp>
          <p:nvSpPr>
            <p:cNvPr id="32780" name="椭圆 1">
              <a:extLst>
                <a:ext uri="{FF2B5EF4-FFF2-40B4-BE49-F238E27FC236}">
                  <a16:creationId xmlns:a16="http://schemas.microsoft.com/office/drawing/2014/main" id="{46426780-A13B-46CF-818A-888685617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399" y="4285252"/>
              <a:ext cx="1114426" cy="647700"/>
            </a:xfrm>
            <a:prstGeom prst="ellipse">
              <a:avLst/>
            </a:prstGeom>
            <a:solidFill>
              <a:srgbClr val="C8EBF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子进程</a:t>
              </a:r>
              <a:endParaRPr lang="en-US" altLang="zh-CN" sz="1600"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执行</a:t>
              </a:r>
            </a:p>
          </p:txBody>
        </p:sp>
        <p:sp>
          <p:nvSpPr>
            <p:cNvPr id="32781" name="椭圆 11">
              <a:extLst>
                <a:ext uri="{FF2B5EF4-FFF2-40B4-BE49-F238E27FC236}">
                  <a16:creationId xmlns:a16="http://schemas.microsoft.com/office/drawing/2014/main" id="{E379F0F2-C72B-4010-8DC0-391BA1C13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750" y="5100638"/>
              <a:ext cx="1114426" cy="647700"/>
            </a:xfrm>
            <a:prstGeom prst="ellipse">
              <a:avLst/>
            </a:prstGeom>
            <a:solidFill>
              <a:srgbClr val="C8EBF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 anchorCtr="0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ea typeface="微软雅黑" panose="020B0503020204020204" pitchFamily="34" charset="-122"/>
                </a:rPr>
                <a:t>中断发生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8CE7DB1-FEBE-42AD-B129-2AA2F66D2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8725" y="236538"/>
            <a:ext cx="7983538" cy="457200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就绪队列和各种 </a:t>
            </a:r>
            <a:r>
              <a:rPr lang="en-US" altLang="zh-CN">
                <a:ea typeface="微软雅黑" panose="020B0503020204020204" pitchFamily="34" charset="-122"/>
              </a:rPr>
              <a:t>I/O </a:t>
            </a:r>
            <a:r>
              <a:rPr lang="zh-CN" altLang="en-US">
                <a:ea typeface="微软雅黑" panose="020B0503020204020204" pitchFamily="34" charset="-122"/>
              </a:rPr>
              <a:t>设备队列</a:t>
            </a:r>
            <a:endParaRPr lang="en-US" altLang="en-US">
              <a:ea typeface="微软雅黑" panose="020B0503020204020204" pitchFamily="34" charset="-122"/>
            </a:endParaRPr>
          </a:p>
        </p:txBody>
      </p:sp>
      <p:grpSp>
        <p:nvGrpSpPr>
          <p:cNvPr id="30723" name="组合 2">
            <a:extLst>
              <a:ext uri="{FF2B5EF4-FFF2-40B4-BE49-F238E27FC236}">
                <a16:creationId xmlns:a16="http://schemas.microsoft.com/office/drawing/2014/main" id="{5017BA83-A36F-4A51-8B41-D3C771090DFC}"/>
              </a:ext>
            </a:extLst>
          </p:cNvPr>
          <p:cNvGrpSpPr>
            <a:grpSpLocks/>
          </p:cNvGrpSpPr>
          <p:nvPr/>
        </p:nvGrpSpPr>
        <p:grpSpPr bwMode="auto">
          <a:xfrm>
            <a:off x="2867025" y="1162050"/>
            <a:ext cx="6248400" cy="5073650"/>
            <a:chOff x="1343025" y="1162050"/>
            <a:chExt cx="6248400" cy="5073650"/>
          </a:xfrm>
        </p:grpSpPr>
        <p:pic>
          <p:nvPicPr>
            <p:cNvPr id="30724" name="Picture 7">
              <a:extLst>
                <a:ext uri="{FF2B5EF4-FFF2-40B4-BE49-F238E27FC236}">
                  <a16:creationId xmlns:a16="http://schemas.microsoft.com/office/drawing/2014/main" id="{2137C51B-0692-4D58-B0C1-F81663FB59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8475" y="1214438"/>
              <a:ext cx="5822950" cy="5021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25" name="矩形 1">
              <a:extLst>
                <a:ext uri="{FF2B5EF4-FFF2-40B4-BE49-F238E27FC236}">
                  <a16:creationId xmlns:a16="http://schemas.microsoft.com/office/drawing/2014/main" id="{3AA5B75A-868D-4EB9-B259-8DE8520BE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675" y="1162050"/>
              <a:ext cx="11049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队列头</a:t>
              </a:r>
            </a:p>
          </p:txBody>
        </p:sp>
        <p:sp>
          <p:nvSpPr>
            <p:cNvPr id="30726" name="矩形 4">
              <a:extLst>
                <a:ext uri="{FF2B5EF4-FFF2-40B4-BE49-F238E27FC236}">
                  <a16:creationId xmlns:a16="http://schemas.microsoft.com/office/drawing/2014/main" id="{AEE0FD03-9CA3-4AE2-ADD1-4E2D66A7A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3025" y="1641474"/>
              <a:ext cx="1104900" cy="3651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就绪队列</a:t>
              </a:r>
            </a:p>
          </p:txBody>
        </p:sp>
        <p:sp>
          <p:nvSpPr>
            <p:cNvPr id="30727" name="矩形 5">
              <a:extLst>
                <a:ext uri="{FF2B5EF4-FFF2-40B4-BE49-F238E27FC236}">
                  <a16:creationId xmlns:a16="http://schemas.microsoft.com/office/drawing/2014/main" id="{D60F3D17-73A5-4C6C-AFB7-6398791C9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550" y="2513011"/>
              <a:ext cx="1104900" cy="6238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磁带单元</a:t>
              </a:r>
              <a:r>
                <a:rPr lang="en-US" altLang="zh-CN" sz="1600">
                  <a:ea typeface="微软雅黑" panose="020B0503020204020204" pitchFamily="34" charset="-122"/>
                </a:rPr>
                <a:t>0</a:t>
              </a:r>
              <a:endParaRPr lang="zh-CN" altLang="en-US" sz="1600">
                <a:ea typeface="微软雅黑" panose="020B0503020204020204" pitchFamily="34" charset="-122"/>
              </a:endParaRPr>
            </a:p>
          </p:txBody>
        </p:sp>
        <p:sp>
          <p:nvSpPr>
            <p:cNvPr id="30728" name="矩形 6">
              <a:extLst>
                <a:ext uri="{FF2B5EF4-FFF2-40B4-BE49-F238E27FC236}">
                  <a16:creationId xmlns:a16="http://schemas.microsoft.com/office/drawing/2014/main" id="{4E31FE1E-EACD-4F1D-A05A-C722AB22C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550" y="3395662"/>
              <a:ext cx="1104900" cy="6238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磁带单元</a:t>
              </a:r>
              <a:r>
                <a:rPr lang="en-US" altLang="zh-CN" sz="1600">
                  <a:ea typeface="微软雅黑" panose="020B0503020204020204" pitchFamily="34" charset="-122"/>
                </a:rPr>
                <a:t>1</a:t>
              </a:r>
              <a:endParaRPr lang="zh-CN" altLang="en-US" sz="1600">
                <a:ea typeface="微软雅黑" panose="020B0503020204020204" pitchFamily="34" charset="-122"/>
              </a:endParaRPr>
            </a:p>
          </p:txBody>
        </p:sp>
        <p:sp>
          <p:nvSpPr>
            <p:cNvPr id="30729" name="矩形 7">
              <a:extLst>
                <a:ext uri="{FF2B5EF4-FFF2-40B4-BE49-F238E27FC236}">
                  <a16:creationId xmlns:a16="http://schemas.microsoft.com/office/drawing/2014/main" id="{E41D1A09-1A08-46DD-B612-E1C751AC9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3025" y="4376737"/>
              <a:ext cx="1104900" cy="6238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磁盘单元</a:t>
              </a:r>
              <a:r>
                <a:rPr lang="en-US" altLang="zh-CN" sz="1600">
                  <a:ea typeface="微软雅黑" panose="020B0503020204020204" pitchFamily="34" charset="-122"/>
                </a:rPr>
                <a:t>0</a:t>
              </a:r>
              <a:endParaRPr lang="zh-CN" altLang="en-US" sz="1600">
                <a:ea typeface="微软雅黑" panose="020B0503020204020204" pitchFamily="34" charset="-122"/>
              </a:endParaRPr>
            </a:p>
          </p:txBody>
        </p:sp>
        <p:sp>
          <p:nvSpPr>
            <p:cNvPr id="30730" name="矩形 8">
              <a:extLst>
                <a:ext uri="{FF2B5EF4-FFF2-40B4-BE49-F238E27FC236}">
                  <a16:creationId xmlns:a16="http://schemas.microsoft.com/office/drawing/2014/main" id="{9330699F-405E-4F80-B6BC-31549EAF7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3025" y="5303043"/>
              <a:ext cx="1104900" cy="6238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终端单元</a:t>
              </a:r>
              <a:r>
                <a:rPr lang="en-US" altLang="zh-CN" sz="1600">
                  <a:ea typeface="微软雅黑" panose="020B0503020204020204" pitchFamily="34" charset="-122"/>
                </a:rPr>
                <a:t>0</a:t>
              </a:r>
              <a:endParaRPr lang="zh-CN" altLang="en-US" sz="1600">
                <a:ea typeface="微软雅黑" panose="020B0503020204020204" pitchFamily="34" charset="-122"/>
              </a:endParaRPr>
            </a:p>
          </p:txBody>
        </p:sp>
        <p:sp>
          <p:nvSpPr>
            <p:cNvPr id="30731" name="矩形 9">
              <a:extLst>
                <a:ext uri="{FF2B5EF4-FFF2-40B4-BE49-F238E27FC236}">
                  <a16:creationId xmlns:a16="http://schemas.microsoft.com/office/drawing/2014/main" id="{CE3005BD-1C29-48B8-9E50-6A5F66B96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750" y="1831179"/>
              <a:ext cx="666750" cy="175421"/>
            </a:xfrm>
            <a:prstGeom prst="rect">
              <a:avLst/>
            </a:prstGeom>
            <a:solidFill>
              <a:srgbClr val="D0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ea typeface="微软雅黑" panose="020B0503020204020204" pitchFamily="34" charset="-122"/>
                </a:rPr>
                <a:t>寄存器</a:t>
              </a:r>
            </a:p>
          </p:txBody>
        </p:sp>
        <p:sp>
          <p:nvSpPr>
            <p:cNvPr id="30732" name="矩形 10">
              <a:extLst>
                <a:ext uri="{FF2B5EF4-FFF2-40B4-BE49-F238E27FC236}">
                  <a16:creationId xmlns:a16="http://schemas.microsoft.com/office/drawing/2014/main" id="{77AE7E06-CD80-4E4D-ADB0-67E2F7A16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2702" y="1831179"/>
              <a:ext cx="666750" cy="175421"/>
            </a:xfrm>
            <a:prstGeom prst="rect">
              <a:avLst/>
            </a:prstGeom>
            <a:solidFill>
              <a:srgbClr val="D0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ea typeface="微软雅黑" panose="020B0503020204020204" pitchFamily="34" charset="-122"/>
                </a:rPr>
                <a:t>寄存器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6267EE8-76BC-4BD5-9574-060C74D23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调度程序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00E7769-1A53-4E8C-93F8-D9CC38F94C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7016" y="990457"/>
            <a:ext cx="10997967" cy="5022850"/>
          </a:xfrm>
        </p:spPr>
        <p:txBody>
          <a:bodyPr/>
          <a:lstStyle/>
          <a:p>
            <a:pPr>
              <a:lnSpc>
                <a:spcPct val="180000"/>
              </a:lnSpc>
              <a:spcBef>
                <a:spcPts val="0"/>
              </a:spcBef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短期调度器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scheduler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或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CPU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调度器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—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选择接下来要执行的进程，并分配 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CPU</a:t>
            </a:r>
          </a:p>
          <a:p>
            <a:pPr lvl="1">
              <a:lnSpc>
                <a:spcPct val="180000"/>
              </a:lnSpc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有时是系统中唯一的调度程序</a:t>
            </a:r>
          </a:p>
          <a:p>
            <a:pPr lvl="1">
              <a:lnSpc>
                <a:spcPct val="180000"/>
              </a:lnSpc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短期调度程序被频繁调用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（毫秒级）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必须快速</a:t>
            </a:r>
          </a:p>
          <a:p>
            <a:pPr>
              <a:lnSpc>
                <a:spcPct val="180000"/>
              </a:lnSpc>
              <a:spcBef>
                <a:spcPts val="0"/>
              </a:spcBef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长期调度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scheduler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作业调度程序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选择哪些进程应该进入就绪队列</a:t>
            </a:r>
          </a:p>
          <a:p>
            <a:pPr lvl="1">
              <a:lnSpc>
                <a:spcPct val="180000"/>
              </a:lnSpc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长期调度程序的调度并不频繁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（秒，分钟）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可能很慢</a:t>
            </a:r>
          </a:p>
          <a:p>
            <a:pPr lvl="1">
              <a:lnSpc>
                <a:spcPct val="180000"/>
              </a:lnSpc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长期调度器控制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多道程序粒度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(内存中的进程数量）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180000"/>
              </a:lnSpc>
              <a:spcBef>
                <a:spcPts val="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分时系统如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UNIX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或者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Windows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通常不包含长期调度器，多用在批处理系统中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E643D18-3DE0-4C81-8EB9-34D53DB5CF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39900" y="234951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添加中级调度程序</a:t>
            </a:r>
            <a:endParaRPr lang="en-US" altLang="en-US">
              <a:ea typeface="微软雅黑" panose="020B0503020204020204" pitchFamily="34" charset="-122"/>
            </a:endParaRPr>
          </a:p>
        </p:txBody>
      </p:sp>
      <p:pic>
        <p:nvPicPr>
          <p:cNvPr id="36867" name="Picture 11">
            <a:extLst>
              <a:ext uri="{FF2B5EF4-FFF2-40B4-BE49-F238E27FC236}">
                <a16:creationId xmlns:a16="http://schemas.microsoft.com/office/drawing/2014/main" id="{4FAF1556-79C0-4253-A8FB-8E7693FDC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827338"/>
            <a:ext cx="7327900" cy="266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Rectangle 3">
            <a:extLst>
              <a:ext uri="{FF2B5EF4-FFF2-40B4-BE49-F238E27FC236}">
                <a16:creationId xmlns:a16="http://schemas.microsoft.com/office/drawing/2014/main" id="{B5BB5CAA-387A-4C2F-B8DB-1BF88A6F3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846" y="905669"/>
            <a:ext cx="10681854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1313" indent="-341313" eaLnBrk="0" fontAlgn="base" hangingPunct="0">
              <a:lnSpc>
                <a:spcPct val="200000"/>
              </a:lnSpc>
              <a:spcBef>
                <a:spcPts val="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1363" lvl="1" indent="-284163" eaLnBrk="0" fontAlgn="base" hangingPunct="0">
              <a:lnSpc>
                <a:spcPct val="200000"/>
              </a:lnSpc>
              <a:spcBef>
                <a:spcPts val="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 kumimoji="1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084263" indent="-227013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Ø"/>
              <a:defRPr kumimoji="1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427163" indent="-227013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ü"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770063" indent="-227013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Arial" panose="020B0604020202020204" pitchFamily="34" charset="0"/>
              <a:buChar char="•"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228738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6pPr>
            <a:lvl7pPr marL="2685915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7pPr>
            <a:lvl8pPr marL="3143093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8pPr>
            <a:lvl9pPr marL="3600270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一些系统加入了中期调度程序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(medium-term scheduler)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从内存中删除进程，移动到磁盘上，并从中断处继续执行：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交换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(swap)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9" name="矩形 1">
            <a:extLst>
              <a:ext uri="{FF2B5EF4-FFF2-40B4-BE49-F238E27FC236}">
                <a16:creationId xmlns:a16="http://schemas.microsoft.com/office/drawing/2014/main" id="{6C8B9EA1-A643-4E40-9091-0B9C2B7E2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541" y="2802661"/>
            <a:ext cx="2601622" cy="746125"/>
          </a:xfrm>
          <a:prstGeom prst="rect">
            <a:avLst/>
          </a:prstGeom>
          <a:solidFill>
            <a:srgbClr val="D2D3D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 anchorCtr="0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ea typeface="微软雅黑" panose="020B0503020204020204" pitchFamily="34" charset="-122"/>
              </a:rPr>
              <a:t>部分执行的换出进程</a:t>
            </a:r>
          </a:p>
        </p:txBody>
      </p:sp>
      <p:sp>
        <p:nvSpPr>
          <p:cNvPr id="36870" name="矩形 5">
            <a:extLst>
              <a:ext uri="{FF2B5EF4-FFF2-40B4-BE49-F238E27FC236}">
                <a16:creationId xmlns:a16="http://schemas.microsoft.com/office/drawing/2014/main" id="{C1333EB5-DFB6-4226-86B2-25F135858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4" y="3854451"/>
            <a:ext cx="1660525" cy="512763"/>
          </a:xfrm>
          <a:prstGeom prst="rect">
            <a:avLst/>
          </a:prstGeom>
          <a:solidFill>
            <a:srgbClr val="D2D3D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ea typeface="微软雅黑" panose="020B0503020204020204" pitchFamily="34" charset="-122"/>
              </a:rPr>
              <a:t>就绪队列</a:t>
            </a:r>
          </a:p>
        </p:txBody>
      </p:sp>
      <p:sp>
        <p:nvSpPr>
          <p:cNvPr id="36871" name="矩形 6">
            <a:extLst>
              <a:ext uri="{FF2B5EF4-FFF2-40B4-BE49-F238E27FC236}">
                <a16:creationId xmlns:a16="http://schemas.microsoft.com/office/drawing/2014/main" id="{917033FE-4752-4B10-9D23-26A495D3E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1" y="4711701"/>
            <a:ext cx="1660525" cy="746125"/>
          </a:xfrm>
          <a:prstGeom prst="rect">
            <a:avLst/>
          </a:prstGeom>
          <a:solidFill>
            <a:srgbClr val="D2D3D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 anchorCtr="0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微软雅黑" panose="020B0503020204020204" pitchFamily="34" charset="-122"/>
              </a:rPr>
              <a:t>I/O</a:t>
            </a:r>
            <a:r>
              <a:rPr lang="zh-CN" altLang="en-US" dirty="0">
                <a:ea typeface="微软雅黑" panose="020B0503020204020204" pitchFamily="34" charset="-122"/>
              </a:rPr>
              <a:t>等待队列</a:t>
            </a:r>
          </a:p>
        </p:txBody>
      </p:sp>
      <p:sp>
        <p:nvSpPr>
          <p:cNvPr id="36872" name="矩形 7">
            <a:extLst>
              <a:ext uri="{FF2B5EF4-FFF2-40B4-BE49-F238E27FC236}">
                <a16:creationId xmlns:a16="http://schemas.microsoft.com/office/drawing/2014/main" id="{AD71D501-DCAB-450A-8305-E068520E2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664" y="2949575"/>
            <a:ext cx="1119187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ea typeface="微软雅黑" panose="020B0503020204020204" pitchFamily="34" charset="-122"/>
              </a:rPr>
              <a:t>换入</a:t>
            </a:r>
          </a:p>
        </p:txBody>
      </p:sp>
      <p:sp>
        <p:nvSpPr>
          <p:cNvPr id="36873" name="矩形 8">
            <a:extLst>
              <a:ext uri="{FF2B5EF4-FFF2-40B4-BE49-F238E27FC236}">
                <a16:creationId xmlns:a16="http://schemas.microsoft.com/office/drawing/2014/main" id="{89B229DC-5E0E-4934-B6BA-1BE4CC2A5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164" y="2932114"/>
            <a:ext cx="1119187" cy="274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ea typeface="微软雅黑" panose="020B0503020204020204" pitchFamily="34" charset="-122"/>
              </a:rPr>
              <a:t>换出</a:t>
            </a:r>
          </a:p>
        </p:txBody>
      </p:sp>
      <p:sp>
        <p:nvSpPr>
          <p:cNvPr id="36874" name="矩形 9">
            <a:extLst>
              <a:ext uri="{FF2B5EF4-FFF2-40B4-BE49-F238E27FC236}">
                <a16:creationId xmlns:a16="http://schemas.microsoft.com/office/drawing/2014/main" id="{3306D903-4118-4FB2-832A-11D5CF81B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1351" y="3973513"/>
            <a:ext cx="595313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ea typeface="微软雅黑" panose="020B0503020204020204" pitchFamily="34" charset="-122"/>
              </a:rPr>
              <a:t>结束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6267EE8-76BC-4BD5-9574-060C74D23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调度程序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00E7769-1A53-4E8C-93F8-D9CC38F94C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5415" y="784982"/>
            <a:ext cx="11838826" cy="5022850"/>
          </a:xfrm>
        </p:spPr>
        <p:txBody>
          <a:bodyPr/>
          <a:lstStyle/>
          <a:p>
            <a:pPr>
              <a:lnSpc>
                <a:spcPct val="2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  <a:sym typeface="Symbol" panose="05050102010706020507" pitchFamily="18" charset="2"/>
              </a:rPr>
              <a:t>根据任务类型的不同，进程可以</a:t>
            </a:r>
            <a:r>
              <a:rPr lang="zh-CN" altLang="en-US" dirty="0">
                <a:sym typeface="Symbol" panose="05050102010706020507" pitchFamily="18" charset="2"/>
              </a:rPr>
              <a:t>分</a:t>
            </a:r>
            <a:r>
              <a:rPr lang="zh-CN" altLang="en-US" dirty="0">
                <a:ea typeface="微软雅黑" panose="020B0503020204020204" pitchFamily="34" charset="-122"/>
                <a:sym typeface="Symbol" panose="05050102010706020507" pitchFamily="18" charset="2"/>
              </a:rPr>
              <a:t>为：</a:t>
            </a:r>
          </a:p>
          <a:p>
            <a:pPr lvl="1">
              <a:lnSpc>
                <a:spcPct val="250000"/>
              </a:lnSpc>
              <a:spcBef>
                <a:spcPts val="0"/>
              </a:spcBef>
            </a:pPr>
            <a:r>
              <a:rPr lang="en-US" altLang="zh-CN" b="1" dirty="0">
                <a:ea typeface="微软雅黑" panose="020B0503020204020204" pitchFamily="34" charset="-122"/>
                <a:sym typeface="Symbol" panose="05050102010706020507" pitchFamily="18" charset="2"/>
              </a:rPr>
              <a:t>I/O</a:t>
            </a:r>
            <a:r>
              <a:rPr lang="zh-CN" altLang="en-US" b="1" dirty="0">
                <a:ea typeface="微软雅黑" panose="020B0503020204020204" pitchFamily="34" charset="-122"/>
                <a:sym typeface="Symbol" panose="05050102010706020507" pitchFamily="18" charset="2"/>
              </a:rPr>
              <a:t>密集型进程</a:t>
            </a:r>
            <a:r>
              <a:rPr lang="en-US" altLang="zh-CN" dirty="0">
                <a:ea typeface="微软雅黑" panose="020B0503020204020204" pitchFamily="34" charset="-122"/>
                <a:sym typeface="Symbol" panose="05050102010706020507" pitchFamily="18" charset="2"/>
              </a:rPr>
              <a:t>——</a:t>
            </a:r>
            <a:r>
              <a:rPr lang="zh-CN" altLang="en-US" dirty="0">
                <a:ea typeface="微软雅黑" panose="020B0503020204020204" pitchFamily="34" charset="-122"/>
                <a:sym typeface="Symbol" panose="05050102010706020507" pitchFamily="18" charset="2"/>
              </a:rPr>
              <a:t>执行</a:t>
            </a:r>
            <a:r>
              <a:rPr lang="en-US" altLang="zh-CN" dirty="0">
                <a:ea typeface="微软雅黑" panose="020B0503020204020204" pitchFamily="34" charset="-122"/>
                <a:sym typeface="Symbol" panose="05050102010706020507" pitchFamily="18" charset="2"/>
              </a:rPr>
              <a:t>I/O</a:t>
            </a:r>
            <a:r>
              <a:rPr lang="zh-CN" altLang="en-US" dirty="0">
                <a:ea typeface="微软雅黑" panose="020B0503020204020204" pitchFamily="34" charset="-122"/>
                <a:sym typeface="Symbol" panose="05050102010706020507" pitchFamily="18" charset="2"/>
              </a:rPr>
              <a:t>比执行计算需要花费更多时间；有许多短暂的 </a:t>
            </a:r>
            <a:r>
              <a:rPr lang="en-US" altLang="zh-CN" b="1" dirty="0">
                <a:ea typeface="微软雅黑" panose="020B0503020204020204" pitchFamily="34" charset="-122"/>
                <a:sym typeface="Symbol" panose="05050102010706020507" pitchFamily="18" charset="2"/>
              </a:rPr>
              <a:t>CPU </a:t>
            </a:r>
            <a:r>
              <a:rPr lang="zh-CN" altLang="en-US" b="1" dirty="0">
                <a:ea typeface="微软雅黑" panose="020B0503020204020204" pitchFamily="34" charset="-122"/>
                <a:sym typeface="Symbol" panose="05050102010706020507" pitchFamily="18" charset="2"/>
              </a:rPr>
              <a:t>突发</a:t>
            </a:r>
            <a:r>
              <a:rPr lang="en-US" altLang="zh-CN" b="1" dirty="0">
                <a:ea typeface="微软雅黑" panose="020B0503020204020204" pitchFamily="34" charset="-122"/>
                <a:sym typeface="Symbol" panose="05050102010706020507" pitchFamily="18" charset="2"/>
              </a:rPr>
              <a:t>(burst)</a:t>
            </a:r>
            <a:endParaRPr lang="zh-CN" altLang="en-US" b="1" dirty="0"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lvl="1">
              <a:lnSpc>
                <a:spcPct val="250000"/>
              </a:lnSpc>
              <a:spcBef>
                <a:spcPts val="0"/>
              </a:spcBef>
            </a:pPr>
            <a:r>
              <a:rPr lang="en-US" altLang="zh-CN" b="1" dirty="0">
                <a:ea typeface="微软雅黑" panose="020B0503020204020204" pitchFamily="34" charset="-122"/>
                <a:sym typeface="Symbol" panose="05050102010706020507" pitchFamily="18" charset="2"/>
              </a:rPr>
              <a:t>CPU</a:t>
            </a:r>
            <a:r>
              <a:rPr lang="zh-CN" altLang="en-US" b="1" dirty="0">
                <a:ea typeface="微软雅黑" panose="020B0503020204020204" pitchFamily="34" charset="-122"/>
                <a:sym typeface="Symbol" panose="05050102010706020507" pitchFamily="18" charset="2"/>
              </a:rPr>
              <a:t>密集型进程</a:t>
            </a:r>
            <a:r>
              <a:rPr lang="en-US" altLang="zh-CN" dirty="0">
                <a:ea typeface="微软雅黑" panose="020B0503020204020204" pitchFamily="34" charset="-122"/>
                <a:sym typeface="Symbol" panose="05050102010706020507" pitchFamily="18" charset="2"/>
              </a:rPr>
              <a:t>——</a:t>
            </a:r>
            <a:r>
              <a:rPr lang="zh-CN" altLang="en-US" dirty="0">
                <a:ea typeface="微软雅黑" panose="020B0503020204020204" pitchFamily="34" charset="-122"/>
                <a:sym typeface="Symbol" panose="05050102010706020507" pitchFamily="18" charset="2"/>
              </a:rPr>
              <a:t>花费更多时间进行计算；少有很长的</a:t>
            </a:r>
            <a:r>
              <a:rPr lang="en-US" altLang="zh-CN" dirty="0">
                <a:ea typeface="微软雅黑" panose="020B0503020204020204" pitchFamily="34" charset="-122"/>
                <a:sym typeface="Symbol" panose="05050102010706020507" pitchFamily="18" charset="2"/>
              </a:rPr>
              <a:t>I/O</a:t>
            </a:r>
            <a:r>
              <a:rPr lang="zh-CN" altLang="en-US" dirty="0">
                <a:ea typeface="微软雅黑" panose="020B0503020204020204" pitchFamily="34" charset="-122"/>
                <a:sym typeface="Symbol" panose="05050102010706020507" pitchFamily="18" charset="2"/>
              </a:rPr>
              <a:t>突发</a:t>
            </a:r>
            <a:r>
              <a:rPr lang="en-US" altLang="zh-CN" b="1" dirty="0">
                <a:ea typeface="微软雅黑" panose="020B0503020204020204" pitchFamily="34" charset="-122"/>
                <a:sym typeface="Symbol" panose="05050102010706020507" pitchFamily="18" charset="2"/>
              </a:rPr>
              <a:t>(</a:t>
            </a:r>
            <a:r>
              <a:rPr lang="zh-CN" altLang="en-US" b="1" dirty="0">
                <a:ea typeface="微软雅黑" panose="020B0503020204020204" pitchFamily="34" charset="-122"/>
                <a:sym typeface="Symbol" panose="05050102010706020507" pitchFamily="18" charset="2"/>
              </a:rPr>
              <a:t>每个进程占用</a:t>
            </a:r>
            <a:r>
              <a:rPr lang="en-US" altLang="zh-CN" b="1" dirty="0">
                <a:ea typeface="微软雅黑" panose="020B0503020204020204" pitchFamily="34" charset="-122"/>
                <a:sym typeface="Symbol" panose="05050102010706020507" pitchFamily="18" charset="2"/>
              </a:rPr>
              <a:t>I/O</a:t>
            </a:r>
            <a:r>
              <a:rPr lang="zh-CN" altLang="en-US" b="1" dirty="0">
                <a:ea typeface="微软雅黑" panose="020B0503020204020204" pitchFamily="34" charset="-122"/>
                <a:sym typeface="Symbol" panose="05050102010706020507" pitchFamily="18" charset="2"/>
              </a:rPr>
              <a:t>时间很短</a:t>
            </a:r>
            <a:r>
              <a:rPr lang="en-US" altLang="zh-CN" b="1" dirty="0">
                <a:ea typeface="微软雅黑" panose="020B0503020204020204" pitchFamily="34" charset="-122"/>
                <a:sym typeface="Symbol" panose="05050102010706020507" pitchFamily="18" charset="2"/>
              </a:rPr>
              <a:t>)</a:t>
            </a:r>
            <a:endParaRPr lang="zh-CN" altLang="en-US" b="1" dirty="0"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2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  <a:sym typeface="Symbol" panose="05050102010706020507" pitchFamily="18" charset="2"/>
              </a:rPr>
              <a:t>一个良好的调度程序力求满足不同类型进程混合处理过程</a:t>
            </a:r>
            <a:endParaRPr lang="zh-CN" altLang="en-US" b="1" dirty="0"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250000"/>
              </a:lnSpc>
              <a:spcBef>
                <a:spcPts val="0"/>
              </a:spcBef>
              <a:buFont typeface="Monotype Sorts" pitchFamily="-84" charset="2"/>
              <a:buNone/>
            </a:pPr>
            <a:endParaRPr lang="en-US" altLang="en-US" b="1" dirty="0"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lvl="2">
              <a:lnSpc>
                <a:spcPct val="250000"/>
              </a:lnSpc>
              <a:spcBef>
                <a:spcPts val="0"/>
              </a:spcBef>
            </a:pPr>
            <a:endParaRPr lang="en-US" altLang="en-US" dirty="0"/>
          </a:p>
          <a:p>
            <a:pPr>
              <a:lnSpc>
                <a:spcPct val="250000"/>
              </a:lnSpc>
              <a:spcBef>
                <a:spcPts val="0"/>
              </a:spcBef>
            </a:pPr>
            <a:endParaRPr lang="en-US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E4BF2B-2121-4B64-AA21-A7B913383D5E}"/>
              </a:ext>
            </a:extLst>
          </p:cNvPr>
          <p:cNvSpPr txBox="1"/>
          <p:nvPr/>
        </p:nvSpPr>
        <p:spPr>
          <a:xfrm>
            <a:off x="704428" y="5070111"/>
            <a:ext cx="9983893" cy="1116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---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小知识：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突发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(CPU burst)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执行计算操作的时间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I/O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突发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(I/O burst)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I/O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执行读写操作的时间</a:t>
            </a:r>
          </a:p>
        </p:txBody>
      </p:sp>
    </p:spTree>
    <p:extLst>
      <p:ext uri="{BB962C8B-B14F-4D97-AF65-F5344CB8AC3E}">
        <p14:creationId xmlns:p14="http://schemas.microsoft.com/office/powerpoint/2010/main" val="3826175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54EE6F1-9AB1-4720-86A9-6FAD6D869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668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上下文切换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DAD9AF6-0E42-4483-9AD3-E649AD18EE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3064" y="1024949"/>
            <a:ext cx="11284527" cy="44481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当 </a:t>
            </a:r>
            <a:r>
              <a:rPr lang="en-US" altLang="zh-CN" b="0" dirty="0">
                <a:ea typeface="微软雅黑" panose="020B0503020204020204" pitchFamily="34" charset="-122"/>
              </a:rPr>
              <a:t>CPU </a:t>
            </a:r>
            <a:r>
              <a:rPr lang="zh-CN" altLang="en-US" b="0" dirty="0">
                <a:ea typeface="微软雅黑" panose="020B0503020204020204" pitchFamily="34" charset="-122"/>
              </a:rPr>
              <a:t>切换到另一个进程时</a:t>
            </a:r>
            <a:r>
              <a:rPr lang="zh-CN" altLang="en-US" dirty="0">
                <a:ea typeface="微软雅黑" panose="020B0503020204020204" pitchFamily="34" charset="-122"/>
              </a:rPr>
              <a:t>（如中断到达），</a:t>
            </a:r>
            <a:r>
              <a:rPr lang="zh-CN" altLang="en-US" b="0" dirty="0">
                <a:ea typeface="微软雅黑" panose="020B0503020204020204" pitchFamily="34" charset="-122"/>
              </a:rPr>
              <a:t>系统必须保存旧进程的状态，并通过上下文切换为新进程加载其保存的状态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a typeface="微软雅黑" panose="020B0503020204020204" pitchFamily="34" charset="-122"/>
              </a:rPr>
              <a:t>PCB</a:t>
            </a:r>
            <a:r>
              <a:rPr lang="zh-CN" altLang="en-US" dirty="0">
                <a:ea typeface="微软雅黑" panose="020B0503020204020204" pitchFamily="34" charset="-122"/>
              </a:rPr>
              <a:t>保存</a:t>
            </a:r>
            <a:r>
              <a:rPr lang="zh-CN" altLang="en-US" dirty="0">
                <a:solidFill>
                  <a:srgbClr val="333333"/>
                </a:solidFill>
                <a:ea typeface="微软雅黑" panose="020B0503020204020204" pitchFamily="34" charset="-122"/>
              </a:rPr>
              <a:t>进程的当前情况以及控制进程运行的全部信息</a:t>
            </a:r>
            <a:endParaRPr lang="en-US" altLang="zh-CN" dirty="0">
              <a:solidFill>
                <a:srgbClr val="333333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rgbClr val="333333"/>
                </a:solidFill>
                <a:ea typeface="微软雅黑" panose="020B0503020204020204" pitchFamily="34" charset="-122"/>
              </a:rPr>
              <a:t>所有寄存器和程序计数器信息</a:t>
            </a:r>
            <a:endParaRPr lang="en-US" altLang="en-US" b="1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上下文切换的时间</a:t>
            </a:r>
            <a:r>
              <a:rPr lang="zh-CN" altLang="en-US" b="0" dirty="0">
                <a:ea typeface="微软雅黑" panose="020B0503020204020204" pitchFamily="34" charset="-122"/>
              </a:rPr>
              <a:t>是</a:t>
            </a:r>
            <a:r>
              <a:rPr lang="zh-CN" altLang="en-US" dirty="0">
                <a:ea typeface="微软雅黑" panose="020B0503020204020204" pitchFamily="34" charset="-122"/>
              </a:rPr>
              <a:t>纯开销</a:t>
            </a:r>
            <a:r>
              <a:rPr lang="zh-CN" altLang="en-US" b="0" dirty="0">
                <a:ea typeface="微软雅黑" panose="020B0503020204020204" pitchFamily="34" charset="-122"/>
              </a:rPr>
              <a:t>， 因为在切换时系统并没有做任何有用工作</a:t>
            </a:r>
            <a:endParaRPr lang="en-US" altLang="en-US" b="0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操作系统和</a:t>
            </a:r>
            <a:r>
              <a:rPr lang="en-US" altLang="zh-CN" b="1" dirty="0">
                <a:ea typeface="微软雅黑" panose="020B0503020204020204" pitchFamily="34" charset="-122"/>
              </a:rPr>
              <a:t>PCB</a:t>
            </a:r>
            <a:r>
              <a:rPr lang="zh-CN" altLang="en-US" b="1" dirty="0">
                <a:ea typeface="微软雅黑" panose="020B0503020204020204" pitchFamily="34" charset="-122"/>
              </a:rPr>
              <a:t>越复杂→上下文切换时间越长</a:t>
            </a:r>
            <a:endParaRPr lang="en-US" altLang="zh-CN" b="1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/>
              <a:t>上下文切换时间越短越好</a:t>
            </a:r>
            <a:endParaRPr lang="zh-CN" altLang="en-US" b="1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上下文切换的时间与硬件支待密切相关</a:t>
            </a: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处理器提供了多个寄存器组→一次加载多个上下文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49022C0-7502-4107-8C9B-C31C9143B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6663" y="18256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进程间的上下文切换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grpSp>
        <p:nvGrpSpPr>
          <p:cNvPr id="23555" name="组合 1">
            <a:extLst>
              <a:ext uri="{FF2B5EF4-FFF2-40B4-BE49-F238E27FC236}">
                <a16:creationId xmlns:a16="http://schemas.microsoft.com/office/drawing/2014/main" id="{2370AD38-116F-4F40-BA08-4E932E779165}"/>
              </a:ext>
            </a:extLst>
          </p:cNvPr>
          <p:cNvGrpSpPr>
            <a:grpSpLocks/>
          </p:cNvGrpSpPr>
          <p:nvPr/>
        </p:nvGrpSpPr>
        <p:grpSpPr bwMode="auto">
          <a:xfrm>
            <a:off x="2638097" y="945931"/>
            <a:ext cx="7872248" cy="5549461"/>
            <a:chOff x="1384300" y="1104900"/>
            <a:chExt cx="6969125" cy="4679950"/>
          </a:xfrm>
        </p:grpSpPr>
        <p:pic>
          <p:nvPicPr>
            <p:cNvPr id="23556" name="Picture 9">
              <a:extLst>
                <a:ext uri="{FF2B5EF4-FFF2-40B4-BE49-F238E27FC236}">
                  <a16:creationId xmlns:a16="http://schemas.microsoft.com/office/drawing/2014/main" id="{910C44E1-94A1-4A4E-9DF2-3045E3526F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4300" y="1104900"/>
              <a:ext cx="6969125" cy="4679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57" name="矩形 3">
              <a:extLst>
                <a:ext uri="{FF2B5EF4-FFF2-40B4-BE49-F238E27FC236}">
                  <a16:creationId xmlns:a16="http://schemas.microsoft.com/office/drawing/2014/main" id="{297F523C-7195-4CFB-BE14-93F206BFA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275" y="1310940"/>
              <a:ext cx="676275" cy="317835"/>
            </a:xfrm>
            <a:prstGeom prst="rect">
              <a:avLst/>
            </a:prstGeom>
            <a:solidFill>
              <a:srgbClr val="C7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进程</a:t>
              </a:r>
            </a:p>
          </p:txBody>
        </p:sp>
        <p:sp>
          <p:nvSpPr>
            <p:cNvPr id="23558" name="矩形 4">
              <a:extLst>
                <a:ext uri="{FF2B5EF4-FFF2-40B4-BE49-F238E27FC236}">
                  <a16:creationId xmlns:a16="http://schemas.microsoft.com/office/drawing/2014/main" id="{62D421E0-D20D-49AB-9155-825D0D317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7425" y="1304422"/>
              <a:ext cx="676275" cy="317835"/>
            </a:xfrm>
            <a:prstGeom prst="rect">
              <a:avLst/>
            </a:prstGeom>
            <a:solidFill>
              <a:srgbClr val="C7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进程</a:t>
              </a:r>
            </a:p>
          </p:txBody>
        </p:sp>
        <p:sp>
          <p:nvSpPr>
            <p:cNvPr id="23559" name="矩形 5">
              <a:extLst>
                <a:ext uri="{FF2B5EF4-FFF2-40B4-BE49-F238E27FC236}">
                  <a16:creationId xmlns:a16="http://schemas.microsoft.com/office/drawing/2014/main" id="{CCBB90F0-7AC9-4808-A6E7-15771B57B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6675" y="1304421"/>
              <a:ext cx="1390650" cy="317835"/>
            </a:xfrm>
            <a:prstGeom prst="rect">
              <a:avLst/>
            </a:prstGeom>
            <a:solidFill>
              <a:srgbClr val="C7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操作系统</a:t>
              </a:r>
            </a:p>
          </p:txBody>
        </p:sp>
        <p:sp>
          <p:nvSpPr>
            <p:cNvPr id="23560" name="矩形 6">
              <a:extLst>
                <a:ext uri="{FF2B5EF4-FFF2-40B4-BE49-F238E27FC236}">
                  <a16:creationId xmlns:a16="http://schemas.microsoft.com/office/drawing/2014/main" id="{0D98232E-94BC-4F9A-A36C-DACB34B97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0612" y="1666875"/>
              <a:ext cx="1741487" cy="1930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中断或系统调用</a:t>
              </a:r>
            </a:p>
          </p:txBody>
        </p:sp>
        <p:sp>
          <p:nvSpPr>
            <p:cNvPr id="23561" name="矩形 7">
              <a:extLst>
                <a:ext uri="{FF2B5EF4-FFF2-40B4-BE49-F238E27FC236}">
                  <a16:creationId xmlns:a16="http://schemas.microsoft.com/office/drawing/2014/main" id="{B433E143-9379-4CA8-8E53-CF04C7BDB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972" y="1871904"/>
              <a:ext cx="676275" cy="317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执行</a:t>
              </a:r>
            </a:p>
          </p:txBody>
        </p:sp>
        <p:sp>
          <p:nvSpPr>
            <p:cNvPr id="23562" name="矩形 8">
              <a:extLst>
                <a:ext uri="{FF2B5EF4-FFF2-40B4-BE49-F238E27FC236}">
                  <a16:creationId xmlns:a16="http://schemas.microsoft.com/office/drawing/2014/main" id="{7EDAC693-D406-43D3-882E-A2E9D4D2C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972" y="5196129"/>
              <a:ext cx="676275" cy="317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执行</a:t>
              </a:r>
            </a:p>
          </p:txBody>
        </p:sp>
        <p:sp>
          <p:nvSpPr>
            <p:cNvPr id="23563" name="矩形 9">
              <a:extLst>
                <a:ext uri="{FF2B5EF4-FFF2-40B4-BE49-F238E27FC236}">
                  <a16:creationId xmlns:a16="http://schemas.microsoft.com/office/drawing/2014/main" id="{49B2C8C7-E645-43C5-BBD5-6E5B5AF45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6023" y="3504528"/>
              <a:ext cx="534590" cy="295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空闲</a:t>
              </a:r>
            </a:p>
          </p:txBody>
        </p:sp>
        <p:sp>
          <p:nvSpPr>
            <p:cNvPr id="23564" name="矩形 10">
              <a:extLst>
                <a:ext uri="{FF2B5EF4-FFF2-40B4-BE49-F238E27FC236}">
                  <a16:creationId xmlns:a16="http://schemas.microsoft.com/office/drawing/2014/main" id="{F6CC6F5B-E7DE-47FA-89B1-F5B01F53B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4359" y="3504528"/>
              <a:ext cx="1741487" cy="295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中断或系统调用</a:t>
              </a:r>
            </a:p>
          </p:txBody>
        </p:sp>
        <p:sp>
          <p:nvSpPr>
            <p:cNvPr id="23565" name="矩形 11">
              <a:extLst>
                <a:ext uri="{FF2B5EF4-FFF2-40B4-BE49-F238E27FC236}">
                  <a16:creationId xmlns:a16="http://schemas.microsoft.com/office/drawing/2014/main" id="{ED21DF6E-8298-4588-A192-C807A2826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398" y="2532978"/>
              <a:ext cx="534590" cy="295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空闲</a:t>
              </a:r>
            </a:p>
          </p:txBody>
        </p:sp>
        <p:sp>
          <p:nvSpPr>
            <p:cNvPr id="23566" name="矩形 12">
              <a:extLst>
                <a:ext uri="{FF2B5EF4-FFF2-40B4-BE49-F238E27FC236}">
                  <a16:creationId xmlns:a16="http://schemas.microsoft.com/office/drawing/2014/main" id="{86F7FDC3-AB10-4DA8-846F-32ADDDD84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398" y="4542753"/>
              <a:ext cx="534590" cy="295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空闲</a:t>
              </a:r>
            </a:p>
          </p:txBody>
        </p:sp>
        <p:sp>
          <p:nvSpPr>
            <p:cNvPr id="23567" name="矩形 13">
              <a:extLst>
                <a:ext uri="{FF2B5EF4-FFF2-40B4-BE49-F238E27FC236}">
                  <a16:creationId xmlns:a16="http://schemas.microsoft.com/office/drawing/2014/main" id="{31CDAAA4-922A-4FBC-8D15-AC4356542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9507" y="3589074"/>
              <a:ext cx="676275" cy="317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执行</a:t>
              </a:r>
            </a:p>
          </p:txBody>
        </p:sp>
        <p:sp>
          <p:nvSpPr>
            <p:cNvPr id="23568" name="矩形 14">
              <a:extLst>
                <a:ext uri="{FF2B5EF4-FFF2-40B4-BE49-F238E27FC236}">
                  <a16:creationId xmlns:a16="http://schemas.microsoft.com/office/drawing/2014/main" id="{DE8EBB57-F223-4E7A-ABD6-C43D5524C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984" y="2198928"/>
              <a:ext cx="1826816" cy="295947"/>
            </a:xfrm>
            <a:prstGeom prst="rect">
              <a:avLst/>
            </a:prstGeom>
            <a:solidFill>
              <a:srgbClr val="D1D3D4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保存状态到</a:t>
              </a:r>
              <a:r>
                <a:rPr lang="en-US" altLang="zh-CN" sz="1400">
                  <a:ea typeface="微软雅黑" panose="020B0503020204020204" pitchFamily="34" charset="-122"/>
                </a:rPr>
                <a:t>PCB</a:t>
              </a:r>
              <a:r>
                <a:rPr lang="en-US" altLang="zh-CN" sz="1400" baseline="-25000">
                  <a:ea typeface="微软雅黑" panose="020B0503020204020204" pitchFamily="34" charset="-122"/>
                </a:rPr>
                <a:t>0</a:t>
              </a:r>
              <a:endParaRPr lang="zh-CN" altLang="en-US" sz="1400" baseline="-25000">
                <a:ea typeface="微软雅黑" panose="020B0503020204020204" pitchFamily="34" charset="-122"/>
              </a:endParaRPr>
            </a:p>
          </p:txBody>
        </p:sp>
        <p:sp>
          <p:nvSpPr>
            <p:cNvPr id="23569" name="矩形 15">
              <a:extLst>
                <a:ext uri="{FF2B5EF4-FFF2-40B4-BE49-F238E27FC236}">
                  <a16:creationId xmlns:a16="http://schemas.microsoft.com/office/drawing/2014/main" id="{7E03B626-52F5-4D5D-ABD5-F2E8F770E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945" y="2953905"/>
              <a:ext cx="1826816" cy="295947"/>
            </a:xfrm>
            <a:prstGeom prst="rect">
              <a:avLst/>
            </a:prstGeom>
            <a:solidFill>
              <a:srgbClr val="D1D3D4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从</a:t>
              </a:r>
              <a:r>
                <a:rPr lang="en-US" altLang="zh-CN" sz="1400">
                  <a:ea typeface="微软雅黑" panose="020B0503020204020204" pitchFamily="34" charset="-122"/>
                </a:rPr>
                <a:t>PCB</a:t>
              </a:r>
              <a:r>
                <a:rPr lang="en-US" altLang="zh-CN" sz="1400" baseline="-25000">
                  <a:ea typeface="微软雅黑" panose="020B0503020204020204" pitchFamily="34" charset="-122"/>
                </a:rPr>
                <a:t>1</a:t>
              </a:r>
              <a:r>
                <a:rPr lang="zh-CN" altLang="en-US" sz="1400">
                  <a:ea typeface="微软雅黑" panose="020B0503020204020204" pitchFamily="34" charset="-122"/>
                </a:rPr>
                <a:t>重新加载状态</a:t>
              </a:r>
              <a:endParaRPr lang="zh-CN" altLang="en-US" sz="1400" baseline="-25000">
                <a:ea typeface="微软雅黑" panose="020B0503020204020204" pitchFamily="34" charset="-122"/>
              </a:endParaRPr>
            </a:p>
          </p:txBody>
        </p:sp>
        <p:sp>
          <p:nvSpPr>
            <p:cNvPr id="23570" name="矩形 16">
              <a:extLst>
                <a:ext uri="{FF2B5EF4-FFF2-40B4-BE49-F238E27FC236}">
                  <a16:creationId xmlns:a16="http://schemas.microsoft.com/office/drawing/2014/main" id="{27F74365-0236-42BC-B795-4D1E34351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984" y="4195906"/>
              <a:ext cx="1826816" cy="295947"/>
            </a:xfrm>
            <a:prstGeom prst="rect">
              <a:avLst/>
            </a:prstGeom>
            <a:solidFill>
              <a:srgbClr val="D1D3D4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保存状态到</a:t>
              </a:r>
              <a:r>
                <a:rPr lang="en-US" altLang="zh-CN" sz="1400">
                  <a:ea typeface="微软雅黑" panose="020B0503020204020204" pitchFamily="34" charset="-122"/>
                </a:rPr>
                <a:t>PCB</a:t>
              </a:r>
              <a:r>
                <a:rPr lang="en-US" altLang="zh-CN" sz="1400" baseline="-25000">
                  <a:ea typeface="微软雅黑" panose="020B0503020204020204" pitchFamily="34" charset="-122"/>
                </a:rPr>
                <a:t>1</a:t>
              </a:r>
              <a:endParaRPr lang="zh-CN" altLang="en-US" sz="1400" baseline="-25000">
                <a:ea typeface="微软雅黑" panose="020B0503020204020204" pitchFamily="34" charset="-122"/>
              </a:endParaRPr>
            </a:p>
          </p:txBody>
        </p:sp>
        <p:sp>
          <p:nvSpPr>
            <p:cNvPr id="23571" name="矩形 17">
              <a:extLst>
                <a:ext uri="{FF2B5EF4-FFF2-40B4-BE49-F238E27FC236}">
                  <a16:creationId xmlns:a16="http://schemas.microsoft.com/office/drawing/2014/main" id="{5400BB67-AA4F-49F4-B618-DB447BBAD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4950883"/>
              <a:ext cx="1826816" cy="295947"/>
            </a:xfrm>
            <a:prstGeom prst="rect">
              <a:avLst/>
            </a:prstGeom>
            <a:solidFill>
              <a:srgbClr val="D1D3D4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>
                  <a:ea typeface="微软雅黑" panose="020B0503020204020204" pitchFamily="34" charset="-122"/>
                </a:rPr>
                <a:t>从</a:t>
              </a:r>
              <a:r>
                <a:rPr lang="en-US" altLang="zh-CN" sz="1400">
                  <a:ea typeface="微软雅黑" panose="020B0503020204020204" pitchFamily="34" charset="-122"/>
                </a:rPr>
                <a:t>PCB</a:t>
              </a:r>
              <a:r>
                <a:rPr lang="en-US" altLang="zh-CN" sz="1400" baseline="-25000">
                  <a:ea typeface="微软雅黑" panose="020B0503020204020204" pitchFamily="34" charset="-122"/>
                </a:rPr>
                <a:t>0</a:t>
              </a:r>
              <a:r>
                <a:rPr lang="zh-CN" altLang="en-US" sz="1400">
                  <a:ea typeface="微软雅黑" panose="020B0503020204020204" pitchFamily="34" charset="-122"/>
                </a:rPr>
                <a:t>重新加载状态</a:t>
              </a:r>
              <a:endParaRPr lang="zh-CN" altLang="en-US" sz="1400" baseline="-25000"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A518E9A3-3285-40AE-9765-99D0C6A68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3.3 </a:t>
            </a:r>
            <a:r>
              <a:rPr lang="zh-CN" altLang="en-US" dirty="0">
                <a:ea typeface="微软雅黑" panose="020B0503020204020204" pitchFamily="34" charset="-122"/>
              </a:rPr>
              <a:t>进程操作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7B36CF2-B830-4516-AE40-9EFCD36A7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123" y="1067234"/>
            <a:ext cx="7480300" cy="444817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kumimoji="1" lang="zh-CN" altLang="en-US" sz="2800" noProof="1">
                <a:ea typeface="微软雅黑" panose="020B0503020204020204" pitchFamily="34" charset="-122"/>
              </a:rPr>
              <a:t>系统提供以下操作进程的机制：</a:t>
            </a:r>
          </a:p>
          <a:p>
            <a:pPr lvl="1">
              <a:lnSpc>
                <a:spcPct val="150000"/>
              </a:lnSpc>
              <a:defRPr/>
            </a:pPr>
            <a:r>
              <a:rPr kumimoji="1" lang="zh-CN" altLang="en-US" sz="2400" noProof="1">
                <a:ea typeface="微软雅黑" panose="020B0503020204020204" pitchFamily="34" charset="-122"/>
                <a:cs typeface="+mn-ea"/>
              </a:rPr>
              <a:t>进程创建</a:t>
            </a:r>
          </a:p>
          <a:p>
            <a:pPr lvl="1">
              <a:lnSpc>
                <a:spcPct val="150000"/>
              </a:lnSpc>
              <a:defRPr/>
            </a:pPr>
            <a:r>
              <a:rPr kumimoji="1" lang="zh-CN" altLang="en-US" sz="2400" noProof="1">
                <a:ea typeface="微软雅黑" panose="020B0503020204020204" pitchFamily="34" charset="-122"/>
                <a:cs typeface="+mn-ea"/>
              </a:rPr>
              <a:t>进程终止</a:t>
            </a:r>
          </a:p>
          <a:p>
            <a:pPr marL="457200" lvl="1" indent="0">
              <a:lnSpc>
                <a:spcPct val="150000"/>
              </a:lnSpc>
              <a:buNone/>
              <a:defRPr/>
            </a:pPr>
            <a:endParaRPr kumimoji="1" lang="zh-CN" altLang="en-US" sz="2400" noProof="1"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6AC9C000-5A01-4321-A7C4-62364EB507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进程创建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A83F8EDF-2167-4944-A6B6-2138E67C6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3063" y="1014125"/>
            <a:ext cx="10806546" cy="50768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父进程</a:t>
            </a:r>
            <a:r>
              <a:rPr lang="zh-CN" altLang="en-US" b="0" dirty="0">
                <a:ea typeface="微软雅黑" panose="020B0503020204020204" pitchFamily="34" charset="-122"/>
              </a:rPr>
              <a:t>创建</a:t>
            </a:r>
            <a:r>
              <a:rPr lang="zh-CN" altLang="en-US" dirty="0">
                <a:ea typeface="微软雅黑" panose="020B0503020204020204" pitchFamily="34" charset="-122"/>
              </a:rPr>
              <a:t>子进程</a:t>
            </a:r>
            <a:r>
              <a:rPr lang="zh-CN" altLang="en-US" b="0" dirty="0">
                <a:ea typeface="微软雅黑" panose="020B0503020204020204" pitchFamily="34" charset="-122"/>
              </a:rPr>
              <a:t>，子进程又创建其他进程，形成</a:t>
            </a:r>
            <a:r>
              <a:rPr lang="zh-CN" altLang="en-US" b="1" dirty="0">
                <a:ea typeface="微软雅黑" panose="020B0503020204020204" pitchFamily="34" charset="-122"/>
              </a:rPr>
              <a:t>进程树</a:t>
            </a:r>
          </a:p>
          <a:p>
            <a:pPr>
              <a:lnSpc>
                <a:spcPct val="15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通过</a:t>
            </a:r>
            <a:r>
              <a:rPr lang="zh-CN" altLang="en-US" b="1" dirty="0">
                <a:ea typeface="微软雅黑" panose="020B0503020204020204" pitchFamily="34" charset="-122"/>
              </a:rPr>
              <a:t>进程标识符</a:t>
            </a:r>
            <a:r>
              <a:rPr lang="zh-CN" altLang="en-US" dirty="0">
                <a:ea typeface="微软雅黑" panose="020B0503020204020204" pitchFamily="34" charset="-122"/>
              </a:rPr>
              <a:t>（</a:t>
            </a:r>
            <a:r>
              <a:rPr lang="en-US" altLang="zh-CN" dirty="0" err="1">
                <a:ea typeface="微软雅黑" panose="020B0503020204020204" pitchFamily="34" charset="-122"/>
              </a:rPr>
              <a:t>pid</a:t>
            </a:r>
            <a:r>
              <a:rPr lang="zh-CN" altLang="en-US" dirty="0">
                <a:ea typeface="微软雅黑" panose="020B0503020204020204" pitchFamily="34" charset="-122"/>
              </a:rPr>
              <a:t>）</a:t>
            </a:r>
            <a:r>
              <a:rPr lang="zh-CN" altLang="en-US" b="0" dirty="0">
                <a:ea typeface="微软雅黑" panose="020B0503020204020204" pitchFamily="34" charset="-122"/>
              </a:rPr>
              <a:t>识别和管理进程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资源共享选项</a:t>
            </a:r>
            <a:r>
              <a:rPr lang="en-US" altLang="zh-CN" dirty="0"/>
              <a:t>(CPU, </a:t>
            </a:r>
            <a:r>
              <a:rPr lang="zh-CN" altLang="en-US" dirty="0"/>
              <a:t>内存，文件 </a:t>
            </a:r>
            <a:r>
              <a:rPr lang="en-US" altLang="zh-CN" dirty="0"/>
              <a:t>I/O</a:t>
            </a:r>
            <a:r>
              <a:rPr lang="zh-CN" altLang="en-US" dirty="0"/>
              <a:t>设备</a:t>
            </a:r>
            <a:r>
              <a:rPr lang="en-US" altLang="zh-CN" dirty="0"/>
              <a:t>)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父进程和子进程共享所有资源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子进程获得父进程资源的子集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父进程和子进程不共享资源</a:t>
            </a:r>
            <a:endParaRPr lang="en-US" altLang="en-US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执行选项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父进程等待， 直到某个或全部子进程执行完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父进程和子进程并发执行</a:t>
            </a: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675CBD4-6506-4E10-9715-83A17D3245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2297" y="256011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典型</a:t>
            </a:r>
            <a:r>
              <a:rPr lang="en-US" altLang="zh-CN">
                <a:ea typeface="微软雅黑" panose="020B0503020204020204" pitchFamily="34" charset="-122"/>
              </a:rPr>
              <a:t>Linux</a:t>
            </a:r>
            <a:r>
              <a:rPr lang="zh-CN" altLang="en-US">
                <a:ea typeface="微软雅黑" panose="020B0503020204020204" pitchFamily="34" charset="-122"/>
              </a:rPr>
              <a:t>系统的进程树</a:t>
            </a:r>
            <a:endParaRPr lang="en-US" altLang="en-US">
              <a:ea typeface="微软雅黑" panose="020B0503020204020204" pitchFamily="34" charset="-122"/>
            </a:endParaRPr>
          </a:p>
        </p:txBody>
      </p:sp>
      <p:pic>
        <p:nvPicPr>
          <p:cNvPr id="47107" name="Picture 1" descr="3_08.pdf">
            <a:extLst>
              <a:ext uri="{FF2B5EF4-FFF2-40B4-BE49-F238E27FC236}">
                <a16:creationId xmlns:a16="http://schemas.microsoft.com/office/drawing/2014/main" id="{C884DC26-8FA4-4465-B94C-0A9C841D0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63" y="2550683"/>
            <a:ext cx="7024176" cy="3722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5D5A0C4-952C-4DC8-8701-3D98D8203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7645" y="3710641"/>
            <a:ext cx="1853345" cy="1402202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EBB4E933-011F-4C7B-9578-C0985132E1D9}"/>
              </a:ext>
            </a:extLst>
          </p:cNvPr>
          <p:cNvSpPr txBox="1">
            <a:spLocks noChangeArrowheads="1"/>
          </p:cNvSpPr>
          <p:nvPr/>
        </p:nvSpPr>
        <p:spPr>
          <a:xfrm>
            <a:off x="613063" y="1014125"/>
            <a:ext cx="10806546" cy="5076825"/>
          </a:xfrm>
          <a:prstGeom prst="rect">
            <a:avLst/>
          </a:prstGeom>
        </p:spPr>
        <p:txBody>
          <a:bodyPr/>
          <a:lstStyle>
            <a:lvl1pPr marL="341313" indent="-341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1363" indent="-28416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 kumimoji="1"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0842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Ø"/>
              <a:defRPr kumimoji="1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4271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ü"/>
              <a:defRPr kumimoji="1" sz="16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7700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Arial" panose="020B0604020202020204" pitchFamily="34" charset="0"/>
              <a:buChar char="•"/>
              <a:defRPr kumimoji="1" sz="16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228738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5915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093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270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kern="0" dirty="0"/>
              <a:t>Init</a:t>
            </a:r>
            <a:r>
              <a:rPr lang="zh-CN" altLang="en-US" kern="0" dirty="0"/>
              <a:t>进程</a:t>
            </a:r>
            <a:r>
              <a:rPr lang="en-US" altLang="zh-CN" kern="0" dirty="0"/>
              <a:t>(</a:t>
            </a:r>
            <a:r>
              <a:rPr lang="en-US" altLang="zh-CN" kern="0" dirty="0" err="1"/>
              <a:t>systemd</a:t>
            </a:r>
            <a:r>
              <a:rPr lang="en-US" altLang="zh-CN" kern="0" dirty="0"/>
              <a:t>)</a:t>
            </a:r>
            <a:r>
              <a:rPr lang="zh-CN" altLang="en-US" b="0" kern="0" dirty="0"/>
              <a:t>，</a:t>
            </a:r>
            <a:r>
              <a:rPr lang="en-US" altLang="zh-CN" b="0" kern="0" dirty="0"/>
              <a:t>PID=1, </a:t>
            </a:r>
            <a:r>
              <a:rPr lang="zh-CN" altLang="en-US" kern="0" dirty="0"/>
              <a:t>系统初始进程，</a:t>
            </a:r>
            <a:r>
              <a:rPr lang="zh-CN" altLang="en-US" b="0" kern="0" dirty="0"/>
              <a:t>负责创建并加载各种守护进程和用户登录进程，是系统中所有进程的父进程</a:t>
            </a:r>
            <a:endParaRPr lang="zh-CN" altLang="en-US" kern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6AC9C000-5A01-4321-A7C4-62364EB507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父子进程执行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A83F8EDF-2167-4944-A6B6-2138E67C6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3063" y="1014125"/>
            <a:ext cx="10806546" cy="50768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父进程等待， 直到某个或全部子进程执行完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父进程使用</a:t>
            </a:r>
            <a:r>
              <a:rPr lang="en-US" altLang="zh-CN" b="1" dirty="0">
                <a:solidFill>
                  <a:srgbClr val="0070C0"/>
                </a:solidFill>
              </a:rPr>
              <a:t>wait()</a:t>
            </a:r>
            <a:r>
              <a:rPr lang="zh-CN" altLang="en-US" dirty="0"/>
              <a:t>系统调用，等待子进程结束后继续执行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en-US" dirty="0"/>
              <a:t>UNIX </a:t>
            </a:r>
            <a:r>
              <a:rPr lang="en-US" altLang="zh-CN" dirty="0"/>
              <a:t>shell</a:t>
            </a:r>
            <a:r>
              <a:rPr lang="zh-CN" altLang="en-US" dirty="0"/>
              <a:t>通常会等待子进程结束后再执行新任务</a:t>
            </a:r>
            <a:endParaRPr lang="en-US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父进程和子进程并发执行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父进程继续执行程序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/>
              <a:t>这种情况下，</a:t>
            </a:r>
            <a:r>
              <a:rPr lang="en-US" altLang="zh-CN" dirty="0"/>
              <a:t>UNIX shell</a:t>
            </a:r>
            <a:r>
              <a:rPr lang="zh-CN" altLang="en-US" dirty="0"/>
              <a:t>以后台进程形式执行子进程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有时父进程会并行执行一段时间，处理完自己任务后，再调用</a:t>
            </a:r>
            <a:r>
              <a:rPr lang="en-US" altLang="zh-CN" dirty="0">
                <a:ea typeface="微软雅黑" panose="020B0503020204020204" pitchFamily="34" charset="-122"/>
              </a:rPr>
              <a:t>wait</a:t>
            </a:r>
            <a:r>
              <a:rPr lang="en-US" altLang="zh-CN" dirty="0"/>
              <a:t>()</a:t>
            </a:r>
            <a:r>
              <a:rPr lang="zh-CN" altLang="en-US" dirty="0"/>
              <a:t>等待子进程处理，如创建多个子进程，然后再等待的情况</a:t>
            </a:r>
            <a:endParaRPr lang="zh-CN" altLang="en-US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endParaRPr lang="en-US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9350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>
            <a:extLst>
              <a:ext uri="{FF2B5EF4-FFF2-40B4-BE49-F238E27FC236}">
                <a16:creationId xmlns:a16="http://schemas.microsoft.com/office/drawing/2014/main" id="{645D1FF7-7252-48E4-997C-9ADEDE1176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2673" y="1060451"/>
            <a:ext cx="10754591" cy="4530725"/>
          </a:xfrm>
        </p:spPr>
        <p:txBody>
          <a:bodyPr/>
          <a:lstStyle/>
          <a:p>
            <a:r>
              <a:rPr lang="zh-CN" altLang="en-US" dirty="0">
                <a:ea typeface="微软雅黑" panose="020B0503020204020204" pitchFamily="34" charset="-122"/>
              </a:rPr>
              <a:t>地址空间</a:t>
            </a:r>
          </a:p>
          <a:p>
            <a:pPr lvl="1"/>
            <a:r>
              <a:rPr lang="zh-CN" altLang="en-US" dirty="0">
                <a:ea typeface="微软雅黑" panose="020B0503020204020204" pitchFamily="34" charset="-122"/>
              </a:rPr>
              <a:t>子进程是父进程的复制品（它具有与父进程同样的程序和数据）</a:t>
            </a:r>
          </a:p>
          <a:p>
            <a:pPr lvl="1"/>
            <a:r>
              <a:rPr lang="zh-CN" altLang="en-US" dirty="0">
                <a:ea typeface="微软雅黑" panose="020B0503020204020204" pitchFamily="34" charset="-122"/>
              </a:rPr>
              <a:t>子进程加载另一个新程序</a:t>
            </a:r>
          </a:p>
          <a:p>
            <a:r>
              <a:rPr lang="en-US" altLang="zh-CN" dirty="0">
                <a:ea typeface="微软雅黑" panose="020B0503020204020204" pitchFamily="34" charset="-122"/>
              </a:rPr>
              <a:t>UNIX </a:t>
            </a:r>
            <a:r>
              <a:rPr lang="zh-CN" altLang="en-US" dirty="0">
                <a:ea typeface="微软雅黑" panose="020B0503020204020204" pitchFamily="34" charset="-122"/>
              </a:rPr>
              <a:t>示例</a:t>
            </a:r>
          </a:p>
          <a:p>
            <a:pPr lvl="1"/>
            <a:r>
              <a:rPr lang="zh-CN" altLang="en-US" dirty="0">
                <a:ea typeface="微软雅黑" panose="020B0503020204020204" pitchFamily="34" charset="-122"/>
              </a:rPr>
              <a:t>系统调用</a:t>
            </a:r>
            <a:r>
              <a:rPr lang="en-US" altLang="zh-CN" dirty="0">
                <a:ea typeface="微软雅黑" panose="020B0503020204020204" pitchFamily="34" charset="-122"/>
              </a:rPr>
              <a:t>fork() </a:t>
            </a:r>
            <a:r>
              <a:rPr lang="zh-CN" altLang="en-US" dirty="0">
                <a:ea typeface="微软雅黑" panose="020B0503020204020204" pitchFamily="34" charset="-122"/>
              </a:rPr>
              <a:t>创建新进程</a:t>
            </a:r>
          </a:p>
          <a:p>
            <a:pPr lvl="1"/>
            <a:r>
              <a:rPr lang="zh-CN" altLang="en-US" dirty="0">
                <a:ea typeface="微软雅黑" panose="020B0503020204020204" pitchFamily="34" charset="-122"/>
              </a:rPr>
              <a:t>在 </a:t>
            </a:r>
            <a:r>
              <a:rPr lang="en-US" altLang="zh-CN" dirty="0">
                <a:ea typeface="微软雅黑" panose="020B0503020204020204" pitchFamily="34" charset="-122"/>
              </a:rPr>
              <a:t>fork() </a:t>
            </a:r>
            <a:r>
              <a:rPr lang="zh-CN" altLang="en-US" dirty="0">
                <a:ea typeface="微软雅黑" panose="020B0503020204020204" pitchFamily="34" charset="-122"/>
              </a:rPr>
              <a:t>之后，系统调用</a:t>
            </a:r>
            <a:r>
              <a:rPr lang="en-US" altLang="zh-CN" dirty="0">
                <a:ea typeface="微软雅黑" panose="020B0503020204020204" pitchFamily="34" charset="-122"/>
              </a:rPr>
              <a:t>exec() </a:t>
            </a:r>
            <a:r>
              <a:rPr lang="zh-CN" altLang="en-US" dirty="0">
                <a:ea typeface="微软雅黑" panose="020B0503020204020204" pitchFamily="34" charset="-122"/>
              </a:rPr>
              <a:t>以用新程序替换进程的内存空间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409434B8-3A27-46D8-8C19-ABECB2F97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进程创建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pic>
        <p:nvPicPr>
          <p:cNvPr id="49155" name="Picture 4" descr="3">
            <a:extLst>
              <a:ext uri="{FF2B5EF4-FFF2-40B4-BE49-F238E27FC236}">
                <a16:creationId xmlns:a16="http://schemas.microsoft.com/office/drawing/2014/main" id="{0FC9BCAB-59D8-4C3C-8911-D520F757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075" y="4104555"/>
            <a:ext cx="64198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3A21286-FBF3-4A62-81B6-A2FF12822A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0950" y="2841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>
                <a:ea typeface="微软雅黑" panose="020B0503020204020204" pitchFamily="34" charset="-122"/>
              </a:rPr>
              <a:t>C</a:t>
            </a:r>
            <a:r>
              <a:rPr lang="zh-CN" altLang="en-US">
                <a:ea typeface="微软雅黑" panose="020B0503020204020204" pitchFamily="34" charset="-122"/>
              </a:rPr>
              <a:t>程序调用</a:t>
            </a:r>
            <a:r>
              <a:rPr lang="en-US" altLang="zh-CN">
                <a:ea typeface="微软雅黑" panose="020B0503020204020204" pitchFamily="34" charset="-122"/>
              </a:rPr>
              <a:t>f</a:t>
            </a:r>
            <a:r>
              <a:rPr lang="en-US" altLang="en-US">
                <a:ea typeface="微软雅黑" panose="020B0503020204020204" pitchFamily="34" charset="-122"/>
              </a:rPr>
              <a:t>ork</a:t>
            </a:r>
            <a:r>
              <a:rPr lang="zh-CN" altLang="en-US">
                <a:ea typeface="微软雅黑" panose="020B0503020204020204" pitchFamily="34" charset="-122"/>
              </a:rPr>
              <a:t>（）来创建一个单独进程</a:t>
            </a:r>
            <a:endParaRPr lang="en-US" altLang="en-US">
              <a:ea typeface="微软雅黑" panose="020B0503020204020204" pitchFamily="34" charset="-122"/>
            </a:endParaRPr>
          </a:p>
        </p:txBody>
      </p:sp>
      <p:pic>
        <p:nvPicPr>
          <p:cNvPr id="51203" name="Picture 5" descr="Screen Shot 2012-12-04 at 11.21.10 AM.png">
            <a:extLst>
              <a:ext uri="{FF2B5EF4-FFF2-40B4-BE49-F238E27FC236}">
                <a16:creationId xmlns:a16="http://schemas.microsoft.com/office/drawing/2014/main" id="{43D73D16-DE19-4580-969B-0D8ECD808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329" y="969962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4CF73E2-2C10-40ED-AC9E-4F86F9A40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0581" y="1009800"/>
            <a:ext cx="1411581" cy="106797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8FD5391E-D2DC-4FA7-9B86-B62EA1ABB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89213" y="257176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通过 </a:t>
            </a:r>
            <a:r>
              <a:rPr lang="en-US" altLang="zh-CN">
                <a:ea typeface="微软雅黑" panose="020B0503020204020204" pitchFamily="34" charset="-122"/>
              </a:rPr>
              <a:t>WindowsAPI </a:t>
            </a:r>
            <a:r>
              <a:rPr lang="zh-CN" altLang="en-US">
                <a:ea typeface="微软雅黑" panose="020B0503020204020204" pitchFamily="34" charset="-122"/>
              </a:rPr>
              <a:t>创建一个单独进程</a:t>
            </a:r>
            <a:endParaRPr lang="en-US" altLang="en-US">
              <a:ea typeface="微软雅黑" panose="020B0503020204020204" pitchFamily="34" charset="-122"/>
            </a:endParaRPr>
          </a:p>
        </p:txBody>
      </p:sp>
      <p:pic>
        <p:nvPicPr>
          <p:cNvPr id="53251" name="Picture 1" descr="Screen Shot 2012-12-04 at 11.23.48 AM.png">
            <a:extLst>
              <a:ext uri="{FF2B5EF4-FFF2-40B4-BE49-F238E27FC236}">
                <a16:creationId xmlns:a16="http://schemas.microsoft.com/office/drawing/2014/main" id="{2C54A024-5449-4CA1-A968-FAD9EE540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365" y="890953"/>
            <a:ext cx="4704524" cy="596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3D8C8C46-4504-4617-8AB9-013A923438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进程终止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0DC2A8EF-63F9-4DBD-A334-D28D54765A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5968" y="1046453"/>
            <a:ext cx="10900064" cy="53855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进程执行完最后一条语句，通过系统调用 </a:t>
            </a:r>
            <a:r>
              <a:rPr lang="en-US" altLang="zh-CN" dirty="0">
                <a:solidFill>
                  <a:srgbClr val="0070C0"/>
                </a:solidFill>
                <a:ea typeface="微软雅黑" panose="020B0503020204020204" pitchFamily="34" charset="-122"/>
              </a:rPr>
              <a:t>exit()</a:t>
            </a:r>
            <a:r>
              <a:rPr lang="zh-CN" altLang="en-US" dirty="0">
                <a:ea typeface="微软雅黑" panose="020B0503020204020204" pitchFamily="34" charset="-122"/>
              </a:rPr>
              <a:t>请求操作系统删除自身</a:t>
            </a: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返回状态值到父进程（通过系统调用 </a:t>
            </a:r>
            <a:r>
              <a:rPr lang="en-US" altLang="zh-CN" b="1" dirty="0">
                <a:solidFill>
                  <a:srgbClr val="0070C0"/>
                </a:solidFill>
                <a:ea typeface="微软雅黑" panose="020B0503020204020204" pitchFamily="34" charset="-122"/>
              </a:rPr>
              <a:t>wait()</a:t>
            </a:r>
            <a:r>
              <a:rPr lang="en-US" altLang="zh-CN" dirty="0">
                <a:ea typeface="微软雅黑" panose="020B0503020204020204" pitchFamily="34" charset="-122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zh-CN" altLang="en-US" b="1" dirty="0"/>
              <a:t>整数</a:t>
            </a:r>
            <a:r>
              <a:rPr lang="en-US" altLang="zh-CN" b="1" dirty="0"/>
              <a:t>0</a:t>
            </a:r>
            <a:r>
              <a:rPr lang="zh-CN" altLang="en-US" b="1" dirty="0"/>
              <a:t>表示正常结束，其他整数表示异常结束</a:t>
            </a:r>
            <a:endParaRPr lang="en-US" altLang="en-US" b="1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进程的资源由操作系统释放</a:t>
            </a:r>
            <a:endParaRPr lang="en-US" altLang="en-US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en-US" dirty="0"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19DD42-7729-4AD7-93DA-57511D721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973" y="3657008"/>
            <a:ext cx="8803233" cy="8933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80B30F4-595F-47CC-9114-A1A6EBEC6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784" y="4672895"/>
            <a:ext cx="7807672" cy="146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606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3D8C8C46-4504-4617-8AB9-013A923438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进程终止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0DC2A8EF-63F9-4DBD-A334-D28D54765A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5968" y="1046453"/>
            <a:ext cx="10900064" cy="53855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父进程可以使用系统调用</a:t>
            </a:r>
            <a:r>
              <a:rPr lang="en-US" altLang="zh-CN" dirty="0">
                <a:solidFill>
                  <a:srgbClr val="0070C0"/>
                </a:solidFill>
              </a:rPr>
              <a:t>kill</a:t>
            </a:r>
            <a:r>
              <a:rPr lang="en-US" altLang="zh-CN" dirty="0">
                <a:solidFill>
                  <a:srgbClr val="0070C0"/>
                </a:solidFill>
                <a:ea typeface="微软雅黑" panose="020B0503020204020204" pitchFamily="34" charset="-122"/>
              </a:rPr>
              <a:t>() </a:t>
            </a:r>
            <a:r>
              <a:rPr lang="zh-CN" altLang="en-US" dirty="0">
                <a:ea typeface="微软雅黑" panose="020B0503020204020204" pitchFamily="34" charset="-122"/>
              </a:rPr>
              <a:t>终止子进程的执行。 这样做的原因：  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子进程使用了超过它所分配的资源</a:t>
            </a: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不再需要分配给子进程的任务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父进程正在退出， 而且操作系统不允许无父进程的子进程继续执行</a:t>
            </a: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除了以上情况，有时为回复某些未处理的中断也会终止响应进程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>
            <a:extLst>
              <a:ext uri="{FF2B5EF4-FFF2-40B4-BE49-F238E27FC236}">
                <a16:creationId xmlns:a16="http://schemas.microsoft.com/office/drawing/2014/main" id="{9ED9E7BC-90F1-4922-B6E0-8F7A4EBCD1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2282" y="1163639"/>
            <a:ext cx="11242963" cy="45307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某些操作系统不允许子进程在父进程已终止的情况下存在。 如果一个进程终止，那么它的所有子进程也必须终止</a:t>
            </a:r>
          </a:p>
          <a:p>
            <a:pPr lvl="1" algn="just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级联式终止</a:t>
            </a:r>
            <a:r>
              <a:rPr lang="zh-CN" altLang="en-US" dirty="0">
                <a:ea typeface="微软雅黑" panose="020B0503020204020204" pitchFamily="34" charset="-122"/>
              </a:rPr>
              <a:t>：所有的子进程、子进程的子进程等都被终止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终止由操作系统发起</a:t>
            </a:r>
            <a:endParaRPr lang="en-US" altLang="en-US" b="1" dirty="0"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父进程可以通过系统调用</a:t>
            </a:r>
            <a:r>
              <a:rPr lang="en-US" altLang="zh-CN" dirty="0">
                <a:solidFill>
                  <a:srgbClr val="0070C0"/>
                </a:solidFill>
                <a:ea typeface="微软雅黑" panose="020B0503020204020204" pitchFamily="34" charset="-122"/>
              </a:rPr>
              <a:t>wait()</a:t>
            </a:r>
            <a:r>
              <a:rPr lang="zh-CN" altLang="en-US" b="0" dirty="0">
                <a:ea typeface="微软雅黑" panose="020B0503020204020204" pitchFamily="34" charset="-122"/>
              </a:rPr>
              <a:t>等待子进程的终止，并返回状态信息和终止进程的</a:t>
            </a:r>
            <a:r>
              <a:rPr lang="en-US" altLang="zh-CN" b="0" dirty="0" err="1">
                <a:ea typeface="微软雅黑" panose="020B0503020204020204" pitchFamily="34" charset="-122"/>
              </a:rPr>
              <a:t>pid</a:t>
            </a:r>
            <a:endParaRPr lang="en-US" altLang="en-US" b="0" dirty="0">
              <a:solidFill>
                <a:srgbClr val="000000"/>
              </a:solidFill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buFont typeface="Monotype Sorts" pitchFamily="-84" charset="2"/>
              <a:buNone/>
            </a:pPr>
            <a:r>
              <a:rPr lang="en-US" altLang="en-US" dirty="0" err="1">
                <a:solidFill>
                  <a:srgbClr val="0070C0"/>
                </a:solidFill>
                <a:ea typeface="微软雅黑" panose="020B0503020204020204" pitchFamily="34" charset="-122"/>
              </a:rPr>
              <a:t>pid</a:t>
            </a:r>
            <a:r>
              <a:rPr lang="en-US" altLang="en-US" dirty="0">
                <a:solidFill>
                  <a:srgbClr val="0070C0"/>
                </a:solidFill>
                <a:ea typeface="微软雅黑" panose="020B0503020204020204" pitchFamily="34" charset="-122"/>
              </a:rPr>
              <a:t> = wait(&amp;status); </a:t>
            </a: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576A6E6E-94AA-434A-89B5-D650010BF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进程终止</a:t>
            </a:r>
            <a:endParaRPr lang="en-US" altLang="en-US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>
            <a:extLst>
              <a:ext uri="{FF2B5EF4-FFF2-40B4-BE49-F238E27FC236}">
                <a16:creationId xmlns:a16="http://schemas.microsoft.com/office/drawing/2014/main" id="{9ED9E7BC-90F1-4922-B6E0-8F7A4EBCD1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2282" y="1163639"/>
            <a:ext cx="11242963" cy="4530725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当子进程已经终止，但是其父进程</a:t>
            </a:r>
            <a:r>
              <a:rPr lang="zh-CN" altLang="en-US" b="0" dirty="0"/>
              <a:t>没有</a:t>
            </a:r>
            <a:r>
              <a:rPr lang="zh-CN" altLang="en-US" b="0" dirty="0">
                <a:ea typeface="微软雅黑" panose="020B0503020204020204" pitchFamily="34" charset="-122"/>
              </a:rPr>
              <a:t>调用 </a:t>
            </a:r>
            <a:r>
              <a:rPr lang="en-US" altLang="zh-CN" dirty="0">
                <a:solidFill>
                  <a:srgbClr val="0070C0"/>
                </a:solidFill>
                <a:ea typeface="微软雅黑" panose="020B0503020204020204" pitchFamily="34" charset="-122"/>
              </a:rPr>
              <a:t>wait(), </a:t>
            </a:r>
            <a:r>
              <a:rPr lang="zh-CN" altLang="en-US" b="0" dirty="0">
                <a:ea typeface="微软雅黑" panose="020B0503020204020204" pitchFamily="34" charset="-122"/>
              </a:rPr>
              <a:t>这样的子进程称为</a:t>
            </a:r>
            <a:r>
              <a:rPr lang="zh-CN" altLang="en-US" dirty="0">
                <a:ea typeface="微软雅黑" panose="020B0503020204020204" pitchFamily="34" charset="-122"/>
              </a:rPr>
              <a:t>僵尸进程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 algn="just">
              <a:lnSpc>
                <a:spcPct val="200000"/>
              </a:lnSpc>
            </a:pPr>
            <a:r>
              <a:rPr lang="zh-CN" altLang="en-US" dirty="0"/>
              <a:t>当进程终止时，他的资源将被操作系统回收，但是进程表</a:t>
            </a:r>
            <a:r>
              <a:rPr lang="en-US" altLang="zh-CN" dirty="0"/>
              <a:t>(process table)</a:t>
            </a:r>
            <a:r>
              <a:rPr lang="zh-CN" altLang="en-US" dirty="0"/>
              <a:t>中仍保留子进程的退出状态信息，直到父进程使用系统调用</a:t>
            </a:r>
            <a:r>
              <a:rPr lang="en-US" altLang="zh-CN" dirty="0">
                <a:solidFill>
                  <a:srgbClr val="0070C0"/>
                </a:solidFill>
              </a:rPr>
              <a:t>wait()</a:t>
            </a:r>
            <a:r>
              <a:rPr lang="zh-CN" altLang="en-US" dirty="0"/>
              <a:t>返回后清除。</a:t>
            </a:r>
            <a:endParaRPr lang="en-US" altLang="en-US" dirty="0"/>
          </a:p>
          <a:p>
            <a:pPr algn="just">
              <a:lnSpc>
                <a:spcPct val="20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如果父进程没有调用 </a:t>
            </a:r>
            <a:r>
              <a:rPr lang="en-US" altLang="zh-CN" dirty="0">
                <a:solidFill>
                  <a:srgbClr val="0070C0"/>
                </a:solidFill>
                <a:ea typeface="微软雅黑" panose="020B0503020204020204" pitchFamily="34" charset="-122"/>
              </a:rPr>
              <a:t>wait() </a:t>
            </a:r>
            <a:r>
              <a:rPr lang="zh-CN" altLang="en-US" b="0" dirty="0">
                <a:ea typeface="微软雅黑" panose="020B0503020204020204" pitchFamily="34" charset="-122"/>
              </a:rPr>
              <a:t>就终止， 子进程就会成为</a:t>
            </a:r>
            <a:r>
              <a:rPr lang="zh-CN" altLang="en-US" dirty="0">
                <a:ea typeface="微软雅黑" panose="020B0503020204020204" pitchFamily="34" charset="-122"/>
              </a:rPr>
              <a:t>孤儿进程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576A6E6E-94AA-434A-89B5-D650010BF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进程终止</a:t>
            </a:r>
            <a:endParaRPr lang="en-US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65063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66E6ED35-F5B6-4067-894F-B3F98A235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96380" y="130494"/>
            <a:ext cx="7997825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3.4 </a:t>
            </a:r>
            <a:r>
              <a:rPr lang="zh-CN" altLang="en-US" dirty="0">
                <a:ea typeface="微软雅黑" panose="020B0503020204020204" pitchFamily="34" charset="-122"/>
              </a:rPr>
              <a:t>进程通信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8224CF92-1BA1-4B19-A702-1E29595A4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8373" y="1004889"/>
            <a:ext cx="10931236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许多网络浏览器作为单个进程运行</a:t>
            </a: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如果一个网站出现问题，整个浏览器可能会挂起或崩溃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a typeface="微软雅黑" panose="020B0503020204020204" pitchFamily="34" charset="-122"/>
              </a:rPr>
              <a:t>Google Chrome </a:t>
            </a:r>
            <a:r>
              <a:rPr lang="zh-CN" altLang="en-US" dirty="0">
                <a:ea typeface="微软雅黑" panose="020B0503020204020204" pitchFamily="34" charset="-122"/>
              </a:rPr>
              <a:t>浏览器是多进程的，有 </a:t>
            </a:r>
            <a:r>
              <a:rPr lang="en-US" altLang="zh-CN" dirty="0">
                <a:ea typeface="微软雅黑" panose="020B0503020204020204" pitchFamily="34" charset="-122"/>
              </a:rPr>
              <a:t>3 </a:t>
            </a:r>
            <a:r>
              <a:rPr lang="zh-CN" altLang="en-US" dirty="0">
                <a:ea typeface="微软雅黑" panose="020B0503020204020204" pitchFamily="34" charset="-122"/>
              </a:rPr>
              <a:t>种不同类型的进程：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浏览器</a:t>
            </a:r>
            <a:r>
              <a:rPr lang="zh-CN" altLang="en-US" dirty="0">
                <a:ea typeface="微软雅黑" panose="020B0503020204020204" pitchFamily="34" charset="-122"/>
              </a:rPr>
              <a:t>进程管理用户界面、磁盘和网络 </a:t>
            </a:r>
            <a:r>
              <a:rPr lang="en-US" altLang="zh-CN" dirty="0">
                <a:ea typeface="微软雅黑" panose="020B0503020204020204" pitchFamily="34" charset="-122"/>
              </a:rPr>
              <a:t>I/O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渲染器</a:t>
            </a:r>
            <a:r>
              <a:rPr lang="zh-CN" altLang="en-US" dirty="0">
                <a:ea typeface="微软雅黑" panose="020B0503020204020204" pitchFamily="34" charset="-122"/>
              </a:rPr>
              <a:t>进程渲染网页，处理 </a:t>
            </a:r>
            <a:r>
              <a:rPr lang="en-US" altLang="zh-CN" dirty="0"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ea typeface="微软雅黑" panose="020B0503020204020204" pitchFamily="34" charset="-122"/>
              </a:rPr>
              <a:t>。 为每个打开的网站创建的新渲染进程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在</a:t>
            </a:r>
            <a:r>
              <a:rPr lang="zh-CN" altLang="en-US" b="1" dirty="0">
                <a:ea typeface="微软雅黑" panose="020B0503020204020204" pitchFamily="34" charset="-122"/>
              </a:rPr>
              <a:t>沙箱 </a:t>
            </a:r>
            <a:r>
              <a:rPr lang="en-US" altLang="zh-CN" dirty="0">
                <a:ea typeface="微软雅黑" panose="020B0503020204020204" pitchFamily="34" charset="-122"/>
              </a:rPr>
              <a:t>(sandbox) </a:t>
            </a:r>
            <a:r>
              <a:rPr lang="zh-CN" altLang="en-US" dirty="0">
                <a:ea typeface="微软雅黑" panose="020B0503020204020204" pitchFamily="34" charset="-122"/>
              </a:rPr>
              <a:t>中运行</a:t>
            </a:r>
            <a:r>
              <a:rPr lang="zh-CN" altLang="en-US">
                <a:ea typeface="微软雅黑" panose="020B0503020204020204" pitchFamily="34" charset="-122"/>
              </a:rPr>
              <a:t>， 访问磁盘</a:t>
            </a:r>
            <a:r>
              <a:rPr lang="zh-CN" altLang="en-US" dirty="0">
                <a:ea typeface="微软雅黑" panose="020B0503020204020204" pitchFamily="34" charset="-122"/>
              </a:rPr>
              <a:t>和网络</a:t>
            </a:r>
            <a:r>
              <a:rPr lang="en-US" altLang="zh-CN" dirty="0">
                <a:ea typeface="微软雅黑" panose="020B0503020204020204" pitchFamily="34" charset="-122"/>
              </a:rPr>
              <a:t>I/0</a:t>
            </a:r>
            <a:r>
              <a:rPr lang="zh-CN" altLang="en-US" dirty="0">
                <a:ea typeface="微软雅黑" panose="020B0503020204020204" pitchFamily="34" charset="-122"/>
              </a:rPr>
              <a:t>是受限制的， 最大限度地减少安全漏洞的影响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各类插件的</a:t>
            </a:r>
            <a:r>
              <a:rPr lang="zh-CN" altLang="en-US" b="1" dirty="0">
                <a:ea typeface="微软雅黑" panose="020B0503020204020204" pitchFamily="34" charset="-122"/>
              </a:rPr>
              <a:t>插件</a:t>
            </a:r>
            <a:r>
              <a:rPr lang="zh-CN" altLang="en-US" dirty="0">
                <a:ea typeface="微软雅黑" panose="020B0503020204020204" pitchFamily="34" charset="-122"/>
              </a:rPr>
              <a:t>进程</a:t>
            </a: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en-US" altLang="en-US" dirty="0">
              <a:ea typeface="微软雅黑" panose="020B0503020204020204" pitchFamily="34" charset="-122"/>
            </a:endParaRPr>
          </a:p>
        </p:txBody>
      </p:sp>
      <p:pic>
        <p:nvPicPr>
          <p:cNvPr id="59396" name="Picture 1" descr="in-3_2.pdf">
            <a:extLst>
              <a:ext uri="{FF2B5EF4-FFF2-40B4-BE49-F238E27FC236}">
                <a16:creationId xmlns:a16="http://schemas.microsoft.com/office/drawing/2014/main" id="{D4DCE0C1-4F9E-4B4A-A524-FEB1A1FF0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842" y="5141117"/>
            <a:ext cx="7853363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5117AE13-16D0-4117-A732-3FB076910F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通信模型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8BF66764-D609-4337-9358-AD4B356D4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704" y="1339949"/>
            <a:ext cx="24418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ea typeface="微软雅黑" panose="020B0503020204020204" pitchFamily="34" charset="-122"/>
              </a:rPr>
              <a:t>         (a)</a:t>
            </a:r>
            <a:r>
              <a:rPr lang="zh-CN" altLang="en-US" dirty="0">
                <a:solidFill>
                  <a:srgbClr val="000000"/>
                </a:solidFill>
                <a:ea typeface="微软雅黑" panose="020B0503020204020204" pitchFamily="34" charset="-122"/>
              </a:rPr>
              <a:t>共享内存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9D5F63-FF52-4EA5-986C-0A8E16FD7E56}"/>
              </a:ext>
            </a:extLst>
          </p:cNvPr>
          <p:cNvSpPr/>
          <p:nvPr/>
        </p:nvSpPr>
        <p:spPr>
          <a:xfrm>
            <a:off x="577879" y="1159542"/>
            <a:ext cx="5796621" cy="4950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1313" lvl="0" indent="-34131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</a:pP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协作进程需要一种进程间通信（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IPC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  <a:p>
            <a:pPr marL="341313" lvl="0" indent="-34131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</a:pPr>
            <a:r>
              <a:rPr kumimoji="1"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两种基本模型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共享内存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(Shared-Memory Systems)</a:t>
            </a:r>
          </a:p>
          <a:p>
            <a:pPr marL="1257300" lvl="2" indent="-342900" eaLnBrk="0" fontAlgn="base" hangingPunct="0">
              <a:lnSpc>
                <a:spcPct val="150000"/>
              </a:lnSpc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</a:pPr>
            <a:r>
              <a:rPr kumimoji="1"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速度快（内存），适合同一计算机上大量数据的传输</a:t>
            </a:r>
            <a:endParaRPr kumimoji="1" lang="en-US" altLang="zh-CN" sz="2000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57300" lvl="2" indent="-342900" eaLnBrk="0" fontAlgn="base" hangingPunct="0">
              <a:lnSpc>
                <a:spcPct val="150000"/>
              </a:lnSpc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</a:pPr>
            <a:r>
              <a:rPr kumimoji="1"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配置比较复杂，不适合跨计算机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消息传递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(Message-Passing Systems)</a:t>
            </a:r>
          </a:p>
          <a:p>
            <a:pPr marL="1257300" lvl="2" indent="-342900" eaLnBrk="0" fontAlgn="base" hangingPunct="0">
              <a:lnSpc>
                <a:spcPct val="150000"/>
              </a:lnSpc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</a:pPr>
            <a:r>
              <a:rPr kumimoji="1"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速度比共享内存慢</a:t>
            </a:r>
            <a:endParaRPr kumimoji="1" lang="en-US" altLang="zh-CN" sz="2000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57300" lvl="2" indent="-342900" eaLnBrk="0" fontAlgn="base" hangingPunct="0">
              <a:lnSpc>
                <a:spcPct val="150000"/>
              </a:lnSpc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Ø"/>
            </a:pPr>
            <a:r>
              <a:rPr kumimoji="1"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适合少量数据传输，适合跨计算机传输</a:t>
            </a:r>
            <a:endParaRPr kumimoji="1" lang="en-US" altLang="en-US" sz="2400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C3C061-1727-436B-A2FE-F187AFC401DC}"/>
              </a:ext>
            </a:extLst>
          </p:cNvPr>
          <p:cNvSpPr/>
          <p:nvPr/>
        </p:nvSpPr>
        <p:spPr>
          <a:xfrm>
            <a:off x="9916408" y="1339949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ea typeface="微软雅黑" panose="020B0503020204020204" pitchFamily="34" charset="-122"/>
              </a:rPr>
              <a:t>(b) </a:t>
            </a:r>
            <a:r>
              <a:rPr lang="zh-CN" altLang="en-US" dirty="0">
                <a:solidFill>
                  <a:srgbClr val="000000"/>
                </a:solidFill>
                <a:ea typeface="微软雅黑" panose="020B0503020204020204" pitchFamily="34" charset="-122"/>
              </a:rPr>
              <a:t>消息传递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BA4F5D0-DF82-4F6F-8715-27EE8BD96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395" y="1979186"/>
            <a:ext cx="2814483" cy="36562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29F510A-CBED-454B-BFCD-8AB0171CB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7465" y="1979186"/>
            <a:ext cx="2868634" cy="365622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18295DC0-701F-44D3-8AAA-D90B96521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84450" y="277813"/>
            <a:ext cx="7626350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共享内存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EE9DFEF6-92AE-443B-B589-99DCE0A099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81891" y="1046453"/>
            <a:ext cx="11367654" cy="45307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0" dirty="0"/>
              <a:t>通常来说，为保证</a:t>
            </a:r>
            <a:r>
              <a:rPr lang="zh-CN" altLang="en-US" dirty="0">
                <a:solidFill>
                  <a:srgbClr val="C00000"/>
                </a:solidFill>
              </a:rPr>
              <a:t>可靠性</a:t>
            </a:r>
            <a:r>
              <a:rPr lang="zh-CN" altLang="en-US" b="0" dirty="0"/>
              <a:t>，</a:t>
            </a:r>
            <a:r>
              <a:rPr lang="zh-CN" altLang="en-US" dirty="0"/>
              <a:t>操作系统尽力阻止跨进程的内存访问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共享内存机制</a:t>
            </a:r>
            <a:r>
              <a:rPr lang="zh-CN" altLang="en-US" b="0" dirty="0"/>
              <a:t>允许一个进程</a:t>
            </a:r>
            <a:r>
              <a:rPr lang="zh-CN" altLang="en-US" dirty="0"/>
              <a:t>在内存中创建一块供其他进程访问的区域</a:t>
            </a:r>
            <a:r>
              <a:rPr lang="zh-CN" altLang="en-US" b="0" dirty="0"/>
              <a:t>，实现进程间消息的传递；当其他进程访问这些消息时，</a:t>
            </a:r>
            <a:r>
              <a:rPr lang="zh-CN" altLang="en-US" dirty="0"/>
              <a:t>首先需要将共享内存区域的地址映射到自己的地址空间中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通过</a:t>
            </a:r>
            <a:r>
              <a:rPr lang="zh-CN" altLang="en-US" dirty="0">
                <a:ea typeface="微软雅黑" panose="020B0503020204020204" pitchFamily="34" charset="-122"/>
              </a:rPr>
              <a:t>在共享区域中的读写操作实现信息的传递</a:t>
            </a:r>
          </a:p>
          <a:p>
            <a:pPr>
              <a:lnSpc>
                <a:spcPct val="20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主要难点是</a:t>
            </a:r>
            <a:r>
              <a:rPr lang="zh-CN" altLang="en-US" dirty="0">
                <a:solidFill>
                  <a:srgbClr val="C00000"/>
                </a:solidFill>
                <a:ea typeface="微软雅黑" panose="020B0503020204020204" pitchFamily="34" charset="-122"/>
              </a:rPr>
              <a:t>不同进程间读写时的同步问题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05E5A839-E7BD-4E9A-AA51-C93CDB8A0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3300" y="247651"/>
            <a:ext cx="7937500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生产者</a:t>
            </a:r>
            <a:r>
              <a:rPr lang="en-US" altLang="zh-CN">
                <a:ea typeface="微软雅黑" panose="020B0503020204020204" pitchFamily="34" charset="-122"/>
              </a:rPr>
              <a:t>—</a:t>
            </a:r>
            <a:r>
              <a:rPr lang="zh-CN" altLang="en-US">
                <a:ea typeface="微软雅黑" panose="020B0503020204020204" pitchFamily="34" charset="-122"/>
              </a:rPr>
              <a:t>消费者问题</a:t>
            </a:r>
            <a:endParaRPr lang="en-US" altLang="zh-CN">
              <a:ea typeface="微软雅黑" panose="020B0503020204020204" pitchFamily="34" charset="-122"/>
            </a:endParaRP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4905966D-4E6D-4CDC-B3E5-B88AFC87C3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3455" y="1185864"/>
            <a:ext cx="10754590" cy="449897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进程通信的范例</a:t>
            </a:r>
            <a:r>
              <a:rPr lang="zh-CN" altLang="en-US" b="0" dirty="0"/>
              <a:t>：</a:t>
            </a:r>
            <a:r>
              <a:rPr lang="zh-CN" altLang="en-US" dirty="0"/>
              <a:t>生产</a:t>
            </a:r>
            <a:r>
              <a:rPr lang="en-US" altLang="zh-CN" dirty="0"/>
              <a:t>-</a:t>
            </a:r>
            <a:r>
              <a:rPr lang="zh-CN" altLang="en-US" dirty="0"/>
              <a:t>消费者模型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生产者进程生成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(produce)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信息， 以供消费者进程消费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(consume)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模型类型</a:t>
            </a:r>
            <a:endParaRPr lang="en-US" altLang="zh-CN" b="0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无界缓冲区</a:t>
            </a:r>
            <a:r>
              <a:rPr lang="zh-CN" altLang="en-US" dirty="0">
                <a:ea typeface="微软雅黑" panose="020B0503020204020204" pitchFamily="34" charset="-122"/>
              </a:rPr>
              <a:t>对缓冲区的大小没有实际限制</a:t>
            </a:r>
          </a:p>
          <a:p>
            <a:pPr lvl="1">
              <a:lnSpc>
                <a:spcPct val="20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有界缓冲区</a:t>
            </a:r>
            <a:r>
              <a:rPr lang="zh-CN" altLang="en-US" dirty="0">
                <a:ea typeface="微软雅黑" panose="020B0503020204020204" pitchFamily="34" charset="-122"/>
              </a:rPr>
              <a:t>假设有一个固定大小的缓冲区；生产者只有当缓冲区有空闲区域时才能生成信息；消费者只有当缓冲区中数据准备好时才能消费信息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8913435B-B233-4A46-910B-7D1F8FD40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70164" y="300038"/>
            <a:ext cx="8074025" cy="4572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有界缓冲区</a:t>
            </a:r>
            <a:r>
              <a:rPr lang="en-US" altLang="zh-CN" dirty="0">
                <a:ea typeface="微软雅黑" panose="020B0503020204020204" pitchFamily="34" charset="-122"/>
              </a:rPr>
              <a:t>—</a:t>
            </a:r>
            <a:r>
              <a:rPr lang="zh-CN" altLang="en-US" dirty="0">
                <a:ea typeface="微软雅黑" panose="020B0503020204020204" pitchFamily="34" charset="-122"/>
              </a:rPr>
              <a:t>共享内存同步解决方案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334CEF54-31FE-4622-A1AD-C925710E51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2379" y="1339453"/>
            <a:ext cx="9011948" cy="4179094"/>
          </a:xfrm>
        </p:spPr>
        <p:txBody>
          <a:bodyPr/>
          <a:lstStyle/>
          <a:p>
            <a:r>
              <a:rPr lang="zh-CN" altLang="en-US" dirty="0">
                <a:ea typeface="微软雅黑" panose="020B0503020204020204" pitchFamily="34" charset="-122"/>
              </a:rPr>
              <a:t>有界缓冲区示例代码</a:t>
            </a:r>
            <a:r>
              <a:rPr lang="en-US" altLang="zh-CN" dirty="0">
                <a:ea typeface="微软雅黑" panose="020B0503020204020204" pitchFamily="34" charset="-122"/>
              </a:rPr>
              <a:t>—</a:t>
            </a:r>
            <a:r>
              <a:rPr lang="zh-CN" altLang="en-US" dirty="0">
                <a:ea typeface="微软雅黑" panose="020B0503020204020204" pitchFamily="34" charset="-122"/>
              </a:rPr>
              <a:t>双指针循环队列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ea typeface="微软雅黑" panose="020B0503020204020204" pitchFamily="34" charset="-122"/>
            </a:endParaRPr>
          </a:p>
          <a:p>
            <a:pPr marL="3948113" lvl="3" indent="0">
              <a:buNone/>
            </a:pP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9667FB-6CFD-49BE-8C74-304369A815BB}"/>
              </a:ext>
            </a:extLst>
          </p:cNvPr>
          <p:cNvSpPr/>
          <p:nvPr/>
        </p:nvSpPr>
        <p:spPr>
          <a:xfrm>
            <a:off x="-2784547" y="2239431"/>
            <a:ext cx="7962900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48113" lvl="3" indent="0">
              <a:lnSpc>
                <a:spcPct val="150000"/>
              </a:lnSpc>
              <a:buNone/>
            </a:pPr>
            <a:r>
              <a:rPr lang="en-US" altLang="zh-CN" dirty="0">
                <a:ea typeface="微软雅黑" panose="020B0503020204020204" pitchFamily="34" charset="-122"/>
              </a:rPr>
              <a:t>#define BUFFER_SIZE 10</a:t>
            </a:r>
          </a:p>
          <a:p>
            <a:pPr marL="3948113" lvl="3" indent="0">
              <a:lnSpc>
                <a:spcPct val="150000"/>
              </a:lnSpc>
              <a:buNone/>
            </a:pPr>
            <a:r>
              <a:rPr lang="en-US" altLang="zh-CN" dirty="0">
                <a:ea typeface="微软雅黑" panose="020B0503020204020204" pitchFamily="34" charset="-122"/>
              </a:rPr>
              <a:t>typedef struct {</a:t>
            </a:r>
          </a:p>
          <a:p>
            <a:pPr marL="3948113" lvl="3" indent="0">
              <a:lnSpc>
                <a:spcPct val="150000"/>
              </a:lnSpc>
              <a:buNone/>
            </a:pPr>
            <a:r>
              <a:rPr lang="en-US" altLang="zh-CN" dirty="0">
                <a:ea typeface="微软雅黑" panose="020B0503020204020204" pitchFamily="34" charset="-122"/>
              </a:rPr>
              <a:t>	. . .</a:t>
            </a:r>
          </a:p>
          <a:p>
            <a:pPr marL="3948113" lvl="3" indent="0">
              <a:lnSpc>
                <a:spcPct val="150000"/>
              </a:lnSpc>
              <a:buNone/>
            </a:pPr>
            <a:r>
              <a:rPr lang="en-US" altLang="zh-CN" dirty="0">
                <a:ea typeface="微软雅黑" panose="020B0503020204020204" pitchFamily="34" charset="-122"/>
              </a:rPr>
              <a:t>} item;</a:t>
            </a:r>
          </a:p>
          <a:p>
            <a:pPr marL="3948113" lvl="3" indent="0">
              <a:lnSpc>
                <a:spcPct val="150000"/>
              </a:lnSpc>
              <a:buNone/>
            </a:pPr>
            <a:endParaRPr lang="en-US" altLang="zh-CN" dirty="0">
              <a:ea typeface="微软雅黑" panose="020B0503020204020204" pitchFamily="34" charset="-122"/>
            </a:endParaRPr>
          </a:p>
          <a:p>
            <a:pPr marL="3948113" lvl="3" indent="0">
              <a:lnSpc>
                <a:spcPct val="150000"/>
              </a:lnSpc>
              <a:buNone/>
            </a:pPr>
            <a:r>
              <a:rPr lang="en-US" altLang="zh-CN" dirty="0">
                <a:ea typeface="微软雅黑" panose="020B0503020204020204" pitchFamily="34" charset="-122"/>
              </a:rPr>
              <a:t>item buffer[BUFFER_SIZE];</a:t>
            </a:r>
          </a:p>
          <a:p>
            <a:pPr marL="3948113" lvl="3" indent="0">
              <a:lnSpc>
                <a:spcPct val="150000"/>
              </a:lnSpc>
              <a:buNone/>
            </a:pPr>
            <a:r>
              <a:rPr lang="en-US" altLang="zh-CN" dirty="0">
                <a:ea typeface="微软雅黑" panose="020B0503020204020204" pitchFamily="34" charset="-122"/>
              </a:rPr>
              <a:t>int in = 0;</a:t>
            </a:r>
          </a:p>
          <a:p>
            <a:pPr marL="3948113" lvl="3" indent="0">
              <a:lnSpc>
                <a:spcPct val="150000"/>
              </a:lnSpc>
              <a:buNone/>
            </a:pPr>
            <a:r>
              <a:rPr lang="en-US" altLang="zh-CN" dirty="0">
                <a:ea typeface="微软雅黑" panose="020B0503020204020204" pitchFamily="34" charset="-122"/>
              </a:rPr>
              <a:t>int out = 0;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85F09B-D66C-4F0C-B86C-E3E7B062DD59}"/>
              </a:ext>
            </a:extLst>
          </p:cNvPr>
          <p:cNvSpPr txBox="1"/>
          <p:nvPr/>
        </p:nvSpPr>
        <p:spPr>
          <a:xfrm>
            <a:off x="6339840" y="4284443"/>
            <a:ext cx="5452533" cy="111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/>
              <a:t>in </a:t>
            </a:r>
            <a:r>
              <a:rPr lang="en-US" altLang="zh-CN" b="1" dirty="0">
                <a:solidFill>
                  <a:srgbClr val="0070C0"/>
                </a:solidFill>
              </a:rPr>
              <a:t>  </a:t>
            </a:r>
            <a:r>
              <a:rPr lang="zh-CN" altLang="en-US" b="1" dirty="0">
                <a:solidFill>
                  <a:srgbClr val="0070C0"/>
                </a:solidFill>
              </a:rPr>
              <a:t>指向队列第一个空的位置</a:t>
            </a:r>
            <a:endParaRPr lang="en-US" altLang="zh-CN" b="1" dirty="0">
              <a:solidFill>
                <a:srgbClr val="0070C0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b="1" dirty="0"/>
              <a:t>out</a:t>
            </a:r>
            <a:r>
              <a:rPr lang="en-US" altLang="zh-CN" b="1" dirty="0">
                <a:solidFill>
                  <a:srgbClr val="0070C0"/>
                </a:solidFill>
              </a:rPr>
              <a:t> </a:t>
            </a:r>
            <a:r>
              <a:rPr lang="zh-CN" altLang="en-US" b="1" dirty="0">
                <a:solidFill>
                  <a:srgbClr val="0070C0"/>
                </a:solidFill>
              </a:rPr>
              <a:t>指向队列第一个读出的位置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9183B31-2A50-4C7A-AFAC-8AABEB29CF2A}"/>
              </a:ext>
            </a:extLst>
          </p:cNvPr>
          <p:cNvGrpSpPr/>
          <p:nvPr/>
        </p:nvGrpSpPr>
        <p:grpSpPr>
          <a:xfrm>
            <a:off x="5238911" y="1949083"/>
            <a:ext cx="6035563" cy="2225233"/>
            <a:chOff x="5238911" y="1949083"/>
            <a:chExt cx="6035563" cy="222523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1C2C2EE-A403-41ED-8F41-86CDD74E5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38911" y="1949083"/>
              <a:ext cx="6035563" cy="2225233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759BD16-B16A-41F9-A315-65F9DD415218}"/>
                </a:ext>
              </a:extLst>
            </p:cNvPr>
            <p:cNvSpPr/>
            <p:nvPr/>
          </p:nvSpPr>
          <p:spPr bwMode="auto">
            <a:xfrm>
              <a:off x="7299739" y="2805490"/>
              <a:ext cx="711200" cy="25620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22DB6BD-5592-48E4-9C27-6BA20A74B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54913" y="3502227"/>
              <a:ext cx="616907" cy="3349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AF206460-B719-44EA-9C82-594F2F7EE1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41600" y="203201"/>
            <a:ext cx="7569200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有界缓冲区</a:t>
            </a:r>
            <a:r>
              <a:rPr lang="en-US" altLang="zh-CN">
                <a:ea typeface="微软雅黑" panose="020B0503020204020204" pitchFamily="34" charset="-122"/>
              </a:rPr>
              <a:t>——</a:t>
            </a:r>
            <a:r>
              <a:rPr lang="zh-CN" altLang="en-US">
                <a:ea typeface="微软雅黑" panose="020B0503020204020204" pitchFamily="34" charset="-122"/>
              </a:rPr>
              <a:t>生产者进程</a:t>
            </a:r>
            <a:endParaRPr lang="en-US" altLang="zh-CN">
              <a:ea typeface="微软雅黑" panose="020B0503020204020204" pitchFamily="34" charset="-122"/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F88C5E16-5EC0-48C5-83DC-BA9BC49D16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3845" y="1014413"/>
            <a:ext cx="9434080" cy="44831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zh-CN" sz="16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r>
              <a:rPr lang="en-US" altLang="zh-CN" dirty="0"/>
              <a:t>item </a:t>
            </a:r>
            <a:r>
              <a:rPr lang="en-US" altLang="zh-CN" dirty="0" err="1"/>
              <a:t>next_produced</a:t>
            </a:r>
            <a:r>
              <a:rPr lang="en-US" altLang="zh-CN" dirty="0"/>
              <a:t>; </a:t>
            </a:r>
          </a:p>
          <a:p>
            <a:pPr>
              <a:buFont typeface="Monotype Sorts" pitchFamily="-84" charset="2"/>
              <a:buNone/>
            </a:pPr>
            <a:r>
              <a:rPr lang="en-US" altLang="zh-CN" dirty="0"/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zh-CN" dirty="0"/>
              <a:t>	/* produce an item in next produced */ </a:t>
            </a:r>
          </a:p>
          <a:p>
            <a:pPr>
              <a:buFont typeface="Monotype Sorts" pitchFamily="-84" charset="2"/>
              <a:buNone/>
            </a:pPr>
            <a:r>
              <a:rPr lang="en-US" altLang="zh-CN" dirty="0"/>
              <a:t>	while (((in + 1) % BUFFER_SIZE) == out) </a:t>
            </a:r>
          </a:p>
          <a:p>
            <a:pPr>
              <a:buFont typeface="Monotype Sorts" pitchFamily="-84" charset="2"/>
              <a:buNone/>
            </a:pPr>
            <a:r>
              <a:rPr lang="en-US" altLang="zh-CN" dirty="0"/>
              <a:t>		; /* do nothing */ </a:t>
            </a:r>
          </a:p>
          <a:p>
            <a:pPr>
              <a:buFont typeface="Monotype Sorts" pitchFamily="-84" charset="2"/>
              <a:buNone/>
            </a:pPr>
            <a:r>
              <a:rPr lang="en-US" altLang="zh-CN" dirty="0"/>
              <a:t>	buffer[in] = </a:t>
            </a:r>
            <a:r>
              <a:rPr lang="en-US" altLang="zh-CN" dirty="0" err="1"/>
              <a:t>next_produced</a:t>
            </a:r>
            <a:r>
              <a:rPr lang="en-US" altLang="zh-CN" dirty="0"/>
              <a:t>; </a:t>
            </a:r>
          </a:p>
          <a:p>
            <a:pPr>
              <a:buFont typeface="Monotype Sorts" pitchFamily="-84" charset="2"/>
              <a:buNone/>
            </a:pPr>
            <a:r>
              <a:rPr lang="en-US" altLang="zh-CN" dirty="0"/>
              <a:t>	in = (in + 1) % BUFFER_SIZE; </a:t>
            </a:r>
          </a:p>
          <a:p>
            <a:pPr>
              <a:buFont typeface="Monotype Sorts" pitchFamily="-84" charset="2"/>
              <a:buNone/>
            </a:pPr>
            <a:r>
              <a:rPr lang="en-US" altLang="zh-CN" dirty="0"/>
              <a:t>} </a:t>
            </a:r>
          </a:p>
          <a:p>
            <a:pPr>
              <a:buFont typeface="Monotype Sorts" pitchFamily="-84" charset="2"/>
              <a:buNone/>
            </a:pPr>
            <a:endParaRPr lang="en-US" altLang="zh-CN" sz="20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zh-CN" sz="2000" dirty="0"/>
          </a:p>
          <a:p>
            <a:pPr>
              <a:buFont typeface="Monotype Sorts" pitchFamily="-84" charset="2"/>
              <a:buNone/>
            </a:pPr>
            <a:r>
              <a:rPr lang="en-US" altLang="zh-CN" sz="1400" dirty="0"/>
              <a:t>	</a:t>
            </a:r>
          </a:p>
          <a:p>
            <a:pPr marL="7169150" lvl="4">
              <a:buNone/>
            </a:pPr>
            <a:endParaRPr lang="en-US" altLang="zh-CN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D197A6-576F-4C84-A0E7-A2EE8521C14F}"/>
              </a:ext>
            </a:extLst>
          </p:cNvPr>
          <p:cNvSpPr/>
          <p:nvPr/>
        </p:nvSpPr>
        <p:spPr bwMode="auto">
          <a:xfrm>
            <a:off x="955964" y="2337956"/>
            <a:ext cx="6307281" cy="1447944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2BE7C5-03EF-4628-98BA-34059C3F314F}"/>
              </a:ext>
            </a:extLst>
          </p:cNvPr>
          <p:cNvSpPr/>
          <p:nvPr/>
        </p:nvSpPr>
        <p:spPr>
          <a:xfrm>
            <a:off x="7335982" y="2693630"/>
            <a:ext cx="3127663" cy="562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生产者等待缓冲区空闲</a:t>
            </a:r>
            <a:endParaRPr lang="en-US" altLang="zh-CN" b="1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>
            <a:extLst>
              <a:ext uri="{FF2B5EF4-FFF2-40B4-BE49-F238E27FC236}">
                <a16:creationId xmlns:a16="http://schemas.microsoft.com/office/drawing/2014/main" id="{1E1F9E2B-77F2-4278-AB8D-81D57DA152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7249" y="1223168"/>
            <a:ext cx="6894512" cy="4411663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item next_consumed; </a:t>
            </a:r>
          </a:p>
          <a:p>
            <a:pPr marL="0" indent="0">
              <a:buNone/>
            </a:pPr>
            <a:r>
              <a:rPr lang="en-US" altLang="zh-CN"/>
              <a:t>while (true) {</a:t>
            </a:r>
            <a:br>
              <a:rPr lang="en-US" altLang="zh-CN"/>
            </a:br>
            <a:r>
              <a:rPr lang="en-US" altLang="zh-CN"/>
              <a:t>	while (in == out) </a:t>
            </a:r>
          </a:p>
          <a:p>
            <a:pPr marL="0" indent="0">
              <a:buNone/>
            </a:pPr>
            <a:r>
              <a:rPr lang="en-US" altLang="zh-CN"/>
              <a:t>		; /* do nothing */</a:t>
            </a:r>
            <a:br>
              <a:rPr lang="en-US" altLang="zh-CN"/>
            </a:br>
            <a:r>
              <a:rPr lang="en-US" altLang="zh-CN"/>
              <a:t>	next_consumed = buffer[out]; </a:t>
            </a:r>
          </a:p>
          <a:p>
            <a:pPr marL="0" indent="0">
              <a:buNone/>
            </a:pPr>
            <a:r>
              <a:rPr lang="en-US" altLang="zh-CN"/>
              <a:t>	out = (out + 1) % BUFFER_SIZE;</a:t>
            </a:r>
            <a:br>
              <a:rPr lang="en-US" altLang="zh-CN"/>
            </a:br>
            <a:endParaRPr lang="en-US" altLang="zh-CN"/>
          </a:p>
          <a:p>
            <a:pPr marL="0" indent="0">
              <a:buNone/>
            </a:pPr>
            <a:r>
              <a:rPr lang="en-US" altLang="zh-CN"/>
              <a:t>	/* consume the item in next consumed */ </a:t>
            </a:r>
          </a:p>
          <a:p>
            <a:pPr marL="0" indent="0">
              <a:buNone/>
            </a:pPr>
            <a:r>
              <a:rPr lang="en-US" altLang="zh-CN"/>
              <a:t>} </a:t>
            </a:r>
            <a:endParaRPr lang="en-US" altLang="zh-CN">
              <a:cs typeface="Courier New" panose="02070309020205020404" pitchFamily="49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6B6AC8FA-F679-49AA-B0D3-ABF4972936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41600" y="203201"/>
            <a:ext cx="7569200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有界缓冲区</a:t>
            </a:r>
            <a:r>
              <a:rPr lang="en-US" altLang="zh-CN">
                <a:ea typeface="微软雅黑" panose="020B0503020204020204" pitchFamily="34" charset="-122"/>
              </a:rPr>
              <a:t>——</a:t>
            </a:r>
            <a:r>
              <a:rPr lang="zh-CN" altLang="en-US">
                <a:ea typeface="微软雅黑" panose="020B0503020204020204" pitchFamily="34" charset="-122"/>
              </a:rPr>
              <a:t>消费者进程</a:t>
            </a:r>
            <a:endParaRPr lang="en-US" altLang="zh-CN"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6145EF-CADA-4A03-A669-73B66E02131F}"/>
              </a:ext>
            </a:extLst>
          </p:cNvPr>
          <p:cNvSpPr/>
          <p:nvPr/>
        </p:nvSpPr>
        <p:spPr bwMode="auto">
          <a:xfrm>
            <a:off x="1080654" y="2123714"/>
            <a:ext cx="5268191" cy="904008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5A1571-F9D7-4C4D-BA51-22CFB4CFA03E}"/>
              </a:ext>
            </a:extLst>
          </p:cNvPr>
          <p:cNvSpPr/>
          <p:nvPr/>
        </p:nvSpPr>
        <p:spPr>
          <a:xfrm>
            <a:off x="6348845" y="2123714"/>
            <a:ext cx="3127663" cy="562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消费者等待数据准备好</a:t>
            </a:r>
            <a:endParaRPr lang="en-US" altLang="zh-CN" b="1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8A81CCAD-37B3-447D-8BC0-20CF8C520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1238" y="2270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进程间通信</a:t>
            </a:r>
            <a:r>
              <a:rPr lang="en-US" altLang="zh-CN">
                <a:ea typeface="微软雅黑" panose="020B0503020204020204" pitchFamily="34" charset="-122"/>
              </a:rPr>
              <a:t>——</a:t>
            </a:r>
            <a:r>
              <a:rPr lang="zh-CN" altLang="en-US">
                <a:ea typeface="微软雅黑" panose="020B0503020204020204" pitchFamily="34" charset="-122"/>
              </a:rPr>
              <a:t>共享内存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FC76D67-8A14-4C1D-AD9B-431BD30E2C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3845" y="1163637"/>
            <a:ext cx="11222182" cy="4530725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需要通信的进程之间建立共享内存区域</a:t>
            </a:r>
          </a:p>
          <a:p>
            <a:pPr>
              <a:lnSpc>
                <a:spcPct val="2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通信受控于用户进程，而非操作系统</a:t>
            </a: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主要问题是</a:t>
            </a:r>
            <a:r>
              <a:rPr lang="zh-CN" altLang="en-US" dirty="0">
                <a:solidFill>
                  <a:srgbClr val="0070C0"/>
                </a:solidFill>
                <a:ea typeface="微软雅黑" panose="020B0503020204020204" pitchFamily="34" charset="-122"/>
              </a:rPr>
              <a:t>提供一种机制，允许用户进程在访问共享内存时同步它们的操作</a:t>
            </a:r>
          </a:p>
          <a:p>
            <a:pPr>
              <a:lnSpc>
                <a:spcPct val="2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同步会在第 </a:t>
            </a:r>
            <a:r>
              <a:rPr lang="en-US" altLang="zh-CN" dirty="0">
                <a:ea typeface="微软雅黑" panose="020B0503020204020204" pitchFamily="34" charset="-122"/>
              </a:rPr>
              <a:t>5 </a:t>
            </a:r>
            <a:r>
              <a:rPr lang="zh-CN" altLang="en-US" dirty="0">
                <a:ea typeface="微软雅黑" panose="020B0503020204020204" pitchFamily="34" charset="-122"/>
              </a:rPr>
              <a:t>章详细讨论</a:t>
            </a:r>
            <a:endParaRPr lang="en-US" altLang="en-US" dirty="0"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endParaRPr lang="en-US" altLang="en-US" dirty="0"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250000"/>
              </a:lnSpc>
              <a:buFont typeface="Monotype Sorts" pitchFamily="-84" charset="2"/>
              <a:buNone/>
            </a:pP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733E4781-F641-4CB5-8499-990235F189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84400" y="2111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进程间通信</a:t>
            </a:r>
            <a:r>
              <a:rPr lang="en-US" altLang="zh-CN">
                <a:ea typeface="微软雅黑" panose="020B0503020204020204" pitchFamily="34" charset="-122"/>
              </a:rPr>
              <a:t>——</a:t>
            </a:r>
            <a:r>
              <a:rPr lang="zh-CN" altLang="en-US">
                <a:ea typeface="微软雅黑" panose="020B0503020204020204" pitchFamily="34" charset="-122"/>
              </a:rPr>
              <a:t>消息传递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3B4D2910-8EC3-4E7E-9FD6-646B58B198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81891" y="1201739"/>
            <a:ext cx="10900064" cy="4530725"/>
          </a:xfrm>
        </p:spPr>
        <p:txBody>
          <a:bodyPr/>
          <a:lstStyle/>
          <a:p>
            <a:r>
              <a:rPr lang="zh-CN" altLang="en-US" dirty="0">
                <a:ea typeface="微软雅黑" panose="020B0503020204020204" pitchFamily="34" charset="-122"/>
              </a:rPr>
              <a:t>进程通信和同步动作的机制</a:t>
            </a:r>
          </a:p>
          <a:p>
            <a:endParaRPr lang="en-US" altLang="en-US" dirty="0">
              <a:ea typeface="微软雅黑" panose="020B0503020204020204" pitchFamily="34" charset="-122"/>
            </a:endParaRPr>
          </a:p>
          <a:p>
            <a:r>
              <a:rPr lang="zh-CN" altLang="en-US" dirty="0">
                <a:ea typeface="微软雅黑" panose="020B0503020204020204" pitchFamily="34" charset="-122"/>
              </a:rPr>
              <a:t>消息系统</a:t>
            </a:r>
            <a:r>
              <a:rPr lang="en-US" altLang="zh-CN" dirty="0">
                <a:ea typeface="微软雅黑" panose="020B0503020204020204" pitchFamily="34" charset="-122"/>
              </a:rPr>
              <a:t>—</a:t>
            </a:r>
            <a:r>
              <a:rPr lang="zh-CN" altLang="en-US" b="0" dirty="0">
                <a:ea typeface="微软雅黑" panose="020B0503020204020204" pitchFamily="34" charset="-122"/>
              </a:rPr>
              <a:t>进程之间相互通信，无需借助共享变量</a:t>
            </a:r>
            <a:endParaRPr lang="en-US" altLang="en-US" b="0" dirty="0">
              <a:ea typeface="微软雅黑" panose="020B0503020204020204" pitchFamily="34" charset="-122"/>
            </a:endParaRPr>
          </a:p>
          <a:p>
            <a:endParaRPr lang="en-US" altLang="en-US" dirty="0">
              <a:ea typeface="微软雅黑" panose="020B0503020204020204" pitchFamily="34" charset="-122"/>
            </a:endParaRPr>
          </a:p>
          <a:p>
            <a:r>
              <a:rPr lang="zh-CN" altLang="en-US" b="0" dirty="0">
                <a:ea typeface="微软雅黑" panose="020B0503020204020204" pitchFamily="34" charset="-122"/>
              </a:rPr>
              <a:t>消息传递系统提供至少两种操作</a:t>
            </a:r>
            <a:endParaRPr lang="en-US" altLang="en-US" b="0" dirty="0">
              <a:ea typeface="微软雅黑" panose="020B0503020204020204" pitchFamily="34" charset="-122"/>
            </a:endParaRPr>
          </a:p>
          <a:p>
            <a:pPr lvl="1"/>
            <a:r>
              <a:rPr lang="en-US" altLang="en-US" b="1" dirty="0">
                <a:solidFill>
                  <a:srgbClr val="0070C0"/>
                </a:solidFill>
                <a:ea typeface="微软雅黑" panose="020B0503020204020204" pitchFamily="34" charset="-122"/>
              </a:rPr>
              <a:t>send</a:t>
            </a:r>
            <a:r>
              <a:rPr lang="en-US" altLang="en-US" dirty="0">
                <a:solidFill>
                  <a:srgbClr val="0070C0"/>
                </a:solidFill>
                <a:ea typeface="微软雅黑" panose="020B0503020204020204" pitchFamily="34" charset="-122"/>
              </a:rPr>
              <a:t>(message)</a:t>
            </a:r>
          </a:p>
          <a:p>
            <a:pPr lvl="1"/>
            <a:r>
              <a:rPr lang="en-US" altLang="en-US" b="1" dirty="0">
                <a:solidFill>
                  <a:srgbClr val="0070C0"/>
                </a:solidFill>
                <a:ea typeface="微软雅黑" panose="020B0503020204020204" pitchFamily="34" charset="-122"/>
              </a:rPr>
              <a:t>receive</a:t>
            </a:r>
            <a:r>
              <a:rPr lang="en-US" altLang="en-US" dirty="0">
                <a:solidFill>
                  <a:srgbClr val="0070C0"/>
                </a:solidFill>
                <a:ea typeface="微软雅黑" panose="020B0503020204020204" pitchFamily="34" charset="-122"/>
              </a:rPr>
              <a:t>(message)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>
              <a:ea typeface="微软雅黑" panose="020B0503020204020204" pitchFamily="34" charset="-122"/>
            </a:endParaRPr>
          </a:p>
          <a:p>
            <a:r>
              <a:rPr lang="zh-CN" altLang="en-US" b="0" dirty="0">
                <a:ea typeface="微软雅黑" panose="020B0503020204020204" pitchFamily="34" charset="-122"/>
              </a:rPr>
              <a:t>进程发送的消息可以是</a:t>
            </a:r>
            <a:r>
              <a:rPr lang="zh-CN" altLang="en-US" dirty="0">
                <a:ea typeface="微软雅黑" panose="020B0503020204020204" pitchFamily="34" charset="-122"/>
              </a:rPr>
              <a:t>定长的</a:t>
            </a:r>
            <a:r>
              <a:rPr lang="zh-CN" altLang="en-US" b="0" dirty="0">
                <a:ea typeface="微软雅黑" panose="020B0503020204020204" pitchFamily="34" charset="-122"/>
              </a:rPr>
              <a:t>或</a:t>
            </a:r>
            <a:r>
              <a:rPr lang="zh-CN" altLang="en-US" dirty="0">
                <a:ea typeface="微软雅黑" panose="020B0503020204020204" pitchFamily="34" charset="-122"/>
              </a:rPr>
              <a:t>变长的</a:t>
            </a: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63AE9271-5ADC-4313-8551-81F55909B2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1425" y="2492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消息传递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DD7EED47-B4B1-492C-B787-EBC269B9C9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3845" y="1067956"/>
            <a:ext cx="10661073" cy="522893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如果进程</a:t>
            </a:r>
            <a:r>
              <a:rPr lang="en-US" altLang="zh-CN" dirty="0">
                <a:ea typeface="微软雅黑" panose="020B0503020204020204" pitchFamily="34" charset="-122"/>
              </a:rPr>
              <a:t>P</a:t>
            </a:r>
            <a:r>
              <a:rPr lang="zh-CN" altLang="en-US" dirty="0"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ea typeface="微软雅黑" panose="020B0503020204020204" pitchFamily="34" charset="-122"/>
              </a:rPr>
              <a:t>Q</a:t>
            </a:r>
            <a:r>
              <a:rPr lang="zh-CN" altLang="en-US" dirty="0">
                <a:ea typeface="微软雅黑" panose="020B0503020204020204" pitchFamily="34" charset="-122"/>
              </a:rPr>
              <a:t>希望进行通信，它们需要：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在它们之间建立</a:t>
            </a:r>
            <a:r>
              <a:rPr lang="zh-CN" altLang="en-US" b="1" dirty="0">
                <a:ea typeface="微软雅黑" panose="020B0503020204020204" pitchFamily="34" charset="-122"/>
              </a:rPr>
              <a:t>通信链路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通过</a:t>
            </a:r>
            <a:r>
              <a:rPr lang="zh-CN" altLang="en-US" b="1" dirty="0">
                <a:ea typeface="微软雅黑" panose="020B0503020204020204" pitchFamily="34" charset="-122"/>
              </a:rPr>
              <a:t>发送</a:t>
            </a:r>
            <a:r>
              <a:rPr lang="en-US" altLang="zh-CN" b="1" dirty="0"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ea typeface="微软雅黑" panose="020B0503020204020204" pitchFamily="34" charset="-122"/>
              </a:rPr>
              <a:t>接收</a:t>
            </a:r>
            <a:r>
              <a:rPr lang="en-US" altLang="zh-CN" b="1" dirty="0">
                <a:ea typeface="微软雅黑" panose="020B0503020204020204" pitchFamily="34" charset="-122"/>
              </a:rPr>
              <a:t>(send/receive)</a:t>
            </a:r>
            <a:r>
              <a:rPr lang="zh-CN" altLang="en-US" dirty="0">
                <a:ea typeface="微软雅黑" panose="020B0503020204020204" pitchFamily="34" charset="-122"/>
              </a:rPr>
              <a:t>交换消息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/>
              <a:t>需要解决的</a:t>
            </a:r>
            <a:r>
              <a:rPr lang="zh-CN" altLang="en-US">
                <a:ea typeface="微软雅黑" panose="020B0503020204020204" pitchFamily="34" charset="-122"/>
              </a:rPr>
              <a:t>问题</a:t>
            </a:r>
            <a:r>
              <a:rPr lang="zh-CN" altLang="en-US" dirty="0">
                <a:ea typeface="微软雅黑" panose="020B0503020204020204" pitchFamily="34" charset="-122"/>
              </a:rPr>
              <a:t>：</a:t>
            </a: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如何建立链路？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链路是否可以与两个以上的进程关联？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每对通信进程之间可以有多少链路？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链路的容量是多少？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链路可以容纳的消息大小是固定的还是可变的？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链路是单向的还是双向的？</a:t>
            </a:r>
            <a:endParaRPr lang="en-US" altLang="en-US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Monotype Sorts" pitchFamily="-84" charset="2"/>
              <a:buNone/>
            </a:pP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>
            <a:extLst>
              <a:ext uri="{FF2B5EF4-FFF2-40B4-BE49-F238E27FC236}">
                <a16:creationId xmlns:a16="http://schemas.microsoft.com/office/drawing/2014/main" id="{990721C5-BE72-4612-B0F7-0A57CD2236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4236" y="892175"/>
            <a:ext cx="9486469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通信链路的实现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物理：</a:t>
            </a:r>
          </a:p>
          <a:p>
            <a:pPr lvl="2">
              <a:lnSpc>
                <a:spcPct val="150000"/>
              </a:lnSpc>
            </a:pPr>
            <a:r>
              <a:rPr lang="zh-CN" altLang="en-US" sz="2000" b="1" dirty="0">
                <a:ea typeface="微软雅黑" panose="020B0503020204020204" pitchFamily="34" charset="-122"/>
              </a:rPr>
              <a:t>共享内存</a:t>
            </a:r>
          </a:p>
          <a:p>
            <a:pPr lvl="2">
              <a:lnSpc>
                <a:spcPct val="150000"/>
              </a:lnSpc>
            </a:pPr>
            <a:r>
              <a:rPr lang="zh-CN" altLang="en-US" sz="2000" b="1" dirty="0">
                <a:ea typeface="微软雅黑" panose="020B0503020204020204" pitchFamily="34" charset="-122"/>
              </a:rPr>
              <a:t>硬件总线</a:t>
            </a:r>
          </a:p>
          <a:p>
            <a:pPr lvl="2">
              <a:lnSpc>
                <a:spcPct val="150000"/>
              </a:lnSpc>
            </a:pPr>
            <a:r>
              <a:rPr lang="zh-CN" altLang="en-US" sz="2000" b="1" dirty="0">
                <a:ea typeface="微软雅黑" panose="020B0503020204020204" pitchFamily="34" charset="-122"/>
              </a:rPr>
              <a:t>网络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逻辑：</a:t>
            </a:r>
          </a:p>
          <a:p>
            <a:pPr lvl="2">
              <a:lnSpc>
                <a:spcPct val="150000"/>
              </a:lnSpc>
            </a:pPr>
            <a:r>
              <a:rPr lang="zh-CN" altLang="en-US" sz="2000" b="1" dirty="0">
                <a:ea typeface="微软雅黑" panose="020B0503020204020204" pitchFamily="34" charset="-122"/>
              </a:rPr>
              <a:t>直接或间接的通信</a:t>
            </a:r>
            <a:endParaRPr lang="en-US" altLang="zh-CN" sz="2000" b="1" dirty="0"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000" b="1" dirty="0">
                <a:ea typeface="微软雅黑" panose="020B0503020204020204" pitchFamily="34" charset="-122"/>
              </a:rPr>
              <a:t>同步或异步的通信</a:t>
            </a:r>
          </a:p>
          <a:p>
            <a:pPr lvl="2">
              <a:lnSpc>
                <a:spcPct val="150000"/>
              </a:lnSpc>
            </a:pPr>
            <a:r>
              <a:rPr lang="zh-CN" altLang="en-US" sz="2000" b="1" dirty="0">
                <a:ea typeface="微软雅黑" panose="020B0503020204020204" pitchFamily="34" charset="-122"/>
              </a:rPr>
              <a:t>自动或显式的缓冲</a:t>
            </a:r>
            <a:endParaRPr lang="en-US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C1113816-C3ED-443E-B5E5-7CDF7A99A6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3159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消息传递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AB776E09-D008-4801-8A25-E613F48D56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7801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直接通信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7D05345-FF53-42B2-BE5A-9FE88BBFD0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4236" y="1138239"/>
            <a:ext cx="10806546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需要通信的每个进程必须明确指定通信的接收者或发送者</a:t>
            </a: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en-US" b="1" dirty="0">
                <a:ea typeface="微软雅黑" panose="020B0503020204020204" pitchFamily="34" charset="-122"/>
              </a:rPr>
              <a:t>send</a:t>
            </a:r>
            <a:r>
              <a:rPr lang="en-US" altLang="en-US" dirty="0">
                <a:ea typeface="微软雅黑" panose="020B0503020204020204" pitchFamily="34" charset="-122"/>
              </a:rPr>
              <a:t> (</a:t>
            </a:r>
            <a:r>
              <a:rPr lang="en-US" altLang="en-US" i="1" dirty="0">
                <a:ea typeface="微软雅黑" panose="020B0503020204020204" pitchFamily="34" charset="-122"/>
              </a:rPr>
              <a:t>P, message</a:t>
            </a:r>
            <a:r>
              <a:rPr lang="en-US" altLang="en-US" dirty="0">
                <a:ea typeface="微软雅黑" panose="020B0503020204020204" pitchFamily="34" charset="-122"/>
              </a:rPr>
              <a:t>) – </a:t>
            </a:r>
            <a:r>
              <a:rPr lang="zh-CN" altLang="en-US" dirty="0">
                <a:ea typeface="微软雅黑" panose="020B0503020204020204" pitchFamily="34" charset="-122"/>
              </a:rPr>
              <a:t>向进程 </a:t>
            </a:r>
            <a:r>
              <a:rPr lang="en-US" altLang="en-US" dirty="0">
                <a:ea typeface="微软雅黑" panose="020B0503020204020204" pitchFamily="34" charset="-122"/>
              </a:rPr>
              <a:t>P</a:t>
            </a:r>
            <a:r>
              <a:rPr lang="zh-CN" altLang="en-US" dirty="0">
                <a:ea typeface="微软雅黑" panose="020B0503020204020204" pitchFamily="34" charset="-122"/>
              </a:rPr>
              <a:t>发送消息</a:t>
            </a: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en-US" b="1" dirty="0">
                <a:ea typeface="微软雅黑" panose="020B0503020204020204" pitchFamily="34" charset="-122"/>
              </a:rPr>
              <a:t>receive</a:t>
            </a:r>
            <a:r>
              <a:rPr lang="en-US" altLang="en-US" dirty="0">
                <a:ea typeface="微软雅黑" panose="020B0503020204020204" pitchFamily="34" charset="-122"/>
              </a:rPr>
              <a:t>(</a:t>
            </a:r>
            <a:r>
              <a:rPr lang="en-US" altLang="en-US" i="1" dirty="0">
                <a:ea typeface="微软雅黑" panose="020B0503020204020204" pitchFamily="34" charset="-122"/>
              </a:rPr>
              <a:t>Q, message</a:t>
            </a:r>
            <a:r>
              <a:rPr lang="en-US" altLang="en-US" dirty="0">
                <a:ea typeface="微软雅黑" panose="020B0503020204020204" pitchFamily="34" charset="-122"/>
              </a:rPr>
              <a:t>) – </a:t>
            </a:r>
            <a:r>
              <a:rPr lang="zh-CN" altLang="en-US" dirty="0">
                <a:ea typeface="微软雅黑" panose="020B0503020204020204" pitchFamily="34" charset="-122"/>
              </a:rPr>
              <a:t>从进程</a:t>
            </a:r>
            <a:r>
              <a:rPr lang="en-US" altLang="zh-CN" dirty="0">
                <a:ea typeface="微软雅黑" panose="020B0503020204020204" pitchFamily="34" charset="-122"/>
              </a:rPr>
              <a:t>Q</a:t>
            </a:r>
            <a:r>
              <a:rPr lang="zh-CN" altLang="en-US" dirty="0">
                <a:ea typeface="微软雅黑" panose="020B0503020204020204" pitchFamily="34" charset="-122"/>
              </a:rPr>
              <a:t>接收消息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通信链路具有以下属性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在需要通信的每对进程之间， 自动建立链路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每个链路只与两个进程相关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每对进程之间只有一个链路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链路可能是单向的，但通常是双向的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0C1A111B-ADC8-460D-9D79-700E471986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间接通信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2A3CACF6-AEFB-4FEF-8673-EDC7E7B6D3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3064" y="1166813"/>
            <a:ext cx="10837718" cy="41592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消息从邮箱（也称为端口）发送和接收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每个邮箱都有一个唯一的</a:t>
            </a:r>
            <a:r>
              <a:rPr lang="en-US" altLang="zh-CN" dirty="0">
                <a:ea typeface="微软雅黑" panose="020B0503020204020204" pitchFamily="34" charset="-122"/>
              </a:rPr>
              <a:t>id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进程只有在共享邮箱时才能通信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通信链路的特点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只有在两个进程共享一个邮箱时， 才能建立通信链路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一个链路可以与多个进程相关联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每对进程可以共享多个通信链路，每个链路对应一个邮箱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链路可以是单向或双向的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21791321-1EAC-4C41-B385-9935C488F3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1" y="1135063"/>
            <a:ext cx="9256714" cy="38211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操作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创建新的邮箱</a:t>
            </a:r>
            <a:endParaRPr lang="en-US" altLang="zh-CN" b="1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通过邮箱发送和接收消息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删除邮箱</a:t>
            </a:r>
            <a:endParaRPr lang="en-US" altLang="en-US" b="1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原语定义如下：</a:t>
            </a:r>
            <a:endParaRPr lang="en-US" altLang="en-US" b="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r>
              <a:rPr lang="en-US" altLang="en-US" dirty="0">
                <a:ea typeface="微软雅黑" panose="020B0503020204020204" pitchFamily="34" charset="-122"/>
              </a:rPr>
              <a:t>	</a:t>
            </a:r>
            <a:r>
              <a:rPr lang="en-US" altLang="en-US" b="1" dirty="0">
                <a:solidFill>
                  <a:srgbClr val="0070C0"/>
                </a:solidFill>
                <a:ea typeface="微软雅黑" panose="020B0503020204020204" pitchFamily="34" charset="-122"/>
              </a:rPr>
              <a:t>send</a:t>
            </a:r>
            <a:r>
              <a:rPr lang="en-US" altLang="en-US" dirty="0">
                <a:solidFill>
                  <a:srgbClr val="0070C0"/>
                </a:solidFill>
                <a:ea typeface="微软雅黑" panose="020B0503020204020204" pitchFamily="34" charset="-122"/>
              </a:rPr>
              <a:t>(</a:t>
            </a:r>
            <a:r>
              <a:rPr lang="en-US" altLang="en-US" i="1" dirty="0">
                <a:solidFill>
                  <a:srgbClr val="0070C0"/>
                </a:solidFill>
                <a:ea typeface="微软雅黑" panose="020B0503020204020204" pitchFamily="34" charset="-122"/>
              </a:rPr>
              <a:t>A, message</a:t>
            </a:r>
            <a:r>
              <a:rPr lang="en-US" altLang="en-US" dirty="0">
                <a:solidFill>
                  <a:srgbClr val="0070C0"/>
                </a:solidFill>
                <a:ea typeface="微软雅黑" panose="020B0503020204020204" pitchFamily="34" charset="-122"/>
              </a:rPr>
              <a:t>) </a:t>
            </a:r>
            <a:r>
              <a:rPr lang="en-US" altLang="en-US" dirty="0"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ea typeface="微软雅黑" panose="020B0503020204020204" pitchFamily="34" charset="-122"/>
              </a:rPr>
              <a:t>向邮箱 </a:t>
            </a:r>
            <a:r>
              <a:rPr lang="en-US" altLang="en-US" dirty="0">
                <a:ea typeface="微软雅黑" panose="020B0503020204020204" pitchFamily="34" charset="-122"/>
              </a:rPr>
              <a:t>A </a:t>
            </a:r>
            <a:r>
              <a:rPr lang="zh-CN" altLang="en-US" dirty="0">
                <a:ea typeface="微软雅黑" panose="020B0503020204020204" pitchFamily="34" charset="-122"/>
              </a:rPr>
              <a:t>发送消息</a:t>
            </a: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r>
              <a:rPr lang="en-US" altLang="en-US" dirty="0">
                <a:ea typeface="微软雅黑" panose="020B0503020204020204" pitchFamily="34" charset="-122"/>
              </a:rPr>
              <a:t>	</a:t>
            </a:r>
            <a:r>
              <a:rPr lang="en-US" altLang="en-US" b="1" dirty="0">
                <a:solidFill>
                  <a:srgbClr val="0070C0"/>
                </a:solidFill>
                <a:ea typeface="微软雅黑" panose="020B0503020204020204" pitchFamily="34" charset="-122"/>
              </a:rPr>
              <a:t>receive</a:t>
            </a:r>
            <a:r>
              <a:rPr lang="en-US" altLang="en-US" dirty="0">
                <a:solidFill>
                  <a:srgbClr val="0070C0"/>
                </a:solidFill>
                <a:ea typeface="微软雅黑" panose="020B0503020204020204" pitchFamily="34" charset="-122"/>
              </a:rPr>
              <a:t>(</a:t>
            </a:r>
            <a:r>
              <a:rPr lang="en-US" altLang="en-US" i="1" dirty="0">
                <a:solidFill>
                  <a:srgbClr val="0070C0"/>
                </a:solidFill>
                <a:ea typeface="微软雅黑" panose="020B0503020204020204" pitchFamily="34" charset="-122"/>
              </a:rPr>
              <a:t>A, message</a:t>
            </a:r>
            <a:r>
              <a:rPr lang="en-US" altLang="en-US" dirty="0">
                <a:solidFill>
                  <a:srgbClr val="0070C0"/>
                </a:solidFill>
                <a:ea typeface="微软雅黑" panose="020B0503020204020204" pitchFamily="34" charset="-122"/>
              </a:rPr>
              <a:t>) </a:t>
            </a:r>
            <a:r>
              <a:rPr lang="en-US" altLang="en-US" dirty="0"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ea typeface="微软雅黑" panose="020B0503020204020204" pitchFamily="34" charset="-122"/>
              </a:rPr>
              <a:t>从邮箱 </a:t>
            </a:r>
            <a:r>
              <a:rPr lang="en-US" altLang="en-US" dirty="0">
                <a:ea typeface="微软雅黑" panose="020B0503020204020204" pitchFamily="34" charset="-122"/>
              </a:rPr>
              <a:t>A </a:t>
            </a:r>
            <a:r>
              <a:rPr lang="zh-CN" altLang="en-US" dirty="0">
                <a:ea typeface="微软雅黑" panose="020B0503020204020204" pitchFamily="34" charset="-122"/>
              </a:rPr>
              <a:t>接收消息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03BE4171-51E5-4CB9-8074-5A555BBB00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38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间接通信</a:t>
            </a:r>
            <a:endParaRPr lang="en-US" altLang="en-US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3">
            <a:extLst>
              <a:ext uri="{FF2B5EF4-FFF2-40B4-BE49-F238E27FC236}">
                <a16:creationId xmlns:a16="http://schemas.microsoft.com/office/drawing/2014/main" id="{E8CEB3DC-1A6C-4A2A-A15E-8DAF90A68E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81891" y="1163639"/>
            <a:ext cx="10879282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邮箱共享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进程</a:t>
            </a:r>
            <a:r>
              <a:rPr lang="en-US" altLang="zh-CN" dirty="0">
                <a:ea typeface="微软雅黑" panose="020B0503020204020204" pitchFamily="34" charset="-122"/>
              </a:rPr>
              <a:t>P1</a:t>
            </a:r>
            <a:r>
              <a:rPr lang="zh-CN" altLang="en-US" dirty="0"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ea typeface="微软雅黑" panose="020B0503020204020204" pitchFamily="34" charset="-122"/>
              </a:rPr>
              <a:t>P2</a:t>
            </a:r>
            <a:r>
              <a:rPr lang="zh-CN" altLang="en-US" dirty="0"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ea typeface="微软雅黑" panose="020B0503020204020204" pitchFamily="34" charset="-122"/>
              </a:rPr>
              <a:t>P3</a:t>
            </a:r>
            <a:r>
              <a:rPr lang="zh-CN" altLang="en-US" dirty="0">
                <a:ea typeface="微软雅黑" panose="020B0503020204020204" pitchFamily="34" charset="-122"/>
              </a:rPr>
              <a:t>都共享邮箱</a:t>
            </a:r>
            <a:r>
              <a:rPr lang="en-US" altLang="zh-CN" dirty="0">
                <a:ea typeface="微软雅黑" panose="020B0503020204020204" pitchFamily="34" charset="-122"/>
              </a:rPr>
              <a:t>A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ea typeface="微软雅黑" panose="020B0503020204020204" pitchFamily="34" charset="-122"/>
              </a:rPr>
              <a:t>P1</a:t>
            </a:r>
            <a:r>
              <a:rPr lang="zh-CN" altLang="en-US" dirty="0">
                <a:ea typeface="微软雅黑" panose="020B0503020204020204" pitchFamily="34" charset="-122"/>
              </a:rPr>
              <a:t>发送消息；</a:t>
            </a:r>
            <a:r>
              <a:rPr lang="en-US" altLang="zh-CN" dirty="0">
                <a:ea typeface="微软雅黑" panose="020B0503020204020204" pitchFamily="34" charset="-122"/>
              </a:rPr>
              <a:t>P2</a:t>
            </a:r>
            <a:r>
              <a:rPr lang="zh-CN" altLang="en-US" dirty="0"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ea typeface="微软雅黑" panose="020B0503020204020204" pitchFamily="34" charset="-122"/>
              </a:rPr>
              <a:t>P3</a:t>
            </a:r>
            <a:r>
              <a:rPr lang="zh-CN" altLang="en-US" dirty="0">
                <a:ea typeface="微软雅黑" panose="020B0503020204020204" pitchFamily="34" charset="-122"/>
              </a:rPr>
              <a:t>接收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谁将收到消息？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解决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允许一个链路最多只能与两个进程关联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允许一次最多一个进程执行</a:t>
            </a:r>
            <a:r>
              <a:rPr lang="en-US" altLang="zh-CN" dirty="0">
                <a:ea typeface="微软雅黑" panose="020B0503020204020204" pitchFamily="34" charset="-122"/>
              </a:rPr>
              <a:t>receive()</a:t>
            </a:r>
            <a:r>
              <a:rPr lang="zh-CN" altLang="en-US" dirty="0">
                <a:ea typeface="微软雅黑" panose="020B0503020204020204" pitchFamily="34" charset="-122"/>
              </a:rPr>
              <a:t>操作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允许系统随意选择一个进程接收消息，并通知发送方接收者是谁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8E8C10C2-E97E-4EE8-8575-B011EE9000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60351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间接通信</a:t>
            </a:r>
            <a:endParaRPr lang="en-US" altLang="en-US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DD294B3F-5631-423A-ABE2-046BE51914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8276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同步与异步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5284B0E-C101-4930-A90C-B00CACB11D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3455" y="1050925"/>
            <a:ext cx="10764981" cy="4984750"/>
          </a:xfrm>
        </p:spPr>
        <p:txBody>
          <a:bodyPr/>
          <a:lstStyle/>
          <a:p>
            <a:pPr marL="379730" indent="-379730">
              <a:lnSpc>
                <a:spcPct val="150000"/>
              </a:lnSpc>
              <a:defRPr/>
            </a:pPr>
            <a:r>
              <a:rPr kumimoji="1" lang="zh-CN" altLang="en-US" dirty="0">
                <a:ea typeface="微软雅黑" panose="020B0503020204020204" pitchFamily="34" charset="-122"/>
              </a:rPr>
              <a:t>消息传递可以是阻塞</a:t>
            </a:r>
            <a:r>
              <a:rPr kumimoji="1" lang="en-US" altLang="zh-CN" dirty="0">
                <a:solidFill>
                  <a:srgbClr val="0070C0"/>
                </a:solidFill>
                <a:ea typeface="微软雅黑" panose="020B0503020204020204" pitchFamily="34" charset="-122"/>
              </a:rPr>
              <a:t>(blocking)</a:t>
            </a:r>
            <a:r>
              <a:rPr kumimoji="1" lang="zh-CN" altLang="en-US" dirty="0">
                <a:ea typeface="微软雅黑" panose="020B0503020204020204" pitchFamily="34" charset="-122"/>
              </a:rPr>
              <a:t>的，也可以是非阻塞</a:t>
            </a:r>
            <a:r>
              <a:rPr kumimoji="1" lang="en-US" altLang="zh-CN" dirty="0">
                <a:solidFill>
                  <a:srgbClr val="0070C0"/>
                </a:solidFill>
                <a:ea typeface="微软雅黑" panose="020B0503020204020204" pitchFamily="34" charset="-122"/>
              </a:rPr>
              <a:t>(non-blocking)</a:t>
            </a:r>
            <a:r>
              <a:rPr kumimoji="1" lang="zh-CN" altLang="en-US" dirty="0">
                <a:ea typeface="微软雅黑" panose="020B0503020204020204" pitchFamily="34" charset="-122"/>
              </a:rPr>
              <a:t>的</a:t>
            </a:r>
          </a:p>
          <a:p>
            <a:pPr marL="379730" indent="-379730">
              <a:lnSpc>
                <a:spcPct val="150000"/>
              </a:lnSpc>
              <a:defRPr/>
            </a:pPr>
            <a:r>
              <a:rPr kumimoji="1" lang="zh-CN" altLang="en-US" b="1" dirty="0">
                <a:ea typeface="微软雅黑" panose="020B0503020204020204" pitchFamily="34" charset="-122"/>
              </a:rPr>
              <a:t>阻塞</a:t>
            </a:r>
            <a:r>
              <a:rPr kumimoji="1" lang="zh-CN" altLang="en-US" b="0" dirty="0">
                <a:ea typeface="微软雅黑" panose="020B0503020204020204" pitchFamily="34" charset="-122"/>
              </a:rPr>
              <a:t>被认为是</a:t>
            </a:r>
            <a:r>
              <a:rPr kumimoji="1" lang="zh-CN" altLang="en-US" b="1" dirty="0">
                <a:ea typeface="微软雅黑" panose="020B0503020204020204" pitchFamily="34" charset="-122"/>
              </a:rPr>
              <a:t>同步</a:t>
            </a:r>
            <a:r>
              <a:rPr lang="zh-CN" altLang="en-US" dirty="0"/>
              <a:t>的（</a:t>
            </a:r>
            <a:r>
              <a:rPr lang="en-US" altLang="zh-CN" dirty="0"/>
              <a:t>Synchronization</a:t>
            </a:r>
            <a:r>
              <a:rPr lang="zh-CN" altLang="en-US" dirty="0"/>
              <a:t>）</a:t>
            </a:r>
            <a:endParaRPr kumimoji="1" lang="zh-CN" altLang="en-US" dirty="0">
              <a:ea typeface="微软雅黑" panose="020B0503020204020204" pitchFamily="34" charset="-122"/>
            </a:endParaRPr>
          </a:p>
          <a:p>
            <a:pPr marL="798830" lvl="1" indent="-341630">
              <a:lnSpc>
                <a:spcPct val="150000"/>
              </a:lnSpc>
              <a:defRPr/>
            </a:pPr>
            <a:r>
              <a:rPr kumimoji="1" lang="zh-CN" altLang="en-US" b="1" dirty="0">
                <a:ea typeface="微软雅黑" panose="020B0503020204020204" pitchFamily="34" charset="-122"/>
                <a:cs typeface="MS PGothic" panose="020B0600070205080204" pitchFamily="34" charset="-128"/>
              </a:rPr>
              <a:t>阻塞发送</a:t>
            </a:r>
            <a:r>
              <a:rPr kumimoji="1" lang="en-US" altLang="zh-CN" dirty="0">
                <a:ea typeface="微软雅黑" panose="020B0503020204020204" pitchFamily="34" charset="-122"/>
                <a:cs typeface="MS PGothic" panose="020B0600070205080204" pitchFamily="34" charset="-128"/>
              </a:rPr>
              <a:t>——</a:t>
            </a:r>
            <a:r>
              <a:rPr kumimoji="1" lang="zh-CN" altLang="en-US" dirty="0">
                <a:ea typeface="微软雅黑" panose="020B0503020204020204" pitchFamily="34" charset="-122"/>
                <a:cs typeface="MS PGothic" panose="020B0600070205080204" pitchFamily="34" charset="-128"/>
              </a:rPr>
              <a:t>发送进程阻塞， 直到消息由接收进程或邮箱所接收</a:t>
            </a:r>
            <a:endParaRPr kumimoji="1" lang="en-US" dirty="0">
              <a:ea typeface="微软雅黑" panose="020B0503020204020204" pitchFamily="34" charset="-122"/>
              <a:cs typeface="+mn-ea"/>
            </a:endParaRPr>
          </a:p>
          <a:p>
            <a:pPr marL="798830" lvl="1" indent="-341630">
              <a:lnSpc>
                <a:spcPct val="150000"/>
              </a:lnSpc>
              <a:defRPr/>
            </a:pPr>
            <a:r>
              <a:rPr kumimoji="1" lang="zh-CN" altLang="en-US" b="1" dirty="0">
                <a:ea typeface="微软雅黑" panose="020B0503020204020204" pitchFamily="34" charset="-122"/>
                <a:cs typeface="MS PGothic" panose="020B0600070205080204" pitchFamily="34" charset="-128"/>
              </a:rPr>
              <a:t>阻塞接收</a:t>
            </a:r>
            <a:r>
              <a:rPr kumimoji="1" lang="en-US" altLang="zh-CN" dirty="0">
                <a:ea typeface="微软雅黑" panose="020B0503020204020204" pitchFamily="34" charset="-122"/>
                <a:cs typeface="MS PGothic" panose="020B0600070205080204" pitchFamily="34" charset="-128"/>
              </a:rPr>
              <a:t>——</a:t>
            </a:r>
            <a:r>
              <a:rPr kumimoji="1" lang="zh-CN" altLang="en-US" dirty="0">
                <a:ea typeface="微软雅黑" panose="020B0503020204020204" pitchFamily="34" charset="-122"/>
                <a:cs typeface="MS PGothic" panose="020B0600070205080204" pitchFamily="34" charset="-128"/>
              </a:rPr>
              <a:t>接收进程阻塞，直到有消息可用</a:t>
            </a:r>
          </a:p>
          <a:p>
            <a:pPr marL="379730" indent="-379730">
              <a:lnSpc>
                <a:spcPct val="150000"/>
              </a:lnSpc>
              <a:defRPr/>
            </a:pPr>
            <a:r>
              <a:rPr kumimoji="1" lang="zh-CN" altLang="en-US" b="1" dirty="0">
                <a:ea typeface="微软雅黑" panose="020B0503020204020204" pitchFamily="34" charset="-122"/>
              </a:rPr>
              <a:t>非阻塞</a:t>
            </a:r>
            <a:r>
              <a:rPr kumimoji="1" lang="zh-CN" altLang="en-US" b="0" dirty="0">
                <a:ea typeface="微软雅黑" panose="020B0503020204020204" pitchFamily="34" charset="-122"/>
              </a:rPr>
              <a:t>被认为是</a:t>
            </a:r>
            <a:r>
              <a:rPr kumimoji="1" lang="zh-CN" altLang="en-US" b="1" dirty="0">
                <a:ea typeface="微软雅黑" panose="020B0503020204020204" pitchFamily="34" charset="-122"/>
              </a:rPr>
              <a:t>异步</a:t>
            </a:r>
            <a:r>
              <a:rPr lang="zh-CN" altLang="en-US" dirty="0"/>
              <a:t>的（</a:t>
            </a:r>
            <a:r>
              <a:rPr lang="en-US" altLang="zh-CN" dirty="0"/>
              <a:t>Asynchronization</a:t>
            </a:r>
            <a:r>
              <a:rPr lang="zh-CN" altLang="en-US" dirty="0"/>
              <a:t>）</a:t>
            </a:r>
            <a:endParaRPr kumimoji="1" lang="zh-CN" altLang="en-US" dirty="0">
              <a:ea typeface="微软雅黑" panose="020B0503020204020204" pitchFamily="34" charset="-122"/>
            </a:endParaRPr>
          </a:p>
          <a:p>
            <a:pPr marL="798830" lvl="1" indent="-341630">
              <a:lnSpc>
                <a:spcPct val="150000"/>
              </a:lnSpc>
              <a:defRPr/>
            </a:pPr>
            <a:r>
              <a:rPr kumimoji="1" lang="zh-CN" altLang="en-US" b="1" dirty="0">
                <a:ea typeface="微软雅黑" panose="020B0503020204020204" pitchFamily="34" charset="-122"/>
                <a:cs typeface="MS PGothic" panose="020B0600070205080204" pitchFamily="34" charset="-128"/>
              </a:rPr>
              <a:t>非阻塞发送</a:t>
            </a:r>
            <a:r>
              <a:rPr kumimoji="1" lang="en-US" altLang="zh-CN" dirty="0">
                <a:ea typeface="微软雅黑" panose="020B0503020204020204" pitchFamily="34" charset="-122"/>
                <a:cs typeface="MS PGothic" panose="020B0600070205080204" pitchFamily="34" charset="-128"/>
              </a:rPr>
              <a:t>——</a:t>
            </a:r>
            <a:r>
              <a:rPr kumimoji="1" lang="zh-CN" altLang="en-US" dirty="0">
                <a:ea typeface="微软雅黑" panose="020B0503020204020204" pitchFamily="34" charset="-122"/>
                <a:cs typeface="MS PGothic" panose="020B0600070205080204" pitchFamily="34" charset="-128"/>
              </a:rPr>
              <a:t>发送进程发送消息，并且恢复操作</a:t>
            </a:r>
            <a:endParaRPr kumimoji="1" lang="en-US" altLang="zh-CN" dirty="0">
              <a:ea typeface="微软雅黑" panose="020B0503020204020204" pitchFamily="34" charset="-122"/>
              <a:cs typeface="MS PGothic" panose="020B0600070205080204" pitchFamily="34" charset="-128"/>
            </a:endParaRPr>
          </a:p>
          <a:p>
            <a:pPr marL="798830" lvl="1" indent="-341630">
              <a:lnSpc>
                <a:spcPct val="150000"/>
              </a:lnSpc>
              <a:defRPr/>
            </a:pPr>
            <a:r>
              <a:rPr kumimoji="1" lang="zh-CN" altLang="en-US" b="1" dirty="0">
                <a:ea typeface="微软雅黑" panose="020B0503020204020204" pitchFamily="34" charset="-122"/>
                <a:cs typeface="MS PGothic" panose="020B0600070205080204" pitchFamily="34" charset="-128"/>
              </a:rPr>
              <a:t>非阻塞接收</a:t>
            </a:r>
            <a:r>
              <a:rPr kumimoji="1" lang="en-US" altLang="zh-CN" dirty="0">
                <a:ea typeface="微软雅黑" panose="020B0503020204020204" pitchFamily="34" charset="-122"/>
                <a:cs typeface="MS PGothic" panose="020B0600070205080204" pitchFamily="34" charset="-128"/>
              </a:rPr>
              <a:t>——</a:t>
            </a:r>
            <a:r>
              <a:rPr kumimoji="1" lang="zh-CN" altLang="en-US" dirty="0">
                <a:ea typeface="微软雅黑" panose="020B0503020204020204" pitchFamily="34" charset="-122"/>
                <a:cs typeface="MS PGothic" panose="020B0600070205080204" pitchFamily="34" charset="-128"/>
              </a:rPr>
              <a:t>接收进程收到一个有效消息或空消息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>
            <a:extLst>
              <a:ext uri="{FF2B5EF4-FFF2-40B4-BE49-F238E27FC236}">
                <a16:creationId xmlns:a16="http://schemas.microsoft.com/office/drawing/2014/main" id="{F707A072-F512-4E00-9301-0BC98BB6E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42519" y="1119836"/>
            <a:ext cx="6599237" cy="5349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marL="379730" indent="-379730">
              <a:lnSpc>
                <a:spcPct val="150000"/>
              </a:lnSpc>
            </a:pPr>
            <a:r>
              <a:rPr lang="zh-CN" altLang="en-US" dirty="0"/>
              <a:t>生产者</a:t>
            </a:r>
            <a:r>
              <a:rPr lang="en-US" altLang="zh-CN" dirty="0"/>
              <a:t>—</a:t>
            </a:r>
            <a:r>
              <a:rPr lang="zh-CN" altLang="en-US" dirty="0"/>
              <a:t>消费者模型就可以简单实现同步</a:t>
            </a:r>
            <a:br>
              <a:rPr lang="en-US" dirty="0"/>
            </a:br>
            <a:endParaRPr lang="en-US" dirty="0"/>
          </a:p>
        </p:txBody>
      </p:sp>
      <p:sp>
        <p:nvSpPr>
          <p:cNvPr id="94211" name="TextBox 1">
            <a:extLst>
              <a:ext uri="{FF2B5EF4-FFF2-40B4-BE49-F238E27FC236}">
                <a16:creationId xmlns:a16="http://schemas.microsoft.com/office/drawing/2014/main" id="{726B6990-7245-435A-B106-88B20DDC5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9307" y="1805051"/>
            <a:ext cx="6370638" cy="366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>
                <a:solidFill>
                  <a:schemeClr val="tx1"/>
                </a:solidFill>
                <a:latin typeface="微软雅黑" panose="020B0503020204020204" pitchFamily="34" charset="-122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7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 dirty="0"/>
              <a:t>message </a:t>
            </a:r>
            <a:r>
              <a:rPr lang="en-US" altLang="zh-CN" sz="1700" dirty="0" err="1"/>
              <a:t>next_produced</a:t>
            </a:r>
            <a:r>
              <a:rPr lang="en-US" altLang="zh-CN" sz="1700" dirty="0"/>
              <a:t>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 dirty="0"/>
              <a:t>while (true) {</a:t>
            </a:r>
            <a:br>
              <a:rPr lang="en-US" altLang="zh-CN" sz="1700" dirty="0"/>
            </a:br>
            <a:r>
              <a:rPr lang="en-US" altLang="zh-CN" sz="1700" dirty="0"/>
              <a:t>    /* produce an item in next produced */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 dirty="0"/>
              <a:t>   send(</a:t>
            </a:r>
            <a:r>
              <a:rPr lang="en-US" altLang="zh-CN" sz="1700" dirty="0" err="1"/>
              <a:t>next_produced</a:t>
            </a:r>
            <a:r>
              <a:rPr lang="en-US" altLang="zh-CN" sz="1700" dirty="0"/>
              <a:t>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 dirty="0"/>
              <a:t>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7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7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 dirty="0"/>
              <a:t>m</a:t>
            </a:r>
            <a:r>
              <a:rPr lang="en-US" altLang="zh-CN" sz="1600" dirty="0"/>
              <a:t>essage </a:t>
            </a:r>
            <a:r>
              <a:rPr lang="en-US" altLang="zh-CN" sz="1600" dirty="0" err="1"/>
              <a:t>next_consumed</a:t>
            </a:r>
            <a:r>
              <a:rPr lang="en-US" altLang="zh-CN" sz="1600" dirty="0"/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/>
              <a:t>while (true)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/>
              <a:t>   receive(</a:t>
            </a:r>
            <a:r>
              <a:rPr lang="en-US" altLang="zh-CN" sz="1600" dirty="0" err="1"/>
              <a:t>next_consumed</a:t>
            </a:r>
            <a:r>
              <a:rPr lang="en-US" altLang="zh-CN" sz="1600" dirty="0"/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/>
              <a:t>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/>
              <a:t>   /* consume the item in next consumed */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 dirty="0"/>
              <a:t>}</a:t>
            </a:r>
            <a:endParaRPr lang="en-US" altLang="zh-CN" sz="1700" dirty="0">
              <a:cs typeface="Courier New" panose="02070309020205020404" pitchFamily="49" charset="0"/>
            </a:endParaRPr>
          </a:p>
        </p:txBody>
      </p:sp>
      <p:sp>
        <p:nvSpPr>
          <p:cNvPr id="94212" name="Rectangle 2">
            <a:extLst>
              <a:ext uri="{FF2B5EF4-FFF2-40B4-BE49-F238E27FC236}">
                <a16:creationId xmlns:a16="http://schemas.microsoft.com/office/drawing/2014/main" id="{FEEC3FB7-2941-4543-9CAC-626DC24A2A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8276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简单的同步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57E5E34E-1A83-4DFC-8DE3-A99DE37AE4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6526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缓冲（</a:t>
            </a:r>
            <a:r>
              <a:rPr lang="en-US" altLang="zh-CN" dirty="0">
                <a:ea typeface="微软雅黑" panose="020B0503020204020204" pitchFamily="34" charset="-122"/>
              </a:rPr>
              <a:t>buffering</a:t>
            </a:r>
            <a:r>
              <a:rPr lang="zh-CN" altLang="en-US" dirty="0">
                <a:ea typeface="微软雅黑" panose="020B0503020204020204" pitchFamily="34" charset="-122"/>
              </a:rPr>
              <a:t>）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3DB7CBCA-BB9C-4327-B70C-CC76B42068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5018" y="1233489"/>
            <a:ext cx="10806545" cy="45307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通信进程交换的消息</a:t>
            </a:r>
            <a:r>
              <a:rPr lang="zh-CN" altLang="en-US" b="0" dirty="0">
                <a:ea typeface="微软雅黑" panose="020B0503020204020204" pitchFamily="34" charset="-122"/>
              </a:rPr>
              <a:t>总是驻留在</a:t>
            </a:r>
            <a:r>
              <a:rPr lang="zh-CN" altLang="en-US" dirty="0"/>
              <a:t>缓冲</a:t>
            </a:r>
            <a:r>
              <a:rPr lang="zh-CN" altLang="en-US" dirty="0">
                <a:ea typeface="微软雅黑" panose="020B0503020204020204" pitchFamily="34" charset="-122"/>
              </a:rPr>
              <a:t>队列</a:t>
            </a:r>
            <a:r>
              <a:rPr lang="zh-CN" altLang="en-US" b="0" dirty="0">
                <a:ea typeface="微软雅黑" panose="020B0503020204020204" pitchFamily="34" charset="-122"/>
              </a:rPr>
              <a:t>中</a:t>
            </a:r>
            <a:endParaRPr lang="en-US" altLang="en-US" b="0" dirty="0"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缓冲队列</a:t>
            </a:r>
            <a:r>
              <a:rPr lang="zh-CN" altLang="en-US" b="0" dirty="0">
                <a:ea typeface="微软雅黑" panose="020B0503020204020204" pitchFamily="34" charset="-122"/>
              </a:rPr>
              <a:t>三种</a:t>
            </a:r>
            <a:r>
              <a:rPr lang="zh-CN" altLang="en-US" b="0" dirty="0"/>
              <a:t>类型</a:t>
            </a:r>
            <a:r>
              <a:rPr lang="zh-CN" altLang="en-US" b="0" dirty="0">
                <a:ea typeface="微软雅黑" panose="020B0503020204020204" pitchFamily="34" charset="-122"/>
              </a:rPr>
              <a:t>：</a:t>
            </a:r>
            <a:endParaRPr lang="en-US" altLang="zh-CN" b="0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CC6600"/>
                </a:solidFill>
                <a:ea typeface="微软雅黑" panose="020B0503020204020204" pitchFamily="34" charset="-122"/>
              </a:rPr>
              <a:t>1.</a:t>
            </a:r>
            <a:r>
              <a:rPr lang="en-US" altLang="en-US" dirty="0">
                <a:ea typeface="微软雅黑" panose="020B0503020204020204" pitchFamily="34" charset="-122"/>
              </a:rPr>
              <a:t>	</a:t>
            </a:r>
            <a:r>
              <a:rPr lang="zh-CN" altLang="en-US" b="1" dirty="0">
                <a:ea typeface="微软雅黑" panose="020B0503020204020204" pitchFamily="34" charset="-122"/>
              </a:rPr>
              <a:t>零容量</a:t>
            </a:r>
            <a:r>
              <a:rPr lang="en-US" altLang="zh-CN" dirty="0"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ea typeface="微软雅黑" panose="020B0503020204020204" pitchFamily="34" charset="-122"/>
              </a:rPr>
              <a:t>没有消息在链路上排队。发送者应阻塞， 直到接收者接收到消息</a:t>
            </a:r>
          </a:p>
          <a:p>
            <a:pPr lvl="1">
              <a:lnSpc>
                <a:spcPct val="20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CC6600"/>
                </a:solidFill>
                <a:ea typeface="微软雅黑" panose="020B0503020204020204" pitchFamily="34" charset="-122"/>
              </a:rPr>
              <a:t>2.</a:t>
            </a:r>
            <a:r>
              <a:rPr lang="en-US" altLang="en-US" dirty="0">
                <a:ea typeface="微软雅黑" panose="020B0503020204020204" pitchFamily="34" charset="-122"/>
              </a:rPr>
              <a:t>	</a:t>
            </a:r>
            <a:r>
              <a:rPr lang="zh-CN" altLang="en-US" b="1" dirty="0">
                <a:ea typeface="微软雅黑" panose="020B0503020204020204" pitchFamily="34" charset="-122"/>
              </a:rPr>
              <a:t>有限容量</a:t>
            </a:r>
            <a:r>
              <a:rPr lang="en-US" altLang="zh-CN" dirty="0"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ea typeface="微软雅黑" panose="020B0503020204020204" pitchFamily="34" charset="-122"/>
              </a:rPr>
              <a:t>有限长度的 </a:t>
            </a:r>
            <a:r>
              <a:rPr lang="en-US" altLang="zh-CN" dirty="0"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ea typeface="微软雅黑" panose="020B0503020204020204" pitchFamily="34" charset="-122"/>
              </a:rPr>
              <a:t>条消息，如果链路已满，发送方必须等待</a:t>
            </a:r>
          </a:p>
          <a:p>
            <a:pPr lvl="1">
              <a:lnSpc>
                <a:spcPct val="20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CC6600"/>
                </a:solidFill>
                <a:ea typeface="微软雅黑" panose="020B0503020204020204" pitchFamily="34" charset="-122"/>
              </a:rPr>
              <a:t>3.</a:t>
            </a:r>
            <a:r>
              <a:rPr lang="en-US" altLang="en-US" dirty="0">
                <a:ea typeface="微软雅黑" panose="020B0503020204020204" pitchFamily="34" charset="-122"/>
              </a:rPr>
              <a:t>	</a:t>
            </a:r>
            <a:r>
              <a:rPr lang="zh-CN" altLang="en-US" b="1" dirty="0"/>
              <a:t>无</a:t>
            </a:r>
            <a:r>
              <a:rPr lang="zh-CN" altLang="en-US" b="1" dirty="0">
                <a:ea typeface="微软雅黑" panose="020B0503020204020204" pitchFamily="34" charset="-122"/>
              </a:rPr>
              <a:t>限容量</a:t>
            </a:r>
            <a:r>
              <a:rPr lang="en-US" altLang="zh-CN" dirty="0"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ea typeface="微软雅黑" panose="020B0503020204020204" pitchFamily="34" charset="-122"/>
              </a:rPr>
              <a:t>无限长度，发送方从不等待</a:t>
            </a: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Monotype Sorts" pitchFamily="-84" charset="2"/>
              <a:buNone/>
            </a:pP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>
            <a:extLst>
              <a:ext uri="{FF2B5EF4-FFF2-40B4-BE49-F238E27FC236}">
                <a16:creationId xmlns:a16="http://schemas.microsoft.com/office/drawing/2014/main" id="{EEF03A47-D569-4E90-8DB1-FF9310273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0789" y="187326"/>
            <a:ext cx="7850187" cy="576263"/>
          </a:xfrm>
        </p:spPr>
        <p:txBody>
          <a:bodyPr/>
          <a:lstStyle/>
          <a:p>
            <a:pPr eaLnBrk="1" hangingPunct="1"/>
            <a:r>
              <a:rPr lang="en-US" altLang="zh-CN" dirty="0"/>
              <a:t>3</a:t>
            </a:r>
            <a:r>
              <a:rPr lang="en-US" altLang="zh-CN">
                <a:ea typeface="微软雅黑" panose="020B0503020204020204" pitchFamily="34" charset="-122"/>
              </a:rPr>
              <a:t>.5 </a:t>
            </a:r>
            <a:r>
              <a:rPr lang="en-US" altLang="zh-CN" dirty="0">
                <a:ea typeface="微软雅黑" panose="020B0503020204020204" pitchFamily="34" charset="-122"/>
              </a:rPr>
              <a:t>IPC </a:t>
            </a:r>
            <a:r>
              <a:rPr lang="zh-CN" altLang="en-US" dirty="0">
                <a:ea typeface="微软雅黑" panose="020B0503020204020204" pitchFamily="34" charset="-122"/>
              </a:rPr>
              <a:t>系统示例</a:t>
            </a:r>
            <a:r>
              <a:rPr lang="en-US" altLang="zh-CN" dirty="0">
                <a:ea typeface="微软雅黑" panose="020B0503020204020204" pitchFamily="34" charset="-122"/>
              </a:rPr>
              <a:t>——POSIX</a:t>
            </a:r>
          </a:p>
        </p:txBody>
      </p:sp>
      <p:sp>
        <p:nvSpPr>
          <p:cNvPr id="98307" name="Content Placeholder 2">
            <a:extLst>
              <a:ext uri="{FF2B5EF4-FFF2-40B4-BE49-F238E27FC236}">
                <a16:creationId xmlns:a16="http://schemas.microsoft.com/office/drawing/2014/main" id="{3D9BBFBE-A4AF-4E19-8679-65979142A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1500" y="1233489"/>
            <a:ext cx="10359736" cy="51361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ea typeface="微软雅黑" panose="020B0503020204020204" pitchFamily="34" charset="-122"/>
              </a:rPr>
              <a:t>POSIX </a:t>
            </a:r>
            <a:r>
              <a:rPr lang="zh-CN" altLang="en-US" dirty="0">
                <a:ea typeface="微软雅黑" panose="020B0503020204020204" pitchFamily="34" charset="-122"/>
              </a:rPr>
              <a:t>共享内存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进程首先创建共享内存对象：</a:t>
            </a:r>
            <a:br>
              <a:rPr lang="en-US" altLang="zh-CN" dirty="0">
                <a:ea typeface="微软雅黑" panose="020B0503020204020204" pitchFamily="34" charset="-122"/>
              </a:rPr>
            </a:br>
            <a:r>
              <a:rPr lang="en-US" altLang="zh-CN" b="1" dirty="0" err="1">
                <a:ea typeface="微软雅黑" panose="020B0503020204020204" pitchFamily="34" charset="-122"/>
              </a:rPr>
              <a:t>shm_fd</a:t>
            </a:r>
            <a:r>
              <a:rPr lang="en-US" altLang="zh-CN" b="1" dirty="0">
                <a:ea typeface="微软雅黑" panose="020B0503020204020204" pitchFamily="34" charset="-122"/>
              </a:rPr>
              <a:t> = </a:t>
            </a:r>
            <a:r>
              <a:rPr lang="en-US" altLang="zh-CN" b="1" dirty="0" err="1">
                <a:ea typeface="微软雅黑" panose="020B0503020204020204" pitchFamily="34" charset="-122"/>
              </a:rPr>
              <a:t>shm_open</a:t>
            </a:r>
            <a:r>
              <a:rPr lang="en-US" altLang="zh-CN" b="1" dirty="0">
                <a:ea typeface="微软雅黑" panose="020B0503020204020204" pitchFamily="34" charset="-122"/>
              </a:rPr>
              <a:t>(name, O_CREAT | O_RDWR, 0666);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也用于打开现有对象以便于共享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设置对象的大小：</a:t>
            </a: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r>
              <a:rPr lang="en-US" altLang="zh-CN" dirty="0">
                <a:ea typeface="微软雅黑" panose="020B0503020204020204" pitchFamily="34" charset="-122"/>
              </a:rPr>
              <a:t>	      </a:t>
            </a:r>
            <a:r>
              <a:rPr lang="en-US" altLang="zh-CN" b="1" dirty="0" err="1">
                <a:ea typeface="微软雅黑" panose="020B0503020204020204" pitchFamily="34" charset="-122"/>
              </a:rPr>
              <a:t>ftruncate</a:t>
            </a:r>
            <a:r>
              <a:rPr lang="en-US" altLang="zh-CN" b="1" dirty="0"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ea typeface="微软雅黑" panose="020B0503020204020204" pitchFamily="34" charset="-122"/>
              </a:rPr>
              <a:t>shm</a:t>
            </a:r>
            <a:r>
              <a:rPr lang="en-US" altLang="zh-CN" b="1" dirty="0">
                <a:ea typeface="微软雅黑" panose="020B0503020204020204" pitchFamily="34" charset="-122"/>
              </a:rPr>
              <a:t> </a:t>
            </a:r>
            <a:r>
              <a:rPr lang="en-US" altLang="zh-CN" b="1" dirty="0" err="1">
                <a:ea typeface="微软雅黑" panose="020B0503020204020204" pitchFamily="34" charset="-122"/>
              </a:rPr>
              <a:t>fd</a:t>
            </a:r>
            <a:r>
              <a:rPr lang="en-US" altLang="zh-CN" b="1" dirty="0">
                <a:ea typeface="微软雅黑" panose="020B0503020204020204" pitchFamily="34" charset="-122"/>
              </a:rPr>
              <a:t>, 4096); 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现在对象可以写入共享内存：</a:t>
            </a:r>
          </a:p>
          <a:p>
            <a:pPr lvl="1">
              <a:lnSpc>
                <a:spcPct val="150000"/>
              </a:lnSpc>
              <a:buFont typeface="Monotype Sorts" pitchFamily="-84" charset="2"/>
              <a:buNone/>
            </a:pPr>
            <a:r>
              <a:rPr lang="en-US" altLang="zh-CN" b="1" dirty="0">
                <a:ea typeface="微软雅黑" panose="020B0503020204020204" pitchFamily="34" charset="-122"/>
              </a:rPr>
              <a:t>	</a:t>
            </a:r>
            <a:r>
              <a:rPr lang="en-US" altLang="zh-CN" b="1" dirty="0" err="1">
                <a:ea typeface="微软雅黑" panose="020B0503020204020204" pitchFamily="34" charset="-122"/>
              </a:rPr>
              <a:t>sprintf</a:t>
            </a:r>
            <a:r>
              <a:rPr lang="en-US" altLang="zh-CN" b="1" dirty="0">
                <a:ea typeface="微软雅黑" panose="020B0503020204020204" pitchFamily="34" charset="-122"/>
              </a:rPr>
              <a:t>(shared memory, "Writing to shared memory");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13C3D797-7878-4021-A452-FFFBD0A4C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0625" y="173038"/>
            <a:ext cx="7850188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IPC POSIX</a:t>
            </a:r>
            <a:r>
              <a:rPr lang="zh-CN" altLang="en-US" dirty="0">
                <a:ea typeface="微软雅黑" panose="020B0503020204020204" pitchFamily="34" charset="-122"/>
              </a:rPr>
              <a:t>共享内存示例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pic>
        <p:nvPicPr>
          <p:cNvPr id="100355" name="Picture 1" descr="Screen Shot 2013-03-14 at 6.46.57 PM.png">
            <a:extLst>
              <a:ext uri="{FF2B5EF4-FFF2-40B4-BE49-F238E27FC236}">
                <a16:creationId xmlns:a16="http://schemas.microsoft.com/office/drawing/2014/main" id="{EFE60C45-B89E-4DBB-ACF2-8D549BF3D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445" y="1080654"/>
            <a:ext cx="3449156" cy="529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 descr="Screen Shot 2013-03-12 at 1.38.41 PM.png">
            <a:extLst>
              <a:ext uri="{FF2B5EF4-FFF2-40B4-BE49-F238E27FC236}">
                <a16:creationId xmlns:a16="http://schemas.microsoft.com/office/drawing/2014/main" id="{330DF1D0-DC69-4D0A-8AD2-A1BF5401A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579" y="1080654"/>
            <a:ext cx="3914410" cy="4902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C6977F8-54B2-4ACF-9111-E4127A12C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5896" y="1080654"/>
            <a:ext cx="1503318" cy="113737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D3249B9A-C1AF-4244-9C3E-2B92EF98D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2238" y="155576"/>
            <a:ext cx="7548562" cy="576263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IPC </a:t>
            </a:r>
            <a:r>
              <a:rPr lang="zh-CN" altLang="en-US" dirty="0">
                <a:ea typeface="微软雅黑" panose="020B0503020204020204" pitchFamily="34" charset="-122"/>
              </a:rPr>
              <a:t>系统示例</a:t>
            </a:r>
            <a:r>
              <a:rPr lang="en-US" altLang="zh-CN" dirty="0">
                <a:ea typeface="微软雅黑" panose="020B0503020204020204" pitchFamily="34" charset="-122"/>
              </a:rPr>
              <a:t>——</a:t>
            </a:r>
            <a:r>
              <a:rPr lang="en-US" altLang="en-US" dirty="0">
                <a:ea typeface="微软雅黑" panose="020B0503020204020204" pitchFamily="34" charset="-122"/>
              </a:rPr>
              <a:t>Mach*</a:t>
            </a:r>
          </a:p>
        </p:txBody>
      </p:sp>
      <p:sp>
        <p:nvSpPr>
          <p:cNvPr id="104451" name="Content Placeholder 2">
            <a:extLst>
              <a:ext uri="{FF2B5EF4-FFF2-40B4-BE49-F238E27FC236}">
                <a16:creationId xmlns:a16="http://schemas.microsoft.com/office/drawing/2014/main" id="{5B552636-0202-49AA-A404-D7BB9C1BCA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47254" y="878899"/>
            <a:ext cx="11097491" cy="548957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dirty="0">
                <a:ea typeface="微软雅黑" panose="020B0503020204020204" pitchFamily="34" charset="-122"/>
              </a:rPr>
              <a:t>Mach</a:t>
            </a:r>
            <a:r>
              <a:rPr lang="zh-CN" altLang="en-US" dirty="0">
                <a:ea typeface="微软雅黑" panose="020B0503020204020204" pitchFamily="34" charset="-122"/>
              </a:rPr>
              <a:t>的通信是基于消息传递的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甚至系统调用也是通过消息进行的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每个任务在创建时都会获得两个邮箱</a:t>
            </a:r>
            <a:r>
              <a:rPr lang="en-US" altLang="zh-CN" dirty="0"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ea typeface="微软雅黑" panose="020B0503020204020204" pitchFamily="34" charset="-122"/>
              </a:rPr>
              <a:t>内核邮箱 </a:t>
            </a:r>
            <a:r>
              <a:rPr lang="en-US" altLang="zh-CN" dirty="0">
                <a:ea typeface="微软雅黑" panose="020B0503020204020204" pitchFamily="34" charset="-122"/>
              </a:rPr>
              <a:t>(Kernel mailbox) </a:t>
            </a:r>
            <a:r>
              <a:rPr lang="zh-CN" altLang="en-US" dirty="0">
                <a:ea typeface="微软雅黑" panose="020B0503020204020204" pitchFamily="34" charset="-122"/>
              </a:rPr>
              <a:t>和通知邮箱</a:t>
            </a:r>
            <a:r>
              <a:rPr lang="en-US" altLang="zh-CN" dirty="0">
                <a:ea typeface="微软雅黑" panose="020B0503020204020204" pitchFamily="34" charset="-122"/>
              </a:rPr>
              <a:t>(Notify mailbox)</a:t>
            </a: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消息传递只需三个系统调用：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b="1" dirty="0">
                <a:ea typeface="微软雅黑" panose="020B0503020204020204" pitchFamily="34" charset="-122"/>
              </a:rPr>
              <a:t>	</a:t>
            </a:r>
            <a:r>
              <a:rPr lang="en-US" altLang="en-US" b="1" dirty="0" err="1">
                <a:ea typeface="微软雅黑" panose="020B0503020204020204" pitchFamily="34" charset="-122"/>
              </a:rPr>
              <a:t>msg_send</a:t>
            </a:r>
            <a:r>
              <a:rPr lang="en-US" altLang="en-US" b="1" dirty="0">
                <a:ea typeface="微软雅黑" panose="020B0503020204020204" pitchFamily="34" charset="-122"/>
              </a:rPr>
              <a:t>(), </a:t>
            </a:r>
            <a:r>
              <a:rPr lang="en-US" altLang="en-US" b="1" dirty="0" err="1">
                <a:ea typeface="微软雅黑" panose="020B0503020204020204" pitchFamily="34" charset="-122"/>
              </a:rPr>
              <a:t>msg_receive</a:t>
            </a:r>
            <a:r>
              <a:rPr lang="en-US" altLang="en-US" b="1" dirty="0">
                <a:ea typeface="微软雅黑" panose="020B0503020204020204" pitchFamily="34" charset="-122"/>
              </a:rPr>
              <a:t>(), </a:t>
            </a:r>
            <a:r>
              <a:rPr lang="en-US" altLang="en-US" b="1" dirty="0" err="1">
                <a:ea typeface="微软雅黑" panose="020B0503020204020204" pitchFamily="34" charset="-122"/>
              </a:rPr>
              <a:t>msg_rpc</a:t>
            </a:r>
            <a:r>
              <a:rPr lang="en-US" altLang="en-US" b="1" dirty="0">
                <a:ea typeface="微软雅黑" panose="020B0503020204020204" pitchFamily="34" charset="-122"/>
              </a:rPr>
              <a:t>()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通信所需的邮箱，通过</a:t>
            </a:r>
            <a:r>
              <a:rPr lang="en-US" altLang="en-US" b="1" dirty="0" err="1">
                <a:ea typeface="微软雅黑" panose="020B0503020204020204" pitchFamily="34" charset="-122"/>
              </a:rPr>
              <a:t>port_allocate</a:t>
            </a:r>
            <a:r>
              <a:rPr lang="en-US" altLang="en-US" b="1" dirty="0"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ea typeface="微软雅黑" panose="020B0503020204020204" pitchFamily="34" charset="-122"/>
              </a:rPr>
              <a:t>创建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发送和接收操作是灵活的，例如，如果邮箱已满，发送线程则有四个选项：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无限期地等待， 直到邮箱里有空间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等待最多</a:t>
            </a:r>
            <a:r>
              <a:rPr lang="en-US" altLang="zh-CN" dirty="0">
                <a:ea typeface="微软雅黑" panose="020B0503020204020204" pitchFamily="34" charset="-122"/>
              </a:rPr>
              <a:t>n</a:t>
            </a:r>
            <a:r>
              <a:rPr lang="zh-CN" altLang="en-US" dirty="0">
                <a:ea typeface="微软雅黑" panose="020B0503020204020204" pitchFamily="34" charset="-122"/>
              </a:rPr>
              <a:t>亳秒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不等待， 立即返回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暂时缓存消息</a:t>
            </a:r>
            <a:endParaRPr lang="en-US" altLang="en-US" b="1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>
            <a:extLst>
              <a:ext uri="{FF2B5EF4-FFF2-40B4-BE49-F238E27FC236}">
                <a16:creationId xmlns:a16="http://schemas.microsoft.com/office/drawing/2014/main" id="{B45B7266-AB2D-46D4-84BA-8ACB4C2BFC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1238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IPC </a:t>
            </a:r>
            <a:r>
              <a:rPr lang="zh-CN" altLang="en-US" dirty="0">
                <a:ea typeface="微软雅黑" panose="020B0503020204020204" pitchFamily="34" charset="-122"/>
              </a:rPr>
              <a:t>系统示例</a:t>
            </a:r>
            <a:r>
              <a:rPr lang="en-US" altLang="zh-CN" dirty="0">
                <a:ea typeface="微软雅黑" panose="020B0503020204020204" pitchFamily="34" charset="-122"/>
              </a:rPr>
              <a:t>——</a:t>
            </a:r>
            <a:r>
              <a:rPr lang="en-US" altLang="en-US" dirty="0">
                <a:ea typeface="微软雅黑" panose="020B0503020204020204" pitchFamily="34" charset="-122"/>
              </a:rPr>
              <a:t>Windows*</a:t>
            </a:r>
          </a:p>
        </p:txBody>
      </p:sp>
      <p:sp>
        <p:nvSpPr>
          <p:cNvPr id="106499" name="Content Placeholder 2">
            <a:extLst>
              <a:ext uri="{FF2B5EF4-FFF2-40B4-BE49-F238E27FC236}">
                <a16:creationId xmlns:a16="http://schemas.microsoft.com/office/drawing/2014/main" id="{03DE5B2D-F65B-4B0B-A575-08AF7157A8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8669" y="1039814"/>
            <a:ext cx="10708986" cy="522590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通过</a:t>
            </a:r>
            <a:r>
              <a:rPr lang="zh-CN" altLang="en-US" b="1" dirty="0">
                <a:ea typeface="微软雅黑" panose="020B0503020204020204" pitchFamily="34" charset="-122"/>
              </a:rPr>
              <a:t>高级本地程序调用 </a:t>
            </a:r>
            <a:r>
              <a:rPr lang="en-US" altLang="zh-CN" b="1" dirty="0">
                <a:ea typeface="微软雅黑" panose="020B0503020204020204" pitchFamily="34" charset="-122"/>
              </a:rPr>
              <a:t>(LPC) </a:t>
            </a:r>
            <a:r>
              <a:rPr lang="zh-CN" altLang="en-US" dirty="0">
                <a:ea typeface="微软雅黑" panose="020B0503020204020204" pitchFamily="34" charset="-122"/>
              </a:rPr>
              <a:t>工具以消息传递为中心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仅适用于同一系统上的进程之间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采用端口（如邮箱）来建立和维护通信通道</a:t>
            </a: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通信工作如下：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客户端打开子服务器</a:t>
            </a:r>
            <a:r>
              <a:rPr lang="zh-CN" altLang="en-US" b="1" dirty="0">
                <a:ea typeface="微软雅黑" panose="020B0503020204020204" pitchFamily="34" charset="-122"/>
              </a:rPr>
              <a:t>连接端口</a:t>
            </a:r>
            <a:r>
              <a:rPr lang="zh-CN" altLang="en-US" dirty="0">
                <a:ea typeface="微软雅黑" panose="020B0503020204020204" pitchFamily="34" charset="-122"/>
              </a:rPr>
              <a:t>对象的句柄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客户端发送连接请求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服务器创建一对私有</a:t>
            </a:r>
            <a:r>
              <a:rPr lang="zh-CN" altLang="en-US" b="1" dirty="0">
                <a:ea typeface="微软雅黑" panose="020B0503020204020204" pitchFamily="34" charset="-122"/>
              </a:rPr>
              <a:t>通信端口</a:t>
            </a:r>
            <a:r>
              <a:rPr lang="zh-CN" altLang="en-US" dirty="0">
                <a:ea typeface="微软雅黑" panose="020B0503020204020204" pitchFamily="34" charset="-122"/>
              </a:rPr>
              <a:t>，并将其中之一的句柄返回给客户端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客户端和服务器使用相应的端口句柄来发送消息或回调并侦听回复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B49A2B24-99E7-482C-B973-C88DC82BF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9525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>
                <a:ea typeface="微软雅黑" panose="020B0503020204020204" pitchFamily="34" charset="-122"/>
              </a:rPr>
              <a:t>Windows</a:t>
            </a:r>
            <a:r>
              <a:rPr lang="zh-CN" altLang="en-US">
                <a:ea typeface="微软雅黑" panose="020B0503020204020204" pitchFamily="34" charset="-122"/>
              </a:rPr>
              <a:t>高级本地程序调用</a:t>
            </a:r>
            <a:endParaRPr lang="en-US" altLang="en-US">
              <a:ea typeface="微软雅黑" panose="020B0503020204020204" pitchFamily="34" charset="-122"/>
            </a:endParaRPr>
          </a:p>
        </p:txBody>
      </p:sp>
      <p:grpSp>
        <p:nvGrpSpPr>
          <p:cNvPr id="108547" name="组合 2">
            <a:extLst>
              <a:ext uri="{FF2B5EF4-FFF2-40B4-BE49-F238E27FC236}">
                <a16:creationId xmlns:a16="http://schemas.microsoft.com/office/drawing/2014/main" id="{02BB47B6-DBCC-4DB1-A59A-244F7CEC3189}"/>
              </a:ext>
            </a:extLst>
          </p:cNvPr>
          <p:cNvGrpSpPr>
            <a:grpSpLocks/>
          </p:cNvGrpSpPr>
          <p:nvPr/>
        </p:nvGrpSpPr>
        <p:grpSpPr bwMode="auto">
          <a:xfrm>
            <a:off x="2903539" y="1747839"/>
            <a:ext cx="6567487" cy="3546475"/>
            <a:chOff x="1379538" y="1747520"/>
            <a:chExt cx="6567487" cy="3547111"/>
          </a:xfrm>
        </p:grpSpPr>
        <p:pic>
          <p:nvPicPr>
            <p:cNvPr id="108548" name="Picture 4" descr="3">
              <a:extLst>
                <a:ext uri="{FF2B5EF4-FFF2-40B4-BE49-F238E27FC236}">
                  <a16:creationId xmlns:a16="http://schemas.microsoft.com/office/drawing/2014/main" id="{B07470F4-5D60-40B1-9EA1-A9AD1621A1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9538" y="1830388"/>
              <a:ext cx="6567487" cy="3381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549" name="矩形 1">
              <a:extLst>
                <a:ext uri="{FF2B5EF4-FFF2-40B4-BE49-F238E27FC236}">
                  <a16:creationId xmlns:a16="http://schemas.microsoft.com/office/drawing/2014/main" id="{99FD4120-5081-49AD-97C2-2EF0A11DF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520" y="1747520"/>
              <a:ext cx="853440" cy="25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客户机</a:t>
              </a:r>
            </a:p>
          </p:txBody>
        </p:sp>
        <p:sp>
          <p:nvSpPr>
            <p:cNvPr id="108550" name="矩形 4">
              <a:extLst>
                <a:ext uri="{FF2B5EF4-FFF2-40B4-BE49-F238E27FC236}">
                  <a16:creationId xmlns:a16="http://schemas.microsoft.com/office/drawing/2014/main" id="{91518E0F-6771-49F6-A81B-D9843DEFF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9440" y="2001520"/>
              <a:ext cx="853440" cy="34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连接请求</a:t>
              </a:r>
            </a:p>
          </p:txBody>
        </p:sp>
        <p:sp>
          <p:nvSpPr>
            <p:cNvPr id="108551" name="矩形 5">
              <a:extLst>
                <a:ext uri="{FF2B5EF4-FFF2-40B4-BE49-F238E27FC236}">
                  <a16:creationId xmlns:a16="http://schemas.microsoft.com/office/drawing/2014/main" id="{72AC51F0-CBB0-426D-8F11-418664D6A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2242" y="2057400"/>
              <a:ext cx="853440" cy="269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处理</a:t>
              </a:r>
            </a:p>
          </p:txBody>
        </p:sp>
        <p:sp>
          <p:nvSpPr>
            <p:cNvPr id="108552" name="矩形 6">
              <a:extLst>
                <a:ext uri="{FF2B5EF4-FFF2-40B4-BE49-F238E27FC236}">
                  <a16:creationId xmlns:a16="http://schemas.microsoft.com/office/drawing/2014/main" id="{8A9EC34A-E58A-480D-90C2-580B6C773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5159" y="2854960"/>
              <a:ext cx="660402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处理</a:t>
              </a:r>
            </a:p>
          </p:txBody>
        </p:sp>
        <p:sp>
          <p:nvSpPr>
            <p:cNvPr id="108553" name="矩形 7">
              <a:extLst>
                <a:ext uri="{FF2B5EF4-FFF2-40B4-BE49-F238E27FC236}">
                  <a16:creationId xmlns:a16="http://schemas.microsoft.com/office/drawing/2014/main" id="{33926F5D-0442-490F-B7DD-3324A9D30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5762" y="3653155"/>
              <a:ext cx="690882" cy="269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处理</a:t>
              </a:r>
            </a:p>
          </p:txBody>
        </p:sp>
        <p:sp>
          <p:nvSpPr>
            <p:cNvPr id="108554" name="矩形 8">
              <a:extLst>
                <a:ext uri="{FF2B5EF4-FFF2-40B4-BE49-F238E27FC236}">
                  <a16:creationId xmlns:a16="http://schemas.microsoft.com/office/drawing/2014/main" id="{9DF3E333-843A-4C2E-B214-EDF4A114D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1163" y="2077720"/>
              <a:ext cx="949959" cy="538480"/>
            </a:xfrm>
            <a:prstGeom prst="rect">
              <a:avLst/>
            </a:prstGeom>
            <a:solidFill>
              <a:srgbClr val="C6EBF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连接端口</a:t>
              </a:r>
            </a:p>
          </p:txBody>
        </p:sp>
        <p:sp>
          <p:nvSpPr>
            <p:cNvPr id="108555" name="矩形 9">
              <a:extLst>
                <a:ext uri="{FF2B5EF4-FFF2-40B4-BE49-F238E27FC236}">
                  <a16:creationId xmlns:a16="http://schemas.microsoft.com/office/drawing/2014/main" id="{3FBDA52F-100B-4816-8AF8-47C3CBA7F2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361" y="2890520"/>
              <a:ext cx="1549401" cy="538480"/>
            </a:xfrm>
            <a:prstGeom prst="rect">
              <a:avLst/>
            </a:prstGeom>
            <a:solidFill>
              <a:srgbClr val="C6EBF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客户机</a:t>
              </a:r>
              <a:endParaRPr lang="en-US" altLang="zh-CN" sz="1600"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通信端口</a:t>
              </a:r>
            </a:p>
          </p:txBody>
        </p:sp>
        <p:sp>
          <p:nvSpPr>
            <p:cNvPr id="108556" name="矩形 10">
              <a:extLst>
                <a:ext uri="{FF2B5EF4-FFF2-40B4-BE49-F238E27FC236}">
                  <a16:creationId xmlns:a16="http://schemas.microsoft.com/office/drawing/2014/main" id="{9C21F336-1C88-4EB7-8FF4-C53892574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0687" y="1747520"/>
              <a:ext cx="853440" cy="25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服务器</a:t>
              </a:r>
            </a:p>
          </p:txBody>
        </p:sp>
        <p:sp>
          <p:nvSpPr>
            <p:cNvPr id="108557" name="矩形 12">
              <a:extLst>
                <a:ext uri="{FF2B5EF4-FFF2-40B4-BE49-F238E27FC236}">
                  <a16:creationId xmlns:a16="http://schemas.microsoft.com/office/drawing/2014/main" id="{869627F2-6830-496F-8C66-4AD7F1A7E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580" y="3698875"/>
              <a:ext cx="1549401" cy="538480"/>
            </a:xfrm>
            <a:prstGeom prst="rect">
              <a:avLst/>
            </a:prstGeom>
            <a:solidFill>
              <a:srgbClr val="C6EBF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服务器</a:t>
              </a:r>
              <a:endParaRPr lang="en-US" altLang="zh-CN" sz="1600"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通信端口</a:t>
              </a:r>
            </a:p>
          </p:txBody>
        </p:sp>
        <p:sp>
          <p:nvSpPr>
            <p:cNvPr id="108558" name="矩形 13">
              <a:extLst>
                <a:ext uri="{FF2B5EF4-FFF2-40B4-BE49-F238E27FC236}">
                  <a16:creationId xmlns:a16="http://schemas.microsoft.com/office/drawing/2014/main" id="{2062150E-0DBD-4C7F-98BF-B817CEAD1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7020" y="4500563"/>
              <a:ext cx="1125222" cy="794068"/>
            </a:xfrm>
            <a:prstGeom prst="rect">
              <a:avLst/>
            </a:prstGeom>
            <a:solidFill>
              <a:srgbClr val="C6EBF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共享</a:t>
              </a:r>
              <a:endParaRPr lang="en-US" altLang="zh-CN" sz="1600"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区段对象</a:t>
              </a:r>
              <a:endParaRPr lang="en-US" altLang="zh-CN" sz="1600"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（</a:t>
              </a:r>
              <a:r>
                <a:rPr lang="en-US" altLang="zh-CN" sz="1600">
                  <a:ea typeface="微软雅黑" panose="020B0503020204020204" pitchFamily="34" charset="-122"/>
                </a:rPr>
                <a:t>&gt;256</a:t>
              </a:r>
              <a:r>
                <a:rPr lang="zh-CN" altLang="en-US" sz="1600">
                  <a:ea typeface="微软雅黑" panose="020B0503020204020204" pitchFamily="34" charset="-122"/>
                </a:rPr>
                <a:t>字节）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29E5CCC6-9244-46B8-871A-16C2C64031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12382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3.6 </a:t>
            </a:r>
            <a:r>
              <a:rPr lang="zh-CN" altLang="en-US" dirty="0">
                <a:ea typeface="微软雅黑" panose="020B0503020204020204" pitchFamily="34" charset="-122"/>
              </a:rPr>
              <a:t>客户机</a:t>
            </a:r>
            <a:r>
              <a:rPr lang="en-US" altLang="zh-CN" dirty="0">
                <a:ea typeface="微软雅黑" panose="020B0503020204020204" pitchFamily="34" charset="-122"/>
              </a:rPr>
              <a:t>—</a:t>
            </a:r>
            <a:r>
              <a:rPr lang="zh-CN" altLang="en-US" dirty="0">
                <a:ea typeface="微软雅黑" panose="020B0503020204020204" pitchFamily="34" charset="-122"/>
              </a:rPr>
              <a:t>服务器通信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1F58BC0D-FF08-4EF4-9FC8-EFFE80583B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5763" y="1254271"/>
            <a:ext cx="6794500" cy="45307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管道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套接字</a:t>
            </a:r>
            <a:r>
              <a:rPr lang="en-US" altLang="zh-CN" dirty="0">
                <a:ea typeface="微软雅黑" panose="020B0503020204020204" pitchFamily="34" charset="-122"/>
              </a:rPr>
              <a:t>*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远程过程调用</a:t>
            </a:r>
            <a:r>
              <a:rPr lang="en-US" altLang="zh-CN" dirty="0">
                <a:ea typeface="微软雅黑" panose="020B0503020204020204" pitchFamily="34" charset="-122"/>
              </a:rPr>
              <a:t>*</a:t>
            </a:r>
            <a:endParaRPr lang="zh-CN" altLang="en-US" dirty="0"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远程方法调用（</a:t>
            </a:r>
            <a:r>
              <a:rPr lang="en-US" altLang="zh-CN" dirty="0">
                <a:ea typeface="微软雅黑" panose="020B0503020204020204" pitchFamily="34" charset="-122"/>
              </a:rPr>
              <a:t>Java</a:t>
            </a:r>
            <a:r>
              <a:rPr lang="zh-CN" altLang="en-US" dirty="0"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ea typeface="微软雅黑" panose="020B0503020204020204" pitchFamily="34" charset="-122"/>
              </a:rPr>
              <a:t>*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1FBEC112-2E3B-49F2-BBDE-9E1808A9F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管道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3391D56E-BC06-4582-983A-5BD7D71D53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81892" y="1060596"/>
            <a:ext cx="10775372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管道允许两个进程进行通信</a:t>
            </a:r>
            <a:endParaRPr lang="en-US" altLang="en-US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问题：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管道允许单向通信还是双向通信？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如果允许双向通信， 它是半双工还是全双工？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通信进程之间是否应有一定的关系（如父子关系）？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管道通信能否通过网络， 还是只能在同一台机器上进行？</a:t>
            </a:r>
            <a:endParaRPr lang="en-US" altLang="en-US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普通管道</a:t>
            </a:r>
            <a:r>
              <a:rPr lang="en-US" altLang="zh-CN" dirty="0">
                <a:ea typeface="微软雅黑" panose="020B0503020204020204" pitchFamily="34" charset="-122"/>
              </a:rPr>
              <a:t>—</a:t>
            </a:r>
            <a:r>
              <a:rPr lang="zh-CN" altLang="en-US" dirty="0">
                <a:ea typeface="微软雅黑" panose="020B0503020204020204" pitchFamily="34" charset="-122"/>
              </a:rPr>
              <a:t>只能由创建进程访问。通常，父进程创建一个管道，并使用它与父进程创建的其它子进程通信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命名管道</a:t>
            </a:r>
            <a:r>
              <a:rPr lang="en-US" altLang="zh-CN" dirty="0">
                <a:ea typeface="微软雅黑" panose="020B0503020204020204" pitchFamily="34" charset="-122"/>
              </a:rPr>
              <a:t>—</a:t>
            </a:r>
            <a:r>
              <a:rPr lang="zh-CN" altLang="en-US" dirty="0">
                <a:ea typeface="微软雅黑" panose="020B0503020204020204" pitchFamily="34" charset="-122"/>
              </a:rPr>
              <a:t>可以在没有父子关系的情况下访问</a:t>
            </a:r>
            <a:endParaRPr lang="en-US" altLang="en-US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endParaRPr lang="en-US" altLang="en-US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itle 6">
            <a:extLst>
              <a:ext uri="{FF2B5EF4-FFF2-40B4-BE49-F238E27FC236}">
                <a16:creationId xmlns:a16="http://schemas.microsoft.com/office/drawing/2014/main" id="{7E183957-AFD9-44BD-AC21-2104E9ABA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0176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普通管道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54275" name="Content Placeholder 7">
            <a:extLst>
              <a:ext uri="{FF2B5EF4-FFF2-40B4-BE49-F238E27FC236}">
                <a16:creationId xmlns:a16="http://schemas.microsoft.com/office/drawing/2014/main" id="{0D58E197-68EE-4A52-B6E8-817F94EB2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73" y="963612"/>
            <a:ext cx="10577945" cy="49307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普通管道允许两个进程以标准的生产者</a:t>
            </a:r>
            <a:r>
              <a:rPr lang="en-US" altLang="zh-CN" dirty="0"/>
              <a:t>—</a:t>
            </a:r>
            <a:r>
              <a:rPr lang="zh-CN" altLang="en-US" dirty="0"/>
              <a:t>消费者方式进行通信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生产者写到一端（写入端）；消费者从另一端（读取端）读取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因此普通管道是单向的；实现双向通信需要创建</a:t>
            </a:r>
            <a:r>
              <a:rPr lang="en-US" altLang="zh-CN" dirty="0"/>
              <a:t>2</a:t>
            </a:r>
            <a:r>
              <a:rPr lang="zh-CN" altLang="en-US" dirty="0"/>
              <a:t>个管道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需要通信进程之间的父子关系</a:t>
            </a:r>
            <a:endParaRPr lang="en-US" dirty="0"/>
          </a:p>
        </p:txBody>
      </p:sp>
      <p:grpSp>
        <p:nvGrpSpPr>
          <p:cNvPr id="126980" name="组合 1">
            <a:extLst>
              <a:ext uri="{FF2B5EF4-FFF2-40B4-BE49-F238E27FC236}">
                <a16:creationId xmlns:a16="http://schemas.microsoft.com/office/drawing/2014/main" id="{8CCA0440-6069-4A71-ACCD-DB9EF211D0FC}"/>
              </a:ext>
            </a:extLst>
          </p:cNvPr>
          <p:cNvGrpSpPr>
            <a:grpSpLocks/>
          </p:cNvGrpSpPr>
          <p:nvPr/>
        </p:nvGrpSpPr>
        <p:grpSpPr bwMode="auto">
          <a:xfrm>
            <a:off x="5496501" y="4200965"/>
            <a:ext cx="5592763" cy="1703388"/>
            <a:chOff x="1831975" y="2965873"/>
            <a:chExt cx="5592762" cy="1703387"/>
          </a:xfrm>
        </p:grpSpPr>
        <p:pic>
          <p:nvPicPr>
            <p:cNvPr id="126981" name="Picture 4">
              <a:extLst>
                <a:ext uri="{FF2B5EF4-FFF2-40B4-BE49-F238E27FC236}">
                  <a16:creationId xmlns:a16="http://schemas.microsoft.com/office/drawing/2014/main" id="{9296482F-00A5-4E9B-B982-07748D8045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1975" y="2965873"/>
              <a:ext cx="5592762" cy="1703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6982" name="矩形 4">
              <a:extLst>
                <a:ext uri="{FF2B5EF4-FFF2-40B4-BE49-F238E27FC236}">
                  <a16:creationId xmlns:a16="http://schemas.microsoft.com/office/drawing/2014/main" id="{E9455420-5FA0-46C7-A605-6B94F6482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848" y="3026501"/>
              <a:ext cx="765650" cy="2866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父进程</a:t>
              </a:r>
            </a:p>
          </p:txBody>
        </p:sp>
        <p:sp>
          <p:nvSpPr>
            <p:cNvPr id="126983" name="矩形 5">
              <a:extLst>
                <a:ext uri="{FF2B5EF4-FFF2-40B4-BE49-F238E27FC236}">
                  <a16:creationId xmlns:a16="http://schemas.microsoft.com/office/drawing/2014/main" id="{2CEA4B29-DD19-46CF-9482-5E2FB5ED9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4504" y="3026501"/>
              <a:ext cx="765650" cy="2866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ea typeface="微软雅黑" panose="020B0503020204020204" pitchFamily="34" charset="-122"/>
                </a:rPr>
                <a:t>子进程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27A12773-0370-48BB-9D10-2AED69F34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73" y="4449289"/>
            <a:ext cx="4113863" cy="145506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itle 6">
            <a:extLst>
              <a:ext uri="{FF2B5EF4-FFF2-40B4-BE49-F238E27FC236}">
                <a16:creationId xmlns:a16="http://schemas.microsoft.com/office/drawing/2014/main" id="{7E183957-AFD9-44BD-AC21-2104E9ABA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0176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普通管道代码示例</a:t>
            </a:r>
            <a:endParaRPr lang="en-US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8570A5A-4490-48DD-86C7-2F21CC3CF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41" y="987135"/>
            <a:ext cx="3925984" cy="522062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-2147482604">
            <a:extLst>
              <a:ext uri="{FF2B5EF4-FFF2-40B4-BE49-F238E27FC236}">
                <a16:creationId xmlns:a16="http://schemas.microsoft.com/office/drawing/2014/main" id="{3A2AC769-0058-4A27-AF2D-D3661C7DB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677" y="1184564"/>
            <a:ext cx="3590706" cy="25042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0DFDBBE-E735-4A90-8BFB-0E74D4D44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737" y="4433181"/>
            <a:ext cx="1088274" cy="824620"/>
          </a:xfrm>
          <a:prstGeom prst="rect">
            <a:avLst/>
          </a:prstGeom>
        </p:spPr>
      </p:pic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2D5D447-3D32-4AB7-958E-F338F9182D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26826" y="872835"/>
            <a:ext cx="4924033" cy="570461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中使用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pipe( int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 ] )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调用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创建管道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普通管道只能在创建自己的进程中使用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父进程在创建子进程之前创建管道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根据进程创建过程，子进程会继承所创建的管道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父子进程使用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读，使用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父子进程分别关闭不使用的管道口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父子进程使用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read()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write()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系统调用进行读写操作</a:t>
            </a:r>
          </a:p>
        </p:txBody>
      </p:sp>
    </p:spTree>
    <p:extLst>
      <p:ext uri="{BB962C8B-B14F-4D97-AF65-F5344CB8AC3E}">
        <p14:creationId xmlns:p14="http://schemas.microsoft.com/office/powerpoint/2010/main" val="3710266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6">
            <a:extLst>
              <a:ext uri="{FF2B5EF4-FFF2-40B4-BE49-F238E27FC236}">
                <a16:creationId xmlns:a16="http://schemas.microsoft.com/office/drawing/2014/main" id="{26A81247-60B1-47CA-81E7-EA7A22456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7075" y="152401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命名管道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129027" name="Content Placeholder 7">
            <a:extLst>
              <a:ext uri="{FF2B5EF4-FFF2-40B4-BE49-F238E27FC236}">
                <a16:creationId xmlns:a16="http://schemas.microsoft.com/office/drawing/2014/main" id="{ACD61FEE-2399-4F49-A16C-D1B359DA05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6582" y="1233489"/>
            <a:ext cx="8685068" cy="45307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命名管道比普通管道更强大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通信是双向的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通信进程之间不需要父子关系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多个进程可以使用命名管道进行通信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a typeface="微软雅黑" panose="020B0503020204020204" pitchFamily="34" charset="-122"/>
              </a:rPr>
              <a:t>UNIX </a:t>
            </a:r>
            <a:r>
              <a:rPr lang="zh-CN" altLang="en-US" dirty="0"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ea typeface="微软雅黑" panose="020B0503020204020204" pitchFamily="34" charset="-122"/>
              </a:rPr>
              <a:t>Windows </a:t>
            </a:r>
            <a:r>
              <a:rPr lang="zh-CN" altLang="en-US" dirty="0">
                <a:ea typeface="微软雅黑" panose="020B0503020204020204" pitchFamily="34" charset="-122"/>
              </a:rPr>
              <a:t>系统支持命名管道</a:t>
            </a:r>
            <a:endParaRPr lang="en-US" altLang="en-US" dirty="0"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6">
            <a:extLst>
              <a:ext uri="{FF2B5EF4-FFF2-40B4-BE49-F238E27FC236}">
                <a16:creationId xmlns:a16="http://schemas.microsoft.com/office/drawing/2014/main" id="{26A81247-60B1-47CA-81E7-EA7A22456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7075" y="152401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命名管道</a:t>
            </a:r>
            <a:endParaRPr lang="en-US" altLang="en-US">
              <a:ea typeface="微软雅黑" panose="020B0503020204020204" pitchFamily="34" charset="-122"/>
            </a:endParaRPr>
          </a:p>
        </p:txBody>
      </p:sp>
      <p:sp>
        <p:nvSpPr>
          <p:cNvPr id="129027" name="Content Placeholder 7">
            <a:extLst>
              <a:ext uri="{FF2B5EF4-FFF2-40B4-BE49-F238E27FC236}">
                <a16:creationId xmlns:a16="http://schemas.microsoft.com/office/drawing/2014/main" id="{ACD61FEE-2399-4F49-A16C-D1B359DA05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6581" y="1233489"/>
            <a:ext cx="10442863" cy="4530725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altLang="zh-CN" dirty="0">
                <a:ea typeface="微软雅黑" panose="020B0503020204020204" pitchFamily="34" charset="-122"/>
              </a:rPr>
              <a:t>UNIX</a:t>
            </a:r>
            <a:r>
              <a:rPr lang="zh-CN" altLang="en-US" dirty="0">
                <a:ea typeface="微软雅黑" panose="020B0503020204020204" pitchFamily="34" charset="-122"/>
              </a:rPr>
              <a:t>系统中，命名管道</a:t>
            </a:r>
            <a:r>
              <a:rPr lang="en-US" altLang="zh-CN" dirty="0"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rgbClr val="0070C0"/>
                </a:solidFill>
              </a:rPr>
              <a:t>FIFO</a:t>
            </a:r>
            <a:r>
              <a:rPr lang="zh-CN" altLang="en-US" dirty="0">
                <a:solidFill>
                  <a:srgbClr val="0070C0"/>
                </a:solidFill>
              </a:rPr>
              <a:t>s</a:t>
            </a:r>
            <a:r>
              <a:rPr lang="en-US" altLang="zh-CN" dirty="0"/>
              <a:t>)</a:t>
            </a:r>
            <a:r>
              <a:rPr lang="zh-CN" altLang="en-US" dirty="0"/>
              <a:t>在文件系统中以文件形式存储在系统中</a:t>
            </a:r>
          </a:p>
          <a:p>
            <a:pPr lvl="1">
              <a:lnSpc>
                <a:spcPct val="2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使用</a:t>
            </a:r>
            <a:r>
              <a:rPr lang="en-US" altLang="zh-CN" b="1" dirty="0" err="1">
                <a:solidFill>
                  <a:srgbClr val="0070C0"/>
                </a:solidFill>
                <a:ea typeface="微软雅黑" panose="020B0503020204020204" pitchFamily="34" charset="-122"/>
              </a:rPr>
              <a:t>mkfifo</a:t>
            </a:r>
            <a:r>
              <a:rPr lang="en-US" altLang="zh-CN" b="1" dirty="0">
                <a:solidFill>
                  <a:srgbClr val="0070C0"/>
                </a:solidFill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ea typeface="微软雅黑" panose="020B0503020204020204" pitchFamily="34" charset="-122"/>
              </a:rPr>
              <a:t>调用进行创建，使用</a:t>
            </a:r>
            <a:r>
              <a:rPr lang="en-US" altLang="zh-CN" b="1" dirty="0">
                <a:solidFill>
                  <a:srgbClr val="0070C0"/>
                </a:solidFill>
              </a:rPr>
              <a:t>read(),write(),open()</a:t>
            </a:r>
            <a:r>
              <a:rPr lang="zh-CN" altLang="en-US" dirty="0"/>
              <a:t>调用进行操作</a:t>
            </a:r>
            <a:endParaRPr lang="en-US" altLang="zh-CN" dirty="0"/>
          </a:p>
          <a:p>
            <a:pPr lvl="1">
              <a:lnSpc>
                <a:spcPct val="250000"/>
              </a:lnSpc>
            </a:pPr>
            <a:r>
              <a:rPr lang="en-US" altLang="zh-CN" dirty="0">
                <a:ea typeface="微软雅黑" panose="020B0503020204020204" pitchFamily="34" charset="-122"/>
              </a:rPr>
              <a:t>UNIX</a:t>
            </a:r>
            <a:r>
              <a:rPr lang="zh-CN" altLang="en-US" dirty="0">
                <a:ea typeface="微软雅黑" panose="020B0503020204020204" pitchFamily="34" charset="-122"/>
              </a:rPr>
              <a:t>的命名管道</a:t>
            </a:r>
            <a:r>
              <a:rPr lang="zh-CN" altLang="en-US" dirty="0"/>
              <a:t>是</a:t>
            </a:r>
            <a:r>
              <a:rPr lang="zh-CN" altLang="en-US" dirty="0">
                <a:ea typeface="微软雅黑" panose="020B0503020204020204" pitchFamily="34" charset="-122"/>
              </a:rPr>
              <a:t>双向的，但也是半双工的，仍需要建立</a:t>
            </a:r>
            <a:r>
              <a:rPr lang="en-US" altLang="zh-CN" dirty="0">
                <a:ea typeface="微软雅黑" panose="020B0503020204020204" pitchFamily="34" charset="-122"/>
              </a:rPr>
              <a:t>2</a:t>
            </a:r>
            <a:r>
              <a:rPr lang="zh-CN" altLang="en-US" dirty="0">
                <a:ea typeface="微软雅黑" panose="020B0503020204020204" pitchFamily="34" charset="-122"/>
              </a:rPr>
              <a:t>个管道来进行双向通信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2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命名管道只能在同一台机器上使用，跨机器通信需要使用</a:t>
            </a:r>
            <a:r>
              <a:rPr lang="en-US" altLang="zh-CN" b="1" dirty="0">
                <a:solidFill>
                  <a:srgbClr val="0070C0"/>
                </a:solidFill>
              </a:rPr>
              <a:t>Socket</a:t>
            </a:r>
            <a:r>
              <a:rPr lang="zh-CN" altLang="en-US" b="1" dirty="0">
                <a:solidFill>
                  <a:srgbClr val="0070C0"/>
                </a:solidFill>
              </a:rPr>
              <a:t>套接字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9689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Code Examples of Message queue (POSIX, System V)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3.1, 3.5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3.8, 3.9, 3.12, 3.13, 3.14, 3.17,</a:t>
            </a:r>
          </a:p>
        </p:txBody>
      </p:sp>
    </p:spTree>
    <p:extLst>
      <p:ext uri="{BB962C8B-B14F-4D97-AF65-F5344CB8AC3E}">
        <p14:creationId xmlns:p14="http://schemas.microsoft.com/office/powerpoint/2010/main" val="39733451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6007B1C2-0034-4FE2-8141-122EA5820A9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第三章 结束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5698</TotalTime>
  <Words>4237</Words>
  <Application>Microsoft Office PowerPoint</Application>
  <PresentationFormat>宽屏</PresentationFormat>
  <Paragraphs>486</Paragraphs>
  <Slides>61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1" baseType="lpstr">
      <vt:lpstr>Monaco</vt:lpstr>
      <vt:lpstr>Monotype Sorts</vt:lpstr>
      <vt:lpstr>等线</vt:lpstr>
      <vt:lpstr>微软雅黑</vt:lpstr>
      <vt:lpstr>Arial</vt:lpstr>
      <vt:lpstr>Helvetica</vt:lpstr>
      <vt:lpstr>Times New Roman</vt:lpstr>
      <vt:lpstr>Verdana</vt:lpstr>
      <vt:lpstr>Wingdings</vt:lpstr>
      <vt:lpstr>os-8</vt:lpstr>
      <vt:lpstr>第三章  进程管理</vt:lpstr>
      <vt:lpstr>第三章  进程管理</vt:lpstr>
      <vt:lpstr>3.1 进程概念</vt:lpstr>
      <vt:lpstr>进程概念</vt:lpstr>
      <vt:lpstr>程序 VS 进程</vt:lpstr>
      <vt:lpstr>进程状态</vt:lpstr>
      <vt:lpstr>进程状态图</vt:lpstr>
      <vt:lpstr>进程查看</vt:lpstr>
      <vt:lpstr>进程控制块 (PCB)</vt:lpstr>
      <vt:lpstr>Linux的进程表示</vt:lpstr>
      <vt:lpstr>线程</vt:lpstr>
      <vt:lpstr>3.2 进程调度</vt:lpstr>
      <vt:lpstr>表示进程调度的队列图</vt:lpstr>
      <vt:lpstr>就绪队列和各种 I/O 设备队列</vt:lpstr>
      <vt:lpstr>调度程序</vt:lpstr>
      <vt:lpstr>添加中级调度程序</vt:lpstr>
      <vt:lpstr>调度程序</vt:lpstr>
      <vt:lpstr>上下文切换</vt:lpstr>
      <vt:lpstr>进程间的上下文切换</vt:lpstr>
      <vt:lpstr>3.3 进程操作</vt:lpstr>
      <vt:lpstr>进程创建</vt:lpstr>
      <vt:lpstr>典型Linux系统的进程树</vt:lpstr>
      <vt:lpstr>父子进程执行</vt:lpstr>
      <vt:lpstr>进程创建</vt:lpstr>
      <vt:lpstr>C程序调用fork（）来创建一个单独进程</vt:lpstr>
      <vt:lpstr>通过 WindowsAPI 创建一个单独进程</vt:lpstr>
      <vt:lpstr>进程终止</vt:lpstr>
      <vt:lpstr>进程终止</vt:lpstr>
      <vt:lpstr>进程终止</vt:lpstr>
      <vt:lpstr>进程终止</vt:lpstr>
      <vt:lpstr>3.4 进程通信</vt:lpstr>
      <vt:lpstr>通信模型</vt:lpstr>
      <vt:lpstr>共享内存</vt:lpstr>
      <vt:lpstr>生产者—消费者问题</vt:lpstr>
      <vt:lpstr>有界缓冲区—共享内存同步解决方案</vt:lpstr>
      <vt:lpstr>有界缓冲区——生产者进程</vt:lpstr>
      <vt:lpstr>有界缓冲区——消费者进程</vt:lpstr>
      <vt:lpstr>进程间通信——共享内存</vt:lpstr>
      <vt:lpstr>进程间通信——消息传递</vt:lpstr>
      <vt:lpstr>消息传递</vt:lpstr>
      <vt:lpstr>消息传递</vt:lpstr>
      <vt:lpstr>直接通信</vt:lpstr>
      <vt:lpstr>间接通信</vt:lpstr>
      <vt:lpstr>间接通信</vt:lpstr>
      <vt:lpstr>间接通信</vt:lpstr>
      <vt:lpstr>同步与异步</vt:lpstr>
      <vt:lpstr>简单的同步</vt:lpstr>
      <vt:lpstr>缓冲（buffering）</vt:lpstr>
      <vt:lpstr>3.5 IPC 系统示例——POSIX</vt:lpstr>
      <vt:lpstr>IPC POSIX共享内存示例</vt:lpstr>
      <vt:lpstr>IPC 系统示例——Mach*</vt:lpstr>
      <vt:lpstr>IPC 系统示例——Windows*</vt:lpstr>
      <vt:lpstr>Windows高级本地程序调用</vt:lpstr>
      <vt:lpstr>3.6 客户机—服务器通信</vt:lpstr>
      <vt:lpstr>管道</vt:lpstr>
      <vt:lpstr>普通管道</vt:lpstr>
      <vt:lpstr>普通管道代码示例</vt:lpstr>
      <vt:lpstr>命名管道</vt:lpstr>
      <vt:lpstr>命名管道</vt:lpstr>
      <vt:lpstr>Exercises</vt:lpstr>
      <vt:lpstr>第三章 结束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Operating-System Structures</dc:title>
  <dc:creator>surd</dc:creator>
  <cp:lastModifiedBy>祥宇</cp:lastModifiedBy>
  <cp:revision>208</cp:revision>
  <dcterms:created xsi:type="dcterms:W3CDTF">2017-09-07T08:55:48Z</dcterms:created>
  <dcterms:modified xsi:type="dcterms:W3CDTF">2026-03-13T01:09:30Z</dcterms:modified>
</cp:coreProperties>
</file>