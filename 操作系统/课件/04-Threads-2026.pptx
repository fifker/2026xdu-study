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331" r:id="rId2"/>
    <p:sldId id="332" r:id="rId3"/>
    <p:sldId id="334" r:id="rId4"/>
    <p:sldId id="509" r:id="rId5"/>
    <p:sldId id="508" r:id="rId6"/>
    <p:sldId id="510" r:id="rId7"/>
    <p:sldId id="335" r:id="rId8"/>
    <p:sldId id="336" r:id="rId9"/>
    <p:sldId id="511" r:id="rId10"/>
    <p:sldId id="338" r:id="rId11"/>
    <p:sldId id="337" r:id="rId12"/>
    <p:sldId id="512" r:id="rId13"/>
    <p:sldId id="374" r:id="rId14"/>
    <p:sldId id="340" r:id="rId15"/>
    <p:sldId id="513" r:id="rId16"/>
    <p:sldId id="342" r:id="rId17"/>
    <p:sldId id="343" r:id="rId18"/>
    <p:sldId id="344" r:id="rId19"/>
    <p:sldId id="345" r:id="rId20"/>
    <p:sldId id="346" r:id="rId21"/>
    <p:sldId id="507" r:id="rId22"/>
    <p:sldId id="348" r:id="rId23"/>
    <p:sldId id="349" r:id="rId24"/>
    <p:sldId id="352" r:id="rId25"/>
    <p:sldId id="354" r:id="rId26"/>
    <p:sldId id="356" r:id="rId27"/>
    <p:sldId id="357" r:id="rId28"/>
    <p:sldId id="358" r:id="rId29"/>
    <p:sldId id="514" r:id="rId30"/>
    <p:sldId id="359" r:id="rId31"/>
    <p:sldId id="360" r:id="rId32"/>
    <p:sldId id="373" r:id="rId33"/>
    <p:sldId id="361" r:id="rId34"/>
    <p:sldId id="362" r:id="rId35"/>
    <p:sldId id="363" r:id="rId36"/>
    <p:sldId id="375" r:id="rId37"/>
    <p:sldId id="364" r:id="rId38"/>
    <p:sldId id="365" r:id="rId39"/>
    <p:sldId id="366" r:id="rId40"/>
    <p:sldId id="367" r:id="rId41"/>
    <p:sldId id="368" r:id="rId42"/>
    <p:sldId id="371" r:id="rId43"/>
    <p:sldId id="376" r:id="rId44"/>
    <p:sldId id="369" r:id="rId45"/>
    <p:sldId id="309"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93" autoAdjust="0"/>
    <p:restoredTop sz="78933" autoAdjust="0"/>
  </p:normalViewPr>
  <p:slideViewPr>
    <p:cSldViewPr snapToGrid="0">
      <p:cViewPr varScale="1">
        <p:scale>
          <a:sx n="94" d="100"/>
          <a:sy n="94" d="100"/>
        </p:scale>
        <p:origin x="140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3899D-56CA-4428-AC83-C31E5D7CF5DB}" type="datetimeFigureOut">
              <a:rPr lang="zh-CN" altLang="en-US" smtClean="0"/>
              <a:t>2026/3/13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BB334-FCDD-4A9A-BA25-043E3AFEFE50}" type="slidenum">
              <a:rPr lang="zh-CN" altLang="en-US" smtClean="0"/>
              <a:t>‹#›</a:t>
            </a:fld>
            <a:endParaRPr lang="zh-CN" altLang="en-US"/>
          </a:p>
        </p:txBody>
      </p:sp>
    </p:spTree>
    <p:extLst>
      <p:ext uri="{BB962C8B-B14F-4D97-AF65-F5344CB8AC3E}">
        <p14:creationId xmlns:p14="http://schemas.microsoft.com/office/powerpoint/2010/main" val="1572184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0722C86-285E-4288-9880-FB53FEE832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9D5F5E7-2F66-4376-ABA2-125A2FB71EB0}" type="slidenum">
              <a:rPr lang="en-US" altLang="en-US">
                <a:latin typeface="Helvetica" panose="020B0604020202020204" pitchFamily="34" charset="0"/>
              </a:rPr>
              <a:pPr>
                <a:spcBef>
                  <a:spcPct val="0"/>
                </a:spcBef>
              </a:pPr>
              <a:t>1</a:t>
            </a:fld>
            <a:endParaRPr lang="en-US" altLang="en-US">
              <a:latin typeface="Helvetica" panose="020B0604020202020204" pitchFamily="34" charset="0"/>
            </a:endParaRPr>
          </a:p>
        </p:txBody>
      </p:sp>
      <p:sp>
        <p:nvSpPr>
          <p:cNvPr id="6147" name="Rectangle 2">
            <a:extLst>
              <a:ext uri="{FF2B5EF4-FFF2-40B4-BE49-F238E27FC236}">
                <a16:creationId xmlns:a16="http://schemas.microsoft.com/office/drawing/2014/main" id="{F1E2EC63-DAC7-4C5F-9EA2-7EAA8358CB64}"/>
              </a:ext>
            </a:extLst>
          </p:cNvPr>
          <p:cNvSpPr>
            <a:spLocks noGrp="1" noRot="1" noChangeAspect="1" noChangeArrowheads="1" noTextEdit="1"/>
          </p:cNvSpPr>
          <p:nvPr>
            <p:ph type="sldImg" idx="4294967295"/>
          </p:nvPr>
        </p:nvSpPr>
        <p:spPr>
          <a:ln/>
        </p:spPr>
      </p:sp>
      <p:sp>
        <p:nvSpPr>
          <p:cNvPr id="6148" name="Rectangle 3">
            <a:extLst>
              <a:ext uri="{FF2B5EF4-FFF2-40B4-BE49-F238E27FC236}">
                <a16:creationId xmlns:a16="http://schemas.microsoft.com/office/drawing/2014/main" id="{E716833E-3181-4474-8CB6-4635CBDC7EF8}"/>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34C6FA8B-CBD6-4846-B542-5B39448A0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69021D3-611B-43EC-8BC8-19EDE0861567}" type="slidenum">
              <a:rPr lang="en-US" altLang="en-US">
                <a:latin typeface="Helvetica" panose="020B0604020202020204" pitchFamily="34" charset="0"/>
              </a:rPr>
              <a:pPr>
                <a:spcBef>
                  <a:spcPct val="0"/>
                </a:spcBef>
              </a:pPr>
              <a:t>2</a:t>
            </a:fld>
            <a:endParaRPr lang="en-US" altLang="en-US">
              <a:latin typeface="Helvetica" panose="020B0604020202020204" pitchFamily="34" charset="0"/>
            </a:endParaRPr>
          </a:p>
        </p:txBody>
      </p:sp>
      <p:sp>
        <p:nvSpPr>
          <p:cNvPr id="8195" name="Rectangle 2">
            <a:extLst>
              <a:ext uri="{FF2B5EF4-FFF2-40B4-BE49-F238E27FC236}">
                <a16:creationId xmlns:a16="http://schemas.microsoft.com/office/drawing/2014/main" id="{E83E33A8-D23D-40BF-9893-96B164BCFDD2}"/>
              </a:ext>
            </a:extLst>
          </p:cNvPr>
          <p:cNvSpPr>
            <a:spLocks noGrp="1" noRot="1" noChangeAspect="1" noChangeArrowheads="1" noTextEdit="1"/>
          </p:cNvSpPr>
          <p:nvPr>
            <p:ph type="sldImg" idx="4294967295"/>
          </p:nvPr>
        </p:nvSpPr>
        <p:spPr>
          <a:ln/>
        </p:spPr>
      </p:sp>
      <p:sp>
        <p:nvSpPr>
          <p:cNvPr id="8196" name="Rectangle 3">
            <a:extLst>
              <a:ext uri="{FF2B5EF4-FFF2-40B4-BE49-F238E27FC236}">
                <a16:creationId xmlns:a16="http://schemas.microsoft.com/office/drawing/2014/main" id="{BB78E114-A32F-43EB-B59D-11BFC823D88B}"/>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9A1225D-0EEB-46D7-A5C4-88A4993ABDB3}"/>
              </a:ext>
            </a:extLst>
          </p:cNvPr>
          <p:cNvSpPr>
            <a:spLocks noGrp="1" noRot="1" noChangeAspect="1" noChangeArrowheads="1" noTextEdit="1"/>
          </p:cNvSpPr>
          <p:nvPr>
            <p:ph type="sldImg" idx="4294967295"/>
          </p:nvPr>
        </p:nvSpPr>
        <p:spPr>
          <a:ln/>
        </p:spPr>
      </p:sp>
      <p:sp>
        <p:nvSpPr>
          <p:cNvPr id="13315" name="Rectangle 3">
            <a:extLst>
              <a:ext uri="{FF2B5EF4-FFF2-40B4-BE49-F238E27FC236}">
                <a16:creationId xmlns:a16="http://schemas.microsoft.com/office/drawing/2014/main" id="{F2F05C47-404A-4E22-BE2B-6D88E06A7A3C}"/>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C83D3986-3C44-482E-9740-1CD44F902F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997EF7A-1CF6-442E-B54C-03AAF86300D2}" type="slidenum">
              <a:rPr lang="en-US" altLang="en-US">
                <a:latin typeface="Helvetica" panose="020B0604020202020204" pitchFamily="34" charset="0"/>
              </a:rPr>
              <a:pPr>
                <a:spcBef>
                  <a:spcPct val="0"/>
                </a:spcBef>
              </a:pPr>
              <a:t>8</a:t>
            </a:fld>
            <a:endParaRPr lang="en-US" altLang="en-US">
              <a:latin typeface="Helvetica" panose="020B0604020202020204" pitchFamily="34" charset="0"/>
            </a:endParaRPr>
          </a:p>
        </p:txBody>
      </p:sp>
      <p:sp>
        <p:nvSpPr>
          <p:cNvPr id="15363" name="Rectangle 2">
            <a:extLst>
              <a:ext uri="{FF2B5EF4-FFF2-40B4-BE49-F238E27FC236}">
                <a16:creationId xmlns:a16="http://schemas.microsoft.com/office/drawing/2014/main" id="{EF4B7147-5B25-4818-8E6E-D3B15AA3E10C}"/>
              </a:ext>
            </a:extLst>
          </p:cNvPr>
          <p:cNvSpPr>
            <a:spLocks noGrp="1" noRot="1" noChangeAspect="1" noChangeArrowheads="1" noTextEdit="1"/>
          </p:cNvSpPr>
          <p:nvPr>
            <p:ph type="sldImg" idx="4294967295"/>
          </p:nvPr>
        </p:nvSpPr>
        <p:spPr>
          <a:ln/>
        </p:spPr>
      </p:sp>
      <p:sp>
        <p:nvSpPr>
          <p:cNvPr id="15364" name="Rectangle 3">
            <a:extLst>
              <a:ext uri="{FF2B5EF4-FFF2-40B4-BE49-F238E27FC236}">
                <a16:creationId xmlns:a16="http://schemas.microsoft.com/office/drawing/2014/main" id="{83F05383-6081-4180-9DCA-7C1DD2E2CB23}"/>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86B2CE9-5111-442D-AFEE-9C969D417AC3}"/>
              </a:ext>
            </a:extLst>
          </p:cNvPr>
          <p:cNvSpPr>
            <a:spLocks noGrp="1" noRot="1" noChangeAspect="1" noChangeArrowheads="1" noTextEdit="1"/>
          </p:cNvSpPr>
          <p:nvPr>
            <p:ph type="sldImg" idx="4294967295"/>
          </p:nvPr>
        </p:nvSpPr>
        <p:spPr>
          <a:ln/>
        </p:spPr>
      </p:sp>
      <p:sp>
        <p:nvSpPr>
          <p:cNvPr id="17411" name="Rectangle 3">
            <a:extLst>
              <a:ext uri="{FF2B5EF4-FFF2-40B4-BE49-F238E27FC236}">
                <a16:creationId xmlns:a16="http://schemas.microsoft.com/office/drawing/2014/main" id="{16E0DD75-FAD3-41A9-B6A7-C1AABF396E7F}"/>
              </a:ext>
            </a:extLst>
          </p:cNvPr>
          <p:cNvSpPr>
            <a:spLocks noGrp="1" noChangeArrowheads="1"/>
          </p:cNvSpPr>
          <p:nvPr>
            <p:ph type="body" idx="4294967295"/>
          </p:nvPr>
        </p:nvSpPr>
        <p:spPr/>
        <p:txBody>
          <a:bodyPr>
            <a:prstTxWarp prst="textNoShape">
              <a:avLst/>
            </a:prstTxWarp>
          </a:bodyPr>
          <a:lstStyle/>
          <a:p>
            <a:endParaRPr lang="en-US" altLang="en-US"/>
          </a:p>
        </p:txBody>
      </p:sp>
    </p:spTree>
    <p:extLst>
      <p:ext uri="{BB962C8B-B14F-4D97-AF65-F5344CB8AC3E}">
        <p14:creationId xmlns:p14="http://schemas.microsoft.com/office/powerpoint/2010/main" val="3546734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E9116DF-9F00-4766-92C1-64A80253E9D2}"/>
              </a:ext>
            </a:extLst>
          </p:cNvPr>
          <p:cNvSpPr>
            <a:spLocks noGrp="1" noRot="1" noChangeAspect="1" noChangeArrowheads="1" noTextEdit="1"/>
          </p:cNvSpPr>
          <p:nvPr>
            <p:ph type="sldImg" idx="4294967295"/>
          </p:nvPr>
        </p:nvSpPr>
        <p:spPr>
          <a:ln/>
        </p:spPr>
      </p:sp>
      <p:sp>
        <p:nvSpPr>
          <p:cNvPr id="21507" name="Rectangle 3">
            <a:extLst>
              <a:ext uri="{FF2B5EF4-FFF2-40B4-BE49-F238E27FC236}">
                <a16:creationId xmlns:a16="http://schemas.microsoft.com/office/drawing/2014/main" id="{8460141A-F505-40D0-B7DC-23747BDC23C7}"/>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86B2CE9-5111-442D-AFEE-9C969D417AC3}"/>
              </a:ext>
            </a:extLst>
          </p:cNvPr>
          <p:cNvSpPr>
            <a:spLocks noGrp="1" noRot="1" noChangeAspect="1" noChangeArrowheads="1" noTextEdit="1"/>
          </p:cNvSpPr>
          <p:nvPr>
            <p:ph type="sldImg" idx="4294967295"/>
          </p:nvPr>
        </p:nvSpPr>
        <p:spPr>
          <a:ln/>
        </p:spPr>
      </p:sp>
      <p:sp>
        <p:nvSpPr>
          <p:cNvPr id="17411" name="Rectangle 3">
            <a:extLst>
              <a:ext uri="{FF2B5EF4-FFF2-40B4-BE49-F238E27FC236}">
                <a16:creationId xmlns:a16="http://schemas.microsoft.com/office/drawing/2014/main" id="{16E0DD75-FAD3-41A9-B6A7-C1AABF396E7F}"/>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86B2CE9-5111-442D-AFEE-9C969D417AC3}"/>
              </a:ext>
            </a:extLst>
          </p:cNvPr>
          <p:cNvSpPr>
            <a:spLocks noGrp="1" noRot="1" noChangeAspect="1" noChangeArrowheads="1" noTextEdit="1"/>
          </p:cNvSpPr>
          <p:nvPr>
            <p:ph type="sldImg" idx="4294967295"/>
          </p:nvPr>
        </p:nvSpPr>
        <p:spPr>
          <a:ln/>
        </p:spPr>
      </p:sp>
      <p:sp>
        <p:nvSpPr>
          <p:cNvPr id="17411" name="Rectangle 3">
            <a:extLst>
              <a:ext uri="{FF2B5EF4-FFF2-40B4-BE49-F238E27FC236}">
                <a16:creationId xmlns:a16="http://schemas.microsoft.com/office/drawing/2014/main" id="{16E0DD75-FAD3-41A9-B6A7-C1AABF396E7F}"/>
              </a:ext>
            </a:extLst>
          </p:cNvPr>
          <p:cNvSpPr>
            <a:spLocks noGrp="1" noChangeArrowheads="1"/>
          </p:cNvSpPr>
          <p:nvPr>
            <p:ph type="body" idx="4294967295"/>
          </p:nvPr>
        </p:nvSpPr>
        <p:spPr/>
        <p:txBody>
          <a:bodyPr>
            <a:prstTxWarp prst="textNoShape">
              <a:avLst/>
            </a:prstTxWarp>
          </a:bodyPr>
          <a:lstStyle/>
          <a:p>
            <a:endParaRPr lang="en-US" altLang="en-US"/>
          </a:p>
        </p:txBody>
      </p:sp>
    </p:spTree>
    <p:extLst>
      <p:ext uri="{BB962C8B-B14F-4D97-AF65-F5344CB8AC3E}">
        <p14:creationId xmlns:p14="http://schemas.microsoft.com/office/powerpoint/2010/main" val="576493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9727F6E-F5AC-454B-ABA5-51B44613CC67}"/>
              </a:ext>
            </a:extLst>
          </p:cNvPr>
          <p:cNvSpPr>
            <a:spLocks noGrp="1" noRot="1" noChangeAspect="1" noChangeArrowheads="1" noTextEdit="1"/>
          </p:cNvSpPr>
          <p:nvPr>
            <p:ph type="sldImg" idx="4294967295"/>
          </p:nvPr>
        </p:nvSpPr>
        <p:spPr>
          <a:ln/>
        </p:spPr>
      </p:sp>
      <p:sp>
        <p:nvSpPr>
          <p:cNvPr id="19459" name="Rectangle 3">
            <a:extLst>
              <a:ext uri="{FF2B5EF4-FFF2-40B4-BE49-F238E27FC236}">
                <a16:creationId xmlns:a16="http://schemas.microsoft.com/office/drawing/2014/main" id="{6A089831-00C5-4CC8-BAF2-D191B845A5CC}"/>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61D72D68-5999-4046-8D66-22C96C9C80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B219B25-6A81-4E40-A22F-708E69F28B19}" type="slidenum">
              <a:rPr lang="en-US" altLang="en-US">
                <a:latin typeface="Helvetica" panose="020B0604020202020204" pitchFamily="34" charset="0"/>
              </a:rPr>
              <a:pPr>
                <a:spcBef>
                  <a:spcPct val="0"/>
                </a:spcBef>
              </a:pPr>
              <a:t>14</a:t>
            </a:fld>
            <a:endParaRPr lang="en-US" altLang="en-US">
              <a:latin typeface="Helvetica" panose="020B0604020202020204" pitchFamily="34" charset="0"/>
            </a:endParaRPr>
          </a:p>
        </p:txBody>
      </p:sp>
      <p:sp>
        <p:nvSpPr>
          <p:cNvPr id="25603" name="Rectangle 2">
            <a:extLst>
              <a:ext uri="{FF2B5EF4-FFF2-40B4-BE49-F238E27FC236}">
                <a16:creationId xmlns:a16="http://schemas.microsoft.com/office/drawing/2014/main" id="{679661C3-7F34-4B24-9E61-1B869B2D847A}"/>
              </a:ext>
            </a:extLst>
          </p:cNvPr>
          <p:cNvSpPr>
            <a:spLocks noGrp="1" noRot="1" noChangeAspect="1" noChangeArrowheads="1" noTextEdit="1"/>
          </p:cNvSpPr>
          <p:nvPr>
            <p:ph type="sldImg" idx="4294967295"/>
          </p:nvPr>
        </p:nvSpPr>
        <p:spPr>
          <a:ln/>
        </p:spPr>
      </p:sp>
      <p:sp>
        <p:nvSpPr>
          <p:cNvPr id="25604" name="Rectangle 3">
            <a:extLst>
              <a:ext uri="{FF2B5EF4-FFF2-40B4-BE49-F238E27FC236}">
                <a16:creationId xmlns:a16="http://schemas.microsoft.com/office/drawing/2014/main" id="{BC935DFC-8599-4735-B05B-38A22D3174A1}"/>
              </a:ext>
            </a:extLst>
          </p:cNvPr>
          <p:cNvSpPr>
            <a:spLocks noGrp="1" noChangeArrowheads="1"/>
          </p:cNvSpPr>
          <p:nvPr>
            <p:ph type="body" idx="4294967295"/>
          </p:nvPr>
        </p:nvSpPr>
        <p:spPr/>
        <p:txBody>
          <a:bodyPr>
            <a:prstTxWarp prst="textNoShape">
              <a:avLst/>
            </a:prstTxWarp>
          </a:bodyPr>
          <a:lstStyle/>
          <a:p>
            <a:r>
              <a:rPr lang="zh-CN" altLang="en-US" dirty="0"/>
              <a:t>阿姆达尔定律 </a:t>
            </a:r>
            <a:endParaRPr lang="en-US" altLang="zh-CN" dirty="0"/>
          </a:p>
          <a:p>
            <a:r>
              <a:rPr lang="zh-CN" altLang="en-US" dirty="0"/>
              <a:t>阿姆达尔曾致力于并行处理系统的研究。对于固定负载情况下描述并行处理效果的加速比</a:t>
            </a:r>
            <a:r>
              <a:rPr lang="en-US" altLang="zh-CN" dirty="0"/>
              <a:t>s</a:t>
            </a:r>
            <a:r>
              <a:rPr lang="zh-CN" altLang="en-US" dirty="0"/>
              <a:t>，阿姆达尔经过深入研究给出了如下公式：</a:t>
            </a:r>
            <a:r>
              <a:rPr lang="en-US" altLang="zh-CN" dirty="0"/>
              <a:t>S=1/((1-a)+a/n)</a:t>
            </a:r>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BDD11695-DA83-4601-8B2B-1AE14ACFED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24C9A72-8FBE-4EB1-AB1C-AEFF66218077}" type="slidenum">
              <a:rPr lang="en-US" altLang="en-US">
                <a:latin typeface="Helvetica" panose="020B0604020202020204" pitchFamily="34" charset="0"/>
              </a:rPr>
              <a:pPr>
                <a:spcBef>
                  <a:spcPct val="0"/>
                </a:spcBef>
              </a:pPr>
              <a:t>15</a:t>
            </a:fld>
            <a:endParaRPr lang="en-US" altLang="en-US">
              <a:latin typeface="Helvetica" panose="020B0604020202020204" pitchFamily="34" charset="0"/>
            </a:endParaRPr>
          </a:p>
        </p:txBody>
      </p:sp>
      <p:sp>
        <p:nvSpPr>
          <p:cNvPr id="27651" name="Rectangle 2">
            <a:extLst>
              <a:ext uri="{FF2B5EF4-FFF2-40B4-BE49-F238E27FC236}">
                <a16:creationId xmlns:a16="http://schemas.microsoft.com/office/drawing/2014/main" id="{5DEAA5FD-33AC-4E05-A397-799D8880A773}"/>
              </a:ext>
            </a:extLst>
          </p:cNvPr>
          <p:cNvSpPr>
            <a:spLocks noGrp="1" noRot="1" noChangeAspect="1" noChangeArrowheads="1" noTextEdit="1"/>
          </p:cNvSpPr>
          <p:nvPr>
            <p:ph type="sldImg" idx="4294967295"/>
          </p:nvPr>
        </p:nvSpPr>
        <p:spPr>
          <a:ln/>
        </p:spPr>
      </p:sp>
      <p:sp>
        <p:nvSpPr>
          <p:cNvPr id="27652" name="Rectangle 3">
            <a:extLst>
              <a:ext uri="{FF2B5EF4-FFF2-40B4-BE49-F238E27FC236}">
                <a16:creationId xmlns:a16="http://schemas.microsoft.com/office/drawing/2014/main" id="{4AE410E9-9E71-453E-A585-982DCEAC1840}"/>
              </a:ext>
            </a:extLst>
          </p:cNvPr>
          <p:cNvSpPr>
            <a:spLocks noGrp="1" noChangeArrowheads="1"/>
          </p:cNvSpPr>
          <p:nvPr>
            <p:ph type="body" idx="4294967295"/>
          </p:nvPr>
        </p:nvSpPr>
        <p:spPr/>
        <p:txBody>
          <a:bodyPr>
            <a:prstTxWarp prst="textNoShape">
              <a:avLst/>
            </a:prstTxWarp>
          </a:bodyPr>
          <a:lstStyle/>
          <a:p>
            <a:r>
              <a:rPr lang="zh-CN" altLang="en-US" dirty="0"/>
              <a:t>用户线程指不需要内核支持而在用户程序中实现的线程，其不依赖于操作系统核心，应用进程利用线程库提供创建、同步、调度和管理线程的函数来控制用户线程。不需要用户态</a:t>
            </a:r>
            <a:r>
              <a:rPr lang="en-US" altLang="zh-CN" dirty="0"/>
              <a:t>/</a:t>
            </a:r>
            <a:r>
              <a:rPr lang="zh-CN" altLang="en-US" dirty="0"/>
              <a:t>核心态切换，速度快，操作系统内核不知道多线程的存在，因此一个线程阻塞将使得整个进程（包括它的所有线程）阻塞。由于这里的处理器时间片分配是以进程为基本单位，所以每个线程执行的时间相对减少。</a:t>
            </a:r>
          </a:p>
          <a:p>
            <a:endParaRPr lang="zh-CN" altLang="en-US" dirty="0"/>
          </a:p>
          <a:p>
            <a:r>
              <a:rPr lang="zh-CN" altLang="en-US" dirty="0"/>
              <a:t>内核线程：由操作系统内核创建和撤销。内核维护进程及线程的上下文信息以及线程切换。一个内核线程由于</a:t>
            </a:r>
            <a:r>
              <a:rPr lang="en-US" altLang="zh-CN" dirty="0"/>
              <a:t>I/O</a:t>
            </a:r>
            <a:r>
              <a:rPr lang="zh-CN" altLang="en-US" dirty="0"/>
              <a:t>操作而阻塞，不会影响其它线程的运行。</a:t>
            </a:r>
            <a:endParaRPr lang="en-US" altLang="en-US" dirty="0"/>
          </a:p>
        </p:txBody>
      </p:sp>
    </p:spTree>
    <p:extLst>
      <p:ext uri="{BB962C8B-B14F-4D97-AF65-F5344CB8AC3E}">
        <p14:creationId xmlns:p14="http://schemas.microsoft.com/office/powerpoint/2010/main" val="3162906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74C5434F-CB85-4E47-BA44-C8A58A2BE2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6E18E24-998A-42E2-B602-6777331E12FB}" type="slidenum">
              <a:rPr lang="en-US" altLang="en-US">
                <a:latin typeface="Helvetica" panose="020B0604020202020204" pitchFamily="34" charset="0"/>
              </a:rPr>
              <a:pPr>
                <a:spcBef>
                  <a:spcPct val="0"/>
                </a:spcBef>
              </a:pPr>
              <a:t>16</a:t>
            </a:fld>
            <a:endParaRPr lang="en-US" altLang="en-US">
              <a:latin typeface="Helvetica" panose="020B0604020202020204" pitchFamily="34" charset="0"/>
            </a:endParaRPr>
          </a:p>
        </p:txBody>
      </p:sp>
      <p:sp>
        <p:nvSpPr>
          <p:cNvPr id="29699" name="Rectangle 2">
            <a:extLst>
              <a:ext uri="{FF2B5EF4-FFF2-40B4-BE49-F238E27FC236}">
                <a16:creationId xmlns:a16="http://schemas.microsoft.com/office/drawing/2014/main" id="{44DDCC88-C99A-4E1B-B925-BE458EAB1701}"/>
              </a:ext>
            </a:extLst>
          </p:cNvPr>
          <p:cNvSpPr>
            <a:spLocks noGrp="1" noRot="1" noChangeAspect="1" noChangeArrowheads="1" noTextEdit="1"/>
          </p:cNvSpPr>
          <p:nvPr>
            <p:ph type="sldImg" idx="4294967295"/>
          </p:nvPr>
        </p:nvSpPr>
        <p:spPr>
          <a:ln/>
        </p:spPr>
      </p:sp>
      <p:sp>
        <p:nvSpPr>
          <p:cNvPr id="29700" name="Rectangle 3">
            <a:extLst>
              <a:ext uri="{FF2B5EF4-FFF2-40B4-BE49-F238E27FC236}">
                <a16:creationId xmlns:a16="http://schemas.microsoft.com/office/drawing/2014/main" id="{40A2E402-62A6-44C6-9A4F-088DB272CB73}"/>
              </a:ext>
            </a:extLst>
          </p:cNvPr>
          <p:cNvSpPr>
            <a:spLocks noGrp="1" noChangeArrowheads="1"/>
          </p:cNvSpPr>
          <p:nvPr>
            <p:ph type="body" idx="4294967295"/>
          </p:nvPr>
        </p:nvSpPr>
        <p:spPr/>
        <p:txBody>
          <a:bodyPr>
            <a:prstTxWarp prst="textNoShape">
              <a:avLst/>
            </a:prstTxWarp>
          </a:bodyPr>
          <a:lstStyle/>
          <a:p>
            <a:r>
              <a:rPr lang="zh-CN" altLang="en-US" dirty="0"/>
              <a:t>用户线程运行在一个中间系统上面。目前中间系统实现的方式有两种，即运行时系统（</a:t>
            </a:r>
            <a:r>
              <a:rPr lang="en-US" altLang="zh-CN" dirty="0"/>
              <a:t>Runtime System</a:t>
            </a:r>
            <a:r>
              <a:rPr lang="zh-CN" altLang="en-US" dirty="0"/>
              <a:t>）和内核控制线程。</a:t>
            </a:r>
            <a:endParaRPr lang="en-US" altLang="zh-CN" dirty="0"/>
          </a:p>
          <a:p>
            <a:endParaRPr lang="en-US" altLang="zh-CN" dirty="0"/>
          </a:p>
          <a:p>
            <a:r>
              <a:rPr lang="zh-CN" altLang="en-US" dirty="0"/>
              <a:t>运行时系统：实质上是用于管理和控制线程的函数集合，包括创建、撤销、线程的同步和通信的函数以及调度的函数。这些函数都驻留在用户空间作为用户线程和内核之间的接口。用户线程不能使用系统调用，而是当线程需要系统资源时，将请求传送给运行时，由后者通过相应的系统调用来 获取系统资源。</a:t>
            </a:r>
            <a:endParaRPr lang="en-US" altLang="zh-CN" dirty="0"/>
          </a:p>
          <a:p>
            <a:endParaRPr lang="en-US" altLang="zh-CN" dirty="0"/>
          </a:p>
          <a:p>
            <a:r>
              <a:rPr lang="zh-CN" altLang="en-US" dirty="0"/>
              <a:t>内核控制线程：系统在分给进程几个轻型进程（</a:t>
            </a:r>
            <a:r>
              <a:rPr lang="en-US" altLang="zh-CN" dirty="0"/>
              <a:t>LWP</a:t>
            </a:r>
            <a:r>
              <a:rPr lang="zh-CN" altLang="en-US" dirty="0"/>
              <a:t>），</a:t>
            </a:r>
            <a:r>
              <a:rPr lang="en-US" altLang="zh-CN" dirty="0"/>
              <a:t>LWP</a:t>
            </a:r>
            <a:r>
              <a:rPr lang="zh-CN" altLang="en-US" dirty="0"/>
              <a:t>可以通过系统调用来获得内核提供的服务，而进程中的用户线程可通过复用来关联到</a:t>
            </a:r>
            <a:r>
              <a:rPr lang="en-US" altLang="zh-CN" dirty="0"/>
              <a:t>LWP</a:t>
            </a:r>
            <a:r>
              <a:rPr lang="zh-CN" altLang="en-US" dirty="0"/>
              <a:t>，从而得到内核的服务。</a:t>
            </a:r>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37BBE7D5-5077-41EC-B804-68B9FEABFF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C75DB4C-9F7E-4AFD-9CF0-3539AAB0EB40}" type="slidenum">
              <a:rPr lang="en-US" altLang="en-US">
                <a:latin typeface="Helvetica" panose="020B0604020202020204" pitchFamily="34" charset="0"/>
              </a:rPr>
              <a:pPr>
                <a:spcBef>
                  <a:spcPct val="0"/>
                </a:spcBef>
              </a:pPr>
              <a:t>17</a:t>
            </a:fld>
            <a:endParaRPr lang="en-US" altLang="en-US">
              <a:latin typeface="Helvetica" panose="020B0604020202020204" pitchFamily="34" charset="0"/>
            </a:endParaRPr>
          </a:p>
        </p:txBody>
      </p:sp>
      <p:sp>
        <p:nvSpPr>
          <p:cNvPr id="31747" name="Rectangle 2">
            <a:extLst>
              <a:ext uri="{FF2B5EF4-FFF2-40B4-BE49-F238E27FC236}">
                <a16:creationId xmlns:a16="http://schemas.microsoft.com/office/drawing/2014/main" id="{D6C11033-FB78-4464-80E5-A1A09C1919D1}"/>
              </a:ext>
            </a:extLst>
          </p:cNvPr>
          <p:cNvSpPr>
            <a:spLocks noGrp="1" noRot="1" noChangeAspect="1" noChangeArrowheads="1" noTextEdit="1"/>
          </p:cNvSpPr>
          <p:nvPr>
            <p:ph type="sldImg" idx="4294967295"/>
          </p:nvPr>
        </p:nvSpPr>
        <p:spPr>
          <a:ln/>
        </p:spPr>
      </p:sp>
      <p:sp>
        <p:nvSpPr>
          <p:cNvPr id="31748" name="Rectangle 3">
            <a:extLst>
              <a:ext uri="{FF2B5EF4-FFF2-40B4-BE49-F238E27FC236}">
                <a16:creationId xmlns:a16="http://schemas.microsoft.com/office/drawing/2014/main" id="{A3189284-B8FA-4188-AFD5-FEFE68373EE7}"/>
              </a:ext>
            </a:extLst>
          </p:cNvPr>
          <p:cNvSpPr>
            <a:spLocks noGrp="1" noChangeArrowheads="1"/>
          </p:cNvSpPr>
          <p:nvPr>
            <p:ph type="body" idx="4294967295"/>
          </p:nvPr>
        </p:nvSpPr>
        <p:spPr/>
        <p:txBody>
          <a:bodyPr>
            <a:prstTxWarp prst="textNoShape">
              <a:avLst/>
            </a:prstTxWarp>
          </a:bodyPr>
          <a:lstStyle/>
          <a:p>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1A324D02-130C-491A-B42D-F9F85809B6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626ED46-8A6D-4804-9A20-3C1D7C694DA3}" type="slidenum">
              <a:rPr lang="en-US" altLang="en-US">
                <a:latin typeface="Helvetica" panose="020B0604020202020204" pitchFamily="34" charset="0"/>
              </a:rPr>
              <a:pPr>
                <a:spcBef>
                  <a:spcPct val="0"/>
                </a:spcBef>
              </a:pPr>
              <a:t>18</a:t>
            </a:fld>
            <a:endParaRPr lang="en-US" altLang="en-US">
              <a:latin typeface="Helvetica" panose="020B0604020202020204" pitchFamily="34" charset="0"/>
            </a:endParaRPr>
          </a:p>
        </p:txBody>
      </p:sp>
      <p:sp>
        <p:nvSpPr>
          <p:cNvPr id="33795" name="Rectangle 2">
            <a:extLst>
              <a:ext uri="{FF2B5EF4-FFF2-40B4-BE49-F238E27FC236}">
                <a16:creationId xmlns:a16="http://schemas.microsoft.com/office/drawing/2014/main" id="{27BAF669-1D94-40C9-9EC2-10AFB8B3B8F1}"/>
              </a:ext>
            </a:extLst>
          </p:cNvPr>
          <p:cNvSpPr>
            <a:spLocks noGrp="1" noRot="1" noChangeAspect="1" noChangeArrowheads="1" noTextEdit="1"/>
          </p:cNvSpPr>
          <p:nvPr>
            <p:ph type="sldImg" idx="4294967295"/>
          </p:nvPr>
        </p:nvSpPr>
        <p:spPr>
          <a:ln/>
        </p:spPr>
      </p:sp>
      <p:sp>
        <p:nvSpPr>
          <p:cNvPr id="33796" name="Rectangle 3">
            <a:extLst>
              <a:ext uri="{FF2B5EF4-FFF2-40B4-BE49-F238E27FC236}">
                <a16:creationId xmlns:a16="http://schemas.microsoft.com/office/drawing/2014/main" id="{4A299683-AE85-4C8C-B47D-EA0F3042FA5E}"/>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4406D3F-3B1E-4B6B-ADC2-6C7DC0E507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2DB357A-9EF9-4CFA-AC35-5C7D48E39058}" type="slidenum">
              <a:rPr lang="en-US" altLang="en-US">
                <a:latin typeface="Helvetica" panose="020B0604020202020204" pitchFamily="34" charset="0"/>
              </a:rPr>
              <a:pPr>
                <a:spcBef>
                  <a:spcPct val="0"/>
                </a:spcBef>
              </a:pPr>
              <a:t>19</a:t>
            </a:fld>
            <a:endParaRPr lang="en-US" altLang="en-US">
              <a:latin typeface="Helvetica" panose="020B0604020202020204" pitchFamily="34" charset="0"/>
            </a:endParaRPr>
          </a:p>
        </p:txBody>
      </p:sp>
      <p:sp>
        <p:nvSpPr>
          <p:cNvPr id="35843" name="Rectangle 2">
            <a:extLst>
              <a:ext uri="{FF2B5EF4-FFF2-40B4-BE49-F238E27FC236}">
                <a16:creationId xmlns:a16="http://schemas.microsoft.com/office/drawing/2014/main" id="{D4A7EA61-4C95-46D7-9A23-EFC1E660D2B3}"/>
              </a:ext>
            </a:extLst>
          </p:cNvPr>
          <p:cNvSpPr>
            <a:spLocks noGrp="1" noRot="1" noChangeAspect="1" noChangeArrowheads="1" noTextEdit="1"/>
          </p:cNvSpPr>
          <p:nvPr>
            <p:ph type="sldImg" idx="4294967295"/>
          </p:nvPr>
        </p:nvSpPr>
        <p:spPr>
          <a:ln/>
        </p:spPr>
      </p:sp>
      <p:sp>
        <p:nvSpPr>
          <p:cNvPr id="35844" name="Rectangle 3">
            <a:extLst>
              <a:ext uri="{FF2B5EF4-FFF2-40B4-BE49-F238E27FC236}">
                <a16:creationId xmlns:a16="http://schemas.microsoft.com/office/drawing/2014/main" id="{70306AE8-A526-4ECF-A01C-2FFE231EF8A2}"/>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4EC6E5DD-A361-4B91-97B1-0705531DC2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4CD8A73-E66B-493D-A7AE-2A91C5225B1B}" type="slidenum">
              <a:rPr lang="en-US" altLang="en-US">
                <a:latin typeface="Helvetica" panose="020B0604020202020204" pitchFamily="34" charset="0"/>
              </a:rPr>
              <a:pPr>
                <a:spcBef>
                  <a:spcPct val="0"/>
                </a:spcBef>
              </a:pPr>
              <a:t>20</a:t>
            </a:fld>
            <a:endParaRPr lang="en-US" altLang="en-US">
              <a:latin typeface="Helvetica" panose="020B0604020202020204" pitchFamily="34" charset="0"/>
            </a:endParaRPr>
          </a:p>
        </p:txBody>
      </p:sp>
      <p:sp>
        <p:nvSpPr>
          <p:cNvPr id="37891" name="Rectangle 2">
            <a:extLst>
              <a:ext uri="{FF2B5EF4-FFF2-40B4-BE49-F238E27FC236}">
                <a16:creationId xmlns:a16="http://schemas.microsoft.com/office/drawing/2014/main" id="{9F26AD4B-287F-4973-A92E-61B4C8BB88FE}"/>
              </a:ext>
            </a:extLst>
          </p:cNvPr>
          <p:cNvSpPr>
            <a:spLocks noGrp="1" noRot="1" noChangeAspect="1" noChangeArrowheads="1" noTextEdit="1"/>
          </p:cNvSpPr>
          <p:nvPr>
            <p:ph type="sldImg" idx="4294967295"/>
          </p:nvPr>
        </p:nvSpPr>
        <p:spPr>
          <a:ln/>
        </p:spPr>
      </p:sp>
      <p:sp>
        <p:nvSpPr>
          <p:cNvPr id="37892" name="Rectangle 3">
            <a:extLst>
              <a:ext uri="{FF2B5EF4-FFF2-40B4-BE49-F238E27FC236}">
                <a16:creationId xmlns:a16="http://schemas.microsoft.com/office/drawing/2014/main" id="{788B4BB3-E2C8-4AAB-B9CA-08B3D3D1B3F8}"/>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8698571-D5C6-4AF4-A2B3-BF67D4D2F611}"/>
              </a:ext>
            </a:extLst>
          </p:cNvPr>
          <p:cNvSpPr>
            <a:spLocks noGrp="1" noRot="1" noChangeAspect="1" noChangeArrowheads="1" noTextEdit="1"/>
          </p:cNvSpPr>
          <p:nvPr>
            <p:ph type="sldImg" idx="4294967295"/>
          </p:nvPr>
        </p:nvSpPr>
        <p:spPr>
          <a:ln/>
        </p:spPr>
      </p:sp>
      <p:sp>
        <p:nvSpPr>
          <p:cNvPr id="39939" name="Rectangle 3">
            <a:extLst>
              <a:ext uri="{FF2B5EF4-FFF2-40B4-BE49-F238E27FC236}">
                <a16:creationId xmlns:a16="http://schemas.microsoft.com/office/drawing/2014/main" id="{0E761B4D-BF99-4F61-85C1-D927EFABA0EA}"/>
              </a:ext>
            </a:extLst>
          </p:cNvPr>
          <p:cNvSpPr>
            <a:spLocks noGrp="1" noChangeArrowheads="1"/>
          </p:cNvSpPr>
          <p:nvPr>
            <p:ph type="body" idx="4294967295"/>
          </p:nvPr>
        </p:nvSpPr>
        <p:spPr/>
        <p:txBody>
          <a:bodyPr>
            <a:prstTxWarp prst="textNoShape">
              <a:avLst/>
            </a:prstTxWarp>
          </a:bodyPr>
          <a:lstStyle/>
          <a:p>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A3374AC5-3AE0-4315-998E-330FABC5CA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3BDA522-AEDE-4E61-A84E-5F3B8A7C511C}" type="slidenum">
              <a:rPr lang="en-US" altLang="en-US">
                <a:latin typeface="Helvetica" panose="020B0604020202020204" pitchFamily="34" charset="0"/>
              </a:rPr>
              <a:pPr>
                <a:spcBef>
                  <a:spcPct val="0"/>
                </a:spcBef>
              </a:pPr>
              <a:t>22</a:t>
            </a:fld>
            <a:endParaRPr lang="en-US" altLang="en-US">
              <a:latin typeface="Helvetica" panose="020B0604020202020204" pitchFamily="34" charset="0"/>
            </a:endParaRPr>
          </a:p>
        </p:txBody>
      </p:sp>
      <p:sp>
        <p:nvSpPr>
          <p:cNvPr id="41987" name="Rectangle 2">
            <a:extLst>
              <a:ext uri="{FF2B5EF4-FFF2-40B4-BE49-F238E27FC236}">
                <a16:creationId xmlns:a16="http://schemas.microsoft.com/office/drawing/2014/main" id="{43F87050-7E00-4813-949F-0D7DCCA88BF7}"/>
              </a:ext>
            </a:extLst>
          </p:cNvPr>
          <p:cNvSpPr>
            <a:spLocks noGrp="1" noRot="1" noChangeAspect="1" noChangeArrowheads="1" noTextEdit="1"/>
          </p:cNvSpPr>
          <p:nvPr>
            <p:ph type="sldImg" idx="4294967295"/>
          </p:nvPr>
        </p:nvSpPr>
        <p:spPr>
          <a:ln/>
        </p:spPr>
      </p:sp>
      <p:sp>
        <p:nvSpPr>
          <p:cNvPr id="41988" name="Rectangle 3">
            <a:extLst>
              <a:ext uri="{FF2B5EF4-FFF2-40B4-BE49-F238E27FC236}">
                <a16:creationId xmlns:a16="http://schemas.microsoft.com/office/drawing/2014/main" id="{8056FD7C-707D-4B4A-8E7B-82167C70E42F}"/>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pthread_attr_init</a:t>
            </a:r>
            <a:r>
              <a:rPr lang="en-US" altLang="zh-CN" dirty="0"/>
              <a:t>(&amp;</a:t>
            </a:r>
            <a:r>
              <a:rPr lang="en-US" altLang="zh-CN" dirty="0" err="1"/>
              <a:t>attr</a:t>
            </a:r>
            <a:r>
              <a:rPr lang="en-US" altLang="zh-CN" dirty="0"/>
              <a:t>);</a:t>
            </a:r>
          </a:p>
          <a:p>
            <a:r>
              <a:rPr lang="en-US" altLang="zh-CN" dirty="0"/>
              <a:t> </a:t>
            </a:r>
          </a:p>
          <a:p>
            <a:r>
              <a:rPr lang="en-US" altLang="zh-CN" dirty="0" err="1"/>
              <a:t>pthread_create</a:t>
            </a:r>
            <a:r>
              <a:rPr lang="en-US" altLang="zh-CN" dirty="0"/>
              <a:t>(&amp;</a:t>
            </a:r>
            <a:r>
              <a:rPr lang="en-US" altLang="zh-CN" dirty="0" err="1"/>
              <a:t>tid</a:t>
            </a:r>
            <a:r>
              <a:rPr lang="en-US" altLang="zh-CN" dirty="0"/>
              <a:t>, &amp;</a:t>
            </a:r>
            <a:r>
              <a:rPr lang="en-US" altLang="zh-CN" dirty="0" err="1"/>
              <a:t>attr</a:t>
            </a:r>
            <a:r>
              <a:rPr lang="en-US" altLang="zh-CN" dirty="0"/>
              <a:t>, runner, </a:t>
            </a:r>
            <a:r>
              <a:rPr lang="en-US" altLang="zh-CN" dirty="0" err="1"/>
              <a:t>argv</a:t>
            </a:r>
            <a:r>
              <a:rPr lang="en-US" altLang="zh-CN" dirty="0"/>
              <a:t>[1]);</a:t>
            </a:r>
          </a:p>
          <a:p>
            <a:r>
              <a:rPr lang="zh-CN" altLang="en-US" dirty="0"/>
              <a:t>函数说明：创建一个线程；</a:t>
            </a:r>
          </a:p>
          <a:p>
            <a:r>
              <a:rPr lang="zh-CN" altLang="en-US" dirty="0"/>
              <a:t>参数说明：参数一：线程</a:t>
            </a:r>
            <a:r>
              <a:rPr lang="en-US" altLang="zh-CN" dirty="0"/>
              <a:t>id,</a:t>
            </a:r>
            <a:r>
              <a:rPr lang="zh-CN" altLang="en-US" dirty="0"/>
              <a:t>创建线程时，为每一个线程分配一个</a:t>
            </a:r>
            <a:r>
              <a:rPr lang="en-US" altLang="zh-CN" dirty="0"/>
              <a:t>Id</a:t>
            </a:r>
            <a:r>
              <a:rPr lang="zh-CN" altLang="en-US" dirty="0"/>
              <a:t>。</a:t>
            </a:r>
          </a:p>
          <a:p>
            <a:r>
              <a:rPr lang="zh-CN" altLang="en-US" dirty="0"/>
              <a:t> 参数二：线程属性。</a:t>
            </a:r>
          </a:p>
          <a:p>
            <a:r>
              <a:rPr lang="zh-CN" altLang="en-US" dirty="0"/>
              <a:t> 参数三：线程函数，注意该函数返回值必须为</a:t>
            </a:r>
            <a:r>
              <a:rPr lang="en-US" altLang="zh-CN" dirty="0"/>
              <a:t>void* </a:t>
            </a:r>
            <a:r>
              <a:rPr lang="zh-CN" altLang="en-US" dirty="0"/>
              <a:t>且参数同样也只能是</a:t>
            </a:r>
          </a:p>
          <a:p>
            <a:r>
              <a:rPr lang="en-US" altLang="zh-CN" dirty="0"/>
              <a:t>void*</a:t>
            </a:r>
            <a:r>
              <a:rPr lang="zh-CN" altLang="en-US" dirty="0"/>
              <a:t>。 </a:t>
            </a:r>
          </a:p>
          <a:p>
            <a:r>
              <a:rPr lang="zh-CN" altLang="en-US" dirty="0"/>
              <a:t> 参数四：传递给线程函数的参数。</a:t>
            </a:r>
            <a:endParaRPr lang="en-US" altLang="zh-CN" dirty="0"/>
          </a:p>
          <a:p>
            <a:r>
              <a:rPr lang="en-US" altLang="zh-CN" dirty="0"/>
              <a:t>   </a:t>
            </a:r>
          </a:p>
          <a:p>
            <a:r>
              <a:rPr lang="en-US" altLang="zh-CN" dirty="0" err="1"/>
              <a:t>pthread_join</a:t>
            </a:r>
            <a:r>
              <a:rPr lang="en-US" altLang="zh-CN" dirty="0"/>
              <a:t>(</a:t>
            </a:r>
            <a:r>
              <a:rPr lang="en-US" altLang="zh-CN" dirty="0" err="1"/>
              <a:t>tid</a:t>
            </a:r>
            <a:r>
              <a:rPr lang="en-US" altLang="zh-CN" dirty="0"/>
              <a:t>, NULL);</a:t>
            </a:r>
          </a:p>
          <a:p>
            <a:r>
              <a:rPr lang="zh-CN" altLang="en-US" dirty="0"/>
              <a:t>函数说明：该函数功能有两个，</a:t>
            </a:r>
            <a:endParaRPr lang="en-US" altLang="zh-CN" dirty="0"/>
          </a:p>
          <a:p>
            <a:r>
              <a:rPr lang="zh-CN" altLang="en-US" dirty="0"/>
              <a:t>一：等待指定的</a:t>
            </a:r>
            <a:r>
              <a:rPr lang="en-US" altLang="zh-CN" dirty="0" err="1"/>
              <a:t>tid</a:t>
            </a:r>
            <a:r>
              <a:rPr lang="zh-CN" altLang="en-US" dirty="0"/>
              <a:t>线程结束，将返回值存在</a:t>
            </a:r>
            <a:r>
              <a:rPr lang="en-US" altLang="zh-CN" dirty="0" err="1"/>
              <a:t>value_ptr</a:t>
            </a:r>
            <a:r>
              <a:rPr lang="zh-CN" altLang="en-US" dirty="0"/>
              <a:t>里</a:t>
            </a:r>
          </a:p>
          <a:p>
            <a:r>
              <a:rPr lang="zh-CN" altLang="en-US" dirty="0"/>
              <a:t>二：该函数会释放被等待线程所占用的资源。</a:t>
            </a:r>
            <a:endParaRPr lang="en-US" altLang="zh-CN" dirty="0"/>
          </a:p>
          <a:p>
            <a:endParaRPr lang="zh-CN" altLang="en-US" dirty="0"/>
          </a:p>
          <a:p>
            <a:r>
              <a:rPr lang="zh-CN" altLang="en-US" dirty="0"/>
              <a:t>参数说明：</a:t>
            </a:r>
            <a:endParaRPr lang="en-US" altLang="zh-CN" dirty="0"/>
          </a:p>
          <a:p>
            <a:r>
              <a:rPr lang="zh-CN" altLang="en-US" dirty="0"/>
              <a:t>参数一：等待线程的</a:t>
            </a:r>
            <a:r>
              <a:rPr lang="en-US" altLang="zh-CN" dirty="0"/>
              <a:t>id</a:t>
            </a:r>
          </a:p>
          <a:p>
            <a:r>
              <a:rPr lang="zh-CN" altLang="en-US" dirty="0"/>
              <a:t>参数二：该线程结束时，的返回值</a:t>
            </a:r>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58BB334-FCDD-4A9A-BA25-043E3AFEFE50}" type="slidenum">
              <a:rPr lang="zh-CN" altLang="en-US" smtClean="0"/>
              <a:t>23</a:t>
            </a:fld>
            <a:endParaRPr lang="zh-CN" altLang="en-US"/>
          </a:p>
        </p:txBody>
      </p:sp>
    </p:spTree>
    <p:extLst>
      <p:ext uri="{BB962C8B-B14F-4D97-AF65-F5344CB8AC3E}">
        <p14:creationId xmlns:p14="http://schemas.microsoft.com/office/powerpoint/2010/main" val="347110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1672997B-2912-4446-BAB0-9BE21DE5AF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08A7A64-9FFD-4DB2-9614-DF96BEB31C8C}" type="slidenum">
              <a:rPr lang="en-US" altLang="en-US">
                <a:latin typeface="Helvetica" panose="020B0604020202020204" pitchFamily="34" charset="0"/>
              </a:rPr>
              <a:pPr>
                <a:spcBef>
                  <a:spcPct val="0"/>
                </a:spcBef>
              </a:pPr>
              <a:t>25</a:t>
            </a:fld>
            <a:endParaRPr lang="en-US" altLang="en-US">
              <a:latin typeface="Helvetica" panose="020B0604020202020204" pitchFamily="34" charset="0"/>
            </a:endParaRPr>
          </a:p>
        </p:txBody>
      </p:sp>
      <p:sp>
        <p:nvSpPr>
          <p:cNvPr id="49155" name="Rectangle 2">
            <a:extLst>
              <a:ext uri="{FF2B5EF4-FFF2-40B4-BE49-F238E27FC236}">
                <a16:creationId xmlns:a16="http://schemas.microsoft.com/office/drawing/2014/main" id="{50AEBDEF-4E84-42EB-9915-02812C669C1A}"/>
              </a:ext>
            </a:extLst>
          </p:cNvPr>
          <p:cNvSpPr>
            <a:spLocks noGrp="1" noRot="1" noChangeAspect="1" noChangeArrowheads="1" noTextEdit="1"/>
          </p:cNvSpPr>
          <p:nvPr>
            <p:ph type="sldImg" idx="4294967295"/>
          </p:nvPr>
        </p:nvSpPr>
        <p:spPr>
          <a:ln/>
        </p:spPr>
      </p:sp>
      <p:sp>
        <p:nvSpPr>
          <p:cNvPr id="49156" name="Rectangle 3">
            <a:extLst>
              <a:ext uri="{FF2B5EF4-FFF2-40B4-BE49-F238E27FC236}">
                <a16:creationId xmlns:a16="http://schemas.microsoft.com/office/drawing/2014/main" id="{B1BA44A9-9C52-4AA1-98AF-DFFF03894A28}"/>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227D93F-8D52-49BA-A8BB-D6C31618A1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49BD157-DCA4-4384-8371-EBF4E0EC0A23}" type="slidenum">
              <a:rPr lang="en-US" altLang="en-US">
                <a:latin typeface="Helvetica" panose="020B0604020202020204" pitchFamily="34" charset="0"/>
              </a:rPr>
              <a:pPr>
                <a:spcBef>
                  <a:spcPct val="0"/>
                </a:spcBef>
              </a:pPr>
              <a:t>27</a:t>
            </a:fld>
            <a:endParaRPr lang="en-US" altLang="en-US">
              <a:latin typeface="Helvetica" panose="020B0604020202020204" pitchFamily="34" charset="0"/>
            </a:endParaRPr>
          </a:p>
        </p:txBody>
      </p:sp>
      <p:sp>
        <p:nvSpPr>
          <p:cNvPr id="53251" name="Rectangle 2">
            <a:extLst>
              <a:ext uri="{FF2B5EF4-FFF2-40B4-BE49-F238E27FC236}">
                <a16:creationId xmlns:a16="http://schemas.microsoft.com/office/drawing/2014/main" id="{B1164B3E-1CDF-4672-9DA7-4D76CD7E6DBC}"/>
              </a:ext>
            </a:extLst>
          </p:cNvPr>
          <p:cNvSpPr>
            <a:spLocks noGrp="1" noRot="1" noChangeAspect="1" noChangeArrowheads="1" noTextEdit="1"/>
          </p:cNvSpPr>
          <p:nvPr>
            <p:ph type="sldImg" idx="4294967295"/>
          </p:nvPr>
        </p:nvSpPr>
        <p:spPr>
          <a:ln/>
        </p:spPr>
      </p:sp>
      <p:sp>
        <p:nvSpPr>
          <p:cNvPr id="53252" name="Rectangle 3">
            <a:extLst>
              <a:ext uri="{FF2B5EF4-FFF2-40B4-BE49-F238E27FC236}">
                <a16:creationId xmlns:a16="http://schemas.microsoft.com/office/drawing/2014/main" id="{F0B21A4F-F752-4F9C-ACB1-F84CB70647A9}"/>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57A112D6-3306-4297-9835-9FC4952EB1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646B5D8-46C4-4807-A20B-5C35E5DFAEF9}" type="slidenum">
              <a:rPr lang="en-US" altLang="en-US">
                <a:latin typeface="Helvetica" panose="020B0604020202020204" pitchFamily="34" charset="0"/>
              </a:rPr>
              <a:pPr>
                <a:spcBef>
                  <a:spcPct val="0"/>
                </a:spcBef>
              </a:pPr>
              <a:t>28</a:t>
            </a:fld>
            <a:endParaRPr lang="en-US" altLang="en-US">
              <a:latin typeface="Helvetica" panose="020B0604020202020204" pitchFamily="34" charset="0"/>
            </a:endParaRPr>
          </a:p>
        </p:txBody>
      </p:sp>
      <p:sp>
        <p:nvSpPr>
          <p:cNvPr id="55299" name="Rectangle 2">
            <a:extLst>
              <a:ext uri="{FF2B5EF4-FFF2-40B4-BE49-F238E27FC236}">
                <a16:creationId xmlns:a16="http://schemas.microsoft.com/office/drawing/2014/main" id="{A4E6166E-0923-4C8B-9288-A65B4DC887A7}"/>
              </a:ext>
            </a:extLst>
          </p:cNvPr>
          <p:cNvSpPr>
            <a:spLocks noGrp="1" noRot="1" noChangeAspect="1" noChangeArrowheads="1" noTextEdit="1"/>
          </p:cNvSpPr>
          <p:nvPr>
            <p:ph type="sldImg" idx="4294967295"/>
          </p:nvPr>
        </p:nvSpPr>
        <p:spPr>
          <a:ln/>
        </p:spPr>
      </p:sp>
      <p:sp>
        <p:nvSpPr>
          <p:cNvPr id="55300" name="Rectangle 3">
            <a:extLst>
              <a:ext uri="{FF2B5EF4-FFF2-40B4-BE49-F238E27FC236}">
                <a16:creationId xmlns:a16="http://schemas.microsoft.com/office/drawing/2014/main" id="{D74791BB-85AB-4A76-8782-9EA226CAD619}"/>
              </a:ext>
            </a:extLst>
          </p:cNvPr>
          <p:cNvSpPr>
            <a:spLocks noGrp="1" noChangeArrowheads="1"/>
          </p:cNvSpPr>
          <p:nvPr>
            <p:ph type="body" idx="4294967295"/>
          </p:nvPr>
        </p:nvSpPr>
        <p:spPr/>
        <p:txBody>
          <a:bodyPr>
            <a:prstTxWarp prst="textNoShape">
              <a:avLst/>
            </a:prstTxWarp>
          </a:bodyPr>
          <a:lstStyle/>
          <a:p>
            <a:r>
              <a:rPr lang="zh-CN" altLang="en-US" dirty="0"/>
              <a:t>用户频繁创建、删除影响效率</a:t>
            </a:r>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57A112D6-3306-4297-9835-9FC4952EB1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646B5D8-46C4-4807-A20B-5C35E5DFAEF9}" type="slidenum">
              <a:rPr lang="en-US" altLang="en-US">
                <a:latin typeface="Helvetica" panose="020B0604020202020204" pitchFamily="34" charset="0"/>
              </a:rPr>
              <a:pPr>
                <a:spcBef>
                  <a:spcPct val="0"/>
                </a:spcBef>
              </a:pPr>
              <a:t>29</a:t>
            </a:fld>
            <a:endParaRPr lang="en-US" altLang="en-US">
              <a:latin typeface="Helvetica" panose="020B0604020202020204" pitchFamily="34" charset="0"/>
            </a:endParaRPr>
          </a:p>
        </p:txBody>
      </p:sp>
      <p:sp>
        <p:nvSpPr>
          <p:cNvPr id="55299" name="Rectangle 2">
            <a:extLst>
              <a:ext uri="{FF2B5EF4-FFF2-40B4-BE49-F238E27FC236}">
                <a16:creationId xmlns:a16="http://schemas.microsoft.com/office/drawing/2014/main" id="{A4E6166E-0923-4C8B-9288-A65B4DC887A7}"/>
              </a:ext>
            </a:extLst>
          </p:cNvPr>
          <p:cNvSpPr>
            <a:spLocks noGrp="1" noRot="1" noChangeAspect="1" noChangeArrowheads="1" noTextEdit="1"/>
          </p:cNvSpPr>
          <p:nvPr>
            <p:ph type="sldImg" idx="4294967295"/>
          </p:nvPr>
        </p:nvSpPr>
        <p:spPr>
          <a:ln/>
        </p:spPr>
      </p:sp>
      <p:sp>
        <p:nvSpPr>
          <p:cNvPr id="55300" name="Rectangle 3">
            <a:extLst>
              <a:ext uri="{FF2B5EF4-FFF2-40B4-BE49-F238E27FC236}">
                <a16:creationId xmlns:a16="http://schemas.microsoft.com/office/drawing/2014/main" id="{D74791BB-85AB-4A76-8782-9EA226CAD619}"/>
              </a:ext>
            </a:extLst>
          </p:cNvPr>
          <p:cNvSpPr>
            <a:spLocks noGrp="1" noChangeArrowheads="1"/>
          </p:cNvSpPr>
          <p:nvPr>
            <p:ph type="body" idx="4294967295"/>
          </p:nvPr>
        </p:nvSpPr>
        <p:spPr/>
        <p:txBody>
          <a:bodyPr>
            <a:prstTxWarp prst="textNoShape">
              <a:avLst/>
            </a:prstTxWarp>
          </a:bodyPr>
          <a:lstStyle/>
          <a:p>
            <a:endParaRPr lang="en-US" altLang="en-US"/>
          </a:p>
        </p:txBody>
      </p:sp>
    </p:spTree>
    <p:extLst>
      <p:ext uri="{BB962C8B-B14F-4D97-AF65-F5344CB8AC3E}">
        <p14:creationId xmlns:p14="http://schemas.microsoft.com/office/powerpoint/2010/main" val="25632318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E466E12-15F1-4A46-B941-FEDE483AE0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2D7B5CA-59C3-43F2-A6B8-E3E631106A4D}" type="slidenum">
              <a:rPr lang="en-US" altLang="en-US">
                <a:latin typeface="Helvetica" panose="020B0604020202020204" pitchFamily="34" charset="0"/>
              </a:rPr>
              <a:pPr>
                <a:spcBef>
                  <a:spcPct val="0"/>
                </a:spcBef>
              </a:pPr>
              <a:t>30</a:t>
            </a:fld>
            <a:endParaRPr lang="en-US" altLang="en-US">
              <a:latin typeface="Helvetica" panose="020B0604020202020204" pitchFamily="34" charset="0"/>
            </a:endParaRPr>
          </a:p>
        </p:txBody>
      </p:sp>
      <p:sp>
        <p:nvSpPr>
          <p:cNvPr id="57347" name="Rectangle 2">
            <a:extLst>
              <a:ext uri="{FF2B5EF4-FFF2-40B4-BE49-F238E27FC236}">
                <a16:creationId xmlns:a16="http://schemas.microsoft.com/office/drawing/2014/main" id="{450E809F-F4CE-4100-BCF7-30AE3ABFBD54}"/>
              </a:ext>
            </a:extLst>
          </p:cNvPr>
          <p:cNvSpPr>
            <a:spLocks noGrp="1" noRot="1" noChangeAspect="1" noChangeArrowheads="1" noTextEdit="1"/>
          </p:cNvSpPr>
          <p:nvPr>
            <p:ph type="sldImg" idx="4294967295"/>
          </p:nvPr>
        </p:nvSpPr>
        <p:spPr>
          <a:ln/>
        </p:spPr>
      </p:sp>
      <p:sp>
        <p:nvSpPr>
          <p:cNvPr id="57348" name="Rectangle 3">
            <a:extLst>
              <a:ext uri="{FF2B5EF4-FFF2-40B4-BE49-F238E27FC236}">
                <a16:creationId xmlns:a16="http://schemas.microsoft.com/office/drawing/2014/main" id="{491BEDE8-E8AC-45BB-B28F-EF0F8A35DC9E}"/>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0CFA51C2-920E-4CD8-B4F5-447D87A52B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101AA00-1F1D-4DC6-86AB-FC511E600C3C}" type="slidenum">
              <a:rPr lang="en-US" altLang="en-US">
                <a:latin typeface="Helvetica" panose="020B0604020202020204" pitchFamily="34" charset="0"/>
              </a:rPr>
              <a:pPr>
                <a:spcBef>
                  <a:spcPct val="0"/>
                </a:spcBef>
              </a:pPr>
              <a:t>31</a:t>
            </a:fld>
            <a:endParaRPr lang="en-US" altLang="en-US">
              <a:latin typeface="Helvetica" panose="020B0604020202020204" pitchFamily="34" charset="0"/>
            </a:endParaRPr>
          </a:p>
        </p:txBody>
      </p:sp>
      <p:sp>
        <p:nvSpPr>
          <p:cNvPr id="59395" name="Rectangle 2">
            <a:extLst>
              <a:ext uri="{FF2B5EF4-FFF2-40B4-BE49-F238E27FC236}">
                <a16:creationId xmlns:a16="http://schemas.microsoft.com/office/drawing/2014/main" id="{66D425A1-5613-43CC-A6AA-8640C6E41B7B}"/>
              </a:ext>
            </a:extLst>
          </p:cNvPr>
          <p:cNvSpPr>
            <a:spLocks noGrp="1" noRot="1" noChangeAspect="1" noChangeArrowheads="1" noTextEdit="1"/>
          </p:cNvSpPr>
          <p:nvPr>
            <p:ph type="sldImg" idx="4294967295"/>
          </p:nvPr>
        </p:nvSpPr>
        <p:spPr>
          <a:ln/>
        </p:spPr>
      </p:sp>
      <p:sp>
        <p:nvSpPr>
          <p:cNvPr id="59396" name="Rectangle 3">
            <a:extLst>
              <a:ext uri="{FF2B5EF4-FFF2-40B4-BE49-F238E27FC236}">
                <a16:creationId xmlns:a16="http://schemas.microsoft.com/office/drawing/2014/main" id="{CFB36F36-B3CC-4481-8343-C63A9D2D52BB}"/>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361CC3EB-5EA7-4E75-A29E-58B88074F3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A0EAC27-CB8B-4525-B464-A8F4E27DA770}" type="slidenum">
              <a:rPr lang="en-US" altLang="en-US">
                <a:latin typeface="Helvetica" panose="020B0604020202020204" pitchFamily="34" charset="0"/>
              </a:rPr>
              <a:pPr>
                <a:spcBef>
                  <a:spcPct val="0"/>
                </a:spcBef>
              </a:pPr>
              <a:t>32</a:t>
            </a:fld>
            <a:endParaRPr lang="en-US" altLang="en-US">
              <a:latin typeface="Helvetica" panose="020B0604020202020204" pitchFamily="34" charset="0"/>
            </a:endParaRPr>
          </a:p>
        </p:txBody>
      </p:sp>
      <p:sp>
        <p:nvSpPr>
          <p:cNvPr id="61443" name="Rectangle 2">
            <a:extLst>
              <a:ext uri="{FF2B5EF4-FFF2-40B4-BE49-F238E27FC236}">
                <a16:creationId xmlns:a16="http://schemas.microsoft.com/office/drawing/2014/main" id="{44FCC536-7331-4297-9C33-6BC18CCF78EA}"/>
              </a:ext>
            </a:extLst>
          </p:cNvPr>
          <p:cNvSpPr>
            <a:spLocks noGrp="1" noRot="1" noChangeAspect="1" noChangeArrowheads="1" noTextEdit="1"/>
          </p:cNvSpPr>
          <p:nvPr>
            <p:ph type="sldImg" idx="4294967295"/>
          </p:nvPr>
        </p:nvSpPr>
        <p:spPr>
          <a:ln/>
        </p:spPr>
      </p:sp>
      <p:sp>
        <p:nvSpPr>
          <p:cNvPr id="61444" name="Rectangle 3">
            <a:extLst>
              <a:ext uri="{FF2B5EF4-FFF2-40B4-BE49-F238E27FC236}">
                <a16:creationId xmlns:a16="http://schemas.microsoft.com/office/drawing/2014/main" id="{10360454-1793-4D1F-8C77-FD696DB88AE5}"/>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20FC4629-C1DB-4FF1-8FFB-D725084F41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F8C968F-5C17-4DF3-A2DD-FC1D833F610A}" type="slidenum">
              <a:rPr lang="en-US" altLang="en-US">
                <a:latin typeface="Helvetica" panose="020B0604020202020204" pitchFamily="34" charset="0"/>
              </a:rPr>
              <a:pPr>
                <a:spcBef>
                  <a:spcPct val="0"/>
                </a:spcBef>
              </a:pPr>
              <a:t>33</a:t>
            </a:fld>
            <a:endParaRPr lang="en-US" altLang="en-US">
              <a:latin typeface="Helvetica" panose="020B0604020202020204" pitchFamily="34" charset="0"/>
            </a:endParaRPr>
          </a:p>
        </p:txBody>
      </p:sp>
      <p:sp>
        <p:nvSpPr>
          <p:cNvPr id="63491" name="Rectangle 2">
            <a:extLst>
              <a:ext uri="{FF2B5EF4-FFF2-40B4-BE49-F238E27FC236}">
                <a16:creationId xmlns:a16="http://schemas.microsoft.com/office/drawing/2014/main" id="{BA773B25-AC2A-4D74-986A-BA7F30A25155}"/>
              </a:ext>
            </a:extLst>
          </p:cNvPr>
          <p:cNvSpPr>
            <a:spLocks noGrp="1" noRot="1" noChangeAspect="1" noChangeArrowheads="1" noTextEdit="1"/>
          </p:cNvSpPr>
          <p:nvPr>
            <p:ph type="sldImg" idx="4294967295"/>
          </p:nvPr>
        </p:nvSpPr>
        <p:spPr>
          <a:ln/>
        </p:spPr>
      </p:sp>
      <p:sp>
        <p:nvSpPr>
          <p:cNvPr id="63492" name="Rectangle 3">
            <a:extLst>
              <a:ext uri="{FF2B5EF4-FFF2-40B4-BE49-F238E27FC236}">
                <a16:creationId xmlns:a16="http://schemas.microsoft.com/office/drawing/2014/main" id="{96C76417-1519-494E-8BD3-CECD6CA80835}"/>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AB680B-FFDF-43AF-9176-E4E8E91D28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2CAE4FF-8C1B-41E5-89B6-E0D9C9A43EF7}" type="slidenum">
              <a:rPr lang="en-US" altLang="en-US">
                <a:latin typeface="Helvetica" panose="020B0604020202020204" pitchFamily="34" charset="0"/>
              </a:rPr>
              <a:pPr>
                <a:spcBef>
                  <a:spcPct val="0"/>
                </a:spcBef>
              </a:pPr>
              <a:t>34</a:t>
            </a:fld>
            <a:endParaRPr lang="en-US" altLang="en-US">
              <a:latin typeface="Helvetica" panose="020B0604020202020204" pitchFamily="34" charset="0"/>
            </a:endParaRPr>
          </a:p>
        </p:txBody>
      </p:sp>
      <p:sp>
        <p:nvSpPr>
          <p:cNvPr id="65539" name="Rectangle 2">
            <a:extLst>
              <a:ext uri="{FF2B5EF4-FFF2-40B4-BE49-F238E27FC236}">
                <a16:creationId xmlns:a16="http://schemas.microsoft.com/office/drawing/2014/main" id="{0148B7D2-29AF-4C4E-8083-88C81803CEA9}"/>
              </a:ext>
            </a:extLst>
          </p:cNvPr>
          <p:cNvSpPr>
            <a:spLocks noGrp="1" noRot="1" noChangeAspect="1" noChangeArrowheads="1" noTextEdit="1"/>
          </p:cNvSpPr>
          <p:nvPr>
            <p:ph type="sldImg" idx="4294967295"/>
          </p:nvPr>
        </p:nvSpPr>
        <p:spPr>
          <a:ln/>
        </p:spPr>
      </p:sp>
      <p:sp>
        <p:nvSpPr>
          <p:cNvPr id="65540" name="Rectangle 3">
            <a:extLst>
              <a:ext uri="{FF2B5EF4-FFF2-40B4-BE49-F238E27FC236}">
                <a16:creationId xmlns:a16="http://schemas.microsoft.com/office/drawing/2014/main" id="{CB611703-C86B-4C43-A8E9-CC43975F9A2E}"/>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233609D-6C3E-4149-AC65-0F08906354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423966D-B9D4-448E-9CAD-EFCDAD1D083C}" type="slidenum">
              <a:rPr lang="en-US" altLang="en-US">
                <a:latin typeface="Helvetica" panose="020B0604020202020204" pitchFamily="34" charset="0"/>
              </a:rPr>
              <a:pPr>
                <a:spcBef>
                  <a:spcPct val="0"/>
                </a:spcBef>
              </a:pPr>
              <a:t>35</a:t>
            </a:fld>
            <a:endParaRPr lang="en-US" altLang="en-US">
              <a:latin typeface="Helvetica" panose="020B0604020202020204" pitchFamily="34" charset="0"/>
            </a:endParaRPr>
          </a:p>
        </p:txBody>
      </p:sp>
      <p:sp>
        <p:nvSpPr>
          <p:cNvPr id="67587" name="Rectangle 2">
            <a:extLst>
              <a:ext uri="{FF2B5EF4-FFF2-40B4-BE49-F238E27FC236}">
                <a16:creationId xmlns:a16="http://schemas.microsoft.com/office/drawing/2014/main" id="{7B310AAE-A068-4F92-9A76-73A312D5EFCC}"/>
              </a:ext>
            </a:extLst>
          </p:cNvPr>
          <p:cNvSpPr>
            <a:spLocks noGrp="1" noRot="1" noChangeAspect="1" noChangeArrowheads="1" noTextEdit="1"/>
          </p:cNvSpPr>
          <p:nvPr>
            <p:ph type="sldImg" idx="4294967295"/>
          </p:nvPr>
        </p:nvSpPr>
        <p:spPr>
          <a:ln/>
        </p:spPr>
      </p:sp>
      <p:sp>
        <p:nvSpPr>
          <p:cNvPr id="67588" name="Rectangle 3">
            <a:extLst>
              <a:ext uri="{FF2B5EF4-FFF2-40B4-BE49-F238E27FC236}">
                <a16:creationId xmlns:a16="http://schemas.microsoft.com/office/drawing/2014/main" id="{86969ED1-F2D2-40E1-AC2E-08312FA2C0E1}"/>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89FC42B-25A9-42ED-A7D9-C5BD88B8D4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41AC7B8-CE7F-49D8-AFE3-64AD49DE74C7}" type="slidenum">
              <a:rPr lang="en-US" altLang="en-US">
                <a:latin typeface="Helvetica" panose="020B0604020202020204" pitchFamily="34" charset="0"/>
              </a:rPr>
              <a:pPr>
                <a:spcBef>
                  <a:spcPct val="0"/>
                </a:spcBef>
              </a:pPr>
              <a:t>36</a:t>
            </a:fld>
            <a:endParaRPr lang="en-US" altLang="en-US">
              <a:latin typeface="Helvetica" panose="020B0604020202020204" pitchFamily="34" charset="0"/>
            </a:endParaRPr>
          </a:p>
        </p:txBody>
      </p:sp>
      <p:sp>
        <p:nvSpPr>
          <p:cNvPr id="69635" name="Rectangle 2">
            <a:extLst>
              <a:ext uri="{FF2B5EF4-FFF2-40B4-BE49-F238E27FC236}">
                <a16:creationId xmlns:a16="http://schemas.microsoft.com/office/drawing/2014/main" id="{AC1B902D-1743-40D8-9802-DB2F2450236D}"/>
              </a:ext>
            </a:extLst>
          </p:cNvPr>
          <p:cNvSpPr>
            <a:spLocks noGrp="1" noRot="1" noChangeAspect="1" noChangeArrowheads="1" noTextEdit="1"/>
          </p:cNvSpPr>
          <p:nvPr>
            <p:ph type="sldImg" idx="4294967295"/>
          </p:nvPr>
        </p:nvSpPr>
        <p:spPr>
          <a:ln/>
        </p:spPr>
      </p:sp>
      <p:sp>
        <p:nvSpPr>
          <p:cNvPr id="69636" name="Rectangle 3">
            <a:extLst>
              <a:ext uri="{FF2B5EF4-FFF2-40B4-BE49-F238E27FC236}">
                <a16:creationId xmlns:a16="http://schemas.microsoft.com/office/drawing/2014/main" id="{1576DF66-4D6C-45B0-90C0-03353077AD3A}"/>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EC13AACF-A27E-4E86-AF9A-E19929C6CC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E1B38DA-DD8F-41BE-87F9-39A8FDAF6B9E}" type="slidenum">
              <a:rPr lang="en-US" altLang="en-US">
                <a:latin typeface="Helvetica" panose="020B0604020202020204" pitchFamily="34" charset="0"/>
              </a:rPr>
              <a:pPr>
                <a:spcBef>
                  <a:spcPct val="0"/>
                </a:spcBef>
              </a:pPr>
              <a:t>37</a:t>
            </a:fld>
            <a:endParaRPr lang="en-US" altLang="en-US">
              <a:latin typeface="Helvetica" panose="020B0604020202020204" pitchFamily="34" charset="0"/>
            </a:endParaRPr>
          </a:p>
        </p:txBody>
      </p:sp>
      <p:sp>
        <p:nvSpPr>
          <p:cNvPr id="71683" name="Rectangle 2">
            <a:extLst>
              <a:ext uri="{FF2B5EF4-FFF2-40B4-BE49-F238E27FC236}">
                <a16:creationId xmlns:a16="http://schemas.microsoft.com/office/drawing/2014/main" id="{5D5E701C-D6DE-4A3F-A5FA-049C28F82791}"/>
              </a:ext>
            </a:extLst>
          </p:cNvPr>
          <p:cNvSpPr>
            <a:spLocks noGrp="1" noRot="1" noChangeAspect="1" noChangeArrowheads="1" noTextEdit="1"/>
          </p:cNvSpPr>
          <p:nvPr>
            <p:ph type="sldImg" idx="4294967295"/>
          </p:nvPr>
        </p:nvSpPr>
        <p:spPr>
          <a:ln/>
        </p:spPr>
      </p:sp>
      <p:sp>
        <p:nvSpPr>
          <p:cNvPr id="71684" name="Rectangle 3">
            <a:extLst>
              <a:ext uri="{FF2B5EF4-FFF2-40B4-BE49-F238E27FC236}">
                <a16:creationId xmlns:a16="http://schemas.microsoft.com/office/drawing/2014/main" id="{6D2FC2F2-8751-4DE4-816A-6D9CD07DAC45}"/>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EA8B7298-8DF3-4FA6-9F20-EB945C8BE6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97C0939-B2F6-4C8E-B425-1AC5362A489E}" type="slidenum">
              <a:rPr lang="en-US" altLang="en-US">
                <a:latin typeface="Helvetica" panose="020B0604020202020204" pitchFamily="34" charset="0"/>
              </a:rPr>
              <a:pPr>
                <a:spcBef>
                  <a:spcPct val="0"/>
                </a:spcBef>
              </a:pPr>
              <a:t>38</a:t>
            </a:fld>
            <a:endParaRPr lang="en-US" altLang="en-US">
              <a:latin typeface="Helvetica" panose="020B0604020202020204" pitchFamily="34" charset="0"/>
            </a:endParaRPr>
          </a:p>
        </p:txBody>
      </p:sp>
      <p:sp>
        <p:nvSpPr>
          <p:cNvPr id="73731" name="Rectangle 2">
            <a:extLst>
              <a:ext uri="{FF2B5EF4-FFF2-40B4-BE49-F238E27FC236}">
                <a16:creationId xmlns:a16="http://schemas.microsoft.com/office/drawing/2014/main" id="{DE4EFABB-B349-43A6-9764-E354D0F0A0E7}"/>
              </a:ext>
            </a:extLst>
          </p:cNvPr>
          <p:cNvSpPr>
            <a:spLocks noGrp="1" noRot="1" noChangeAspect="1" noChangeArrowheads="1" noTextEdit="1"/>
          </p:cNvSpPr>
          <p:nvPr>
            <p:ph type="sldImg" idx="4294967295"/>
          </p:nvPr>
        </p:nvSpPr>
        <p:spPr>
          <a:ln/>
        </p:spPr>
      </p:sp>
      <p:sp>
        <p:nvSpPr>
          <p:cNvPr id="73732" name="Rectangle 3">
            <a:extLst>
              <a:ext uri="{FF2B5EF4-FFF2-40B4-BE49-F238E27FC236}">
                <a16:creationId xmlns:a16="http://schemas.microsoft.com/office/drawing/2014/main" id="{D201F3B5-EA42-45FE-BE63-5669424D0620}"/>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D5C4704D-4B6C-4EE6-AC35-BE69AA23AF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5015147-04EA-4030-8B4E-0AF8DD3AB2A6}" type="slidenum">
              <a:rPr lang="en-US" altLang="en-US">
                <a:latin typeface="Helvetica" panose="020B0604020202020204" pitchFamily="34" charset="0"/>
              </a:rPr>
              <a:pPr>
                <a:spcBef>
                  <a:spcPct val="0"/>
                </a:spcBef>
              </a:pPr>
              <a:t>39</a:t>
            </a:fld>
            <a:endParaRPr lang="en-US" altLang="en-US">
              <a:latin typeface="Helvetica" panose="020B0604020202020204" pitchFamily="34" charset="0"/>
            </a:endParaRPr>
          </a:p>
        </p:txBody>
      </p:sp>
      <p:sp>
        <p:nvSpPr>
          <p:cNvPr id="75779" name="Rectangle 2">
            <a:extLst>
              <a:ext uri="{FF2B5EF4-FFF2-40B4-BE49-F238E27FC236}">
                <a16:creationId xmlns:a16="http://schemas.microsoft.com/office/drawing/2014/main" id="{56D0E144-7B52-4832-80DE-65E6615D5A40}"/>
              </a:ext>
            </a:extLst>
          </p:cNvPr>
          <p:cNvSpPr>
            <a:spLocks noGrp="1" noRot="1" noChangeAspect="1" noChangeArrowheads="1" noTextEdit="1"/>
          </p:cNvSpPr>
          <p:nvPr>
            <p:ph type="sldImg" idx="4294967295"/>
          </p:nvPr>
        </p:nvSpPr>
        <p:spPr>
          <a:ln/>
        </p:spPr>
      </p:sp>
      <p:sp>
        <p:nvSpPr>
          <p:cNvPr id="75780" name="Rectangle 3">
            <a:extLst>
              <a:ext uri="{FF2B5EF4-FFF2-40B4-BE49-F238E27FC236}">
                <a16:creationId xmlns:a16="http://schemas.microsoft.com/office/drawing/2014/main" id="{E2D90205-AD64-4CD0-9A33-CAA344CCABC1}"/>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F9CBC142-38A1-4B7F-B287-5A5BE42916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34B9C6D-35DA-47EE-B99F-7FA900844B8E}" type="slidenum">
              <a:rPr lang="en-US" altLang="en-US">
                <a:latin typeface="Helvetica" panose="020B0604020202020204" pitchFamily="34" charset="0"/>
              </a:rPr>
              <a:pPr>
                <a:spcBef>
                  <a:spcPct val="0"/>
                </a:spcBef>
              </a:pPr>
              <a:t>40</a:t>
            </a:fld>
            <a:endParaRPr lang="en-US" altLang="en-US">
              <a:latin typeface="Helvetica" panose="020B0604020202020204" pitchFamily="34" charset="0"/>
            </a:endParaRPr>
          </a:p>
        </p:txBody>
      </p:sp>
      <p:sp>
        <p:nvSpPr>
          <p:cNvPr id="77827" name="Rectangle 2">
            <a:extLst>
              <a:ext uri="{FF2B5EF4-FFF2-40B4-BE49-F238E27FC236}">
                <a16:creationId xmlns:a16="http://schemas.microsoft.com/office/drawing/2014/main" id="{02F914C8-5AC6-4F6E-9423-F933E3628206}"/>
              </a:ext>
            </a:extLst>
          </p:cNvPr>
          <p:cNvSpPr>
            <a:spLocks noGrp="1" noRot="1" noChangeAspect="1" noChangeArrowheads="1" noTextEdit="1"/>
          </p:cNvSpPr>
          <p:nvPr>
            <p:ph type="sldImg" idx="4294967295"/>
          </p:nvPr>
        </p:nvSpPr>
        <p:spPr>
          <a:ln/>
        </p:spPr>
      </p:sp>
      <p:sp>
        <p:nvSpPr>
          <p:cNvPr id="77828" name="Rectangle 3">
            <a:extLst>
              <a:ext uri="{FF2B5EF4-FFF2-40B4-BE49-F238E27FC236}">
                <a16:creationId xmlns:a16="http://schemas.microsoft.com/office/drawing/2014/main" id="{F84798E2-E4FA-4CCC-BB76-4E92600130EF}"/>
              </a:ext>
            </a:extLst>
          </p:cNvPr>
          <p:cNvSpPr>
            <a:spLocks noGrp="1" noChangeArrowheads="1"/>
          </p:cNvSpPr>
          <p:nvPr>
            <p:ph type="body" idx="4294967295"/>
          </p:nvPr>
        </p:nvSpPr>
        <p:spPr/>
        <p:txBody>
          <a:bodyPr>
            <a:prstTxWarp prst="textNoShape">
              <a:avLst/>
            </a:prstTxWarp>
          </a:bodyPr>
          <a:lstStyle/>
          <a:p>
            <a:endParaRPr lang="en-US"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2B40BBA-48E0-489C-9274-E5A06C222191}"/>
              </a:ext>
            </a:extLst>
          </p:cNvPr>
          <p:cNvSpPr txBox="1">
            <a:spLocks noGrp="1" noChangeArrowheads="1"/>
          </p:cNvSpPr>
          <p:nvPr/>
        </p:nvSpPr>
        <p:spPr bwMode="auto">
          <a:xfrm>
            <a:off x="3973513" y="8853488"/>
            <a:ext cx="3055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604" tIns="45801" rIns="91604" bIns="45801" anchor="b"/>
          <a:lstStyle>
            <a:lvl1pPr defTabSz="89852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89852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89852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89852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89852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89852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89852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89852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89852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D8AB74FC-1EA1-481B-84D6-5EFD6ECD3638}" type="slidenum">
              <a:rPr lang="en-US" altLang="en-US">
                <a:latin typeface="Helvetica" panose="020B0604020202020204" pitchFamily="34" charset="0"/>
              </a:rPr>
              <a:pPr algn="r">
                <a:spcBef>
                  <a:spcPct val="0"/>
                </a:spcBef>
              </a:pPr>
              <a:t>41</a:t>
            </a:fld>
            <a:endParaRPr lang="en-US" altLang="en-US">
              <a:latin typeface="Helvetica" panose="020B0604020202020204" pitchFamily="34" charset="0"/>
            </a:endParaRPr>
          </a:p>
        </p:txBody>
      </p:sp>
      <p:sp>
        <p:nvSpPr>
          <p:cNvPr id="79875" name="Rectangle 2">
            <a:extLst>
              <a:ext uri="{FF2B5EF4-FFF2-40B4-BE49-F238E27FC236}">
                <a16:creationId xmlns:a16="http://schemas.microsoft.com/office/drawing/2014/main" id="{EAD35F90-0F83-475A-912C-159A55597471}"/>
              </a:ext>
            </a:extLst>
          </p:cNvPr>
          <p:cNvSpPr>
            <a:spLocks noGrp="1" noRot="1" noChangeAspect="1" noChangeArrowheads="1" noTextEdit="1"/>
          </p:cNvSpPr>
          <p:nvPr>
            <p:ph type="sldImg" idx="4294967295"/>
          </p:nvPr>
        </p:nvSpPr>
        <p:spPr>
          <a:ln/>
        </p:spPr>
      </p:sp>
      <p:sp>
        <p:nvSpPr>
          <p:cNvPr id="79876" name="Rectangle 3">
            <a:extLst>
              <a:ext uri="{FF2B5EF4-FFF2-40B4-BE49-F238E27FC236}">
                <a16:creationId xmlns:a16="http://schemas.microsoft.com/office/drawing/2014/main" id="{2BDE70AB-9B14-4225-8A5A-274699969315}"/>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EE59E1C1-F7D6-45FE-B30F-1A2CCAD1C3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FD8E16A-2050-4F97-873D-172A5F93B7D3}" type="slidenum">
              <a:rPr lang="en-US" altLang="en-US">
                <a:latin typeface="Helvetica" panose="020B0604020202020204" pitchFamily="34" charset="0"/>
              </a:rPr>
              <a:pPr>
                <a:spcBef>
                  <a:spcPct val="0"/>
                </a:spcBef>
              </a:pPr>
              <a:t>42</a:t>
            </a:fld>
            <a:endParaRPr lang="en-US" altLang="en-US">
              <a:latin typeface="Helvetica" panose="020B0604020202020204" pitchFamily="34" charset="0"/>
            </a:endParaRPr>
          </a:p>
        </p:txBody>
      </p:sp>
      <p:sp>
        <p:nvSpPr>
          <p:cNvPr id="88067" name="Rectangle 2">
            <a:extLst>
              <a:ext uri="{FF2B5EF4-FFF2-40B4-BE49-F238E27FC236}">
                <a16:creationId xmlns:a16="http://schemas.microsoft.com/office/drawing/2014/main" id="{DC86B3B0-2C32-4779-B392-D33417D3F9A5}"/>
              </a:ext>
            </a:extLst>
          </p:cNvPr>
          <p:cNvSpPr>
            <a:spLocks noGrp="1" noRot="1" noChangeAspect="1" noChangeArrowheads="1" noTextEdit="1"/>
          </p:cNvSpPr>
          <p:nvPr>
            <p:ph type="sldImg" idx="4294967295"/>
          </p:nvPr>
        </p:nvSpPr>
        <p:spPr>
          <a:ln/>
        </p:spPr>
      </p:sp>
      <p:sp>
        <p:nvSpPr>
          <p:cNvPr id="88068" name="Rectangle 3">
            <a:extLst>
              <a:ext uri="{FF2B5EF4-FFF2-40B4-BE49-F238E27FC236}">
                <a16:creationId xmlns:a16="http://schemas.microsoft.com/office/drawing/2014/main" id="{BDCA60B1-69D2-470F-B8E6-FC1C473AA53A}"/>
              </a:ext>
            </a:extLst>
          </p:cNvPr>
          <p:cNvSpPr>
            <a:spLocks noGrp="1" noChangeArrowheads="1"/>
          </p:cNvSpPr>
          <p:nvPr>
            <p:ph type="body" idx="4294967295"/>
          </p:nvPr>
        </p:nvSpPr>
        <p:spPr/>
        <p:txBody>
          <a:bodyPr>
            <a:prstTxWarp prst="textNoShape">
              <a:avLst/>
            </a:prstTxWarp>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44C97627-EC56-46C3-929F-D2D6A041C8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0AC58D3-F536-451C-BF17-58AD48CA8592}" type="slidenum">
              <a:rPr lang="en-US" altLang="en-US">
                <a:latin typeface="Helvetica" panose="020B0604020202020204" pitchFamily="34" charset="0"/>
              </a:rPr>
              <a:pPr>
                <a:spcBef>
                  <a:spcPct val="0"/>
                </a:spcBef>
              </a:pPr>
              <a:t>43</a:t>
            </a:fld>
            <a:endParaRPr lang="en-US" altLang="en-US">
              <a:latin typeface="Helvetica" panose="020B0604020202020204" pitchFamily="34" charset="0"/>
            </a:endParaRPr>
          </a:p>
        </p:txBody>
      </p:sp>
      <p:sp>
        <p:nvSpPr>
          <p:cNvPr id="81923" name="Rectangle 2">
            <a:extLst>
              <a:ext uri="{FF2B5EF4-FFF2-40B4-BE49-F238E27FC236}">
                <a16:creationId xmlns:a16="http://schemas.microsoft.com/office/drawing/2014/main" id="{988ED2D2-13F6-4608-B5A3-386600757D98}"/>
              </a:ext>
            </a:extLst>
          </p:cNvPr>
          <p:cNvSpPr>
            <a:spLocks noGrp="1" noRot="1" noChangeAspect="1" noChangeArrowheads="1" noTextEdit="1"/>
          </p:cNvSpPr>
          <p:nvPr>
            <p:ph type="sldImg" idx="4294967295"/>
          </p:nvPr>
        </p:nvSpPr>
        <p:spPr>
          <a:ln/>
        </p:spPr>
      </p:sp>
      <p:sp>
        <p:nvSpPr>
          <p:cNvPr id="81924" name="Rectangle 3">
            <a:extLst>
              <a:ext uri="{FF2B5EF4-FFF2-40B4-BE49-F238E27FC236}">
                <a16:creationId xmlns:a16="http://schemas.microsoft.com/office/drawing/2014/main" id="{D7CF44BE-F162-4DC4-91AC-FEEE04482B32}"/>
              </a:ext>
            </a:extLst>
          </p:cNvPr>
          <p:cNvSpPr>
            <a:spLocks noGrp="1" noChangeArrowheads="1"/>
          </p:cNvSpPr>
          <p:nvPr>
            <p:ph type="body" idx="4294967295"/>
          </p:nvPr>
        </p:nvSpPr>
        <p:spPr/>
        <p:txBody>
          <a:bodyPr>
            <a:prstTxWarp prst="textNoShape">
              <a:avLst/>
            </a:prstTxWarp>
          </a:bodyPr>
          <a:lstStyle/>
          <a:p>
            <a:endParaRPr lang="en-US" altLang="en-US"/>
          </a:p>
        </p:txBody>
      </p:sp>
    </p:spTree>
    <p:extLst>
      <p:ext uri="{BB962C8B-B14F-4D97-AF65-F5344CB8AC3E}">
        <p14:creationId xmlns:p14="http://schemas.microsoft.com/office/powerpoint/2010/main" val="8982377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F58D8A80-05B5-4556-865D-5C199B9454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128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128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C1C64C5-88E6-49FC-A049-38120252FE4F}" type="slidenum">
              <a:rPr lang="en-US" altLang="en-US">
                <a:latin typeface="Helvetica" panose="020B0604020202020204" pitchFamily="34" charset="0"/>
              </a:rPr>
              <a:pPr>
                <a:spcBef>
                  <a:spcPct val="0"/>
                </a:spcBef>
              </a:pPr>
              <a:t>44</a:t>
            </a:fld>
            <a:endParaRPr lang="en-US" altLang="en-US">
              <a:latin typeface="Helvetica" panose="020B0604020202020204" pitchFamily="34" charset="0"/>
            </a:endParaRPr>
          </a:p>
        </p:txBody>
      </p:sp>
      <p:sp>
        <p:nvSpPr>
          <p:cNvPr id="83971" name="Rectangle 2">
            <a:extLst>
              <a:ext uri="{FF2B5EF4-FFF2-40B4-BE49-F238E27FC236}">
                <a16:creationId xmlns:a16="http://schemas.microsoft.com/office/drawing/2014/main" id="{9A523D65-889C-491A-89C3-9209D11269EC}"/>
              </a:ext>
            </a:extLst>
          </p:cNvPr>
          <p:cNvSpPr>
            <a:spLocks noGrp="1" noRot="1" noChangeAspect="1" noChangeArrowheads="1" noTextEdit="1"/>
          </p:cNvSpPr>
          <p:nvPr>
            <p:ph type="sldImg" idx="4294967295"/>
          </p:nvPr>
        </p:nvSpPr>
        <p:spPr>
          <a:ln/>
        </p:spPr>
      </p:sp>
      <p:sp>
        <p:nvSpPr>
          <p:cNvPr id="83972" name="Rectangle 3">
            <a:extLst>
              <a:ext uri="{FF2B5EF4-FFF2-40B4-BE49-F238E27FC236}">
                <a16:creationId xmlns:a16="http://schemas.microsoft.com/office/drawing/2014/main" id="{AEE90D1B-E26D-4742-87E1-5EF0AD6CF1B2}"/>
              </a:ext>
            </a:extLst>
          </p:cNvPr>
          <p:cNvSpPr>
            <a:spLocks noGrp="1" noChangeArrowheads="1"/>
          </p:cNvSpPr>
          <p:nvPr>
            <p:ph type="body" idx="4294967295"/>
          </p:nvPr>
        </p:nvSpPr>
        <p:spPr/>
        <p:txBody>
          <a:bodyPr>
            <a:prstTxWarp prst="textNoShape">
              <a:avLst/>
            </a:prstTxWarp>
          </a:bodyPr>
          <a:lstStyle/>
          <a:p>
            <a:endParaRPr lang="en-US" altLang="en-US"/>
          </a:p>
        </p:txBody>
      </p:sp>
    </p:spTree>
    <p:extLst>
      <p:ext uri="{BB962C8B-B14F-4D97-AF65-F5344CB8AC3E}">
        <p14:creationId xmlns:p14="http://schemas.microsoft.com/office/powerpoint/2010/main" val="2890084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264584" y="2960688"/>
            <a:ext cx="114808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grpSp>
      <p:sp>
        <p:nvSpPr>
          <p:cNvPr id="8" name="Text Box 8"/>
          <p:cNvSpPr txBox="1">
            <a:spLocks noChangeArrowheads="1"/>
          </p:cNvSpPr>
          <p:nvPr/>
        </p:nvSpPr>
        <p:spPr bwMode="auto">
          <a:xfrm>
            <a:off x="35984" y="6613526"/>
            <a:ext cx="2659692" cy="246217"/>
          </a:xfrm>
          <a:prstGeom prst="rect">
            <a:avLst/>
          </a:prstGeom>
          <a:noFill/>
          <a:ln>
            <a:noFill/>
          </a:ln>
        </p:spPr>
        <p:txBody>
          <a:bodyPr wrap="none" lIns="91435" tIns="45718" rIns="91435" bIns="45718">
            <a:spAutoFit/>
          </a:bodyPr>
          <a:lstStyle/>
          <a:p>
            <a:pPr eaLnBrk="0" fontAlgn="base" hangingPunct="0">
              <a:spcBef>
                <a:spcPct val="50000"/>
              </a:spcBef>
              <a:spcAft>
                <a:spcPct val="0"/>
              </a:spcAft>
              <a:defRPr/>
            </a:pPr>
            <a:r>
              <a:rPr lang="en-US" sz="1000" b="1">
                <a:solidFill>
                  <a:srgbClr val="336699"/>
                </a:solidFill>
                <a:ea typeface="MS PGothic" panose="020B0600070205080204" pitchFamily="34" charset="-128"/>
              </a:rPr>
              <a:t>Operating System Concepts – 9</a:t>
            </a:r>
            <a:r>
              <a:rPr lang="en-US" sz="1000" b="1" baseline="30000">
                <a:solidFill>
                  <a:srgbClr val="336699"/>
                </a:solidFill>
                <a:ea typeface="MS PGothic" panose="020B0600070205080204" pitchFamily="34" charset="-128"/>
              </a:rPr>
              <a:t>th</a:t>
            </a:r>
            <a:r>
              <a:rPr lang="en-US" sz="1000" b="1">
                <a:solidFill>
                  <a:srgbClr val="336699"/>
                </a:solidFill>
                <a:ea typeface="MS PGothic" panose="020B0600070205080204" pitchFamily="34" charset="-128"/>
              </a:rPr>
              <a:t> Edition</a:t>
            </a:r>
          </a:p>
        </p:txBody>
      </p:sp>
      <p:pic>
        <p:nvPicPr>
          <p:cNvPr id="9" name="Picture 9" descr="dino_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
        <p:nvSpPr>
          <p:cNvPr id="11" name="Text Box 7">
            <a:extLst>
              <a:ext uri="{FF2B5EF4-FFF2-40B4-BE49-F238E27FC236}">
                <a16:creationId xmlns:a16="http://schemas.microsoft.com/office/drawing/2014/main" id="{37FDAE40-37DC-4D88-B117-D96496E36FCA}"/>
              </a:ext>
            </a:extLst>
          </p:cNvPr>
          <p:cNvSpPr txBox="1">
            <a:spLocks noChangeArrowheads="1"/>
          </p:cNvSpPr>
          <p:nvPr userDrawn="1"/>
        </p:nvSpPr>
        <p:spPr bwMode="auto">
          <a:xfrm>
            <a:off x="7918450" y="6611937"/>
            <a:ext cx="4273550" cy="246217"/>
          </a:xfrm>
          <a:prstGeom prst="rect">
            <a:avLst/>
          </a:prstGeom>
          <a:noFill/>
          <a:ln>
            <a:noFill/>
          </a:ln>
        </p:spPr>
        <p:txBody>
          <a:bodyPr wrap="square" lIns="91435" tIns="45718" rIns="91435" bIns="45718">
            <a:spAutoFit/>
          </a:bodyPr>
          <a:lstStyle/>
          <a:p>
            <a:pPr algn="r">
              <a:spcBef>
                <a:spcPct val="50000"/>
              </a:spcBef>
              <a:defRPr/>
            </a:pPr>
            <a:r>
              <a:rPr lang="en-US" sz="1000" b="1" dirty="0" err="1">
                <a:solidFill>
                  <a:srgbClr val="336699"/>
                </a:solidFill>
                <a:latin typeface="Helvetica" pitchFamily="-84" charset="0"/>
              </a:rPr>
              <a:t>Xidian</a:t>
            </a:r>
            <a:r>
              <a:rPr lang="en-US" sz="1000" b="1" dirty="0">
                <a:solidFill>
                  <a:srgbClr val="336699"/>
                </a:solidFill>
                <a:latin typeface="Helvetica" pitchFamily="-84" charset="0"/>
              </a:rPr>
              <a:t> University,</a:t>
            </a:r>
            <a:r>
              <a:rPr lang="en-US" sz="1000" b="1" baseline="0" dirty="0">
                <a:solidFill>
                  <a:srgbClr val="336699"/>
                </a:solidFill>
                <a:latin typeface="Helvetica" pitchFamily="-84" charset="0"/>
              </a:rPr>
              <a:t> Cyber Engineering, </a:t>
            </a:r>
            <a:r>
              <a:rPr lang="en-US" altLang="zh-CN" sz="1000" b="1" baseline="0" dirty="0" err="1">
                <a:solidFill>
                  <a:srgbClr val="336699"/>
                </a:solidFill>
                <a:latin typeface="Helvetica" pitchFamily="-84" charset="0"/>
              </a:rPr>
              <a:t>Xiangyu</a:t>
            </a:r>
            <a:r>
              <a:rPr lang="en-US" altLang="zh-CN" sz="1000" b="1" baseline="0" dirty="0">
                <a:solidFill>
                  <a:srgbClr val="336699"/>
                </a:solidFill>
                <a:latin typeface="Helvetica" pitchFamily="-84" charset="0"/>
              </a:rPr>
              <a:t> Wang</a:t>
            </a:r>
            <a:r>
              <a:rPr lang="en-US" altLang="zh-CN" sz="1000" b="1" dirty="0">
                <a:solidFill>
                  <a:srgbClr val="336699"/>
                </a:solidFill>
                <a:latin typeface="Helvetica" pitchFamily="-84" charset="0"/>
              </a:rPr>
              <a:t> </a:t>
            </a:r>
            <a:r>
              <a:rPr lang="en-US" sz="1000" b="1" dirty="0">
                <a:solidFill>
                  <a:srgbClr val="336699"/>
                </a:solidFill>
                <a:latin typeface="Helvetica" pitchFamily="-84" charset="0"/>
              </a:rPr>
              <a:t>© 2026</a:t>
            </a:r>
          </a:p>
        </p:txBody>
      </p:sp>
    </p:spTree>
    <p:extLst>
      <p:ext uri="{BB962C8B-B14F-4D97-AF65-F5344CB8AC3E}">
        <p14:creationId xmlns:p14="http://schemas.microsoft.com/office/powerpoint/2010/main" val="23257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en-US"/>
              <a:t>Click to edit Master title style</a:t>
            </a:r>
          </a:p>
        </p:txBody>
      </p:sp>
      <p:sp>
        <p:nvSpPr>
          <p:cNvPr id="3" name="Content Placeholder 2"/>
          <p:cNvSpPr>
            <a:spLocks noGrp="1"/>
          </p:cNvSpPr>
          <p:nvPr>
            <p:ph idx="1"/>
          </p:nvPr>
        </p:nvSpPr>
        <p:spPr/>
        <p:txBody>
          <a:bodyPr/>
          <a:lstStyle>
            <a:lvl1pPr marL="341313" indent="-341313">
              <a:buFont typeface="Wingdings" panose="05000000000000000000" pitchFamily="2" charset="2"/>
              <a:buChar char="p"/>
              <a:defRPr/>
            </a:lvl1pPr>
            <a:lvl2pPr marL="741363" indent="-284163">
              <a:buFont typeface="Wingdings" panose="05000000000000000000" pitchFamily="2" charset="2"/>
              <a:buChar char="n"/>
              <a:defRPr/>
            </a:lvl2pPr>
            <a:lvl3pPr marL="1084263" indent="-227013">
              <a:buFont typeface="Wingdings" panose="05000000000000000000" pitchFamily="2" charset="2"/>
              <a:buChar char="Ø"/>
              <a:defRPr/>
            </a:lvl3pPr>
            <a:lvl4pPr marL="1427163" indent="-227013">
              <a:buFont typeface="Wingdings" panose="05000000000000000000" pitchFamily="2" charset="2"/>
              <a:buChar char="ü"/>
              <a:defRPr/>
            </a:lvl4pPr>
            <a:lvl5pPr marL="1770063" indent="-227013">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450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2161392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1208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8846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76107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9096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650888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539126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0659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0242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5"/>
            <a:ext cx="10972800" cy="576262"/>
          </a:xfrm>
        </p:spPr>
        <p:txBody>
          <a:bodyPr/>
          <a:lstStyle/>
          <a:p>
            <a:r>
              <a:rPr lang="en-US"/>
              <a:t>Click to edit Master title style</a:t>
            </a:r>
          </a:p>
        </p:txBody>
      </p:sp>
      <p:sp>
        <p:nvSpPr>
          <p:cNvPr id="3" name="Text Placeholder 2"/>
          <p:cNvSpPr>
            <a:spLocks noGrp="1"/>
          </p:cNvSpPr>
          <p:nvPr>
            <p:ph type="body" sz="half" idx="1"/>
          </p:nvPr>
        </p:nvSpPr>
        <p:spPr>
          <a:xfrm>
            <a:off x="1075267" y="123349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9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0824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609600" y="27781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zh-CN"/>
              <a:t>Click to edit Master title style</a:t>
            </a:r>
          </a:p>
        </p:txBody>
      </p:sp>
      <p:sp>
        <p:nvSpPr>
          <p:cNvPr id="1028" name="Rectangle 4"/>
          <p:cNvSpPr>
            <a:spLocks noGrp="1" noChangeArrowheads="1"/>
          </p:cNvSpPr>
          <p:nvPr>
            <p:ph type="body" idx="1"/>
          </p:nvPr>
        </p:nvSpPr>
        <p:spPr bwMode="auto">
          <a:xfrm>
            <a:off x="1075267" y="1233489"/>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ChangeArrowheads="1"/>
          </p:cNvSpPr>
          <p:nvPr/>
        </p:nvSpPr>
        <p:spPr bwMode="auto">
          <a:xfrm>
            <a:off x="0" y="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0" name="Line 6"/>
          <p:cNvSpPr>
            <a:spLocks noChangeShapeType="1"/>
          </p:cNvSpPr>
          <p:nvPr/>
        </p:nvSpPr>
        <p:spPr bwMode="auto">
          <a:xfrm>
            <a:off x="609600" y="860425"/>
            <a:ext cx="10769600" cy="0"/>
          </a:xfrm>
          <a:prstGeom prst="line">
            <a:avLst/>
          </a:prstGeom>
          <a:noFill/>
          <a:ln w="19050">
            <a:solidFill>
              <a:srgbClr val="336699"/>
            </a:solidFill>
            <a:round/>
            <a:headEnd/>
            <a:tailEnd/>
          </a:ln>
        </p:spPr>
        <p:txBody>
          <a:bodyPr lIns="91435" tIns="45718" rIns="91435" bIns="45718"/>
          <a:lstStyle/>
          <a:p>
            <a:pPr eaLnBrk="0" fontAlgn="base" hangingPunct="0">
              <a:spcBef>
                <a:spcPct val="0"/>
              </a:spcBef>
              <a:spcAft>
                <a:spcPct val="0"/>
              </a:spcAft>
              <a:defRPr/>
            </a:pPr>
            <a:endParaRPr lang="en-US" sz="1800">
              <a:solidFill>
                <a:srgbClr val="000000"/>
              </a:solidFill>
              <a:latin typeface="Verdana" panose="020B0604030504040204" pitchFamily="34" charset="0"/>
              <a:ea typeface="MS PGothic" panose="020B0600070205080204" pitchFamily="34" charset="-128"/>
            </a:endParaRPr>
          </a:p>
        </p:txBody>
      </p:sp>
      <p:sp>
        <p:nvSpPr>
          <p:cNvPr id="1031" name="Rectangle 7"/>
          <p:cNvSpPr>
            <a:spLocks noChangeArrowheads="1"/>
          </p:cNvSpPr>
          <p:nvPr/>
        </p:nvSpPr>
        <p:spPr bwMode="auto">
          <a:xfrm>
            <a:off x="0" y="2286000"/>
            <a:ext cx="3048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2" name="Rectangle 8"/>
          <p:cNvSpPr>
            <a:spLocks noChangeArrowheads="1"/>
          </p:cNvSpPr>
          <p:nvPr/>
        </p:nvSpPr>
        <p:spPr bwMode="auto">
          <a:xfrm>
            <a:off x="0" y="457200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3" name="Text Box 9"/>
          <p:cNvSpPr txBox="1">
            <a:spLocks noChangeArrowheads="1"/>
          </p:cNvSpPr>
          <p:nvPr/>
        </p:nvSpPr>
        <p:spPr bwMode="auto">
          <a:xfrm>
            <a:off x="5749461" y="6613526"/>
            <a:ext cx="447549" cy="246217"/>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0" fontAlgn="base" hangingPunct="0">
              <a:spcBef>
                <a:spcPct val="50000"/>
              </a:spcBef>
              <a:spcAft>
                <a:spcPct val="0"/>
              </a:spcAft>
            </a:pPr>
            <a:r>
              <a:rPr lang="en-US" altLang="zh-CN" sz="1000" b="1" dirty="0">
                <a:solidFill>
                  <a:srgbClr val="006699"/>
                </a:solidFill>
                <a:latin typeface="Helvetica" panose="020B0604020202020204" pitchFamily="34" charset="0"/>
              </a:rPr>
              <a:t>4.</a:t>
            </a:r>
            <a:fld id="{08C61524-A86C-4EEA-897F-D0BC5AB60DA3}" type="slidenum">
              <a:rPr lang="en-US" altLang="zh-CN" sz="1000" b="1" smtClean="0">
                <a:solidFill>
                  <a:srgbClr val="006699"/>
                </a:solidFill>
                <a:latin typeface="Helvetica" panose="020B0604020202020204" pitchFamily="34" charset="0"/>
              </a:rPr>
              <a:pPr algn="ctr" eaLnBrk="0" fontAlgn="base" hangingPunct="0">
                <a:spcBef>
                  <a:spcPct val="50000"/>
                </a:spcBef>
                <a:spcAft>
                  <a:spcPct val="0"/>
                </a:spcAft>
              </a:pPr>
              <a:t>‹#›</a:t>
            </a:fld>
            <a:endParaRPr lang="en-US" altLang="zh-CN" sz="1000" b="1" dirty="0">
              <a:solidFill>
                <a:srgbClr val="006699"/>
              </a:solidFill>
              <a:latin typeface="Helvetica" panose="020B0604020202020204" pitchFamily="34" charset="0"/>
            </a:endParaRPr>
          </a:p>
        </p:txBody>
      </p:sp>
      <p:pic>
        <p:nvPicPr>
          <p:cNvPr id="1036" name="Picture 12" descr="dino_6"/>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4724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3200" b="1">
          <a:solidFill>
            <a:srgbClr val="006699"/>
          </a:solidFill>
          <a:latin typeface="微软雅黑" panose="020B0503020204020204" pitchFamily="34" charset="-122"/>
          <a:ea typeface="微软雅黑" panose="020B0503020204020204" pitchFamily="34" charset="-122"/>
          <a:cs typeface="微软雅黑" panose="020B0503020204020204" pitchFamily="34" charset="-122"/>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90000"/>
        <a:buFont typeface="Wingdings" panose="05000000000000000000" pitchFamily="2" charset="2"/>
        <a:buChar char="p"/>
        <a:defRPr kumimoji="1"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741363" indent="-284163" algn="l" rtl="0" eaLnBrk="0" fontAlgn="base" hangingPunct="0">
        <a:spcBef>
          <a:spcPct val="35000"/>
        </a:spcBef>
        <a:spcAft>
          <a:spcPct val="0"/>
        </a:spcAft>
        <a:buClr>
          <a:srgbClr val="CC6600"/>
        </a:buClr>
        <a:buSzPct val="80000"/>
        <a:buFont typeface="Wingdings" panose="05000000000000000000" pitchFamily="2" charset="2"/>
        <a:buChar char="n"/>
        <a:defRPr kumimoji="1" sz="20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084263" indent="-227013" algn="l" rtl="0" eaLnBrk="0" fontAlgn="base" hangingPunct="0">
        <a:spcBef>
          <a:spcPct val="35000"/>
        </a:spcBef>
        <a:spcAft>
          <a:spcPct val="0"/>
        </a:spcAft>
        <a:buClr>
          <a:srgbClr val="009900"/>
        </a:buClr>
        <a:buSzPct val="75000"/>
        <a:buFont typeface="Wingdings" panose="05000000000000000000" pitchFamily="2" charset="2"/>
        <a:buChar char="Ø"/>
        <a:defRPr kumimoji="1"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427163" indent="-227013" algn="l" rtl="0" eaLnBrk="0" fontAlgn="base" hangingPunct="0">
        <a:spcBef>
          <a:spcPct val="35000"/>
        </a:spcBef>
        <a:spcAft>
          <a:spcPct val="0"/>
        </a:spcAft>
        <a:buClr>
          <a:schemeClr val="hlink"/>
        </a:buClr>
        <a:buSzPct val="75000"/>
        <a:buFont typeface="Wingdings" panose="05000000000000000000" pitchFamily="2" charset="2"/>
        <a:buChar char="ü"/>
        <a:defRPr kumimoji="1" sz="16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770063" indent="-227013" algn="l" rtl="0" eaLnBrk="0" fontAlgn="base" hangingPunct="0">
        <a:spcBef>
          <a:spcPct val="35000"/>
        </a:spcBef>
        <a:spcAft>
          <a:spcPct val="0"/>
        </a:spcAft>
        <a:buClr>
          <a:srgbClr val="FF0066"/>
        </a:buClr>
        <a:buSzPct val="75000"/>
        <a:buFont typeface="Arial" panose="020B0604020202020204" pitchFamily="34" charset="0"/>
        <a:buChar char="•"/>
        <a:defRPr kumimoji="1" sz="16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746B7D0-8CC6-4F8A-91CC-8A7DEB3FCBDC}"/>
              </a:ext>
            </a:extLst>
          </p:cNvPr>
          <p:cNvSpPr>
            <a:spLocks noGrp="1" noChangeArrowheads="1"/>
          </p:cNvSpPr>
          <p:nvPr>
            <p:ph type="ctrTitle"/>
          </p:nvPr>
        </p:nvSpPr>
        <p:spPr>
          <a:xfrm>
            <a:off x="2209800" y="782638"/>
            <a:ext cx="7772400" cy="2127250"/>
          </a:xfrm>
        </p:spPr>
        <p:txBody>
          <a:bodyPr/>
          <a:lstStyle/>
          <a:p>
            <a:pPr eaLnBrk="1" hangingPunct="1"/>
            <a:r>
              <a:rPr lang="zh-CN" altLang="en-US">
                <a:latin typeface="微软雅黑" panose="020B0503020204020204" pitchFamily="34" charset="-122"/>
                <a:ea typeface="微软雅黑" panose="020B0503020204020204" pitchFamily="34" charset="-122"/>
              </a:rPr>
              <a:t>第四章  线程</a:t>
            </a:r>
            <a:endParaRPr lang="en-US"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FAB7E68-8371-402C-8B06-4BC61BC32A3E}"/>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第四章 多线程编程</a:t>
            </a:r>
            <a:endParaRPr lang="en-US" altLang="en-US"/>
          </a:p>
        </p:txBody>
      </p:sp>
      <p:sp>
        <p:nvSpPr>
          <p:cNvPr id="7171" name="Rectangle 3">
            <a:extLst>
              <a:ext uri="{FF2B5EF4-FFF2-40B4-BE49-F238E27FC236}">
                <a16:creationId xmlns:a16="http://schemas.microsoft.com/office/drawing/2014/main" id="{A9D4FDFF-FBCA-469A-AFD3-6BDC95E57452}"/>
              </a:ext>
            </a:extLst>
          </p:cNvPr>
          <p:cNvSpPr>
            <a:spLocks noGrp="1" noChangeArrowheads="1"/>
          </p:cNvSpPr>
          <p:nvPr>
            <p:ph idx="1"/>
          </p:nvPr>
        </p:nvSpPr>
        <p:spPr/>
        <p:txBody>
          <a:bodyPr/>
          <a:lstStyle/>
          <a:p>
            <a:pPr>
              <a:lnSpc>
                <a:spcPct val="200000"/>
              </a:lnSpc>
            </a:pPr>
            <a:r>
              <a:rPr lang="zh-CN" altLang="en-US" sz="2800" dirty="0">
                <a:latin typeface="微软雅黑" panose="020B0503020204020204" pitchFamily="34" charset="-122"/>
                <a:ea typeface="微软雅黑" panose="020B0503020204020204" pitchFamily="34" charset="-122"/>
              </a:rPr>
              <a:t>概述</a:t>
            </a:r>
            <a:endParaRPr lang="en-US" altLang="zh-CN" sz="2800" dirty="0">
              <a:latin typeface="微软雅黑" panose="020B0503020204020204" pitchFamily="34" charset="-122"/>
              <a:ea typeface="微软雅黑" panose="020B0503020204020204" pitchFamily="34" charset="-122"/>
            </a:endParaRPr>
          </a:p>
          <a:p>
            <a:pPr>
              <a:lnSpc>
                <a:spcPct val="200000"/>
              </a:lnSpc>
            </a:pPr>
            <a:r>
              <a:rPr lang="zh-CN" altLang="en-US" sz="2800" dirty="0">
                <a:latin typeface="微软雅黑" panose="020B0503020204020204" pitchFamily="34" charset="-122"/>
                <a:ea typeface="微软雅黑" panose="020B0503020204020204" pitchFamily="34" charset="-122"/>
              </a:rPr>
              <a:t>多核编程</a:t>
            </a:r>
          </a:p>
          <a:p>
            <a:pPr>
              <a:lnSpc>
                <a:spcPct val="200000"/>
              </a:lnSpc>
            </a:pPr>
            <a:r>
              <a:rPr lang="zh-CN" altLang="en-US" sz="2800" dirty="0">
                <a:latin typeface="微软雅黑" panose="020B0503020204020204" pitchFamily="34" charset="-122"/>
                <a:ea typeface="微软雅黑" panose="020B0503020204020204" pitchFamily="34" charset="-122"/>
              </a:rPr>
              <a:t>多线程模型</a:t>
            </a:r>
          </a:p>
          <a:p>
            <a:pPr>
              <a:lnSpc>
                <a:spcPct val="200000"/>
              </a:lnSpc>
            </a:pPr>
            <a:r>
              <a:rPr lang="zh-CN" altLang="en-US" sz="2800" dirty="0">
                <a:latin typeface="微软雅黑" panose="020B0503020204020204" pitchFamily="34" charset="-122"/>
                <a:ea typeface="微软雅黑" panose="020B0503020204020204" pitchFamily="34" charset="-122"/>
              </a:rPr>
              <a:t>线程库</a:t>
            </a:r>
          </a:p>
          <a:p>
            <a:pPr>
              <a:lnSpc>
                <a:spcPct val="200000"/>
              </a:lnSpc>
              <a:buFont typeface="Monotype Sorts" pitchFamily="-84" charset="2"/>
              <a:buNone/>
            </a:pPr>
            <a:endParaRPr lang="en-US" altLang="en-US" sz="28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14DA8FA-059A-4A62-9854-DF1D0B119BAA}"/>
              </a:ext>
            </a:extLst>
          </p:cNvPr>
          <p:cNvSpPr/>
          <p:nvPr/>
        </p:nvSpPr>
        <p:spPr>
          <a:xfrm>
            <a:off x="7651173" y="1093786"/>
            <a:ext cx="6096000" cy="2849306"/>
          </a:xfrm>
          <a:prstGeom prst="rect">
            <a:avLst/>
          </a:prstGeom>
        </p:spPr>
        <p:txBody>
          <a:bodyPr>
            <a:spAutoFit/>
          </a:bodyPr>
          <a:lstStyle/>
          <a:p>
            <a:pPr marL="341313" lvl="0" indent="-341313" eaLnBrk="0" fontAlgn="base" hangingPunct="0">
              <a:lnSpc>
                <a:spcPct val="200000"/>
              </a:lnSpc>
              <a:spcBef>
                <a:spcPct val="35000"/>
              </a:spcBef>
              <a:spcAft>
                <a:spcPct val="0"/>
              </a:spcAft>
              <a:buClr>
                <a:srgbClr val="993300"/>
              </a:buClr>
              <a:buSzPct val="90000"/>
              <a:buFont typeface="Wingdings" panose="05000000000000000000" pitchFamily="2" charset="2"/>
              <a:buChar char="p"/>
            </a:pPr>
            <a:r>
              <a:rPr kumimoji="1" lang="zh-CN" altLang="en-US" sz="2800" b="1" kern="0" dirty="0">
                <a:solidFill>
                  <a:srgbClr val="000000"/>
                </a:solidFill>
                <a:latin typeface="微软雅黑" panose="020B0503020204020204" pitchFamily="34" charset="-122"/>
                <a:ea typeface="微软雅黑" panose="020B0503020204020204" pitchFamily="34" charset="-122"/>
              </a:rPr>
              <a:t>隐式多线程</a:t>
            </a:r>
          </a:p>
          <a:p>
            <a:pPr marL="341313" lvl="0" indent="-341313" eaLnBrk="0" fontAlgn="base" hangingPunct="0">
              <a:lnSpc>
                <a:spcPct val="200000"/>
              </a:lnSpc>
              <a:spcBef>
                <a:spcPct val="35000"/>
              </a:spcBef>
              <a:spcAft>
                <a:spcPct val="0"/>
              </a:spcAft>
              <a:buClr>
                <a:srgbClr val="993300"/>
              </a:buClr>
              <a:buSzPct val="90000"/>
              <a:buFont typeface="Wingdings" panose="05000000000000000000" pitchFamily="2" charset="2"/>
              <a:buChar char="p"/>
            </a:pPr>
            <a:r>
              <a:rPr kumimoji="1" lang="zh-CN" altLang="en-US" sz="2800" b="1" kern="0" dirty="0">
                <a:solidFill>
                  <a:srgbClr val="000000"/>
                </a:solidFill>
                <a:latin typeface="微软雅黑" panose="020B0503020204020204" pitchFamily="34" charset="-122"/>
                <a:ea typeface="微软雅黑" panose="020B0503020204020204" pitchFamily="34" charset="-122"/>
              </a:rPr>
              <a:t>多线程问题</a:t>
            </a:r>
          </a:p>
          <a:p>
            <a:pPr marL="341313" lvl="0" indent="-341313" eaLnBrk="0" fontAlgn="base" hangingPunct="0">
              <a:lnSpc>
                <a:spcPct val="200000"/>
              </a:lnSpc>
              <a:spcBef>
                <a:spcPct val="35000"/>
              </a:spcBef>
              <a:spcAft>
                <a:spcPct val="0"/>
              </a:spcAft>
              <a:buClr>
                <a:srgbClr val="993300"/>
              </a:buClr>
              <a:buSzPct val="90000"/>
              <a:buFont typeface="Wingdings" panose="05000000000000000000" pitchFamily="2" charset="2"/>
              <a:buChar char="p"/>
            </a:pPr>
            <a:r>
              <a:rPr kumimoji="1" lang="zh-CN" altLang="en-US" sz="2800" b="1" kern="0" dirty="0">
                <a:solidFill>
                  <a:srgbClr val="000000"/>
                </a:solidFill>
                <a:latin typeface="微软雅黑" panose="020B0503020204020204" pitchFamily="34" charset="-122"/>
                <a:ea typeface="微软雅黑" panose="020B0503020204020204" pitchFamily="34" charset="-122"/>
              </a:rPr>
              <a:t>操作系统示例</a:t>
            </a:r>
            <a:endParaRPr kumimoji="1" lang="en-US" altLang="en-US" sz="2800" b="1" kern="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3095B11-54E4-48D9-8485-DE79AB674DBF}"/>
              </a:ext>
            </a:extLst>
          </p:cNvPr>
          <p:cNvSpPr>
            <a:spLocks noGrp="1" noChangeArrowheads="1"/>
          </p:cNvSpPr>
          <p:nvPr>
            <p:ph type="title"/>
          </p:nvPr>
        </p:nvSpPr>
        <p:spPr>
          <a:xfrm>
            <a:off x="1981200" y="176213"/>
            <a:ext cx="8229600" cy="576262"/>
          </a:xfrm>
        </p:spPr>
        <p:txBody>
          <a:bodyPr/>
          <a:lstStyle/>
          <a:p>
            <a:pPr eaLnBrk="1" hangingPunct="1"/>
            <a:r>
              <a:rPr lang="en-US" altLang="zh-CN" dirty="0"/>
              <a:t>4.1 </a:t>
            </a:r>
            <a:r>
              <a:rPr lang="zh-CN" altLang="en-US" dirty="0"/>
              <a:t>概述</a:t>
            </a:r>
            <a:endParaRPr lang="en-US" altLang="en-US" dirty="0">
              <a:latin typeface="微软雅黑" panose="020B0503020204020204" pitchFamily="34" charset="-122"/>
              <a:ea typeface="微软雅黑" panose="020B0503020204020204" pitchFamily="34" charset="-122"/>
            </a:endParaRPr>
          </a:p>
        </p:txBody>
      </p:sp>
      <p:sp>
        <p:nvSpPr>
          <p:cNvPr id="11267" name="Content Placeholder 2">
            <a:extLst>
              <a:ext uri="{FF2B5EF4-FFF2-40B4-BE49-F238E27FC236}">
                <a16:creationId xmlns:a16="http://schemas.microsoft.com/office/drawing/2014/main" id="{92D4ED93-B4AA-4A37-A4DB-E002E461A476}"/>
              </a:ext>
            </a:extLst>
          </p:cNvPr>
          <p:cNvSpPr>
            <a:spLocks noGrp="1" noChangeArrowheads="1"/>
          </p:cNvSpPr>
          <p:nvPr>
            <p:ph idx="1"/>
          </p:nvPr>
        </p:nvSpPr>
        <p:spPr>
          <a:xfrm>
            <a:off x="665019" y="1036062"/>
            <a:ext cx="10442863" cy="4530725"/>
          </a:xfrm>
        </p:spPr>
        <p:txBody>
          <a:bodyPr/>
          <a:lstStyle/>
          <a:p>
            <a:pPr>
              <a:lnSpc>
                <a:spcPct val="200000"/>
              </a:lnSpc>
            </a:pPr>
            <a:r>
              <a:rPr lang="zh-CN" altLang="en-US" sz="2800" dirty="0">
                <a:latin typeface="微软雅黑" panose="020B0503020204020204" pitchFamily="34" charset="-122"/>
                <a:ea typeface="微软雅黑" panose="020B0503020204020204" pitchFamily="34" charset="-122"/>
              </a:rPr>
              <a:t>传统（重量级</a:t>
            </a:r>
            <a:r>
              <a:rPr lang="en-US" altLang="zh-CN" sz="2800" dirty="0">
                <a:latin typeface="微软雅黑" panose="020B0503020204020204" pitchFamily="34" charset="-122"/>
                <a:ea typeface="微软雅黑" panose="020B0503020204020204" pitchFamily="34" charset="-122"/>
              </a:rPr>
              <a:t>, heavyweight</a:t>
            </a:r>
            <a:r>
              <a:rPr lang="zh-CN" altLang="en-US" sz="2800" dirty="0">
                <a:latin typeface="微软雅黑" panose="020B0503020204020204" pitchFamily="34" charset="-122"/>
                <a:ea typeface="微软雅黑" panose="020B0503020204020204" pitchFamily="34" charset="-122"/>
              </a:rPr>
              <a:t>）进程</a:t>
            </a:r>
            <a:r>
              <a:rPr lang="zh-CN" altLang="en-US" sz="2800" b="0" dirty="0">
                <a:latin typeface="微软雅黑" panose="020B0503020204020204" pitchFamily="34" charset="-122"/>
                <a:ea typeface="微软雅黑" panose="020B0503020204020204" pitchFamily="34" charset="-122"/>
              </a:rPr>
              <a:t>只能</a:t>
            </a:r>
            <a:r>
              <a:rPr lang="zh-CN" altLang="en-US" sz="2800" dirty="0">
                <a:latin typeface="微软雅黑" panose="020B0503020204020204" pitchFamily="34" charset="-122"/>
                <a:ea typeface="微软雅黑" panose="020B0503020204020204" pitchFamily="34" charset="-122"/>
              </a:rPr>
              <a:t>控制</a:t>
            </a:r>
            <a:r>
              <a:rPr lang="en-US" altLang="zh-CN" sz="2800" dirty="0"/>
              <a:t>1</a:t>
            </a:r>
            <a:r>
              <a:rPr lang="zh-CN" altLang="en-US" sz="2800" dirty="0"/>
              <a:t>个线程</a:t>
            </a:r>
            <a:r>
              <a:rPr lang="en-US" altLang="zh-CN" sz="2800" dirty="0"/>
              <a:t>—</a:t>
            </a:r>
            <a:r>
              <a:rPr lang="en-US" altLang="zh-CN" sz="2800" dirty="0">
                <a:solidFill>
                  <a:srgbClr val="0070C0"/>
                </a:solidFill>
              </a:rPr>
              <a:t>1</a:t>
            </a:r>
            <a:r>
              <a:rPr lang="zh-CN" altLang="en-US" sz="2800" dirty="0">
                <a:solidFill>
                  <a:srgbClr val="0070C0"/>
                </a:solidFill>
              </a:rPr>
              <a:t>个程序计数器，</a:t>
            </a:r>
            <a:r>
              <a:rPr lang="en-US" altLang="zh-CN" sz="2800" dirty="0">
                <a:solidFill>
                  <a:srgbClr val="0070C0"/>
                </a:solidFill>
              </a:rPr>
              <a:t>1</a:t>
            </a:r>
            <a:r>
              <a:rPr lang="zh-CN" altLang="en-US" sz="2800" dirty="0">
                <a:solidFill>
                  <a:srgbClr val="0070C0"/>
                </a:solidFill>
              </a:rPr>
              <a:t>个可执行的指令序列</a:t>
            </a:r>
          </a:p>
          <a:p>
            <a:pPr>
              <a:lnSpc>
                <a:spcPct val="200000"/>
              </a:lnSpc>
            </a:pPr>
            <a:r>
              <a:rPr lang="en-US" altLang="zh-CN" sz="2800" dirty="0">
                <a:solidFill>
                  <a:srgbClr val="0070C0"/>
                </a:solidFill>
                <a:latin typeface="微软雅黑" panose="020B0503020204020204" pitchFamily="34" charset="-122"/>
                <a:ea typeface="微软雅黑" panose="020B0503020204020204" pitchFamily="34" charset="-122"/>
              </a:rPr>
              <a:t>1</a:t>
            </a:r>
            <a:r>
              <a:rPr lang="zh-CN" altLang="en-US" sz="2800" dirty="0">
                <a:solidFill>
                  <a:srgbClr val="0070C0"/>
                </a:solidFill>
                <a:latin typeface="微软雅黑" panose="020B0503020204020204" pitchFamily="34" charset="-122"/>
                <a:ea typeface="微软雅黑" panose="020B0503020204020204" pitchFamily="34" charset="-122"/>
              </a:rPr>
              <a:t>个线程</a:t>
            </a:r>
            <a:r>
              <a:rPr lang="zh-CN" altLang="en-US" sz="2800" dirty="0">
                <a:latin typeface="微软雅黑" panose="020B0503020204020204" pitchFamily="34" charset="-122"/>
                <a:ea typeface="微软雅黑" panose="020B0503020204020204" pitchFamily="34" charset="-122"/>
              </a:rPr>
              <a:t>是</a:t>
            </a:r>
            <a:r>
              <a:rPr lang="en-US" altLang="zh-CN" sz="2800" dirty="0">
                <a:latin typeface="微软雅黑" panose="020B0503020204020204" pitchFamily="34" charset="-122"/>
                <a:ea typeface="微软雅黑" panose="020B0503020204020204" pitchFamily="34" charset="-122"/>
              </a:rPr>
              <a:t>CPU</a:t>
            </a:r>
            <a:r>
              <a:rPr lang="zh-CN" altLang="en-US" sz="2800" dirty="0"/>
              <a:t>执行的</a:t>
            </a:r>
            <a:r>
              <a:rPr lang="en-US" altLang="zh-CN" sz="2800" dirty="0">
                <a:solidFill>
                  <a:srgbClr val="0070C0"/>
                </a:solidFill>
              </a:rPr>
              <a:t>1</a:t>
            </a:r>
            <a:r>
              <a:rPr lang="zh-CN" altLang="en-US" sz="2800" dirty="0">
                <a:solidFill>
                  <a:srgbClr val="0070C0"/>
                </a:solidFill>
              </a:rPr>
              <a:t>个基本单元</a:t>
            </a:r>
            <a:r>
              <a:rPr lang="zh-CN" altLang="en-US" sz="2800" dirty="0"/>
              <a:t>，包括了</a:t>
            </a:r>
            <a:endParaRPr lang="en-US" altLang="zh-CN" sz="2800" dirty="0"/>
          </a:p>
          <a:p>
            <a:pPr lvl="1">
              <a:lnSpc>
                <a:spcPct val="200000"/>
              </a:lnSpc>
            </a:pP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个程序计数器</a:t>
            </a:r>
            <a:endParaRPr lang="en-US" altLang="zh-CN" sz="2400" b="1" dirty="0">
              <a:latin typeface="微软雅黑" panose="020B0503020204020204" pitchFamily="34" charset="-122"/>
              <a:ea typeface="微软雅黑" panose="020B0503020204020204" pitchFamily="34" charset="-122"/>
            </a:endParaRPr>
          </a:p>
          <a:p>
            <a:pPr lvl="1">
              <a:lnSpc>
                <a:spcPct val="200000"/>
              </a:lnSpc>
            </a:pPr>
            <a:r>
              <a:rPr lang="en-US" altLang="zh-CN" sz="2400" b="1" dirty="0"/>
              <a:t>1</a:t>
            </a:r>
            <a:r>
              <a:rPr lang="zh-CN" altLang="en-US" sz="2400" b="1" dirty="0"/>
              <a:t>个栈</a:t>
            </a:r>
            <a:endParaRPr lang="en-US" altLang="zh-CN" sz="2400" b="1" dirty="0"/>
          </a:p>
          <a:p>
            <a:pPr lvl="1">
              <a:lnSpc>
                <a:spcPct val="200000"/>
              </a:lnSpc>
            </a:pPr>
            <a:r>
              <a:rPr lang="en-US" altLang="zh-CN" sz="2400" b="1" dirty="0"/>
              <a:t>1</a:t>
            </a:r>
            <a:r>
              <a:rPr lang="zh-CN" altLang="en-US" sz="2400" b="1" dirty="0"/>
              <a:t>组可使用的寄存器（以及</a:t>
            </a:r>
            <a:r>
              <a:rPr lang="en-US" altLang="zh-CN" sz="2400" b="1" dirty="0"/>
              <a:t>1</a:t>
            </a:r>
            <a:r>
              <a:rPr lang="zh-CN" altLang="en-US" sz="2400" b="1" dirty="0"/>
              <a:t>个线程</a:t>
            </a:r>
            <a:r>
              <a:rPr lang="en-US" altLang="zh-CN" sz="2400" b="1" dirty="0"/>
              <a:t>ID</a:t>
            </a:r>
            <a:r>
              <a:rPr lang="zh-CN" altLang="en-US" sz="2400" b="1" dirty="0"/>
              <a:t>）</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3095B11-54E4-48D9-8485-DE79AB674DBF}"/>
              </a:ext>
            </a:extLst>
          </p:cNvPr>
          <p:cNvSpPr>
            <a:spLocks noGrp="1" noChangeArrowheads="1"/>
          </p:cNvSpPr>
          <p:nvPr>
            <p:ph type="title"/>
          </p:nvPr>
        </p:nvSpPr>
        <p:spPr>
          <a:xfrm>
            <a:off x="1981200" y="176213"/>
            <a:ext cx="8229600" cy="576262"/>
          </a:xfrm>
        </p:spPr>
        <p:txBody>
          <a:bodyPr/>
          <a:lstStyle/>
          <a:p>
            <a:pPr eaLnBrk="1" hangingPunct="1"/>
            <a:r>
              <a:rPr lang="zh-CN" altLang="en-US" dirty="0">
                <a:latin typeface="微软雅黑" panose="020B0503020204020204" pitchFamily="34" charset="-122"/>
                <a:ea typeface="微软雅黑" panose="020B0503020204020204" pitchFamily="34" charset="-122"/>
              </a:rPr>
              <a:t>概述</a:t>
            </a:r>
            <a:endParaRPr lang="en-US" altLang="en-US" dirty="0">
              <a:latin typeface="微软雅黑" panose="020B0503020204020204" pitchFamily="34" charset="-122"/>
              <a:ea typeface="微软雅黑" panose="020B0503020204020204" pitchFamily="34" charset="-122"/>
            </a:endParaRPr>
          </a:p>
        </p:txBody>
      </p:sp>
      <p:sp>
        <p:nvSpPr>
          <p:cNvPr id="11267" name="Content Placeholder 2">
            <a:extLst>
              <a:ext uri="{FF2B5EF4-FFF2-40B4-BE49-F238E27FC236}">
                <a16:creationId xmlns:a16="http://schemas.microsoft.com/office/drawing/2014/main" id="{92D4ED93-B4AA-4A37-A4DB-E002E461A476}"/>
              </a:ext>
            </a:extLst>
          </p:cNvPr>
          <p:cNvSpPr>
            <a:spLocks noGrp="1" noChangeArrowheads="1"/>
          </p:cNvSpPr>
          <p:nvPr>
            <p:ph idx="1"/>
          </p:nvPr>
        </p:nvSpPr>
        <p:spPr>
          <a:xfrm>
            <a:off x="665019" y="1036062"/>
            <a:ext cx="10442863" cy="4530725"/>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多线程程序</a:t>
            </a:r>
            <a:r>
              <a:rPr lang="zh-CN" altLang="en-US" b="0" dirty="0">
                <a:latin typeface="微软雅黑" panose="020B0503020204020204" pitchFamily="34" charset="-122"/>
                <a:ea typeface="微软雅黑" panose="020B0503020204020204" pitchFamily="34" charset="-122"/>
              </a:rPr>
              <a:t>是指</a:t>
            </a:r>
            <a:r>
              <a:rPr lang="zh-CN" altLang="en-US" dirty="0">
                <a:latin typeface="微软雅黑" panose="020B0503020204020204" pitchFamily="34" charset="-122"/>
                <a:ea typeface="微软雅黑" panose="020B0503020204020204" pitchFamily="34" charset="-122"/>
              </a:rPr>
              <a:t>一个单独进程中包含了多个线程，</a:t>
            </a:r>
            <a:r>
              <a:rPr lang="zh-CN" altLang="en-US" b="0" dirty="0">
                <a:latin typeface="微软雅黑" panose="020B0503020204020204" pitchFamily="34" charset="-122"/>
                <a:ea typeface="微软雅黑" panose="020B0503020204020204" pitchFamily="34" charset="-122"/>
              </a:rPr>
              <a:t>每个线程拥有单独的</a:t>
            </a:r>
            <a:endParaRPr lang="en-US" altLang="zh-CN" b="0" dirty="0">
              <a:latin typeface="微软雅黑" panose="020B0503020204020204" pitchFamily="34" charset="-122"/>
              <a:ea typeface="微软雅黑" panose="020B0503020204020204" pitchFamily="34" charset="-122"/>
            </a:endParaRPr>
          </a:p>
          <a:p>
            <a:pPr lvl="1">
              <a:lnSpc>
                <a:spcPct val="150000"/>
              </a:lnSpc>
            </a:pPr>
            <a:r>
              <a:rPr lang="zh-CN" altLang="en-US" b="1" dirty="0"/>
              <a:t>程序计数器，栈</a:t>
            </a:r>
            <a:r>
              <a:rPr lang="zh-CN" altLang="en-US" dirty="0"/>
              <a:t>和</a:t>
            </a:r>
            <a:r>
              <a:rPr lang="zh-CN" altLang="en-US" b="1" dirty="0"/>
              <a:t>寄存器组</a:t>
            </a:r>
            <a:endParaRPr lang="en-US" altLang="zh-CN" b="1" dirty="0"/>
          </a:p>
          <a:p>
            <a:pPr lvl="1">
              <a:lnSpc>
                <a:spcPct val="150000"/>
              </a:lnSpc>
            </a:pPr>
            <a:r>
              <a:rPr lang="zh-CN" altLang="en-US" dirty="0">
                <a:latin typeface="微软雅黑" panose="020B0503020204020204" pitchFamily="34" charset="-122"/>
                <a:ea typeface="微软雅黑" panose="020B0503020204020204" pitchFamily="34" charset="-122"/>
              </a:rPr>
              <a:t>不同线程之间</a:t>
            </a:r>
            <a:r>
              <a:rPr lang="zh-CN" altLang="en-US" b="1" dirty="0">
                <a:latin typeface="微软雅黑" panose="020B0503020204020204" pitchFamily="34" charset="-122"/>
                <a:ea typeface="微软雅黑" panose="020B0503020204020204" pitchFamily="34" charset="-122"/>
              </a:rPr>
              <a:t>共享</a:t>
            </a:r>
            <a:r>
              <a:rPr lang="zh-CN" altLang="en-US" b="1" dirty="0">
                <a:solidFill>
                  <a:srgbClr val="0070C0"/>
                </a:solidFill>
                <a:latin typeface="微软雅黑" panose="020B0503020204020204" pitchFamily="34" charset="-122"/>
                <a:ea typeface="微软雅黑" panose="020B0503020204020204" pitchFamily="34" charset="-122"/>
              </a:rPr>
              <a:t>通用代码、数据</a:t>
            </a:r>
            <a:r>
              <a:rPr lang="zh-CN" altLang="en-US" dirty="0">
                <a:latin typeface="微软雅黑" panose="020B0503020204020204" pitchFamily="34" charset="-122"/>
                <a:ea typeface="微软雅黑" panose="020B0503020204020204" pitchFamily="34" charset="-122"/>
              </a:rPr>
              <a:t>以及</a:t>
            </a:r>
            <a:r>
              <a:rPr lang="zh-CN" altLang="en-US" b="1" dirty="0">
                <a:solidFill>
                  <a:srgbClr val="0070C0"/>
                </a:solidFill>
                <a:latin typeface="微软雅黑" panose="020B0503020204020204" pitchFamily="34" charset="-122"/>
                <a:ea typeface="微软雅黑" panose="020B0503020204020204" pitchFamily="34" charset="-122"/>
              </a:rPr>
              <a:t>特定的数据结构</a:t>
            </a:r>
            <a:r>
              <a:rPr lang="zh-CN" altLang="en-US" dirty="0">
                <a:latin typeface="微软雅黑" panose="020B0503020204020204" pitchFamily="34" charset="-122"/>
                <a:ea typeface="微软雅黑" panose="020B0503020204020204" pitchFamily="34" charset="-122"/>
              </a:rPr>
              <a:t>（如</a:t>
            </a:r>
            <a:r>
              <a:rPr lang="zh-CN" altLang="en-US" b="1" dirty="0">
                <a:solidFill>
                  <a:srgbClr val="0070C0"/>
                </a:solidFill>
                <a:latin typeface="微软雅黑" panose="020B0503020204020204" pitchFamily="34" charset="-122"/>
                <a:ea typeface="微软雅黑" panose="020B0503020204020204" pitchFamily="34" charset="-122"/>
              </a:rPr>
              <a:t>打开文件列表</a:t>
            </a:r>
            <a:r>
              <a:rPr lang="zh-CN" altLang="en-US" dirty="0">
                <a:latin typeface="微软雅黑" panose="020B0503020204020204" pitchFamily="34" charset="-122"/>
                <a:ea typeface="微软雅黑" panose="020B0503020204020204" pitchFamily="34" charset="-122"/>
              </a:rPr>
              <a:t>，等）</a:t>
            </a:r>
          </a:p>
          <a:p>
            <a:pPr>
              <a:lnSpc>
                <a:spcPct val="150000"/>
              </a:lnSpc>
            </a:pPr>
            <a:endParaRPr lang="en-US" altLang="en-US" dirty="0">
              <a:latin typeface="微软雅黑" panose="020B0503020204020204" pitchFamily="34" charset="-122"/>
              <a:ea typeface="微软雅黑" panose="020B0503020204020204" pitchFamily="34" charset="-122"/>
            </a:endParaRPr>
          </a:p>
        </p:txBody>
      </p:sp>
      <p:grpSp>
        <p:nvGrpSpPr>
          <p:cNvPr id="6" name="组合 2">
            <a:extLst>
              <a:ext uri="{FF2B5EF4-FFF2-40B4-BE49-F238E27FC236}">
                <a16:creationId xmlns:a16="http://schemas.microsoft.com/office/drawing/2014/main" id="{B3CE3D8D-D2AC-45AF-A6E6-04454FFF99E7}"/>
              </a:ext>
            </a:extLst>
          </p:cNvPr>
          <p:cNvGrpSpPr>
            <a:grpSpLocks/>
          </p:cNvGrpSpPr>
          <p:nvPr/>
        </p:nvGrpSpPr>
        <p:grpSpPr bwMode="auto">
          <a:xfrm>
            <a:off x="3068853" y="2940627"/>
            <a:ext cx="6054293" cy="3615315"/>
            <a:chOff x="1809750" y="1295400"/>
            <a:chExt cx="6897019" cy="4637799"/>
          </a:xfrm>
        </p:grpSpPr>
        <p:pic>
          <p:nvPicPr>
            <p:cNvPr id="7" name="Picture 1" descr="4_01.pdf">
              <a:extLst>
                <a:ext uri="{FF2B5EF4-FFF2-40B4-BE49-F238E27FC236}">
                  <a16:creationId xmlns:a16="http://schemas.microsoft.com/office/drawing/2014/main" id="{342D8D56-414E-445C-996B-F7D88205B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1295400"/>
              <a:ext cx="6884988" cy="446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1">
              <a:extLst>
                <a:ext uri="{FF2B5EF4-FFF2-40B4-BE49-F238E27FC236}">
                  <a16:creationId xmlns:a16="http://schemas.microsoft.com/office/drawing/2014/main" id="{275D45FA-F3FD-4D87-ABA0-8899BA22B023}"/>
                </a:ext>
              </a:extLst>
            </p:cNvPr>
            <p:cNvSpPr>
              <a:spLocks noChangeArrowheads="1"/>
            </p:cNvSpPr>
            <p:nvPr/>
          </p:nvSpPr>
          <p:spPr bwMode="auto">
            <a:xfrm>
              <a:off x="1913021" y="1407695"/>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代码</a:t>
              </a:r>
            </a:p>
          </p:txBody>
        </p:sp>
        <p:sp>
          <p:nvSpPr>
            <p:cNvPr id="9" name="矩形 4">
              <a:extLst>
                <a:ext uri="{FF2B5EF4-FFF2-40B4-BE49-F238E27FC236}">
                  <a16:creationId xmlns:a16="http://schemas.microsoft.com/office/drawing/2014/main" id="{4A1B641A-FBC2-4C93-819D-9891D98887E0}"/>
                </a:ext>
              </a:extLst>
            </p:cNvPr>
            <p:cNvSpPr>
              <a:spLocks noChangeArrowheads="1"/>
            </p:cNvSpPr>
            <p:nvPr/>
          </p:nvSpPr>
          <p:spPr bwMode="auto">
            <a:xfrm>
              <a:off x="2810376" y="1407695"/>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数据</a:t>
              </a:r>
            </a:p>
          </p:txBody>
        </p:sp>
        <p:sp>
          <p:nvSpPr>
            <p:cNvPr id="10" name="矩形 5">
              <a:extLst>
                <a:ext uri="{FF2B5EF4-FFF2-40B4-BE49-F238E27FC236}">
                  <a16:creationId xmlns:a16="http://schemas.microsoft.com/office/drawing/2014/main" id="{7C8674A0-2887-4BBC-A524-123E94AEED86}"/>
                </a:ext>
              </a:extLst>
            </p:cNvPr>
            <p:cNvSpPr>
              <a:spLocks noChangeArrowheads="1"/>
            </p:cNvSpPr>
            <p:nvPr/>
          </p:nvSpPr>
          <p:spPr bwMode="auto">
            <a:xfrm>
              <a:off x="3717758" y="1407694"/>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文件</a:t>
              </a:r>
            </a:p>
          </p:txBody>
        </p:sp>
        <p:sp>
          <p:nvSpPr>
            <p:cNvPr id="11" name="矩形 6">
              <a:extLst>
                <a:ext uri="{FF2B5EF4-FFF2-40B4-BE49-F238E27FC236}">
                  <a16:creationId xmlns:a16="http://schemas.microsoft.com/office/drawing/2014/main" id="{6CD5319D-C6FE-43EF-BDCB-A860054FF08C}"/>
                </a:ext>
              </a:extLst>
            </p:cNvPr>
            <p:cNvSpPr>
              <a:spLocks noChangeArrowheads="1"/>
            </p:cNvSpPr>
            <p:nvPr/>
          </p:nvSpPr>
          <p:spPr bwMode="auto">
            <a:xfrm>
              <a:off x="1913020" y="2039728"/>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寄存器</a:t>
              </a:r>
            </a:p>
          </p:txBody>
        </p:sp>
        <p:sp>
          <p:nvSpPr>
            <p:cNvPr id="12" name="矩形 7">
              <a:extLst>
                <a:ext uri="{FF2B5EF4-FFF2-40B4-BE49-F238E27FC236}">
                  <a16:creationId xmlns:a16="http://schemas.microsoft.com/office/drawing/2014/main" id="{A21C3930-3361-48E9-BB71-5ACB50D8096A}"/>
                </a:ext>
              </a:extLst>
            </p:cNvPr>
            <p:cNvSpPr>
              <a:spLocks noChangeArrowheads="1"/>
            </p:cNvSpPr>
            <p:nvPr/>
          </p:nvSpPr>
          <p:spPr bwMode="auto">
            <a:xfrm>
              <a:off x="3717757" y="2039728"/>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堆栈</a:t>
              </a:r>
            </a:p>
          </p:txBody>
        </p:sp>
        <p:sp>
          <p:nvSpPr>
            <p:cNvPr id="13" name="矩形 8">
              <a:extLst>
                <a:ext uri="{FF2B5EF4-FFF2-40B4-BE49-F238E27FC236}">
                  <a16:creationId xmlns:a16="http://schemas.microsoft.com/office/drawing/2014/main" id="{DD2FAC35-A888-4A28-8825-003DAEFE8FF4}"/>
                </a:ext>
              </a:extLst>
            </p:cNvPr>
            <p:cNvSpPr>
              <a:spLocks noChangeArrowheads="1"/>
            </p:cNvSpPr>
            <p:nvPr/>
          </p:nvSpPr>
          <p:spPr bwMode="auto">
            <a:xfrm>
              <a:off x="5252244" y="1388936"/>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代码</a:t>
              </a:r>
            </a:p>
          </p:txBody>
        </p:sp>
        <p:sp>
          <p:nvSpPr>
            <p:cNvPr id="14" name="矩形 10">
              <a:extLst>
                <a:ext uri="{FF2B5EF4-FFF2-40B4-BE49-F238E27FC236}">
                  <a16:creationId xmlns:a16="http://schemas.microsoft.com/office/drawing/2014/main" id="{3D12716E-4BDA-4C15-A440-B148CF3E6109}"/>
                </a:ext>
              </a:extLst>
            </p:cNvPr>
            <p:cNvSpPr>
              <a:spLocks noChangeArrowheads="1"/>
            </p:cNvSpPr>
            <p:nvPr/>
          </p:nvSpPr>
          <p:spPr bwMode="auto">
            <a:xfrm>
              <a:off x="6162362" y="1388935"/>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数据</a:t>
              </a:r>
            </a:p>
          </p:txBody>
        </p:sp>
        <p:sp>
          <p:nvSpPr>
            <p:cNvPr id="15" name="矩形 11">
              <a:extLst>
                <a:ext uri="{FF2B5EF4-FFF2-40B4-BE49-F238E27FC236}">
                  <a16:creationId xmlns:a16="http://schemas.microsoft.com/office/drawing/2014/main" id="{4A4BC777-2AB6-4305-BD34-AE387B819531}"/>
                </a:ext>
              </a:extLst>
            </p:cNvPr>
            <p:cNvSpPr>
              <a:spLocks noChangeArrowheads="1"/>
            </p:cNvSpPr>
            <p:nvPr/>
          </p:nvSpPr>
          <p:spPr bwMode="auto">
            <a:xfrm>
              <a:off x="7056981" y="1388934"/>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文件</a:t>
              </a:r>
            </a:p>
          </p:txBody>
        </p:sp>
        <p:sp>
          <p:nvSpPr>
            <p:cNvPr id="16" name="矩形 13">
              <a:extLst>
                <a:ext uri="{FF2B5EF4-FFF2-40B4-BE49-F238E27FC236}">
                  <a16:creationId xmlns:a16="http://schemas.microsoft.com/office/drawing/2014/main" id="{FBFFC84E-5C74-4014-B53A-63D8BD5982F1}"/>
                </a:ext>
              </a:extLst>
            </p:cNvPr>
            <p:cNvSpPr>
              <a:spLocks noChangeArrowheads="1"/>
            </p:cNvSpPr>
            <p:nvPr/>
          </p:nvSpPr>
          <p:spPr bwMode="auto">
            <a:xfrm>
              <a:off x="5252244" y="2061139"/>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寄存器</a:t>
              </a:r>
            </a:p>
          </p:txBody>
        </p:sp>
        <p:sp>
          <p:nvSpPr>
            <p:cNvPr id="17" name="矩形 14">
              <a:extLst>
                <a:ext uri="{FF2B5EF4-FFF2-40B4-BE49-F238E27FC236}">
                  <a16:creationId xmlns:a16="http://schemas.microsoft.com/office/drawing/2014/main" id="{38A4185F-1901-428F-B83B-040D87DA5D3A}"/>
                </a:ext>
              </a:extLst>
            </p:cNvPr>
            <p:cNvSpPr>
              <a:spLocks noChangeArrowheads="1"/>
            </p:cNvSpPr>
            <p:nvPr/>
          </p:nvSpPr>
          <p:spPr bwMode="auto">
            <a:xfrm>
              <a:off x="6162361" y="2039728"/>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寄存器</a:t>
              </a:r>
            </a:p>
          </p:txBody>
        </p:sp>
        <p:sp>
          <p:nvSpPr>
            <p:cNvPr id="18" name="矩形 15">
              <a:extLst>
                <a:ext uri="{FF2B5EF4-FFF2-40B4-BE49-F238E27FC236}">
                  <a16:creationId xmlns:a16="http://schemas.microsoft.com/office/drawing/2014/main" id="{3CADAE62-852A-424A-B381-D73F28BF9528}"/>
                </a:ext>
              </a:extLst>
            </p:cNvPr>
            <p:cNvSpPr>
              <a:spLocks noChangeArrowheads="1"/>
            </p:cNvSpPr>
            <p:nvPr/>
          </p:nvSpPr>
          <p:spPr bwMode="auto">
            <a:xfrm>
              <a:off x="7072478" y="2039727"/>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寄存器</a:t>
              </a:r>
            </a:p>
          </p:txBody>
        </p:sp>
        <p:sp>
          <p:nvSpPr>
            <p:cNvPr id="19" name="矩形 16">
              <a:extLst>
                <a:ext uri="{FF2B5EF4-FFF2-40B4-BE49-F238E27FC236}">
                  <a16:creationId xmlns:a16="http://schemas.microsoft.com/office/drawing/2014/main" id="{E67D6B2B-341D-4BBE-BD5C-F899A5C62A20}"/>
                </a:ext>
              </a:extLst>
            </p:cNvPr>
            <p:cNvSpPr>
              <a:spLocks noChangeArrowheads="1"/>
            </p:cNvSpPr>
            <p:nvPr/>
          </p:nvSpPr>
          <p:spPr bwMode="auto">
            <a:xfrm>
              <a:off x="5245226" y="2583865"/>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堆栈</a:t>
              </a:r>
            </a:p>
          </p:txBody>
        </p:sp>
        <p:sp>
          <p:nvSpPr>
            <p:cNvPr id="20" name="矩形 17">
              <a:extLst>
                <a:ext uri="{FF2B5EF4-FFF2-40B4-BE49-F238E27FC236}">
                  <a16:creationId xmlns:a16="http://schemas.microsoft.com/office/drawing/2014/main" id="{45743F66-34E1-4420-966A-F91C7CC4B9EF}"/>
                </a:ext>
              </a:extLst>
            </p:cNvPr>
            <p:cNvSpPr>
              <a:spLocks noChangeArrowheads="1"/>
            </p:cNvSpPr>
            <p:nvPr/>
          </p:nvSpPr>
          <p:spPr bwMode="auto">
            <a:xfrm>
              <a:off x="6162361" y="2596853"/>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堆栈</a:t>
              </a:r>
            </a:p>
          </p:txBody>
        </p:sp>
        <p:sp>
          <p:nvSpPr>
            <p:cNvPr id="21" name="矩形 18">
              <a:extLst>
                <a:ext uri="{FF2B5EF4-FFF2-40B4-BE49-F238E27FC236}">
                  <a16:creationId xmlns:a16="http://schemas.microsoft.com/office/drawing/2014/main" id="{3C159B67-24F5-4DA0-89D3-432A00140B7A}"/>
                </a:ext>
              </a:extLst>
            </p:cNvPr>
            <p:cNvSpPr>
              <a:spLocks noChangeArrowheads="1"/>
            </p:cNvSpPr>
            <p:nvPr/>
          </p:nvSpPr>
          <p:spPr bwMode="auto">
            <a:xfrm>
              <a:off x="7079496" y="2603243"/>
              <a:ext cx="830179" cy="433137"/>
            </a:xfrm>
            <a:prstGeom prst="rect">
              <a:avLst/>
            </a:prstGeom>
            <a:solidFill>
              <a:schemeClr val="bg1"/>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堆栈</a:t>
              </a:r>
            </a:p>
          </p:txBody>
        </p:sp>
        <p:sp>
          <p:nvSpPr>
            <p:cNvPr id="22" name="矩形 19">
              <a:extLst>
                <a:ext uri="{FF2B5EF4-FFF2-40B4-BE49-F238E27FC236}">
                  <a16:creationId xmlns:a16="http://schemas.microsoft.com/office/drawing/2014/main" id="{D247603E-C745-4002-BA85-75BFA6C34F50}"/>
                </a:ext>
              </a:extLst>
            </p:cNvPr>
            <p:cNvSpPr>
              <a:spLocks noChangeArrowheads="1"/>
            </p:cNvSpPr>
            <p:nvPr/>
          </p:nvSpPr>
          <p:spPr bwMode="auto">
            <a:xfrm>
              <a:off x="1913020" y="3695053"/>
              <a:ext cx="565485" cy="4234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线程</a:t>
              </a:r>
            </a:p>
          </p:txBody>
        </p:sp>
        <p:sp>
          <p:nvSpPr>
            <p:cNvPr id="23" name="矩形 20">
              <a:extLst>
                <a:ext uri="{FF2B5EF4-FFF2-40B4-BE49-F238E27FC236}">
                  <a16:creationId xmlns:a16="http://schemas.microsoft.com/office/drawing/2014/main" id="{2FD5596B-CA70-434D-B4CA-7056F49D0D83}"/>
                </a:ext>
              </a:extLst>
            </p:cNvPr>
            <p:cNvSpPr>
              <a:spLocks noChangeArrowheads="1"/>
            </p:cNvSpPr>
            <p:nvPr/>
          </p:nvSpPr>
          <p:spPr bwMode="auto">
            <a:xfrm>
              <a:off x="8141284" y="3695053"/>
              <a:ext cx="565485" cy="4234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线程</a:t>
              </a:r>
            </a:p>
          </p:txBody>
        </p:sp>
        <p:sp>
          <p:nvSpPr>
            <p:cNvPr id="24" name="矩形 21">
              <a:extLst>
                <a:ext uri="{FF2B5EF4-FFF2-40B4-BE49-F238E27FC236}">
                  <a16:creationId xmlns:a16="http://schemas.microsoft.com/office/drawing/2014/main" id="{0416A26A-E4D7-4659-A87B-9E286F227AD3}"/>
                </a:ext>
              </a:extLst>
            </p:cNvPr>
            <p:cNvSpPr>
              <a:spLocks noChangeArrowheads="1"/>
            </p:cNvSpPr>
            <p:nvPr/>
          </p:nvSpPr>
          <p:spPr bwMode="auto">
            <a:xfrm>
              <a:off x="2195762" y="5509713"/>
              <a:ext cx="2171701" cy="4234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单线程进程</a:t>
              </a:r>
            </a:p>
          </p:txBody>
        </p:sp>
        <p:sp>
          <p:nvSpPr>
            <p:cNvPr id="25" name="矩形 23">
              <a:extLst>
                <a:ext uri="{FF2B5EF4-FFF2-40B4-BE49-F238E27FC236}">
                  <a16:creationId xmlns:a16="http://schemas.microsoft.com/office/drawing/2014/main" id="{416BF219-E723-4B04-ABC4-4F685F7CA20C}"/>
                </a:ext>
              </a:extLst>
            </p:cNvPr>
            <p:cNvSpPr>
              <a:spLocks noChangeArrowheads="1"/>
            </p:cNvSpPr>
            <p:nvPr/>
          </p:nvSpPr>
          <p:spPr bwMode="auto">
            <a:xfrm>
              <a:off x="5491599" y="5484900"/>
              <a:ext cx="2171701" cy="4234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多线程进程</a:t>
              </a:r>
            </a:p>
          </p:txBody>
        </p:sp>
      </p:grpSp>
    </p:spTree>
    <p:extLst>
      <p:ext uri="{BB962C8B-B14F-4D97-AF65-F5344CB8AC3E}">
        <p14:creationId xmlns:p14="http://schemas.microsoft.com/office/powerpoint/2010/main" val="18590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3095B11-54E4-48D9-8485-DE79AB674DBF}"/>
              </a:ext>
            </a:extLst>
          </p:cNvPr>
          <p:cNvSpPr>
            <a:spLocks noGrp="1" noChangeArrowheads="1"/>
          </p:cNvSpPr>
          <p:nvPr>
            <p:ph type="title"/>
          </p:nvPr>
        </p:nvSpPr>
        <p:spPr>
          <a:xfrm>
            <a:off x="1981200" y="176213"/>
            <a:ext cx="8229600" cy="576262"/>
          </a:xfrm>
        </p:spPr>
        <p:txBody>
          <a:bodyPr/>
          <a:lstStyle/>
          <a:p>
            <a:pPr eaLnBrk="1" hangingPunct="1"/>
            <a:r>
              <a:rPr lang="zh-CN" altLang="en-US" dirty="0">
                <a:latin typeface="微软雅黑" panose="020B0503020204020204" pitchFamily="34" charset="-122"/>
                <a:ea typeface="微软雅黑" panose="020B0503020204020204" pitchFamily="34" charset="-122"/>
              </a:rPr>
              <a:t>动机</a:t>
            </a:r>
            <a:endParaRPr lang="en-US" altLang="en-US" dirty="0">
              <a:latin typeface="微软雅黑" panose="020B0503020204020204" pitchFamily="34" charset="-122"/>
              <a:ea typeface="微软雅黑" panose="020B0503020204020204" pitchFamily="34" charset="-122"/>
            </a:endParaRPr>
          </a:p>
        </p:txBody>
      </p:sp>
      <p:sp>
        <p:nvSpPr>
          <p:cNvPr id="11267" name="Content Placeholder 2">
            <a:extLst>
              <a:ext uri="{FF2B5EF4-FFF2-40B4-BE49-F238E27FC236}">
                <a16:creationId xmlns:a16="http://schemas.microsoft.com/office/drawing/2014/main" id="{92D4ED93-B4AA-4A37-A4DB-E002E461A476}"/>
              </a:ext>
            </a:extLst>
          </p:cNvPr>
          <p:cNvSpPr>
            <a:spLocks noGrp="1" noChangeArrowheads="1"/>
          </p:cNvSpPr>
          <p:nvPr>
            <p:ph idx="1"/>
          </p:nvPr>
        </p:nvSpPr>
        <p:spPr>
          <a:xfrm>
            <a:off x="665019" y="1036062"/>
            <a:ext cx="10442863" cy="5645725"/>
          </a:xfrm>
        </p:spPr>
        <p:txBody>
          <a:bodyPr/>
          <a:lstStyle/>
          <a:p>
            <a:pPr>
              <a:lnSpc>
                <a:spcPct val="150000"/>
              </a:lnSpc>
              <a:spcBef>
                <a:spcPts val="1800"/>
              </a:spcBef>
            </a:pPr>
            <a:r>
              <a:rPr lang="zh-CN" altLang="en-US" dirty="0"/>
              <a:t>进程中存在多个任务单独执行的情况</a:t>
            </a:r>
            <a:endParaRPr lang="en-US" altLang="zh-CN" dirty="0">
              <a:latin typeface="微软雅黑" panose="020B0503020204020204" pitchFamily="34" charset="-122"/>
              <a:ea typeface="微软雅黑" panose="020B0503020204020204" pitchFamily="34" charset="-122"/>
            </a:endParaRPr>
          </a:p>
          <a:p>
            <a:pPr>
              <a:lnSpc>
                <a:spcPct val="150000"/>
              </a:lnSpc>
              <a:spcBef>
                <a:spcPts val="1800"/>
              </a:spcBef>
            </a:pPr>
            <a:r>
              <a:rPr lang="zh-CN" altLang="en-US" dirty="0">
                <a:latin typeface="微软雅黑" panose="020B0503020204020204" pitchFamily="34" charset="-122"/>
                <a:ea typeface="微软雅黑" panose="020B0503020204020204" pitchFamily="34" charset="-122"/>
              </a:rPr>
              <a:t>应用程序的多个任务可以由单独的线程实现</a:t>
            </a:r>
          </a:p>
          <a:p>
            <a:pPr lvl="1">
              <a:lnSpc>
                <a:spcPct val="150000"/>
              </a:lnSpc>
              <a:spcBef>
                <a:spcPts val="1800"/>
              </a:spcBef>
            </a:pPr>
            <a:r>
              <a:rPr lang="zh-CN" altLang="en-US" b="1" dirty="0">
                <a:solidFill>
                  <a:srgbClr val="0070C0"/>
                </a:solidFill>
                <a:latin typeface="微软雅黑" panose="020B0503020204020204" pitchFamily="34" charset="-122"/>
                <a:ea typeface="微软雅黑" panose="020B0503020204020204" pitchFamily="34" charset="-122"/>
              </a:rPr>
              <a:t>更新显示、获取数据、拼写检查、响应网络请求</a:t>
            </a:r>
            <a:endParaRPr lang="en-US" altLang="zh-CN" b="1" dirty="0">
              <a:solidFill>
                <a:srgbClr val="0070C0"/>
              </a:solidFill>
              <a:latin typeface="微软雅黑" panose="020B0503020204020204" pitchFamily="34" charset="-122"/>
              <a:ea typeface="微软雅黑" panose="020B0503020204020204" pitchFamily="34" charset="-122"/>
            </a:endParaRPr>
          </a:p>
          <a:p>
            <a:pPr lvl="1">
              <a:lnSpc>
                <a:spcPct val="150000"/>
              </a:lnSpc>
              <a:spcBef>
                <a:spcPts val="1800"/>
              </a:spcBef>
            </a:pPr>
            <a:r>
              <a:rPr lang="zh-CN" altLang="en-US" b="1" dirty="0"/>
              <a:t>某一任务被阻塞，其他任务执行不受影响（进程</a:t>
            </a:r>
            <a:r>
              <a:rPr lang="en-US" altLang="zh-CN" b="1" dirty="0"/>
              <a:t>/</a:t>
            </a:r>
            <a:r>
              <a:rPr lang="zh-CN" altLang="en-US" b="1" dirty="0"/>
              <a:t>线程调度）</a:t>
            </a:r>
            <a:endParaRPr lang="zh-CN" altLang="en-US" b="1" dirty="0">
              <a:latin typeface="微软雅黑" panose="020B0503020204020204" pitchFamily="34" charset="-122"/>
              <a:ea typeface="微软雅黑" panose="020B0503020204020204" pitchFamily="34" charset="-122"/>
            </a:endParaRPr>
          </a:p>
          <a:p>
            <a:pPr>
              <a:lnSpc>
                <a:spcPct val="150000"/>
              </a:lnSpc>
              <a:spcBef>
                <a:spcPts val="1800"/>
              </a:spcBef>
            </a:pPr>
            <a:r>
              <a:rPr lang="zh-CN" altLang="en-US" dirty="0">
                <a:latin typeface="微软雅黑" panose="020B0503020204020204" pitchFamily="34" charset="-122"/>
                <a:ea typeface="微软雅黑" panose="020B0503020204020204" pitchFamily="34" charset="-122"/>
              </a:rPr>
              <a:t>进程创建是</a:t>
            </a:r>
            <a:r>
              <a:rPr lang="zh-CN" altLang="en-US" dirty="0">
                <a:solidFill>
                  <a:srgbClr val="FF0000"/>
                </a:solidFill>
                <a:latin typeface="微软雅黑" panose="020B0503020204020204" pitchFamily="34" charset="-122"/>
                <a:ea typeface="微软雅黑" panose="020B0503020204020204" pitchFamily="34" charset="-122"/>
              </a:rPr>
              <a:t>重量级</a:t>
            </a:r>
            <a:r>
              <a:rPr lang="zh-CN" altLang="en-US" dirty="0">
                <a:latin typeface="微软雅黑" panose="020B0503020204020204" pitchFamily="34" charset="-122"/>
                <a:ea typeface="微软雅黑" panose="020B0503020204020204" pitchFamily="34" charset="-122"/>
              </a:rPr>
              <a:t>的，而线程创建是</a:t>
            </a:r>
            <a:r>
              <a:rPr lang="zh-CN" altLang="en-US" dirty="0">
                <a:solidFill>
                  <a:srgbClr val="FF0000"/>
                </a:solidFill>
                <a:latin typeface="微软雅黑" panose="020B0503020204020204" pitchFamily="34" charset="-122"/>
                <a:ea typeface="微软雅黑" panose="020B0503020204020204" pitchFamily="34" charset="-122"/>
              </a:rPr>
              <a:t>轻量级</a:t>
            </a:r>
            <a:r>
              <a:rPr lang="zh-CN" altLang="en-US" dirty="0">
                <a:latin typeface="微软雅黑" panose="020B0503020204020204" pitchFamily="34" charset="-122"/>
                <a:ea typeface="微软雅黑" panose="020B0503020204020204" pitchFamily="34" charset="-122"/>
              </a:rPr>
              <a:t>的</a:t>
            </a:r>
          </a:p>
          <a:p>
            <a:pPr>
              <a:lnSpc>
                <a:spcPct val="150000"/>
              </a:lnSpc>
              <a:spcBef>
                <a:spcPts val="1800"/>
              </a:spcBef>
            </a:pPr>
            <a:r>
              <a:rPr lang="zh-CN" altLang="en-US" dirty="0">
                <a:latin typeface="微软雅黑" panose="020B0503020204020204" pitchFamily="34" charset="-122"/>
                <a:ea typeface="微软雅黑" panose="020B0503020204020204" pitchFamily="34" charset="-122"/>
              </a:rPr>
              <a:t>可以简化代码，提高效率</a:t>
            </a:r>
          </a:p>
          <a:p>
            <a:pPr>
              <a:lnSpc>
                <a:spcPct val="150000"/>
              </a:lnSpc>
              <a:spcBef>
                <a:spcPts val="1800"/>
              </a:spcBef>
            </a:pPr>
            <a:r>
              <a:rPr lang="zh-CN" altLang="en-US" dirty="0">
                <a:latin typeface="微软雅黑" panose="020B0503020204020204" pitchFamily="34" charset="-122"/>
                <a:ea typeface="微软雅黑" panose="020B0503020204020204" pitchFamily="34" charset="-122"/>
              </a:rPr>
              <a:t>内核通常是多线程的</a:t>
            </a:r>
            <a:endParaRPr lang="en-US"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869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715F44-940F-45FB-9DE5-62530A224322}"/>
              </a:ext>
            </a:extLst>
          </p:cNvPr>
          <p:cNvSpPr>
            <a:spLocks noGrp="1"/>
          </p:cNvSpPr>
          <p:nvPr>
            <p:ph type="title"/>
          </p:nvPr>
        </p:nvSpPr>
        <p:spPr/>
        <p:txBody>
          <a:bodyPr/>
          <a:lstStyle/>
          <a:p>
            <a:r>
              <a:rPr lang="zh-CN" altLang="en-US" dirty="0"/>
              <a:t>多线程程序</a:t>
            </a:r>
          </a:p>
        </p:txBody>
      </p:sp>
      <p:sp>
        <p:nvSpPr>
          <p:cNvPr id="3" name="内容占位符 2">
            <a:extLst>
              <a:ext uri="{FF2B5EF4-FFF2-40B4-BE49-F238E27FC236}">
                <a16:creationId xmlns:a16="http://schemas.microsoft.com/office/drawing/2014/main" id="{0C61CB3E-DC1E-42E5-B0FB-24645D6EE78F}"/>
              </a:ext>
            </a:extLst>
          </p:cNvPr>
          <p:cNvSpPr>
            <a:spLocks noGrp="1"/>
          </p:cNvSpPr>
          <p:nvPr>
            <p:ph idx="1"/>
          </p:nvPr>
        </p:nvSpPr>
        <p:spPr/>
        <p:txBody>
          <a:bodyPr/>
          <a:lstStyle/>
          <a:p>
            <a:pPr>
              <a:lnSpc>
                <a:spcPct val="200000"/>
              </a:lnSpc>
            </a:pPr>
            <a:r>
              <a:rPr lang="en-US" altLang="zh-CN" sz="2800" dirty="0"/>
              <a:t>Word </a:t>
            </a:r>
            <a:r>
              <a:rPr lang="zh-CN" altLang="en-US" sz="2800" dirty="0"/>
              <a:t>文字处理程序</a:t>
            </a:r>
            <a:endParaRPr lang="en-US" altLang="zh-CN" sz="2800" dirty="0"/>
          </a:p>
          <a:p>
            <a:pPr lvl="1">
              <a:lnSpc>
                <a:spcPct val="200000"/>
              </a:lnSpc>
            </a:pPr>
            <a:r>
              <a:rPr lang="zh-CN" altLang="en-US" sz="2400" dirty="0"/>
              <a:t>后台线程检查拼写和语法</a:t>
            </a:r>
            <a:endParaRPr lang="en-US" altLang="zh-CN" sz="2400" dirty="0"/>
          </a:p>
          <a:p>
            <a:pPr lvl="1">
              <a:lnSpc>
                <a:spcPct val="200000"/>
              </a:lnSpc>
            </a:pPr>
            <a:r>
              <a:rPr lang="zh-CN" altLang="en-US" sz="2400" dirty="0"/>
              <a:t>前台线程处理用户输入</a:t>
            </a:r>
            <a:endParaRPr lang="en-US" altLang="zh-CN" sz="2400" dirty="0"/>
          </a:p>
          <a:p>
            <a:pPr lvl="1">
              <a:lnSpc>
                <a:spcPct val="200000"/>
              </a:lnSpc>
            </a:pPr>
            <a:r>
              <a:rPr lang="zh-CN" altLang="en-US" sz="2400" dirty="0"/>
              <a:t>第三个线程从硬盘加载图片</a:t>
            </a:r>
            <a:endParaRPr lang="en-US" altLang="zh-CN" sz="2400" dirty="0"/>
          </a:p>
          <a:p>
            <a:pPr lvl="1">
              <a:lnSpc>
                <a:spcPct val="200000"/>
              </a:lnSpc>
            </a:pPr>
            <a:r>
              <a:rPr lang="zh-CN" altLang="en-US" sz="2400" dirty="0"/>
              <a:t>第四个定时对编辑的文档进行备份</a:t>
            </a:r>
          </a:p>
        </p:txBody>
      </p:sp>
      <p:sp>
        <p:nvSpPr>
          <p:cNvPr id="5" name="右大括号 4">
            <a:extLst>
              <a:ext uri="{FF2B5EF4-FFF2-40B4-BE49-F238E27FC236}">
                <a16:creationId xmlns:a16="http://schemas.microsoft.com/office/drawing/2014/main" id="{6BF8F511-0B23-44C9-9432-A9E6201AB575}"/>
              </a:ext>
            </a:extLst>
          </p:cNvPr>
          <p:cNvSpPr/>
          <p:nvPr/>
        </p:nvSpPr>
        <p:spPr bwMode="auto">
          <a:xfrm>
            <a:off x="6738312" y="2514599"/>
            <a:ext cx="566497" cy="2878283"/>
          </a:xfrm>
          <a:prstGeom prst="rightBrace">
            <a:avLst/>
          </a:prstGeom>
          <a:solidFill>
            <a:schemeClr val="bg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Verdana" charset="0"/>
            </a:endParaRPr>
          </a:p>
        </p:txBody>
      </p:sp>
      <p:sp>
        <p:nvSpPr>
          <p:cNvPr id="6" name="矩形 5">
            <a:extLst>
              <a:ext uri="{FF2B5EF4-FFF2-40B4-BE49-F238E27FC236}">
                <a16:creationId xmlns:a16="http://schemas.microsoft.com/office/drawing/2014/main" id="{3B26F021-A396-48D2-894A-0CDF03BB1A27}"/>
              </a:ext>
            </a:extLst>
          </p:cNvPr>
          <p:cNvSpPr/>
          <p:nvPr/>
        </p:nvSpPr>
        <p:spPr bwMode="auto">
          <a:xfrm>
            <a:off x="8382770" y="2143266"/>
            <a:ext cx="2587336" cy="597478"/>
          </a:xfrm>
          <a:prstGeom prst="rect">
            <a:avLst/>
          </a:prstGeom>
          <a:no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dirty="0">
                <a:ln>
                  <a:noFill/>
                </a:ln>
                <a:solidFill>
                  <a:srgbClr val="FF0000"/>
                </a:solidFill>
                <a:latin typeface="微软雅黑" panose="020B0503020204020204" pitchFamily="34" charset="-122"/>
                <a:ea typeface="微软雅黑" panose="020B0503020204020204" pitchFamily="34" charset="-122"/>
              </a:rPr>
              <a:t>同时执行</a:t>
            </a:r>
          </a:p>
        </p:txBody>
      </p:sp>
      <p:pic>
        <p:nvPicPr>
          <p:cNvPr id="7" name="图片 6">
            <a:extLst>
              <a:ext uri="{FF2B5EF4-FFF2-40B4-BE49-F238E27FC236}">
                <a16:creationId xmlns:a16="http://schemas.microsoft.com/office/drawing/2014/main" id="{D3B99B79-C743-4413-BE52-F6C262570085}"/>
              </a:ext>
            </a:extLst>
          </p:cNvPr>
          <p:cNvPicPr>
            <a:picLocks noChangeAspect="1"/>
          </p:cNvPicPr>
          <p:nvPr/>
        </p:nvPicPr>
        <p:blipFill>
          <a:blip r:embed="rId2"/>
          <a:stretch>
            <a:fillRect/>
          </a:stretch>
        </p:blipFill>
        <p:spPr>
          <a:xfrm>
            <a:off x="7560157" y="2841244"/>
            <a:ext cx="4232562" cy="2224992"/>
          </a:xfrm>
          <a:prstGeom prst="rect">
            <a:avLst/>
          </a:prstGeom>
        </p:spPr>
      </p:pic>
    </p:spTree>
    <p:extLst>
      <p:ext uri="{BB962C8B-B14F-4D97-AF65-F5344CB8AC3E}">
        <p14:creationId xmlns:p14="http://schemas.microsoft.com/office/powerpoint/2010/main" val="2243073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30EA871-169D-4BE3-8631-E9DD697517A9}"/>
              </a:ext>
            </a:extLst>
          </p:cNvPr>
          <p:cNvSpPr>
            <a:spLocks noGrp="1" noChangeArrowheads="1"/>
          </p:cNvSpPr>
          <p:nvPr>
            <p:ph type="title"/>
          </p:nvPr>
        </p:nvSpPr>
        <p:spPr>
          <a:xfrm>
            <a:off x="2409825" y="16351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多线程的服务器架构</a:t>
            </a:r>
            <a:endParaRPr lang="en-US" altLang="en-US">
              <a:latin typeface="微软雅黑" panose="020B0503020204020204" pitchFamily="34" charset="-122"/>
              <a:ea typeface="微软雅黑" panose="020B0503020204020204" pitchFamily="34" charset="-122"/>
            </a:endParaRPr>
          </a:p>
        </p:txBody>
      </p:sp>
      <p:grpSp>
        <p:nvGrpSpPr>
          <p:cNvPr id="12291" name="组合 2">
            <a:extLst>
              <a:ext uri="{FF2B5EF4-FFF2-40B4-BE49-F238E27FC236}">
                <a16:creationId xmlns:a16="http://schemas.microsoft.com/office/drawing/2014/main" id="{7B2FA7FC-34B3-44E6-AEFC-DE539FAACF89}"/>
              </a:ext>
            </a:extLst>
          </p:cNvPr>
          <p:cNvGrpSpPr>
            <a:grpSpLocks/>
          </p:cNvGrpSpPr>
          <p:nvPr/>
        </p:nvGrpSpPr>
        <p:grpSpPr bwMode="auto">
          <a:xfrm>
            <a:off x="2985117" y="3630008"/>
            <a:ext cx="6421437" cy="2898775"/>
            <a:chOff x="1481138" y="1413712"/>
            <a:chExt cx="6421689" cy="2900113"/>
          </a:xfrm>
        </p:grpSpPr>
        <p:pic>
          <p:nvPicPr>
            <p:cNvPr id="12292" name="Picture 1" descr="4_02.pdf">
              <a:extLst>
                <a:ext uri="{FF2B5EF4-FFF2-40B4-BE49-F238E27FC236}">
                  <a16:creationId xmlns:a16="http://schemas.microsoft.com/office/drawing/2014/main" id="{0C684495-740D-4351-9501-637CB19E8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1138" y="1443038"/>
              <a:ext cx="6397625"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矩形 1">
              <a:extLst>
                <a:ext uri="{FF2B5EF4-FFF2-40B4-BE49-F238E27FC236}">
                  <a16:creationId xmlns:a16="http://schemas.microsoft.com/office/drawing/2014/main" id="{D6E46531-AF16-4E64-B0AB-03FB000AABAC}"/>
                </a:ext>
              </a:extLst>
            </p:cNvPr>
            <p:cNvSpPr>
              <a:spLocks noChangeArrowheads="1"/>
            </p:cNvSpPr>
            <p:nvPr/>
          </p:nvSpPr>
          <p:spPr bwMode="auto">
            <a:xfrm>
              <a:off x="1481138" y="1973179"/>
              <a:ext cx="1081588" cy="517358"/>
            </a:xfrm>
            <a:prstGeom prst="rect">
              <a:avLst/>
            </a:prstGeom>
            <a:solidFill>
              <a:srgbClr val="C7EAFB"/>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客户机</a:t>
              </a:r>
            </a:p>
          </p:txBody>
        </p:sp>
        <p:sp>
          <p:nvSpPr>
            <p:cNvPr id="12294" name="矩形 4">
              <a:extLst>
                <a:ext uri="{FF2B5EF4-FFF2-40B4-BE49-F238E27FC236}">
                  <a16:creationId xmlns:a16="http://schemas.microsoft.com/office/drawing/2014/main" id="{974FAB62-904B-4171-B632-BF6682A29D4F}"/>
                </a:ext>
              </a:extLst>
            </p:cNvPr>
            <p:cNvSpPr>
              <a:spLocks noChangeArrowheads="1"/>
            </p:cNvSpPr>
            <p:nvPr/>
          </p:nvSpPr>
          <p:spPr bwMode="auto">
            <a:xfrm>
              <a:off x="4139156" y="1973179"/>
              <a:ext cx="1081588" cy="517358"/>
            </a:xfrm>
            <a:prstGeom prst="rect">
              <a:avLst/>
            </a:prstGeom>
            <a:solidFill>
              <a:srgbClr val="C7EAFB"/>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服务器</a:t>
              </a:r>
            </a:p>
          </p:txBody>
        </p:sp>
        <p:sp>
          <p:nvSpPr>
            <p:cNvPr id="12295" name="矩形 5">
              <a:extLst>
                <a:ext uri="{FF2B5EF4-FFF2-40B4-BE49-F238E27FC236}">
                  <a16:creationId xmlns:a16="http://schemas.microsoft.com/office/drawing/2014/main" id="{86930F11-A80E-4633-A674-50F663055DFD}"/>
                </a:ext>
              </a:extLst>
            </p:cNvPr>
            <p:cNvSpPr>
              <a:spLocks noChangeArrowheads="1"/>
            </p:cNvSpPr>
            <p:nvPr/>
          </p:nvSpPr>
          <p:spPr bwMode="auto">
            <a:xfrm>
              <a:off x="6821239" y="1973179"/>
              <a:ext cx="1081588" cy="517358"/>
            </a:xfrm>
            <a:prstGeom prst="rect">
              <a:avLst/>
            </a:prstGeom>
            <a:solidFill>
              <a:srgbClr val="C7EAFB"/>
            </a:solidFill>
            <a:ln w="9525">
              <a:solidFill>
                <a:schemeClr val="tx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dirty="0">
                  <a:latin typeface="微软雅黑" panose="020B0503020204020204" pitchFamily="34" charset="-122"/>
                  <a:ea typeface="微软雅黑" panose="020B0503020204020204" pitchFamily="34" charset="-122"/>
                </a:rPr>
                <a:t>线程</a:t>
              </a:r>
            </a:p>
          </p:txBody>
        </p:sp>
        <p:sp>
          <p:nvSpPr>
            <p:cNvPr id="12296" name="矩形 6">
              <a:extLst>
                <a:ext uri="{FF2B5EF4-FFF2-40B4-BE49-F238E27FC236}">
                  <a16:creationId xmlns:a16="http://schemas.microsoft.com/office/drawing/2014/main" id="{7DF1C9F3-272E-4632-96F2-577901CC45BD}"/>
                </a:ext>
              </a:extLst>
            </p:cNvPr>
            <p:cNvSpPr>
              <a:spLocks noChangeArrowheads="1"/>
            </p:cNvSpPr>
            <p:nvPr/>
          </p:nvSpPr>
          <p:spPr bwMode="auto">
            <a:xfrm>
              <a:off x="2822179" y="1672392"/>
              <a:ext cx="1081588" cy="517358"/>
            </a:xfrm>
            <a:prstGeom prst="rect">
              <a:avLst/>
            </a:prstGeom>
            <a:solidFill>
              <a:schemeClr val="bg1"/>
            </a:solidFill>
            <a:ln w="9525">
              <a:solidFill>
                <a:schemeClr val="bg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请求</a:t>
              </a:r>
            </a:p>
          </p:txBody>
        </p:sp>
        <p:sp>
          <p:nvSpPr>
            <p:cNvPr id="12297" name="矩形 7">
              <a:extLst>
                <a:ext uri="{FF2B5EF4-FFF2-40B4-BE49-F238E27FC236}">
                  <a16:creationId xmlns:a16="http://schemas.microsoft.com/office/drawing/2014/main" id="{69E4C8DC-FF78-46C4-9057-EED6D1393F54}"/>
                </a:ext>
              </a:extLst>
            </p:cNvPr>
            <p:cNvSpPr>
              <a:spLocks noChangeArrowheads="1"/>
            </p:cNvSpPr>
            <p:nvPr/>
          </p:nvSpPr>
          <p:spPr bwMode="auto">
            <a:xfrm>
              <a:off x="5314374" y="1413712"/>
              <a:ext cx="1446703" cy="691813"/>
            </a:xfrm>
            <a:prstGeom prst="rect">
              <a:avLst/>
            </a:prstGeom>
            <a:solidFill>
              <a:schemeClr val="bg1"/>
            </a:solidFill>
            <a:ln w="9525">
              <a:solidFill>
                <a:schemeClr val="bg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创建新线程</a:t>
              </a:r>
              <a:endParaRPr lang="en-US" altLang="zh-CN">
                <a:latin typeface="微软雅黑" panose="020B0503020204020204" pitchFamily="34" charset="-122"/>
                <a:ea typeface="微软雅黑" panose="020B0503020204020204" pitchFamily="34" charset="-122"/>
              </a:endParaRPr>
            </a:p>
            <a:p>
              <a:pPr algn="ctr">
                <a:spcBef>
                  <a:spcPct val="0"/>
                </a:spcBef>
                <a:buClrTx/>
                <a:buSzTx/>
                <a:buFontTx/>
                <a:buNone/>
              </a:pPr>
              <a:r>
                <a:rPr lang="zh-CN" altLang="en-US">
                  <a:latin typeface="微软雅黑" panose="020B0503020204020204" pitchFamily="34" charset="-122"/>
                  <a:ea typeface="微软雅黑" panose="020B0503020204020204" pitchFamily="34" charset="-122"/>
                </a:rPr>
                <a:t>以处理请求</a:t>
              </a:r>
            </a:p>
          </p:txBody>
        </p:sp>
        <p:sp>
          <p:nvSpPr>
            <p:cNvPr id="12298" name="矩形 8">
              <a:extLst>
                <a:ext uri="{FF2B5EF4-FFF2-40B4-BE49-F238E27FC236}">
                  <a16:creationId xmlns:a16="http://schemas.microsoft.com/office/drawing/2014/main" id="{3EC99180-72A8-423D-B1F3-EC35405AECD5}"/>
                </a:ext>
              </a:extLst>
            </p:cNvPr>
            <p:cNvSpPr>
              <a:spLocks noChangeArrowheads="1"/>
            </p:cNvSpPr>
            <p:nvPr/>
          </p:nvSpPr>
          <p:spPr bwMode="auto">
            <a:xfrm>
              <a:off x="3801980" y="3298076"/>
              <a:ext cx="1708484" cy="1015749"/>
            </a:xfrm>
            <a:prstGeom prst="rect">
              <a:avLst/>
            </a:prstGeom>
            <a:solidFill>
              <a:schemeClr val="bg1"/>
            </a:solidFill>
            <a:ln w="9525">
              <a:solidFill>
                <a:schemeClr val="bg1"/>
              </a:solidFill>
              <a:round/>
              <a:headEnd/>
              <a:tailEnd/>
            </a:ln>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重新侦听额外客户机的请求</a:t>
              </a:r>
            </a:p>
          </p:txBody>
        </p:sp>
      </p:grpSp>
      <p:sp>
        <p:nvSpPr>
          <p:cNvPr id="12" name="内容占位符 2">
            <a:extLst>
              <a:ext uri="{FF2B5EF4-FFF2-40B4-BE49-F238E27FC236}">
                <a16:creationId xmlns:a16="http://schemas.microsoft.com/office/drawing/2014/main" id="{AFD4D0A5-8145-4E69-9D87-361CBBA59CFF}"/>
              </a:ext>
            </a:extLst>
          </p:cNvPr>
          <p:cNvSpPr txBox="1">
            <a:spLocks/>
          </p:cNvSpPr>
          <p:nvPr/>
        </p:nvSpPr>
        <p:spPr bwMode="auto">
          <a:xfrm>
            <a:off x="541184" y="819871"/>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normAutofit/>
          </a:bodyPr>
          <a:lstStyle>
            <a:lvl1pPr marL="341313" indent="-341313" algn="l" rtl="0" eaLnBrk="0" fontAlgn="base" hangingPunct="0">
              <a:spcBef>
                <a:spcPct val="35000"/>
              </a:spcBef>
              <a:spcAft>
                <a:spcPct val="0"/>
              </a:spcAft>
              <a:buClr>
                <a:srgbClr val="993300"/>
              </a:buClr>
              <a:buSzPct val="90000"/>
              <a:buFont typeface="Wingdings" panose="05000000000000000000" pitchFamily="2" charset="2"/>
              <a:buChar char="p"/>
              <a:defRPr kumimoji="1"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741363" indent="-284163" algn="l" rtl="0" eaLnBrk="0" fontAlgn="base" hangingPunct="0">
              <a:spcBef>
                <a:spcPct val="35000"/>
              </a:spcBef>
              <a:spcAft>
                <a:spcPct val="0"/>
              </a:spcAft>
              <a:buClr>
                <a:srgbClr val="CC6600"/>
              </a:buClr>
              <a:buSzPct val="80000"/>
              <a:buFont typeface="Wingdings" panose="05000000000000000000" pitchFamily="2" charset="2"/>
              <a:buChar char="n"/>
              <a:defRPr kumimoji="1" sz="20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084263" indent="-227013" algn="l" rtl="0" eaLnBrk="0" fontAlgn="base" hangingPunct="0">
              <a:spcBef>
                <a:spcPct val="35000"/>
              </a:spcBef>
              <a:spcAft>
                <a:spcPct val="0"/>
              </a:spcAft>
              <a:buClr>
                <a:srgbClr val="009900"/>
              </a:buClr>
              <a:buSzPct val="75000"/>
              <a:buFont typeface="Wingdings" panose="05000000000000000000" pitchFamily="2" charset="2"/>
              <a:buChar char="Ø"/>
              <a:defRPr kumimoji="1"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427163" indent="-227013" algn="l" rtl="0" eaLnBrk="0" fontAlgn="base" hangingPunct="0">
              <a:spcBef>
                <a:spcPct val="35000"/>
              </a:spcBef>
              <a:spcAft>
                <a:spcPct val="0"/>
              </a:spcAft>
              <a:buClr>
                <a:schemeClr val="hlink"/>
              </a:buClr>
              <a:buSzPct val="75000"/>
              <a:buFont typeface="Wingdings" panose="05000000000000000000" pitchFamily="2" charset="2"/>
              <a:buChar char="ü"/>
              <a:defRPr kumimoji="1" sz="16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770063" indent="-227013" algn="l" rtl="0" eaLnBrk="0" fontAlgn="base" hangingPunct="0">
              <a:spcBef>
                <a:spcPct val="35000"/>
              </a:spcBef>
              <a:spcAft>
                <a:spcPct val="0"/>
              </a:spcAft>
              <a:buClr>
                <a:srgbClr val="FF0066"/>
              </a:buClr>
              <a:buSzPct val="75000"/>
              <a:buFont typeface="Arial" panose="020B0604020202020204" pitchFamily="34" charset="0"/>
              <a:buChar char="•"/>
              <a:defRPr kumimoji="1" sz="16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gn="just">
              <a:lnSpc>
                <a:spcPct val="200000"/>
              </a:lnSpc>
            </a:pPr>
            <a:r>
              <a:rPr lang="en-US" altLang="zh-CN" sz="3200" kern="0" dirty="0"/>
              <a:t>Web</a:t>
            </a:r>
            <a:r>
              <a:rPr lang="zh-CN" altLang="en-US" sz="3200" kern="0" dirty="0"/>
              <a:t>服务程序</a:t>
            </a:r>
            <a:r>
              <a:rPr lang="en-US" altLang="zh-CN" sz="3200" kern="0" dirty="0"/>
              <a:t>-</a:t>
            </a:r>
            <a:r>
              <a:rPr lang="zh-CN" altLang="en-US" sz="3200" b="0" kern="0" dirty="0"/>
              <a:t>多线程程序允许同时处理多个服务请求，而不需要为每个单独的请求创建单独的进程</a:t>
            </a:r>
            <a:endParaRPr lang="en-US" altLang="zh-CN" sz="3200" b="0" kern="0" dirty="0"/>
          </a:p>
          <a:p>
            <a:pPr algn="just">
              <a:lnSpc>
                <a:spcPct val="200000"/>
              </a:lnSpc>
            </a:pPr>
            <a:endParaRPr lang="zh-CN" altLang="en-US" sz="3200" kern="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5E9DB39-2D99-4898-9D0B-B17F65EE8546}"/>
              </a:ext>
            </a:extLst>
          </p:cNvPr>
          <p:cNvSpPr>
            <a:spLocks noGrp="1" noChangeArrowheads="1"/>
          </p:cNvSpPr>
          <p:nvPr>
            <p:ph type="title"/>
          </p:nvPr>
        </p:nvSpPr>
        <p:spPr>
          <a:xfrm>
            <a:off x="2386013" y="415925"/>
            <a:ext cx="6951662" cy="312738"/>
          </a:xfrm>
        </p:spPr>
        <p:txBody>
          <a:bodyPr/>
          <a:lstStyle/>
          <a:p>
            <a:pPr eaLnBrk="1" hangingPunct="1"/>
            <a:r>
              <a:rPr lang="zh-CN" altLang="en-US">
                <a:latin typeface="微软雅黑" panose="020B0503020204020204" pitchFamily="34" charset="-122"/>
                <a:ea typeface="微软雅黑" panose="020B0503020204020204" pitchFamily="34" charset="-122"/>
              </a:rPr>
              <a:t>优点</a:t>
            </a:r>
            <a:endParaRPr lang="en-US" altLang="en-US">
              <a:latin typeface="微软雅黑" panose="020B0503020204020204" pitchFamily="34" charset="-122"/>
              <a:ea typeface="微软雅黑" panose="020B0503020204020204" pitchFamily="34" charset="-122"/>
            </a:endParaRPr>
          </a:p>
        </p:txBody>
      </p:sp>
      <p:sp>
        <p:nvSpPr>
          <p:cNvPr id="14339" name="Rectangle 3">
            <a:extLst>
              <a:ext uri="{FF2B5EF4-FFF2-40B4-BE49-F238E27FC236}">
                <a16:creationId xmlns:a16="http://schemas.microsoft.com/office/drawing/2014/main" id="{F1F05949-9198-41BD-A5FF-77747DC8ACA9}"/>
              </a:ext>
            </a:extLst>
          </p:cNvPr>
          <p:cNvSpPr>
            <a:spLocks noGrp="1" noChangeArrowheads="1"/>
          </p:cNvSpPr>
          <p:nvPr>
            <p:ph idx="1"/>
          </p:nvPr>
        </p:nvSpPr>
        <p:spPr>
          <a:xfrm>
            <a:off x="633845" y="1233489"/>
            <a:ext cx="12469091" cy="4530725"/>
          </a:xfrm>
        </p:spPr>
        <p:txBody>
          <a:bodyPr/>
          <a:lstStyle/>
          <a:p>
            <a:pPr>
              <a:lnSpc>
                <a:spcPct val="200000"/>
              </a:lnSpc>
            </a:pPr>
            <a:r>
              <a:rPr lang="zh-CN" altLang="en-US" sz="2800" b="1" dirty="0">
                <a:latin typeface="微软雅黑" panose="020B0503020204020204" pitchFamily="34" charset="-122"/>
                <a:ea typeface="微软雅黑" panose="020B0503020204020204" pitchFamily="34" charset="-122"/>
              </a:rPr>
              <a:t>及时响应</a:t>
            </a:r>
            <a:r>
              <a:rPr lang="en-US" altLang="zh-CN" sz="280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部分线程被阻塞，其他可继续执行</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对</a:t>
            </a:r>
            <a:r>
              <a:rPr lang="zh-CN" altLang="en-US" sz="2800" dirty="0">
                <a:solidFill>
                  <a:srgbClr val="0070C0"/>
                </a:solidFill>
                <a:latin typeface="微软雅黑" panose="020B0503020204020204" pitchFamily="34" charset="-122"/>
                <a:ea typeface="微软雅黑" panose="020B0503020204020204" pitchFamily="34" charset="-122"/>
              </a:rPr>
              <a:t>用户界面</a:t>
            </a:r>
            <a:r>
              <a:rPr lang="zh-CN" altLang="en-US" sz="2800" dirty="0">
                <a:latin typeface="微软雅黑" panose="020B0503020204020204" pitchFamily="34" charset="-122"/>
                <a:ea typeface="微软雅黑" panose="020B0503020204020204" pitchFamily="34" charset="-122"/>
              </a:rPr>
              <a:t>尤其重要</a:t>
            </a:r>
            <a:r>
              <a:rPr lang="en-US" altLang="zh-CN"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200000"/>
              </a:lnSpc>
            </a:pPr>
            <a:r>
              <a:rPr lang="zh-CN" altLang="en-US" sz="2800" b="1" dirty="0">
                <a:latin typeface="微软雅黑" panose="020B0503020204020204" pitchFamily="34" charset="-122"/>
                <a:ea typeface="微软雅黑" panose="020B0503020204020204" pitchFamily="34" charset="-122"/>
              </a:rPr>
              <a:t>资源共享</a:t>
            </a:r>
            <a:r>
              <a:rPr lang="en-US" altLang="zh-CN" sz="280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线程共享进程资源，比共享内存或消息传递更容易</a:t>
            </a:r>
          </a:p>
          <a:p>
            <a:pPr>
              <a:lnSpc>
                <a:spcPct val="200000"/>
              </a:lnSpc>
            </a:pPr>
            <a:r>
              <a:rPr lang="zh-CN" altLang="en-US" sz="2800" b="1" dirty="0">
                <a:latin typeface="微软雅黑" panose="020B0503020204020204" pitchFamily="34" charset="-122"/>
                <a:ea typeface="微软雅黑" panose="020B0503020204020204" pitchFamily="34" charset="-122"/>
              </a:rPr>
              <a:t>经济</a:t>
            </a:r>
            <a:r>
              <a:rPr lang="en-US" altLang="zh-CN" sz="280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比进程创建便宜，线程切换开销比上下文切换低</a:t>
            </a:r>
          </a:p>
          <a:p>
            <a:pPr>
              <a:lnSpc>
                <a:spcPct val="200000"/>
              </a:lnSpc>
            </a:pPr>
            <a:r>
              <a:rPr lang="zh-CN" altLang="en-US" sz="2800" b="1" dirty="0">
                <a:latin typeface="微软雅黑" panose="020B0503020204020204" pitchFamily="34" charset="-122"/>
                <a:ea typeface="微软雅黑" panose="020B0503020204020204" pitchFamily="34" charset="-122"/>
              </a:rPr>
              <a:t>可扩展性</a:t>
            </a:r>
            <a:r>
              <a:rPr lang="en-US" altLang="zh-CN" sz="280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线程可在多处理器上并行运行</a:t>
            </a:r>
            <a:endParaRPr lang="en-US" altLang="en-US" sz="2800" b="0" dirty="0">
              <a:latin typeface="微软雅黑" panose="020B0503020204020204" pitchFamily="34" charset="-122"/>
              <a:ea typeface="微软雅黑" panose="020B0503020204020204" pitchFamily="34" charset="-122"/>
            </a:endParaRPr>
          </a:p>
          <a:p>
            <a:pPr>
              <a:lnSpc>
                <a:spcPct val="200000"/>
              </a:lnSpc>
            </a:pPr>
            <a:endParaRPr lang="en-US" altLang="en-US" sz="28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D5620A7-880D-445D-A04D-CB60A200FC6C}"/>
              </a:ext>
            </a:extLst>
          </p:cNvPr>
          <p:cNvSpPr>
            <a:spLocks noGrp="1" noChangeArrowheads="1"/>
          </p:cNvSpPr>
          <p:nvPr>
            <p:ph type="title"/>
          </p:nvPr>
        </p:nvSpPr>
        <p:spPr>
          <a:xfrm>
            <a:off x="2536826" y="176213"/>
            <a:ext cx="7673975" cy="576262"/>
          </a:xfrm>
        </p:spPr>
        <p:txBody>
          <a:bodyPr/>
          <a:lstStyle/>
          <a:p>
            <a:pPr eaLnBrk="1" hangingPunct="1"/>
            <a:r>
              <a:rPr lang="en-US" altLang="zh-CN" dirty="0">
                <a:latin typeface="微软雅黑" panose="020B0503020204020204" pitchFamily="34" charset="-122"/>
                <a:ea typeface="微软雅黑" panose="020B0503020204020204" pitchFamily="34" charset="-122"/>
              </a:rPr>
              <a:t>4.2 </a:t>
            </a:r>
            <a:r>
              <a:rPr lang="zh-CN" altLang="en-US" dirty="0">
                <a:latin typeface="微软雅黑" panose="020B0503020204020204" pitchFamily="34" charset="-122"/>
                <a:ea typeface="微软雅黑" panose="020B0503020204020204" pitchFamily="34" charset="-122"/>
              </a:rPr>
              <a:t>多核编程</a:t>
            </a:r>
            <a:endParaRPr lang="en-US" altLang="en-US" dirty="0">
              <a:latin typeface="微软雅黑" panose="020B0503020204020204" pitchFamily="34" charset="-122"/>
              <a:ea typeface="微软雅黑" panose="020B0503020204020204" pitchFamily="34" charset="-122"/>
            </a:endParaRPr>
          </a:p>
        </p:txBody>
      </p:sp>
      <p:sp>
        <p:nvSpPr>
          <p:cNvPr id="16387" name="Content Placeholder 2">
            <a:extLst>
              <a:ext uri="{FF2B5EF4-FFF2-40B4-BE49-F238E27FC236}">
                <a16:creationId xmlns:a16="http://schemas.microsoft.com/office/drawing/2014/main" id="{4F535F9E-E21C-45CA-AA60-F65654B7B23F}"/>
              </a:ext>
            </a:extLst>
          </p:cNvPr>
          <p:cNvSpPr>
            <a:spLocks noGrp="1" noChangeArrowheads="1"/>
          </p:cNvSpPr>
          <p:nvPr>
            <p:ph idx="1"/>
          </p:nvPr>
        </p:nvSpPr>
        <p:spPr>
          <a:xfrm>
            <a:off x="716974" y="1154031"/>
            <a:ext cx="10813388" cy="4530725"/>
          </a:xfrm>
        </p:spPr>
        <p:txBody>
          <a:bodyPr/>
          <a:lstStyle/>
          <a:p>
            <a:pPr>
              <a:lnSpc>
                <a:spcPct val="150000"/>
              </a:lnSpc>
            </a:pPr>
            <a:r>
              <a:rPr lang="zh-CN" altLang="en-US" b="0" dirty="0"/>
              <a:t>多线程程序在</a:t>
            </a:r>
            <a:r>
              <a:rPr lang="zh-CN" altLang="en-US" dirty="0">
                <a:solidFill>
                  <a:srgbClr val="0070C0"/>
                </a:solidFill>
              </a:rPr>
              <a:t>单核</a:t>
            </a:r>
            <a:r>
              <a:rPr lang="en-US" altLang="zh-CN" dirty="0">
                <a:solidFill>
                  <a:srgbClr val="0070C0"/>
                </a:solidFill>
              </a:rPr>
              <a:t>CPU</a:t>
            </a:r>
            <a:r>
              <a:rPr lang="zh-CN" altLang="en-US" b="0" dirty="0"/>
              <a:t>中执行时不同线程间有</a:t>
            </a:r>
            <a:r>
              <a:rPr lang="zh-CN" altLang="en-US" dirty="0"/>
              <a:t>时间间隔</a:t>
            </a:r>
            <a:endParaRPr lang="en-US" altLang="zh-CN" dirty="0"/>
          </a:p>
          <a:p>
            <a:pPr>
              <a:lnSpc>
                <a:spcPct val="150000"/>
              </a:lnSpc>
            </a:pPr>
            <a:r>
              <a:rPr lang="zh-CN" altLang="en-US" b="0" dirty="0"/>
              <a:t>多线程程序在</a:t>
            </a:r>
            <a:r>
              <a:rPr lang="zh-CN" altLang="en-US" dirty="0">
                <a:solidFill>
                  <a:srgbClr val="0070C0"/>
                </a:solidFill>
              </a:rPr>
              <a:t>多核</a:t>
            </a:r>
            <a:r>
              <a:rPr lang="en-US" altLang="zh-CN" dirty="0">
                <a:solidFill>
                  <a:srgbClr val="0070C0"/>
                </a:solidFill>
              </a:rPr>
              <a:t>CPU</a:t>
            </a:r>
            <a:r>
              <a:rPr lang="zh-CN" altLang="en-US" b="0" dirty="0"/>
              <a:t>中可以在同时在多个可用的核中执行</a:t>
            </a:r>
            <a:r>
              <a:rPr lang="zh-CN" altLang="en-US" dirty="0">
                <a:solidFill>
                  <a:srgbClr val="0070C0"/>
                </a:solidFill>
              </a:rPr>
              <a:t>真实的并行处理</a:t>
            </a:r>
            <a:r>
              <a:rPr lang="zh-CN" altLang="en-US" b="0" dirty="0"/>
              <a:t>（</a:t>
            </a:r>
            <a:r>
              <a:rPr lang="en-US" altLang="zh-CN" dirty="0">
                <a:solidFill>
                  <a:srgbClr val="0070C0"/>
                </a:solidFill>
              </a:rPr>
              <a:t>Parallel Processing</a:t>
            </a:r>
            <a:r>
              <a:rPr lang="zh-CN" altLang="en-US" b="0" dirty="0"/>
              <a:t>）</a:t>
            </a:r>
            <a:endParaRPr lang="en-US" altLang="zh-CN" b="0" dirty="0"/>
          </a:p>
          <a:p>
            <a:pPr>
              <a:lnSpc>
                <a:spcPct val="150000"/>
              </a:lnSpc>
            </a:pPr>
            <a:endParaRPr lang="en-US" altLang="zh-CN" b="0" dirty="0">
              <a:latin typeface="微软雅黑" panose="020B0503020204020204" pitchFamily="34" charset="-122"/>
              <a:ea typeface="微软雅黑" panose="020B0503020204020204" pitchFamily="34" charset="-122"/>
            </a:endParaRPr>
          </a:p>
          <a:p>
            <a:pPr lvl="1">
              <a:lnSpc>
                <a:spcPct val="150000"/>
              </a:lnSpc>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p:txBody>
      </p:sp>
      <p:pic>
        <p:nvPicPr>
          <p:cNvPr id="8" name="Picture 1" descr="4_03.pdf">
            <a:extLst>
              <a:ext uri="{FF2B5EF4-FFF2-40B4-BE49-F238E27FC236}">
                <a16:creationId xmlns:a16="http://schemas.microsoft.com/office/drawing/2014/main" id="{301C7AE6-ADD1-457A-8F9C-5CC2736D4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980" y="3473452"/>
            <a:ext cx="625951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descr="4_04.pdf">
            <a:extLst>
              <a:ext uri="{FF2B5EF4-FFF2-40B4-BE49-F238E27FC236}">
                <a16:creationId xmlns:a16="http://schemas.microsoft.com/office/drawing/2014/main" id="{B3E49C4B-2525-4272-BAE0-C2DC920BA0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1635" y="4659233"/>
            <a:ext cx="3946525"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3823B8F-9B38-42B3-94C5-A3E887B9AAB4}"/>
              </a:ext>
            </a:extLst>
          </p:cNvPr>
          <p:cNvSpPr/>
          <p:nvPr/>
        </p:nvSpPr>
        <p:spPr>
          <a:xfrm>
            <a:off x="7352370" y="3497947"/>
            <a:ext cx="2516459" cy="367617"/>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单核系统上的并发执行</a:t>
            </a:r>
            <a:endParaRPr lang="en-US" altLang="en-US" b="1"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B42A044-168F-4A65-AE7E-7323B058572A}"/>
              </a:ext>
            </a:extLst>
          </p:cNvPr>
          <p:cNvSpPr/>
          <p:nvPr/>
        </p:nvSpPr>
        <p:spPr>
          <a:xfrm>
            <a:off x="6373813" y="4982607"/>
            <a:ext cx="2558714"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多核系统上的并行执行</a:t>
            </a:r>
            <a:endParaRPr lang="en-US"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8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43245951-901B-4D1E-A1F4-0DDA364C5051}"/>
              </a:ext>
            </a:extLst>
          </p:cNvPr>
          <p:cNvSpPr>
            <a:spLocks noGrp="1" noChangeArrowheads="1"/>
          </p:cNvSpPr>
          <p:nvPr>
            <p:ph type="title"/>
          </p:nvPr>
        </p:nvSpPr>
        <p:spPr>
          <a:xfrm>
            <a:off x="2200275" y="29686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并发与并行</a:t>
            </a:r>
            <a:endParaRPr lang="en-US" altLang="en-US">
              <a:latin typeface="微软雅黑" panose="020B0503020204020204" pitchFamily="34" charset="-122"/>
              <a:ea typeface="微软雅黑" panose="020B0503020204020204" pitchFamily="34" charset="-122"/>
            </a:endParaRPr>
          </a:p>
        </p:txBody>
      </p:sp>
      <p:sp>
        <p:nvSpPr>
          <p:cNvPr id="20483" name="Rectangle 3">
            <a:extLst>
              <a:ext uri="{FF2B5EF4-FFF2-40B4-BE49-F238E27FC236}">
                <a16:creationId xmlns:a16="http://schemas.microsoft.com/office/drawing/2014/main" id="{9D80B370-828D-4AE3-B942-F76B3A8F8831}"/>
              </a:ext>
            </a:extLst>
          </p:cNvPr>
          <p:cNvSpPr>
            <a:spLocks noGrp="1" noChangeArrowheads="1"/>
          </p:cNvSpPr>
          <p:nvPr/>
        </p:nvSpPr>
        <p:spPr bwMode="auto">
          <a:xfrm>
            <a:off x="1981200" y="1163639"/>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488950" indent="-488950">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42875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177165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marL="0" indent="0">
              <a:buNone/>
            </a:pPr>
            <a:r>
              <a:rPr lang="zh-CN" altLang="en-US" sz="2400" b="1" dirty="0">
                <a:latin typeface="微软雅黑" panose="020B0503020204020204" pitchFamily="34" charset="-122"/>
                <a:ea typeface="微软雅黑" panose="020B0503020204020204" pitchFamily="34" charset="-122"/>
              </a:rPr>
              <a:t>单核系统上的并发执行</a:t>
            </a:r>
            <a:r>
              <a:rPr lang="en-US" altLang="zh-CN" sz="2400" b="1" dirty="0">
                <a:solidFill>
                  <a:srgbClr val="0070C0"/>
                </a:solidFill>
                <a:latin typeface="微软雅黑" panose="020B0503020204020204" pitchFamily="34" charset="-122"/>
                <a:ea typeface="微软雅黑" panose="020B0503020204020204" pitchFamily="34" charset="-122"/>
              </a:rPr>
              <a:t>(</a:t>
            </a:r>
            <a:r>
              <a:rPr lang="en-US" altLang="zh-CN" sz="2400" b="1" dirty="0">
                <a:solidFill>
                  <a:srgbClr val="0070C0"/>
                </a:solidFill>
              </a:rPr>
              <a:t>Concurrent)</a:t>
            </a:r>
            <a:endParaRPr lang="en-US" altLang="en-US" sz="2400" b="1" dirty="0">
              <a:solidFill>
                <a:srgbClr val="0070C0"/>
              </a:solidFill>
            </a:endParaRPr>
          </a:p>
          <a:p>
            <a:endParaRPr lang="en-US" altLang="en-US" b="1" dirty="0">
              <a:latin typeface="微软雅黑" panose="020B0503020204020204" pitchFamily="34" charset="-122"/>
              <a:ea typeface="微软雅黑" panose="020B0503020204020204" pitchFamily="34" charset="-122"/>
            </a:endParaRPr>
          </a:p>
          <a:p>
            <a:endParaRPr lang="en-US" altLang="en-US" b="1" dirty="0">
              <a:latin typeface="微软雅黑" panose="020B0503020204020204" pitchFamily="34" charset="-122"/>
              <a:ea typeface="微软雅黑" panose="020B0503020204020204" pitchFamily="34" charset="-122"/>
            </a:endParaRPr>
          </a:p>
          <a:p>
            <a:endParaRPr lang="en-US" altLang="en-US" b="1" dirty="0">
              <a:latin typeface="微软雅黑" panose="020B0503020204020204" pitchFamily="34" charset="-122"/>
              <a:ea typeface="微软雅黑" panose="020B0503020204020204" pitchFamily="34" charset="-122"/>
            </a:endParaRPr>
          </a:p>
          <a:p>
            <a:pPr>
              <a:buFontTx/>
              <a:buNone/>
            </a:pPr>
            <a:endParaRPr lang="en-US" altLang="en-US" b="1" dirty="0">
              <a:latin typeface="微软雅黑" panose="020B0503020204020204" pitchFamily="34" charset="-122"/>
              <a:ea typeface="微软雅黑" panose="020B0503020204020204" pitchFamily="34" charset="-122"/>
            </a:endParaRPr>
          </a:p>
          <a:p>
            <a:pPr marL="0" indent="0">
              <a:buNone/>
            </a:pPr>
            <a:r>
              <a:rPr lang="zh-CN" altLang="en-US" sz="2400" b="1" dirty="0">
                <a:latin typeface="微软雅黑" panose="020B0503020204020204" pitchFamily="34" charset="-122"/>
                <a:ea typeface="微软雅黑" panose="020B0503020204020204" pitchFamily="34" charset="-122"/>
              </a:rPr>
              <a:t>多核系统上的并行执行</a:t>
            </a:r>
            <a:r>
              <a:rPr lang="en-US" altLang="zh-CN" sz="2400" b="1" dirty="0">
                <a:solidFill>
                  <a:srgbClr val="0070C0"/>
                </a:solidFill>
                <a:sym typeface="Wingdings" panose="05000000000000000000" pitchFamily="2" charset="2"/>
              </a:rPr>
              <a:t>(</a:t>
            </a:r>
            <a:r>
              <a:rPr lang="en-US" altLang="zh-CN" sz="2400" b="1" dirty="0">
                <a:solidFill>
                  <a:srgbClr val="0070C0"/>
                </a:solidFill>
              </a:rPr>
              <a:t>Parallel</a:t>
            </a:r>
            <a:r>
              <a:rPr lang="en-US" altLang="en-US" sz="2400" b="1" dirty="0">
                <a:solidFill>
                  <a:srgbClr val="0070C0"/>
                </a:solidFill>
                <a:sym typeface="Wingdings" panose="05000000000000000000" pitchFamily="2" charset="2"/>
              </a:rPr>
              <a:t>)</a:t>
            </a:r>
            <a:endParaRPr lang="en-US" altLang="en-US" sz="2400" b="1" dirty="0">
              <a:solidFill>
                <a:srgbClr val="0070C0"/>
              </a:solidFill>
            </a:endParaRPr>
          </a:p>
          <a:p>
            <a:endParaRPr lang="en-US" altLang="en-US" b="1" dirty="0">
              <a:latin typeface="微软雅黑" panose="020B0503020204020204" pitchFamily="34" charset="-122"/>
              <a:ea typeface="微软雅黑" panose="020B0503020204020204" pitchFamily="34" charset="-122"/>
            </a:endParaRPr>
          </a:p>
        </p:txBody>
      </p:sp>
      <p:pic>
        <p:nvPicPr>
          <p:cNvPr id="20484" name="Picture 1" descr="4_03.pdf">
            <a:extLst>
              <a:ext uri="{FF2B5EF4-FFF2-40B4-BE49-F238E27FC236}">
                <a16:creationId xmlns:a16="http://schemas.microsoft.com/office/drawing/2014/main" id="{1230132F-4090-4C7B-8512-35319D79DF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4292" y="2042102"/>
            <a:ext cx="625951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2" descr="4_04.pdf">
            <a:extLst>
              <a:ext uri="{FF2B5EF4-FFF2-40B4-BE49-F238E27FC236}">
                <a16:creationId xmlns:a16="http://schemas.microsoft.com/office/drawing/2014/main" id="{8D549DA3-263F-4E44-83AC-4370C97A77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0749" y="4031673"/>
            <a:ext cx="3946525"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D5620A7-880D-445D-A04D-CB60A200FC6C}"/>
              </a:ext>
            </a:extLst>
          </p:cNvPr>
          <p:cNvSpPr>
            <a:spLocks noGrp="1" noChangeArrowheads="1"/>
          </p:cNvSpPr>
          <p:nvPr>
            <p:ph type="title"/>
          </p:nvPr>
        </p:nvSpPr>
        <p:spPr>
          <a:xfrm>
            <a:off x="2536826" y="176213"/>
            <a:ext cx="7673975" cy="576262"/>
          </a:xfrm>
        </p:spPr>
        <p:txBody>
          <a:bodyPr/>
          <a:lstStyle/>
          <a:p>
            <a:pPr eaLnBrk="1" hangingPunct="1"/>
            <a:r>
              <a:rPr lang="zh-CN" altLang="en-US">
                <a:latin typeface="微软雅黑" panose="020B0503020204020204" pitchFamily="34" charset="-122"/>
                <a:ea typeface="微软雅黑" panose="020B0503020204020204" pitchFamily="34" charset="-122"/>
              </a:rPr>
              <a:t>多核编程</a:t>
            </a:r>
            <a:endParaRPr lang="en-US" altLang="en-US">
              <a:latin typeface="微软雅黑" panose="020B0503020204020204" pitchFamily="34" charset="-122"/>
              <a:ea typeface="微软雅黑" panose="020B0503020204020204" pitchFamily="34" charset="-122"/>
            </a:endParaRPr>
          </a:p>
        </p:txBody>
      </p:sp>
      <p:sp>
        <p:nvSpPr>
          <p:cNvPr id="16387" name="Content Placeholder 2">
            <a:extLst>
              <a:ext uri="{FF2B5EF4-FFF2-40B4-BE49-F238E27FC236}">
                <a16:creationId xmlns:a16="http://schemas.microsoft.com/office/drawing/2014/main" id="{4F535F9E-E21C-45CA-AA60-F65654B7B23F}"/>
              </a:ext>
            </a:extLst>
          </p:cNvPr>
          <p:cNvSpPr>
            <a:spLocks noGrp="1" noChangeArrowheads="1"/>
          </p:cNvSpPr>
          <p:nvPr>
            <p:ph idx="1"/>
          </p:nvPr>
        </p:nvSpPr>
        <p:spPr>
          <a:xfrm>
            <a:off x="716973" y="1208089"/>
            <a:ext cx="10858500" cy="5047238"/>
          </a:xfrm>
        </p:spPr>
        <p:txBody>
          <a:bodyPr/>
          <a:lstStyle/>
          <a:p>
            <a:pPr>
              <a:lnSpc>
                <a:spcPct val="200000"/>
              </a:lnSpc>
            </a:pPr>
            <a:r>
              <a:rPr lang="zh-CN" altLang="en-US" b="1" dirty="0">
                <a:latin typeface="微软雅黑" panose="020B0503020204020204" pitchFamily="34" charset="-122"/>
                <a:ea typeface="微软雅黑" panose="020B0503020204020204" pitchFamily="34" charset="-122"/>
              </a:rPr>
              <a:t>并行性</a:t>
            </a:r>
            <a:r>
              <a:rPr lang="zh-CN" altLang="en-US" dirty="0">
                <a:latin typeface="微软雅黑" panose="020B0503020204020204" pitchFamily="34" charset="-122"/>
                <a:ea typeface="微软雅黑" panose="020B0503020204020204" pitchFamily="34" charset="-122"/>
              </a:rPr>
              <a:t>意味着一个系统可以同时执行多个任务</a:t>
            </a:r>
            <a:r>
              <a:rPr lang="en-US" altLang="zh-CN" dirty="0">
                <a:latin typeface="微软雅黑" panose="020B0503020204020204" pitchFamily="34" charset="-122"/>
                <a:ea typeface="微软雅黑" panose="020B0503020204020204" pitchFamily="34" charset="-122"/>
              </a:rPr>
              <a:t>	</a:t>
            </a:r>
          </a:p>
          <a:p>
            <a:pPr lvl="1">
              <a:lnSpc>
                <a:spcPct val="200000"/>
              </a:lnSpc>
            </a:pPr>
            <a:r>
              <a:rPr lang="zh-CN" altLang="en-US" dirty="0"/>
              <a:t>在多处理器</a:t>
            </a:r>
            <a:r>
              <a:rPr lang="en-US" altLang="zh-CN" dirty="0"/>
              <a:t>/</a:t>
            </a:r>
            <a:r>
              <a:rPr lang="zh-CN" altLang="en-US" dirty="0"/>
              <a:t>多核系统中，有特定的调度算法来充分利用多处理器</a:t>
            </a:r>
            <a:r>
              <a:rPr lang="en-US" altLang="zh-CN" dirty="0"/>
              <a:t>/</a:t>
            </a:r>
            <a:r>
              <a:rPr lang="zh-CN" altLang="en-US" dirty="0"/>
              <a:t>多核。</a:t>
            </a:r>
            <a:endParaRPr lang="zh-CN" altLang="en-US" dirty="0">
              <a:latin typeface="微软雅黑" panose="020B0503020204020204" pitchFamily="34" charset="-122"/>
              <a:ea typeface="微软雅黑" panose="020B0503020204020204" pitchFamily="34" charset="-122"/>
            </a:endParaRPr>
          </a:p>
          <a:p>
            <a:pPr>
              <a:lnSpc>
                <a:spcPct val="200000"/>
              </a:lnSpc>
            </a:pPr>
            <a:r>
              <a:rPr lang="zh-CN" altLang="en-US" b="1" dirty="0">
                <a:latin typeface="微软雅黑" panose="020B0503020204020204" pitchFamily="34" charset="-122"/>
                <a:ea typeface="微软雅黑" panose="020B0503020204020204" pitchFamily="34" charset="-122"/>
              </a:rPr>
              <a:t>并发性</a:t>
            </a:r>
            <a:r>
              <a:rPr lang="zh-CN" altLang="en-US" dirty="0">
                <a:latin typeface="微软雅黑" panose="020B0503020204020204" pitchFamily="34" charset="-122"/>
                <a:ea typeface="微软雅黑" panose="020B0503020204020204" pitchFamily="34" charset="-122"/>
              </a:rPr>
              <a:t>系统支持多个任务，允许所有任务都能取得进展</a:t>
            </a:r>
            <a:endParaRPr lang="en-US" altLang="en-US" dirty="0">
              <a:latin typeface="微软雅黑" panose="020B0503020204020204" pitchFamily="34" charset="-122"/>
              <a:ea typeface="微软雅黑" panose="020B0503020204020204" pitchFamily="34" charset="-122"/>
            </a:endParaRPr>
          </a:p>
          <a:p>
            <a:pPr lvl="1">
              <a:lnSpc>
                <a:spcPct val="200000"/>
              </a:lnSpc>
            </a:pPr>
            <a:r>
              <a:rPr lang="zh-CN" altLang="en-US" dirty="0">
                <a:latin typeface="微软雅黑" panose="020B0503020204020204" pitchFamily="34" charset="-122"/>
                <a:ea typeface="微软雅黑" panose="020B0503020204020204" pitchFamily="34" charset="-122"/>
              </a:rPr>
              <a:t>在单处理器</a:t>
            </a:r>
            <a:r>
              <a:rPr lang="en-US" altLang="zh-CN" dirty="0">
                <a:latin typeface="微软雅黑" panose="020B0503020204020204" pitchFamily="34" charset="-122"/>
                <a:ea typeface="微软雅黑" panose="020B0503020204020204" pitchFamily="34" charset="-122"/>
              </a:rPr>
              <a:t>/</a:t>
            </a:r>
            <a:r>
              <a:rPr lang="zh-CN" altLang="en-US" dirty="0"/>
              <a:t>单</a:t>
            </a:r>
            <a:r>
              <a:rPr lang="zh-CN" altLang="en-US" dirty="0">
                <a:latin typeface="微软雅黑" panose="020B0503020204020204" pitchFamily="34" charset="-122"/>
                <a:ea typeface="微软雅黑" panose="020B0503020204020204" pitchFamily="34" charset="-122"/>
              </a:rPr>
              <a:t>核系统中，提供并发性的调度程序</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b="0" dirty="0"/>
              <a:t>多线程程序越来越受欢迎，</a:t>
            </a:r>
            <a:r>
              <a:rPr lang="en-US" altLang="zh-CN" b="0" dirty="0"/>
              <a:t>CPU</a:t>
            </a:r>
            <a:r>
              <a:rPr lang="zh-CN" altLang="en-US" b="0" dirty="0"/>
              <a:t>采用</a:t>
            </a:r>
            <a:r>
              <a:rPr lang="zh-CN" altLang="en-US" dirty="0">
                <a:solidFill>
                  <a:srgbClr val="0070C0"/>
                </a:solidFill>
              </a:rPr>
              <a:t>超线程技术</a:t>
            </a:r>
            <a:r>
              <a:rPr lang="zh-CN" altLang="en-US" dirty="0"/>
              <a:t>来允许单核中支持更多的并行线程</a:t>
            </a:r>
            <a:r>
              <a:rPr lang="zh-CN" altLang="en-US" dirty="0">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hyperthreading</a:t>
            </a:r>
            <a:r>
              <a:rPr lang="zh-CN" altLang="en-US" dirty="0">
                <a:latin typeface="微软雅黑" panose="020B0503020204020204" pitchFamily="34" charset="-122"/>
                <a:ea typeface="微软雅黑" panose="020B0503020204020204" pitchFamily="34" charset="-122"/>
              </a:rPr>
              <a:t>）</a:t>
            </a:r>
            <a:endParaRPr lang="en-US" altLang="en-US" dirty="0">
              <a:latin typeface="微软雅黑" panose="020B0503020204020204" pitchFamily="34" charset="-122"/>
              <a:ea typeface="微软雅黑" panose="020B0503020204020204" pitchFamily="34" charset="-122"/>
            </a:endParaRPr>
          </a:p>
          <a:p>
            <a:pPr lvl="1">
              <a:lnSpc>
                <a:spcPct val="200000"/>
              </a:lnSpc>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a:p>
            <a:pPr lvl="1">
              <a:lnSpc>
                <a:spcPct val="200000"/>
              </a:lnSpc>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D5620A7-880D-445D-A04D-CB60A200FC6C}"/>
              </a:ext>
            </a:extLst>
          </p:cNvPr>
          <p:cNvSpPr>
            <a:spLocks noGrp="1" noChangeArrowheads="1"/>
          </p:cNvSpPr>
          <p:nvPr>
            <p:ph type="title"/>
          </p:nvPr>
        </p:nvSpPr>
        <p:spPr>
          <a:xfrm>
            <a:off x="2536826" y="176213"/>
            <a:ext cx="7673975" cy="576262"/>
          </a:xfrm>
        </p:spPr>
        <p:txBody>
          <a:bodyPr/>
          <a:lstStyle/>
          <a:p>
            <a:pPr eaLnBrk="1" hangingPunct="1"/>
            <a:r>
              <a:rPr lang="zh-CN" altLang="en-US" dirty="0">
                <a:latin typeface="微软雅黑" panose="020B0503020204020204" pitchFamily="34" charset="-122"/>
                <a:ea typeface="微软雅黑" panose="020B0503020204020204" pitchFamily="34" charset="-122"/>
              </a:rPr>
              <a:t>多核编程挑战</a:t>
            </a:r>
            <a:endParaRPr lang="en-US" altLang="en-US" dirty="0">
              <a:latin typeface="微软雅黑" panose="020B0503020204020204" pitchFamily="34" charset="-122"/>
              <a:ea typeface="微软雅黑" panose="020B0503020204020204" pitchFamily="34" charset="-122"/>
            </a:endParaRPr>
          </a:p>
        </p:txBody>
      </p:sp>
      <p:sp>
        <p:nvSpPr>
          <p:cNvPr id="16387" name="Content Placeholder 2">
            <a:extLst>
              <a:ext uri="{FF2B5EF4-FFF2-40B4-BE49-F238E27FC236}">
                <a16:creationId xmlns:a16="http://schemas.microsoft.com/office/drawing/2014/main" id="{4F535F9E-E21C-45CA-AA60-F65654B7B23F}"/>
              </a:ext>
            </a:extLst>
          </p:cNvPr>
          <p:cNvSpPr>
            <a:spLocks noGrp="1" noChangeArrowheads="1"/>
          </p:cNvSpPr>
          <p:nvPr>
            <p:ph idx="1"/>
          </p:nvPr>
        </p:nvSpPr>
        <p:spPr>
          <a:xfrm>
            <a:off x="716973" y="1083398"/>
            <a:ext cx="11045536" cy="4530725"/>
          </a:xfrm>
        </p:spPr>
        <p:txBody>
          <a:bodyPr/>
          <a:lstStyle/>
          <a:p>
            <a:pPr>
              <a:lnSpc>
                <a:spcPct val="200000"/>
              </a:lnSpc>
            </a:pPr>
            <a:r>
              <a:rPr lang="zh-CN" altLang="en-US" b="0" dirty="0">
                <a:latin typeface="微软雅黑" panose="020B0503020204020204" pitchFamily="34" charset="-122"/>
                <a:ea typeface="微软雅黑" panose="020B0503020204020204" pitchFamily="34" charset="-122"/>
              </a:rPr>
              <a:t>多核或多处理器系统给程序员带来压力，挑战包括：</a:t>
            </a:r>
          </a:p>
          <a:p>
            <a:pPr lvl="1">
              <a:lnSpc>
                <a:spcPct val="200000"/>
              </a:lnSpc>
            </a:pPr>
            <a:r>
              <a:rPr lang="zh-CN" altLang="en-US" sz="2400" b="1" dirty="0">
                <a:latin typeface="微软雅黑" panose="020B0503020204020204" pitchFamily="34" charset="-122"/>
                <a:ea typeface="微软雅黑" panose="020B0503020204020204" pitchFamily="34" charset="-122"/>
              </a:rPr>
              <a:t>识别任务</a:t>
            </a:r>
            <a:r>
              <a:rPr lang="en-US" altLang="zh-CN"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确认任务中哪些子任务可以并行</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并发执行。</a:t>
            </a:r>
            <a:endParaRPr lang="en-US" altLang="en-US" sz="2400" dirty="0">
              <a:latin typeface="微软雅黑" panose="020B0503020204020204" pitchFamily="34" charset="-122"/>
              <a:ea typeface="微软雅黑" panose="020B0503020204020204" pitchFamily="34" charset="-122"/>
            </a:endParaRPr>
          </a:p>
          <a:p>
            <a:pPr lvl="1">
              <a:lnSpc>
                <a:spcPct val="200000"/>
              </a:lnSpc>
            </a:pPr>
            <a:r>
              <a:rPr lang="zh-CN" altLang="en-US" sz="2400" b="1" dirty="0">
                <a:latin typeface="微软雅黑" panose="020B0503020204020204" pitchFamily="34" charset="-122"/>
                <a:ea typeface="微软雅黑" panose="020B0503020204020204" pitchFamily="34" charset="-122"/>
              </a:rPr>
              <a:t>平衡</a:t>
            </a:r>
            <a:r>
              <a:rPr lang="en-US" altLang="zh-CN" sz="2400" b="1" dirty="0">
                <a:latin typeface="微软雅黑" panose="020B0503020204020204" pitchFamily="34" charset="-122"/>
                <a:ea typeface="微软雅黑" panose="020B0503020204020204" pitchFamily="34" charset="-122"/>
              </a:rPr>
              <a:t>-</a:t>
            </a:r>
            <a:r>
              <a:rPr lang="zh-CN" altLang="en-US" sz="2400" dirty="0"/>
              <a:t>确认并行子任务价值相同，无需在无价值任务上浪费线程资源。</a:t>
            </a:r>
            <a:endParaRPr lang="en-US" altLang="en-US" sz="2400" b="1" dirty="0">
              <a:latin typeface="微软雅黑" panose="020B0503020204020204" pitchFamily="34" charset="-122"/>
              <a:ea typeface="微软雅黑" panose="020B0503020204020204" pitchFamily="34" charset="-122"/>
            </a:endParaRPr>
          </a:p>
          <a:p>
            <a:pPr lvl="1">
              <a:lnSpc>
                <a:spcPct val="200000"/>
              </a:lnSpc>
            </a:pPr>
            <a:r>
              <a:rPr lang="zh-CN" altLang="en-US" sz="2400" b="1" dirty="0">
                <a:latin typeface="微软雅黑" panose="020B0503020204020204" pitchFamily="34" charset="-122"/>
                <a:ea typeface="微软雅黑" panose="020B0503020204020204" pitchFamily="34" charset="-122"/>
              </a:rPr>
              <a:t>数据分割</a:t>
            </a:r>
            <a:r>
              <a:rPr lang="en-US" altLang="zh-CN"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防止线程间相互影响</a:t>
            </a:r>
            <a:endParaRPr lang="en-US" altLang="en-US" sz="2400" dirty="0">
              <a:latin typeface="微软雅黑" panose="020B0503020204020204" pitchFamily="34" charset="-122"/>
              <a:ea typeface="微软雅黑" panose="020B0503020204020204" pitchFamily="34" charset="-122"/>
            </a:endParaRPr>
          </a:p>
          <a:p>
            <a:pPr lvl="1">
              <a:lnSpc>
                <a:spcPct val="200000"/>
              </a:lnSpc>
            </a:pPr>
            <a:r>
              <a:rPr lang="zh-CN" altLang="en-US" sz="2400" b="1" dirty="0">
                <a:latin typeface="微软雅黑" panose="020B0503020204020204" pitchFamily="34" charset="-122"/>
                <a:ea typeface="微软雅黑" panose="020B0503020204020204" pitchFamily="34" charset="-122"/>
              </a:rPr>
              <a:t>数据依赖</a:t>
            </a:r>
            <a:r>
              <a:rPr lang="en-US" altLang="zh-CN" sz="2400" b="1" dirty="0">
                <a:latin typeface="微软雅黑" panose="020B0503020204020204" pitchFamily="34" charset="-122"/>
                <a:ea typeface="微软雅黑" panose="020B0503020204020204" pitchFamily="34" charset="-122"/>
              </a:rPr>
              <a:t>-</a:t>
            </a:r>
            <a:r>
              <a:rPr lang="zh-CN" altLang="en-US" sz="2400" dirty="0"/>
              <a:t>线程间数据相互依赖，需要进行同步处理</a:t>
            </a:r>
            <a:endParaRPr lang="en-US" altLang="en-US" sz="2400" dirty="0">
              <a:latin typeface="微软雅黑" panose="020B0503020204020204" pitchFamily="34" charset="-122"/>
              <a:ea typeface="微软雅黑" panose="020B0503020204020204" pitchFamily="34" charset="-122"/>
            </a:endParaRPr>
          </a:p>
          <a:p>
            <a:pPr lvl="1">
              <a:lnSpc>
                <a:spcPct val="200000"/>
              </a:lnSpc>
            </a:pPr>
            <a:r>
              <a:rPr lang="zh-CN" altLang="en-US" sz="2400" b="1" dirty="0">
                <a:latin typeface="微软雅黑" panose="020B0503020204020204" pitchFamily="34" charset="-122"/>
                <a:ea typeface="微软雅黑" panose="020B0503020204020204" pitchFamily="34" charset="-122"/>
              </a:rPr>
              <a:t>测试和调试</a:t>
            </a:r>
            <a:r>
              <a:rPr lang="en-US" altLang="zh-CN" sz="2400" b="1" dirty="0">
                <a:latin typeface="微软雅黑" panose="020B0503020204020204" pitchFamily="34" charset="-122"/>
                <a:ea typeface="微软雅黑" panose="020B0503020204020204" pitchFamily="34" charset="-122"/>
              </a:rPr>
              <a:t>-</a:t>
            </a:r>
            <a:r>
              <a:rPr lang="zh-CN" altLang="en-US" sz="2400" dirty="0"/>
              <a:t>在并发和并行情况下更加复杂和困难，难以定位竞争条件</a:t>
            </a:r>
            <a:endParaRPr lang="en-US" altLang="en-US" sz="2400" dirty="0">
              <a:latin typeface="微软雅黑" panose="020B0503020204020204" pitchFamily="34" charset="-122"/>
              <a:ea typeface="微软雅黑" panose="020B0503020204020204" pitchFamily="34" charset="-122"/>
            </a:endParaRPr>
          </a:p>
          <a:p>
            <a:pPr lvl="1">
              <a:lnSpc>
                <a:spcPct val="200000"/>
              </a:lnSpc>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38782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C0CF6EC3-D54D-4859-A141-2C1B35B5AD82}"/>
              </a:ext>
            </a:extLst>
          </p:cNvPr>
          <p:cNvSpPr>
            <a:spLocks noGrp="1" noChangeArrowheads="1"/>
          </p:cNvSpPr>
          <p:nvPr>
            <p:ph idx="1"/>
          </p:nvPr>
        </p:nvSpPr>
        <p:spPr>
          <a:xfrm>
            <a:off x="625908" y="900980"/>
            <a:ext cx="11495810" cy="4530725"/>
          </a:xfrm>
        </p:spPr>
        <p:txBody>
          <a:bodyPr/>
          <a:lstStyle/>
          <a:p>
            <a:pPr>
              <a:lnSpc>
                <a:spcPct val="200000"/>
              </a:lnSpc>
            </a:pPr>
            <a:r>
              <a:rPr lang="zh-CN" altLang="en-US" sz="2800" dirty="0">
                <a:latin typeface="微软雅黑" panose="020B0503020204020204" pitchFamily="34" charset="-122"/>
                <a:ea typeface="微软雅黑" panose="020B0503020204020204" pitchFamily="34" charset="-122"/>
              </a:rPr>
              <a:t>并行的类型</a:t>
            </a:r>
          </a:p>
          <a:p>
            <a:pPr lvl="1">
              <a:lnSpc>
                <a:spcPct val="200000"/>
              </a:lnSpc>
            </a:pPr>
            <a:r>
              <a:rPr lang="zh-CN" altLang="en-US" sz="2400" b="1" dirty="0">
                <a:latin typeface="微软雅黑" panose="020B0503020204020204" pitchFamily="34" charset="-122"/>
                <a:ea typeface="微软雅黑" panose="020B0503020204020204" pitchFamily="34" charset="-122"/>
              </a:rPr>
              <a:t>数据并行</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将相同数据的子集分布在多个计算核上，每个核执行相同的操作</a:t>
            </a:r>
          </a:p>
          <a:p>
            <a:pPr lvl="1">
              <a:lnSpc>
                <a:spcPct val="200000"/>
              </a:lnSpc>
            </a:pPr>
            <a:r>
              <a:rPr lang="zh-CN" altLang="en-US" sz="2400" b="1" dirty="0">
                <a:latin typeface="微软雅黑" panose="020B0503020204020204" pitchFamily="34" charset="-122"/>
                <a:ea typeface="微软雅黑" panose="020B0503020204020204" pitchFamily="34" charset="-122"/>
              </a:rPr>
              <a:t>任务并行</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跨内核分配线程，每个线程执行独特的操作</a:t>
            </a:r>
          </a:p>
          <a:p>
            <a:pPr lvl="1">
              <a:lnSpc>
                <a:spcPct val="200000"/>
              </a:lnSpc>
            </a:pPr>
            <a:r>
              <a:rPr lang="zh-CN" altLang="en-US" sz="2400" b="1" dirty="0">
                <a:latin typeface="微软雅黑" panose="020B0503020204020204" pitchFamily="34" charset="-122"/>
                <a:ea typeface="微软雅黑" panose="020B0503020204020204" pitchFamily="34" charset="-122"/>
              </a:rPr>
              <a:t>混合并行</a:t>
            </a:r>
            <a:endParaRPr lang="en-US" altLang="en-US" sz="2400" b="1" dirty="0">
              <a:latin typeface="微软雅黑" panose="020B0503020204020204" pitchFamily="34" charset="-122"/>
              <a:ea typeface="微软雅黑" panose="020B0503020204020204" pitchFamily="34" charset="-122"/>
            </a:endParaRPr>
          </a:p>
          <a:p>
            <a:pPr lvl="1">
              <a:lnSpc>
                <a:spcPct val="200000"/>
              </a:lnSpc>
              <a:buFont typeface="Monotype Sorts" pitchFamily="-84" charset="2"/>
              <a:buNone/>
            </a:pPr>
            <a:endParaRPr lang="en-US" altLang="en-US" sz="2400" dirty="0">
              <a:latin typeface="微软雅黑" panose="020B0503020204020204" pitchFamily="34" charset="-122"/>
              <a:ea typeface="微软雅黑" panose="020B0503020204020204" pitchFamily="34" charset="-122"/>
            </a:endParaRPr>
          </a:p>
        </p:txBody>
      </p:sp>
      <p:sp>
        <p:nvSpPr>
          <p:cNvPr id="18435" name="Title 1">
            <a:extLst>
              <a:ext uri="{FF2B5EF4-FFF2-40B4-BE49-F238E27FC236}">
                <a16:creationId xmlns:a16="http://schemas.microsoft.com/office/drawing/2014/main" id="{7AD2E355-6B1F-44F3-868C-6F8470C48CDF}"/>
              </a:ext>
            </a:extLst>
          </p:cNvPr>
          <p:cNvSpPr>
            <a:spLocks noGrp="1" noChangeArrowheads="1"/>
          </p:cNvSpPr>
          <p:nvPr>
            <p:ph type="title"/>
          </p:nvPr>
        </p:nvSpPr>
        <p:spPr>
          <a:xfrm>
            <a:off x="2536826" y="176213"/>
            <a:ext cx="7673975" cy="576262"/>
          </a:xfrm>
        </p:spPr>
        <p:txBody>
          <a:bodyPr/>
          <a:lstStyle/>
          <a:p>
            <a:pPr eaLnBrk="1" hangingPunct="1"/>
            <a:r>
              <a:rPr lang="zh-CN" altLang="en-US" dirty="0">
                <a:latin typeface="微软雅黑" panose="020B0503020204020204" pitchFamily="34" charset="-122"/>
                <a:ea typeface="微软雅黑" panose="020B0503020204020204" pitchFamily="34" charset="-122"/>
              </a:rPr>
              <a:t>多核编程</a:t>
            </a: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26B5669-4A27-4EBA-8A7F-F26A7F1DCB87}"/>
              </a:ext>
            </a:extLst>
          </p:cNvPr>
          <p:cNvSpPr>
            <a:spLocks noGrp="1" noChangeArrowheads="1"/>
          </p:cNvSpPr>
          <p:nvPr>
            <p:ph type="title"/>
          </p:nvPr>
        </p:nvSpPr>
        <p:spPr>
          <a:xfrm>
            <a:off x="1981200" y="201613"/>
            <a:ext cx="8229600" cy="576262"/>
          </a:xfrm>
        </p:spPr>
        <p:txBody>
          <a:bodyPr/>
          <a:lstStyle/>
          <a:p>
            <a:pPr eaLnBrk="1" hangingPunct="1"/>
            <a:r>
              <a:rPr lang="en-US" altLang="en-US" dirty="0">
                <a:latin typeface="微软雅黑" panose="020B0503020204020204" pitchFamily="34" charset="-122"/>
                <a:ea typeface="微软雅黑" panose="020B0503020204020204" pitchFamily="34" charset="-122"/>
              </a:rPr>
              <a:t>Amdahl（</a:t>
            </a:r>
            <a:r>
              <a:rPr lang="zh-CN" altLang="en-US" dirty="0">
                <a:latin typeface="微软雅黑" panose="020B0503020204020204" pitchFamily="34" charset="-122"/>
                <a:ea typeface="微软雅黑" panose="020B0503020204020204" pitchFamily="34" charset="-122"/>
              </a:rPr>
              <a:t>阿姆达尔</a:t>
            </a:r>
            <a:r>
              <a:rPr lang="en-US" altLang="en-US"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定律</a:t>
            </a:r>
            <a:endParaRPr lang="en-US" altLang="en-US" dirty="0">
              <a:latin typeface="微软雅黑" panose="020B0503020204020204" pitchFamily="34" charset="-122"/>
              <a:ea typeface="微软雅黑" panose="020B0503020204020204" pitchFamily="34" charset="-122"/>
            </a:endParaRPr>
          </a:p>
        </p:txBody>
      </p:sp>
      <p:sp>
        <p:nvSpPr>
          <p:cNvPr id="24579" name="Rectangle 3">
            <a:extLst>
              <a:ext uri="{FF2B5EF4-FFF2-40B4-BE49-F238E27FC236}">
                <a16:creationId xmlns:a16="http://schemas.microsoft.com/office/drawing/2014/main" id="{B7640FE7-3FB5-4906-B6C8-E9D5DE8DB18B}"/>
              </a:ext>
            </a:extLst>
          </p:cNvPr>
          <p:cNvSpPr>
            <a:spLocks noGrp="1" noChangeArrowheads="1"/>
          </p:cNvSpPr>
          <p:nvPr>
            <p:ph idx="1"/>
          </p:nvPr>
        </p:nvSpPr>
        <p:spPr>
          <a:xfrm>
            <a:off x="727364" y="1078635"/>
            <a:ext cx="10941627" cy="5387829"/>
          </a:xfrm>
        </p:spPr>
        <p:txBody>
          <a:bodyPr/>
          <a:lstStyle/>
          <a:p>
            <a:r>
              <a:rPr lang="zh-CN" altLang="en-US" b="0" dirty="0">
                <a:latin typeface="微软雅黑" panose="020B0503020204020204" pitchFamily="34" charset="-122"/>
                <a:ea typeface="微软雅黑" panose="020B0503020204020204" pitchFamily="34" charset="-122"/>
              </a:rPr>
              <a:t>该公式确定由于</a:t>
            </a:r>
            <a:r>
              <a:rPr lang="zh-CN" altLang="en-US" dirty="0">
                <a:latin typeface="微软雅黑" panose="020B0503020204020204" pitchFamily="34" charset="-122"/>
                <a:ea typeface="微软雅黑" panose="020B0503020204020204" pitchFamily="34" charset="-122"/>
              </a:rPr>
              <a:t>额外计算核的增加潜在地</a:t>
            </a:r>
            <a:r>
              <a:rPr lang="zh-CN" altLang="en-US" dirty="0"/>
              <a:t>改进</a:t>
            </a:r>
            <a:r>
              <a:rPr lang="zh-CN" altLang="en-US" dirty="0">
                <a:latin typeface="微软雅黑" panose="020B0503020204020204" pitchFamily="34" charset="-122"/>
                <a:ea typeface="微软雅黑" panose="020B0503020204020204" pitchFamily="34" charset="-122"/>
              </a:rPr>
              <a:t>性能</a:t>
            </a:r>
            <a:endParaRPr lang="en-US" altLang="zh-CN"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如果</a:t>
            </a:r>
            <a:r>
              <a:rPr lang="en-US" altLang="zh-CN" b="0" dirty="0">
                <a:latin typeface="微软雅黑" panose="020B0503020204020204" pitchFamily="34" charset="-122"/>
                <a:ea typeface="微软雅黑" panose="020B0503020204020204" pitchFamily="34" charset="-122"/>
              </a:rPr>
              <a:t>S</a:t>
            </a:r>
            <a:r>
              <a:rPr lang="zh-CN" altLang="en-US" b="0" dirty="0">
                <a:latin typeface="微软雅黑" panose="020B0503020204020204" pitchFamily="34" charset="-122"/>
                <a:ea typeface="微软雅黑" panose="020B0503020204020204" pitchFamily="34" charset="-122"/>
              </a:rPr>
              <a:t>是应用程序的一部分，它在具有</a:t>
            </a:r>
            <a:r>
              <a:rPr lang="en-US" altLang="zh-CN" b="0" dirty="0">
                <a:latin typeface="微软雅黑" panose="020B0503020204020204" pitchFamily="34" charset="-122"/>
                <a:ea typeface="微软雅黑" panose="020B0503020204020204" pitchFamily="34" charset="-122"/>
              </a:rPr>
              <a:t>N</a:t>
            </a:r>
            <a:r>
              <a:rPr lang="zh-CN" altLang="en-US" b="0" dirty="0">
                <a:latin typeface="微软雅黑" panose="020B0503020204020204" pitchFamily="34" charset="-122"/>
                <a:ea typeface="微软雅黑" panose="020B0503020204020204" pitchFamily="34" charset="-122"/>
              </a:rPr>
              <a:t>个处理核的系统上可以串行执行，那么该公式如下</a:t>
            </a:r>
            <a:endParaRPr lang="en-US" altLang="en-US" b="0" dirty="0">
              <a:latin typeface="微软雅黑" panose="020B0503020204020204" pitchFamily="34" charset="-122"/>
              <a:ea typeface="微软雅黑" panose="020B0503020204020204" pitchFamily="34" charset="-122"/>
            </a:endParaRPr>
          </a:p>
          <a:p>
            <a:endParaRPr lang="en-US" altLang="en-US" b="0" dirty="0">
              <a:latin typeface="微软雅黑" panose="020B0503020204020204" pitchFamily="34" charset="-122"/>
              <a:ea typeface="微软雅黑" panose="020B0503020204020204" pitchFamily="34" charset="-122"/>
            </a:endParaRPr>
          </a:p>
          <a:p>
            <a:pPr>
              <a:buFont typeface="Monotype Sorts" pitchFamily="-84" charset="2"/>
              <a:buNone/>
            </a:pPr>
            <a:endParaRPr lang="en-US" altLang="en-US" b="0" dirty="0">
              <a:latin typeface="微软雅黑" panose="020B0503020204020204" pitchFamily="34" charset="-122"/>
              <a:ea typeface="微软雅黑" panose="020B0503020204020204" pitchFamily="34" charset="-122"/>
            </a:endParaRPr>
          </a:p>
          <a:p>
            <a:pPr>
              <a:buFont typeface="Monotype Sorts" pitchFamily="-84" charset="2"/>
              <a:buNone/>
            </a:pPr>
            <a:endParaRPr lang="en-US" altLang="en-US" b="0" dirty="0">
              <a:latin typeface="微软雅黑" panose="020B0503020204020204" pitchFamily="34" charset="-122"/>
              <a:ea typeface="微软雅黑" panose="020B0503020204020204" pitchFamily="34" charset="-122"/>
            </a:endParaRPr>
          </a:p>
          <a:p>
            <a:r>
              <a:rPr lang="zh-CN" altLang="en-US" b="0" dirty="0">
                <a:latin typeface="微软雅黑" panose="020B0503020204020204" pitchFamily="34" charset="-122"/>
                <a:ea typeface="微软雅黑" panose="020B0503020204020204" pitchFamily="34" charset="-122"/>
              </a:rPr>
              <a:t>也就是说，如果应用程序的</a:t>
            </a:r>
            <a:r>
              <a:rPr lang="en-US" altLang="zh-CN" b="0" dirty="0">
                <a:latin typeface="微软雅黑" panose="020B0503020204020204" pitchFamily="34" charset="-122"/>
                <a:ea typeface="微软雅黑" panose="020B0503020204020204" pitchFamily="34" charset="-122"/>
              </a:rPr>
              <a:t>75%</a:t>
            </a:r>
            <a:r>
              <a:rPr lang="zh-CN" altLang="en-US" b="0" dirty="0">
                <a:latin typeface="微软雅黑" panose="020B0503020204020204" pitchFamily="34" charset="-122"/>
                <a:ea typeface="微软雅黑" panose="020B0503020204020204" pitchFamily="34" charset="-122"/>
              </a:rPr>
              <a:t>并行而</a:t>
            </a:r>
            <a:r>
              <a:rPr lang="en-US" altLang="zh-CN" b="0" dirty="0">
                <a:latin typeface="微软雅黑" panose="020B0503020204020204" pitchFamily="34" charset="-122"/>
                <a:ea typeface="微软雅黑" panose="020B0503020204020204" pitchFamily="34" charset="-122"/>
              </a:rPr>
              <a:t>25%</a:t>
            </a:r>
            <a:r>
              <a:rPr lang="zh-CN" altLang="en-US" b="0" dirty="0">
                <a:latin typeface="微软雅黑" panose="020B0503020204020204" pitchFamily="34" charset="-122"/>
                <a:ea typeface="微软雅黑" panose="020B0503020204020204" pitchFamily="34" charset="-122"/>
              </a:rPr>
              <a:t>串行，在具有两个处理核的系统上运行这个程序， 能得到</a:t>
            </a:r>
            <a:r>
              <a:rPr lang="en-US" altLang="zh-CN" b="0" dirty="0">
                <a:latin typeface="微软雅黑" panose="020B0503020204020204" pitchFamily="34" charset="-122"/>
                <a:ea typeface="微软雅黑" panose="020B0503020204020204" pitchFamily="34" charset="-122"/>
              </a:rPr>
              <a:t>1.6</a:t>
            </a:r>
            <a:r>
              <a:rPr lang="zh-CN" altLang="en-US" b="0" dirty="0">
                <a:latin typeface="微软雅黑" panose="020B0503020204020204" pitchFamily="34" charset="-122"/>
                <a:ea typeface="微软雅黑" panose="020B0503020204020204" pitchFamily="34" charset="-122"/>
              </a:rPr>
              <a:t>倍的加速比</a:t>
            </a:r>
          </a:p>
          <a:p>
            <a:r>
              <a:rPr lang="zh-CN" altLang="en-US" b="0" dirty="0">
                <a:latin typeface="微软雅黑" panose="020B0503020204020204" pitchFamily="34" charset="-122"/>
                <a:ea typeface="微软雅黑" panose="020B0503020204020204" pitchFamily="34" charset="-122"/>
              </a:rPr>
              <a:t>随着</a:t>
            </a:r>
            <a:r>
              <a:rPr lang="en-US" altLang="zh-CN" b="0" dirty="0">
                <a:latin typeface="微软雅黑" panose="020B0503020204020204" pitchFamily="34" charset="-122"/>
                <a:ea typeface="微软雅黑" panose="020B0503020204020204" pitchFamily="34" charset="-122"/>
              </a:rPr>
              <a:t>N</a:t>
            </a:r>
            <a:r>
              <a:rPr lang="zh-CN" altLang="en-US" b="0" dirty="0">
                <a:latin typeface="微软雅黑" panose="020B0503020204020204" pitchFamily="34" charset="-122"/>
                <a:ea typeface="微软雅黑" panose="020B0503020204020204" pitchFamily="34" charset="-122"/>
              </a:rPr>
              <a:t>趋于无穷大，加速比收敛到</a:t>
            </a:r>
            <a:r>
              <a:rPr lang="en-US" altLang="zh-CN" b="0" dirty="0">
                <a:latin typeface="微软雅黑" panose="020B0503020204020204" pitchFamily="34" charset="-122"/>
                <a:ea typeface="微软雅黑" panose="020B0503020204020204" pitchFamily="34" charset="-122"/>
              </a:rPr>
              <a:t>1/S</a:t>
            </a:r>
          </a:p>
          <a:p>
            <a:r>
              <a:rPr lang="zh-CN" altLang="en-US" b="0" dirty="0">
                <a:latin typeface="微软雅黑" panose="020B0503020204020204" pitchFamily="34" charset="-122"/>
                <a:ea typeface="微软雅黑" panose="020B0503020204020204" pitchFamily="34" charset="-122"/>
              </a:rPr>
              <a:t>对于通过增加额外计算核而获得的性能，应用程序的串行部分可能具有不成比例的效果</a:t>
            </a:r>
            <a:endParaRPr lang="en-US" altLang="zh-CN" b="0" dirty="0">
              <a:latin typeface="微软雅黑" panose="020B0503020204020204" pitchFamily="34" charset="-122"/>
              <a:ea typeface="微软雅黑" panose="020B0503020204020204" pitchFamily="34" charset="-122"/>
            </a:endParaRPr>
          </a:p>
          <a:p>
            <a:pPr>
              <a:buFont typeface="Monotype Sorts" pitchFamily="-84" charset="2"/>
              <a:buNone/>
            </a:pPr>
            <a:endParaRPr lang="en-US" altLang="en-US" b="0" dirty="0">
              <a:latin typeface="微软雅黑" panose="020B0503020204020204" pitchFamily="34" charset="-122"/>
              <a:ea typeface="微软雅黑" panose="020B0503020204020204" pitchFamily="34" charset="-122"/>
            </a:endParaRPr>
          </a:p>
        </p:txBody>
      </p:sp>
      <p:grpSp>
        <p:nvGrpSpPr>
          <p:cNvPr id="24580" name="组合 2">
            <a:extLst>
              <a:ext uri="{FF2B5EF4-FFF2-40B4-BE49-F238E27FC236}">
                <a16:creationId xmlns:a16="http://schemas.microsoft.com/office/drawing/2014/main" id="{1280C7DF-9920-4F87-85B3-855811949838}"/>
              </a:ext>
            </a:extLst>
          </p:cNvPr>
          <p:cNvGrpSpPr>
            <a:grpSpLocks/>
          </p:cNvGrpSpPr>
          <p:nvPr/>
        </p:nvGrpSpPr>
        <p:grpSpPr bwMode="auto">
          <a:xfrm>
            <a:off x="4880768" y="2699834"/>
            <a:ext cx="2430463" cy="906462"/>
            <a:chOff x="3356768" y="1990725"/>
            <a:chExt cx="2430463" cy="906463"/>
          </a:xfrm>
        </p:grpSpPr>
        <p:pic>
          <p:nvPicPr>
            <p:cNvPr id="24581" name="Picture 1" descr="Screen Shot 2012-12-04 at 7.54.07 PM.png">
              <a:extLst>
                <a:ext uri="{FF2B5EF4-FFF2-40B4-BE49-F238E27FC236}">
                  <a16:creationId xmlns:a16="http://schemas.microsoft.com/office/drawing/2014/main" id="{7EAF97C3-35B2-4BD1-A609-605BCFC766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6768" y="1990725"/>
              <a:ext cx="2430463"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矩形 1">
              <a:extLst>
                <a:ext uri="{FF2B5EF4-FFF2-40B4-BE49-F238E27FC236}">
                  <a16:creationId xmlns:a16="http://schemas.microsoft.com/office/drawing/2014/main" id="{8B5B6B39-FCC2-4DA2-AA87-A6D55FB61B17}"/>
                </a:ext>
              </a:extLst>
            </p:cNvPr>
            <p:cNvSpPr>
              <a:spLocks noChangeArrowheads="1"/>
            </p:cNvSpPr>
            <p:nvPr/>
          </p:nvSpPr>
          <p:spPr bwMode="auto">
            <a:xfrm>
              <a:off x="3597442" y="2273972"/>
              <a:ext cx="806116" cy="457200"/>
            </a:xfrm>
            <a:prstGeom prst="rect">
              <a:avLst/>
            </a:prstGeom>
            <a:solidFill>
              <a:srgbClr val="C7E7F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zh-CN" altLang="en-US">
                  <a:latin typeface="微软雅黑" panose="020B0503020204020204" pitchFamily="34" charset="-122"/>
                  <a:ea typeface="微软雅黑" panose="020B0503020204020204" pitchFamily="34" charset="-122"/>
                </a:rPr>
                <a:t>加速比</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D45F3F9-F5A4-4C93-8B76-9E513B148CAE}"/>
              </a:ext>
            </a:extLst>
          </p:cNvPr>
          <p:cNvSpPr>
            <a:spLocks noGrp="1" noChangeArrowheads="1"/>
          </p:cNvSpPr>
          <p:nvPr>
            <p:ph type="title"/>
          </p:nvPr>
        </p:nvSpPr>
        <p:spPr>
          <a:xfrm>
            <a:off x="2460626" y="201613"/>
            <a:ext cx="7826375" cy="576262"/>
          </a:xfrm>
        </p:spPr>
        <p:txBody>
          <a:bodyPr/>
          <a:lstStyle/>
          <a:p>
            <a:pPr eaLnBrk="1" hangingPunct="1"/>
            <a:r>
              <a:rPr lang="en-US" altLang="zh-CN" dirty="0">
                <a:latin typeface="微软雅黑" panose="020B0503020204020204" pitchFamily="34" charset="-122"/>
                <a:ea typeface="微软雅黑" panose="020B0503020204020204" pitchFamily="34" charset="-122"/>
              </a:rPr>
              <a:t>4.3 </a:t>
            </a:r>
            <a:r>
              <a:rPr lang="zh-CN" altLang="en-US" dirty="0">
                <a:latin typeface="微软雅黑" panose="020B0503020204020204" pitchFamily="34" charset="-122"/>
                <a:ea typeface="微软雅黑" panose="020B0503020204020204" pitchFamily="34" charset="-122"/>
              </a:rPr>
              <a:t>多线程模型</a:t>
            </a:r>
            <a:endParaRPr lang="en-US" altLang="en-US" dirty="0">
              <a:latin typeface="微软雅黑" panose="020B0503020204020204" pitchFamily="34" charset="-122"/>
              <a:ea typeface="微软雅黑" panose="020B0503020204020204" pitchFamily="34" charset="-122"/>
            </a:endParaRPr>
          </a:p>
        </p:txBody>
      </p:sp>
      <p:sp>
        <p:nvSpPr>
          <p:cNvPr id="26627" name="Rectangle 3">
            <a:extLst>
              <a:ext uri="{FF2B5EF4-FFF2-40B4-BE49-F238E27FC236}">
                <a16:creationId xmlns:a16="http://schemas.microsoft.com/office/drawing/2014/main" id="{9F173FBB-5F9F-4B1E-A8ED-A16E2168E363}"/>
              </a:ext>
            </a:extLst>
          </p:cNvPr>
          <p:cNvSpPr>
            <a:spLocks noGrp="1" noChangeArrowheads="1"/>
          </p:cNvSpPr>
          <p:nvPr>
            <p:ph idx="1"/>
          </p:nvPr>
        </p:nvSpPr>
        <p:spPr>
          <a:xfrm>
            <a:off x="666286" y="986613"/>
            <a:ext cx="9302750" cy="4530725"/>
          </a:xfrm>
        </p:spPr>
        <p:txBody>
          <a:bodyPr/>
          <a:lstStyle/>
          <a:p>
            <a:pPr>
              <a:lnSpc>
                <a:spcPct val="150000"/>
              </a:lnSpc>
              <a:spcBef>
                <a:spcPts val="0"/>
              </a:spcBef>
            </a:pPr>
            <a:r>
              <a:rPr lang="zh-CN" altLang="en-US" b="1" dirty="0">
                <a:latin typeface="微软雅黑" panose="020B0503020204020204" pitchFamily="34" charset="-122"/>
                <a:ea typeface="微软雅黑" panose="020B0503020204020204" pitchFamily="34" charset="-122"/>
              </a:rPr>
              <a:t>现代操作系统中的线程模型</a:t>
            </a:r>
            <a:endParaRPr lang="en-US" altLang="zh-CN" b="1"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b="1" dirty="0"/>
              <a:t>用户线程</a:t>
            </a:r>
            <a:endParaRPr lang="en-US" altLang="zh-CN" b="1" dirty="0"/>
          </a:p>
          <a:p>
            <a:pPr lvl="1">
              <a:lnSpc>
                <a:spcPct val="150000"/>
              </a:lnSpc>
              <a:spcBef>
                <a:spcPts val="0"/>
              </a:spcBef>
            </a:pPr>
            <a:r>
              <a:rPr lang="zh-CN" altLang="en-US" b="1" dirty="0">
                <a:latin typeface="微软雅黑" panose="020B0503020204020204" pitchFamily="34" charset="-122"/>
                <a:ea typeface="微软雅黑" panose="020B0503020204020204" pitchFamily="34" charset="-122"/>
              </a:rPr>
              <a:t>内核线程</a:t>
            </a:r>
            <a:endParaRPr lang="zh-CN" altLang="en-US" dirty="0">
              <a:latin typeface="微软雅黑" panose="020B0503020204020204" pitchFamily="34" charset="-122"/>
              <a:ea typeface="微软雅黑" panose="020B0503020204020204" pitchFamily="34" charset="-122"/>
            </a:endParaRPr>
          </a:p>
          <a:p>
            <a:pPr>
              <a:lnSpc>
                <a:spcPct val="150000"/>
              </a:lnSpc>
              <a:spcBef>
                <a:spcPts val="0"/>
              </a:spcBef>
            </a:pPr>
            <a:r>
              <a:rPr lang="zh-CN" altLang="en-US" dirty="0">
                <a:latin typeface="微软雅黑" panose="020B0503020204020204" pitchFamily="34" charset="-122"/>
                <a:ea typeface="微软雅黑" panose="020B0503020204020204" pitchFamily="34" charset="-122"/>
              </a:rPr>
              <a:t>用户线程</a:t>
            </a:r>
            <a:endParaRPr lang="en-US" altLang="zh-CN"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dirty="0"/>
              <a:t>内核层之上，应用程序中使用的并行</a:t>
            </a:r>
            <a:r>
              <a:rPr lang="en-US" altLang="zh-CN" dirty="0"/>
              <a:t>/</a:t>
            </a:r>
            <a:r>
              <a:rPr lang="zh-CN" altLang="en-US" dirty="0"/>
              <a:t>并发程序，由</a:t>
            </a:r>
            <a:r>
              <a:rPr lang="zh-CN" altLang="en-US" b="1" dirty="0"/>
              <a:t>用户级线程库</a:t>
            </a:r>
            <a:r>
              <a:rPr lang="zh-CN" altLang="en-US" dirty="0"/>
              <a:t>管理</a:t>
            </a:r>
            <a:endParaRPr lang="en-US" altLang="zh-CN" dirty="0"/>
          </a:p>
          <a:p>
            <a:pPr lvl="2">
              <a:lnSpc>
                <a:spcPct val="150000"/>
              </a:lnSpc>
              <a:spcBef>
                <a:spcPts val="0"/>
              </a:spcBef>
            </a:pPr>
            <a:r>
              <a:rPr lang="en-US" altLang="en-US" b="1" dirty="0">
                <a:solidFill>
                  <a:srgbClr val="0070C0"/>
                </a:solidFill>
                <a:latin typeface="微软雅黑" panose="020B0503020204020204" pitchFamily="34" charset="-122"/>
                <a:ea typeface="微软雅黑" panose="020B0503020204020204" pitchFamily="34" charset="-122"/>
              </a:rPr>
              <a:t>POSIX </a:t>
            </a:r>
            <a:r>
              <a:rPr lang="en-US" altLang="en-US" b="1" dirty="0" err="1">
                <a:solidFill>
                  <a:srgbClr val="0070C0"/>
                </a:solidFill>
                <a:latin typeface="微软雅黑" panose="020B0503020204020204" pitchFamily="34" charset="-122"/>
                <a:ea typeface="微软雅黑" panose="020B0503020204020204" pitchFamily="34" charset="-122"/>
              </a:rPr>
              <a:t>Pthreads</a:t>
            </a:r>
            <a:r>
              <a:rPr lang="en-US" altLang="en-US" b="1" i="1" dirty="0">
                <a:solidFill>
                  <a:srgbClr val="0070C0"/>
                </a:solidFill>
                <a:latin typeface="微软雅黑" panose="020B0503020204020204" pitchFamily="34" charset="-122"/>
                <a:ea typeface="微软雅黑" panose="020B0503020204020204" pitchFamily="34" charset="-122"/>
              </a:rPr>
              <a:t>,</a:t>
            </a:r>
            <a:r>
              <a:rPr lang="zh-CN" altLang="en-US" b="1" i="1" dirty="0">
                <a:solidFill>
                  <a:srgbClr val="0070C0"/>
                </a:solidFill>
                <a:latin typeface="微软雅黑" panose="020B0503020204020204" pitchFamily="34" charset="-122"/>
                <a:ea typeface="微软雅黑" panose="020B0503020204020204" pitchFamily="34" charset="-122"/>
              </a:rPr>
              <a:t> </a:t>
            </a:r>
            <a:r>
              <a:rPr lang="en-US" altLang="en-US" b="1" dirty="0">
                <a:solidFill>
                  <a:srgbClr val="0070C0"/>
                </a:solidFill>
                <a:latin typeface="微软雅黑" panose="020B0503020204020204" pitchFamily="34" charset="-122"/>
                <a:ea typeface="微软雅黑" panose="020B0503020204020204" pitchFamily="34" charset="-122"/>
              </a:rPr>
              <a:t>Windows threads, Java threads</a:t>
            </a:r>
          </a:p>
          <a:p>
            <a:pPr>
              <a:lnSpc>
                <a:spcPct val="150000"/>
              </a:lnSpc>
              <a:spcBef>
                <a:spcPts val="0"/>
              </a:spcBef>
            </a:pPr>
            <a:r>
              <a:rPr lang="zh-CN" altLang="en-US" b="1" dirty="0">
                <a:latin typeface="微软雅黑" panose="020B0503020204020204" pitchFamily="34" charset="-122"/>
                <a:ea typeface="微软雅黑" panose="020B0503020204020204" pitchFamily="34" charset="-122"/>
              </a:rPr>
              <a:t>内核线程</a:t>
            </a:r>
            <a:endParaRPr lang="en-US" altLang="zh-CN"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dirty="0"/>
              <a:t>操作系统内核中，支持多个任务并行执行内核系统调用</a:t>
            </a:r>
            <a:endParaRPr lang="en-US" altLang="zh-CN" dirty="0"/>
          </a:p>
          <a:p>
            <a:pPr lvl="1">
              <a:lnSpc>
                <a:spcPct val="150000"/>
              </a:lnSpc>
              <a:spcBef>
                <a:spcPts val="0"/>
              </a:spcBef>
            </a:pPr>
            <a:r>
              <a:rPr lang="zh-CN" altLang="en-US" dirty="0"/>
              <a:t>大多数通用操作系统都支持</a:t>
            </a:r>
            <a:endParaRPr lang="en-US" altLang="zh-CN" dirty="0"/>
          </a:p>
          <a:p>
            <a:pPr lvl="2">
              <a:lnSpc>
                <a:spcPct val="150000"/>
              </a:lnSpc>
              <a:spcBef>
                <a:spcPts val="0"/>
              </a:spcBef>
            </a:pPr>
            <a:r>
              <a:rPr lang="en-US" altLang="en-US" dirty="0">
                <a:latin typeface="微软雅黑" panose="020B0503020204020204" pitchFamily="34" charset="-122"/>
                <a:ea typeface="微软雅黑" panose="020B0503020204020204" pitchFamily="34" charset="-122"/>
              </a:rPr>
              <a:t>Windows</a:t>
            </a:r>
            <a:r>
              <a:rPr lang="en-US" altLang="en-US" dirty="0"/>
              <a:t>,</a:t>
            </a:r>
            <a:r>
              <a:rPr lang="zh-CN" altLang="en-US" dirty="0"/>
              <a:t> </a:t>
            </a:r>
            <a:r>
              <a:rPr lang="en-US" altLang="en-US" dirty="0">
                <a:latin typeface="微软雅黑" panose="020B0503020204020204" pitchFamily="34" charset="-122"/>
                <a:ea typeface="微软雅黑" panose="020B0503020204020204" pitchFamily="34" charset="-122"/>
              </a:rPr>
              <a:t>Solaris, Linux, Tru64 UNIX, Mac OS X</a:t>
            </a:r>
          </a:p>
          <a:p>
            <a:pPr lvl="1">
              <a:lnSpc>
                <a:spcPct val="150000"/>
              </a:lnSpc>
              <a:spcBef>
                <a:spcPts val="0"/>
              </a:spcBef>
            </a:pPr>
            <a:r>
              <a:rPr lang="zh-CN" altLang="en-US" dirty="0">
                <a:latin typeface="微软雅黑" panose="020B0503020204020204" pitchFamily="34" charset="-122"/>
                <a:ea typeface="微软雅黑" panose="020B0503020204020204" pitchFamily="34" charset="-122"/>
              </a:rPr>
              <a:t>在某些实现中，用户线程必须映射到内核线程执行</a:t>
            </a:r>
            <a:endParaRPr lang="en-US"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70983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F037125-2C2A-41F9-85F2-88D26BCD3C62}"/>
              </a:ext>
            </a:extLst>
          </p:cNvPr>
          <p:cNvSpPr>
            <a:spLocks noGrp="1" noChangeArrowheads="1"/>
          </p:cNvSpPr>
          <p:nvPr>
            <p:ph type="title"/>
          </p:nvPr>
        </p:nvSpPr>
        <p:spPr>
          <a:xfrm>
            <a:off x="1981200" y="18891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多线程模型</a:t>
            </a:r>
            <a:endParaRPr lang="en-US" altLang="en-US">
              <a:latin typeface="微软雅黑" panose="020B0503020204020204" pitchFamily="34" charset="-122"/>
              <a:ea typeface="微软雅黑" panose="020B0503020204020204" pitchFamily="34" charset="-122"/>
            </a:endParaRPr>
          </a:p>
        </p:txBody>
      </p:sp>
      <p:sp>
        <p:nvSpPr>
          <p:cNvPr id="28675" name="Rectangle 3">
            <a:extLst>
              <a:ext uri="{FF2B5EF4-FFF2-40B4-BE49-F238E27FC236}">
                <a16:creationId xmlns:a16="http://schemas.microsoft.com/office/drawing/2014/main" id="{CACF6EA0-C9E6-43CF-B352-E9B25D3606B2}"/>
              </a:ext>
            </a:extLst>
          </p:cNvPr>
          <p:cNvSpPr>
            <a:spLocks noGrp="1" noChangeArrowheads="1"/>
          </p:cNvSpPr>
          <p:nvPr>
            <p:ph idx="1"/>
          </p:nvPr>
        </p:nvSpPr>
        <p:spPr/>
        <p:txBody>
          <a:bodyPr/>
          <a:lstStyle/>
          <a:p>
            <a:r>
              <a:rPr lang="zh-CN" altLang="en-US">
                <a:latin typeface="微软雅黑" panose="020B0503020204020204" pitchFamily="34" charset="-122"/>
                <a:ea typeface="微软雅黑" panose="020B0503020204020204" pitchFamily="34" charset="-122"/>
              </a:rPr>
              <a:t>多对一模型</a:t>
            </a:r>
            <a:br>
              <a:rPr lang="en-US" altLang="en-US">
                <a:latin typeface="微软雅黑" panose="020B0503020204020204" pitchFamily="34" charset="-122"/>
                <a:ea typeface="微软雅黑" panose="020B0503020204020204" pitchFamily="34" charset="-122"/>
              </a:rPr>
            </a:br>
            <a:endParaRPr lang="en-US" altLang="en-US">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一对一模型</a:t>
            </a:r>
            <a:br>
              <a:rPr lang="en-US" altLang="en-US">
                <a:latin typeface="微软雅黑" panose="020B0503020204020204" pitchFamily="34" charset="-122"/>
                <a:ea typeface="微软雅黑" panose="020B0503020204020204" pitchFamily="34" charset="-122"/>
              </a:rPr>
            </a:br>
            <a:endParaRPr lang="en-US" altLang="en-US">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多对多模型</a:t>
            </a:r>
            <a:endParaRPr lang="en-US"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4C9D445-D272-4577-A1AF-89DAA4D1D671}"/>
              </a:ext>
            </a:extLst>
          </p:cNvPr>
          <p:cNvSpPr>
            <a:spLocks noGrp="1" noChangeArrowheads="1"/>
          </p:cNvSpPr>
          <p:nvPr>
            <p:ph type="title"/>
          </p:nvPr>
        </p:nvSpPr>
        <p:spPr>
          <a:xfrm>
            <a:off x="1981200" y="17621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多对一模型</a:t>
            </a:r>
            <a:endParaRPr lang="en-US" altLang="en-US">
              <a:latin typeface="微软雅黑" panose="020B0503020204020204" pitchFamily="34" charset="-122"/>
              <a:ea typeface="微软雅黑" panose="020B0503020204020204" pitchFamily="34" charset="-122"/>
            </a:endParaRPr>
          </a:p>
        </p:txBody>
      </p:sp>
      <p:sp>
        <p:nvSpPr>
          <p:cNvPr id="30723" name="Rectangle 3">
            <a:extLst>
              <a:ext uri="{FF2B5EF4-FFF2-40B4-BE49-F238E27FC236}">
                <a16:creationId xmlns:a16="http://schemas.microsoft.com/office/drawing/2014/main" id="{5CC8F28C-E4B5-4974-B8E7-67AB885F4611}"/>
              </a:ext>
            </a:extLst>
          </p:cNvPr>
          <p:cNvSpPr>
            <a:spLocks noGrp="1" noChangeArrowheads="1"/>
          </p:cNvSpPr>
          <p:nvPr>
            <p:ph idx="1"/>
          </p:nvPr>
        </p:nvSpPr>
        <p:spPr>
          <a:xfrm>
            <a:off x="623455" y="1233489"/>
            <a:ext cx="7003471" cy="4530725"/>
          </a:xfrm>
        </p:spPr>
        <p:txBody>
          <a:bodyPr/>
          <a:lstStyle/>
          <a:p>
            <a:pPr algn="just">
              <a:lnSpc>
                <a:spcPct val="150000"/>
              </a:lnSpc>
            </a:pPr>
            <a:r>
              <a:rPr lang="zh-CN" altLang="en-US" dirty="0">
                <a:latin typeface="微软雅黑" panose="020B0503020204020204" pitchFamily="34" charset="-122"/>
                <a:ea typeface="微软雅黑" panose="020B0503020204020204" pitchFamily="34" charset="-122"/>
              </a:rPr>
              <a:t>映射多个用户级线程到一个内核线程</a:t>
            </a:r>
            <a:endParaRPr lang="en-US" altLang="en-US"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一个线程阻塞导致整个进程阻塞</a:t>
            </a:r>
          </a:p>
          <a:p>
            <a:pPr algn="just">
              <a:lnSpc>
                <a:spcPct val="150000"/>
              </a:lnSpc>
            </a:pPr>
            <a:r>
              <a:rPr lang="zh-CN" altLang="en-US" b="0" dirty="0">
                <a:latin typeface="微软雅黑" panose="020B0503020204020204" pitchFamily="34" charset="-122"/>
                <a:ea typeface="微软雅黑" panose="020B0503020204020204" pitchFamily="34" charset="-122"/>
              </a:rPr>
              <a:t>多线程不能在多核系统上并行运行，因为任一时间只有一个线程可以访问内核</a:t>
            </a:r>
            <a:endParaRPr lang="en-US" altLang="zh-CN" b="0"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目前很少有系统使用这个模型</a:t>
            </a:r>
          </a:p>
          <a:p>
            <a:pPr algn="just">
              <a:lnSpc>
                <a:spcPct val="150000"/>
              </a:lnSpc>
            </a:pPr>
            <a:r>
              <a:rPr lang="zh-CN" altLang="en-US" dirty="0">
                <a:latin typeface="微软雅黑" panose="020B0503020204020204" pitchFamily="34" charset="-122"/>
                <a:ea typeface="微软雅黑" panose="020B0503020204020204" pitchFamily="34" charset="-122"/>
              </a:rPr>
              <a:t>例子：</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en-US" altLang="en-US" b="1" dirty="0">
                <a:solidFill>
                  <a:srgbClr val="0070C0"/>
                </a:solidFill>
              </a:rPr>
              <a:t>Solaris Green Threads</a:t>
            </a:r>
          </a:p>
          <a:p>
            <a:pPr lvl="1">
              <a:lnSpc>
                <a:spcPct val="150000"/>
              </a:lnSpc>
            </a:pPr>
            <a:r>
              <a:rPr lang="en-US" altLang="en-US" b="1" dirty="0">
                <a:solidFill>
                  <a:srgbClr val="0070C0"/>
                </a:solidFill>
              </a:rPr>
              <a:t>GNU Portable Threads</a:t>
            </a:r>
          </a:p>
        </p:txBody>
      </p:sp>
      <p:grpSp>
        <p:nvGrpSpPr>
          <p:cNvPr id="30724" name="组合 2">
            <a:extLst>
              <a:ext uri="{FF2B5EF4-FFF2-40B4-BE49-F238E27FC236}">
                <a16:creationId xmlns:a16="http://schemas.microsoft.com/office/drawing/2014/main" id="{03F2A786-19F2-4C3D-8B36-7C130E57005D}"/>
              </a:ext>
            </a:extLst>
          </p:cNvPr>
          <p:cNvGrpSpPr>
            <a:grpSpLocks/>
          </p:cNvGrpSpPr>
          <p:nvPr/>
        </p:nvGrpSpPr>
        <p:grpSpPr bwMode="auto">
          <a:xfrm>
            <a:off x="8331201" y="2090594"/>
            <a:ext cx="3032125" cy="3109913"/>
            <a:chOff x="5778500" y="2339975"/>
            <a:chExt cx="3032625" cy="3109833"/>
          </a:xfrm>
        </p:grpSpPr>
        <p:pic>
          <p:nvPicPr>
            <p:cNvPr id="30725" name="Picture 1" descr="4_05.pdf">
              <a:extLst>
                <a:ext uri="{FF2B5EF4-FFF2-40B4-BE49-F238E27FC236}">
                  <a16:creationId xmlns:a16="http://schemas.microsoft.com/office/drawing/2014/main" id="{88295334-E22A-4219-A97A-86DDC0852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500" y="2339975"/>
              <a:ext cx="2743200" cy="305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矩形 1">
              <a:extLst>
                <a:ext uri="{FF2B5EF4-FFF2-40B4-BE49-F238E27FC236}">
                  <a16:creationId xmlns:a16="http://schemas.microsoft.com/office/drawing/2014/main" id="{EFF9CA10-347E-4AD4-ABB4-70413E23E279}"/>
                </a:ext>
              </a:extLst>
            </p:cNvPr>
            <p:cNvSpPr>
              <a:spLocks noChangeArrowheads="1"/>
            </p:cNvSpPr>
            <p:nvPr/>
          </p:nvSpPr>
          <p:spPr bwMode="auto">
            <a:xfrm>
              <a:off x="7863974" y="2791328"/>
              <a:ext cx="947151" cy="445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用户线程</a:t>
              </a:r>
            </a:p>
          </p:txBody>
        </p:sp>
        <p:sp>
          <p:nvSpPr>
            <p:cNvPr id="30727" name="矩形 5">
              <a:extLst>
                <a:ext uri="{FF2B5EF4-FFF2-40B4-BE49-F238E27FC236}">
                  <a16:creationId xmlns:a16="http://schemas.microsoft.com/office/drawing/2014/main" id="{ED51D325-FD6A-4475-A3AC-231D79DB952A}"/>
                </a:ext>
              </a:extLst>
            </p:cNvPr>
            <p:cNvSpPr>
              <a:spLocks noChangeArrowheads="1"/>
            </p:cNvSpPr>
            <p:nvPr/>
          </p:nvSpPr>
          <p:spPr bwMode="auto">
            <a:xfrm>
              <a:off x="7195556" y="5004639"/>
              <a:ext cx="947151" cy="445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内核线程</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7E2FE34-B497-4CB7-8C69-F282162A03D8}"/>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一对一模型</a:t>
            </a:r>
            <a:endParaRPr lang="en-US" altLang="en-US">
              <a:latin typeface="微软雅黑" panose="020B0503020204020204" pitchFamily="34" charset="-122"/>
              <a:ea typeface="微软雅黑" panose="020B0503020204020204" pitchFamily="34" charset="-122"/>
            </a:endParaRPr>
          </a:p>
        </p:txBody>
      </p:sp>
      <p:sp>
        <p:nvSpPr>
          <p:cNvPr id="32771" name="Rectangle 3">
            <a:extLst>
              <a:ext uri="{FF2B5EF4-FFF2-40B4-BE49-F238E27FC236}">
                <a16:creationId xmlns:a16="http://schemas.microsoft.com/office/drawing/2014/main" id="{6A3E730D-87EF-4973-B3DF-21D8CCFF93D1}"/>
              </a:ext>
            </a:extLst>
          </p:cNvPr>
          <p:cNvSpPr>
            <a:spLocks noGrp="1" noChangeArrowheads="1"/>
          </p:cNvSpPr>
          <p:nvPr>
            <p:ph idx="1"/>
          </p:nvPr>
        </p:nvSpPr>
        <p:spPr>
          <a:xfrm>
            <a:off x="609600" y="1056843"/>
            <a:ext cx="10972800" cy="4530725"/>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映射每个用户线程到一个内核线程</a:t>
            </a:r>
            <a:endParaRPr lang="en-US" altLang="en-US"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创建一个用户线程就要创建一个相应的内核线程</a:t>
            </a:r>
          </a:p>
          <a:p>
            <a:pPr>
              <a:lnSpc>
                <a:spcPct val="150000"/>
              </a:lnSpc>
            </a:pPr>
            <a:r>
              <a:rPr lang="zh-CN" altLang="en-US" dirty="0">
                <a:latin typeface="微软雅黑" panose="020B0503020204020204" pitchFamily="34" charset="-122"/>
                <a:ea typeface="微软雅黑" panose="020B0503020204020204" pitchFamily="34" charset="-122"/>
              </a:rPr>
              <a:t>提供比多对一更高的并发性</a:t>
            </a:r>
          </a:p>
          <a:p>
            <a:pPr>
              <a:lnSpc>
                <a:spcPct val="150000"/>
              </a:lnSpc>
            </a:pPr>
            <a:r>
              <a:rPr lang="zh-CN" altLang="en-US" dirty="0">
                <a:latin typeface="微软雅黑" panose="020B0503020204020204" pitchFamily="34" charset="-122"/>
                <a:ea typeface="微软雅黑" panose="020B0503020204020204" pitchFamily="34" charset="-122"/>
              </a:rPr>
              <a:t>创建内核线程的开销会影响应用程序的性能，所以限制了系统支持的线程数</a:t>
            </a:r>
          </a:p>
          <a:p>
            <a:pPr>
              <a:lnSpc>
                <a:spcPct val="150000"/>
              </a:lnSpc>
            </a:pPr>
            <a:r>
              <a:rPr lang="zh-CN" altLang="en-US" dirty="0">
                <a:latin typeface="微软雅黑" panose="020B0503020204020204" pitchFamily="34" charset="-122"/>
                <a:ea typeface="微软雅黑" panose="020B0503020204020204" pitchFamily="34" charset="-122"/>
              </a:rPr>
              <a:t>例子：</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en-US" altLang="en-US" b="1" dirty="0">
                <a:solidFill>
                  <a:srgbClr val="0070C0"/>
                </a:solidFill>
                <a:latin typeface="微软雅黑" panose="020B0503020204020204" pitchFamily="34" charset="-122"/>
                <a:ea typeface="微软雅黑" panose="020B0503020204020204" pitchFamily="34" charset="-122"/>
              </a:rPr>
              <a:t>Windows</a:t>
            </a:r>
          </a:p>
          <a:p>
            <a:pPr lvl="1">
              <a:lnSpc>
                <a:spcPct val="150000"/>
              </a:lnSpc>
            </a:pPr>
            <a:r>
              <a:rPr lang="en-US" altLang="en-US" b="1" dirty="0">
                <a:solidFill>
                  <a:srgbClr val="0070C0"/>
                </a:solidFill>
                <a:latin typeface="微软雅黑" panose="020B0503020204020204" pitchFamily="34" charset="-122"/>
                <a:ea typeface="微软雅黑" panose="020B0503020204020204" pitchFamily="34" charset="-122"/>
              </a:rPr>
              <a:t>Linux</a:t>
            </a:r>
          </a:p>
          <a:p>
            <a:pPr lvl="1">
              <a:lnSpc>
                <a:spcPct val="150000"/>
              </a:lnSpc>
            </a:pPr>
            <a:r>
              <a:rPr lang="en-US" altLang="en-US" b="1" dirty="0">
                <a:solidFill>
                  <a:srgbClr val="0070C0"/>
                </a:solidFill>
                <a:latin typeface="微软雅黑" panose="020B0503020204020204" pitchFamily="34" charset="-122"/>
                <a:ea typeface="微软雅黑" panose="020B0503020204020204" pitchFamily="34" charset="-122"/>
              </a:rPr>
              <a:t>Solaris 9</a:t>
            </a:r>
            <a:r>
              <a:rPr lang="zh-CN" altLang="en-US" b="1" dirty="0">
                <a:solidFill>
                  <a:srgbClr val="0070C0"/>
                </a:solidFill>
                <a:latin typeface="微软雅黑" panose="020B0503020204020204" pitchFamily="34" charset="-122"/>
                <a:ea typeface="微软雅黑" panose="020B0503020204020204" pitchFamily="34" charset="-122"/>
              </a:rPr>
              <a:t>及更高版本</a:t>
            </a:r>
            <a:endParaRPr lang="en-US" altLang="en-US" b="1" dirty="0">
              <a:solidFill>
                <a:srgbClr val="0070C0"/>
              </a:solidFill>
              <a:latin typeface="微软雅黑" panose="020B0503020204020204" pitchFamily="34" charset="-122"/>
              <a:ea typeface="微软雅黑" panose="020B0503020204020204" pitchFamily="34" charset="-122"/>
            </a:endParaRPr>
          </a:p>
        </p:txBody>
      </p:sp>
      <p:grpSp>
        <p:nvGrpSpPr>
          <p:cNvPr id="32772" name="组合 1">
            <a:extLst>
              <a:ext uri="{FF2B5EF4-FFF2-40B4-BE49-F238E27FC236}">
                <a16:creationId xmlns:a16="http://schemas.microsoft.com/office/drawing/2014/main" id="{3D593189-10F4-4E51-9EC2-A9AF9236CF23}"/>
              </a:ext>
            </a:extLst>
          </p:cNvPr>
          <p:cNvGrpSpPr>
            <a:grpSpLocks/>
          </p:cNvGrpSpPr>
          <p:nvPr/>
        </p:nvGrpSpPr>
        <p:grpSpPr bwMode="auto">
          <a:xfrm>
            <a:off x="6096000" y="4232564"/>
            <a:ext cx="4578350" cy="1911350"/>
            <a:chOff x="4229100" y="3048000"/>
            <a:chExt cx="4578016" cy="1911350"/>
          </a:xfrm>
        </p:grpSpPr>
        <p:pic>
          <p:nvPicPr>
            <p:cNvPr id="32773" name="Picture 1" descr="4_06.pdf">
              <a:extLst>
                <a:ext uri="{FF2B5EF4-FFF2-40B4-BE49-F238E27FC236}">
                  <a16:creationId xmlns:a16="http://schemas.microsoft.com/office/drawing/2014/main" id="{449CD28C-275A-4C06-8966-369A0581A5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100" y="3048000"/>
              <a:ext cx="4475163"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矩形 4">
              <a:extLst>
                <a:ext uri="{FF2B5EF4-FFF2-40B4-BE49-F238E27FC236}">
                  <a16:creationId xmlns:a16="http://schemas.microsoft.com/office/drawing/2014/main" id="{781A7790-AD41-4FF5-B845-B482C91CA035}"/>
                </a:ext>
              </a:extLst>
            </p:cNvPr>
            <p:cNvSpPr>
              <a:spLocks noChangeArrowheads="1"/>
            </p:cNvSpPr>
            <p:nvPr/>
          </p:nvSpPr>
          <p:spPr bwMode="auto">
            <a:xfrm>
              <a:off x="7703553" y="3182351"/>
              <a:ext cx="1103563" cy="445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用户线程</a:t>
              </a:r>
            </a:p>
          </p:txBody>
        </p:sp>
        <p:sp>
          <p:nvSpPr>
            <p:cNvPr id="32775" name="矩形 5">
              <a:extLst>
                <a:ext uri="{FF2B5EF4-FFF2-40B4-BE49-F238E27FC236}">
                  <a16:creationId xmlns:a16="http://schemas.microsoft.com/office/drawing/2014/main" id="{8E8878CB-306D-468D-8CC5-2D8D9D5BBD7B}"/>
                </a:ext>
              </a:extLst>
            </p:cNvPr>
            <p:cNvSpPr>
              <a:spLocks noChangeArrowheads="1"/>
            </p:cNvSpPr>
            <p:nvPr/>
          </p:nvSpPr>
          <p:spPr bwMode="auto">
            <a:xfrm>
              <a:off x="7679488" y="4514181"/>
              <a:ext cx="1127628" cy="445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内核线程</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019D649-D19B-4779-965C-D4C8B0562E51}"/>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多对多模型</a:t>
            </a:r>
            <a:endParaRPr lang="en-US" altLang="en-US">
              <a:latin typeface="微软雅黑" panose="020B0503020204020204" pitchFamily="34" charset="-122"/>
              <a:ea typeface="微软雅黑" panose="020B0503020204020204" pitchFamily="34" charset="-122"/>
            </a:endParaRPr>
          </a:p>
        </p:txBody>
      </p:sp>
      <p:sp>
        <p:nvSpPr>
          <p:cNvPr id="34819" name="Rectangle 3">
            <a:extLst>
              <a:ext uri="{FF2B5EF4-FFF2-40B4-BE49-F238E27FC236}">
                <a16:creationId xmlns:a16="http://schemas.microsoft.com/office/drawing/2014/main" id="{4D63E6BA-FC62-4A94-AEBB-7687F827098A}"/>
              </a:ext>
            </a:extLst>
          </p:cNvPr>
          <p:cNvSpPr>
            <a:spLocks noGrp="1" noChangeArrowheads="1"/>
          </p:cNvSpPr>
          <p:nvPr>
            <p:ph idx="1"/>
          </p:nvPr>
        </p:nvSpPr>
        <p:spPr>
          <a:xfrm>
            <a:off x="609600" y="1380620"/>
            <a:ext cx="6592888" cy="4445000"/>
          </a:xfrm>
        </p:spPr>
        <p:txBody>
          <a:bodyPr/>
          <a:lstStyle/>
          <a:p>
            <a:pPr>
              <a:lnSpc>
                <a:spcPct val="250000"/>
              </a:lnSpc>
            </a:pPr>
            <a:r>
              <a:rPr lang="zh-CN" altLang="en-US" dirty="0">
                <a:latin typeface="微软雅黑" panose="020B0503020204020204" pitchFamily="34" charset="-122"/>
                <a:ea typeface="微软雅黑" panose="020B0503020204020204" pitchFamily="34" charset="-122"/>
              </a:rPr>
              <a:t>允许将多个用户级线程映射到多个内核线程</a:t>
            </a:r>
            <a:endParaRPr lang="en-US" altLang="en-US" dirty="0">
              <a:latin typeface="微软雅黑" panose="020B0503020204020204" pitchFamily="34" charset="-122"/>
              <a:ea typeface="微软雅黑" panose="020B0503020204020204" pitchFamily="34" charset="-122"/>
            </a:endParaRPr>
          </a:p>
          <a:p>
            <a:pPr>
              <a:lnSpc>
                <a:spcPct val="250000"/>
              </a:lnSpc>
            </a:pPr>
            <a:r>
              <a:rPr lang="zh-CN" altLang="en-US" dirty="0">
                <a:latin typeface="微软雅黑" panose="020B0503020204020204" pitchFamily="34" charset="-122"/>
                <a:ea typeface="微软雅黑" panose="020B0503020204020204" pitchFamily="34" charset="-122"/>
              </a:rPr>
              <a:t>允许操作系统创建足够多的内核线程</a:t>
            </a:r>
          </a:p>
          <a:p>
            <a:pPr>
              <a:lnSpc>
                <a:spcPct val="250000"/>
              </a:lnSpc>
            </a:pPr>
            <a:r>
              <a:rPr lang="en-US" altLang="zh-CN" dirty="0">
                <a:latin typeface="微软雅黑" panose="020B0503020204020204" pitchFamily="34" charset="-122"/>
                <a:ea typeface="微软雅黑" panose="020B0503020204020204" pitchFamily="34" charset="-122"/>
              </a:rPr>
              <a:t>Solaris</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9</a:t>
            </a:r>
            <a:r>
              <a:rPr lang="zh-CN" altLang="en-US" dirty="0">
                <a:latin typeface="微软雅黑" panose="020B0503020204020204" pitchFamily="34" charset="-122"/>
                <a:ea typeface="微软雅黑" panose="020B0503020204020204" pitchFamily="34" charset="-122"/>
              </a:rPr>
              <a:t>之前的版本支持这种模型</a:t>
            </a:r>
          </a:p>
          <a:p>
            <a:pPr lvl="1">
              <a:lnSpc>
                <a:spcPct val="250000"/>
              </a:lnSpc>
            </a:pPr>
            <a:r>
              <a:rPr lang="zh-CN" altLang="en-US" b="1" dirty="0">
                <a:solidFill>
                  <a:srgbClr val="0070C0"/>
                </a:solidFill>
              </a:rPr>
              <a:t>带</a:t>
            </a:r>
            <a:r>
              <a:rPr lang="en-US" altLang="zh-CN" b="1" dirty="0" err="1">
                <a:solidFill>
                  <a:srgbClr val="0070C0"/>
                </a:solidFill>
              </a:rPr>
              <a:t>ThreadFiber</a:t>
            </a:r>
            <a:r>
              <a:rPr lang="zh-CN" altLang="en-US" b="1" dirty="0">
                <a:solidFill>
                  <a:srgbClr val="0070C0"/>
                </a:solidFill>
              </a:rPr>
              <a:t>包的</a:t>
            </a:r>
            <a:r>
              <a:rPr lang="en-US" altLang="zh-CN" b="1" dirty="0">
                <a:solidFill>
                  <a:srgbClr val="0070C0"/>
                </a:solidFill>
              </a:rPr>
              <a:t>Windows</a:t>
            </a:r>
            <a:endParaRPr lang="en-US" altLang="en-US" b="1" dirty="0">
              <a:solidFill>
                <a:srgbClr val="0070C0"/>
              </a:solidFill>
            </a:endParaRPr>
          </a:p>
        </p:txBody>
      </p:sp>
      <p:grpSp>
        <p:nvGrpSpPr>
          <p:cNvPr id="34820" name="组合 1">
            <a:extLst>
              <a:ext uri="{FF2B5EF4-FFF2-40B4-BE49-F238E27FC236}">
                <a16:creationId xmlns:a16="http://schemas.microsoft.com/office/drawing/2014/main" id="{0BB10D07-577F-40EA-A746-12A28691CC05}"/>
              </a:ext>
            </a:extLst>
          </p:cNvPr>
          <p:cNvGrpSpPr>
            <a:grpSpLocks/>
          </p:cNvGrpSpPr>
          <p:nvPr/>
        </p:nvGrpSpPr>
        <p:grpSpPr bwMode="auto">
          <a:xfrm>
            <a:off x="7384473" y="1380620"/>
            <a:ext cx="4387850" cy="3722687"/>
            <a:chOff x="4692315" y="2354847"/>
            <a:chExt cx="4115120" cy="3723647"/>
          </a:xfrm>
        </p:grpSpPr>
        <p:pic>
          <p:nvPicPr>
            <p:cNvPr id="34821" name="Picture 1" descr="4_07.pdf">
              <a:extLst>
                <a:ext uri="{FF2B5EF4-FFF2-40B4-BE49-F238E27FC236}">
                  <a16:creationId xmlns:a16="http://schemas.microsoft.com/office/drawing/2014/main" id="{A59DCFCB-DF8F-4493-B927-FEFCA85A6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2315" y="2354847"/>
              <a:ext cx="3827463" cy="3675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矩形 4">
              <a:extLst>
                <a:ext uri="{FF2B5EF4-FFF2-40B4-BE49-F238E27FC236}">
                  <a16:creationId xmlns:a16="http://schemas.microsoft.com/office/drawing/2014/main" id="{B9222957-F4E7-4916-872E-EC71C50D88A1}"/>
                </a:ext>
              </a:extLst>
            </p:cNvPr>
            <p:cNvSpPr>
              <a:spLocks noChangeArrowheads="1"/>
            </p:cNvSpPr>
            <p:nvPr/>
          </p:nvSpPr>
          <p:spPr bwMode="auto">
            <a:xfrm>
              <a:off x="7703872" y="2933031"/>
              <a:ext cx="1103563" cy="445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用户线程</a:t>
              </a:r>
            </a:p>
          </p:txBody>
        </p:sp>
        <p:sp>
          <p:nvSpPr>
            <p:cNvPr id="34823" name="矩形 5">
              <a:extLst>
                <a:ext uri="{FF2B5EF4-FFF2-40B4-BE49-F238E27FC236}">
                  <a16:creationId xmlns:a16="http://schemas.microsoft.com/office/drawing/2014/main" id="{B4A4298D-905C-4ACD-9CC3-49AC6EE4A67C}"/>
                </a:ext>
              </a:extLst>
            </p:cNvPr>
            <p:cNvSpPr>
              <a:spLocks noChangeArrowheads="1"/>
            </p:cNvSpPr>
            <p:nvPr/>
          </p:nvSpPr>
          <p:spPr bwMode="auto">
            <a:xfrm>
              <a:off x="7294477" y="5633325"/>
              <a:ext cx="1127628" cy="445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内核线程</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B7D301E-5E60-4322-91B6-D5B2D53F6846}"/>
              </a:ext>
            </a:extLst>
          </p:cNvPr>
          <p:cNvSpPr>
            <a:spLocks noGrp="1" noChangeArrowheads="1"/>
          </p:cNvSpPr>
          <p:nvPr>
            <p:ph type="title"/>
          </p:nvPr>
        </p:nvSpPr>
        <p:spPr>
          <a:xfrm>
            <a:off x="1981200" y="16351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双层模型</a:t>
            </a:r>
            <a:endParaRPr lang="en-US" altLang="en-US">
              <a:latin typeface="微软雅黑" panose="020B0503020204020204" pitchFamily="34" charset="-122"/>
              <a:ea typeface="微软雅黑" panose="020B0503020204020204" pitchFamily="34" charset="-122"/>
            </a:endParaRPr>
          </a:p>
        </p:txBody>
      </p:sp>
      <p:sp>
        <p:nvSpPr>
          <p:cNvPr id="36867" name="Rectangle 3">
            <a:extLst>
              <a:ext uri="{FF2B5EF4-FFF2-40B4-BE49-F238E27FC236}">
                <a16:creationId xmlns:a16="http://schemas.microsoft.com/office/drawing/2014/main" id="{ACC319A3-D3CB-45A1-9415-B27874373FA6}"/>
              </a:ext>
            </a:extLst>
          </p:cNvPr>
          <p:cNvSpPr>
            <a:spLocks noGrp="1" noChangeArrowheads="1"/>
          </p:cNvSpPr>
          <p:nvPr>
            <p:ph idx="1"/>
          </p:nvPr>
        </p:nvSpPr>
        <p:spPr>
          <a:xfrm>
            <a:off x="706583" y="1095376"/>
            <a:ext cx="10546772" cy="4456113"/>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多对多模型变种，但它允许</a:t>
            </a:r>
            <a:r>
              <a:rPr lang="zh-CN" altLang="en-US" b="1" dirty="0">
                <a:latin typeface="微软雅黑" panose="020B0503020204020204" pitchFamily="34" charset="-122"/>
                <a:ea typeface="微软雅黑" panose="020B0503020204020204" pitchFamily="34" charset="-122"/>
              </a:rPr>
              <a:t>绑定</a:t>
            </a:r>
            <a:r>
              <a:rPr lang="zh-CN" altLang="en-US" dirty="0">
                <a:latin typeface="微软雅黑" panose="020B0503020204020204" pitchFamily="34" charset="-122"/>
                <a:ea typeface="微软雅黑" panose="020B0503020204020204" pitchFamily="34" charset="-122"/>
              </a:rPr>
              <a:t>某个用户线程到一个内核线程</a:t>
            </a:r>
          </a:p>
          <a:p>
            <a:pPr>
              <a:lnSpc>
                <a:spcPct val="150000"/>
              </a:lnSpc>
            </a:pPr>
            <a:r>
              <a:rPr lang="zh-CN" altLang="en-US" dirty="0">
                <a:latin typeface="微软雅黑" panose="020B0503020204020204" pitchFamily="34" charset="-122"/>
                <a:ea typeface="微软雅黑" panose="020B0503020204020204" pitchFamily="34" charset="-122"/>
              </a:rPr>
              <a:t>例子</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en-US" altLang="en-US" b="1" dirty="0">
                <a:solidFill>
                  <a:srgbClr val="0070C0"/>
                </a:solidFill>
                <a:latin typeface="微软雅黑" panose="020B0503020204020204" pitchFamily="34" charset="-122"/>
                <a:ea typeface="微软雅黑" panose="020B0503020204020204" pitchFamily="34" charset="-122"/>
              </a:rPr>
              <a:t>IRIX</a:t>
            </a:r>
          </a:p>
          <a:p>
            <a:pPr lvl="1">
              <a:lnSpc>
                <a:spcPct val="150000"/>
              </a:lnSpc>
            </a:pPr>
            <a:r>
              <a:rPr lang="en-US" altLang="en-US" b="1" dirty="0">
                <a:solidFill>
                  <a:srgbClr val="0070C0"/>
                </a:solidFill>
                <a:latin typeface="微软雅黑" panose="020B0503020204020204" pitchFamily="34" charset="-122"/>
                <a:ea typeface="微软雅黑" panose="020B0503020204020204" pitchFamily="34" charset="-122"/>
              </a:rPr>
              <a:t>HP-UX</a:t>
            </a:r>
          </a:p>
          <a:p>
            <a:pPr lvl="1">
              <a:lnSpc>
                <a:spcPct val="150000"/>
              </a:lnSpc>
            </a:pPr>
            <a:r>
              <a:rPr lang="en-US" altLang="en-US" b="1" dirty="0">
                <a:solidFill>
                  <a:srgbClr val="0070C0"/>
                </a:solidFill>
                <a:latin typeface="微软雅黑" panose="020B0503020204020204" pitchFamily="34" charset="-122"/>
                <a:ea typeface="微软雅黑" panose="020B0503020204020204" pitchFamily="34" charset="-122"/>
              </a:rPr>
              <a:t>Tru64 UNIX</a:t>
            </a:r>
          </a:p>
          <a:p>
            <a:pPr lvl="1">
              <a:lnSpc>
                <a:spcPct val="150000"/>
              </a:lnSpc>
            </a:pPr>
            <a:r>
              <a:rPr lang="en-US" altLang="en-US" b="1" dirty="0">
                <a:solidFill>
                  <a:srgbClr val="0070C0"/>
                </a:solidFill>
                <a:latin typeface="微软雅黑" panose="020B0503020204020204" pitchFamily="34" charset="-122"/>
                <a:ea typeface="微软雅黑" panose="020B0503020204020204" pitchFamily="34" charset="-122"/>
              </a:rPr>
              <a:t>Solaris 8</a:t>
            </a:r>
            <a:r>
              <a:rPr lang="zh-CN" altLang="en-US" b="1" dirty="0">
                <a:solidFill>
                  <a:srgbClr val="0070C0"/>
                </a:solidFill>
                <a:latin typeface="微软雅黑" panose="020B0503020204020204" pitchFamily="34" charset="-122"/>
                <a:ea typeface="微软雅黑" panose="020B0503020204020204" pitchFamily="34" charset="-122"/>
              </a:rPr>
              <a:t>及更早版本</a:t>
            </a:r>
            <a:endParaRPr lang="en-US" altLang="en-US" b="1" dirty="0">
              <a:solidFill>
                <a:srgbClr val="0070C0"/>
              </a:solidFill>
              <a:latin typeface="微软雅黑" panose="020B0503020204020204" pitchFamily="34" charset="-122"/>
              <a:ea typeface="微软雅黑" panose="020B0503020204020204" pitchFamily="34" charset="-122"/>
            </a:endParaRPr>
          </a:p>
        </p:txBody>
      </p:sp>
      <p:grpSp>
        <p:nvGrpSpPr>
          <p:cNvPr id="36868" name="组合 1">
            <a:extLst>
              <a:ext uri="{FF2B5EF4-FFF2-40B4-BE49-F238E27FC236}">
                <a16:creationId xmlns:a16="http://schemas.microsoft.com/office/drawing/2014/main" id="{2BF16A5C-C96E-4691-B548-BA6216EF69DF}"/>
              </a:ext>
            </a:extLst>
          </p:cNvPr>
          <p:cNvGrpSpPr>
            <a:grpSpLocks/>
          </p:cNvGrpSpPr>
          <p:nvPr/>
        </p:nvGrpSpPr>
        <p:grpSpPr bwMode="auto">
          <a:xfrm>
            <a:off x="6096000" y="2109789"/>
            <a:ext cx="5016500" cy="3441700"/>
            <a:chOff x="4042610" y="2272668"/>
            <a:chExt cx="4813383" cy="3441664"/>
          </a:xfrm>
        </p:grpSpPr>
        <p:pic>
          <p:nvPicPr>
            <p:cNvPr id="36869" name="Picture 1" descr="4_08.pdf">
              <a:extLst>
                <a:ext uri="{FF2B5EF4-FFF2-40B4-BE49-F238E27FC236}">
                  <a16:creationId xmlns:a16="http://schemas.microsoft.com/office/drawing/2014/main" id="{E7469381-9807-4376-9A27-7E65EDA264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2610" y="2272668"/>
              <a:ext cx="4534736" cy="3429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矩形 4">
              <a:extLst>
                <a:ext uri="{FF2B5EF4-FFF2-40B4-BE49-F238E27FC236}">
                  <a16:creationId xmlns:a16="http://schemas.microsoft.com/office/drawing/2014/main" id="{F234FB0D-BA17-4FA4-A343-4D8F49A587CC}"/>
                </a:ext>
              </a:extLst>
            </p:cNvPr>
            <p:cNvSpPr>
              <a:spLocks noChangeArrowheads="1"/>
            </p:cNvSpPr>
            <p:nvPr/>
          </p:nvSpPr>
          <p:spPr bwMode="auto">
            <a:xfrm>
              <a:off x="7752430" y="2829053"/>
              <a:ext cx="1103563" cy="445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用户线程</a:t>
              </a:r>
            </a:p>
          </p:txBody>
        </p:sp>
        <p:sp>
          <p:nvSpPr>
            <p:cNvPr id="36871" name="矩形 5">
              <a:extLst>
                <a:ext uri="{FF2B5EF4-FFF2-40B4-BE49-F238E27FC236}">
                  <a16:creationId xmlns:a16="http://schemas.microsoft.com/office/drawing/2014/main" id="{F7F63585-4CC3-4B40-AEB8-B92FB6B408E2}"/>
                </a:ext>
              </a:extLst>
            </p:cNvPr>
            <p:cNvSpPr>
              <a:spLocks noChangeArrowheads="1"/>
            </p:cNvSpPr>
            <p:nvPr/>
          </p:nvSpPr>
          <p:spPr bwMode="auto">
            <a:xfrm>
              <a:off x="7704301" y="5269163"/>
              <a:ext cx="1127628" cy="445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内核线程</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EDC12E58-D76D-4D18-8BDD-D4FD3FCD273A}"/>
              </a:ext>
            </a:extLst>
          </p:cNvPr>
          <p:cNvSpPr>
            <a:spLocks noGrp="1" noChangeArrowheads="1"/>
          </p:cNvSpPr>
          <p:nvPr>
            <p:ph type="title"/>
          </p:nvPr>
        </p:nvSpPr>
        <p:spPr>
          <a:xfrm>
            <a:off x="1981200" y="188913"/>
            <a:ext cx="8229600" cy="576262"/>
          </a:xfrm>
        </p:spPr>
        <p:txBody>
          <a:bodyPr/>
          <a:lstStyle/>
          <a:p>
            <a:pPr eaLnBrk="1" hangingPunct="1"/>
            <a:r>
              <a:rPr lang="en-US" altLang="zh-CN" dirty="0">
                <a:latin typeface="微软雅黑" panose="020B0503020204020204" pitchFamily="34" charset="-122"/>
                <a:ea typeface="微软雅黑" panose="020B0503020204020204" pitchFamily="34" charset="-122"/>
              </a:rPr>
              <a:t>4.4 </a:t>
            </a:r>
            <a:r>
              <a:rPr lang="zh-CN" altLang="en-US" dirty="0">
                <a:latin typeface="微软雅黑" panose="020B0503020204020204" pitchFamily="34" charset="-122"/>
                <a:ea typeface="微软雅黑" panose="020B0503020204020204" pitchFamily="34" charset="-122"/>
              </a:rPr>
              <a:t>线程库</a:t>
            </a:r>
            <a:endParaRPr lang="en-US" altLang="en-US" dirty="0">
              <a:latin typeface="微软雅黑" panose="020B0503020204020204" pitchFamily="34" charset="-122"/>
              <a:ea typeface="微软雅黑" panose="020B0503020204020204" pitchFamily="34" charset="-122"/>
            </a:endParaRPr>
          </a:p>
        </p:txBody>
      </p:sp>
      <p:sp>
        <p:nvSpPr>
          <p:cNvPr id="38915" name="Content Placeholder 2">
            <a:extLst>
              <a:ext uri="{FF2B5EF4-FFF2-40B4-BE49-F238E27FC236}">
                <a16:creationId xmlns:a16="http://schemas.microsoft.com/office/drawing/2014/main" id="{EFA8E4CE-1A24-4035-987C-C6016B2810AE}"/>
              </a:ext>
            </a:extLst>
          </p:cNvPr>
          <p:cNvSpPr>
            <a:spLocks noGrp="1" noChangeArrowheads="1"/>
          </p:cNvSpPr>
          <p:nvPr>
            <p:ph idx="1"/>
          </p:nvPr>
        </p:nvSpPr>
        <p:spPr>
          <a:xfrm>
            <a:off x="660400" y="1233489"/>
            <a:ext cx="8229600" cy="4530725"/>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线程库</a:t>
            </a:r>
            <a:r>
              <a:rPr lang="zh-CN" altLang="en-US" dirty="0">
                <a:latin typeface="微软雅黑" panose="020B0503020204020204" pitchFamily="34" charset="-122"/>
                <a:ea typeface="微软雅黑" panose="020B0503020204020204" pitchFamily="34" charset="-122"/>
              </a:rPr>
              <a:t>为程序员提供创建和管理线程的</a:t>
            </a:r>
            <a:r>
              <a:rPr lang="en-US" altLang="zh-CN" dirty="0">
                <a:latin typeface="微软雅黑" panose="020B0503020204020204" pitchFamily="34" charset="-122"/>
                <a:ea typeface="微软雅黑" panose="020B0503020204020204" pitchFamily="34" charset="-122"/>
              </a:rPr>
              <a:t>API</a:t>
            </a:r>
          </a:p>
          <a:p>
            <a:pPr>
              <a:lnSpc>
                <a:spcPct val="150000"/>
              </a:lnSpc>
            </a:pPr>
            <a:r>
              <a:rPr lang="zh-CN" altLang="en-US" dirty="0">
                <a:latin typeface="微软雅黑" panose="020B0503020204020204" pitchFamily="34" charset="-122"/>
                <a:ea typeface="微软雅黑" panose="020B0503020204020204" pitchFamily="34" charset="-122"/>
              </a:rPr>
              <a:t>两种主要实现方法</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zh-CN" altLang="en-US" b="1" dirty="0"/>
              <a:t>用户级线程库：</a:t>
            </a:r>
            <a:r>
              <a:rPr lang="zh-CN" altLang="en-US" dirty="0">
                <a:latin typeface="微软雅黑" panose="020B0503020204020204" pitchFamily="34" charset="-122"/>
                <a:ea typeface="微软雅黑" panose="020B0503020204020204" pitchFamily="34" charset="-122"/>
              </a:rPr>
              <a:t>在用户空间中提供一个没有内核支持的库</a:t>
            </a:r>
          </a:p>
          <a:p>
            <a:pPr lvl="1">
              <a:lnSpc>
                <a:spcPct val="150000"/>
              </a:lnSpc>
            </a:pPr>
            <a:r>
              <a:rPr lang="zh-CN" altLang="en-US" b="1" dirty="0">
                <a:latin typeface="微软雅黑" panose="020B0503020204020204" pitchFamily="34" charset="-122"/>
                <a:ea typeface="微软雅黑" panose="020B0503020204020204" pitchFamily="34" charset="-122"/>
              </a:rPr>
              <a:t>内核级线程库：</a:t>
            </a:r>
            <a:r>
              <a:rPr lang="zh-CN" altLang="en-US" dirty="0">
                <a:latin typeface="微软雅黑" panose="020B0503020204020204" pitchFamily="34" charset="-122"/>
                <a:ea typeface="微软雅黑" panose="020B0503020204020204" pitchFamily="34" charset="-122"/>
              </a:rPr>
              <a:t>实现由操作系统直接支持的内核级的一个库</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常见线程库</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en-US" altLang="en-US" b="1" dirty="0">
                <a:solidFill>
                  <a:srgbClr val="0070C0"/>
                </a:solidFill>
              </a:rPr>
              <a:t>POSIX </a:t>
            </a:r>
            <a:r>
              <a:rPr lang="en-US" altLang="en-US" b="1" dirty="0" err="1">
                <a:solidFill>
                  <a:srgbClr val="0070C0"/>
                </a:solidFill>
              </a:rPr>
              <a:t>P</a:t>
            </a:r>
            <a:r>
              <a:rPr lang="en-US" altLang="zh-CN" b="1" dirty="0" err="1">
                <a:solidFill>
                  <a:srgbClr val="0070C0"/>
                </a:solidFill>
              </a:rPr>
              <a:t>thread</a:t>
            </a:r>
            <a:r>
              <a:rPr lang="en-US" altLang="zh-CN" b="1" dirty="0">
                <a:solidFill>
                  <a:srgbClr val="0070C0"/>
                </a:solidFill>
              </a:rPr>
              <a:t> </a:t>
            </a:r>
            <a:r>
              <a:rPr lang="zh-CN" altLang="en-US" b="1" dirty="0">
                <a:solidFill>
                  <a:srgbClr val="0070C0"/>
                </a:solidFill>
              </a:rPr>
              <a:t>库</a:t>
            </a:r>
            <a:endParaRPr lang="en-US" altLang="zh-CN" b="1" dirty="0">
              <a:solidFill>
                <a:srgbClr val="0070C0"/>
              </a:solidFill>
            </a:endParaRPr>
          </a:p>
          <a:p>
            <a:pPr lvl="1">
              <a:lnSpc>
                <a:spcPct val="150000"/>
              </a:lnSpc>
            </a:pPr>
            <a:r>
              <a:rPr lang="en-US" altLang="en-US" b="1" dirty="0">
                <a:solidFill>
                  <a:srgbClr val="0070C0"/>
                </a:solidFill>
                <a:latin typeface="微软雅黑" panose="020B0503020204020204" pitchFamily="34" charset="-122"/>
                <a:ea typeface="微软雅黑" panose="020B0503020204020204" pitchFamily="34" charset="-122"/>
              </a:rPr>
              <a:t>W</a:t>
            </a:r>
            <a:r>
              <a:rPr lang="en-US" altLang="zh-CN" b="1" dirty="0">
                <a:solidFill>
                  <a:srgbClr val="0070C0"/>
                </a:solidFill>
                <a:latin typeface="微软雅黑" panose="020B0503020204020204" pitchFamily="34" charset="-122"/>
                <a:ea typeface="微软雅黑" panose="020B0503020204020204" pitchFamily="34" charset="-122"/>
              </a:rPr>
              <a:t>in32 </a:t>
            </a:r>
            <a:r>
              <a:rPr lang="zh-CN" altLang="en-US" b="1" dirty="0">
                <a:solidFill>
                  <a:srgbClr val="0070C0"/>
                </a:solidFill>
                <a:latin typeface="微软雅黑" panose="020B0503020204020204" pitchFamily="34" charset="-122"/>
                <a:ea typeface="微软雅黑" panose="020B0503020204020204" pitchFamily="34" charset="-122"/>
              </a:rPr>
              <a:t>线程库</a:t>
            </a:r>
            <a:endParaRPr lang="en-US" altLang="zh-CN" b="1" dirty="0">
              <a:solidFill>
                <a:srgbClr val="0070C0"/>
              </a:solidFill>
              <a:latin typeface="微软雅黑" panose="020B0503020204020204" pitchFamily="34" charset="-122"/>
              <a:ea typeface="微软雅黑" panose="020B0503020204020204" pitchFamily="34" charset="-122"/>
            </a:endParaRPr>
          </a:p>
          <a:p>
            <a:pPr lvl="1">
              <a:lnSpc>
                <a:spcPct val="150000"/>
              </a:lnSpc>
            </a:pPr>
            <a:r>
              <a:rPr lang="en-US" altLang="en-US" b="1" dirty="0">
                <a:solidFill>
                  <a:srgbClr val="0070C0"/>
                </a:solidFill>
              </a:rPr>
              <a:t>J</a:t>
            </a:r>
            <a:r>
              <a:rPr lang="en-US" altLang="zh-CN" b="1" dirty="0">
                <a:solidFill>
                  <a:srgbClr val="0070C0"/>
                </a:solidFill>
              </a:rPr>
              <a:t>ava Thread</a:t>
            </a:r>
            <a:r>
              <a:rPr lang="zh-CN" altLang="en-US" b="1" dirty="0">
                <a:solidFill>
                  <a:srgbClr val="0070C0"/>
                </a:solidFill>
              </a:rPr>
              <a:t>库</a:t>
            </a:r>
            <a:endParaRPr lang="en-US" altLang="en-US" b="1" dirty="0">
              <a:solidFill>
                <a:srgbClr val="0070C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72430FF-86A1-47E5-9F1E-C1DDB67FD330}"/>
              </a:ext>
            </a:extLst>
          </p:cNvPr>
          <p:cNvSpPr>
            <a:spLocks noGrp="1" noChangeArrowheads="1"/>
          </p:cNvSpPr>
          <p:nvPr>
            <p:ph type="title"/>
          </p:nvPr>
        </p:nvSpPr>
        <p:spPr>
          <a:xfrm>
            <a:off x="1981200" y="201613"/>
            <a:ext cx="8229600" cy="576262"/>
          </a:xfrm>
        </p:spPr>
        <p:txBody>
          <a:bodyPr/>
          <a:lstStyle/>
          <a:p>
            <a:pPr eaLnBrk="1" hangingPunct="1"/>
            <a:r>
              <a:rPr lang="en-US" altLang="en-US">
                <a:latin typeface="微软雅黑" panose="020B0503020204020204" pitchFamily="34" charset="-122"/>
                <a:ea typeface="微软雅黑" panose="020B0503020204020204" pitchFamily="34" charset="-122"/>
              </a:rPr>
              <a:t>Pthreads</a:t>
            </a:r>
          </a:p>
        </p:txBody>
      </p:sp>
      <p:sp>
        <p:nvSpPr>
          <p:cNvPr id="40963" name="Rectangle 3">
            <a:extLst>
              <a:ext uri="{FF2B5EF4-FFF2-40B4-BE49-F238E27FC236}">
                <a16:creationId xmlns:a16="http://schemas.microsoft.com/office/drawing/2014/main" id="{C0F74B65-5BCB-4BB3-9B87-98F0258E6E4C}"/>
              </a:ext>
            </a:extLst>
          </p:cNvPr>
          <p:cNvSpPr>
            <a:spLocks noGrp="1" noChangeArrowheads="1"/>
          </p:cNvSpPr>
          <p:nvPr>
            <p:ph idx="1"/>
          </p:nvPr>
        </p:nvSpPr>
        <p:spPr>
          <a:xfrm>
            <a:off x="654627" y="1233489"/>
            <a:ext cx="10920846" cy="4465637"/>
          </a:xfrm>
        </p:spPr>
        <p:txBody>
          <a:bodyPr/>
          <a:lstStyle/>
          <a:p>
            <a:pPr>
              <a:lnSpc>
                <a:spcPct val="200000"/>
              </a:lnSpc>
            </a:pPr>
            <a:r>
              <a:rPr lang="zh-CN" altLang="en-US" dirty="0">
                <a:latin typeface="微软雅黑" panose="020B0503020204020204" pitchFamily="34" charset="-122"/>
                <a:ea typeface="微软雅黑" panose="020B0503020204020204" pitchFamily="34" charset="-122"/>
              </a:rPr>
              <a:t>可以被用户级或内核级提供</a:t>
            </a:r>
          </a:p>
          <a:p>
            <a:pPr>
              <a:lnSpc>
                <a:spcPct val="200000"/>
              </a:lnSpc>
            </a:pPr>
            <a:r>
              <a:rPr lang="en-US" altLang="zh-CN" dirty="0" err="1">
                <a:solidFill>
                  <a:srgbClr val="0070C0"/>
                </a:solidFill>
                <a:latin typeface="微软雅黑" panose="020B0503020204020204" pitchFamily="34" charset="-122"/>
                <a:ea typeface="微软雅黑" panose="020B0503020204020204" pitchFamily="34" charset="-122"/>
              </a:rPr>
              <a:t>Pthreads</a:t>
            </a:r>
            <a:r>
              <a:rPr lang="zh-CN" altLang="en-US"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POSIX</a:t>
            </a:r>
            <a:r>
              <a:rPr lang="zh-CN" altLang="en-US" dirty="0">
                <a:latin typeface="微软雅黑" panose="020B0503020204020204" pitchFamily="34" charset="-122"/>
                <a:ea typeface="微软雅黑" panose="020B0503020204020204" pitchFamily="34" charset="-122"/>
              </a:rPr>
              <a:t>标准</a:t>
            </a:r>
            <a:r>
              <a:rPr lang="en-US" altLang="zh-CN" dirty="0">
                <a:latin typeface="微软雅黑" panose="020B0503020204020204" pitchFamily="34" charset="-122"/>
                <a:ea typeface="微软雅黑" panose="020B0503020204020204" pitchFamily="34" charset="-122"/>
              </a:rPr>
              <a:t>(IEEE 1003.1c)</a:t>
            </a:r>
            <a:r>
              <a:rPr lang="zh-CN" altLang="en-US" dirty="0">
                <a:latin typeface="微软雅黑" panose="020B0503020204020204" pitchFamily="34" charset="-122"/>
                <a:ea typeface="微软雅黑" panose="020B0503020204020204" pitchFamily="34" charset="-122"/>
              </a:rPr>
              <a:t>定义的线程创建与同步</a:t>
            </a:r>
            <a:r>
              <a:rPr lang="en-US" altLang="zh-CN" dirty="0">
                <a:latin typeface="微软雅黑" panose="020B0503020204020204" pitchFamily="34" charset="-122"/>
                <a:ea typeface="微软雅黑" panose="020B0503020204020204" pitchFamily="34" charset="-122"/>
              </a:rPr>
              <a:t>API</a:t>
            </a:r>
          </a:p>
          <a:p>
            <a:pPr>
              <a:lnSpc>
                <a:spcPct val="200000"/>
              </a:lnSpc>
            </a:pPr>
            <a:r>
              <a:rPr lang="zh-CN" altLang="en-US" dirty="0">
                <a:latin typeface="微软雅黑" panose="020B0503020204020204" pitchFamily="34" charset="-122"/>
                <a:ea typeface="微软雅黑" panose="020B0503020204020204" pitchFamily="34" charset="-122"/>
              </a:rPr>
              <a:t>这是线程行为的</a:t>
            </a:r>
            <a:r>
              <a:rPr lang="zh-CN" altLang="en-US" b="1" dirty="0">
                <a:latin typeface="微软雅黑" panose="020B0503020204020204" pitchFamily="34" charset="-122"/>
                <a:ea typeface="微软雅黑" panose="020B0503020204020204" pitchFamily="34" charset="-122"/>
              </a:rPr>
              <a:t>规范</a:t>
            </a:r>
            <a:r>
              <a:rPr lang="en-US" altLang="zh-CN" dirty="0">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specification</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而不是</a:t>
            </a:r>
            <a:r>
              <a:rPr lang="zh-CN" altLang="en-US" b="1" dirty="0">
                <a:latin typeface="微软雅黑" panose="020B0503020204020204" pitchFamily="34" charset="-122"/>
                <a:ea typeface="微软雅黑" panose="020B0503020204020204" pitchFamily="34" charset="-122"/>
              </a:rPr>
              <a:t>实现</a:t>
            </a:r>
            <a:r>
              <a:rPr lang="en-US" altLang="zh-CN" dirty="0">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implementation)</a:t>
            </a:r>
          </a:p>
          <a:p>
            <a:pPr>
              <a:lnSpc>
                <a:spcPct val="200000"/>
              </a:lnSpc>
            </a:pPr>
            <a:r>
              <a:rPr lang="en-US" altLang="zh-CN" dirty="0">
                <a:latin typeface="微软雅黑" panose="020B0503020204020204" pitchFamily="34" charset="-122"/>
                <a:ea typeface="微软雅黑" panose="020B0503020204020204" pitchFamily="34" charset="-122"/>
              </a:rPr>
              <a:t>API</a:t>
            </a:r>
            <a:r>
              <a:rPr lang="zh-CN" altLang="en-US" dirty="0">
                <a:latin typeface="微软雅黑" panose="020B0503020204020204" pitchFamily="34" charset="-122"/>
                <a:ea typeface="微软雅黑" panose="020B0503020204020204" pitchFamily="34" charset="-122"/>
              </a:rPr>
              <a:t>指定</a:t>
            </a:r>
            <a:r>
              <a:rPr lang="zh-CN" altLang="en-US" dirty="0">
                <a:solidFill>
                  <a:srgbClr val="0070C0"/>
                </a:solidFill>
                <a:latin typeface="微软雅黑" panose="020B0503020204020204" pitchFamily="34" charset="-122"/>
                <a:ea typeface="微软雅黑" panose="020B0503020204020204" pitchFamily="34" charset="-122"/>
              </a:rPr>
              <a:t>线程库的行为</a:t>
            </a:r>
            <a:r>
              <a:rPr lang="zh-CN" altLang="en-US" dirty="0">
                <a:latin typeface="微软雅黑" panose="020B0503020204020204" pitchFamily="34" charset="-122"/>
                <a:ea typeface="微软雅黑" panose="020B0503020204020204" pitchFamily="34" charset="-122"/>
              </a:rPr>
              <a:t>，实现取决于</a:t>
            </a:r>
            <a:r>
              <a:rPr lang="zh-CN" altLang="en-US" dirty="0">
                <a:solidFill>
                  <a:srgbClr val="0070C0"/>
                </a:solidFill>
                <a:latin typeface="微软雅黑" panose="020B0503020204020204" pitchFamily="34" charset="-122"/>
                <a:ea typeface="微软雅黑" panose="020B0503020204020204" pitchFamily="34" charset="-122"/>
              </a:rPr>
              <a:t>库的开发</a:t>
            </a:r>
          </a:p>
          <a:p>
            <a:pPr>
              <a:lnSpc>
                <a:spcPct val="200000"/>
              </a:lnSpc>
            </a:pPr>
            <a:r>
              <a:rPr lang="zh-CN" altLang="en-US" dirty="0">
                <a:latin typeface="微软雅黑" panose="020B0503020204020204" pitchFamily="34" charset="-122"/>
                <a:ea typeface="微软雅黑" panose="020B0503020204020204" pitchFamily="34" charset="-122"/>
              </a:rPr>
              <a:t>常见于</a:t>
            </a:r>
            <a:r>
              <a:rPr lang="en-US" altLang="zh-CN" dirty="0">
                <a:latin typeface="微软雅黑" panose="020B0503020204020204" pitchFamily="34" charset="-122"/>
                <a:ea typeface="微软雅黑" panose="020B0503020204020204" pitchFamily="34" charset="-122"/>
              </a:rPr>
              <a:t>UNIX </a:t>
            </a:r>
            <a:r>
              <a:rPr lang="zh-CN" altLang="en-US" dirty="0">
                <a:latin typeface="微软雅黑" panose="020B0503020204020204" pitchFamily="34" charset="-122"/>
                <a:ea typeface="微软雅黑" panose="020B0503020204020204" pitchFamily="34" charset="-122"/>
              </a:rPr>
              <a:t>操作系统（</a:t>
            </a:r>
            <a:r>
              <a:rPr lang="en-US" altLang="zh-CN" dirty="0">
                <a:solidFill>
                  <a:srgbClr val="0070C0"/>
                </a:solidFill>
                <a:latin typeface="微软雅黑" panose="020B0503020204020204" pitchFamily="34" charset="-122"/>
                <a:ea typeface="微软雅黑" panose="020B0503020204020204" pitchFamily="34" charset="-122"/>
              </a:rPr>
              <a:t>Solaris</a:t>
            </a:r>
            <a:r>
              <a:rPr lang="zh-CN" altLang="en-US" dirty="0">
                <a:solidFill>
                  <a:srgbClr val="0070C0"/>
                </a:solidFill>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Linux</a:t>
            </a:r>
            <a:r>
              <a:rPr lang="zh-CN" altLang="en-US" dirty="0">
                <a:solidFill>
                  <a:srgbClr val="0070C0"/>
                </a:solidFill>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Mac OS X</a:t>
            </a:r>
            <a:r>
              <a:rPr lang="zh-CN" altLang="en-US" dirty="0">
                <a:latin typeface="微软雅黑" panose="020B0503020204020204" pitchFamily="34" charset="-122"/>
                <a:ea typeface="微软雅黑" panose="020B0503020204020204" pitchFamily="34" charset="-122"/>
              </a:rPr>
              <a:t>）</a:t>
            </a:r>
            <a:endParaRPr lang="en-US" altLang="en-US" dirty="0">
              <a:latin typeface="微软雅黑" panose="020B0503020204020204" pitchFamily="34" charset="-122"/>
              <a:ea typeface="微软雅黑" panose="020B0503020204020204" pitchFamily="34" charset="-122"/>
            </a:endParaRPr>
          </a:p>
          <a:p>
            <a:pPr>
              <a:lnSpc>
                <a:spcPct val="200000"/>
              </a:lnSpc>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CED73AC1-BEC5-4C98-A086-A5D993B20C2D}"/>
              </a:ext>
            </a:extLst>
          </p:cNvPr>
          <p:cNvSpPr>
            <a:spLocks noGrp="1" noChangeArrowheads="1"/>
          </p:cNvSpPr>
          <p:nvPr>
            <p:ph type="title"/>
          </p:nvPr>
        </p:nvSpPr>
        <p:spPr>
          <a:xfrm>
            <a:off x="1981200" y="201613"/>
            <a:ext cx="8229600" cy="576262"/>
          </a:xfrm>
        </p:spPr>
        <p:txBody>
          <a:bodyPr/>
          <a:lstStyle/>
          <a:p>
            <a:pPr eaLnBrk="1" hangingPunct="1"/>
            <a:r>
              <a:rPr lang="en-US" altLang="en-US">
                <a:latin typeface="微软雅黑" panose="020B0503020204020204" pitchFamily="34" charset="-122"/>
                <a:ea typeface="微软雅黑" panose="020B0503020204020204" pitchFamily="34" charset="-122"/>
              </a:rPr>
              <a:t>Pthreads </a:t>
            </a:r>
            <a:r>
              <a:rPr lang="zh-CN" altLang="en-US">
                <a:latin typeface="微软雅黑" panose="020B0503020204020204" pitchFamily="34" charset="-122"/>
                <a:ea typeface="微软雅黑" panose="020B0503020204020204" pitchFamily="34" charset="-122"/>
              </a:rPr>
              <a:t>示例</a:t>
            </a:r>
            <a:endParaRPr lang="en-US" altLang="en-US">
              <a:latin typeface="微软雅黑" panose="020B0503020204020204" pitchFamily="34" charset="-122"/>
              <a:ea typeface="微软雅黑" panose="020B0503020204020204" pitchFamily="34" charset="-122"/>
            </a:endParaRPr>
          </a:p>
        </p:txBody>
      </p:sp>
      <p:pic>
        <p:nvPicPr>
          <p:cNvPr id="43011" name="Picture 1" descr="Screen Shot 2012-12-04 at 8.50.38 PM.png">
            <a:extLst>
              <a:ext uri="{FF2B5EF4-FFF2-40B4-BE49-F238E27FC236}">
                <a16:creationId xmlns:a16="http://schemas.microsoft.com/office/drawing/2014/main" id="{F46D1AFE-AC79-4AAB-BA99-0010853D3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935" y="1223253"/>
            <a:ext cx="5916035" cy="441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
            <a:extLst>
              <a:ext uri="{FF2B5EF4-FFF2-40B4-BE49-F238E27FC236}">
                <a16:creationId xmlns:a16="http://schemas.microsoft.com/office/drawing/2014/main" id="{207A5A61-2BD3-4CFE-AB82-97F34DB1B7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48726" y="1081950"/>
            <a:ext cx="5097607" cy="4694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709A60A0-AF93-4CE7-B5CD-E4F8B11430B5}"/>
              </a:ext>
            </a:extLst>
          </p:cNvPr>
          <p:cNvSpPr/>
          <p:nvPr/>
        </p:nvSpPr>
        <p:spPr>
          <a:xfrm>
            <a:off x="740711" y="5642920"/>
            <a:ext cx="6759415" cy="874407"/>
          </a:xfrm>
          <a:prstGeom prst="rect">
            <a:avLst/>
          </a:prstGeom>
        </p:spPr>
        <p:txBody>
          <a:bodyPr wrap="none">
            <a:spAutoFit/>
          </a:bodyPr>
          <a:lstStyle/>
          <a:p>
            <a:pPr>
              <a:lnSpc>
                <a:spcPct val="150000"/>
              </a:lnSpc>
            </a:pPr>
            <a:r>
              <a:rPr lang="en-US" altLang="zh-CN" dirty="0" err="1">
                <a:latin typeface="微软雅黑" panose="020B0503020204020204" pitchFamily="34" charset="-122"/>
                <a:ea typeface="微软雅黑" panose="020B0503020204020204" pitchFamily="34" charset="-122"/>
              </a:rPr>
              <a:t>Pthread</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库函数参见：</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u="sng" dirty="0">
                <a:solidFill>
                  <a:srgbClr val="0070C0"/>
                </a:solidFill>
                <a:latin typeface="微软雅黑" panose="020B0503020204020204" pitchFamily="34" charset="-122"/>
                <a:ea typeface="微软雅黑" panose="020B0503020204020204" pitchFamily="34" charset="-122"/>
              </a:rPr>
              <a:t>https://blog.csdn.net/lileiyuyanqin/article/details/78212305</a:t>
            </a:r>
            <a:endParaRPr lang="zh-CN" altLang="en-US" u="sng"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934BD49E-52D9-4625-B94C-B2B0EEC0BC64}"/>
              </a:ext>
            </a:extLst>
          </p:cNvPr>
          <p:cNvSpPr>
            <a:spLocks noGrp="1" noChangeArrowheads="1"/>
          </p:cNvSpPr>
          <p:nvPr>
            <p:ph type="title"/>
          </p:nvPr>
        </p:nvSpPr>
        <p:spPr>
          <a:xfrm>
            <a:off x="2643188" y="220663"/>
            <a:ext cx="7772400" cy="576262"/>
          </a:xfrm>
        </p:spPr>
        <p:txBody>
          <a:bodyPr/>
          <a:lstStyle/>
          <a:p>
            <a:pPr eaLnBrk="1" hangingPunct="1"/>
            <a:r>
              <a:rPr lang="zh-CN" altLang="en-US">
                <a:latin typeface="微软雅黑" panose="020B0503020204020204" pitchFamily="34" charset="-122"/>
                <a:ea typeface="微软雅黑" panose="020B0503020204020204" pitchFamily="34" charset="-122"/>
              </a:rPr>
              <a:t>采用</a:t>
            </a:r>
            <a:r>
              <a:rPr lang="en-US" altLang="en-US">
                <a:latin typeface="微软雅黑" panose="020B0503020204020204" pitchFamily="34" charset="-122"/>
                <a:ea typeface="微软雅黑" panose="020B0503020204020204" pitchFamily="34" charset="-122"/>
              </a:rPr>
              <a:t>Windows API</a:t>
            </a:r>
            <a:r>
              <a:rPr lang="zh-CN" altLang="en-US">
                <a:latin typeface="微软雅黑" panose="020B0503020204020204" pitchFamily="34" charset="-122"/>
                <a:ea typeface="微软雅黑" panose="020B0503020204020204" pitchFamily="34" charset="-122"/>
              </a:rPr>
              <a:t>的多线程</a:t>
            </a:r>
            <a:r>
              <a:rPr lang="en-US" altLang="en-US">
                <a:latin typeface="微软雅黑" panose="020B0503020204020204" pitchFamily="34" charset="-122"/>
                <a:ea typeface="微软雅黑" panose="020B0503020204020204" pitchFamily="34" charset="-122"/>
              </a:rPr>
              <a:t>C</a:t>
            </a:r>
            <a:r>
              <a:rPr lang="zh-CN" altLang="en-US">
                <a:latin typeface="微软雅黑" panose="020B0503020204020204" pitchFamily="34" charset="-122"/>
                <a:ea typeface="微软雅黑" panose="020B0503020204020204" pitchFamily="34" charset="-122"/>
              </a:rPr>
              <a:t>程序</a:t>
            </a:r>
            <a:endParaRPr lang="en-US" altLang="en-US">
              <a:latin typeface="微软雅黑" panose="020B0503020204020204" pitchFamily="34" charset="-122"/>
              <a:ea typeface="微软雅黑" panose="020B0503020204020204" pitchFamily="34" charset="-122"/>
            </a:endParaRPr>
          </a:p>
        </p:txBody>
      </p:sp>
      <p:pic>
        <p:nvPicPr>
          <p:cNvPr id="46083" name="Picture 1" descr="Screen Shot 2012-12-04 at 9.06.58 PM.png">
            <a:extLst>
              <a:ext uri="{FF2B5EF4-FFF2-40B4-BE49-F238E27FC236}">
                <a16:creationId xmlns:a16="http://schemas.microsoft.com/office/drawing/2014/main" id="{D2F8DE39-4762-433D-872A-2C67BDEA3F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0247" y="2296392"/>
            <a:ext cx="4043404" cy="4340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a:extLst>
              <a:ext uri="{FF2B5EF4-FFF2-40B4-BE49-F238E27FC236}">
                <a16:creationId xmlns:a16="http://schemas.microsoft.com/office/drawing/2014/main" id="{AE7218C2-78A5-4018-AB3C-12EC31DCF2BD}"/>
              </a:ext>
            </a:extLst>
          </p:cNvPr>
          <p:cNvSpPr>
            <a:spLocks noGrp="1" noChangeArrowheads="1"/>
          </p:cNvSpPr>
          <p:nvPr>
            <p:ph idx="1"/>
          </p:nvPr>
        </p:nvSpPr>
        <p:spPr>
          <a:xfrm>
            <a:off x="598054" y="796925"/>
            <a:ext cx="8229600" cy="4530725"/>
          </a:xfrm>
        </p:spPr>
        <p:txBody>
          <a:bodyPr/>
          <a:lstStyle/>
          <a:p>
            <a:pPr>
              <a:lnSpc>
                <a:spcPct val="200000"/>
              </a:lnSpc>
            </a:pPr>
            <a:r>
              <a:rPr lang="en-US" altLang="en-US" dirty="0"/>
              <a:t>W</a:t>
            </a:r>
            <a:r>
              <a:rPr lang="en-US" altLang="zh-CN" dirty="0"/>
              <a:t>in32 </a:t>
            </a:r>
            <a:r>
              <a:rPr lang="zh-CN" altLang="en-US" dirty="0"/>
              <a:t>线程库</a:t>
            </a:r>
            <a:endParaRPr lang="en-US" altLang="zh-CN" dirty="0"/>
          </a:p>
          <a:p>
            <a:pPr lvl="1">
              <a:lnSpc>
                <a:spcPct val="150000"/>
              </a:lnSpc>
            </a:pPr>
            <a:r>
              <a:rPr lang="en-US" altLang="zh-CN" b="1" dirty="0"/>
              <a:t>Windows</a:t>
            </a:r>
            <a:r>
              <a:rPr lang="zh-CN" altLang="en-US" b="1" dirty="0"/>
              <a:t>系统提供的内核级线程库</a:t>
            </a:r>
            <a:endParaRPr lang="en-US" altLang="zh-CN" b="1" dirty="0"/>
          </a:p>
          <a:p>
            <a:pPr marL="457200" lvl="1" indent="0">
              <a:lnSpc>
                <a:spcPct val="150000"/>
              </a:lnSpc>
              <a:buNone/>
            </a:pPr>
            <a:endParaRPr lang="en-US" altLang="en-US" b="1" dirty="0">
              <a:solidFill>
                <a:srgbClr val="0070C0"/>
              </a:solidFill>
            </a:endParaRPr>
          </a:p>
        </p:txBody>
      </p:sp>
      <p:pic>
        <p:nvPicPr>
          <p:cNvPr id="3" name="图片 2">
            <a:extLst>
              <a:ext uri="{FF2B5EF4-FFF2-40B4-BE49-F238E27FC236}">
                <a16:creationId xmlns:a16="http://schemas.microsoft.com/office/drawing/2014/main" id="{AA28B39C-EC91-438A-9287-3EAC7C12EC81}"/>
              </a:ext>
            </a:extLst>
          </p:cNvPr>
          <p:cNvPicPr>
            <a:picLocks noChangeAspect="1"/>
          </p:cNvPicPr>
          <p:nvPr/>
        </p:nvPicPr>
        <p:blipFill>
          <a:blip r:embed="rId3"/>
          <a:stretch>
            <a:fillRect/>
          </a:stretch>
        </p:blipFill>
        <p:spPr>
          <a:xfrm>
            <a:off x="6088937" y="1104869"/>
            <a:ext cx="5626151" cy="432214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FD6FB675-70D7-43B2-A76E-F94214AC5F2A}"/>
              </a:ext>
            </a:extLst>
          </p:cNvPr>
          <p:cNvSpPr>
            <a:spLocks noGrp="1" noChangeArrowheads="1"/>
          </p:cNvSpPr>
          <p:nvPr>
            <p:ph type="title"/>
          </p:nvPr>
        </p:nvSpPr>
        <p:spPr>
          <a:xfrm>
            <a:off x="1981200" y="188913"/>
            <a:ext cx="8229600" cy="576262"/>
          </a:xfrm>
        </p:spPr>
        <p:txBody>
          <a:bodyPr/>
          <a:lstStyle/>
          <a:p>
            <a:pPr eaLnBrk="1" hangingPunct="1"/>
            <a:r>
              <a:rPr lang="en-US" altLang="en-US">
                <a:latin typeface="微软雅黑" panose="020B0503020204020204" pitchFamily="34" charset="-122"/>
                <a:ea typeface="微软雅黑" panose="020B0503020204020204" pitchFamily="34" charset="-122"/>
              </a:rPr>
              <a:t>Java </a:t>
            </a:r>
            <a:r>
              <a:rPr lang="zh-CN" altLang="en-US">
                <a:latin typeface="微软雅黑" panose="020B0503020204020204" pitchFamily="34" charset="-122"/>
                <a:ea typeface="微软雅黑" panose="020B0503020204020204" pitchFamily="34" charset="-122"/>
              </a:rPr>
              <a:t>线程</a:t>
            </a:r>
            <a:endParaRPr lang="en-US" altLang="en-US">
              <a:latin typeface="微软雅黑" panose="020B0503020204020204" pitchFamily="34" charset="-122"/>
              <a:ea typeface="微软雅黑" panose="020B0503020204020204" pitchFamily="34" charset="-122"/>
            </a:endParaRPr>
          </a:p>
        </p:txBody>
      </p:sp>
      <p:sp>
        <p:nvSpPr>
          <p:cNvPr id="48131" name="Rectangle 5">
            <a:extLst>
              <a:ext uri="{FF2B5EF4-FFF2-40B4-BE49-F238E27FC236}">
                <a16:creationId xmlns:a16="http://schemas.microsoft.com/office/drawing/2014/main" id="{1EB69C80-20A9-4F56-A006-4A8EB65D028C}"/>
              </a:ext>
            </a:extLst>
          </p:cNvPr>
          <p:cNvSpPr>
            <a:spLocks noGrp="1" noChangeArrowheads="1"/>
          </p:cNvSpPr>
          <p:nvPr>
            <p:ph idx="1"/>
          </p:nvPr>
        </p:nvSpPr>
        <p:spPr>
          <a:xfrm>
            <a:off x="610323" y="1065645"/>
            <a:ext cx="7453022" cy="5437188"/>
          </a:xfrm>
        </p:spPr>
        <p:txBody>
          <a:bodyPr/>
          <a:lstStyle/>
          <a:p>
            <a:pPr>
              <a:lnSpc>
                <a:spcPct val="150000"/>
              </a:lnSpc>
            </a:pPr>
            <a:r>
              <a:rPr lang="en-US" altLang="zh-CN" dirty="0">
                <a:latin typeface="微软雅黑" panose="020B0503020204020204" pitchFamily="34" charset="-122"/>
                <a:ea typeface="微软雅黑" panose="020B0503020204020204" pitchFamily="34" charset="-122"/>
              </a:rPr>
              <a:t>Java </a:t>
            </a:r>
            <a:r>
              <a:rPr lang="zh-CN" altLang="en-US" dirty="0">
                <a:latin typeface="微软雅黑" panose="020B0503020204020204" pitchFamily="34" charset="-122"/>
                <a:ea typeface="微软雅黑" panose="020B0503020204020204" pitchFamily="34" charset="-122"/>
              </a:rPr>
              <a:t>线程由 </a:t>
            </a:r>
            <a:r>
              <a:rPr lang="en-US" altLang="zh-CN" dirty="0">
                <a:latin typeface="微软雅黑" panose="020B0503020204020204" pitchFamily="34" charset="-122"/>
                <a:ea typeface="微软雅黑" panose="020B0503020204020204" pitchFamily="34" charset="-122"/>
              </a:rPr>
              <a:t>JVM </a:t>
            </a:r>
            <a:r>
              <a:rPr lang="zh-CN" altLang="en-US" dirty="0">
                <a:latin typeface="微软雅黑" panose="020B0503020204020204" pitchFamily="34" charset="-122"/>
                <a:ea typeface="微软雅黑" panose="020B0503020204020204" pitchFamily="34" charset="-122"/>
              </a:rPr>
              <a:t>管理</a:t>
            </a:r>
          </a:p>
          <a:p>
            <a:pPr>
              <a:lnSpc>
                <a:spcPct val="150000"/>
              </a:lnSpc>
            </a:pPr>
            <a:r>
              <a:rPr lang="zh-CN" altLang="en-US" dirty="0">
                <a:latin typeface="微软雅黑" panose="020B0503020204020204" pitchFamily="34" charset="-122"/>
                <a:ea typeface="微软雅黑" panose="020B0503020204020204" pitchFamily="34" charset="-122"/>
              </a:rPr>
              <a:t>通常使用底层操作系统提供的线程模型实现</a:t>
            </a:r>
          </a:p>
          <a:p>
            <a:pPr>
              <a:lnSpc>
                <a:spcPct val="150000"/>
              </a:lnSpc>
            </a:pPr>
            <a:r>
              <a:rPr lang="en-US" altLang="zh-CN" dirty="0">
                <a:latin typeface="微软雅黑" panose="020B0503020204020204" pitchFamily="34" charset="-122"/>
                <a:ea typeface="微软雅黑" panose="020B0503020204020204" pitchFamily="34" charset="-122"/>
              </a:rPr>
              <a:t>Java </a:t>
            </a:r>
            <a:r>
              <a:rPr lang="zh-CN" altLang="en-US" dirty="0">
                <a:latin typeface="微软雅黑" panose="020B0503020204020204" pitchFamily="34" charset="-122"/>
                <a:ea typeface="微软雅黑" panose="020B0503020204020204" pitchFamily="34" charset="-122"/>
              </a:rPr>
              <a:t>线程可以通过以下方式创建：</a:t>
            </a:r>
          </a:p>
          <a:p>
            <a:pPr lvl="1">
              <a:lnSpc>
                <a:spcPct val="150000"/>
              </a:lnSpc>
            </a:pPr>
            <a:r>
              <a:rPr lang="zh-CN" altLang="en-US" dirty="0"/>
              <a:t>实现 </a:t>
            </a:r>
            <a:r>
              <a:rPr lang="en-US" altLang="zh-CN" dirty="0"/>
              <a:t>Runnable </a:t>
            </a:r>
            <a:r>
              <a:rPr lang="zh-CN" altLang="en-US" dirty="0"/>
              <a:t>接口</a:t>
            </a:r>
            <a:endParaRPr lang="en-US" altLang="zh-CN" dirty="0"/>
          </a:p>
          <a:p>
            <a:pPr lvl="1">
              <a:lnSpc>
                <a:spcPct val="150000"/>
              </a:lnSpc>
            </a:pPr>
            <a:r>
              <a:rPr lang="zh-CN" altLang="en-US" dirty="0"/>
              <a:t>扩展</a:t>
            </a:r>
            <a:r>
              <a:rPr lang="zh-CN" altLang="en-US" dirty="0">
                <a:latin typeface="微软雅黑" panose="020B0503020204020204" pitchFamily="34" charset="-122"/>
                <a:ea typeface="微软雅黑" panose="020B0503020204020204" pitchFamily="34" charset="-122"/>
              </a:rPr>
              <a:t>线程类</a:t>
            </a:r>
            <a:br>
              <a:rPr lang="en-US" altLang="en-US" dirty="0">
                <a:latin typeface="微软雅黑" panose="020B0503020204020204" pitchFamily="34" charset="-122"/>
                <a:ea typeface="微软雅黑" panose="020B0503020204020204" pitchFamily="34" charset="-122"/>
              </a:rPr>
            </a:br>
            <a:endParaRPr lang="en-US" altLang="en-US" dirty="0">
              <a:latin typeface="微软雅黑" panose="020B0503020204020204" pitchFamily="34" charset="-122"/>
              <a:ea typeface="微软雅黑" panose="020B0503020204020204" pitchFamily="34" charset="-122"/>
            </a:endParaRPr>
          </a:p>
        </p:txBody>
      </p:sp>
      <p:pic>
        <p:nvPicPr>
          <p:cNvPr id="48132" name="Picture 1" descr="Screen Shot 2012-12-04 at 9.09.28 PM.png">
            <a:extLst>
              <a:ext uri="{FF2B5EF4-FFF2-40B4-BE49-F238E27FC236}">
                <a16:creationId xmlns:a16="http://schemas.microsoft.com/office/drawing/2014/main" id="{9A59BD69-F1D7-4779-A35F-C2C7BF250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226" y="4775200"/>
            <a:ext cx="3773488"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A0110E16-57CE-4DEE-B0E6-C289AD404994}"/>
              </a:ext>
            </a:extLst>
          </p:cNvPr>
          <p:cNvPicPr>
            <a:picLocks noChangeAspect="1"/>
          </p:cNvPicPr>
          <p:nvPr/>
        </p:nvPicPr>
        <p:blipFill>
          <a:blip r:embed="rId4"/>
          <a:stretch>
            <a:fillRect/>
          </a:stretch>
        </p:blipFill>
        <p:spPr>
          <a:xfrm>
            <a:off x="7647709" y="1065645"/>
            <a:ext cx="3953377" cy="535341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9B6A98EB-D9AC-4516-9F94-912A99F44194}"/>
              </a:ext>
            </a:extLst>
          </p:cNvPr>
          <p:cNvSpPr>
            <a:spLocks noGrp="1" noChangeArrowheads="1"/>
          </p:cNvSpPr>
          <p:nvPr>
            <p:ph type="title"/>
          </p:nvPr>
        </p:nvSpPr>
        <p:spPr>
          <a:xfrm>
            <a:off x="2720976" y="163513"/>
            <a:ext cx="7718425" cy="576262"/>
          </a:xfrm>
        </p:spPr>
        <p:txBody>
          <a:bodyPr/>
          <a:lstStyle/>
          <a:p>
            <a:pPr eaLnBrk="1" hangingPunct="1"/>
            <a:r>
              <a:rPr lang="en-US" altLang="en-US" dirty="0">
                <a:latin typeface="微软雅黑" panose="020B0503020204020204" pitchFamily="34" charset="-122"/>
                <a:ea typeface="微软雅黑" panose="020B0503020204020204" pitchFamily="34" charset="-122"/>
              </a:rPr>
              <a:t>Java</a:t>
            </a:r>
            <a:r>
              <a:rPr lang="zh-CN" altLang="en-US" dirty="0">
                <a:latin typeface="微软雅黑" panose="020B0503020204020204" pitchFamily="34" charset="-122"/>
                <a:ea typeface="微软雅黑" panose="020B0503020204020204" pitchFamily="34" charset="-122"/>
              </a:rPr>
              <a:t>多线程程序</a:t>
            </a:r>
            <a:endParaRPr lang="en-US" altLang="en-US" dirty="0">
              <a:latin typeface="微软雅黑" panose="020B0503020204020204" pitchFamily="34" charset="-122"/>
              <a:ea typeface="微软雅黑" panose="020B0503020204020204" pitchFamily="34" charset="-122"/>
            </a:endParaRPr>
          </a:p>
        </p:txBody>
      </p:sp>
      <p:pic>
        <p:nvPicPr>
          <p:cNvPr id="51203" name="Picture 2">
            <a:extLst>
              <a:ext uri="{FF2B5EF4-FFF2-40B4-BE49-F238E27FC236}">
                <a16:creationId xmlns:a16="http://schemas.microsoft.com/office/drawing/2014/main" id="{7D5768D2-1776-4173-8450-525E07264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866775"/>
            <a:ext cx="7456488" cy="535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1684C34-1A46-47A4-9FA0-B2771CC1B853}"/>
              </a:ext>
            </a:extLst>
          </p:cNvPr>
          <p:cNvSpPr>
            <a:spLocks noGrp="1" noChangeArrowheads="1"/>
          </p:cNvSpPr>
          <p:nvPr>
            <p:ph type="title"/>
          </p:nvPr>
        </p:nvSpPr>
        <p:spPr>
          <a:xfrm>
            <a:off x="1981200" y="163513"/>
            <a:ext cx="8229600" cy="576262"/>
          </a:xfrm>
        </p:spPr>
        <p:txBody>
          <a:bodyPr/>
          <a:lstStyle/>
          <a:p>
            <a:pPr eaLnBrk="1" hangingPunct="1"/>
            <a:r>
              <a:rPr lang="en-US" altLang="zh-CN" dirty="0">
                <a:latin typeface="微软雅黑" panose="020B0503020204020204" pitchFamily="34" charset="-122"/>
                <a:ea typeface="微软雅黑" panose="020B0503020204020204" pitchFamily="34" charset="-122"/>
              </a:rPr>
              <a:t>4.5 </a:t>
            </a:r>
            <a:r>
              <a:rPr lang="zh-CN" altLang="en-US" dirty="0">
                <a:latin typeface="微软雅黑" panose="020B0503020204020204" pitchFamily="34" charset="-122"/>
                <a:ea typeface="微软雅黑" panose="020B0503020204020204" pitchFamily="34" charset="-122"/>
              </a:rPr>
              <a:t>隐式多线程</a:t>
            </a:r>
            <a:endParaRPr lang="en-US" altLang="en-US" dirty="0">
              <a:latin typeface="微软雅黑" panose="020B0503020204020204" pitchFamily="34" charset="-122"/>
              <a:ea typeface="微软雅黑" panose="020B0503020204020204" pitchFamily="34" charset="-122"/>
            </a:endParaRPr>
          </a:p>
        </p:txBody>
      </p:sp>
      <p:sp>
        <p:nvSpPr>
          <p:cNvPr id="52227" name="Rectangle 3">
            <a:extLst>
              <a:ext uri="{FF2B5EF4-FFF2-40B4-BE49-F238E27FC236}">
                <a16:creationId xmlns:a16="http://schemas.microsoft.com/office/drawing/2014/main" id="{553AD311-C666-4467-B668-9EA45DC5E0CC}"/>
              </a:ext>
            </a:extLst>
          </p:cNvPr>
          <p:cNvSpPr>
            <a:spLocks noGrp="1" noChangeArrowheads="1"/>
          </p:cNvSpPr>
          <p:nvPr>
            <p:ph idx="1"/>
          </p:nvPr>
        </p:nvSpPr>
        <p:spPr>
          <a:xfrm>
            <a:off x="581891" y="1233489"/>
            <a:ext cx="11315700" cy="4478337"/>
          </a:xfrm>
        </p:spPr>
        <p:txBody>
          <a:bodyPr/>
          <a:lstStyle/>
          <a:p>
            <a:pPr>
              <a:lnSpc>
                <a:spcPct val="150000"/>
              </a:lnSpc>
            </a:pPr>
            <a:r>
              <a:rPr lang="zh-CN" altLang="en-US" b="0" dirty="0">
                <a:latin typeface="微软雅黑" panose="020B0503020204020204" pitchFamily="34" charset="-122"/>
                <a:ea typeface="微软雅黑" panose="020B0503020204020204" pitchFamily="34" charset="-122"/>
              </a:rPr>
              <a:t>随着线程数量的增加，隐式线程越来越受欢迎，显式线程的程序正确性难以达到</a:t>
            </a:r>
            <a:endParaRPr lang="en-US" altLang="zh-CN" b="0"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由编译器和运行时库来创建和管理线程，而不是程序员</a:t>
            </a:r>
          </a:p>
          <a:p>
            <a:pPr>
              <a:lnSpc>
                <a:spcPct val="150000"/>
              </a:lnSpc>
            </a:pPr>
            <a:r>
              <a:rPr lang="zh-CN" altLang="en-US" b="0" dirty="0">
                <a:latin typeface="微软雅黑" panose="020B0503020204020204" pitchFamily="34" charset="-122"/>
                <a:ea typeface="微软雅黑" panose="020B0503020204020204" pitchFamily="34" charset="-122"/>
              </a:rPr>
              <a:t>探讨了三种方法</a:t>
            </a:r>
          </a:p>
          <a:p>
            <a:pPr lvl="1">
              <a:lnSpc>
                <a:spcPct val="150000"/>
              </a:lnSpc>
            </a:pPr>
            <a:r>
              <a:rPr lang="zh-CN" altLang="en-US" b="1" dirty="0">
                <a:latin typeface="微软雅黑" panose="020B0503020204020204" pitchFamily="34" charset="-122"/>
                <a:ea typeface="微软雅黑" panose="020B0503020204020204" pitchFamily="34" charset="-122"/>
              </a:rPr>
              <a:t>线程池</a:t>
            </a:r>
          </a:p>
          <a:p>
            <a:pPr lvl="1">
              <a:lnSpc>
                <a:spcPct val="150000"/>
              </a:lnSpc>
            </a:pPr>
            <a:r>
              <a:rPr lang="en-US" altLang="en-US" b="1" dirty="0">
                <a:latin typeface="微软雅黑" panose="020B0503020204020204" pitchFamily="34" charset="-122"/>
                <a:ea typeface="微软雅黑" panose="020B0503020204020204" pitchFamily="34" charset="-122"/>
              </a:rPr>
              <a:t>OpenMP</a:t>
            </a:r>
          </a:p>
          <a:p>
            <a:pPr lvl="1">
              <a:lnSpc>
                <a:spcPct val="150000"/>
              </a:lnSpc>
            </a:pPr>
            <a:r>
              <a:rPr lang="zh-CN" altLang="en-US" b="1" dirty="0">
                <a:latin typeface="微软雅黑" panose="020B0503020204020204" pitchFamily="34" charset="-122"/>
                <a:ea typeface="微软雅黑" panose="020B0503020204020204" pitchFamily="34" charset="-122"/>
              </a:rPr>
              <a:t>大中央调度</a:t>
            </a:r>
          </a:p>
          <a:p>
            <a:pPr>
              <a:lnSpc>
                <a:spcPct val="150000"/>
              </a:lnSpc>
            </a:pPr>
            <a:r>
              <a:rPr lang="zh-CN" altLang="en-US" b="0" dirty="0">
                <a:latin typeface="微软雅黑" panose="020B0503020204020204" pitchFamily="34" charset="-122"/>
                <a:ea typeface="微软雅黑" panose="020B0503020204020204" pitchFamily="34" charset="-122"/>
              </a:rPr>
              <a:t>其他方法包括</a:t>
            </a:r>
            <a:r>
              <a:rPr lang="en-US" altLang="en-US" b="0" dirty="0">
                <a:latin typeface="微软雅黑" panose="020B0503020204020204" pitchFamily="34" charset="-122"/>
                <a:ea typeface="微软雅黑" panose="020B0503020204020204" pitchFamily="34" charset="-122"/>
              </a:rPr>
              <a:t>Intel </a:t>
            </a:r>
            <a:r>
              <a:rPr lang="zh-CN" altLang="en-US" b="0" dirty="0">
                <a:latin typeface="微软雅黑" panose="020B0503020204020204" pitchFamily="34" charset="-122"/>
                <a:ea typeface="微软雅黑" panose="020B0503020204020204" pitchFamily="34" charset="-122"/>
              </a:rPr>
              <a:t>的线程构建模块</a:t>
            </a:r>
            <a:r>
              <a:rPr lang="en-US" altLang="en-US" b="0" dirty="0">
                <a:latin typeface="微软雅黑" panose="020B0503020204020204" pitchFamily="34" charset="-122"/>
                <a:ea typeface="微软雅黑" panose="020B0503020204020204" pitchFamily="34" charset="-122"/>
              </a:rPr>
              <a:t>(TBB)、</a:t>
            </a:r>
            <a:r>
              <a:rPr lang="en-US" altLang="en-US" b="0" dirty="0" err="1">
                <a:latin typeface="微软雅黑" panose="020B0503020204020204" pitchFamily="34" charset="-122"/>
                <a:ea typeface="微软雅黑" panose="020B0503020204020204" pitchFamily="34" charset="-122"/>
              </a:rPr>
              <a:t>java.util.concurrent</a:t>
            </a:r>
            <a:r>
              <a:rPr lang="en-US" altLang="en-US"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包</a:t>
            </a:r>
            <a:endParaRPr lang="en-US" altLang="en-US" b="0" dirty="0">
              <a:latin typeface="微软雅黑" panose="020B0503020204020204" pitchFamily="34" charset="-122"/>
              <a:ea typeface="微软雅黑" panose="020B0503020204020204" pitchFamily="34" charset="-122"/>
            </a:endParaRPr>
          </a:p>
          <a:p>
            <a:pPr>
              <a:lnSpc>
                <a:spcPct val="150000"/>
              </a:lnSpc>
            </a:pP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78133583-2465-447C-9EC4-AF020746EF35}"/>
              </a:ext>
            </a:extLst>
          </p:cNvPr>
          <p:cNvSpPr>
            <a:spLocks noGrp="1" noChangeArrowheads="1"/>
          </p:cNvSpPr>
          <p:nvPr>
            <p:ph type="title"/>
          </p:nvPr>
        </p:nvSpPr>
        <p:spPr>
          <a:xfrm>
            <a:off x="1981200" y="15081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线程池</a:t>
            </a:r>
            <a:endParaRPr lang="en-US" altLang="en-US">
              <a:latin typeface="微软雅黑" panose="020B0503020204020204" pitchFamily="34" charset="-122"/>
              <a:ea typeface="微软雅黑" panose="020B0503020204020204" pitchFamily="34" charset="-122"/>
            </a:endParaRPr>
          </a:p>
        </p:txBody>
      </p:sp>
      <p:sp>
        <p:nvSpPr>
          <p:cNvPr id="54275" name="Rectangle 3">
            <a:extLst>
              <a:ext uri="{FF2B5EF4-FFF2-40B4-BE49-F238E27FC236}">
                <a16:creationId xmlns:a16="http://schemas.microsoft.com/office/drawing/2014/main" id="{24D7124F-85E9-48FB-B02C-4DD793508919}"/>
              </a:ext>
            </a:extLst>
          </p:cNvPr>
          <p:cNvSpPr>
            <a:spLocks noGrp="1" noChangeArrowheads="1"/>
          </p:cNvSpPr>
          <p:nvPr>
            <p:ph idx="1"/>
          </p:nvPr>
        </p:nvSpPr>
        <p:spPr>
          <a:xfrm>
            <a:off x="581891" y="955675"/>
            <a:ext cx="11409218" cy="4478337"/>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在进程开始时创建一定数址的线程， 并加到池中以等待工作</a:t>
            </a:r>
            <a:endParaRPr lang="en-US" altLang="en-US"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优点：</a:t>
            </a:r>
          </a:p>
          <a:p>
            <a:pPr lvl="1">
              <a:lnSpc>
                <a:spcPct val="150000"/>
              </a:lnSpc>
            </a:pPr>
            <a:r>
              <a:rPr lang="zh-CN" altLang="en-US" dirty="0">
                <a:latin typeface="微软雅黑" panose="020B0503020204020204" pitchFamily="34" charset="-122"/>
                <a:ea typeface="微软雅黑" panose="020B0503020204020204" pitchFamily="34" charset="-122"/>
              </a:rPr>
              <a:t>用现有线程服务请求比等待创建一个线程更快</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线程池限制了任何时候可用线程的数量。 这对那些不能支持大量并发线程的系统非常重要。</a:t>
            </a:r>
          </a:p>
          <a:p>
            <a:pPr lvl="1">
              <a:lnSpc>
                <a:spcPct val="150000"/>
              </a:lnSpc>
            </a:pPr>
            <a:r>
              <a:rPr lang="zh-CN" altLang="en-US" dirty="0">
                <a:latin typeface="微软雅黑" panose="020B0503020204020204" pitchFamily="34" charset="-122"/>
                <a:ea typeface="微软雅黑" panose="020B0503020204020204" pitchFamily="34" charset="-122"/>
              </a:rPr>
              <a:t>将要执行任务从创建任务的机制中分离出来，允许采用不同策略运行任务。</a:t>
            </a:r>
            <a:endParaRPr lang="en-US" altLang="zh-CN" dirty="0">
              <a:latin typeface="微软雅黑" panose="020B0503020204020204" pitchFamily="34" charset="-122"/>
              <a:ea typeface="微软雅黑" panose="020B0503020204020204" pitchFamily="34" charset="-122"/>
            </a:endParaRPr>
          </a:p>
          <a:p>
            <a:pPr lvl="2">
              <a:lnSpc>
                <a:spcPct val="150000"/>
              </a:lnSpc>
            </a:pPr>
            <a:r>
              <a:rPr lang="zh-CN" altLang="en-US" dirty="0">
                <a:latin typeface="微软雅黑" panose="020B0503020204020204" pitchFamily="34" charset="-122"/>
                <a:ea typeface="微软雅黑" panose="020B0503020204020204" pitchFamily="34" charset="-122"/>
              </a:rPr>
              <a:t>例如，可以安排任务定期运行</a:t>
            </a:r>
            <a:endParaRPr lang="en-US"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Windows API </a:t>
            </a:r>
            <a:r>
              <a:rPr lang="zh-CN" altLang="en-US" dirty="0">
                <a:latin typeface="微软雅黑" panose="020B0503020204020204" pitchFamily="34" charset="-122"/>
                <a:ea typeface="微软雅黑" panose="020B0503020204020204" pitchFamily="34" charset="-122"/>
              </a:rPr>
              <a:t>支持线程池：</a:t>
            </a:r>
            <a:endParaRPr lang="en-US" altLang="en-US" dirty="0">
              <a:latin typeface="微软雅黑" panose="020B0503020204020204" pitchFamily="34" charset="-122"/>
              <a:ea typeface="微软雅黑" panose="020B0503020204020204" pitchFamily="34" charset="-122"/>
            </a:endParaRPr>
          </a:p>
        </p:txBody>
      </p:sp>
      <p:pic>
        <p:nvPicPr>
          <p:cNvPr id="54276" name="Picture 1" descr="Screen Shot 2012-12-04 at 9.17.42 PM.png">
            <a:extLst>
              <a:ext uri="{FF2B5EF4-FFF2-40B4-BE49-F238E27FC236}">
                <a16:creationId xmlns:a16="http://schemas.microsoft.com/office/drawing/2014/main" id="{C44BC671-2768-419F-9113-9414B4D7B5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5630" y="5190331"/>
            <a:ext cx="6438900"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78133583-2465-447C-9EC4-AF020746EF35}"/>
              </a:ext>
            </a:extLst>
          </p:cNvPr>
          <p:cNvSpPr>
            <a:spLocks noGrp="1" noChangeArrowheads="1"/>
          </p:cNvSpPr>
          <p:nvPr>
            <p:ph type="title"/>
          </p:nvPr>
        </p:nvSpPr>
        <p:spPr>
          <a:xfrm>
            <a:off x="1981200" y="15081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线程池</a:t>
            </a:r>
            <a:endParaRPr lang="en-US" altLang="en-US">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04227FF2-3FD3-4415-A28E-F9943A17ECC8}"/>
              </a:ext>
            </a:extLst>
          </p:cNvPr>
          <p:cNvSpPr>
            <a:spLocks noGrp="1"/>
          </p:cNvSpPr>
          <p:nvPr>
            <p:ph idx="1"/>
          </p:nvPr>
        </p:nvSpPr>
        <p:spPr>
          <a:xfrm>
            <a:off x="685800" y="1049483"/>
            <a:ext cx="11362267" cy="4714732"/>
          </a:xfrm>
        </p:spPr>
        <p:txBody>
          <a:bodyPr/>
          <a:lstStyle/>
          <a:p>
            <a:r>
              <a:rPr lang="zh-CN" altLang="en-US" dirty="0"/>
              <a:t>当线程池满时，进程需要等待有线程空闲</a:t>
            </a:r>
            <a:endParaRPr lang="en-US" altLang="zh-CN" dirty="0"/>
          </a:p>
          <a:p>
            <a:r>
              <a:rPr lang="zh-CN" altLang="en-US" dirty="0"/>
              <a:t>线程池可容纳线程的最大数量可以进行动态调整，满足不同任务需求</a:t>
            </a:r>
          </a:p>
        </p:txBody>
      </p:sp>
      <p:pic>
        <p:nvPicPr>
          <p:cNvPr id="7" name="图片 6">
            <a:extLst>
              <a:ext uri="{FF2B5EF4-FFF2-40B4-BE49-F238E27FC236}">
                <a16:creationId xmlns:a16="http://schemas.microsoft.com/office/drawing/2014/main" id="{64C49C55-2A16-46C9-9397-0DA3FD83EAC0}"/>
              </a:ext>
            </a:extLst>
          </p:cNvPr>
          <p:cNvPicPr>
            <a:picLocks noChangeAspect="1"/>
          </p:cNvPicPr>
          <p:nvPr/>
        </p:nvPicPr>
        <p:blipFill>
          <a:blip r:embed="rId3"/>
          <a:stretch>
            <a:fillRect/>
          </a:stretch>
        </p:blipFill>
        <p:spPr>
          <a:xfrm>
            <a:off x="685800" y="2311441"/>
            <a:ext cx="7768936" cy="4023199"/>
          </a:xfrm>
          <a:prstGeom prst="rect">
            <a:avLst/>
          </a:prstGeom>
        </p:spPr>
      </p:pic>
      <p:pic>
        <p:nvPicPr>
          <p:cNvPr id="8" name="图片 7">
            <a:extLst>
              <a:ext uri="{FF2B5EF4-FFF2-40B4-BE49-F238E27FC236}">
                <a16:creationId xmlns:a16="http://schemas.microsoft.com/office/drawing/2014/main" id="{A93C3BCD-01F9-44FB-B8C7-838FE029F6BC}"/>
              </a:ext>
            </a:extLst>
          </p:cNvPr>
          <p:cNvPicPr>
            <a:picLocks noChangeAspect="1"/>
          </p:cNvPicPr>
          <p:nvPr/>
        </p:nvPicPr>
        <p:blipFill>
          <a:blip r:embed="rId4"/>
          <a:stretch>
            <a:fillRect/>
          </a:stretch>
        </p:blipFill>
        <p:spPr>
          <a:xfrm>
            <a:off x="8873848" y="2311441"/>
            <a:ext cx="2944079" cy="1840049"/>
          </a:xfrm>
          <a:prstGeom prst="rect">
            <a:avLst/>
          </a:prstGeom>
        </p:spPr>
      </p:pic>
      <p:sp>
        <p:nvSpPr>
          <p:cNvPr id="4" name="矩形 3">
            <a:extLst>
              <a:ext uri="{FF2B5EF4-FFF2-40B4-BE49-F238E27FC236}">
                <a16:creationId xmlns:a16="http://schemas.microsoft.com/office/drawing/2014/main" id="{4AD7DA8C-B62E-479C-9073-2E46213DF4E5}"/>
              </a:ext>
            </a:extLst>
          </p:cNvPr>
          <p:cNvSpPr/>
          <p:nvPr/>
        </p:nvSpPr>
        <p:spPr>
          <a:xfrm>
            <a:off x="8873847" y="4151490"/>
            <a:ext cx="3174219" cy="1015663"/>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70C0"/>
                </a:solidFill>
                <a:effectLst/>
                <a:uLnTx/>
                <a:uFillTx/>
                <a:latin typeface="Times New Roman" panose="02020603050405020304" pitchFamily="18" charset="0"/>
                <a:ea typeface="等线" panose="02010600030101010101" pitchFamily="2" charset="-122"/>
                <a:cs typeface="Times New Roman" panose="02020603050405020304" pitchFamily="18" charset="0"/>
              </a:rPr>
              <a:t>Apache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70C0"/>
                </a:solidFill>
                <a:effectLst/>
                <a:uLnTx/>
                <a:uFillTx/>
                <a:latin typeface="Times New Roman" panose="02020603050405020304" pitchFamily="18" charset="0"/>
                <a:ea typeface="等线" panose="02010600030101010101" pitchFamily="2" charset="-122"/>
                <a:cs typeface="Times New Roman" panose="02020603050405020304" pitchFamily="18" charset="0"/>
              </a:rPr>
              <a:t>Multi-Processing Module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70C0"/>
                </a:solidFill>
                <a:effectLst/>
                <a:uLnTx/>
                <a:uFillTx/>
                <a:latin typeface="Times New Roman" panose="02020603050405020304" pitchFamily="18" charset="0"/>
                <a:ea typeface="等线" panose="02010600030101010101" pitchFamily="2" charset="-122"/>
                <a:cs typeface="Times New Roman" panose="02020603050405020304" pitchFamily="18" charset="0"/>
              </a:rPr>
              <a:t> (MPM) </a:t>
            </a:r>
            <a:endParaRPr kumimoji="0" lang="zh-CN" altLang="en-US" sz="12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557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E938C2AE-A131-4736-8E5C-B1B54F3560BA}"/>
              </a:ext>
            </a:extLst>
          </p:cNvPr>
          <p:cNvSpPr>
            <a:spLocks noGrp="1" noChangeArrowheads="1"/>
          </p:cNvSpPr>
          <p:nvPr>
            <p:ph type="title"/>
          </p:nvPr>
        </p:nvSpPr>
        <p:spPr>
          <a:xfrm>
            <a:off x="1981200" y="138113"/>
            <a:ext cx="8229600" cy="576262"/>
          </a:xfrm>
        </p:spPr>
        <p:txBody>
          <a:bodyPr/>
          <a:lstStyle/>
          <a:p>
            <a:pPr eaLnBrk="1" hangingPunct="1"/>
            <a:r>
              <a:rPr lang="en-US" altLang="en-US" dirty="0">
                <a:latin typeface="微软雅黑" panose="020B0503020204020204" pitchFamily="34" charset="-122"/>
                <a:ea typeface="微软雅黑" panose="020B0503020204020204" pitchFamily="34" charset="-122"/>
              </a:rPr>
              <a:t>OpenMP*</a:t>
            </a:r>
          </a:p>
        </p:txBody>
      </p:sp>
      <p:sp>
        <p:nvSpPr>
          <p:cNvPr id="56323" name="Rectangle 3">
            <a:extLst>
              <a:ext uri="{FF2B5EF4-FFF2-40B4-BE49-F238E27FC236}">
                <a16:creationId xmlns:a16="http://schemas.microsoft.com/office/drawing/2014/main" id="{7707F0E2-1552-4D65-8CCB-F029BFF458CC}"/>
              </a:ext>
            </a:extLst>
          </p:cNvPr>
          <p:cNvSpPr>
            <a:spLocks noGrp="1" noChangeArrowheads="1"/>
          </p:cNvSpPr>
          <p:nvPr>
            <p:ph idx="1"/>
          </p:nvPr>
        </p:nvSpPr>
        <p:spPr>
          <a:xfrm>
            <a:off x="561109" y="992188"/>
            <a:ext cx="9289473" cy="5454650"/>
          </a:xfrm>
        </p:spPr>
        <p:txBody>
          <a:bodyPr/>
          <a:lstStyle/>
          <a:p>
            <a:pPr>
              <a:lnSpc>
                <a:spcPct val="150000"/>
              </a:lnSpc>
            </a:pPr>
            <a:r>
              <a:rPr lang="en-US" altLang="zh-CN" sz="2000" dirty="0">
                <a:latin typeface="微软雅黑" panose="020B0503020204020204" pitchFamily="34" charset="-122"/>
                <a:ea typeface="微软雅黑" panose="020B0503020204020204" pitchFamily="34" charset="-122"/>
              </a:rPr>
              <a:t>OpenMP</a:t>
            </a:r>
            <a:r>
              <a:rPr lang="zh-CN" altLang="en-US" sz="2000" dirty="0">
                <a:latin typeface="微软雅黑" panose="020B0503020204020204" pitchFamily="34" charset="-122"/>
                <a:ea typeface="微软雅黑" panose="020B0503020204020204" pitchFamily="34" charset="-122"/>
              </a:rPr>
              <a:t>为一组编译指令和</a:t>
            </a:r>
            <a:r>
              <a:rPr lang="en-US" altLang="zh-CN" sz="2000" dirty="0">
                <a:latin typeface="微软雅黑" panose="020B0503020204020204" pitchFamily="34" charset="-122"/>
                <a:ea typeface="微软雅黑" panose="020B0503020204020204" pitchFamily="34" charset="-122"/>
              </a:rPr>
              <a:t>API, </a:t>
            </a:r>
            <a:r>
              <a:rPr lang="zh-CN" altLang="en-US" sz="2000" dirty="0">
                <a:latin typeface="微软雅黑" panose="020B0503020204020204" pitchFamily="34" charset="-122"/>
                <a:ea typeface="微软雅黑" panose="020B0503020204020204" pitchFamily="34" charset="-122"/>
              </a:rPr>
              <a:t>用于编写</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Fortran</a:t>
            </a:r>
            <a:r>
              <a:rPr lang="zh-CN" altLang="en-US" sz="2000" dirty="0">
                <a:latin typeface="微软雅黑" panose="020B0503020204020204" pitchFamily="34" charset="-122"/>
                <a:ea typeface="微软雅黑" panose="020B0503020204020204" pitchFamily="34" charset="-122"/>
              </a:rPr>
              <a:t>等语言的程序</a:t>
            </a:r>
            <a:r>
              <a:rPr lang="en-US" altLang="en-US" sz="2000" dirty="0">
                <a:latin typeface="微软雅黑" panose="020B0503020204020204" pitchFamily="34" charset="-122"/>
                <a:ea typeface="微软雅黑" panose="020B0503020204020204" pitchFamily="34" charset="-122"/>
              </a:rPr>
              <a:t> </a:t>
            </a:r>
          </a:p>
          <a:p>
            <a:pPr>
              <a:lnSpc>
                <a:spcPct val="150000"/>
              </a:lnSpc>
            </a:pPr>
            <a:r>
              <a:rPr lang="zh-CN" altLang="en-US" sz="2000" dirty="0">
                <a:latin typeface="微软雅黑" panose="020B0503020204020204" pitchFamily="34" charset="-122"/>
                <a:ea typeface="微软雅黑" panose="020B0503020204020204" pitchFamily="34" charset="-122"/>
              </a:rPr>
              <a:t>为共享内存环境中的并行编程提供支持</a:t>
            </a:r>
          </a:p>
          <a:p>
            <a:pPr>
              <a:lnSpc>
                <a:spcPct val="150000"/>
              </a:lnSpc>
            </a:pPr>
            <a:r>
              <a:rPr lang="zh-CN" altLang="en-US" sz="2000" dirty="0">
                <a:latin typeface="微软雅黑" panose="020B0503020204020204" pitchFamily="34" charset="-122"/>
                <a:ea typeface="微软雅黑" panose="020B0503020204020204" pitchFamily="34" charset="-122"/>
              </a:rPr>
              <a:t>识别</a:t>
            </a:r>
            <a:r>
              <a:rPr lang="zh-CN" altLang="en-US" sz="2000" b="1" dirty="0">
                <a:latin typeface="微软雅黑" panose="020B0503020204020204" pitchFamily="34" charset="-122"/>
                <a:ea typeface="微软雅黑" panose="020B0503020204020204" pitchFamily="34" charset="-122"/>
              </a:rPr>
              <a:t>并行区域</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可以并行运行的代码块</a:t>
            </a:r>
          </a:p>
          <a:p>
            <a:pPr marL="363538" indent="0">
              <a:lnSpc>
                <a:spcPct val="150000"/>
              </a:lnSpc>
              <a:buFont typeface="Monotype Sorts" pitchFamily="-84" charset="2"/>
              <a:buNone/>
            </a:pPr>
            <a:r>
              <a:rPr lang="zh-CN" altLang="en-US" sz="2000" dirty="0">
                <a:latin typeface="微软雅黑" panose="020B0503020204020204" pitchFamily="34" charset="-122"/>
                <a:ea typeface="微软雅黑" panose="020B0503020204020204" pitchFamily="34" charset="-122"/>
              </a:rPr>
              <a:t>当</a:t>
            </a:r>
            <a:r>
              <a:rPr lang="en-US" altLang="zh-CN" sz="2000" dirty="0">
                <a:latin typeface="微软雅黑" panose="020B0503020204020204" pitchFamily="34" charset="-122"/>
                <a:ea typeface="微软雅黑" panose="020B0503020204020204" pitchFamily="34" charset="-122"/>
              </a:rPr>
              <a:t>OpenMP</a:t>
            </a:r>
            <a:r>
              <a:rPr lang="zh-CN" altLang="en-US" sz="2000" dirty="0">
                <a:latin typeface="微软雅黑" panose="020B0503020204020204" pitchFamily="34" charset="-122"/>
                <a:ea typeface="微软雅黑" panose="020B0503020204020204" pitchFamily="34" charset="-122"/>
              </a:rPr>
              <a:t>遇到如下指令时：</a:t>
            </a:r>
            <a:endParaRPr lang="en-US" altLang="zh-CN" sz="2000" dirty="0">
              <a:latin typeface="微软雅黑" panose="020B0503020204020204" pitchFamily="34" charset="-122"/>
              <a:ea typeface="微软雅黑" panose="020B0503020204020204" pitchFamily="34" charset="-122"/>
            </a:endParaRPr>
          </a:p>
          <a:p>
            <a:pPr marL="363538" indent="0">
              <a:lnSpc>
                <a:spcPct val="150000"/>
              </a:lnSpc>
              <a:buNone/>
            </a:pPr>
            <a:r>
              <a:rPr lang="en-US" altLang="en-US" sz="2000" b="0" i="1" dirty="0">
                <a:latin typeface="Times New Roman" panose="02020603050405020304" pitchFamily="18" charset="0"/>
                <a:cs typeface="Times New Roman" panose="02020603050405020304" pitchFamily="18" charset="0"/>
              </a:rPr>
              <a:t>         #pragma </a:t>
            </a:r>
            <a:r>
              <a:rPr lang="en-US" altLang="en-US" sz="2000" b="0" i="1" dirty="0" err="1">
                <a:latin typeface="Times New Roman" panose="02020603050405020304" pitchFamily="18" charset="0"/>
                <a:cs typeface="Times New Roman" panose="02020603050405020304" pitchFamily="18" charset="0"/>
              </a:rPr>
              <a:t>omp</a:t>
            </a:r>
            <a:r>
              <a:rPr lang="en-US" altLang="en-US" sz="2000" b="0" i="1" dirty="0">
                <a:latin typeface="Times New Roman" panose="02020603050405020304" pitchFamily="18" charset="0"/>
                <a:cs typeface="Times New Roman" panose="02020603050405020304" pitchFamily="18" charset="0"/>
              </a:rPr>
              <a:t> parallel </a:t>
            </a:r>
          </a:p>
          <a:p>
            <a:pPr marL="363538" indent="0">
              <a:lnSpc>
                <a:spcPct val="150000"/>
              </a:lnSpc>
              <a:buFont typeface="Monotype Sorts" pitchFamily="-84" charset="2"/>
              <a:buNone/>
            </a:pPr>
            <a:r>
              <a:rPr lang="zh-CN" altLang="en-US" sz="2000" dirty="0">
                <a:latin typeface="微软雅黑" panose="020B0503020204020204" pitchFamily="34" charset="-122"/>
                <a:ea typeface="微软雅黑" panose="020B0503020204020204" pitchFamily="34" charset="-122"/>
              </a:rPr>
              <a:t>创建与系统处理核一样多的线程</a:t>
            </a:r>
            <a:endParaRPr lang="en-US" altLang="zh-CN" sz="2000" dirty="0">
              <a:latin typeface="微软雅黑" panose="020B0503020204020204" pitchFamily="34" charset="-122"/>
              <a:ea typeface="微软雅黑" panose="020B0503020204020204" pitchFamily="34" charset="-122"/>
            </a:endParaRPr>
          </a:p>
          <a:p>
            <a:pPr marL="363538" indent="0">
              <a:lnSpc>
                <a:spcPct val="150000"/>
              </a:lnSpc>
              <a:buFont typeface="Monotype Sorts" pitchFamily="-84" charset="2"/>
              <a:buNone/>
            </a:pPr>
            <a:r>
              <a:rPr lang="da-DK" altLang="en-US" sz="2000" b="0" i="1" dirty="0">
                <a:latin typeface="Times New Roman" panose="02020603050405020304" pitchFamily="18" charset="0"/>
                <a:cs typeface="Times New Roman" panose="02020603050405020304" pitchFamily="18" charset="0"/>
              </a:rPr>
              <a:t>#pragma omp parallel for for(i=0;i&lt;N;i++) { </a:t>
            </a:r>
          </a:p>
          <a:p>
            <a:pPr marL="363538" indent="0">
              <a:lnSpc>
                <a:spcPct val="150000"/>
              </a:lnSpc>
              <a:buFont typeface="Monotype Sorts" pitchFamily="-84" charset="2"/>
              <a:buNone/>
            </a:pPr>
            <a:r>
              <a:rPr lang="da-DK" altLang="en-US" sz="2000" b="0" i="1" dirty="0">
                <a:latin typeface="Times New Roman" panose="02020603050405020304" pitchFamily="18" charset="0"/>
                <a:cs typeface="Times New Roman" panose="02020603050405020304" pitchFamily="18" charset="0"/>
              </a:rPr>
              <a:t>    c[i] = a[i] + b[i]; </a:t>
            </a:r>
          </a:p>
          <a:p>
            <a:pPr marL="363538" indent="0">
              <a:lnSpc>
                <a:spcPct val="150000"/>
              </a:lnSpc>
              <a:buFont typeface="Monotype Sorts" pitchFamily="-84" charset="2"/>
              <a:buNone/>
            </a:pPr>
            <a:r>
              <a:rPr lang="da-DK" altLang="en-US" sz="2000" b="0" i="1" dirty="0">
                <a:latin typeface="Times New Roman" panose="02020603050405020304" pitchFamily="18" charset="0"/>
                <a:cs typeface="Times New Roman" panose="02020603050405020304" pitchFamily="18" charset="0"/>
              </a:rPr>
              <a:t>} </a:t>
            </a:r>
          </a:p>
          <a:p>
            <a:pPr marL="363538" indent="0">
              <a:lnSpc>
                <a:spcPct val="150000"/>
              </a:lnSpc>
              <a:buFont typeface="Monotype Sorts" pitchFamily="-84" charset="2"/>
              <a:buNone/>
            </a:pPr>
            <a:r>
              <a:rPr lang="zh-CN" altLang="en-US" sz="2000" dirty="0">
                <a:latin typeface="微软雅黑" panose="020B0503020204020204" pitchFamily="34" charset="-122"/>
                <a:ea typeface="微软雅黑" panose="020B0503020204020204" pitchFamily="34" charset="-122"/>
              </a:rPr>
              <a:t>并行运行 </a:t>
            </a:r>
            <a:r>
              <a:rPr lang="en-US" altLang="en-US" sz="2000" dirty="0">
                <a:latin typeface="微软雅黑" panose="020B0503020204020204" pitchFamily="34" charset="-122"/>
                <a:ea typeface="微软雅黑" panose="020B0503020204020204" pitchFamily="34" charset="-122"/>
              </a:rPr>
              <a:t>for </a:t>
            </a:r>
            <a:r>
              <a:rPr lang="zh-CN" altLang="en-US" sz="2000" dirty="0">
                <a:latin typeface="微软雅黑" panose="020B0503020204020204" pitchFamily="34" charset="-122"/>
                <a:ea typeface="微软雅黑" panose="020B0503020204020204" pitchFamily="34" charset="-122"/>
              </a:rPr>
              <a:t>循环</a:t>
            </a:r>
            <a:endParaRPr lang="en-US" altLang="en-US" sz="2000" dirty="0">
              <a:latin typeface="微软雅黑" panose="020B0503020204020204" pitchFamily="34" charset="-122"/>
              <a:ea typeface="微软雅黑" panose="020B0503020204020204" pitchFamily="34" charset="-122"/>
            </a:endParaRPr>
          </a:p>
          <a:p>
            <a:pPr>
              <a:lnSpc>
                <a:spcPct val="150000"/>
              </a:lnSpc>
            </a:pPr>
            <a:endParaRPr lang="en-US" altLang="en-US" sz="1800" dirty="0"/>
          </a:p>
        </p:txBody>
      </p:sp>
      <p:pic>
        <p:nvPicPr>
          <p:cNvPr id="56324" name="Picture 2">
            <a:extLst>
              <a:ext uri="{FF2B5EF4-FFF2-40B4-BE49-F238E27FC236}">
                <a16:creationId xmlns:a16="http://schemas.microsoft.com/office/drawing/2014/main" id="{2B40CDDA-C1B7-4156-B173-A9D533A89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7791" y="1874837"/>
            <a:ext cx="44831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FF3E723-FAAE-4AD9-A03C-2B1E50C33EAD}"/>
              </a:ext>
            </a:extLst>
          </p:cNvPr>
          <p:cNvSpPr>
            <a:spLocks noGrp="1" noChangeArrowheads="1"/>
          </p:cNvSpPr>
          <p:nvPr>
            <p:ph type="title"/>
          </p:nvPr>
        </p:nvSpPr>
        <p:spPr>
          <a:xfrm>
            <a:off x="1981200" y="138113"/>
            <a:ext cx="8229600" cy="576262"/>
          </a:xfrm>
        </p:spPr>
        <p:txBody>
          <a:bodyPr/>
          <a:lstStyle/>
          <a:p>
            <a:pPr eaLnBrk="1" hangingPunct="1"/>
            <a:r>
              <a:rPr lang="zh-CN" altLang="en-US" dirty="0">
                <a:latin typeface="微软雅黑" panose="020B0503020204020204" pitchFamily="34" charset="-122"/>
                <a:ea typeface="微软雅黑" panose="020B0503020204020204" pitchFamily="34" charset="-122"/>
              </a:rPr>
              <a:t>大中央调度（</a:t>
            </a:r>
            <a:r>
              <a:rPr lang="en-US" altLang="zh-CN" dirty="0">
                <a:latin typeface="微软雅黑" panose="020B0503020204020204" pitchFamily="34" charset="-122"/>
                <a:ea typeface="微软雅黑" panose="020B0503020204020204" pitchFamily="34" charset="-122"/>
              </a:rPr>
              <a:t>GDC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endParaRPr lang="en-US" altLang="en-US" dirty="0">
              <a:latin typeface="微软雅黑" panose="020B0503020204020204" pitchFamily="34" charset="-122"/>
              <a:ea typeface="微软雅黑" panose="020B0503020204020204" pitchFamily="34" charset="-122"/>
            </a:endParaRPr>
          </a:p>
        </p:txBody>
      </p:sp>
      <p:sp>
        <p:nvSpPr>
          <p:cNvPr id="58371" name="Rectangle 3">
            <a:extLst>
              <a:ext uri="{FF2B5EF4-FFF2-40B4-BE49-F238E27FC236}">
                <a16:creationId xmlns:a16="http://schemas.microsoft.com/office/drawing/2014/main" id="{B9A128C6-EFB0-49B8-A242-04072F1F6FF0}"/>
              </a:ext>
            </a:extLst>
          </p:cNvPr>
          <p:cNvSpPr>
            <a:spLocks noGrp="1" noChangeArrowheads="1"/>
          </p:cNvSpPr>
          <p:nvPr>
            <p:ph idx="1"/>
          </p:nvPr>
        </p:nvSpPr>
        <p:spPr>
          <a:xfrm>
            <a:off x="675409" y="1114714"/>
            <a:ext cx="11516591" cy="4478338"/>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适用于</a:t>
            </a:r>
            <a:r>
              <a:rPr lang="en-US" altLang="zh-CN" dirty="0">
                <a:latin typeface="微软雅黑" panose="020B0503020204020204" pitchFamily="34" charset="-122"/>
                <a:ea typeface="微软雅黑" panose="020B0503020204020204" pitchFamily="34" charset="-122"/>
              </a:rPr>
              <a:t>Apple</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Mac OS X </a:t>
            </a:r>
            <a:r>
              <a:rPr lang="zh-CN" altLang="en-US" dirty="0">
                <a:latin typeface="微软雅黑" panose="020B0503020204020204" pitchFamily="34" charset="-122"/>
                <a:ea typeface="微软雅黑" panose="020B0503020204020204" pitchFamily="34" charset="-122"/>
              </a:rPr>
              <a:t>和 </a:t>
            </a:r>
            <a:r>
              <a:rPr lang="en-US" altLang="zh-CN" dirty="0">
                <a:latin typeface="微软雅黑" panose="020B0503020204020204" pitchFamily="34" charset="-122"/>
                <a:ea typeface="微软雅黑" panose="020B0503020204020204" pitchFamily="34" charset="-122"/>
              </a:rPr>
              <a:t>iOS </a:t>
            </a:r>
            <a:r>
              <a:rPr lang="zh-CN" altLang="en-US" dirty="0">
                <a:latin typeface="微软雅黑" panose="020B0503020204020204" pitchFamily="34" charset="-122"/>
                <a:ea typeface="微软雅黑" panose="020B0503020204020204" pitchFamily="34" charset="-122"/>
              </a:rPr>
              <a:t>操作系统的一种技术</a:t>
            </a:r>
          </a:p>
          <a:p>
            <a:pPr>
              <a:lnSpc>
                <a:spcPct val="150000"/>
              </a:lnSpc>
            </a:pPr>
            <a:r>
              <a:rPr lang="zh-CN" altLang="en-US" dirty="0">
                <a:latin typeface="微软雅黑" panose="020B0503020204020204" pitchFamily="34" charset="-122"/>
                <a:ea typeface="微软雅黑" panose="020B0503020204020204" pitchFamily="34" charset="-122"/>
              </a:rPr>
              <a:t>对 </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语言、</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API</a:t>
            </a:r>
            <a:r>
              <a:rPr lang="zh-CN" altLang="en-US" dirty="0">
                <a:latin typeface="微软雅黑" panose="020B0503020204020204" pitchFamily="34" charset="-122"/>
                <a:ea typeface="微软雅黑" panose="020B0503020204020204" pitchFamily="34" charset="-122"/>
              </a:rPr>
              <a:t>和运行时库的一组扩展</a:t>
            </a:r>
          </a:p>
          <a:p>
            <a:pPr>
              <a:lnSpc>
                <a:spcPct val="150000"/>
              </a:lnSpc>
            </a:pPr>
            <a:r>
              <a:rPr lang="zh-CN" altLang="en-US" dirty="0">
                <a:latin typeface="微软雅黑" panose="020B0503020204020204" pitchFamily="34" charset="-122"/>
                <a:ea typeface="微软雅黑" panose="020B0503020204020204" pitchFamily="34" charset="-122"/>
              </a:rPr>
              <a:t>允许某些代码区段并行运行</a:t>
            </a:r>
          </a:p>
          <a:p>
            <a:pPr>
              <a:lnSpc>
                <a:spcPct val="150000"/>
              </a:lnSpc>
            </a:pPr>
            <a:r>
              <a:rPr lang="zh-CN" altLang="en-US" dirty="0">
                <a:latin typeface="微软雅黑" panose="020B0503020204020204" pitchFamily="34" charset="-122"/>
                <a:ea typeface="微软雅黑" panose="020B0503020204020204" pitchFamily="34" charset="-122"/>
              </a:rPr>
              <a:t>管理多线程的大部分细节</a:t>
            </a:r>
          </a:p>
          <a:p>
            <a:pPr>
              <a:lnSpc>
                <a:spcPct val="150000"/>
              </a:lnSpc>
            </a:pPr>
            <a:r>
              <a:rPr lang="zh-CN" altLang="en-US" dirty="0">
                <a:latin typeface="微软雅黑" panose="020B0503020204020204" pitchFamily="34" charset="-122"/>
                <a:ea typeface="微软雅黑" panose="020B0503020204020204" pitchFamily="34" charset="-122"/>
              </a:rPr>
              <a:t>每个块是工作的一个独立单元，用花括号将代码括起来，然后前面加上字符，如：</a:t>
            </a:r>
            <a:endParaRPr lang="en-US" altLang="zh-CN" dirty="0">
              <a:latin typeface="微软雅黑" panose="020B0503020204020204" pitchFamily="34" charset="-122"/>
              <a:ea typeface="微软雅黑" panose="020B0503020204020204" pitchFamily="34" charset="-122"/>
            </a:endParaRPr>
          </a:p>
          <a:p>
            <a:pPr algn="ctr">
              <a:lnSpc>
                <a:spcPct val="150000"/>
              </a:lnSpc>
              <a:buFont typeface="Monotype Sorts" pitchFamily="-84" charset="2"/>
              <a:buNone/>
            </a:pPr>
            <a:r>
              <a:rPr lang="en-US" altLang="en-US" dirty="0">
                <a:latin typeface="微软雅黑" panose="020B0503020204020204" pitchFamily="34" charset="-122"/>
                <a:ea typeface="微软雅黑" panose="020B0503020204020204" pitchFamily="34" charset="-122"/>
              </a:rPr>
              <a:t>	</a:t>
            </a:r>
            <a:r>
              <a:rPr lang="en-US" altLang="en-US" b="0" i="1" dirty="0">
                <a:latin typeface="Times New Roman" panose="02020603050405020304" pitchFamily="18" charset="0"/>
                <a:cs typeface="Times New Roman" panose="02020603050405020304" pitchFamily="18" charset="0"/>
              </a:rPr>
              <a:t>“^{ }” -   </a:t>
            </a:r>
            <a:r>
              <a:rPr lang="ro-RO" altLang="en-US" b="0" i="1" dirty="0">
                <a:latin typeface="Times New Roman" panose="02020603050405020304" pitchFamily="18" charset="0"/>
                <a:cs typeface="Times New Roman" panose="02020603050405020304" pitchFamily="18" charset="0"/>
              </a:rPr>
              <a:t>ˆ{ printf("I am a block"); } </a:t>
            </a:r>
            <a:endParaRPr lang="en-US" altLang="en-US" b="0" i="1" dirty="0">
              <a:latin typeface="Times New Roman" panose="02020603050405020304" pitchFamily="18" charset="0"/>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rPr>
              <a:t>块放置在调度队列中</a:t>
            </a:r>
          </a:p>
          <a:p>
            <a:pPr lvl="1">
              <a:lnSpc>
                <a:spcPct val="150000"/>
              </a:lnSpc>
            </a:pPr>
            <a:r>
              <a:rPr lang="zh-CN" altLang="en-US" dirty="0">
                <a:latin typeface="微软雅黑" panose="020B0503020204020204" pitchFamily="34" charset="-122"/>
                <a:ea typeface="微软雅黑" panose="020B0503020204020204" pitchFamily="34" charset="-122"/>
              </a:rPr>
              <a:t>从队列中移除时，将块分配给线程池中的可用线程</a:t>
            </a: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DD44003-A4A1-4AAD-B2FD-710CE26549D7}"/>
              </a:ext>
            </a:extLst>
          </p:cNvPr>
          <p:cNvSpPr>
            <a:spLocks noGrp="1" noChangeArrowheads="1"/>
          </p:cNvSpPr>
          <p:nvPr>
            <p:ph type="title"/>
          </p:nvPr>
        </p:nvSpPr>
        <p:spPr>
          <a:xfrm>
            <a:off x="1981200" y="176213"/>
            <a:ext cx="8229600" cy="576262"/>
          </a:xfrm>
        </p:spPr>
        <p:txBody>
          <a:bodyPr/>
          <a:lstStyle/>
          <a:p>
            <a:pPr eaLnBrk="1" hangingPunct="1"/>
            <a:r>
              <a:rPr lang="zh-CN" altLang="en-US" dirty="0">
                <a:latin typeface="微软雅黑" panose="020B0503020204020204" pitchFamily="34" charset="-122"/>
                <a:ea typeface="微软雅黑" panose="020B0503020204020204" pitchFamily="34" charset="-122"/>
              </a:rPr>
              <a:t>大中央调度（</a:t>
            </a:r>
            <a:r>
              <a:rPr lang="en-US" altLang="zh-CN" dirty="0">
                <a:latin typeface="微软雅黑" panose="020B0503020204020204" pitchFamily="34" charset="-122"/>
                <a:ea typeface="微软雅黑" panose="020B0503020204020204" pitchFamily="34" charset="-122"/>
              </a:rPr>
              <a:t>GDC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endParaRPr lang="en-US" altLang="en-US" dirty="0">
              <a:latin typeface="微软雅黑" panose="020B0503020204020204" pitchFamily="34" charset="-122"/>
              <a:ea typeface="微软雅黑" panose="020B0503020204020204" pitchFamily="34" charset="-122"/>
            </a:endParaRPr>
          </a:p>
        </p:txBody>
      </p:sp>
      <p:sp>
        <p:nvSpPr>
          <p:cNvPr id="60419" name="Rectangle 3">
            <a:extLst>
              <a:ext uri="{FF2B5EF4-FFF2-40B4-BE49-F238E27FC236}">
                <a16:creationId xmlns:a16="http://schemas.microsoft.com/office/drawing/2014/main" id="{877044F7-93CB-4B05-8594-7D459CF86DA9}"/>
              </a:ext>
            </a:extLst>
          </p:cNvPr>
          <p:cNvSpPr>
            <a:spLocks noGrp="1" noChangeArrowheads="1"/>
          </p:cNvSpPr>
          <p:nvPr>
            <p:ph idx="1"/>
          </p:nvPr>
        </p:nvSpPr>
        <p:spPr>
          <a:xfrm>
            <a:off x="609600" y="1068243"/>
            <a:ext cx="10972800" cy="4478338"/>
          </a:xfrm>
        </p:spPr>
        <p:txBody>
          <a:bodyPr/>
          <a:lstStyle/>
          <a:p>
            <a:pPr>
              <a:lnSpc>
                <a:spcPct val="200000"/>
              </a:lnSpc>
            </a:pPr>
            <a:r>
              <a:rPr lang="en-US" altLang="zh-CN" dirty="0">
                <a:latin typeface="微软雅黑" panose="020B0503020204020204" pitchFamily="34" charset="-122"/>
                <a:ea typeface="微软雅黑" panose="020B0503020204020204" pitchFamily="34" charset="-122"/>
              </a:rPr>
              <a:t>GDC </a:t>
            </a:r>
            <a:r>
              <a:rPr lang="zh-CN" altLang="en-US" dirty="0">
                <a:latin typeface="微软雅黑" panose="020B0503020204020204" pitchFamily="34" charset="-122"/>
                <a:ea typeface="微软雅黑" panose="020B0503020204020204" pitchFamily="34" charset="-122"/>
              </a:rPr>
              <a:t>识别两种类型的调度队列：</a:t>
            </a:r>
          </a:p>
          <a:p>
            <a:pPr lvl="1">
              <a:lnSpc>
                <a:spcPct val="200000"/>
              </a:lnSpc>
            </a:pPr>
            <a:r>
              <a:rPr lang="zh-CN" altLang="en-US" dirty="0">
                <a:latin typeface="微软雅黑" panose="020B0503020204020204" pitchFamily="34" charset="-122"/>
                <a:ea typeface="微软雅黑" panose="020B0503020204020204" pitchFamily="34" charset="-122"/>
              </a:rPr>
              <a:t>串行</a:t>
            </a:r>
            <a:r>
              <a:rPr lang="en-US" altLang="zh-CN" dirty="0">
                <a:latin typeface="微软雅黑" panose="020B0503020204020204" pitchFamily="34" charset="-122"/>
                <a:ea typeface="微软雅黑" panose="020B0503020204020204" pitchFamily="34" charset="-122"/>
              </a:rPr>
              <a:t>(serial)——</a:t>
            </a:r>
            <a:r>
              <a:rPr lang="zh-CN" altLang="en-US" dirty="0">
                <a:latin typeface="微软雅黑" panose="020B0503020204020204" pitchFamily="34" charset="-122"/>
                <a:ea typeface="微软雅黑" panose="020B0503020204020204" pitchFamily="34" charset="-122"/>
              </a:rPr>
              <a:t>按</a:t>
            </a:r>
            <a:r>
              <a:rPr lang="en-US" altLang="zh-CN" dirty="0">
                <a:latin typeface="微软雅黑" panose="020B0503020204020204" pitchFamily="34" charset="-122"/>
                <a:ea typeface="微软雅黑" panose="020B0503020204020204" pitchFamily="34" charset="-122"/>
              </a:rPr>
              <a:t>FIFO</a:t>
            </a:r>
            <a:r>
              <a:rPr lang="zh-CN" altLang="en-US" dirty="0">
                <a:latin typeface="微软雅黑" panose="020B0503020204020204" pitchFamily="34" charset="-122"/>
                <a:ea typeface="微软雅黑" panose="020B0503020204020204" pitchFamily="34" charset="-122"/>
              </a:rPr>
              <a:t>顺序删除，每个进程都有自己的串行队列，称之为</a:t>
            </a:r>
            <a:r>
              <a:rPr lang="zh-CN" altLang="en-US" b="1" dirty="0">
                <a:latin typeface="微软雅黑" panose="020B0503020204020204" pitchFamily="34" charset="-122"/>
                <a:ea typeface="微软雅黑" panose="020B0503020204020204" pitchFamily="34" charset="-122"/>
              </a:rPr>
              <a:t>主队列</a:t>
            </a:r>
          </a:p>
          <a:p>
            <a:pPr lvl="2">
              <a:lnSpc>
                <a:spcPct val="200000"/>
              </a:lnSpc>
            </a:pPr>
            <a:r>
              <a:rPr lang="zh-CN" altLang="en-US" dirty="0">
                <a:latin typeface="微软雅黑" panose="020B0503020204020204" pitchFamily="34" charset="-122"/>
                <a:ea typeface="微软雅黑" panose="020B0503020204020204" pitchFamily="34" charset="-122"/>
              </a:rPr>
              <a:t>开发人员可以创建属于本进程的其他串行队列</a:t>
            </a:r>
            <a:endParaRPr lang="en-US" altLang="en-US" dirty="0">
              <a:latin typeface="微软雅黑" panose="020B0503020204020204" pitchFamily="34" charset="-122"/>
              <a:ea typeface="微软雅黑" panose="020B0503020204020204" pitchFamily="34" charset="-122"/>
            </a:endParaRPr>
          </a:p>
          <a:p>
            <a:pPr lvl="1">
              <a:lnSpc>
                <a:spcPct val="200000"/>
              </a:lnSpc>
            </a:pPr>
            <a:r>
              <a:rPr lang="zh-CN" altLang="en-US" dirty="0">
                <a:latin typeface="微软雅黑" panose="020B0503020204020204" pitchFamily="34" charset="-122"/>
                <a:ea typeface="微软雅黑" panose="020B0503020204020204" pitchFamily="34" charset="-122"/>
              </a:rPr>
              <a:t>并发</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按</a:t>
            </a:r>
            <a:r>
              <a:rPr lang="en-US" altLang="zh-CN" dirty="0">
                <a:latin typeface="微软雅黑" panose="020B0503020204020204" pitchFamily="34" charset="-122"/>
                <a:ea typeface="微软雅黑" panose="020B0503020204020204" pitchFamily="34" charset="-122"/>
              </a:rPr>
              <a:t>FIFO</a:t>
            </a:r>
            <a:r>
              <a:rPr lang="zh-CN" altLang="en-US" dirty="0">
                <a:latin typeface="微软雅黑" panose="020B0503020204020204" pitchFamily="34" charset="-122"/>
                <a:ea typeface="微软雅黑" panose="020B0503020204020204" pitchFamily="34" charset="-122"/>
              </a:rPr>
              <a:t>顺序删除，但可以同时删除多个块</a:t>
            </a:r>
          </a:p>
          <a:p>
            <a:pPr lvl="2">
              <a:lnSpc>
                <a:spcPct val="200000"/>
              </a:lnSpc>
            </a:pPr>
            <a:r>
              <a:rPr lang="zh-CN" altLang="en-US" dirty="0">
                <a:latin typeface="微软雅黑" panose="020B0503020204020204" pitchFamily="34" charset="-122"/>
                <a:ea typeface="微软雅黑" panose="020B0503020204020204" pitchFamily="34" charset="-122"/>
              </a:rPr>
              <a:t>有三个系统级的并发调度队列， 它们的优先级为：低、默认和高</a:t>
            </a:r>
            <a:endParaRPr lang="en-US" altLang="en-US" dirty="0">
              <a:latin typeface="微软雅黑" panose="020B0503020204020204" pitchFamily="34" charset="-122"/>
              <a:ea typeface="微软雅黑" panose="020B0503020204020204" pitchFamily="34" charset="-122"/>
            </a:endParaRPr>
          </a:p>
          <a:p>
            <a:pPr>
              <a:lnSpc>
                <a:spcPct val="200000"/>
              </a:lnSpc>
            </a:pPr>
            <a:endParaRPr lang="en-US" altLang="en-US" dirty="0">
              <a:latin typeface="微软雅黑" panose="020B0503020204020204" pitchFamily="34" charset="-122"/>
              <a:ea typeface="微软雅黑" panose="020B0503020204020204" pitchFamily="34" charset="-122"/>
            </a:endParaRPr>
          </a:p>
        </p:txBody>
      </p:sp>
      <p:pic>
        <p:nvPicPr>
          <p:cNvPr id="60420" name="Picture 2">
            <a:extLst>
              <a:ext uri="{FF2B5EF4-FFF2-40B4-BE49-F238E27FC236}">
                <a16:creationId xmlns:a16="http://schemas.microsoft.com/office/drawing/2014/main" id="{1C0F0AB7-93EC-4039-B2AA-50B0232FE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9409" y="4883728"/>
            <a:ext cx="55118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F6F49651-DDFC-44B1-ABE7-916549A85844}"/>
              </a:ext>
            </a:extLst>
          </p:cNvPr>
          <p:cNvSpPr>
            <a:spLocks noGrp="1" noChangeArrowheads="1"/>
          </p:cNvSpPr>
          <p:nvPr>
            <p:ph type="title"/>
          </p:nvPr>
        </p:nvSpPr>
        <p:spPr>
          <a:xfrm>
            <a:off x="1981200" y="150813"/>
            <a:ext cx="8229600" cy="576262"/>
          </a:xfrm>
        </p:spPr>
        <p:txBody>
          <a:bodyPr/>
          <a:lstStyle/>
          <a:p>
            <a:pPr eaLnBrk="1" hangingPunct="1"/>
            <a:r>
              <a:rPr lang="en-US" altLang="zh-CN" dirty="0">
                <a:latin typeface="微软雅黑" panose="020B0503020204020204" pitchFamily="34" charset="-122"/>
                <a:ea typeface="微软雅黑" panose="020B0503020204020204" pitchFamily="34" charset="-122"/>
              </a:rPr>
              <a:t>4.6 </a:t>
            </a:r>
            <a:r>
              <a:rPr lang="zh-CN" altLang="en-US" dirty="0">
                <a:latin typeface="微软雅黑" panose="020B0503020204020204" pitchFamily="34" charset="-122"/>
                <a:ea typeface="微软雅黑" panose="020B0503020204020204" pitchFamily="34" charset="-122"/>
              </a:rPr>
              <a:t>多线程问题</a:t>
            </a:r>
            <a:endParaRPr lang="en-US" altLang="en-US" dirty="0">
              <a:latin typeface="微软雅黑" panose="020B0503020204020204" pitchFamily="34" charset="-122"/>
              <a:ea typeface="微软雅黑" panose="020B0503020204020204" pitchFamily="34" charset="-122"/>
            </a:endParaRPr>
          </a:p>
        </p:txBody>
      </p:sp>
      <p:sp>
        <p:nvSpPr>
          <p:cNvPr id="62467" name="Rectangle 3">
            <a:extLst>
              <a:ext uri="{FF2B5EF4-FFF2-40B4-BE49-F238E27FC236}">
                <a16:creationId xmlns:a16="http://schemas.microsoft.com/office/drawing/2014/main" id="{03F93FDA-346C-4B70-A09A-93DB7BCB9A7C}"/>
              </a:ext>
            </a:extLst>
          </p:cNvPr>
          <p:cNvSpPr>
            <a:spLocks noGrp="1" noChangeArrowheads="1"/>
          </p:cNvSpPr>
          <p:nvPr>
            <p:ph idx="1"/>
          </p:nvPr>
        </p:nvSpPr>
        <p:spPr>
          <a:xfrm>
            <a:off x="613064" y="1143000"/>
            <a:ext cx="9191336" cy="4483100"/>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系统调用</a:t>
            </a:r>
            <a:r>
              <a:rPr lang="en-US" altLang="zh-CN" dirty="0">
                <a:latin typeface="微软雅黑" panose="020B0503020204020204" pitchFamily="34" charset="-122"/>
                <a:ea typeface="微软雅黑" panose="020B0503020204020204" pitchFamily="34" charset="-122"/>
              </a:rPr>
              <a:t>fork() </a:t>
            </a:r>
            <a:r>
              <a:rPr lang="zh-CN" altLang="en-US" dirty="0">
                <a:latin typeface="微软雅黑" panose="020B0503020204020204" pitchFamily="34" charset="-122"/>
                <a:ea typeface="微软雅黑" panose="020B0503020204020204" pitchFamily="34" charset="-122"/>
              </a:rPr>
              <a:t>和 </a:t>
            </a:r>
            <a:r>
              <a:rPr lang="en-US" altLang="zh-CN" dirty="0">
                <a:latin typeface="微软雅黑" panose="020B0503020204020204" pitchFamily="34" charset="-122"/>
                <a:ea typeface="微软雅黑" panose="020B0503020204020204" pitchFamily="34" charset="-122"/>
              </a:rPr>
              <a:t>exec()</a:t>
            </a:r>
            <a:endParaRPr lang="zh-CN" altLang="en-US"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信号处理</a:t>
            </a:r>
          </a:p>
          <a:p>
            <a:pPr lvl="1">
              <a:lnSpc>
                <a:spcPct val="150000"/>
              </a:lnSpc>
            </a:pPr>
            <a:r>
              <a:rPr lang="zh-CN" altLang="en-US" dirty="0">
                <a:latin typeface="微软雅黑" panose="020B0503020204020204" pitchFamily="34" charset="-122"/>
                <a:ea typeface="微软雅黑" panose="020B0503020204020204" pitchFamily="34" charset="-122"/>
              </a:rPr>
              <a:t>同步和异步</a:t>
            </a:r>
          </a:p>
          <a:p>
            <a:pPr>
              <a:lnSpc>
                <a:spcPct val="150000"/>
              </a:lnSpc>
            </a:pPr>
            <a:r>
              <a:rPr lang="zh-CN" altLang="en-US" dirty="0">
                <a:latin typeface="微软雅黑" panose="020B0503020204020204" pitchFamily="34" charset="-122"/>
                <a:ea typeface="微软雅黑" panose="020B0503020204020204" pitchFamily="34" charset="-122"/>
              </a:rPr>
              <a:t>线程撤销</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异步或延迟</a:t>
            </a:r>
          </a:p>
          <a:p>
            <a:pPr>
              <a:lnSpc>
                <a:spcPct val="150000"/>
              </a:lnSpc>
            </a:pPr>
            <a:r>
              <a:rPr lang="zh-CN" altLang="en-US" dirty="0">
                <a:latin typeface="微软雅黑" panose="020B0503020204020204" pitchFamily="34" charset="-122"/>
                <a:ea typeface="微软雅黑" panose="020B0503020204020204" pitchFamily="34" charset="-122"/>
              </a:rPr>
              <a:t>线程本地存储</a:t>
            </a:r>
          </a:p>
          <a:p>
            <a:pPr>
              <a:lnSpc>
                <a:spcPct val="150000"/>
              </a:lnSpc>
            </a:pPr>
            <a:r>
              <a:rPr lang="zh-CN" altLang="en-US" dirty="0">
                <a:latin typeface="微软雅黑" panose="020B0503020204020204" pitchFamily="34" charset="-122"/>
                <a:ea typeface="微软雅黑" panose="020B0503020204020204" pitchFamily="34" charset="-122"/>
              </a:rPr>
              <a:t>调度程序激活</a:t>
            </a:r>
            <a:endParaRPr lang="en-US" altLang="en-US" dirty="0">
              <a:latin typeface="微软雅黑" panose="020B0503020204020204" pitchFamily="34" charset="-122"/>
              <a:ea typeface="微软雅黑" panose="020B0503020204020204" pitchFamily="34" charset="-122"/>
            </a:endParaRPr>
          </a:p>
          <a:p>
            <a:pPr lvl="1">
              <a:lnSpc>
                <a:spcPct val="150000"/>
              </a:lnSpc>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EF0111C-2BF1-402D-9001-236739BE15E0}"/>
              </a:ext>
            </a:extLst>
          </p:cNvPr>
          <p:cNvSpPr>
            <a:spLocks noGrp="1" noChangeArrowheads="1"/>
          </p:cNvSpPr>
          <p:nvPr>
            <p:ph type="title"/>
          </p:nvPr>
        </p:nvSpPr>
        <p:spPr>
          <a:xfrm>
            <a:off x="2641600" y="176213"/>
            <a:ext cx="7569200" cy="576262"/>
          </a:xfrm>
        </p:spPr>
        <p:txBody>
          <a:bodyPr/>
          <a:lstStyle/>
          <a:p>
            <a:pPr eaLnBrk="1" hangingPunct="1"/>
            <a:r>
              <a:rPr lang="zh-CN" altLang="en-US">
                <a:latin typeface="微软雅黑" panose="020B0503020204020204" pitchFamily="34" charset="-122"/>
                <a:ea typeface="微软雅黑" panose="020B0503020204020204" pitchFamily="34" charset="-122"/>
              </a:rPr>
              <a:t>系统调用</a:t>
            </a:r>
            <a:r>
              <a:rPr lang="en-US" altLang="zh-CN">
                <a:latin typeface="微软雅黑" panose="020B0503020204020204" pitchFamily="34" charset="-122"/>
                <a:ea typeface="微软雅黑" panose="020B0503020204020204" pitchFamily="34" charset="-122"/>
              </a:rPr>
              <a:t>fork() </a:t>
            </a:r>
            <a:r>
              <a:rPr lang="zh-CN" altLang="en-US">
                <a:latin typeface="微软雅黑" panose="020B0503020204020204" pitchFamily="34" charset="-122"/>
                <a:ea typeface="微软雅黑" panose="020B0503020204020204" pitchFamily="34" charset="-122"/>
              </a:rPr>
              <a:t>和 </a:t>
            </a:r>
            <a:r>
              <a:rPr lang="en-US" altLang="zh-CN">
                <a:latin typeface="微软雅黑" panose="020B0503020204020204" pitchFamily="34" charset="-122"/>
                <a:ea typeface="微软雅黑" panose="020B0503020204020204" pitchFamily="34" charset="-122"/>
              </a:rPr>
              <a:t>exec()</a:t>
            </a:r>
            <a:endParaRPr lang="zh-CN" altLang="en-US">
              <a:latin typeface="微软雅黑" panose="020B0503020204020204" pitchFamily="34" charset="-122"/>
              <a:ea typeface="微软雅黑" panose="020B0503020204020204" pitchFamily="34" charset="-122"/>
            </a:endParaRPr>
          </a:p>
        </p:txBody>
      </p:sp>
      <p:sp>
        <p:nvSpPr>
          <p:cNvPr id="64515" name="Rectangle 3">
            <a:extLst>
              <a:ext uri="{FF2B5EF4-FFF2-40B4-BE49-F238E27FC236}">
                <a16:creationId xmlns:a16="http://schemas.microsoft.com/office/drawing/2014/main" id="{AC82546F-A78B-453F-8F03-619516FA0983}"/>
              </a:ext>
            </a:extLst>
          </p:cNvPr>
          <p:cNvSpPr>
            <a:spLocks noGrp="1" noChangeArrowheads="1"/>
          </p:cNvSpPr>
          <p:nvPr>
            <p:ph idx="1"/>
          </p:nvPr>
        </p:nvSpPr>
        <p:spPr>
          <a:xfrm>
            <a:off x="633845" y="1233489"/>
            <a:ext cx="11014364" cy="4530725"/>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程序内的某个线程调用 </a:t>
            </a:r>
            <a:r>
              <a:rPr lang="en-US" altLang="zh-CN" dirty="0">
                <a:latin typeface="微软雅黑" panose="020B0503020204020204" pitchFamily="34" charset="-122"/>
                <a:ea typeface="微软雅黑" panose="020B0503020204020204" pitchFamily="34" charset="-122"/>
              </a:rPr>
              <a:t>fork(), </a:t>
            </a:r>
            <a:r>
              <a:rPr lang="zh-CN" altLang="en-US" dirty="0">
                <a:latin typeface="微软雅黑" panose="020B0503020204020204" pitchFamily="34" charset="-122"/>
                <a:ea typeface="微软雅黑" panose="020B0503020204020204" pitchFamily="34" charset="-122"/>
              </a:rPr>
              <a:t>那么新进程复制所有线程，或者新进程只有单个线程</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一些</a:t>
            </a:r>
            <a:r>
              <a:rPr lang="en-US" altLang="zh-CN" dirty="0">
                <a:latin typeface="微软雅黑" panose="020B0503020204020204" pitchFamily="34" charset="-122"/>
                <a:ea typeface="微软雅黑" panose="020B0503020204020204" pitchFamily="34" charset="-122"/>
              </a:rPr>
              <a:t>UNIX</a:t>
            </a:r>
            <a:r>
              <a:rPr lang="zh-CN" altLang="en-US" dirty="0">
                <a:latin typeface="微软雅黑" panose="020B0503020204020204" pitchFamily="34" charset="-122"/>
                <a:ea typeface="微软雅黑" panose="020B0503020204020204" pitchFamily="34" charset="-122"/>
              </a:rPr>
              <a:t>系统有两个版本的 </a:t>
            </a:r>
            <a:r>
              <a:rPr lang="en-US" altLang="zh-CN" dirty="0">
                <a:latin typeface="微软雅黑" panose="020B0503020204020204" pitchFamily="34" charset="-122"/>
                <a:ea typeface="微软雅黑" panose="020B0503020204020204" pitchFamily="34" charset="-122"/>
              </a:rPr>
              <a:t>fork</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exec() </a:t>
            </a:r>
            <a:r>
              <a:rPr lang="zh-CN" altLang="en-US" dirty="0">
                <a:latin typeface="微软雅黑" panose="020B0503020204020204" pitchFamily="34" charset="-122"/>
                <a:ea typeface="微软雅黑" panose="020B0503020204020204" pitchFamily="34" charset="-122"/>
              </a:rPr>
              <a:t>通常正常工作</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替换正在运行的进程，包括所有线程</a:t>
            </a:r>
            <a:endParaRPr lang="en-US" altLang="en-US" dirty="0">
              <a:latin typeface="微软雅黑" panose="020B0503020204020204" pitchFamily="34" charset="-122"/>
              <a:ea typeface="微软雅黑" panose="020B0503020204020204" pitchFamily="34" charset="-122"/>
            </a:endParaRPr>
          </a:p>
          <a:p>
            <a:pPr lvl="1">
              <a:lnSpc>
                <a:spcPct val="150000"/>
              </a:lnSpc>
            </a:pP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174EF44A-3FB5-41D2-B839-32D385550ECE}"/>
              </a:ext>
            </a:extLst>
          </p:cNvPr>
          <p:cNvSpPr>
            <a:spLocks noGrp="1" noChangeArrowheads="1"/>
          </p:cNvSpPr>
          <p:nvPr>
            <p:ph type="title"/>
          </p:nvPr>
        </p:nvSpPr>
        <p:spPr>
          <a:xfrm>
            <a:off x="2692400" y="188913"/>
            <a:ext cx="7518400" cy="576262"/>
          </a:xfrm>
        </p:spPr>
        <p:txBody>
          <a:bodyPr/>
          <a:lstStyle/>
          <a:p>
            <a:pPr eaLnBrk="1" hangingPunct="1"/>
            <a:r>
              <a:rPr lang="zh-CN" altLang="en-US">
                <a:latin typeface="微软雅黑" panose="020B0503020204020204" pitchFamily="34" charset="-122"/>
                <a:ea typeface="微软雅黑" panose="020B0503020204020204" pitchFamily="34" charset="-122"/>
              </a:rPr>
              <a:t>信号处理</a:t>
            </a:r>
            <a:endParaRPr lang="en-US" altLang="en-US">
              <a:latin typeface="微软雅黑" panose="020B0503020204020204" pitchFamily="34" charset="-122"/>
              <a:ea typeface="微软雅黑" panose="020B0503020204020204" pitchFamily="34" charset="-122"/>
            </a:endParaRPr>
          </a:p>
        </p:txBody>
      </p:sp>
      <p:sp>
        <p:nvSpPr>
          <p:cNvPr id="37891" name="Rectangle 3">
            <a:extLst>
              <a:ext uri="{FF2B5EF4-FFF2-40B4-BE49-F238E27FC236}">
                <a16:creationId xmlns:a16="http://schemas.microsoft.com/office/drawing/2014/main" id="{7D323BC9-70E9-472B-B661-661C66E9E6EF}"/>
              </a:ext>
            </a:extLst>
          </p:cNvPr>
          <p:cNvSpPr>
            <a:spLocks noGrp="1" noChangeArrowheads="1"/>
          </p:cNvSpPr>
          <p:nvPr>
            <p:ph idx="1"/>
          </p:nvPr>
        </p:nvSpPr>
        <p:spPr>
          <a:xfrm>
            <a:off x="675409" y="1166957"/>
            <a:ext cx="10318173" cy="51562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a:lnSpc>
                <a:spcPct val="150000"/>
              </a:lnSpc>
            </a:pPr>
            <a:r>
              <a:rPr lang="zh-CN" altLang="en-US" dirty="0"/>
              <a:t>信号在</a:t>
            </a:r>
            <a:r>
              <a:rPr lang="en-US" altLang="zh-CN" dirty="0"/>
              <a:t>UNIX </a:t>
            </a:r>
            <a:r>
              <a:rPr lang="zh-CN" altLang="en-US" dirty="0"/>
              <a:t>系统中用于通知进程发生了某个特定事件</a:t>
            </a:r>
          </a:p>
          <a:p>
            <a:pPr>
              <a:lnSpc>
                <a:spcPct val="150000"/>
              </a:lnSpc>
            </a:pPr>
            <a:r>
              <a:rPr lang="zh-CN" altLang="en-US" dirty="0"/>
              <a:t>信号处理程序用于处理信号</a:t>
            </a:r>
          </a:p>
          <a:p>
            <a:pPr lvl="1">
              <a:lnSpc>
                <a:spcPct val="150000"/>
              </a:lnSpc>
            </a:pPr>
            <a:r>
              <a:rPr lang="zh-CN" altLang="en-US" dirty="0"/>
              <a:t>信号由特定事件产生</a:t>
            </a:r>
          </a:p>
          <a:p>
            <a:pPr lvl="1">
              <a:lnSpc>
                <a:spcPct val="150000"/>
              </a:lnSpc>
            </a:pPr>
            <a:r>
              <a:rPr lang="zh-CN" altLang="en-US" dirty="0"/>
              <a:t>信号传递给进程</a:t>
            </a:r>
          </a:p>
          <a:p>
            <a:pPr lvl="1">
              <a:lnSpc>
                <a:spcPct val="150000"/>
              </a:lnSpc>
            </a:pPr>
            <a:r>
              <a:rPr lang="zh-CN" altLang="en-US" dirty="0"/>
              <a:t>信号由两个信号处理程序之一处理：默认 或 用户自定义</a:t>
            </a:r>
          </a:p>
          <a:p>
            <a:pPr>
              <a:lnSpc>
                <a:spcPct val="150000"/>
              </a:lnSpc>
            </a:pPr>
            <a:r>
              <a:rPr lang="zh-CN" altLang="en-US" dirty="0"/>
              <a:t>每个信号都有一个缺省信号处理程序，由内核来运行</a:t>
            </a:r>
          </a:p>
          <a:p>
            <a:pPr lvl="1">
              <a:lnSpc>
                <a:spcPct val="150000"/>
              </a:lnSpc>
            </a:pPr>
            <a:r>
              <a:rPr lang="zh-CN" altLang="en-US" dirty="0"/>
              <a:t>用户定义信号处理程序可以覆盖默认值</a:t>
            </a:r>
            <a:endParaRPr lang="en-US" altLang="zh-CN" dirty="0"/>
          </a:p>
          <a:p>
            <a:pPr lvl="1">
              <a:lnSpc>
                <a:spcPct val="150000"/>
              </a:lnSpc>
            </a:pPr>
            <a:r>
              <a:rPr lang="zh-CN" altLang="en-US" dirty="0"/>
              <a:t>对于单线程，信号传递给进程</a:t>
            </a:r>
            <a:endParaRPr lang="en-US" altLang="zh-CN" dirty="0"/>
          </a:p>
          <a:p>
            <a:pPr lvl="1">
              <a:lnSpc>
                <a:spcPct val="150000"/>
              </a:lnSpc>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9AB48633-8563-4E00-BCBD-2BF695902E4A}"/>
              </a:ext>
            </a:extLst>
          </p:cNvPr>
          <p:cNvSpPr>
            <a:spLocks noGrp="1" noChangeArrowheads="1"/>
          </p:cNvSpPr>
          <p:nvPr>
            <p:ph type="title"/>
          </p:nvPr>
        </p:nvSpPr>
        <p:spPr>
          <a:xfrm>
            <a:off x="2692400" y="188913"/>
            <a:ext cx="7518400" cy="576262"/>
          </a:xfrm>
        </p:spPr>
        <p:txBody>
          <a:bodyPr/>
          <a:lstStyle/>
          <a:p>
            <a:pPr eaLnBrk="1" hangingPunct="1"/>
            <a:r>
              <a:rPr lang="zh-CN" altLang="en-US">
                <a:latin typeface="微软雅黑" panose="020B0503020204020204" pitchFamily="34" charset="-122"/>
                <a:ea typeface="微软雅黑" panose="020B0503020204020204" pitchFamily="34" charset="-122"/>
              </a:rPr>
              <a:t>信号处理</a:t>
            </a:r>
            <a:endParaRPr lang="en-US" altLang="en-US" dirty="0">
              <a:latin typeface="微软雅黑" panose="020B0503020204020204" pitchFamily="34" charset="-122"/>
              <a:ea typeface="微软雅黑" panose="020B0503020204020204" pitchFamily="34" charset="-122"/>
            </a:endParaRPr>
          </a:p>
        </p:txBody>
      </p:sp>
      <p:sp>
        <p:nvSpPr>
          <p:cNvPr id="68611" name="Rectangle 3">
            <a:extLst>
              <a:ext uri="{FF2B5EF4-FFF2-40B4-BE49-F238E27FC236}">
                <a16:creationId xmlns:a16="http://schemas.microsoft.com/office/drawing/2014/main" id="{8DBF3BFB-6C57-41C4-AE62-8A5E5B3A2184}"/>
              </a:ext>
            </a:extLst>
          </p:cNvPr>
          <p:cNvSpPr>
            <a:spLocks noGrp="1" noChangeArrowheads="1"/>
          </p:cNvSpPr>
          <p:nvPr>
            <p:ph idx="1"/>
          </p:nvPr>
        </p:nvSpPr>
        <p:spPr>
          <a:xfrm>
            <a:off x="740498" y="1094220"/>
            <a:ext cx="6742112" cy="5156200"/>
          </a:xfrm>
        </p:spPr>
        <p:txBody>
          <a:bodyPr/>
          <a:lstStyle/>
          <a:p>
            <a:pPr marL="379413" indent="-379413">
              <a:lnSpc>
                <a:spcPct val="200000"/>
              </a:lnSpc>
            </a:pPr>
            <a:r>
              <a:rPr lang="zh-CN" altLang="en-US" dirty="0">
                <a:latin typeface="微软雅黑" panose="020B0503020204020204" pitchFamily="34" charset="-122"/>
                <a:ea typeface="微软雅黑" panose="020B0503020204020204" pitchFamily="34" charset="-122"/>
              </a:rPr>
              <a:t>多线程程序的信号应该被传递到哪里？</a:t>
            </a:r>
          </a:p>
          <a:p>
            <a:pPr marL="798513" lvl="1" indent="-341313">
              <a:lnSpc>
                <a:spcPct val="200000"/>
              </a:lnSpc>
            </a:pPr>
            <a:r>
              <a:rPr lang="zh-CN" altLang="en-US" dirty="0">
                <a:latin typeface="微软雅黑" panose="020B0503020204020204" pitchFamily="34" charset="-122"/>
                <a:ea typeface="微软雅黑" panose="020B0503020204020204" pitchFamily="34" charset="-122"/>
              </a:rPr>
              <a:t>传递信号到信号所适用的线程</a:t>
            </a:r>
          </a:p>
          <a:p>
            <a:pPr marL="798513" lvl="1" indent="-341313">
              <a:lnSpc>
                <a:spcPct val="200000"/>
              </a:lnSpc>
            </a:pPr>
            <a:r>
              <a:rPr lang="zh-CN" altLang="en-US" dirty="0">
                <a:latin typeface="微软雅黑" panose="020B0503020204020204" pitchFamily="34" charset="-122"/>
                <a:ea typeface="微软雅黑" panose="020B0503020204020204" pitchFamily="34" charset="-122"/>
              </a:rPr>
              <a:t>传递信号到进程内的每个线程</a:t>
            </a:r>
          </a:p>
          <a:p>
            <a:pPr marL="798513" lvl="1" indent="-341313">
              <a:lnSpc>
                <a:spcPct val="200000"/>
              </a:lnSpc>
            </a:pPr>
            <a:r>
              <a:rPr lang="zh-CN" altLang="en-US" dirty="0">
                <a:latin typeface="微软雅黑" panose="020B0503020204020204" pitchFamily="34" charset="-122"/>
                <a:ea typeface="微软雅黑" panose="020B0503020204020204" pitchFamily="34" charset="-122"/>
              </a:rPr>
              <a:t>传递信号到进程内的某些线程</a:t>
            </a:r>
          </a:p>
          <a:p>
            <a:pPr marL="798513" lvl="1" indent="-341313">
              <a:lnSpc>
                <a:spcPct val="200000"/>
              </a:lnSpc>
            </a:pPr>
            <a:r>
              <a:rPr lang="zh-CN" altLang="en-US" dirty="0">
                <a:latin typeface="微软雅黑" panose="020B0503020204020204" pitchFamily="34" charset="-122"/>
                <a:ea typeface="微软雅黑" panose="020B0503020204020204" pitchFamily="34" charset="-122"/>
              </a:rPr>
              <a:t>规定一个特定线程以接收进程的所有信号</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2CD7E418-E3D6-40BA-A545-8A3816569A8C}"/>
              </a:ext>
            </a:extLst>
          </p:cNvPr>
          <p:cNvSpPr>
            <a:spLocks noGrp="1" noChangeArrowheads="1"/>
          </p:cNvSpPr>
          <p:nvPr>
            <p:ph type="title"/>
          </p:nvPr>
        </p:nvSpPr>
        <p:spPr>
          <a:xfrm>
            <a:off x="2605088" y="188913"/>
            <a:ext cx="7605712" cy="576262"/>
          </a:xfrm>
        </p:spPr>
        <p:txBody>
          <a:bodyPr/>
          <a:lstStyle/>
          <a:p>
            <a:pPr eaLnBrk="1" hangingPunct="1"/>
            <a:r>
              <a:rPr lang="zh-CN" altLang="en-US">
                <a:latin typeface="微软雅黑" panose="020B0503020204020204" pitchFamily="34" charset="-122"/>
                <a:ea typeface="微软雅黑" panose="020B0503020204020204" pitchFamily="34" charset="-122"/>
              </a:rPr>
              <a:t>线程撤销</a:t>
            </a:r>
            <a:endParaRPr lang="en-US" altLang="en-US">
              <a:latin typeface="微软雅黑" panose="020B0503020204020204" pitchFamily="34" charset="-122"/>
              <a:ea typeface="微软雅黑" panose="020B0503020204020204" pitchFamily="34" charset="-122"/>
            </a:endParaRPr>
          </a:p>
        </p:txBody>
      </p:sp>
      <p:sp>
        <p:nvSpPr>
          <p:cNvPr id="70659" name="Rectangle 3">
            <a:extLst>
              <a:ext uri="{FF2B5EF4-FFF2-40B4-BE49-F238E27FC236}">
                <a16:creationId xmlns:a16="http://schemas.microsoft.com/office/drawing/2014/main" id="{9B1941AD-B528-446C-AD0D-711BCBDF1936}"/>
              </a:ext>
            </a:extLst>
          </p:cNvPr>
          <p:cNvSpPr>
            <a:spLocks noGrp="1" noChangeArrowheads="1"/>
          </p:cNvSpPr>
          <p:nvPr>
            <p:ph idx="1"/>
          </p:nvPr>
        </p:nvSpPr>
        <p:spPr>
          <a:xfrm>
            <a:off x="541050" y="1000703"/>
            <a:ext cx="9849859" cy="4430713"/>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在线程完成之前终止线程</a:t>
            </a:r>
          </a:p>
          <a:p>
            <a:pPr>
              <a:lnSpc>
                <a:spcPct val="150000"/>
              </a:lnSpc>
            </a:pPr>
            <a:r>
              <a:rPr lang="zh-CN" altLang="en-US" dirty="0">
                <a:latin typeface="微软雅黑" panose="020B0503020204020204" pitchFamily="34" charset="-122"/>
                <a:ea typeface="微软雅黑" panose="020B0503020204020204" pitchFamily="34" charset="-122"/>
              </a:rPr>
              <a:t>要撤销的线程称为</a:t>
            </a:r>
            <a:r>
              <a:rPr lang="zh-CN" altLang="en-US" b="1" dirty="0">
                <a:latin typeface="微软雅黑" panose="020B0503020204020204" pitchFamily="34" charset="-122"/>
                <a:ea typeface="微软雅黑" panose="020B0503020204020204" pitchFamily="34" charset="-122"/>
              </a:rPr>
              <a:t>目标线程</a:t>
            </a:r>
          </a:p>
          <a:p>
            <a:pPr>
              <a:lnSpc>
                <a:spcPct val="150000"/>
              </a:lnSpc>
            </a:pPr>
            <a:r>
              <a:rPr lang="zh-CN" altLang="en-US" dirty="0">
                <a:latin typeface="微软雅黑" panose="020B0503020204020204" pitchFamily="34" charset="-122"/>
                <a:ea typeface="微软雅黑" panose="020B0503020204020204" pitchFamily="34" charset="-122"/>
              </a:rPr>
              <a:t>目标线程的撤销通常有两种情况：</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zh-CN" altLang="en-US" b="1" dirty="0">
                <a:latin typeface="微软雅黑" panose="020B0503020204020204" pitchFamily="34" charset="-122"/>
                <a:ea typeface="微软雅黑" panose="020B0503020204020204" pitchFamily="34" charset="-122"/>
              </a:rPr>
              <a:t>异步撤销</a:t>
            </a:r>
            <a:r>
              <a:rPr lang="zh-CN" altLang="en-US" dirty="0">
                <a:latin typeface="微软雅黑" panose="020B0503020204020204" pitchFamily="34" charset="-122"/>
                <a:ea typeface="微软雅黑" panose="020B0503020204020204" pitchFamily="34" charset="-122"/>
              </a:rPr>
              <a:t>： 立即终止目标线程</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zh-CN" altLang="en-US" b="1" dirty="0">
                <a:latin typeface="微软雅黑" panose="020B0503020204020204" pitchFamily="34" charset="-122"/>
                <a:ea typeface="微软雅黑" panose="020B0503020204020204" pitchFamily="34" charset="-122"/>
              </a:rPr>
              <a:t>延迟撤销</a:t>
            </a:r>
            <a:r>
              <a:rPr lang="zh-CN" altLang="en-US" dirty="0">
                <a:latin typeface="微软雅黑" panose="020B0503020204020204" pitchFamily="34" charset="-122"/>
                <a:ea typeface="微软雅黑" panose="020B0503020204020204" pitchFamily="34" charset="-122"/>
              </a:rPr>
              <a:t>：允许目标线程定期检查是否应该取消</a:t>
            </a:r>
            <a:endParaRPr lang="en-US" altLang="en-US"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创建和撤销线程的 </a:t>
            </a:r>
            <a:r>
              <a:rPr lang="en-US" altLang="zh-CN" dirty="0" err="1">
                <a:latin typeface="微软雅黑" panose="020B0503020204020204" pitchFamily="34" charset="-122"/>
                <a:ea typeface="微软雅黑" panose="020B0503020204020204" pitchFamily="34" charset="-122"/>
              </a:rPr>
              <a:t>Pthread</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代码：</a:t>
            </a:r>
            <a:endParaRPr lang="en-US" altLang="en-US" dirty="0">
              <a:latin typeface="微软雅黑" panose="020B0503020204020204" pitchFamily="34" charset="-122"/>
              <a:ea typeface="微软雅黑" panose="020B0503020204020204" pitchFamily="34" charset="-122"/>
            </a:endParaRPr>
          </a:p>
          <a:p>
            <a:pPr>
              <a:lnSpc>
                <a:spcPct val="150000"/>
              </a:lnSpc>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a:p>
            <a:pPr lvl="1">
              <a:lnSpc>
                <a:spcPct val="150000"/>
              </a:lnSpc>
            </a:pPr>
            <a:endParaRPr lang="en-US" altLang="en-US" dirty="0">
              <a:latin typeface="微软雅黑" panose="020B0503020204020204" pitchFamily="34" charset="-122"/>
              <a:ea typeface="微软雅黑" panose="020B0503020204020204" pitchFamily="34" charset="-122"/>
            </a:endParaRPr>
          </a:p>
        </p:txBody>
      </p:sp>
      <p:pic>
        <p:nvPicPr>
          <p:cNvPr id="70660" name="Picture 1">
            <a:extLst>
              <a:ext uri="{FF2B5EF4-FFF2-40B4-BE49-F238E27FC236}">
                <a16:creationId xmlns:a16="http://schemas.microsoft.com/office/drawing/2014/main" id="{1500D232-AE4F-49CF-9DA0-B16AB780079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9099" y="4946391"/>
            <a:ext cx="2794145" cy="144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F93C795E-217F-45EE-9DD1-CBE2BC646383}"/>
              </a:ext>
            </a:extLst>
          </p:cNvPr>
          <p:cNvSpPr>
            <a:spLocks noGrp="1" noChangeArrowheads="1"/>
          </p:cNvSpPr>
          <p:nvPr>
            <p:ph type="title"/>
          </p:nvPr>
        </p:nvSpPr>
        <p:spPr>
          <a:xfrm>
            <a:off x="2605088" y="176213"/>
            <a:ext cx="7605712" cy="576262"/>
          </a:xfrm>
        </p:spPr>
        <p:txBody>
          <a:bodyPr/>
          <a:lstStyle/>
          <a:p>
            <a:pPr eaLnBrk="1" hangingPunct="1"/>
            <a:r>
              <a:rPr lang="zh-CN" altLang="en-US" dirty="0">
                <a:latin typeface="微软雅黑" panose="020B0503020204020204" pitchFamily="34" charset="-122"/>
                <a:ea typeface="微软雅黑" panose="020B0503020204020204" pitchFamily="34" charset="-122"/>
              </a:rPr>
              <a:t>线程撤销</a:t>
            </a:r>
            <a:endParaRPr lang="en-US" altLang="en-US" dirty="0">
              <a:latin typeface="微软雅黑" panose="020B0503020204020204" pitchFamily="34" charset="-122"/>
              <a:ea typeface="微软雅黑" panose="020B0503020204020204" pitchFamily="34" charset="-122"/>
            </a:endParaRPr>
          </a:p>
        </p:txBody>
      </p:sp>
      <p:sp>
        <p:nvSpPr>
          <p:cNvPr id="72707" name="Rectangle 3">
            <a:extLst>
              <a:ext uri="{FF2B5EF4-FFF2-40B4-BE49-F238E27FC236}">
                <a16:creationId xmlns:a16="http://schemas.microsoft.com/office/drawing/2014/main" id="{E7C7F4C1-5EEE-41DB-B8F5-FECD7B2E7566}"/>
              </a:ext>
            </a:extLst>
          </p:cNvPr>
          <p:cNvSpPr>
            <a:spLocks noGrp="1" noChangeArrowheads="1"/>
          </p:cNvSpPr>
          <p:nvPr>
            <p:ph idx="1"/>
          </p:nvPr>
        </p:nvSpPr>
        <p:spPr>
          <a:xfrm>
            <a:off x="685800" y="1057275"/>
            <a:ext cx="11139055" cy="5259388"/>
          </a:xfrm>
        </p:spPr>
        <p:txBody>
          <a:bodyPr/>
          <a:lstStyle/>
          <a:p>
            <a:pPr>
              <a:lnSpc>
                <a:spcPct val="150000"/>
              </a:lnSpc>
            </a:pPr>
            <a:r>
              <a:rPr lang="zh-CN" altLang="en-US" sz="2800" b="0" dirty="0">
                <a:latin typeface="微软雅黑" panose="020B0503020204020204" pitchFamily="34" charset="-122"/>
                <a:ea typeface="微软雅黑" panose="020B0503020204020204" pitchFamily="34" charset="-122"/>
              </a:rPr>
              <a:t>调用线程撤销请求撤销目标线程，但实际取消取决于线程状态</a:t>
            </a:r>
            <a:endParaRPr lang="en-US" altLang="en-US" sz="2800" b="0" dirty="0">
              <a:latin typeface="微软雅黑" panose="020B0503020204020204" pitchFamily="34" charset="-122"/>
              <a:ea typeface="微软雅黑" panose="020B0503020204020204" pitchFamily="34" charset="-122"/>
            </a:endParaRPr>
          </a:p>
          <a:p>
            <a:pPr>
              <a:lnSpc>
                <a:spcPct val="150000"/>
              </a:lnSpc>
            </a:pPr>
            <a:r>
              <a:rPr lang="zh-CN" altLang="en-US" sz="2800" b="0" dirty="0">
                <a:latin typeface="微软雅黑" panose="020B0503020204020204" pitchFamily="34" charset="-122"/>
                <a:ea typeface="微软雅黑" panose="020B0503020204020204" pitchFamily="34" charset="-122"/>
              </a:rPr>
              <a:t>如果线程撤销</a:t>
            </a:r>
            <a:r>
              <a:rPr lang="zh-CN" altLang="en-US" sz="2800" b="0" dirty="0"/>
              <a:t>已</a:t>
            </a:r>
            <a:r>
              <a:rPr lang="zh-CN" altLang="en-US" sz="2800" b="0" dirty="0">
                <a:latin typeface="微软雅黑" panose="020B0503020204020204" pitchFamily="34" charset="-122"/>
                <a:ea typeface="微软雅黑" panose="020B0503020204020204" pitchFamily="34" charset="-122"/>
              </a:rPr>
              <a:t>被禁用，则撤销请求将保持挂起状态，直到线程稍后启用撤销并且响应这个请求</a:t>
            </a:r>
            <a:endParaRPr lang="en-US" altLang="zh-CN" sz="2800" b="0" dirty="0">
              <a:latin typeface="微软雅黑" panose="020B0503020204020204" pitchFamily="34" charset="-122"/>
              <a:ea typeface="微软雅黑" panose="020B0503020204020204" pitchFamily="34" charset="-122"/>
            </a:endParaRPr>
          </a:p>
          <a:p>
            <a:pPr>
              <a:lnSpc>
                <a:spcPct val="150000"/>
              </a:lnSpc>
            </a:pPr>
            <a:r>
              <a:rPr lang="zh-CN" altLang="en-US" sz="2800" b="0" dirty="0">
                <a:latin typeface="微软雅黑" panose="020B0503020204020204" pitchFamily="34" charset="-122"/>
                <a:ea typeface="微软雅黑" panose="020B0503020204020204" pitchFamily="34" charset="-122"/>
              </a:rPr>
              <a:t>默认类型</a:t>
            </a:r>
            <a:r>
              <a:rPr lang="zh-CN" altLang="en-US" sz="2800" b="0" dirty="0"/>
              <a:t>：</a:t>
            </a:r>
            <a:r>
              <a:rPr lang="zh-CN" altLang="en-US" sz="2800" b="0" dirty="0">
                <a:latin typeface="微软雅黑" panose="020B0503020204020204" pitchFamily="34" charset="-122"/>
                <a:ea typeface="微软雅黑" panose="020B0503020204020204" pitchFamily="34" charset="-122"/>
              </a:rPr>
              <a:t>延迟</a:t>
            </a:r>
            <a:endParaRPr lang="en-US" altLang="en-US" sz="2800" b="0" dirty="0">
              <a:latin typeface="微软雅黑" panose="020B0503020204020204" pitchFamily="34" charset="-122"/>
              <a:ea typeface="微软雅黑" panose="020B0503020204020204" pitchFamily="34" charset="-122"/>
            </a:endParaRPr>
          </a:p>
          <a:p>
            <a:pPr lvl="1">
              <a:lnSpc>
                <a:spcPct val="150000"/>
              </a:lnSpc>
            </a:pPr>
            <a:r>
              <a:rPr lang="zh-CN" altLang="en-US" sz="2400" dirty="0">
                <a:latin typeface="微软雅黑" panose="020B0503020204020204" pitchFamily="34" charset="-122"/>
                <a:ea typeface="微软雅黑" panose="020B0503020204020204" pitchFamily="34" charset="-122"/>
              </a:rPr>
              <a:t>撤销仅在线程到达撤销点时发生</a:t>
            </a:r>
          </a:p>
          <a:p>
            <a:pPr lvl="2">
              <a:lnSpc>
                <a:spcPct val="150000"/>
              </a:lnSpc>
            </a:pPr>
            <a:r>
              <a:rPr lang="zh-CN" altLang="en-US" sz="2000" dirty="0">
                <a:latin typeface="微软雅黑" panose="020B0503020204020204" pitchFamily="34" charset="-122"/>
                <a:ea typeface="微软雅黑" panose="020B0503020204020204" pitchFamily="34" charset="-122"/>
              </a:rPr>
              <a:t>建立撤销点</a:t>
            </a:r>
            <a:r>
              <a:rPr lang="zh-CN" altLang="en-US" sz="2000" dirty="0"/>
              <a:t>通过</a:t>
            </a:r>
            <a:r>
              <a:rPr lang="zh-CN" altLang="en-US" sz="2000" dirty="0">
                <a:latin typeface="微软雅黑" panose="020B0503020204020204" pitchFamily="34" charset="-122"/>
                <a:ea typeface="微软雅黑" panose="020B0503020204020204" pitchFamily="34" charset="-122"/>
              </a:rPr>
              <a:t>调用函数</a:t>
            </a:r>
            <a:r>
              <a:rPr lang="en-US" altLang="en-US" sz="2000" dirty="0" err="1">
                <a:latin typeface="微软雅黑" panose="020B0503020204020204" pitchFamily="34" charset="-122"/>
                <a:ea typeface="微软雅黑" panose="020B0503020204020204" pitchFamily="34" charset="-122"/>
              </a:rPr>
              <a:t>pthread_testcancel</a:t>
            </a:r>
            <a:r>
              <a:rPr lang="en-US" altLang="en-US" sz="2000" dirty="0">
                <a:latin typeface="微软雅黑" panose="020B0503020204020204" pitchFamily="34" charset="-122"/>
                <a:ea typeface="微软雅黑" panose="020B0503020204020204" pitchFamily="34" charset="-122"/>
              </a:rPr>
              <a:t>()</a:t>
            </a:r>
          </a:p>
          <a:p>
            <a:pPr lvl="2">
              <a:lnSpc>
                <a:spcPct val="150000"/>
              </a:lnSpc>
            </a:pPr>
            <a:r>
              <a:rPr lang="zh-CN" altLang="en-US" sz="2000" dirty="0">
                <a:latin typeface="微软雅黑" panose="020B0503020204020204" pitchFamily="34" charset="-122"/>
                <a:ea typeface="微软雅黑" panose="020B0503020204020204" pitchFamily="34" charset="-122"/>
              </a:rPr>
              <a:t>如果有一个撤销请求处于等待， 就会调用清理处理程序</a:t>
            </a:r>
            <a:endParaRPr lang="en-US" altLang="en-US" sz="2000" dirty="0">
              <a:latin typeface="微软雅黑" panose="020B0503020204020204" pitchFamily="34" charset="-122"/>
              <a:ea typeface="微软雅黑" panose="020B0503020204020204" pitchFamily="34" charset="-122"/>
            </a:endParaRPr>
          </a:p>
          <a:p>
            <a:pPr>
              <a:lnSpc>
                <a:spcPct val="150000"/>
              </a:lnSpc>
            </a:pPr>
            <a:r>
              <a:rPr lang="zh-CN" altLang="en-US" sz="2800" b="0" dirty="0">
                <a:latin typeface="微软雅黑" panose="020B0503020204020204" pitchFamily="34" charset="-122"/>
                <a:ea typeface="微软雅黑" panose="020B0503020204020204" pitchFamily="34" charset="-122"/>
              </a:rPr>
              <a:t>在 </a:t>
            </a:r>
            <a:r>
              <a:rPr lang="en-US" altLang="zh-CN" sz="2800" b="0" dirty="0">
                <a:latin typeface="微软雅黑" panose="020B0503020204020204" pitchFamily="34" charset="-122"/>
                <a:ea typeface="微软雅黑" panose="020B0503020204020204" pitchFamily="34" charset="-122"/>
              </a:rPr>
              <a:t>Linux </a:t>
            </a:r>
            <a:r>
              <a:rPr lang="zh-CN" altLang="en-US" sz="2800" b="0" dirty="0">
                <a:latin typeface="微软雅黑" panose="020B0503020204020204" pitchFamily="34" charset="-122"/>
                <a:ea typeface="微软雅黑" panose="020B0503020204020204" pitchFamily="34" charset="-122"/>
              </a:rPr>
              <a:t>系统上，线程撤销是通过信号来处理的</a:t>
            </a:r>
            <a:endParaRPr lang="en-US" altLang="en-US" sz="2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EACE2F8F-1114-402C-8A0A-A54C717C7966}"/>
              </a:ext>
            </a:extLst>
          </p:cNvPr>
          <p:cNvSpPr>
            <a:spLocks noGrp="1" noChangeArrowheads="1"/>
          </p:cNvSpPr>
          <p:nvPr>
            <p:ph type="title"/>
          </p:nvPr>
        </p:nvSpPr>
        <p:spPr>
          <a:xfrm>
            <a:off x="1981200" y="17621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线程本地存储</a:t>
            </a:r>
            <a:endParaRPr lang="en-US" altLang="en-US">
              <a:latin typeface="微软雅黑" panose="020B0503020204020204" pitchFamily="34" charset="-122"/>
              <a:ea typeface="微软雅黑" panose="020B0503020204020204" pitchFamily="34" charset="-122"/>
            </a:endParaRPr>
          </a:p>
        </p:txBody>
      </p:sp>
      <p:sp>
        <p:nvSpPr>
          <p:cNvPr id="74755" name="Rectangle 3">
            <a:extLst>
              <a:ext uri="{FF2B5EF4-FFF2-40B4-BE49-F238E27FC236}">
                <a16:creationId xmlns:a16="http://schemas.microsoft.com/office/drawing/2014/main" id="{EFB2DA60-78BB-4C7F-B3B4-DCCCD146B22C}"/>
              </a:ext>
            </a:extLst>
          </p:cNvPr>
          <p:cNvSpPr>
            <a:spLocks noGrp="1" noChangeArrowheads="1"/>
          </p:cNvSpPr>
          <p:nvPr>
            <p:ph idx="1"/>
          </p:nvPr>
        </p:nvSpPr>
        <p:spPr>
          <a:xfrm>
            <a:off x="592281" y="1233489"/>
            <a:ext cx="10900063" cy="4478337"/>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线程本地存储 </a:t>
            </a:r>
            <a:r>
              <a:rPr lang="en-US" altLang="zh-CN" b="1" dirty="0">
                <a:latin typeface="微软雅黑" panose="020B0503020204020204" pitchFamily="34" charset="-122"/>
                <a:ea typeface="微软雅黑" panose="020B0503020204020204" pitchFamily="34" charset="-122"/>
              </a:rPr>
              <a:t>(TLS) </a:t>
            </a:r>
            <a:r>
              <a:rPr lang="zh-CN" altLang="en-US" dirty="0">
                <a:latin typeface="微软雅黑" panose="020B0503020204020204" pitchFamily="34" charset="-122"/>
                <a:ea typeface="微软雅黑" panose="020B0503020204020204" pitchFamily="34" charset="-122"/>
              </a:rPr>
              <a:t>允许每个线程拥有自己的数据副本，即线程私有变量</a:t>
            </a:r>
          </a:p>
          <a:p>
            <a:pPr>
              <a:lnSpc>
                <a:spcPct val="150000"/>
              </a:lnSpc>
            </a:pPr>
            <a:r>
              <a:rPr lang="zh-CN" altLang="en-US" dirty="0">
                <a:latin typeface="微软雅黑" panose="020B0503020204020204" pitchFamily="34" charset="-122"/>
                <a:ea typeface="微软雅黑" panose="020B0503020204020204" pitchFamily="34" charset="-122"/>
              </a:rPr>
              <a:t>当无法控制线程创建过程（即使用线程池）时很有用</a:t>
            </a:r>
          </a:p>
          <a:p>
            <a:pPr>
              <a:lnSpc>
                <a:spcPct val="150000"/>
              </a:lnSpc>
            </a:pPr>
            <a:r>
              <a:rPr lang="zh-CN" altLang="en-US" dirty="0"/>
              <a:t>可以用于解决特定场景下线程安全问题</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与局部变量不同</a:t>
            </a:r>
          </a:p>
          <a:p>
            <a:pPr lvl="1">
              <a:lnSpc>
                <a:spcPct val="150000"/>
              </a:lnSpc>
            </a:pPr>
            <a:r>
              <a:rPr lang="zh-CN" altLang="en-US" dirty="0">
                <a:latin typeface="微软雅黑" panose="020B0503020204020204" pitchFamily="34" charset="-122"/>
                <a:ea typeface="微软雅黑" panose="020B0503020204020204" pitchFamily="34" charset="-122"/>
              </a:rPr>
              <a:t>局部</a:t>
            </a:r>
            <a:r>
              <a:rPr lang="zh-CN" altLang="en-US" dirty="0"/>
              <a:t>变量</a:t>
            </a:r>
            <a:r>
              <a:rPr lang="zh-CN" altLang="en-US" dirty="0">
                <a:latin typeface="微软雅黑" panose="020B0503020204020204" pitchFamily="34" charset="-122"/>
                <a:ea typeface="微软雅黑" panose="020B0503020204020204" pitchFamily="34" charset="-122"/>
              </a:rPr>
              <a:t>只在单个函数调用时才可见</a:t>
            </a:r>
            <a:endParaRPr lang="en-US" altLang="en-US"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类似于静态数据</a:t>
            </a:r>
          </a:p>
          <a:p>
            <a:pPr lvl="1">
              <a:lnSpc>
                <a:spcPct val="150000"/>
              </a:lnSpc>
            </a:pPr>
            <a:r>
              <a:rPr lang="en-US" altLang="zh-CN" dirty="0">
                <a:latin typeface="微软雅黑" panose="020B0503020204020204" pitchFamily="34" charset="-122"/>
                <a:ea typeface="微软雅黑" panose="020B0503020204020204" pitchFamily="34" charset="-122"/>
              </a:rPr>
              <a:t>TLS </a:t>
            </a:r>
            <a:r>
              <a:rPr lang="zh-CN" altLang="en-US" dirty="0">
                <a:latin typeface="微软雅黑" panose="020B0503020204020204" pitchFamily="34" charset="-122"/>
                <a:ea typeface="微软雅黑" panose="020B0503020204020204" pitchFamily="34" charset="-122"/>
              </a:rPr>
              <a:t>对每个线程都是唯一的</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t>Java</a:t>
            </a:r>
            <a:r>
              <a:rPr lang="zh-CN" altLang="en-US" dirty="0"/>
              <a:t>语言提供了线程本地存储 </a:t>
            </a:r>
            <a:r>
              <a:rPr lang="en-US" altLang="zh-CN" dirty="0" err="1">
                <a:solidFill>
                  <a:srgbClr val="0070C0"/>
                </a:solidFill>
              </a:rPr>
              <a:t>ThreadLocal</a:t>
            </a:r>
            <a:r>
              <a:rPr lang="zh-CN" altLang="en-US" dirty="0">
                <a:solidFill>
                  <a:srgbClr val="0070C0"/>
                </a:solidFill>
              </a:rPr>
              <a:t>类</a:t>
            </a:r>
          </a:p>
          <a:p>
            <a:pPr lvl="1">
              <a:lnSpc>
                <a:spcPct val="150000"/>
              </a:lnSpc>
            </a:pPr>
            <a:endParaRPr lang="en-US"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58DB8AAC-F3B4-477B-B131-0718265DB0A6}"/>
              </a:ext>
            </a:extLst>
          </p:cNvPr>
          <p:cNvSpPr/>
          <p:nvPr/>
        </p:nvSpPr>
        <p:spPr>
          <a:xfrm>
            <a:off x="5977310" y="3876841"/>
            <a:ext cx="4694234" cy="499624"/>
          </a:xfrm>
          <a:prstGeom prst="rect">
            <a:avLst/>
          </a:prstGeom>
        </p:spPr>
        <p:txBody>
          <a:bodyPr wrap="none">
            <a:spAutoFit/>
          </a:bodyPr>
          <a:lstStyle/>
          <a:p>
            <a:pPr marL="741363" lvl="1" indent="-284163" eaLnBrk="0" fontAlgn="base" hangingPunct="0">
              <a:lnSpc>
                <a:spcPct val="150000"/>
              </a:lnSpc>
              <a:spcBef>
                <a:spcPct val="35000"/>
              </a:spcBef>
              <a:spcAft>
                <a:spcPct val="0"/>
              </a:spcAft>
              <a:buClr>
                <a:srgbClr val="CC6600"/>
              </a:buClr>
              <a:buSzPct val="80000"/>
              <a:buFont typeface="Wingdings" panose="05000000000000000000" pitchFamily="2" charset="2"/>
              <a:buChar char="n"/>
            </a:pPr>
            <a:r>
              <a:rPr kumimoji="1" lang="en-US" altLang="en-US" sz="2000" kern="0" dirty="0">
                <a:solidFill>
                  <a:srgbClr val="000000"/>
                </a:solidFill>
                <a:latin typeface="微软雅黑" panose="020B0503020204020204" pitchFamily="34" charset="-122"/>
                <a:ea typeface="微软雅黑" panose="020B0503020204020204" pitchFamily="34" charset="-122"/>
              </a:rPr>
              <a:t>TLS</a:t>
            </a:r>
            <a:r>
              <a:rPr kumimoji="1" lang="zh-CN" altLang="en-US" sz="2000" kern="0" dirty="0">
                <a:solidFill>
                  <a:srgbClr val="000000"/>
                </a:solidFill>
                <a:latin typeface="微软雅黑" panose="020B0503020204020204" pitchFamily="34" charset="-122"/>
                <a:ea typeface="微软雅黑" panose="020B0503020204020204" pitchFamily="34" charset="-122"/>
              </a:rPr>
              <a:t>数据在多个函数调用时都可见</a:t>
            </a:r>
            <a:endParaRPr kumimoji="1" lang="en-US" altLang="en-US" sz="2000" kern="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80156393-BBF6-4B18-A925-910109000EE6}"/>
              </a:ext>
            </a:extLst>
          </p:cNvPr>
          <p:cNvSpPr>
            <a:spLocks noGrp="1" noChangeArrowheads="1"/>
          </p:cNvSpPr>
          <p:nvPr>
            <p:ph type="title"/>
          </p:nvPr>
        </p:nvSpPr>
        <p:spPr>
          <a:xfrm>
            <a:off x="2684464" y="163513"/>
            <a:ext cx="7526337" cy="576262"/>
          </a:xfrm>
        </p:spPr>
        <p:txBody>
          <a:bodyPr/>
          <a:lstStyle/>
          <a:p>
            <a:pPr eaLnBrk="1" hangingPunct="1"/>
            <a:r>
              <a:rPr lang="zh-CN" altLang="en-US" dirty="0"/>
              <a:t> </a:t>
            </a:r>
            <a:r>
              <a:rPr lang="zh-CN" altLang="en-US" dirty="0">
                <a:latin typeface="微软雅黑" panose="020B0503020204020204" pitchFamily="34" charset="-122"/>
                <a:ea typeface="微软雅黑" panose="020B0503020204020204" pitchFamily="34" charset="-122"/>
              </a:rPr>
              <a:t>调度程序</a:t>
            </a:r>
            <a:endParaRPr lang="en-US" altLang="en-US" dirty="0">
              <a:latin typeface="微软雅黑" panose="020B0503020204020204" pitchFamily="34" charset="-122"/>
              <a:ea typeface="微软雅黑" panose="020B0503020204020204" pitchFamily="34" charset="-122"/>
            </a:endParaRPr>
          </a:p>
        </p:txBody>
      </p:sp>
      <p:sp>
        <p:nvSpPr>
          <p:cNvPr id="76803" name="Rectangle 3">
            <a:extLst>
              <a:ext uri="{FF2B5EF4-FFF2-40B4-BE49-F238E27FC236}">
                <a16:creationId xmlns:a16="http://schemas.microsoft.com/office/drawing/2014/main" id="{58766D1C-9B61-4038-A06F-F4171AF22B4D}"/>
              </a:ext>
            </a:extLst>
          </p:cNvPr>
          <p:cNvSpPr>
            <a:spLocks noGrp="1" noChangeArrowheads="1"/>
          </p:cNvSpPr>
          <p:nvPr>
            <p:ph idx="1"/>
          </p:nvPr>
        </p:nvSpPr>
        <p:spPr>
          <a:xfrm>
            <a:off x="660017" y="1021449"/>
            <a:ext cx="8281555" cy="5017439"/>
          </a:xfrm>
        </p:spPr>
        <p:txBody>
          <a:bodyPr/>
          <a:lstStyle/>
          <a:p>
            <a:pPr>
              <a:lnSpc>
                <a:spcPct val="150000"/>
              </a:lnSpc>
              <a:spcBef>
                <a:spcPts val="0"/>
              </a:spcBef>
            </a:pPr>
            <a:r>
              <a:rPr lang="zh-CN" altLang="en-US" dirty="0">
                <a:latin typeface="微软雅黑" panose="020B0503020204020204" pitchFamily="34" charset="-122"/>
                <a:ea typeface="微软雅黑" panose="020B0503020204020204" pitchFamily="34" charset="-122"/>
              </a:rPr>
              <a:t>多对多和双层模型都需要通信来维护分配给应用程序适当数量的内核线程</a:t>
            </a:r>
          </a:p>
          <a:p>
            <a:pPr>
              <a:lnSpc>
                <a:spcPct val="150000"/>
              </a:lnSpc>
              <a:spcBef>
                <a:spcPts val="0"/>
              </a:spcBef>
            </a:pPr>
            <a:r>
              <a:rPr lang="zh-CN" altLang="en-US" dirty="0">
                <a:latin typeface="微软雅黑" panose="020B0503020204020204" pitchFamily="34" charset="-122"/>
                <a:ea typeface="微软雅黑" panose="020B0503020204020204" pitchFamily="34" charset="-122"/>
              </a:rPr>
              <a:t>在用户和内核线程之间增加一个中间数据结构</a:t>
            </a:r>
            <a:r>
              <a:rPr lang="en-US" altLang="zh-CN"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轻量级进程</a:t>
            </a:r>
            <a:r>
              <a:rPr lang="en-US" altLang="en-US" b="1" dirty="0">
                <a:latin typeface="微软雅黑" panose="020B0503020204020204" pitchFamily="34" charset="-122"/>
                <a:ea typeface="微软雅黑" panose="020B0503020204020204" pitchFamily="34" charset="-122"/>
              </a:rPr>
              <a:t>(LWP)</a:t>
            </a:r>
          </a:p>
          <a:p>
            <a:pPr lvl="1">
              <a:lnSpc>
                <a:spcPct val="150000"/>
              </a:lnSpc>
              <a:spcBef>
                <a:spcPts val="0"/>
              </a:spcBef>
            </a:pPr>
            <a:r>
              <a:rPr lang="en-US" altLang="zh-CN" dirty="0">
                <a:latin typeface="微软雅黑" panose="020B0503020204020204" pitchFamily="34" charset="-122"/>
                <a:ea typeface="微软雅黑" panose="020B0503020204020204" pitchFamily="34" charset="-122"/>
              </a:rPr>
              <a:t>LWP</a:t>
            </a:r>
            <a:r>
              <a:rPr lang="zh-CN" altLang="en-US" dirty="0">
                <a:latin typeface="微软雅黑" panose="020B0503020204020204" pitchFamily="34" charset="-122"/>
                <a:ea typeface="微软雅黑" panose="020B0503020204020204" pitchFamily="34" charset="-122"/>
              </a:rPr>
              <a:t>表现为虚拟处理器，以便应用程序调度并运行用户线程</a:t>
            </a:r>
            <a:endParaRPr lang="en-US" altLang="en-US"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dirty="0">
                <a:latin typeface="微软雅黑" panose="020B0503020204020204" pitchFamily="34" charset="-122"/>
                <a:ea typeface="微软雅黑" panose="020B0503020204020204" pitchFamily="34" charset="-122"/>
              </a:rPr>
              <a:t>每个 </a:t>
            </a:r>
            <a:r>
              <a:rPr lang="en-US" altLang="zh-CN" dirty="0">
                <a:latin typeface="微软雅黑" panose="020B0503020204020204" pitchFamily="34" charset="-122"/>
                <a:ea typeface="微软雅黑" panose="020B0503020204020204" pitchFamily="34" charset="-122"/>
              </a:rPr>
              <a:t>LWP </a:t>
            </a:r>
            <a:r>
              <a:rPr lang="zh-CN" altLang="en-US" dirty="0">
                <a:latin typeface="微软雅黑" panose="020B0503020204020204" pitchFamily="34" charset="-122"/>
                <a:ea typeface="微软雅黑" panose="020B0503020204020204" pitchFamily="34" charset="-122"/>
              </a:rPr>
              <a:t>与一个内核线程相连</a:t>
            </a:r>
          </a:p>
          <a:p>
            <a:pPr>
              <a:lnSpc>
                <a:spcPct val="150000"/>
              </a:lnSpc>
              <a:spcBef>
                <a:spcPts val="0"/>
              </a:spcBef>
            </a:pPr>
            <a:r>
              <a:rPr lang="zh-CN" altLang="en-US" dirty="0">
                <a:latin typeface="微软雅黑" panose="020B0503020204020204" pitchFamily="34" charset="-122"/>
                <a:ea typeface="微软雅黑" panose="020B0503020204020204" pitchFamily="34" charset="-122"/>
              </a:rPr>
              <a:t>调度器</a:t>
            </a:r>
            <a:r>
              <a:rPr lang="zh-CN" altLang="en-US" b="1" dirty="0">
                <a:latin typeface="微软雅黑" panose="020B0503020204020204" pitchFamily="34" charset="-122"/>
                <a:ea typeface="微软雅黑" panose="020B0503020204020204" pitchFamily="34" charset="-122"/>
              </a:rPr>
              <a:t>回调</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一种从内核将有关特定事件通知应用程序，由线程库通过</a:t>
            </a:r>
            <a:r>
              <a:rPr lang="zh-CN" altLang="en-US" b="1" dirty="0">
                <a:latin typeface="微软雅黑" panose="020B0503020204020204" pitchFamily="34" charset="-122"/>
                <a:ea typeface="微软雅黑" panose="020B0503020204020204" pitchFamily="34" charset="-122"/>
              </a:rPr>
              <a:t>回调处理程序</a:t>
            </a:r>
            <a:r>
              <a:rPr lang="zh-CN" altLang="en-US" dirty="0">
                <a:latin typeface="微软雅黑" panose="020B0503020204020204" pitchFamily="34" charset="-122"/>
                <a:ea typeface="微软雅黑" panose="020B0503020204020204" pitchFamily="34" charset="-122"/>
              </a:rPr>
              <a:t>来处理的通信机制</a:t>
            </a:r>
          </a:p>
          <a:p>
            <a:pPr lvl="1">
              <a:lnSpc>
                <a:spcPct val="150000"/>
              </a:lnSpc>
              <a:spcBef>
                <a:spcPts val="0"/>
              </a:spcBef>
            </a:pPr>
            <a:r>
              <a:rPr lang="zh-CN" altLang="en-US" dirty="0">
                <a:latin typeface="微软雅黑" panose="020B0503020204020204" pitchFamily="34" charset="-122"/>
                <a:ea typeface="微软雅黑" panose="020B0503020204020204" pitchFamily="34" charset="-122"/>
              </a:rPr>
              <a:t>这种通信允许应用程序维护正确数量的内核线程</a:t>
            </a:r>
            <a:endParaRPr lang="en-US" altLang="en-US" dirty="0">
              <a:latin typeface="微软雅黑" panose="020B0503020204020204" pitchFamily="34" charset="-122"/>
              <a:ea typeface="微软雅黑" panose="020B0503020204020204" pitchFamily="34" charset="-122"/>
            </a:endParaRPr>
          </a:p>
        </p:txBody>
      </p:sp>
      <p:grpSp>
        <p:nvGrpSpPr>
          <p:cNvPr id="76804" name="组合 2">
            <a:extLst>
              <a:ext uri="{FF2B5EF4-FFF2-40B4-BE49-F238E27FC236}">
                <a16:creationId xmlns:a16="http://schemas.microsoft.com/office/drawing/2014/main" id="{8A1FEB3E-F02D-4F70-BCD1-98059F1A219F}"/>
              </a:ext>
            </a:extLst>
          </p:cNvPr>
          <p:cNvGrpSpPr>
            <a:grpSpLocks/>
          </p:cNvGrpSpPr>
          <p:nvPr/>
        </p:nvGrpSpPr>
        <p:grpSpPr bwMode="auto">
          <a:xfrm>
            <a:off x="9132167" y="2488407"/>
            <a:ext cx="2863850" cy="2482850"/>
            <a:chOff x="6122988" y="2193633"/>
            <a:chExt cx="2864601" cy="2482640"/>
          </a:xfrm>
        </p:grpSpPr>
        <p:pic>
          <p:nvPicPr>
            <p:cNvPr id="76805" name="Picture 3">
              <a:extLst>
                <a:ext uri="{FF2B5EF4-FFF2-40B4-BE49-F238E27FC236}">
                  <a16:creationId xmlns:a16="http://schemas.microsoft.com/office/drawing/2014/main" id="{B37489AD-0052-40A2-B83D-C997A821F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988" y="2193633"/>
              <a:ext cx="2727482" cy="2470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矩形 1">
              <a:extLst>
                <a:ext uri="{FF2B5EF4-FFF2-40B4-BE49-F238E27FC236}">
                  <a16:creationId xmlns:a16="http://schemas.microsoft.com/office/drawing/2014/main" id="{25953988-4D3E-465F-BA56-B7EA566DC253}"/>
                </a:ext>
              </a:extLst>
            </p:cNvPr>
            <p:cNvSpPr>
              <a:spLocks noChangeArrowheads="1"/>
            </p:cNvSpPr>
            <p:nvPr/>
          </p:nvSpPr>
          <p:spPr bwMode="auto">
            <a:xfrm>
              <a:off x="7230979" y="2253790"/>
              <a:ext cx="1215189" cy="4412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zh-CN" altLang="en-US">
                  <a:latin typeface="微软雅黑" panose="020B0503020204020204" pitchFamily="34" charset="-122"/>
                  <a:ea typeface="微软雅黑" panose="020B0503020204020204" pitchFamily="34" charset="-122"/>
                </a:rPr>
                <a:t>用户线程</a:t>
              </a:r>
            </a:p>
          </p:txBody>
        </p:sp>
        <p:sp>
          <p:nvSpPr>
            <p:cNvPr id="76807" name="矩形 5">
              <a:extLst>
                <a:ext uri="{FF2B5EF4-FFF2-40B4-BE49-F238E27FC236}">
                  <a16:creationId xmlns:a16="http://schemas.microsoft.com/office/drawing/2014/main" id="{A4D367F8-C952-419E-AEA0-4CA74A032756}"/>
                </a:ext>
              </a:extLst>
            </p:cNvPr>
            <p:cNvSpPr>
              <a:spLocks noChangeArrowheads="1"/>
            </p:cNvSpPr>
            <p:nvPr/>
          </p:nvSpPr>
          <p:spPr bwMode="auto">
            <a:xfrm>
              <a:off x="7423483" y="3509148"/>
              <a:ext cx="1564106" cy="4412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zh-CN" altLang="en-US" dirty="0">
                  <a:latin typeface="微软雅黑" panose="020B0503020204020204" pitchFamily="34" charset="-122"/>
                  <a:ea typeface="微软雅黑" panose="020B0503020204020204" pitchFamily="34" charset="-122"/>
                </a:rPr>
                <a:t>轻量级进程</a:t>
              </a:r>
            </a:p>
          </p:txBody>
        </p:sp>
        <p:sp>
          <p:nvSpPr>
            <p:cNvPr id="76808" name="矩形 6">
              <a:extLst>
                <a:ext uri="{FF2B5EF4-FFF2-40B4-BE49-F238E27FC236}">
                  <a16:creationId xmlns:a16="http://schemas.microsoft.com/office/drawing/2014/main" id="{C7240C74-4015-4BB5-9FE8-E3C3EBF4605A}"/>
                </a:ext>
              </a:extLst>
            </p:cNvPr>
            <p:cNvSpPr>
              <a:spLocks noChangeArrowheads="1"/>
            </p:cNvSpPr>
            <p:nvPr/>
          </p:nvSpPr>
          <p:spPr bwMode="auto">
            <a:xfrm>
              <a:off x="7230979" y="4234990"/>
              <a:ext cx="1215189" cy="4412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zh-CN" altLang="en-US">
                  <a:latin typeface="微软雅黑" panose="020B0503020204020204" pitchFamily="34" charset="-122"/>
                  <a:ea typeface="微软雅黑" panose="020B0503020204020204" pitchFamily="34" charset="-122"/>
                </a:rPr>
                <a:t>内核线程</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BA1F482-B3A6-40DE-8442-E0F5D4A638C3}"/>
              </a:ext>
            </a:extLst>
          </p:cNvPr>
          <p:cNvSpPr>
            <a:spLocks noGrp="1" noChangeArrowheads="1"/>
          </p:cNvSpPr>
          <p:nvPr>
            <p:ph type="title" idx="4294967295"/>
          </p:nvPr>
        </p:nvSpPr>
        <p:spPr>
          <a:xfrm>
            <a:off x="2549526" y="163513"/>
            <a:ext cx="7673975" cy="576262"/>
          </a:xfrm>
        </p:spPr>
        <p:txBody>
          <a:bodyPr/>
          <a:lstStyle/>
          <a:p>
            <a:pPr eaLnBrk="1" hangingPunct="1"/>
            <a:r>
              <a:rPr lang="zh-CN" altLang="en-US">
                <a:latin typeface="微软雅黑" panose="020B0503020204020204" pitchFamily="34" charset="-122"/>
                <a:ea typeface="微软雅黑" panose="020B0503020204020204" pitchFamily="34" charset="-122"/>
              </a:rPr>
              <a:t>操作系统示例</a:t>
            </a:r>
            <a:endParaRPr lang="en-US" altLang="en-US">
              <a:latin typeface="微软雅黑" panose="020B0503020204020204" pitchFamily="34" charset="-122"/>
              <a:ea typeface="微软雅黑" panose="020B0503020204020204" pitchFamily="34" charset="-122"/>
            </a:endParaRPr>
          </a:p>
        </p:txBody>
      </p:sp>
      <p:sp>
        <p:nvSpPr>
          <p:cNvPr id="78851" name="Rectangle 3">
            <a:extLst>
              <a:ext uri="{FF2B5EF4-FFF2-40B4-BE49-F238E27FC236}">
                <a16:creationId xmlns:a16="http://schemas.microsoft.com/office/drawing/2014/main" id="{16CF6102-F3A3-4CAF-A3D2-A32063C8DC12}"/>
              </a:ext>
            </a:extLst>
          </p:cNvPr>
          <p:cNvSpPr>
            <a:spLocks noGrp="1" noChangeArrowheads="1"/>
          </p:cNvSpPr>
          <p:nvPr>
            <p:ph type="body" idx="4294967295"/>
          </p:nvPr>
        </p:nvSpPr>
        <p:spPr>
          <a:xfrm>
            <a:off x="678295" y="1098407"/>
            <a:ext cx="7469188" cy="4492625"/>
          </a:xfrm>
        </p:spPr>
        <p:txBody>
          <a:bodyPr/>
          <a:lstStyle/>
          <a:p>
            <a:r>
              <a:rPr lang="en-US" altLang="en-US" dirty="0"/>
              <a:t>Linux</a:t>
            </a:r>
            <a:r>
              <a:rPr lang="zh-CN" altLang="en-US" dirty="0"/>
              <a:t>线程</a:t>
            </a:r>
            <a:endParaRPr lang="en-US" altLang="en-US" dirty="0"/>
          </a:p>
          <a:p>
            <a:r>
              <a:rPr lang="en-US" altLang="en-US" dirty="0">
                <a:latin typeface="微软雅黑" panose="020B0503020204020204" pitchFamily="34" charset="-122"/>
                <a:ea typeface="微软雅黑" panose="020B0503020204020204" pitchFamily="34" charset="-122"/>
              </a:rPr>
              <a:t>Windows</a:t>
            </a:r>
            <a:r>
              <a:rPr lang="zh-CN" altLang="en-US" dirty="0">
                <a:latin typeface="微软雅黑" panose="020B0503020204020204" pitchFamily="34" charset="-122"/>
                <a:ea typeface="微软雅黑" panose="020B0503020204020204" pitchFamily="34" charset="-122"/>
              </a:rPr>
              <a:t>线程</a:t>
            </a:r>
            <a:r>
              <a:rPr lang="en-US" altLang="zh-CN"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C8842DE3-E562-4631-B686-84CFC6B858AC}"/>
              </a:ext>
            </a:extLst>
          </p:cNvPr>
          <p:cNvSpPr>
            <a:spLocks noGrp="1" noChangeArrowheads="1"/>
          </p:cNvSpPr>
          <p:nvPr>
            <p:ph type="title"/>
          </p:nvPr>
        </p:nvSpPr>
        <p:spPr>
          <a:xfrm>
            <a:off x="1981200" y="150813"/>
            <a:ext cx="8229600" cy="576262"/>
          </a:xfrm>
        </p:spPr>
        <p:txBody>
          <a:bodyPr/>
          <a:lstStyle/>
          <a:p>
            <a:pPr eaLnBrk="1" hangingPunct="1"/>
            <a:r>
              <a:rPr lang="en-US" altLang="en-US">
                <a:latin typeface="微软雅黑" panose="020B0503020204020204" pitchFamily="34" charset="-122"/>
                <a:ea typeface="微软雅黑" panose="020B0503020204020204" pitchFamily="34" charset="-122"/>
              </a:rPr>
              <a:t>Linux </a:t>
            </a:r>
            <a:r>
              <a:rPr lang="zh-CN" altLang="en-US">
                <a:latin typeface="微软雅黑" panose="020B0503020204020204" pitchFamily="34" charset="-122"/>
                <a:ea typeface="微软雅黑" panose="020B0503020204020204" pitchFamily="34" charset="-122"/>
              </a:rPr>
              <a:t>线程</a:t>
            </a:r>
            <a:endParaRPr lang="en-US" altLang="en-US">
              <a:latin typeface="微软雅黑" panose="020B0503020204020204" pitchFamily="34" charset="-122"/>
              <a:ea typeface="微软雅黑" panose="020B0503020204020204" pitchFamily="34" charset="-122"/>
            </a:endParaRPr>
          </a:p>
        </p:txBody>
      </p:sp>
      <p:sp>
        <p:nvSpPr>
          <p:cNvPr id="87043" name="Rectangle 3">
            <a:extLst>
              <a:ext uri="{FF2B5EF4-FFF2-40B4-BE49-F238E27FC236}">
                <a16:creationId xmlns:a16="http://schemas.microsoft.com/office/drawing/2014/main" id="{40092722-1C9A-4C3C-9D3F-17505854DD63}"/>
              </a:ext>
            </a:extLst>
          </p:cNvPr>
          <p:cNvSpPr>
            <a:spLocks noGrp="1" noChangeArrowheads="1"/>
          </p:cNvSpPr>
          <p:nvPr>
            <p:ph idx="1"/>
          </p:nvPr>
        </p:nvSpPr>
        <p:spPr>
          <a:xfrm>
            <a:off x="633845" y="1092200"/>
            <a:ext cx="10910455" cy="4495800"/>
          </a:xfrm>
        </p:spPr>
        <p:txBody>
          <a:bodyPr/>
          <a:lstStyle/>
          <a:p>
            <a:pPr>
              <a:lnSpc>
                <a:spcPct val="150000"/>
              </a:lnSpc>
            </a:pP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通常采用</a:t>
            </a:r>
            <a:r>
              <a:rPr lang="zh-CN" altLang="en-US" b="1" dirty="0">
                <a:latin typeface="微软雅黑" panose="020B0503020204020204" pitchFamily="34" charset="-122"/>
                <a:ea typeface="微软雅黑" panose="020B0503020204020204" pitchFamily="34" charset="-122"/>
              </a:rPr>
              <a:t>任务一词</a:t>
            </a:r>
            <a:r>
              <a:rPr lang="zh-CN" altLang="en-US" dirty="0">
                <a:latin typeface="微软雅黑" panose="020B0503020204020204" pitchFamily="34" charset="-122"/>
                <a:ea typeface="微软雅黑" panose="020B0503020204020204" pitchFamily="34" charset="-122"/>
              </a:rPr>
              <a:t>而不是</a:t>
            </a:r>
            <a:r>
              <a:rPr lang="zh-CN" altLang="en-US" b="1" dirty="0">
                <a:latin typeface="微软雅黑" panose="020B0503020204020204" pitchFamily="34" charset="-122"/>
                <a:ea typeface="微软雅黑" panose="020B0503020204020204" pitchFamily="34" charset="-122"/>
              </a:rPr>
              <a:t>线程</a:t>
            </a:r>
          </a:p>
          <a:p>
            <a:pPr>
              <a:lnSpc>
                <a:spcPct val="150000"/>
              </a:lnSpc>
            </a:pP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通过系统调用</a:t>
            </a:r>
            <a:r>
              <a:rPr lang="en-US" altLang="zh-CN" dirty="0">
                <a:latin typeface="微软雅黑" panose="020B0503020204020204" pitchFamily="34" charset="-122"/>
                <a:ea typeface="微软雅黑" panose="020B0503020204020204" pitchFamily="34" charset="-122"/>
              </a:rPr>
              <a:t>clone()</a:t>
            </a:r>
            <a:r>
              <a:rPr lang="zh-CN" altLang="en-US" dirty="0">
                <a:latin typeface="微软雅黑" panose="020B0503020204020204" pitchFamily="34" charset="-122"/>
                <a:ea typeface="微软雅黑" panose="020B0503020204020204" pitchFamily="34" charset="-122"/>
              </a:rPr>
              <a:t> 创建线程</a:t>
            </a:r>
            <a:endParaRPr lang="en-US"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clone()</a:t>
            </a:r>
            <a:r>
              <a:rPr lang="zh-CN" altLang="en-US" dirty="0">
                <a:latin typeface="微软雅黑" panose="020B0503020204020204" pitchFamily="34" charset="-122"/>
                <a:ea typeface="微软雅黑" panose="020B0503020204020204" pitchFamily="34" charset="-122"/>
              </a:rPr>
              <a:t>允许子任务共享父任务的地址空间</a:t>
            </a:r>
            <a:endParaRPr lang="en-US" altLang="en-US"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标志控制行为</a:t>
            </a:r>
          </a:p>
          <a:p>
            <a:pPr lvl="1">
              <a:lnSpc>
                <a:spcPct val="150000"/>
              </a:lnSpc>
            </a:pPr>
            <a:endParaRPr lang="en-US" altLang="en-US"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struct </a:t>
            </a:r>
            <a:r>
              <a:rPr lang="en-US" altLang="zh-CN" dirty="0" err="1">
                <a:latin typeface="微软雅黑" panose="020B0503020204020204" pitchFamily="34" charset="-122"/>
                <a:ea typeface="微软雅黑" panose="020B0503020204020204" pitchFamily="34" charset="-122"/>
              </a:rPr>
              <a:t>task_struct</a:t>
            </a:r>
            <a:r>
              <a:rPr lang="zh-CN" altLang="en-US" dirty="0">
                <a:latin typeface="微软雅黑" panose="020B0503020204020204" pitchFamily="34" charset="-122"/>
                <a:ea typeface="微软雅黑" panose="020B0503020204020204" pitchFamily="34" charset="-122"/>
              </a:rPr>
              <a:t>指向进程数据结构（共享或唯一）</a:t>
            </a:r>
            <a:endParaRPr lang="en-US" altLang="en-US" dirty="0">
              <a:latin typeface="微软雅黑" panose="020B0503020204020204" pitchFamily="34" charset="-122"/>
              <a:ea typeface="微软雅黑" panose="020B0503020204020204" pitchFamily="34" charset="-122"/>
            </a:endParaRPr>
          </a:p>
          <a:p>
            <a:pPr>
              <a:lnSpc>
                <a:spcPct val="150000"/>
              </a:lnSpc>
            </a:pPr>
            <a:endParaRPr lang="en-US" altLang="en-US" dirty="0">
              <a:latin typeface="微软雅黑" panose="020B0503020204020204" pitchFamily="34" charset="-122"/>
              <a:ea typeface="微软雅黑" panose="020B0503020204020204" pitchFamily="34" charset="-122"/>
            </a:endParaRPr>
          </a:p>
        </p:txBody>
      </p:sp>
      <p:grpSp>
        <p:nvGrpSpPr>
          <p:cNvPr id="87044" name="组合 2">
            <a:extLst>
              <a:ext uri="{FF2B5EF4-FFF2-40B4-BE49-F238E27FC236}">
                <a16:creationId xmlns:a16="http://schemas.microsoft.com/office/drawing/2014/main" id="{C4286E6F-5C3B-4033-8405-1319DD87FED4}"/>
              </a:ext>
            </a:extLst>
          </p:cNvPr>
          <p:cNvGrpSpPr>
            <a:grpSpLocks/>
          </p:cNvGrpSpPr>
          <p:nvPr/>
        </p:nvGrpSpPr>
        <p:grpSpPr bwMode="auto">
          <a:xfrm>
            <a:off x="3878739" y="3435317"/>
            <a:ext cx="5084762" cy="1989137"/>
            <a:chOff x="2000079" y="2731625"/>
            <a:chExt cx="5083627" cy="1988595"/>
          </a:xfrm>
        </p:grpSpPr>
        <p:pic>
          <p:nvPicPr>
            <p:cNvPr id="87045" name="Picture 3" descr="4_15.pdf">
              <a:extLst>
                <a:ext uri="{FF2B5EF4-FFF2-40B4-BE49-F238E27FC236}">
                  <a16:creationId xmlns:a16="http://schemas.microsoft.com/office/drawing/2014/main" id="{AD7A51B7-CFD1-447E-8E15-B066DB5E7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079" y="2731625"/>
              <a:ext cx="5083627" cy="1988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矩形 1">
              <a:extLst>
                <a:ext uri="{FF2B5EF4-FFF2-40B4-BE49-F238E27FC236}">
                  <a16:creationId xmlns:a16="http://schemas.microsoft.com/office/drawing/2014/main" id="{6757B3EF-20B1-46F8-B2DC-E0D558AF8F1D}"/>
                </a:ext>
              </a:extLst>
            </p:cNvPr>
            <p:cNvSpPr>
              <a:spLocks noChangeArrowheads="1"/>
            </p:cNvSpPr>
            <p:nvPr/>
          </p:nvSpPr>
          <p:spPr bwMode="auto">
            <a:xfrm>
              <a:off x="2407534" y="2777923"/>
              <a:ext cx="995422" cy="277793"/>
            </a:xfrm>
            <a:prstGeom prst="rect">
              <a:avLst/>
            </a:prstGeom>
            <a:solidFill>
              <a:srgbClr val="D1D3D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标志</a:t>
              </a:r>
            </a:p>
          </p:txBody>
        </p:sp>
        <p:sp>
          <p:nvSpPr>
            <p:cNvPr id="87047" name="矩形 5">
              <a:extLst>
                <a:ext uri="{FF2B5EF4-FFF2-40B4-BE49-F238E27FC236}">
                  <a16:creationId xmlns:a16="http://schemas.microsoft.com/office/drawing/2014/main" id="{A0B417C9-331D-429D-BA0D-801E8A526D6F}"/>
                </a:ext>
              </a:extLst>
            </p:cNvPr>
            <p:cNvSpPr>
              <a:spLocks noChangeArrowheads="1"/>
            </p:cNvSpPr>
            <p:nvPr/>
          </p:nvSpPr>
          <p:spPr bwMode="auto">
            <a:xfrm>
              <a:off x="4874871" y="2777923"/>
              <a:ext cx="995422" cy="277793"/>
            </a:xfrm>
            <a:prstGeom prst="rect">
              <a:avLst/>
            </a:prstGeom>
            <a:solidFill>
              <a:srgbClr val="D1D3D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含义</a:t>
              </a:r>
            </a:p>
          </p:txBody>
        </p:sp>
        <p:sp>
          <p:nvSpPr>
            <p:cNvPr id="87048" name="矩形 6">
              <a:extLst>
                <a:ext uri="{FF2B5EF4-FFF2-40B4-BE49-F238E27FC236}">
                  <a16:creationId xmlns:a16="http://schemas.microsoft.com/office/drawing/2014/main" id="{EF2F3D8E-AE70-4859-9A16-410692F2FDD8}"/>
                </a:ext>
              </a:extLst>
            </p:cNvPr>
            <p:cNvSpPr>
              <a:spLocks noChangeArrowheads="1"/>
            </p:cNvSpPr>
            <p:nvPr/>
          </p:nvSpPr>
          <p:spPr bwMode="auto">
            <a:xfrm>
              <a:off x="3967133" y="3227246"/>
              <a:ext cx="2954528" cy="277793"/>
            </a:xfrm>
            <a:prstGeom prst="rect">
              <a:avLst/>
            </a:prstGeom>
            <a:solidFill>
              <a:srgbClr val="C7EAF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共享文件系统信息</a:t>
              </a:r>
            </a:p>
          </p:txBody>
        </p:sp>
        <p:sp>
          <p:nvSpPr>
            <p:cNvPr id="87049" name="矩形 8">
              <a:extLst>
                <a:ext uri="{FF2B5EF4-FFF2-40B4-BE49-F238E27FC236}">
                  <a16:creationId xmlns:a16="http://schemas.microsoft.com/office/drawing/2014/main" id="{D6A5F95F-2C43-436C-BA9B-3B8BB88B5D3E}"/>
                </a:ext>
              </a:extLst>
            </p:cNvPr>
            <p:cNvSpPr>
              <a:spLocks noChangeArrowheads="1"/>
            </p:cNvSpPr>
            <p:nvPr/>
          </p:nvSpPr>
          <p:spPr bwMode="auto">
            <a:xfrm>
              <a:off x="3831220" y="3593455"/>
              <a:ext cx="3067291" cy="277793"/>
            </a:xfrm>
            <a:prstGeom prst="rect">
              <a:avLst/>
            </a:prstGeom>
            <a:solidFill>
              <a:srgbClr val="C7EAF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  共享相同内存空间</a:t>
              </a:r>
            </a:p>
          </p:txBody>
        </p:sp>
        <p:sp>
          <p:nvSpPr>
            <p:cNvPr id="87050" name="矩形 9">
              <a:extLst>
                <a:ext uri="{FF2B5EF4-FFF2-40B4-BE49-F238E27FC236}">
                  <a16:creationId xmlns:a16="http://schemas.microsoft.com/office/drawing/2014/main" id="{2571F603-2C35-47AE-9E40-856AE9791B7C}"/>
                </a:ext>
              </a:extLst>
            </p:cNvPr>
            <p:cNvSpPr>
              <a:spLocks noChangeArrowheads="1"/>
            </p:cNvSpPr>
            <p:nvPr/>
          </p:nvSpPr>
          <p:spPr bwMode="auto">
            <a:xfrm>
              <a:off x="3943983" y="4006365"/>
              <a:ext cx="2954528" cy="277793"/>
            </a:xfrm>
            <a:prstGeom prst="rect">
              <a:avLst/>
            </a:prstGeom>
            <a:solidFill>
              <a:srgbClr val="C7EAF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dirty="0">
                  <a:latin typeface="微软雅黑" panose="020B0503020204020204" pitchFamily="34" charset="-122"/>
                  <a:ea typeface="微软雅黑" panose="020B0503020204020204" pitchFamily="34" charset="-122"/>
                </a:rPr>
                <a:t>共享信号处理程序</a:t>
              </a:r>
            </a:p>
          </p:txBody>
        </p:sp>
        <p:sp>
          <p:nvSpPr>
            <p:cNvPr id="87051" name="矩形 10">
              <a:extLst>
                <a:ext uri="{FF2B5EF4-FFF2-40B4-BE49-F238E27FC236}">
                  <a16:creationId xmlns:a16="http://schemas.microsoft.com/office/drawing/2014/main" id="{BC532C8C-5A1A-45D8-BF44-82384D357BB6}"/>
                </a:ext>
              </a:extLst>
            </p:cNvPr>
            <p:cNvSpPr>
              <a:spLocks noChangeArrowheads="1"/>
            </p:cNvSpPr>
            <p:nvPr/>
          </p:nvSpPr>
          <p:spPr bwMode="auto">
            <a:xfrm>
              <a:off x="3941618" y="4363292"/>
              <a:ext cx="2954528" cy="277793"/>
            </a:xfrm>
            <a:prstGeom prst="rect">
              <a:avLst/>
            </a:prstGeom>
            <a:solidFill>
              <a:srgbClr val="C7EAF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35000"/>
                </a:spcBef>
                <a:buClr>
                  <a:srgbClr val="993300"/>
                </a:buClr>
                <a:buSzPct val="90000"/>
                <a:buFont typeface="Monotype Sorts" pitchFamily="-84" charset="2"/>
                <a:buChar char="n"/>
                <a:defRPr>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lang="zh-CN" altLang="en-US">
                  <a:latin typeface="微软雅黑" panose="020B0503020204020204" pitchFamily="34" charset="-122"/>
                  <a:ea typeface="微软雅黑" panose="020B0503020204020204" pitchFamily="34" charset="-122"/>
                </a:rPr>
                <a:t>共享一组打开文件</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EB0B7550-5395-49C7-832A-C08BBF98A535}"/>
              </a:ext>
            </a:extLst>
          </p:cNvPr>
          <p:cNvSpPr>
            <a:spLocks noGrp="1" noChangeArrowheads="1"/>
          </p:cNvSpPr>
          <p:nvPr>
            <p:ph type="title"/>
          </p:nvPr>
        </p:nvSpPr>
        <p:spPr>
          <a:xfrm>
            <a:off x="1981200" y="296863"/>
            <a:ext cx="8229600" cy="576262"/>
          </a:xfrm>
        </p:spPr>
        <p:txBody>
          <a:bodyPr/>
          <a:lstStyle/>
          <a:p>
            <a:pPr eaLnBrk="1" hangingPunct="1"/>
            <a:r>
              <a:rPr lang="en-US" altLang="en-US" dirty="0">
                <a:latin typeface="微软雅黑" panose="020B0503020204020204" pitchFamily="34" charset="-122"/>
                <a:ea typeface="微软雅黑" panose="020B0503020204020204" pitchFamily="34" charset="-122"/>
              </a:rPr>
              <a:t>Windows </a:t>
            </a:r>
            <a:r>
              <a:rPr lang="zh-CN" altLang="en-US" dirty="0">
                <a:latin typeface="微软雅黑" panose="020B0503020204020204" pitchFamily="34" charset="-122"/>
                <a:ea typeface="微软雅黑" panose="020B0503020204020204" pitchFamily="34" charset="-122"/>
              </a:rPr>
              <a:t>线程</a:t>
            </a:r>
            <a:r>
              <a:rPr lang="en-US" altLang="zh-CN" dirty="0">
                <a:latin typeface="微软雅黑" panose="020B0503020204020204" pitchFamily="34" charset="-122"/>
                <a:ea typeface="微软雅黑" panose="020B0503020204020204" pitchFamily="34" charset="-122"/>
              </a:rPr>
              <a:t>*</a:t>
            </a:r>
            <a:endParaRPr lang="en-US" altLang="en-US" dirty="0">
              <a:latin typeface="微软雅黑" panose="020B0503020204020204" pitchFamily="34" charset="-122"/>
              <a:ea typeface="微软雅黑" panose="020B0503020204020204" pitchFamily="34" charset="-122"/>
            </a:endParaRPr>
          </a:p>
        </p:txBody>
      </p:sp>
      <p:sp>
        <p:nvSpPr>
          <p:cNvPr id="80899" name="Rectangle 3">
            <a:extLst>
              <a:ext uri="{FF2B5EF4-FFF2-40B4-BE49-F238E27FC236}">
                <a16:creationId xmlns:a16="http://schemas.microsoft.com/office/drawing/2014/main" id="{17F47131-60AB-4AE7-855E-37F68EBF0881}"/>
              </a:ext>
            </a:extLst>
          </p:cNvPr>
          <p:cNvSpPr>
            <a:spLocks noGrp="1" noChangeArrowheads="1"/>
          </p:cNvSpPr>
          <p:nvPr>
            <p:ph idx="1"/>
          </p:nvPr>
        </p:nvSpPr>
        <p:spPr>
          <a:xfrm>
            <a:off x="602673" y="1130301"/>
            <a:ext cx="10983191" cy="5141913"/>
          </a:xfrm>
        </p:spPr>
        <p:txBody>
          <a:bodyPr/>
          <a:lstStyle/>
          <a:p>
            <a:pPr>
              <a:lnSpc>
                <a:spcPct val="150000"/>
              </a:lnSpc>
              <a:spcBef>
                <a:spcPts val="0"/>
              </a:spcBef>
            </a:pPr>
            <a:r>
              <a:rPr lang="en-US" altLang="zh-CN" dirty="0">
                <a:latin typeface="微软雅黑" panose="020B0503020204020204" pitchFamily="34" charset="-122"/>
                <a:ea typeface="微软雅黑" panose="020B0503020204020204" pitchFamily="34" charset="-122"/>
              </a:rPr>
              <a:t>Windows </a:t>
            </a:r>
            <a:r>
              <a:rPr lang="zh-CN" altLang="en-US" dirty="0">
                <a:latin typeface="微软雅黑" panose="020B0503020204020204" pitchFamily="34" charset="-122"/>
                <a:ea typeface="微软雅黑" panose="020B0503020204020204" pitchFamily="34" charset="-122"/>
              </a:rPr>
              <a:t>实现了 </a:t>
            </a:r>
            <a:r>
              <a:rPr lang="en-US" altLang="zh-CN" dirty="0">
                <a:latin typeface="微软雅黑" panose="020B0503020204020204" pitchFamily="34" charset="-122"/>
                <a:ea typeface="微软雅黑" panose="020B0503020204020204" pitchFamily="34" charset="-122"/>
              </a:rPr>
              <a:t>Windows API——Win 98</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Win NT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Win 2000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Win XP </a:t>
            </a:r>
            <a:r>
              <a:rPr lang="zh-CN" altLang="en-US" dirty="0">
                <a:latin typeface="微软雅黑" panose="020B0503020204020204" pitchFamily="34" charset="-122"/>
                <a:ea typeface="微软雅黑" panose="020B0503020204020204" pitchFamily="34" charset="-122"/>
              </a:rPr>
              <a:t>和 </a:t>
            </a:r>
            <a:r>
              <a:rPr lang="en-US" altLang="zh-CN" dirty="0">
                <a:latin typeface="微软雅黑" panose="020B0503020204020204" pitchFamily="34" charset="-122"/>
                <a:ea typeface="微软雅黑" panose="020B0503020204020204" pitchFamily="34" charset="-122"/>
              </a:rPr>
              <a:t>Win 7 </a:t>
            </a:r>
            <a:r>
              <a:rPr lang="zh-CN" altLang="en-US" dirty="0">
                <a:latin typeface="微软雅黑" panose="020B0503020204020204" pitchFamily="34" charset="-122"/>
                <a:ea typeface="微软雅黑" panose="020B0503020204020204" pitchFamily="34" charset="-122"/>
              </a:rPr>
              <a:t>的主要 </a:t>
            </a:r>
            <a:r>
              <a:rPr lang="en-US" altLang="zh-CN" dirty="0">
                <a:latin typeface="微软雅黑" panose="020B0503020204020204" pitchFamily="34" charset="-122"/>
                <a:ea typeface="微软雅黑" panose="020B0503020204020204" pitchFamily="34" charset="-122"/>
              </a:rPr>
              <a:t>API</a:t>
            </a:r>
          </a:p>
          <a:p>
            <a:pPr>
              <a:lnSpc>
                <a:spcPct val="150000"/>
              </a:lnSpc>
              <a:spcBef>
                <a:spcPts val="0"/>
              </a:spcBef>
            </a:pPr>
            <a:r>
              <a:rPr lang="zh-CN" altLang="en-US" dirty="0">
                <a:latin typeface="微软雅黑" panose="020B0503020204020204" pitchFamily="34" charset="-122"/>
                <a:ea typeface="微软雅黑" panose="020B0503020204020204" pitchFamily="34" charset="-122"/>
              </a:rPr>
              <a:t>实现内核级一对一映射</a:t>
            </a:r>
            <a:endParaRPr lang="en-US" altLang="en-US" dirty="0">
              <a:latin typeface="微软雅黑" panose="020B0503020204020204" pitchFamily="34" charset="-122"/>
              <a:ea typeface="微软雅黑" panose="020B0503020204020204" pitchFamily="34" charset="-122"/>
            </a:endParaRPr>
          </a:p>
          <a:p>
            <a:pPr>
              <a:lnSpc>
                <a:spcPct val="150000"/>
              </a:lnSpc>
              <a:spcBef>
                <a:spcPts val="0"/>
              </a:spcBef>
            </a:pPr>
            <a:r>
              <a:rPr lang="zh-CN" altLang="en-US" dirty="0">
                <a:latin typeface="微软雅黑" panose="020B0503020204020204" pitchFamily="34" charset="-122"/>
                <a:ea typeface="微软雅黑" panose="020B0503020204020204" pitchFamily="34" charset="-122"/>
              </a:rPr>
              <a:t>每个线程包含</a:t>
            </a:r>
          </a:p>
          <a:p>
            <a:pPr lvl="1">
              <a:lnSpc>
                <a:spcPct val="150000"/>
              </a:lnSpc>
              <a:spcBef>
                <a:spcPts val="0"/>
              </a:spcBef>
            </a:pPr>
            <a:r>
              <a:rPr lang="zh-CN" altLang="en-US" dirty="0">
                <a:latin typeface="微软雅黑" panose="020B0503020204020204" pitchFamily="34" charset="-122"/>
                <a:ea typeface="微软雅黑" panose="020B0503020204020204" pitchFamily="34" charset="-122"/>
              </a:rPr>
              <a:t>线程</a:t>
            </a:r>
            <a:r>
              <a:rPr lang="en-US" altLang="zh-CN" dirty="0">
                <a:latin typeface="微软雅黑" panose="020B0503020204020204" pitchFamily="34" charset="-122"/>
                <a:ea typeface="微软雅黑" panose="020B0503020204020204" pitchFamily="34" charset="-122"/>
              </a:rPr>
              <a:t>ID</a:t>
            </a:r>
            <a:r>
              <a:rPr lang="zh-CN" altLang="en-US" dirty="0">
                <a:latin typeface="微软雅黑" panose="020B0503020204020204" pitchFamily="34" charset="-122"/>
                <a:ea typeface="微软雅黑" panose="020B0503020204020204" pitchFamily="34" charset="-122"/>
              </a:rPr>
              <a:t>，用于唯一标志线程</a:t>
            </a:r>
            <a:r>
              <a:rPr lang="en-US" altLang="zh-CN" dirty="0">
                <a:latin typeface="微软雅黑" panose="020B0503020204020204" pitchFamily="34" charset="-122"/>
                <a:ea typeface="微软雅黑" panose="020B0503020204020204" pitchFamily="34" charset="-122"/>
              </a:rPr>
              <a:t>	</a:t>
            </a:r>
          </a:p>
          <a:p>
            <a:pPr lvl="1">
              <a:lnSpc>
                <a:spcPct val="150000"/>
              </a:lnSpc>
              <a:spcBef>
                <a:spcPts val="0"/>
              </a:spcBef>
            </a:pPr>
            <a:r>
              <a:rPr lang="zh-CN" altLang="en-US" dirty="0">
                <a:latin typeface="微软雅黑" panose="020B0503020204020204" pitchFamily="34" charset="-122"/>
                <a:ea typeface="微软雅黑" panose="020B0503020204020204" pitchFamily="34" charset="-122"/>
              </a:rPr>
              <a:t>寄存器组，用千表示处理器状态。</a:t>
            </a:r>
          </a:p>
          <a:p>
            <a:pPr lvl="1">
              <a:lnSpc>
                <a:spcPct val="150000"/>
              </a:lnSpc>
              <a:spcBef>
                <a:spcPts val="0"/>
              </a:spcBef>
            </a:pPr>
            <a:r>
              <a:rPr lang="zh-CN" altLang="en-US" dirty="0">
                <a:latin typeface="微软雅黑" panose="020B0503020204020204" pitchFamily="34" charset="-122"/>
                <a:ea typeface="微软雅黑" panose="020B0503020204020204" pitchFamily="34" charset="-122"/>
              </a:rPr>
              <a:t>用户堆栈，以供线程在用户模式下运行；内核堆栈，以供线程在内核模式下运行。</a:t>
            </a:r>
          </a:p>
          <a:p>
            <a:pPr lvl="1">
              <a:lnSpc>
                <a:spcPct val="150000"/>
              </a:lnSpc>
              <a:spcBef>
                <a:spcPts val="0"/>
              </a:spcBef>
            </a:pPr>
            <a:r>
              <a:rPr lang="zh-CN" altLang="en-US" dirty="0">
                <a:latin typeface="微软雅黑" panose="020B0503020204020204" pitchFamily="34" charset="-122"/>
                <a:ea typeface="微软雅黑" panose="020B0503020204020204" pitchFamily="34" charset="-122"/>
              </a:rPr>
              <a:t>私有存储区域，用于各种运行时库和动态链接库 </a:t>
            </a:r>
            <a:r>
              <a:rPr lang="en-US" altLang="zh-CN" dirty="0">
                <a:latin typeface="微软雅黑" panose="020B0503020204020204" pitchFamily="34" charset="-122"/>
                <a:ea typeface="微软雅黑" panose="020B0503020204020204" pitchFamily="34" charset="-122"/>
              </a:rPr>
              <a:t>(DLL)</a:t>
            </a:r>
            <a:r>
              <a:rPr lang="zh-CN" altLang="en-US" dirty="0">
                <a:latin typeface="微软雅黑" panose="020B0503020204020204" pitchFamily="34" charset="-122"/>
                <a:ea typeface="微软雅黑" panose="020B0503020204020204" pitchFamily="34" charset="-122"/>
              </a:rPr>
              <a:t> </a:t>
            </a:r>
            <a:endParaRPr lang="en-US" altLang="en-US" dirty="0">
              <a:latin typeface="微软雅黑" panose="020B0503020204020204" pitchFamily="34" charset="-122"/>
              <a:ea typeface="微软雅黑" panose="020B0503020204020204" pitchFamily="34" charset="-122"/>
            </a:endParaRPr>
          </a:p>
          <a:p>
            <a:pPr>
              <a:lnSpc>
                <a:spcPct val="150000"/>
              </a:lnSpc>
              <a:spcBef>
                <a:spcPts val="0"/>
              </a:spcBef>
            </a:pPr>
            <a:r>
              <a:rPr lang="zh-CN" altLang="en-US" dirty="0">
                <a:latin typeface="微软雅黑" panose="020B0503020204020204" pitchFamily="34" charset="-122"/>
                <a:ea typeface="微软雅黑" panose="020B0503020204020204" pitchFamily="34" charset="-122"/>
              </a:rPr>
              <a:t>寄存器组、堆栈和私有存储区被称为</a:t>
            </a:r>
            <a:r>
              <a:rPr lang="zh-CN" altLang="en-US" b="1" dirty="0">
                <a:latin typeface="微软雅黑" panose="020B0503020204020204" pitchFamily="34" charset="-122"/>
                <a:ea typeface="微软雅黑" panose="020B0503020204020204" pitchFamily="34" charset="-122"/>
              </a:rPr>
              <a:t>线程上下文</a:t>
            </a:r>
            <a:endParaRPr lang="en-US" altLang="en-US" b="1" dirty="0">
              <a:latin typeface="微软雅黑" panose="020B0503020204020204" pitchFamily="34" charset="-122"/>
              <a:ea typeface="微软雅黑" panose="020B0503020204020204" pitchFamily="34" charset="-122"/>
            </a:endParaRPr>
          </a:p>
          <a:p>
            <a:pPr>
              <a:lnSpc>
                <a:spcPct val="150000"/>
              </a:lnSpc>
              <a:spcBef>
                <a:spcPts val="0"/>
              </a:spcBef>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518751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93451719-00AF-408C-8DF3-1C8A5FC9D771}"/>
              </a:ext>
            </a:extLst>
          </p:cNvPr>
          <p:cNvSpPr>
            <a:spLocks noGrp="1" noChangeArrowheads="1"/>
          </p:cNvSpPr>
          <p:nvPr>
            <p:ph type="title"/>
          </p:nvPr>
        </p:nvSpPr>
        <p:spPr>
          <a:xfrm>
            <a:off x="1981200" y="220663"/>
            <a:ext cx="8229600" cy="576262"/>
          </a:xfrm>
        </p:spPr>
        <p:txBody>
          <a:bodyPr/>
          <a:lstStyle/>
          <a:p>
            <a:pPr eaLnBrk="1" hangingPunct="1"/>
            <a:r>
              <a:rPr lang="en-US" altLang="en-US" dirty="0">
                <a:latin typeface="微软雅黑" panose="020B0503020204020204" pitchFamily="34" charset="-122"/>
                <a:ea typeface="微软雅黑" panose="020B0503020204020204" pitchFamily="34" charset="-122"/>
              </a:rPr>
              <a:t>Windows </a:t>
            </a:r>
            <a:r>
              <a:rPr lang="zh-CN" altLang="en-US" dirty="0">
                <a:latin typeface="微软雅黑" panose="020B0503020204020204" pitchFamily="34" charset="-122"/>
                <a:ea typeface="微软雅黑" panose="020B0503020204020204" pitchFamily="34" charset="-122"/>
              </a:rPr>
              <a:t>线程</a:t>
            </a:r>
            <a:r>
              <a:rPr lang="en-US" altLang="zh-CN" dirty="0">
                <a:latin typeface="微软雅黑" panose="020B0503020204020204" pitchFamily="34" charset="-122"/>
                <a:ea typeface="微软雅黑" panose="020B0503020204020204" pitchFamily="34" charset="-122"/>
              </a:rPr>
              <a:t>*</a:t>
            </a:r>
            <a:endParaRPr lang="en-US" altLang="en-US" dirty="0">
              <a:latin typeface="微软雅黑" panose="020B0503020204020204" pitchFamily="34" charset="-122"/>
              <a:ea typeface="微软雅黑" panose="020B0503020204020204" pitchFamily="34" charset="-122"/>
            </a:endParaRPr>
          </a:p>
        </p:txBody>
      </p:sp>
      <p:sp>
        <p:nvSpPr>
          <p:cNvPr id="82947" name="Rectangle 3">
            <a:extLst>
              <a:ext uri="{FF2B5EF4-FFF2-40B4-BE49-F238E27FC236}">
                <a16:creationId xmlns:a16="http://schemas.microsoft.com/office/drawing/2014/main" id="{3CE174E1-DB67-4056-AD98-261003B38AAA}"/>
              </a:ext>
            </a:extLst>
          </p:cNvPr>
          <p:cNvSpPr>
            <a:spLocks noGrp="1" noChangeArrowheads="1"/>
          </p:cNvSpPr>
          <p:nvPr>
            <p:ph idx="1"/>
          </p:nvPr>
        </p:nvSpPr>
        <p:spPr>
          <a:xfrm>
            <a:off x="561109" y="1206501"/>
            <a:ext cx="10858500" cy="5141913"/>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线程的主要数据结构包括：</a:t>
            </a:r>
          </a:p>
          <a:p>
            <a:pPr lvl="1">
              <a:lnSpc>
                <a:spcPct val="150000"/>
              </a:lnSpc>
            </a:pPr>
            <a:r>
              <a:rPr lang="en-US" altLang="zh-CN" dirty="0">
                <a:latin typeface="微软雅黑" panose="020B0503020204020204" pitchFamily="34" charset="-122"/>
                <a:ea typeface="微软雅黑" panose="020B0503020204020204" pitchFamily="34" charset="-122"/>
              </a:rPr>
              <a:t>ETHREAD</a:t>
            </a:r>
            <a:r>
              <a:rPr lang="zh-CN" altLang="en-US" dirty="0">
                <a:latin typeface="微软雅黑" panose="020B0503020204020204" pitchFamily="34" charset="-122"/>
                <a:ea typeface="微软雅黑" panose="020B0503020204020204" pitchFamily="34" charset="-122"/>
              </a:rPr>
              <a:t>（执行线程块）</a:t>
            </a:r>
            <a:endParaRPr lang="en-US" altLang="zh-CN" dirty="0"/>
          </a:p>
          <a:p>
            <a:pPr lvl="2">
              <a:lnSpc>
                <a:spcPct val="150000"/>
              </a:lnSpc>
            </a:pPr>
            <a:r>
              <a:rPr lang="zh-CN" altLang="en-US" dirty="0">
                <a:latin typeface="微软雅黑" panose="020B0503020204020204" pitchFamily="34" charset="-122"/>
                <a:ea typeface="微软雅黑" panose="020B0503020204020204" pitchFamily="34" charset="-122"/>
              </a:rPr>
              <a:t>包括内核空间中线程所属进程的指针以及对应</a:t>
            </a:r>
            <a:r>
              <a:rPr lang="en-US" altLang="zh-CN" dirty="0">
                <a:latin typeface="微软雅黑" panose="020B0503020204020204" pitchFamily="34" charset="-122"/>
                <a:ea typeface="微软雅黑" panose="020B0503020204020204" pitchFamily="34" charset="-122"/>
              </a:rPr>
              <a:t>KTHREAD</a:t>
            </a:r>
            <a:r>
              <a:rPr lang="zh-CN" altLang="en-US" dirty="0">
                <a:latin typeface="微软雅黑" panose="020B0503020204020204" pitchFamily="34" charset="-122"/>
                <a:ea typeface="微软雅黑" panose="020B0503020204020204" pitchFamily="34" charset="-122"/>
              </a:rPr>
              <a:t>的指针</a:t>
            </a:r>
          </a:p>
          <a:p>
            <a:pPr lvl="1">
              <a:lnSpc>
                <a:spcPct val="150000"/>
              </a:lnSpc>
            </a:pPr>
            <a:r>
              <a:rPr lang="en-US" altLang="zh-CN" dirty="0">
                <a:latin typeface="微软雅黑" panose="020B0503020204020204" pitchFamily="34" charset="-122"/>
                <a:ea typeface="微软雅黑" panose="020B0503020204020204" pitchFamily="34" charset="-122"/>
              </a:rPr>
              <a:t>KTHREAD</a:t>
            </a:r>
            <a:r>
              <a:rPr lang="zh-CN" altLang="en-US" dirty="0">
                <a:latin typeface="微软雅黑" panose="020B0503020204020204" pitchFamily="34" charset="-122"/>
                <a:ea typeface="微软雅黑" panose="020B0503020204020204" pitchFamily="34" charset="-122"/>
              </a:rPr>
              <a:t>（内核线程块）</a:t>
            </a:r>
            <a:endParaRPr lang="en-US" altLang="zh-CN" dirty="0"/>
          </a:p>
          <a:p>
            <a:pPr lvl="2">
              <a:lnSpc>
                <a:spcPct val="150000"/>
              </a:lnSpc>
            </a:pPr>
            <a:r>
              <a:rPr lang="zh-CN" altLang="en-US" dirty="0">
                <a:latin typeface="微软雅黑" panose="020B0503020204020204" pitchFamily="34" charset="-122"/>
                <a:ea typeface="微软雅黑" panose="020B0503020204020204" pitchFamily="34" charset="-122"/>
              </a:rPr>
              <a:t>内核空间中的调度和同步信息、内核模式堆栈、指向 </a:t>
            </a:r>
            <a:r>
              <a:rPr lang="en-US" altLang="zh-CN" dirty="0">
                <a:latin typeface="微软雅黑" panose="020B0503020204020204" pitchFamily="34" charset="-122"/>
                <a:ea typeface="微软雅黑" panose="020B0503020204020204" pitchFamily="34" charset="-122"/>
              </a:rPr>
              <a:t>TEB </a:t>
            </a:r>
            <a:r>
              <a:rPr lang="zh-CN" altLang="en-US" dirty="0">
                <a:latin typeface="微软雅黑" panose="020B0503020204020204" pitchFamily="34" charset="-122"/>
                <a:ea typeface="微软雅黑" panose="020B0503020204020204" pitchFamily="34" charset="-122"/>
              </a:rPr>
              <a:t>的指针</a:t>
            </a:r>
          </a:p>
          <a:p>
            <a:pPr lvl="1">
              <a:lnSpc>
                <a:spcPct val="150000"/>
              </a:lnSpc>
            </a:pPr>
            <a:r>
              <a:rPr lang="en-US" altLang="zh-CN" dirty="0">
                <a:latin typeface="微软雅黑" panose="020B0503020204020204" pitchFamily="34" charset="-122"/>
                <a:ea typeface="微软雅黑" panose="020B0503020204020204" pitchFamily="34" charset="-122"/>
              </a:rPr>
              <a:t>TEB</a:t>
            </a:r>
            <a:r>
              <a:rPr lang="zh-CN" altLang="en-US" dirty="0">
                <a:latin typeface="微软雅黑" panose="020B0503020204020204" pitchFamily="34" charset="-122"/>
                <a:ea typeface="微软雅黑" panose="020B0503020204020204" pitchFamily="34" charset="-122"/>
              </a:rPr>
              <a:t>（线程环境块）</a:t>
            </a:r>
            <a:endParaRPr lang="en-US" altLang="zh-CN" dirty="0"/>
          </a:p>
          <a:p>
            <a:pPr lvl="2">
              <a:lnSpc>
                <a:spcPct val="150000"/>
              </a:lnSpc>
            </a:pPr>
            <a:r>
              <a:rPr lang="zh-CN" altLang="en-US" dirty="0">
                <a:latin typeface="微软雅黑" panose="020B0503020204020204" pitchFamily="34" charset="-122"/>
                <a:ea typeface="微软雅黑" panose="020B0503020204020204" pitchFamily="34" charset="-122"/>
              </a:rPr>
              <a:t>线程标识符，用户模式堆栈以及用于线程本地存储的数组等</a:t>
            </a:r>
            <a:endParaRPr lang="en-US" altLang="en-US" dirty="0">
              <a:latin typeface="微软雅黑" panose="020B0503020204020204" pitchFamily="34" charset="-122"/>
              <a:ea typeface="微软雅黑" panose="020B0503020204020204" pitchFamily="34" charset="-122"/>
            </a:endParaRPr>
          </a:p>
          <a:p>
            <a:pPr>
              <a:lnSpc>
                <a:spcPct val="150000"/>
              </a:lnSpc>
              <a:buFont typeface="Monotype Sorts" pitchFamily="-84" charset="2"/>
              <a:buNone/>
            </a:pPr>
            <a:endParaRPr lang="en-US"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941480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Exercise</a:t>
            </a:r>
            <a:endParaRPr lang="zh-CN" altLang="en-US" dirty="0"/>
          </a:p>
        </p:txBody>
      </p:sp>
      <p:sp>
        <p:nvSpPr>
          <p:cNvPr id="3" name="内容占位符 2"/>
          <p:cNvSpPr>
            <a:spLocks noGrp="1"/>
          </p:cNvSpPr>
          <p:nvPr>
            <p:ph idx="1"/>
          </p:nvPr>
        </p:nvSpPr>
        <p:spPr/>
        <p:txBody>
          <a:bodyPr/>
          <a:lstStyle/>
          <a:p>
            <a:pPr>
              <a:lnSpc>
                <a:spcPct val="200000"/>
              </a:lnSpc>
            </a:pPr>
            <a:r>
              <a:rPr lang="zh-CN" altLang="en-US" dirty="0"/>
              <a:t>网上学习“</a:t>
            </a:r>
            <a:r>
              <a:rPr lang="en-US" altLang="zh-CN" dirty="0"/>
              <a:t>Linux</a:t>
            </a:r>
            <a:r>
              <a:rPr lang="zh-CN" altLang="en-US" dirty="0"/>
              <a:t>中的信号（</a:t>
            </a:r>
            <a:r>
              <a:rPr lang="en-US" altLang="zh-CN" dirty="0"/>
              <a:t>signal</a:t>
            </a:r>
            <a:r>
              <a:rPr lang="zh-CN" altLang="en-US" dirty="0"/>
              <a:t>）机制</a:t>
            </a:r>
            <a:endParaRPr lang="en-US" altLang="zh-CN" dirty="0"/>
          </a:p>
          <a:p>
            <a:pPr>
              <a:lnSpc>
                <a:spcPct val="200000"/>
              </a:lnSpc>
            </a:pPr>
            <a:r>
              <a:rPr lang="en-US" altLang="zh-CN" dirty="0"/>
              <a:t>4.2, 4.4, 4.7, 4.8, 4.9, 4.14, 4.15, 4.16, 4.17, 4.21</a:t>
            </a:r>
          </a:p>
          <a:p>
            <a:pPr>
              <a:lnSpc>
                <a:spcPct val="200000"/>
              </a:lnSpc>
            </a:pPr>
            <a:endParaRPr lang="en-US" altLang="zh-CN" dirty="0"/>
          </a:p>
        </p:txBody>
      </p:sp>
    </p:spTree>
    <p:extLst>
      <p:ext uri="{BB962C8B-B14F-4D97-AF65-F5344CB8AC3E}">
        <p14:creationId xmlns:p14="http://schemas.microsoft.com/office/powerpoint/2010/main" val="61465228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4099</TotalTime>
  <Words>3143</Words>
  <Application>Microsoft Office PowerPoint</Application>
  <PresentationFormat>宽屏</PresentationFormat>
  <Paragraphs>396</Paragraphs>
  <Slides>45</Slides>
  <Notes>38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45</vt:i4>
      </vt:variant>
    </vt:vector>
  </HeadingPairs>
  <TitlesOfParts>
    <vt:vector size="54" baseType="lpstr">
      <vt:lpstr>Monotype Sorts</vt:lpstr>
      <vt:lpstr>等线</vt:lpstr>
      <vt:lpstr>微软雅黑</vt:lpstr>
      <vt:lpstr>Arial</vt:lpstr>
      <vt:lpstr>Helvetica</vt:lpstr>
      <vt:lpstr>Times New Roman</vt:lpstr>
      <vt:lpstr>Verdana</vt:lpstr>
      <vt:lpstr>Wingdings</vt:lpstr>
      <vt:lpstr>os-8</vt:lpstr>
      <vt:lpstr>第四章  线程</vt:lpstr>
      <vt:lpstr>第四章 多线程编程</vt:lpstr>
      <vt:lpstr>4.1 概述</vt:lpstr>
      <vt:lpstr>概述</vt:lpstr>
      <vt:lpstr>动机</vt:lpstr>
      <vt:lpstr>多线程程序</vt:lpstr>
      <vt:lpstr>多线程的服务器架构</vt:lpstr>
      <vt:lpstr>优点</vt:lpstr>
      <vt:lpstr>4.2 多核编程</vt:lpstr>
      <vt:lpstr>并发与并行</vt:lpstr>
      <vt:lpstr>多核编程</vt:lpstr>
      <vt:lpstr>多核编程挑战</vt:lpstr>
      <vt:lpstr>多核编程</vt:lpstr>
      <vt:lpstr>Amdahl（阿姆达尔）定律</vt:lpstr>
      <vt:lpstr>4.3 多线程模型</vt:lpstr>
      <vt:lpstr>多线程模型</vt:lpstr>
      <vt:lpstr>多对一模型</vt:lpstr>
      <vt:lpstr>一对一模型</vt:lpstr>
      <vt:lpstr>多对多模型</vt:lpstr>
      <vt:lpstr>双层模型</vt:lpstr>
      <vt:lpstr>4.4 线程库</vt:lpstr>
      <vt:lpstr>Pthreads</vt:lpstr>
      <vt:lpstr>Pthreads 示例</vt:lpstr>
      <vt:lpstr>采用Windows API的多线程C程序</vt:lpstr>
      <vt:lpstr>Java 线程</vt:lpstr>
      <vt:lpstr>Java多线程程序</vt:lpstr>
      <vt:lpstr>4.5 隐式多线程</vt:lpstr>
      <vt:lpstr>线程池</vt:lpstr>
      <vt:lpstr>线程池</vt:lpstr>
      <vt:lpstr>OpenMP*</vt:lpstr>
      <vt:lpstr>大中央调度（GDC）*</vt:lpstr>
      <vt:lpstr>大中央调度（GDC）*</vt:lpstr>
      <vt:lpstr>4.6 多线程问题</vt:lpstr>
      <vt:lpstr>系统调用fork() 和 exec()</vt:lpstr>
      <vt:lpstr>信号处理</vt:lpstr>
      <vt:lpstr>信号处理</vt:lpstr>
      <vt:lpstr>线程撤销</vt:lpstr>
      <vt:lpstr>线程撤销</vt:lpstr>
      <vt:lpstr>线程本地存储</vt:lpstr>
      <vt:lpstr> 调度程序</vt:lpstr>
      <vt:lpstr>操作系统示例</vt:lpstr>
      <vt:lpstr>Linux 线程</vt:lpstr>
      <vt:lpstr>Windows 线程*</vt:lpstr>
      <vt:lpstr>Windows 线程*</vt:lpstr>
      <vt:lpstr>Exercise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Operating-System Structures</dc:title>
  <dc:creator>surd</dc:creator>
  <cp:lastModifiedBy>祥宇</cp:lastModifiedBy>
  <cp:revision>221</cp:revision>
  <dcterms:created xsi:type="dcterms:W3CDTF">2017-09-07T08:55:48Z</dcterms:created>
  <dcterms:modified xsi:type="dcterms:W3CDTF">2026-03-13T01:55:07Z</dcterms:modified>
</cp:coreProperties>
</file>