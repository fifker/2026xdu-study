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365" r:id="rId2"/>
    <p:sldId id="447" r:id="rId3"/>
    <p:sldId id="259" r:id="rId4"/>
    <p:sldId id="260" r:id="rId5"/>
    <p:sldId id="261" r:id="rId6"/>
    <p:sldId id="276" r:id="rId7"/>
    <p:sldId id="273" r:id="rId8"/>
    <p:sldId id="263" r:id="rId9"/>
    <p:sldId id="448" r:id="rId10"/>
    <p:sldId id="264" r:id="rId11"/>
    <p:sldId id="277" r:id="rId12"/>
    <p:sldId id="279" r:id="rId13"/>
    <p:sldId id="265" r:id="rId14"/>
    <p:sldId id="278" r:id="rId15"/>
    <p:sldId id="268" r:id="rId16"/>
    <p:sldId id="275" r:id="rId17"/>
    <p:sldId id="26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76186" autoAdjust="0"/>
  </p:normalViewPr>
  <p:slideViewPr>
    <p:cSldViewPr snapToGrid="0">
      <p:cViewPr varScale="1">
        <p:scale>
          <a:sx n="91" d="100"/>
          <a:sy n="91" d="100"/>
        </p:scale>
        <p:origin x="132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969E22-2D86-4898-BEB6-3C69E4421720}" type="datetimeFigureOut">
              <a:rPr lang="zh-CN" altLang="en-US" smtClean="0"/>
              <a:t>2026/3/2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9C07E-9D0A-4CD0-9B02-99F661E0B0E0}" type="slidenum">
              <a:rPr lang="zh-CN" altLang="en-US" smtClean="0"/>
              <a:t>‹#›</a:t>
            </a:fld>
            <a:endParaRPr lang="zh-CN" altLang="en-US"/>
          </a:p>
        </p:txBody>
      </p:sp>
    </p:spTree>
    <p:extLst>
      <p:ext uri="{BB962C8B-B14F-4D97-AF65-F5344CB8AC3E}">
        <p14:creationId xmlns:p14="http://schemas.microsoft.com/office/powerpoint/2010/main" val="201692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934B4-15F4-474D-8E87-10DAB5E77DCB}" type="slidenum">
              <a:rPr lang="en-US" altLang="zh-CN">
                <a:latin typeface="Times New Roman" panose="02020603050405020304" pitchFamily="18" charset="0"/>
              </a:rPr>
              <a:pPr/>
              <a:t>1</a:t>
            </a:fld>
            <a:endParaRPr lang="en-US" altLang="zh-CN">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833925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r" defTabSz="930275" rtl="0" eaLnBrk="1" fontAlgn="auto" latinLnBrk="0" hangingPunct="1">
              <a:lnSpc>
                <a:spcPct val="100000"/>
              </a:lnSpc>
              <a:spcBef>
                <a:spcPts val="0"/>
              </a:spcBef>
              <a:spcAft>
                <a:spcPts val="0"/>
              </a:spcAft>
              <a:buClrTx/>
              <a:buSzTx/>
              <a:buFontTx/>
              <a:buNone/>
              <a:tabLst/>
              <a:defRPr/>
            </a:pPr>
            <a:fld id="{32EEFA99-6673-4AC0-A425-9FADDC99E5CF}" type="slidenum">
              <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1" fontAlgn="auto" latinLnBrk="0" hangingPunct="1">
                <a:lnSpc>
                  <a:spcPct val="100000"/>
                </a:lnSpc>
                <a:spcBef>
                  <a:spcPts val="0"/>
                </a:spcBef>
                <a:spcAft>
                  <a:spcPts val="0"/>
                </a:spcAft>
                <a:buClrTx/>
                <a:buSzTx/>
                <a:buFontTx/>
                <a:buNone/>
                <a:tabLst/>
                <a:defRPr/>
              </a:pPr>
              <a:t>2</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101967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2DEA994-7BEF-4C72-ABB5-645DF830C71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0AAF2A9-349E-4233-9AEF-1221ABDB0E2E}" type="slidenum">
              <a:rPr lang="en-US" altLang="zh-CN" smtClean="0"/>
              <a:pPr>
                <a:spcBef>
                  <a:spcPct val="0"/>
                </a:spcBef>
              </a:pPr>
              <a:t>3</a:t>
            </a:fld>
            <a:endParaRPr lang="en-US" altLang="zh-CN"/>
          </a:p>
        </p:txBody>
      </p:sp>
      <p:sp>
        <p:nvSpPr>
          <p:cNvPr id="9219" name="Rectangle 2">
            <a:extLst>
              <a:ext uri="{FF2B5EF4-FFF2-40B4-BE49-F238E27FC236}">
                <a16:creationId xmlns:a16="http://schemas.microsoft.com/office/drawing/2014/main" id="{A795A555-CB54-4133-8DCA-7A3C1E24FD29}"/>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982B8A66-6D8F-4997-9580-A6D2514DEA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B05F9B10-64AE-49A1-A89B-7F8B76183B9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B8FE28F-88A5-4B9E-A4A1-88BDB88E5294}" type="slidenum">
              <a:rPr lang="en-US" altLang="zh-CN" smtClean="0"/>
              <a:pPr>
                <a:spcBef>
                  <a:spcPct val="0"/>
                </a:spcBef>
              </a:pPr>
              <a:t>4</a:t>
            </a:fld>
            <a:endParaRPr lang="en-US" altLang="zh-CN"/>
          </a:p>
        </p:txBody>
      </p:sp>
      <p:sp>
        <p:nvSpPr>
          <p:cNvPr id="11267" name="Rectangle 2">
            <a:extLst>
              <a:ext uri="{FF2B5EF4-FFF2-40B4-BE49-F238E27FC236}">
                <a16:creationId xmlns:a16="http://schemas.microsoft.com/office/drawing/2014/main" id="{46C330BC-E365-4406-900E-E55D5B83CCFA}"/>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40198023-648B-482B-87D7-B47C4C4DE60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8C3C83EC-7CB2-4F55-AA3D-78B09CB7725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607763-A761-4A84-B7BE-B0BC8BCE604E}" type="slidenum">
              <a:rPr lang="en-US" altLang="zh-CN" smtClean="0"/>
              <a:pPr>
                <a:spcBef>
                  <a:spcPct val="0"/>
                </a:spcBef>
              </a:pPr>
              <a:t>5</a:t>
            </a:fld>
            <a:endParaRPr lang="en-US" altLang="zh-CN"/>
          </a:p>
        </p:txBody>
      </p:sp>
      <p:sp>
        <p:nvSpPr>
          <p:cNvPr id="15363" name="Rectangle 2">
            <a:extLst>
              <a:ext uri="{FF2B5EF4-FFF2-40B4-BE49-F238E27FC236}">
                <a16:creationId xmlns:a16="http://schemas.microsoft.com/office/drawing/2014/main" id="{60881F44-AD22-4DEB-8949-209510D892AA}"/>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1D5B8E93-12F4-4920-AE99-12BF5BD1D38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7FFC65BA-9128-44D0-A898-441FBD36884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FF25A77-BA9B-4F51-A108-B1A8A9F01006}" type="slidenum">
              <a:rPr lang="en-US" altLang="zh-CN" smtClean="0"/>
              <a:pPr>
                <a:spcBef>
                  <a:spcPct val="0"/>
                </a:spcBef>
              </a:pPr>
              <a:t>7</a:t>
            </a:fld>
            <a:endParaRPr lang="en-US" altLang="zh-CN"/>
          </a:p>
        </p:txBody>
      </p:sp>
      <p:sp>
        <p:nvSpPr>
          <p:cNvPr id="18435" name="Rectangle 2">
            <a:extLst>
              <a:ext uri="{FF2B5EF4-FFF2-40B4-BE49-F238E27FC236}">
                <a16:creationId xmlns:a16="http://schemas.microsoft.com/office/drawing/2014/main" id="{F0B91A9A-551F-4482-87FE-59317D771CA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BC81F8C9-AE32-4B68-9C90-956447DDD4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D0F405B-83AE-4E24-96C8-9F31580FBFF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31FA54F-AE6A-435B-B2E5-55BB97965ED1}" type="slidenum">
              <a:rPr lang="en-US" altLang="zh-CN" smtClean="0"/>
              <a:pPr>
                <a:spcBef>
                  <a:spcPct val="0"/>
                </a:spcBef>
              </a:pPr>
              <a:t>8</a:t>
            </a:fld>
            <a:endParaRPr lang="en-US" altLang="zh-CN"/>
          </a:p>
        </p:txBody>
      </p:sp>
      <p:sp>
        <p:nvSpPr>
          <p:cNvPr id="22531" name="Rectangle 2">
            <a:extLst>
              <a:ext uri="{FF2B5EF4-FFF2-40B4-BE49-F238E27FC236}">
                <a16:creationId xmlns:a16="http://schemas.microsoft.com/office/drawing/2014/main" id="{301C6B91-26CD-42FD-A4F0-32A51C73D545}"/>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4F34723-5C39-4AED-BB25-18A4B42015C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2541BA2-C4C4-4623-A7BC-E2F7C58238B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59C0F6-C179-4708-A1C7-E5B074ACB6E4}" type="slidenum">
              <a:rPr lang="en-US" altLang="zh-CN" smtClean="0"/>
              <a:pPr>
                <a:spcBef>
                  <a:spcPct val="0"/>
                </a:spcBef>
              </a:pPr>
              <a:t>9</a:t>
            </a:fld>
            <a:endParaRPr lang="en-US" altLang="zh-CN"/>
          </a:p>
        </p:txBody>
      </p:sp>
      <p:sp>
        <p:nvSpPr>
          <p:cNvPr id="24579" name="Rectangle 2">
            <a:extLst>
              <a:ext uri="{FF2B5EF4-FFF2-40B4-BE49-F238E27FC236}">
                <a16:creationId xmlns:a16="http://schemas.microsoft.com/office/drawing/2014/main" id="{E98191E9-EF7C-4CC1-ABB4-7382820B7BC0}"/>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5C4E45F-14CD-4FC9-8AF9-FCF5CD230E5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756154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2541BA2-C4C4-4623-A7BC-E2F7C58238B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59C0F6-C179-4708-A1C7-E5B074ACB6E4}" type="slidenum">
              <a:rPr lang="en-US" altLang="zh-CN" smtClean="0"/>
              <a:pPr>
                <a:spcBef>
                  <a:spcPct val="0"/>
                </a:spcBef>
              </a:pPr>
              <a:t>10</a:t>
            </a:fld>
            <a:endParaRPr lang="en-US" altLang="zh-CN"/>
          </a:p>
        </p:txBody>
      </p:sp>
      <p:sp>
        <p:nvSpPr>
          <p:cNvPr id="24579" name="Rectangle 2">
            <a:extLst>
              <a:ext uri="{FF2B5EF4-FFF2-40B4-BE49-F238E27FC236}">
                <a16:creationId xmlns:a16="http://schemas.microsoft.com/office/drawing/2014/main" id="{E98191E9-EF7C-4CC1-ABB4-7382820B7BC0}"/>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5C4E45F-14CD-4FC9-8AF9-FCF5CD230E5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6C264E1D-85F2-4A4F-B6B2-74AF8BEAC16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20B9708-FCD8-4F34-8753-66853A737BBA}" type="slidenum">
              <a:rPr lang="en-US" altLang="zh-CN" smtClean="0"/>
              <a:pPr>
                <a:spcBef>
                  <a:spcPct val="0"/>
                </a:spcBef>
              </a:pPr>
              <a:t>13</a:t>
            </a:fld>
            <a:endParaRPr lang="en-US" altLang="zh-CN"/>
          </a:p>
        </p:txBody>
      </p:sp>
      <p:sp>
        <p:nvSpPr>
          <p:cNvPr id="28675" name="Rectangle 2">
            <a:extLst>
              <a:ext uri="{FF2B5EF4-FFF2-40B4-BE49-F238E27FC236}">
                <a16:creationId xmlns:a16="http://schemas.microsoft.com/office/drawing/2014/main" id="{179456C8-C5F1-4FA6-8FAA-9B48F7982968}"/>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D810B33E-23BE-4E93-B686-51D34E44812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96464BD-91C7-43FC-8437-9109E251E42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EBEB71E-B1C6-4CB4-A0DA-E0A23FAE6A13}" type="slidenum">
              <a:rPr lang="en-US" altLang="zh-CN" smtClean="0"/>
              <a:pPr>
                <a:spcBef>
                  <a:spcPct val="0"/>
                </a:spcBef>
              </a:pPr>
              <a:t>17</a:t>
            </a:fld>
            <a:endParaRPr lang="en-US" altLang="zh-CN"/>
          </a:p>
        </p:txBody>
      </p:sp>
      <p:sp>
        <p:nvSpPr>
          <p:cNvPr id="33795" name="Rectangle 2">
            <a:extLst>
              <a:ext uri="{FF2B5EF4-FFF2-40B4-BE49-F238E27FC236}">
                <a16:creationId xmlns:a16="http://schemas.microsoft.com/office/drawing/2014/main" id="{19403073-D08A-46EB-A640-4B2D6D95D21A}"/>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9D78DB0-DF5B-4BA4-9085-1E8F1A37540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264584" y="2960688"/>
            <a:ext cx="114808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grpSp>
      <p:sp>
        <p:nvSpPr>
          <p:cNvPr id="8" name="Text Box 8"/>
          <p:cNvSpPr txBox="1">
            <a:spLocks noChangeArrowheads="1"/>
          </p:cNvSpPr>
          <p:nvPr/>
        </p:nvSpPr>
        <p:spPr bwMode="auto">
          <a:xfrm>
            <a:off x="35984" y="6613526"/>
            <a:ext cx="2659692" cy="246217"/>
          </a:xfrm>
          <a:prstGeom prst="rect">
            <a:avLst/>
          </a:prstGeom>
          <a:noFill/>
          <a:ln>
            <a:noFill/>
          </a:ln>
        </p:spPr>
        <p:txBody>
          <a:bodyPr wrap="none" lIns="91435" tIns="45718" rIns="91435" bIns="45718">
            <a:spAutoFit/>
          </a:bodyPr>
          <a:lstStyle/>
          <a:p>
            <a:pPr eaLnBrk="0" fontAlgn="base" hangingPunct="0">
              <a:spcBef>
                <a:spcPct val="50000"/>
              </a:spcBef>
              <a:spcAft>
                <a:spcPct val="0"/>
              </a:spcAft>
              <a:defRPr/>
            </a:pPr>
            <a:r>
              <a:rPr lang="en-US" sz="1000" b="1">
                <a:solidFill>
                  <a:srgbClr val="336699"/>
                </a:solidFill>
                <a:ea typeface="MS PGothic" panose="020B0600070205080204" pitchFamily="34" charset="-128"/>
              </a:rPr>
              <a:t>Operating System Concepts – 9</a:t>
            </a:r>
            <a:r>
              <a:rPr lang="en-US" sz="1000" b="1" baseline="30000">
                <a:solidFill>
                  <a:srgbClr val="336699"/>
                </a:solidFill>
                <a:ea typeface="MS PGothic" panose="020B0600070205080204" pitchFamily="34" charset="-128"/>
              </a:rPr>
              <a:t>th</a:t>
            </a:r>
            <a:r>
              <a:rPr lang="en-US" sz="1000" b="1">
                <a:solidFill>
                  <a:srgbClr val="336699"/>
                </a:solidFill>
                <a:ea typeface="MS PGothic" panose="020B0600070205080204" pitchFamily="34" charset="-128"/>
              </a:rPr>
              <a:t> Edition</a:t>
            </a:r>
          </a:p>
        </p:txBody>
      </p:sp>
      <p:pic>
        <p:nvPicPr>
          <p:cNvPr id="9" name="Picture 9" descr="dino_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
        <p:nvSpPr>
          <p:cNvPr id="11" name="Text Box 7">
            <a:extLst>
              <a:ext uri="{FF2B5EF4-FFF2-40B4-BE49-F238E27FC236}">
                <a16:creationId xmlns:a16="http://schemas.microsoft.com/office/drawing/2014/main" id="{37FDAE40-37DC-4D88-B117-D96496E36FCA}"/>
              </a:ext>
            </a:extLst>
          </p:cNvPr>
          <p:cNvSpPr txBox="1">
            <a:spLocks noChangeArrowheads="1"/>
          </p:cNvSpPr>
          <p:nvPr userDrawn="1"/>
        </p:nvSpPr>
        <p:spPr bwMode="auto">
          <a:xfrm>
            <a:off x="7918450" y="6611937"/>
            <a:ext cx="4273550" cy="246217"/>
          </a:xfrm>
          <a:prstGeom prst="rect">
            <a:avLst/>
          </a:prstGeom>
          <a:noFill/>
          <a:ln>
            <a:noFill/>
          </a:ln>
        </p:spPr>
        <p:txBody>
          <a:bodyPr wrap="square" lIns="91435" tIns="45718" rIns="91435" bIns="45718">
            <a:spAutoFit/>
          </a:bodyPr>
          <a:lstStyle/>
          <a:p>
            <a:pPr algn="r">
              <a:spcBef>
                <a:spcPct val="50000"/>
              </a:spcBef>
              <a:defRPr/>
            </a:pPr>
            <a:r>
              <a:rPr lang="en-US" sz="1000" b="1" dirty="0" err="1">
                <a:solidFill>
                  <a:srgbClr val="336699"/>
                </a:solidFill>
                <a:latin typeface="Helvetica" pitchFamily="-84" charset="0"/>
              </a:rPr>
              <a:t>Xidian</a:t>
            </a:r>
            <a:r>
              <a:rPr lang="en-US" sz="1000" b="1" dirty="0">
                <a:solidFill>
                  <a:srgbClr val="336699"/>
                </a:solidFill>
                <a:latin typeface="Helvetica" pitchFamily="-84" charset="0"/>
              </a:rPr>
              <a:t> University,</a:t>
            </a:r>
            <a:r>
              <a:rPr lang="en-US" sz="1000" b="1" baseline="0" dirty="0">
                <a:solidFill>
                  <a:srgbClr val="336699"/>
                </a:solidFill>
                <a:latin typeface="Helvetica" pitchFamily="-84" charset="0"/>
              </a:rPr>
              <a:t> Cyber Engineering, </a:t>
            </a:r>
            <a:r>
              <a:rPr lang="en-US" altLang="zh-CN" sz="1000" b="1" baseline="0" dirty="0">
                <a:solidFill>
                  <a:srgbClr val="336699"/>
                </a:solidFill>
                <a:latin typeface="Helvetica" pitchFamily="-84" charset="0"/>
              </a:rPr>
              <a:t>Wang </a:t>
            </a:r>
            <a:r>
              <a:rPr lang="en-US" altLang="zh-CN" sz="1000" b="1" baseline="0" dirty="0" err="1">
                <a:solidFill>
                  <a:srgbClr val="336699"/>
                </a:solidFill>
                <a:latin typeface="Helvetica" pitchFamily="-84" charset="0"/>
              </a:rPr>
              <a:t>Xiangyu</a:t>
            </a:r>
            <a:r>
              <a:rPr lang="en-US" sz="1000" b="1" dirty="0">
                <a:solidFill>
                  <a:srgbClr val="336699"/>
                </a:solidFill>
                <a:latin typeface="Helvetica" pitchFamily="-84" charset="0"/>
              </a:rPr>
              <a:t>© 2026</a:t>
            </a:r>
          </a:p>
        </p:txBody>
      </p:sp>
    </p:spTree>
    <p:extLst>
      <p:ext uri="{BB962C8B-B14F-4D97-AF65-F5344CB8AC3E}">
        <p14:creationId xmlns:p14="http://schemas.microsoft.com/office/powerpoint/2010/main" val="1647530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a:t>Click to edit Master title style</a:t>
            </a:r>
          </a:p>
        </p:txBody>
      </p:sp>
      <p:sp>
        <p:nvSpPr>
          <p:cNvPr id="3" name="Content Placeholder 2"/>
          <p:cNvSpPr>
            <a:spLocks noGrp="1"/>
          </p:cNvSpPr>
          <p:nvPr>
            <p:ph idx="1"/>
          </p:nvPr>
        </p:nvSpPr>
        <p:spPr/>
        <p:txBody>
          <a:bodyPr/>
          <a:lstStyle>
            <a:lvl1pPr marL="341313" indent="-341313">
              <a:buFont typeface="Wingdings" panose="05000000000000000000" pitchFamily="2" charset="2"/>
              <a:buChar char="p"/>
              <a:defRPr/>
            </a:lvl1pPr>
            <a:lvl2pPr marL="741363" indent="-284163">
              <a:buFont typeface="Wingdings" panose="05000000000000000000" pitchFamily="2" charset="2"/>
              <a:buChar char="n"/>
              <a:defRPr/>
            </a:lvl2pPr>
            <a:lvl3pPr marL="1084263" indent="-227013">
              <a:buFont typeface="Wingdings" panose="05000000000000000000" pitchFamily="2" charset="2"/>
              <a:buChar char="Ø"/>
              <a:defRPr/>
            </a:lvl3pPr>
            <a:lvl4pPr marL="1427163" indent="-227013">
              <a:buFont typeface="Wingdings" panose="05000000000000000000" pitchFamily="2" charset="2"/>
              <a:buChar char="ü"/>
              <a:defRPr/>
            </a:lvl4pPr>
            <a:lvl5pPr marL="1770063" indent="-227013">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215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2754304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8155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7528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1986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009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44601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4095157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9312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6154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5"/>
            <a:ext cx="10972800" cy="576262"/>
          </a:xfrm>
        </p:spPr>
        <p:txBody>
          <a:bodyPr/>
          <a:lstStyle/>
          <a:p>
            <a:r>
              <a:rPr lang="en-US"/>
              <a:t>Click to edit Master title style</a:t>
            </a:r>
          </a:p>
        </p:txBody>
      </p:sp>
      <p:sp>
        <p:nvSpPr>
          <p:cNvPr id="3" name="Text Placeholder 2"/>
          <p:cNvSpPr>
            <a:spLocks noGrp="1"/>
          </p:cNvSpPr>
          <p:nvPr>
            <p:ph type="body" sz="half" idx="1"/>
          </p:nvPr>
        </p:nvSpPr>
        <p:spPr>
          <a:xfrm>
            <a:off x="1075267" y="123349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0972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609600" y="27781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zh-CN"/>
              <a:t>Click to edit Master title style</a:t>
            </a:r>
          </a:p>
        </p:txBody>
      </p:sp>
      <p:sp>
        <p:nvSpPr>
          <p:cNvPr id="1028" name="Rectangle 4"/>
          <p:cNvSpPr>
            <a:spLocks noGrp="1" noChangeArrowheads="1"/>
          </p:cNvSpPr>
          <p:nvPr>
            <p:ph type="body" idx="1"/>
          </p:nvPr>
        </p:nvSpPr>
        <p:spPr bwMode="auto">
          <a:xfrm>
            <a:off x="1075267" y="1233489"/>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ChangeArrowheads="1"/>
          </p:cNvSpPr>
          <p:nvPr/>
        </p:nvSpPr>
        <p:spPr bwMode="auto">
          <a:xfrm>
            <a:off x="0" y="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0" name="Line 6"/>
          <p:cNvSpPr>
            <a:spLocks noChangeShapeType="1"/>
          </p:cNvSpPr>
          <p:nvPr/>
        </p:nvSpPr>
        <p:spPr bwMode="auto">
          <a:xfrm>
            <a:off x="609600" y="860425"/>
            <a:ext cx="10769600" cy="0"/>
          </a:xfrm>
          <a:prstGeom prst="line">
            <a:avLst/>
          </a:prstGeom>
          <a:noFill/>
          <a:ln w="19050">
            <a:solidFill>
              <a:srgbClr val="336699"/>
            </a:solidFill>
            <a:round/>
            <a:headEnd/>
            <a:tailEnd/>
          </a:ln>
        </p:spPr>
        <p:txBody>
          <a:bodyPr lIns="91435" tIns="45718" rIns="91435" bIns="45718"/>
          <a:lstStyle/>
          <a:p>
            <a:pPr eaLnBrk="0" fontAlgn="base" hangingPunct="0">
              <a:spcBef>
                <a:spcPct val="0"/>
              </a:spcBef>
              <a:spcAft>
                <a:spcPct val="0"/>
              </a:spcAft>
              <a:defRPr/>
            </a:pPr>
            <a:endParaRPr lang="en-US" sz="1800">
              <a:solidFill>
                <a:srgbClr val="000000"/>
              </a:solidFill>
              <a:latin typeface="Verdana" panose="020B0604030504040204" pitchFamily="34" charset="0"/>
              <a:ea typeface="MS PGothic" panose="020B0600070205080204" pitchFamily="34" charset="-128"/>
            </a:endParaRPr>
          </a:p>
        </p:txBody>
      </p:sp>
      <p:sp>
        <p:nvSpPr>
          <p:cNvPr id="1031" name="Rectangle 7"/>
          <p:cNvSpPr>
            <a:spLocks noChangeArrowheads="1"/>
          </p:cNvSpPr>
          <p:nvPr/>
        </p:nvSpPr>
        <p:spPr bwMode="auto">
          <a:xfrm>
            <a:off x="0" y="2286000"/>
            <a:ext cx="3048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2" name="Rectangle 8"/>
          <p:cNvSpPr>
            <a:spLocks noChangeArrowheads="1"/>
          </p:cNvSpPr>
          <p:nvPr/>
        </p:nvSpPr>
        <p:spPr bwMode="auto">
          <a:xfrm>
            <a:off x="0" y="457200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3" name="Text Box 9"/>
          <p:cNvSpPr txBox="1">
            <a:spLocks noChangeArrowheads="1"/>
          </p:cNvSpPr>
          <p:nvPr/>
        </p:nvSpPr>
        <p:spPr bwMode="auto">
          <a:xfrm>
            <a:off x="5749461" y="6613526"/>
            <a:ext cx="447548" cy="246217"/>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0" fontAlgn="base" hangingPunct="0">
              <a:spcBef>
                <a:spcPct val="50000"/>
              </a:spcBef>
              <a:spcAft>
                <a:spcPct val="0"/>
              </a:spcAft>
            </a:pPr>
            <a:r>
              <a:rPr lang="en-US" altLang="zh-CN" sz="1000" b="1">
                <a:solidFill>
                  <a:srgbClr val="006699"/>
                </a:solidFill>
                <a:latin typeface="Helvetica" panose="020B0604020202020204" pitchFamily="34" charset="0"/>
              </a:rPr>
              <a:t>5.</a:t>
            </a:r>
            <a:fld id="{08C61524-A86C-4EEA-897F-D0BC5AB60DA3}" type="slidenum">
              <a:rPr lang="en-US" altLang="zh-CN" sz="1000" b="1">
                <a:solidFill>
                  <a:srgbClr val="006699"/>
                </a:solidFill>
                <a:latin typeface="Helvetica" panose="020B0604020202020204" pitchFamily="34" charset="0"/>
              </a:rPr>
              <a:pPr algn="ctr" eaLnBrk="0" fontAlgn="base" hangingPunct="0">
                <a:spcBef>
                  <a:spcPct val="50000"/>
                </a:spcBef>
                <a:spcAft>
                  <a:spcPct val="0"/>
                </a:spcAft>
              </a:pPr>
              <a:t>‹#›</a:t>
            </a:fld>
            <a:endParaRPr lang="en-US" altLang="zh-CN" sz="1000" b="1">
              <a:solidFill>
                <a:srgbClr val="006699"/>
              </a:solidFill>
              <a:latin typeface="Helvetica" panose="020B0604020202020204" pitchFamily="34" charset="0"/>
            </a:endParaRPr>
          </a:p>
        </p:txBody>
      </p:sp>
      <p:pic>
        <p:nvPicPr>
          <p:cNvPr id="1036" name="Picture 12" descr="dino_6"/>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779458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0" fontAlgn="base" hangingPunct="0">
        <a:spcBef>
          <a:spcPct val="0"/>
        </a:spcBef>
        <a:spcAft>
          <a:spcPct val="0"/>
        </a:spcAft>
        <a:defRPr sz="3200" b="1">
          <a:solidFill>
            <a:srgbClr val="006699"/>
          </a:solidFill>
          <a:latin typeface="微软雅黑" panose="020B0503020204020204" pitchFamily="34" charset="-122"/>
          <a:ea typeface="微软雅黑" panose="020B0503020204020204" pitchFamily="34" charset="-122"/>
          <a:cs typeface="微软雅黑" panose="020B0503020204020204" pitchFamily="34" charset="-122"/>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90000"/>
        <a:buFont typeface="Wingdings" panose="05000000000000000000" pitchFamily="2" charset="2"/>
        <a:buChar char="p"/>
        <a:defRPr kumimoji="1"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1363" indent="-284163" algn="l" rtl="0" eaLnBrk="0" fontAlgn="base" hangingPunct="0">
        <a:spcBef>
          <a:spcPct val="35000"/>
        </a:spcBef>
        <a:spcAft>
          <a:spcPct val="0"/>
        </a:spcAft>
        <a:buClr>
          <a:srgbClr val="CC6600"/>
        </a:buClr>
        <a:buSzPct val="80000"/>
        <a:buFont typeface="Wingdings" panose="05000000000000000000" pitchFamily="2" charset="2"/>
        <a:buChar char="n"/>
        <a:defRPr kumimoji="1"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084263" indent="-227013" algn="l" rtl="0" eaLnBrk="0" fontAlgn="base" hangingPunct="0">
        <a:spcBef>
          <a:spcPct val="35000"/>
        </a:spcBef>
        <a:spcAft>
          <a:spcPct val="0"/>
        </a:spcAft>
        <a:buClr>
          <a:srgbClr val="009900"/>
        </a:buClr>
        <a:buSzPct val="75000"/>
        <a:buFont typeface="Wingdings" panose="05000000000000000000" pitchFamily="2" charset="2"/>
        <a:buChar char="Ø"/>
        <a:defRPr kumimoji="1"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427163" indent="-227013" algn="l" rtl="0" eaLnBrk="0" fontAlgn="base" hangingPunct="0">
        <a:spcBef>
          <a:spcPct val="35000"/>
        </a:spcBef>
        <a:spcAft>
          <a:spcPct val="0"/>
        </a:spcAft>
        <a:buClr>
          <a:schemeClr val="hlink"/>
        </a:buClr>
        <a:buSzPct val="75000"/>
        <a:buFont typeface="Wingdings" panose="05000000000000000000" pitchFamily="2" charset="2"/>
        <a:buChar char="ü"/>
        <a:defRPr kumimoji="1"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770063" indent="-227013" algn="l" rtl="0" eaLnBrk="0" fontAlgn="base" hangingPunct="0">
        <a:spcBef>
          <a:spcPct val="35000"/>
        </a:spcBef>
        <a:spcAft>
          <a:spcPct val="0"/>
        </a:spcAft>
        <a:buClr>
          <a:srgbClr val="FF0066"/>
        </a:buClr>
        <a:buSzPct val="75000"/>
        <a:buFont typeface="Arial" panose="020B0604020202020204" pitchFamily="34" charset="0"/>
        <a:buChar char="•"/>
        <a:defRPr kumimoji="1"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img2.douban.com/lpic/s1470003.jp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eb.xidian.edu.cn/wangxiangyu/"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pPr algn="ctr"/>
            <a:r>
              <a:rPr lang="en-US" altLang="zh-CN" sz="5400"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5400"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操作系统</a:t>
            </a:r>
            <a:r>
              <a:rPr lang="en-US" altLang="zh-CN" sz="5400"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4800" b="1" dirty="0">
              <a:solidFill>
                <a:srgbClr val="0070C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标题 1">
            <a:extLst>
              <a:ext uri="{FF2B5EF4-FFF2-40B4-BE49-F238E27FC236}">
                <a16:creationId xmlns:a16="http://schemas.microsoft.com/office/drawing/2014/main" id="{218FCC3E-ECD3-4942-A01C-43D02D3938B1}"/>
              </a:ext>
            </a:extLst>
          </p:cNvPr>
          <p:cNvSpPr txBox="1">
            <a:spLocks/>
          </p:cNvSpPr>
          <p:nvPr/>
        </p:nvSpPr>
        <p:spPr>
          <a:xfrm>
            <a:off x="1066800" y="1214438"/>
            <a:ext cx="100584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300" kern="1200">
                <a:solidFill>
                  <a:schemeClr val="tx1"/>
                </a:solidFill>
                <a:latin typeface="+mj-lt"/>
                <a:ea typeface="+mj-ea"/>
                <a:cs typeface="+mj-cs"/>
              </a:defRPr>
            </a:lvl1pPr>
          </a:lstStyle>
          <a:p>
            <a:endParaRPr lang="zh-CN" altLang="en-US" sz="6600" dirty="0"/>
          </a:p>
        </p:txBody>
      </p:sp>
    </p:spTree>
    <p:extLst>
      <p:ext uri="{BB962C8B-B14F-4D97-AF65-F5344CB8AC3E}">
        <p14:creationId xmlns:p14="http://schemas.microsoft.com/office/powerpoint/2010/main" val="3385153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795588" y="201613"/>
            <a:ext cx="7707312" cy="576262"/>
          </a:xfrm>
        </p:spPr>
        <p:txBody>
          <a:bodyPr/>
          <a:lstStyle/>
          <a:p>
            <a:pPr eaLnBrk="1" hangingPunct="1"/>
            <a:r>
              <a:rPr lang="zh-CN" altLang="en-US" dirty="0">
                <a:latin typeface="微软雅黑" panose="020B0503020204020204" pitchFamily="34" charset="-122"/>
                <a:ea typeface="微软雅黑" panose="020B0503020204020204" pitchFamily="34" charset="-122"/>
              </a:rPr>
              <a:t>课程背景</a:t>
            </a:r>
            <a:endParaRPr lang="en-US" altLang="zh-CN" dirty="0">
              <a:latin typeface="微软雅黑" panose="020B0503020204020204" pitchFamily="34" charset="-122"/>
              <a:ea typeface="微软雅黑" panose="020B0503020204020204" pitchFamily="34" charset="-122"/>
            </a:endParaRPr>
          </a:p>
        </p:txBody>
      </p:sp>
      <p:sp>
        <p:nvSpPr>
          <p:cNvPr id="4100" name="Rectangle 5"/>
          <p:cNvSpPr>
            <a:spLocks noChangeArrowheads="1"/>
          </p:cNvSpPr>
          <p:nvPr/>
        </p:nvSpPr>
        <p:spPr bwMode="auto">
          <a:xfrm>
            <a:off x="3810000" y="5116514"/>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18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18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zh-CN" sz="18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8" name="Rectangle 3">
            <a:extLst>
              <a:ext uri="{FF2B5EF4-FFF2-40B4-BE49-F238E27FC236}">
                <a16:creationId xmlns:a16="http://schemas.microsoft.com/office/drawing/2014/main" id="{D3B6F147-93E7-4B60-9EE4-3D9D94B88D95}"/>
              </a:ext>
            </a:extLst>
          </p:cNvPr>
          <p:cNvSpPr txBox="1">
            <a:spLocks noChangeArrowheads="1"/>
          </p:cNvSpPr>
          <p:nvPr/>
        </p:nvSpPr>
        <p:spPr>
          <a:xfrm>
            <a:off x="665017" y="1253331"/>
            <a:ext cx="112291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dirty="0">
                <a:latin typeface="微软雅黑" panose="020B0503020204020204" pitchFamily="34" charset="-122"/>
                <a:ea typeface="微软雅黑" panose="020B0503020204020204" pitchFamily="34" charset="-122"/>
              </a:rPr>
              <a:t>操作系统是计算机的核心和灵魂</a:t>
            </a: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操作系统软件的设计与实现对整个计算机的功能和性能起着关键作用。</a:t>
            </a:r>
            <a:endParaRPr lang="en-US" altLang="zh-CN" dirty="0">
              <a:latin typeface="微软雅黑" panose="020B0503020204020204" pitchFamily="34" charset="-122"/>
              <a:ea typeface="微软雅黑" panose="020B0503020204020204" pitchFamily="34" charset="-122"/>
            </a:endParaRPr>
          </a:p>
          <a:p>
            <a:pPr lvl="1" algn="just">
              <a:lnSpc>
                <a:spcPct val="150000"/>
              </a:lnSpc>
            </a:pPr>
            <a:r>
              <a:rPr lang="zh-CN" altLang="en-US" dirty="0">
                <a:solidFill>
                  <a:srgbClr val="0070C0"/>
                </a:solidFill>
                <a:latin typeface="微软雅黑" panose="020B0503020204020204" pitchFamily="34" charset="-122"/>
                <a:ea typeface="微软雅黑" panose="020B0503020204020204" pitchFamily="34" charset="-122"/>
              </a:rPr>
              <a:t>桌面环境，服务器环境，嵌入式环境</a:t>
            </a:r>
          </a:p>
          <a:p>
            <a:pPr algn="just">
              <a:lnSpc>
                <a:spcPct val="150000"/>
              </a:lnSpc>
            </a:pPr>
            <a:endParaRPr lang="zh-CN" altLang="en-US"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计算机及相关专业（网络与信息安全）的主干课程之一</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128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1A61E17-1855-4D27-A13E-E25D485879F8}"/>
              </a:ext>
            </a:extLst>
          </p:cNvPr>
          <p:cNvSpPr>
            <a:spLocks noGrp="1" noChangeArrowheads="1"/>
          </p:cNvSpPr>
          <p:nvPr>
            <p:ph type="title"/>
          </p:nvPr>
        </p:nvSpPr>
        <p:spPr/>
        <p:txBody>
          <a:bodyPr/>
          <a:lstStyle/>
          <a:p>
            <a:pPr eaLnBrk="1" hangingPunct="1"/>
            <a:r>
              <a:rPr lang="zh-CN" altLang="en-US"/>
              <a:t>课程目标</a:t>
            </a:r>
          </a:p>
        </p:txBody>
      </p:sp>
      <p:sp>
        <p:nvSpPr>
          <p:cNvPr id="8195" name="Rectangle 3">
            <a:extLst>
              <a:ext uri="{FF2B5EF4-FFF2-40B4-BE49-F238E27FC236}">
                <a16:creationId xmlns:a16="http://schemas.microsoft.com/office/drawing/2014/main" id="{CA4BBEDB-F142-4F14-B741-EC1EB36D27FB}"/>
              </a:ext>
            </a:extLst>
          </p:cNvPr>
          <p:cNvSpPr>
            <a:spLocks noGrp="1" noChangeArrowheads="1"/>
          </p:cNvSpPr>
          <p:nvPr>
            <p:ph idx="1"/>
          </p:nvPr>
        </p:nvSpPr>
        <p:spPr>
          <a:xfrm>
            <a:off x="609600" y="1018309"/>
            <a:ext cx="10861964" cy="4932218"/>
          </a:xfrm>
        </p:spPr>
        <p:txBody>
          <a:bodyPr/>
          <a:lstStyle/>
          <a:p>
            <a:pPr algn="just" eaLnBrk="1" hangingPunct="1">
              <a:lnSpc>
                <a:spcPct val="150000"/>
              </a:lnSpc>
            </a:pPr>
            <a:r>
              <a:rPr lang="zh-CN" altLang="en-US" sz="2800" dirty="0"/>
              <a:t>学生通过本课程的学习，能够系统地掌握操作系统的工作原理。</a:t>
            </a:r>
          </a:p>
          <a:p>
            <a:pPr algn="just" eaLnBrk="1" hangingPunct="1">
              <a:lnSpc>
                <a:spcPct val="150000"/>
              </a:lnSpc>
            </a:pPr>
            <a:r>
              <a:rPr lang="zh-CN" altLang="en-US" sz="2800" dirty="0"/>
              <a:t>对于程序员，系统管理员均是有益的</a:t>
            </a:r>
          </a:p>
          <a:p>
            <a:pPr lvl="1" algn="just" eaLnBrk="1" hangingPunct="1">
              <a:lnSpc>
                <a:spcPct val="150000"/>
              </a:lnSpc>
            </a:pPr>
            <a:r>
              <a:rPr lang="zh-CN" altLang="en-US" sz="2800" dirty="0"/>
              <a:t>设计与开发程序</a:t>
            </a:r>
          </a:p>
          <a:p>
            <a:pPr lvl="1" algn="just" eaLnBrk="1" hangingPunct="1">
              <a:lnSpc>
                <a:spcPct val="150000"/>
              </a:lnSpc>
            </a:pPr>
            <a:r>
              <a:rPr lang="zh-CN" altLang="en-US" sz="2800" dirty="0"/>
              <a:t>管理与配置</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F608EE7-050A-4C39-8F01-2C889824D9B9}"/>
              </a:ext>
            </a:extLst>
          </p:cNvPr>
          <p:cNvSpPr>
            <a:spLocks noGrp="1" noChangeArrowheads="1"/>
          </p:cNvSpPr>
          <p:nvPr>
            <p:ph type="title"/>
          </p:nvPr>
        </p:nvSpPr>
        <p:spPr>
          <a:xfrm>
            <a:off x="609600" y="277813"/>
            <a:ext cx="10972800" cy="576262"/>
          </a:xfrm>
        </p:spPr>
        <p:txBody>
          <a:bodyPr/>
          <a:lstStyle/>
          <a:p>
            <a:pPr eaLnBrk="1" hangingPunct="1"/>
            <a:r>
              <a:rPr lang="zh-CN" altLang="en-US"/>
              <a:t>基础知识</a:t>
            </a:r>
          </a:p>
        </p:txBody>
      </p:sp>
      <p:sp>
        <p:nvSpPr>
          <p:cNvPr id="10243" name="Rectangle 3">
            <a:extLst>
              <a:ext uri="{FF2B5EF4-FFF2-40B4-BE49-F238E27FC236}">
                <a16:creationId xmlns:a16="http://schemas.microsoft.com/office/drawing/2014/main" id="{8A210EFE-8FF9-421C-8CAD-F7E1C63004A3}"/>
              </a:ext>
            </a:extLst>
          </p:cNvPr>
          <p:cNvSpPr>
            <a:spLocks noGrp="1" noChangeArrowheads="1"/>
          </p:cNvSpPr>
          <p:nvPr>
            <p:ph idx="1"/>
          </p:nvPr>
        </p:nvSpPr>
        <p:spPr>
          <a:xfrm>
            <a:off x="609600" y="1163637"/>
            <a:ext cx="10972800" cy="4530725"/>
          </a:xfrm>
        </p:spPr>
        <p:txBody>
          <a:bodyPr/>
          <a:lstStyle/>
          <a:p>
            <a:pPr eaLnBrk="1" hangingPunct="1">
              <a:lnSpc>
                <a:spcPct val="90000"/>
              </a:lnSpc>
            </a:pPr>
            <a:r>
              <a:rPr lang="en-US" altLang="zh-CN" sz="3200"/>
              <a:t>《</a:t>
            </a:r>
            <a:r>
              <a:rPr lang="zh-CN" altLang="en-US" sz="3200"/>
              <a:t>计算机组成原理</a:t>
            </a:r>
            <a:r>
              <a:rPr lang="en-US" altLang="zh-CN" sz="3200"/>
              <a:t>》</a:t>
            </a:r>
          </a:p>
          <a:p>
            <a:pPr eaLnBrk="1" hangingPunct="1">
              <a:lnSpc>
                <a:spcPct val="90000"/>
              </a:lnSpc>
            </a:pPr>
            <a:endParaRPr lang="en-US" altLang="zh-CN" sz="3200"/>
          </a:p>
          <a:p>
            <a:pPr eaLnBrk="1" hangingPunct="1">
              <a:lnSpc>
                <a:spcPct val="90000"/>
              </a:lnSpc>
            </a:pPr>
            <a:r>
              <a:rPr lang="en-US" altLang="zh-CN" sz="3200"/>
              <a:t>《</a:t>
            </a:r>
            <a:r>
              <a:rPr lang="zh-CN" altLang="en-US" sz="3200"/>
              <a:t>计算机导论与</a:t>
            </a:r>
            <a:r>
              <a:rPr lang="en-US" altLang="zh-CN" sz="3200"/>
              <a:t>C</a:t>
            </a:r>
            <a:r>
              <a:rPr lang="zh-CN" altLang="en-US" sz="3200"/>
              <a:t>语言程序设计</a:t>
            </a:r>
            <a:r>
              <a:rPr lang="en-US" altLang="zh-CN" sz="3200"/>
              <a:t>》</a:t>
            </a:r>
          </a:p>
          <a:p>
            <a:pPr eaLnBrk="1" hangingPunct="1">
              <a:lnSpc>
                <a:spcPct val="90000"/>
              </a:lnSpc>
            </a:pPr>
            <a:endParaRPr lang="en-US" altLang="zh-CN" sz="3200"/>
          </a:p>
          <a:p>
            <a:pPr eaLnBrk="1" hangingPunct="1">
              <a:lnSpc>
                <a:spcPct val="90000"/>
              </a:lnSpc>
            </a:pPr>
            <a:r>
              <a:rPr lang="en-US" altLang="zh-CN" sz="3200"/>
              <a:t>《</a:t>
            </a:r>
            <a:r>
              <a:rPr lang="zh-CN" altLang="en-US" sz="3200"/>
              <a:t>数据结构与算法分析</a:t>
            </a:r>
            <a:r>
              <a:rPr lang="en-US" altLang="zh-CN" sz="320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7F28A27-AB6E-4D85-8173-A1BC69F157E9}"/>
              </a:ext>
            </a:extLst>
          </p:cNvPr>
          <p:cNvSpPr>
            <a:spLocks noGrp="1" noChangeArrowheads="1"/>
          </p:cNvSpPr>
          <p:nvPr>
            <p:ph type="title"/>
          </p:nvPr>
        </p:nvSpPr>
        <p:spPr/>
        <p:txBody>
          <a:bodyPr/>
          <a:lstStyle/>
          <a:p>
            <a:pPr eaLnBrk="1" hangingPunct="1"/>
            <a:r>
              <a:rPr lang="zh-CN" altLang="en-US"/>
              <a:t>主要内容</a:t>
            </a:r>
          </a:p>
        </p:txBody>
      </p:sp>
      <p:sp>
        <p:nvSpPr>
          <p:cNvPr id="14339" name="Rectangle 3">
            <a:extLst>
              <a:ext uri="{FF2B5EF4-FFF2-40B4-BE49-F238E27FC236}">
                <a16:creationId xmlns:a16="http://schemas.microsoft.com/office/drawing/2014/main" id="{B5DBD5D8-DCBE-4323-8152-70977E89CA87}"/>
              </a:ext>
            </a:extLst>
          </p:cNvPr>
          <p:cNvSpPr>
            <a:spLocks noGrp="1" noChangeArrowheads="1"/>
          </p:cNvSpPr>
          <p:nvPr>
            <p:ph sz="half" idx="1"/>
          </p:nvPr>
        </p:nvSpPr>
        <p:spPr>
          <a:xfrm>
            <a:off x="699655" y="1093786"/>
            <a:ext cx="5760412" cy="5563324"/>
          </a:xfrm>
        </p:spPr>
        <p:txBody>
          <a:bodyPr>
            <a:normAutofit fontScale="92500"/>
          </a:bodyPr>
          <a:lstStyle/>
          <a:p>
            <a:pPr eaLnBrk="1" hangingPunct="1">
              <a:lnSpc>
                <a:spcPct val="150000"/>
              </a:lnSpc>
            </a:pPr>
            <a:r>
              <a:rPr lang="en-US" altLang="zh-CN" sz="2400" dirty="0"/>
              <a:t>Introduction</a:t>
            </a:r>
          </a:p>
          <a:p>
            <a:pPr eaLnBrk="1" hangingPunct="1">
              <a:lnSpc>
                <a:spcPct val="150000"/>
              </a:lnSpc>
            </a:pPr>
            <a:r>
              <a:rPr lang="en-US" altLang="zh-CN" sz="2400" dirty="0"/>
              <a:t>Operating-system structures</a:t>
            </a:r>
          </a:p>
          <a:p>
            <a:pPr eaLnBrk="1" hangingPunct="1">
              <a:lnSpc>
                <a:spcPct val="150000"/>
              </a:lnSpc>
            </a:pPr>
            <a:r>
              <a:rPr lang="en-US" altLang="zh-CN" sz="2400" dirty="0"/>
              <a:t>Processes</a:t>
            </a:r>
          </a:p>
          <a:p>
            <a:pPr eaLnBrk="1" hangingPunct="1">
              <a:lnSpc>
                <a:spcPct val="150000"/>
              </a:lnSpc>
            </a:pPr>
            <a:r>
              <a:rPr lang="en-US" altLang="zh-CN" sz="2400" dirty="0"/>
              <a:t>Threads</a:t>
            </a:r>
          </a:p>
          <a:p>
            <a:pPr eaLnBrk="1" hangingPunct="1">
              <a:lnSpc>
                <a:spcPct val="150000"/>
              </a:lnSpc>
            </a:pPr>
            <a:r>
              <a:rPr lang="en-US" altLang="zh-CN" sz="2400" dirty="0"/>
              <a:t>Process synchronization</a:t>
            </a:r>
          </a:p>
          <a:p>
            <a:pPr eaLnBrk="1" hangingPunct="1">
              <a:lnSpc>
                <a:spcPct val="150000"/>
              </a:lnSpc>
            </a:pPr>
            <a:r>
              <a:rPr lang="en-US" altLang="zh-CN" sz="2400" dirty="0"/>
              <a:t>CPU scheduling</a:t>
            </a:r>
          </a:p>
          <a:p>
            <a:pPr eaLnBrk="1" hangingPunct="1">
              <a:lnSpc>
                <a:spcPct val="150000"/>
              </a:lnSpc>
            </a:pPr>
            <a:r>
              <a:rPr lang="en-US" altLang="zh-CN" sz="2400" dirty="0"/>
              <a:t>Deadlocks</a:t>
            </a:r>
          </a:p>
          <a:p>
            <a:pPr eaLnBrk="1" hangingPunct="1">
              <a:lnSpc>
                <a:spcPct val="150000"/>
              </a:lnSpc>
            </a:pPr>
            <a:r>
              <a:rPr lang="en-US" altLang="zh-CN" sz="2400" dirty="0"/>
              <a:t>Main Memory</a:t>
            </a:r>
          </a:p>
          <a:p>
            <a:pPr eaLnBrk="1" hangingPunct="1">
              <a:lnSpc>
                <a:spcPct val="150000"/>
              </a:lnSpc>
            </a:pPr>
            <a:r>
              <a:rPr lang="en-US" altLang="zh-CN" sz="2400" dirty="0"/>
              <a:t>Virtual Memory</a:t>
            </a:r>
            <a:endParaRPr lang="zh-CN" altLang="en-US" sz="2400" dirty="0"/>
          </a:p>
        </p:txBody>
      </p:sp>
      <p:sp>
        <p:nvSpPr>
          <p:cNvPr id="2" name="内容占位符 1">
            <a:extLst>
              <a:ext uri="{FF2B5EF4-FFF2-40B4-BE49-F238E27FC236}">
                <a16:creationId xmlns:a16="http://schemas.microsoft.com/office/drawing/2014/main" id="{4CF568BB-C78A-4C78-8084-8EA66A87A4A8}"/>
              </a:ext>
            </a:extLst>
          </p:cNvPr>
          <p:cNvSpPr>
            <a:spLocks noGrp="1"/>
          </p:cNvSpPr>
          <p:nvPr>
            <p:ph sz="half" idx="2"/>
          </p:nvPr>
        </p:nvSpPr>
        <p:spPr>
          <a:xfrm>
            <a:off x="6220691" y="1073438"/>
            <a:ext cx="5827376" cy="4530725"/>
          </a:xfrm>
        </p:spPr>
        <p:txBody>
          <a:bodyPr/>
          <a:lstStyle/>
          <a:p>
            <a:pPr>
              <a:lnSpc>
                <a:spcPct val="150000"/>
              </a:lnSpc>
            </a:pPr>
            <a:r>
              <a:rPr lang="en-US" altLang="zh-CN" sz="2200" dirty="0"/>
              <a:t>Mass-storage structure</a:t>
            </a:r>
          </a:p>
          <a:p>
            <a:pPr>
              <a:lnSpc>
                <a:spcPct val="150000"/>
              </a:lnSpc>
            </a:pPr>
            <a:r>
              <a:rPr lang="en-US" altLang="zh-CN" sz="2200" dirty="0"/>
              <a:t>File-system interface</a:t>
            </a:r>
          </a:p>
          <a:p>
            <a:pPr>
              <a:lnSpc>
                <a:spcPct val="150000"/>
              </a:lnSpc>
            </a:pPr>
            <a:r>
              <a:rPr lang="en-US" altLang="zh-CN" sz="2200" dirty="0"/>
              <a:t>File-system implementation</a:t>
            </a:r>
          </a:p>
          <a:p>
            <a:pPr>
              <a:lnSpc>
                <a:spcPct val="150000"/>
              </a:lnSpc>
            </a:pPr>
            <a:r>
              <a:rPr lang="en-US" altLang="zh-CN" sz="2200" dirty="0"/>
              <a:t>I/O</a:t>
            </a:r>
          </a:p>
          <a:p>
            <a:pPr>
              <a:lnSpc>
                <a:spcPct val="150000"/>
              </a:lnSpc>
            </a:pPr>
            <a:r>
              <a:rPr lang="en-US" altLang="zh-CN" sz="2200" dirty="0" err="1"/>
              <a:t>Protection&amp;Security</a:t>
            </a:r>
            <a:endParaRPr lang="en-US" altLang="zh-CN" sz="2200" dirty="0"/>
          </a:p>
          <a:p>
            <a:pPr>
              <a:lnSpc>
                <a:spcPct val="150000"/>
              </a:lnSpc>
            </a:pPr>
            <a:endParaRPr lang="zh-CN" alt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6D827974-FC7B-4105-AB80-CE80277B0E16}"/>
              </a:ext>
            </a:extLst>
          </p:cNvPr>
          <p:cNvSpPr>
            <a:spLocks noGrp="1" noChangeArrowheads="1"/>
          </p:cNvSpPr>
          <p:nvPr>
            <p:ph type="title"/>
          </p:nvPr>
        </p:nvSpPr>
        <p:spPr/>
        <p:txBody>
          <a:bodyPr/>
          <a:lstStyle/>
          <a:p>
            <a:r>
              <a:rPr lang="zh-CN" altLang="en-US"/>
              <a:t>教材</a:t>
            </a:r>
          </a:p>
        </p:txBody>
      </p:sp>
      <p:sp>
        <p:nvSpPr>
          <p:cNvPr id="16387" name="内容占位符 2">
            <a:extLst>
              <a:ext uri="{FF2B5EF4-FFF2-40B4-BE49-F238E27FC236}">
                <a16:creationId xmlns:a16="http://schemas.microsoft.com/office/drawing/2014/main" id="{512540DE-DA6D-4A72-8515-9B012E8ACB8F}"/>
              </a:ext>
            </a:extLst>
          </p:cNvPr>
          <p:cNvSpPr>
            <a:spLocks noGrp="1" noChangeArrowheads="1"/>
          </p:cNvSpPr>
          <p:nvPr>
            <p:ph idx="1"/>
          </p:nvPr>
        </p:nvSpPr>
        <p:spPr/>
        <p:txBody>
          <a:bodyPr/>
          <a:lstStyle/>
          <a:p>
            <a:pPr>
              <a:lnSpc>
                <a:spcPct val="200000"/>
              </a:lnSpc>
            </a:pPr>
            <a:r>
              <a:rPr lang="en-US" altLang="zh-CN" sz="2400" dirty="0"/>
              <a:t>《</a:t>
            </a:r>
            <a:r>
              <a:rPr lang="zh-CN" altLang="en-US" sz="2400" dirty="0"/>
              <a:t>操作系统概念</a:t>
            </a:r>
            <a:r>
              <a:rPr lang="en-US" altLang="zh-CN" sz="2400" dirty="0"/>
              <a:t>》9</a:t>
            </a:r>
            <a:r>
              <a:rPr lang="en-US" altLang="zh-CN" sz="2400" baseline="30000" dirty="0"/>
              <a:t>th</a:t>
            </a:r>
            <a:endParaRPr lang="en-US" altLang="zh-CN" sz="2400" dirty="0"/>
          </a:p>
          <a:p>
            <a:pPr>
              <a:lnSpc>
                <a:spcPct val="200000"/>
              </a:lnSpc>
            </a:pPr>
            <a:r>
              <a:rPr lang="zh-CN" altLang="en-US" sz="2400" dirty="0"/>
              <a:t>中文版第七版</a:t>
            </a:r>
          </a:p>
        </p:txBody>
      </p:sp>
      <p:pic>
        <p:nvPicPr>
          <p:cNvPr id="16388" name="图片 3">
            <a:extLst>
              <a:ext uri="{FF2B5EF4-FFF2-40B4-BE49-F238E27FC236}">
                <a16:creationId xmlns:a16="http://schemas.microsoft.com/office/drawing/2014/main" id="{08F97CD9-195B-4328-AFFF-C04C2B29BF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506" y="1147908"/>
            <a:ext cx="3314444" cy="470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89AD1A7-BE3B-41E5-98F1-0443BD4C3773}"/>
              </a:ext>
            </a:extLst>
          </p:cNvPr>
          <p:cNvSpPr>
            <a:spLocks noGrp="1" noChangeArrowheads="1"/>
          </p:cNvSpPr>
          <p:nvPr>
            <p:ph type="title"/>
          </p:nvPr>
        </p:nvSpPr>
        <p:spPr/>
        <p:txBody>
          <a:bodyPr/>
          <a:lstStyle/>
          <a:p>
            <a:pPr eaLnBrk="1" hangingPunct="1"/>
            <a:r>
              <a:rPr lang="zh-CN" altLang="en-US"/>
              <a:t>参考书</a:t>
            </a:r>
          </a:p>
        </p:txBody>
      </p:sp>
      <p:sp>
        <p:nvSpPr>
          <p:cNvPr id="17411" name="Rectangle 3">
            <a:extLst>
              <a:ext uri="{FF2B5EF4-FFF2-40B4-BE49-F238E27FC236}">
                <a16:creationId xmlns:a16="http://schemas.microsoft.com/office/drawing/2014/main" id="{EBFDAB81-6783-48D1-B130-D78356607A24}"/>
              </a:ext>
            </a:extLst>
          </p:cNvPr>
          <p:cNvSpPr>
            <a:spLocks noGrp="1" noChangeArrowheads="1"/>
          </p:cNvSpPr>
          <p:nvPr>
            <p:ph idx="1"/>
          </p:nvPr>
        </p:nvSpPr>
        <p:spPr>
          <a:xfrm>
            <a:off x="556347" y="1025237"/>
            <a:ext cx="8229600" cy="3886200"/>
          </a:xfrm>
        </p:spPr>
        <p:txBody>
          <a:bodyPr/>
          <a:lstStyle/>
          <a:p>
            <a:pPr eaLnBrk="1" hangingPunct="1">
              <a:lnSpc>
                <a:spcPct val="150000"/>
              </a:lnSpc>
            </a:pPr>
            <a:r>
              <a:rPr lang="en-US" altLang="zh-CN" sz="2400"/>
              <a:t>《</a:t>
            </a:r>
            <a:r>
              <a:rPr lang="zh-CN" altLang="en-US" sz="2400"/>
              <a:t>现代操作系统</a:t>
            </a:r>
            <a:r>
              <a:rPr lang="en-US" altLang="zh-CN" sz="2400"/>
              <a:t>》</a:t>
            </a:r>
            <a:r>
              <a:rPr lang="zh-CN" altLang="en-US" sz="2400"/>
              <a:t>第四版</a:t>
            </a:r>
          </a:p>
          <a:p>
            <a:pPr eaLnBrk="1" hangingPunct="1">
              <a:lnSpc>
                <a:spcPct val="150000"/>
              </a:lnSpc>
            </a:pPr>
            <a:r>
              <a:rPr lang="en-US" altLang="zh-CN" sz="2400"/>
              <a:t>《</a:t>
            </a:r>
            <a:r>
              <a:rPr lang="zh-CN" altLang="en-US" sz="2400"/>
              <a:t>深入理解计算机系统</a:t>
            </a:r>
            <a:r>
              <a:rPr lang="en-US" altLang="zh-CN" sz="2400"/>
              <a:t>》</a:t>
            </a:r>
          </a:p>
          <a:p>
            <a:pPr eaLnBrk="1" hangingPunct="1">
              <a:lnSpc>
                <a:spcPct val="150000"/>
              </a:lnSpc>
            </a:pPr>
            <a:r>
              <a:rPr lang="en-US" altLang="zh-CN" sz="2400"/>
              <a:t>《</a:t>
            </a:r>
            <a:r>
              <a:rPr lang="zh-CN" altLang="en-US" sz="2400"/>
              <a:t>嵌入式</a:t>
            </a:r>
            <a:r>
              <a:rPr lang="en-US" altLang="zh-CN" sz="2400"/>
              <a:t>Linux</a:t>
            </a:r>
            <a:r>
              <a:rPr lang="zh-CN" altLang="en-US" sz="2400"/>
              <a:t>应用程序开发标准教程</a:t>
            </a:r>
            <a:r>
              <a:rPr lang="en-US" altLang="zh-CN" sz="2400"/>
              <a:t>》</a:t>
            </a:r>
          </a:p>
        </p:txBody>
      </p:sp>
      <p:pic>
        <p:nvPicPr>
          <p:cNvPr id="17412" name="Picture 7" descr="深入理解计算机系统（修订版）">
            <a:hlinkClick r:id="rId3" tooltip="深入理解计算机系统（修订版）"/>
            <a:extLst>
              <a:ext uri="{FF2B5EF4-FFF2-40B4-BE49-F238E27FC236}">
                <a16:creationId xmlns:a16="http://schemas.microsoft.com/office/drawing/2014/main" id="{3D5460F4-A285-41DC-B3E8-4E631030B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529014"/>
            <a:ext cx="2286000" cy="2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图片 1">
            <a:extLst>
              <a:ext uri="{FF2B5EF4-FFF2-40B4-BE49-F238E27FC236}">
                <a16:creationId xmlns:a16="http://schemas.microsoft.com/office/drawing/2014/main" id="{7ABD1804-343E-4013-8C9C-B11A2AC31C3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552709" y="3446464"/>
            <a:ext cx="2286000" cy="303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图片 1">
            <a:extLst>
              <a:ext uri="{FF2B5EF4-FFF2-40B4-BE49-F238E27FC236}">
                <a16:creationId xmlns:a16="http://schemas.microsoft.com/office/drawing/2014/main" id="{ECB87420-ED9A-4D64-9117-11FDB62B2BD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74618" y="3527642"/>
            <a:ext cx="2357438"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E0742C4-40DE-4E9A-9C99-2FDD5956C56F}"/>
              </a:ext>
            </a:extLst>
          </p:cNvPr>
          <p:cNvSpPr>
            <a:spLocks noGrp="1" noChangeArrowheads="1"/>
          </p:cNvSpPr>
          <p:nvPr>
            <p:ph type="title"/>
          </p:nvPr>
        </p:nvSpPr>
        <p:spPr/>
        <p:txBody>
          <a:bodyPr/>
          <a:lstStyle/>
          <a:p>
            <a:pPr eaLnBrk="1" hangingPunct="1"/>
            <a:r>
              <a:rPr lang="zh-CN" altLang="en-US"/>
              <a:t>其他参考</a:t>
            </a:r>
          </a:p>
        </p:txBody>
      </p:sp>
      <p:sp>
        <p:nvSpPr>
          <p:cNvPr id="21507" name="Rectangle 3">
            <a:extLst>
              <a:ext uri="{FF2B5EF4-FFF2-40B4-BE49-F238E27FC236}">
                <a16:creationId xmlns:a16="http://schemas.microsoft.com/office/drawing/2014/main" id="{B4AC6152-9399-4E11-B252-42346EF50EC5}"/>
              </a:ext>
            </a:extLst>
          </p:cNvPr>
          <p:cNvSpPr>
            <a:spLocks noGrp="1" noChangeArrowheads="1"/>
          </p:cNvSpPr>
          <p:nvPr>
            <p:ph idx="1"/>
          </p:nvPr>
        </p:nvSpPr>
        <p:spPr/>
        <p:txBody>
          <a:bodyPr/>
          <a:lstStyle/>
          <a:p>
            <a:pPr eaLnBrk="1" hangingPunct="1">
              <a:lnSpc>
                <a:spcPct val="150000"/>
              </a:lnSpc>
            </a:pPr>
            <a:r>
              <a:rPr lang="zh-CN" altLang="en-US" sz="2400" dirty="0"/>
              <a:t>互联网资源</a:t>
            </a:r>
          </a:p>
          <a:p>
            <a:pPr lvl="1" eaLnBrk="1" hangingPunct="1">
              <a:lnSpc>
                <a:spcPct val="150000"/>
              </a:lnSpc>
            </a:pPr>
            <a:r>
              <a:rPr lang="zh-CN" altLang="en-US" sz="2400" dirty="0"/>
              <a:t>网络上的文档（筛选）</a:t>
            </a:r>
          </a:p>
          <a:p>
            <a:pPr lvl="1" eaLnBrk="1" hangingPunct="1">
              <a:lnSpc>
                <a:spcPct val="150000"/>
              </a:lnSpc>
            </a:pPr>
            <a:endParaRPr lang="zh-CN" altLang="en-US" sz="2400" dirty="0"/>
          </a:p>
          <a:p>
            <a:pPr eaLnBrk="1" hangingPunct="1">
              <a:lnSpc>
                <a:spcPct val="150000"/>
              </a:lnSpc>
            </a:pPr>
            <a:r>
              <a:rPr lang="zh-CN" altLang="en-US" sz="2400" dirty="0"/>
              <a:t>其他丰富的资源</a:t>
            </a:r>
          </a:p>
          <a:p>
            <a:pPr eaLnBrk="1" hangingPunct="1">
              <a:lnSpc>
                <a:spcPct val="150000"/>
              </a:lnSpc>
            </a:pPr>
            <a:r>
              <a:rPr lang="zh-CN" altLang="en-US" sz="2400" dirty="0"/>
              <a:t>国内外学术期刊、技术论坛等等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035B7E6-97E6-4B38-AAA6-B0CE68191C53}"/>
              </a:ext>
            </a:extLst>
          </p:cNvPr>
          <p:cNvSpPr>
            <a:spLocks noGrp="1" noChangeArrowheads="1"/>
          </p:cNvSpPr>
          <p:nvPr>
            <p:ph type="title"/>
          </p:nvPr>
        </p:nvSpPr>
        <p:spPr/>
        <p:txBody>
          <a:bodyPr/>
          <a:lstStyle/>
          <a:p>
            <a:pPr eaLnBrk="1" hangingPunct="1"/>
            <a:r>
              <a:rPr lang="zh-CN" altLang="en-US"/>
              <a:t>学时安排与考核</a:t>
            </a:r>
          </a:p>
        </p:txBody>
      </p:sp>
      <p:sp>
        <p:nvSpPr>
          <p:cNvPr id="23555" name="Rectangle 3">
            <a:extLst>
              <a:ext uri="{FF2B5EF4-FFF2-40B4-BE49-F238E27FC236}">
                <a16:creationId xmlns:a16="http://schemas.microsoft.com/office/drawing/2014/main" id="{CDD8A097-FE9C-4AD8-BEBC-4351CE34956A}"/>
              </a:ext>
            </a:extLst>
          </p:cNvPr>
          <p:cNvSpPr>
            <a:spLocks noGrp="1" noChangeArrowheads="1"/>
          </p:cNvSpPr>
          <p:nvPr>
            <p:ph idx="1"/>
          </p:nvPr>
        </p:nvSpPr>
        <p:spPr>
          <a:xfrm>
            <a:off x="735830" y="1060308"/>
            <a:ext cx="11067479" cy="5519879"/>
          </a:xfrm>
        </p:spPr>
        <p:txBody>
          <a:bodyPr/>
          <a:lstStyle/>
          <a:p>
            <a:pPr marL="0" indent="0" algn="l" latinLnBrk="1">
              <a:buNone/>
            </a:pPr>
            <a:r>
              <a:rPr lang="en-US" altLang="zh-CN" i="0" u="none" strike="noStrike" dirty="0">
                <a:effectLst/>
              </a:rPr>
              <a:t>1.</a:t>
            </a:r>
            <a:r>
              <a:rPr lang="zh-CN" altLang="en-US" i="0" u="none" strike="noStrike" dirty="0">
                <a:effectLst/>
              </a:rPr>
              <a:t>平时作业成绩：</a:t>
            </a:r>
            <a:r>
              <a:rPr lang="en-US" altLang="zh-CN" i="0" u="none" strike="noStrike" dirty="0">
                <a:effectLst/>
              </a:rPr>
              <a:t>10%</a:t>
            </a:r>
            <a:endParaRPr lang="zh-CN" altLang="en-US" i="0" u="none" strike="noStrike" dirty="0">
              <a:effectLst/>
            </a:endParaRPr>
          </a:p>
          <a:p>
            <a:pPr marL="0" indent="0" algn="l" latinLnBrk="1">
              <a:buNone/>
            </a:pPr>
            <a:r>
              <a:rPr lang="zh-CN" altLang="en-US" b="0" i="0" u="none" strike="noStrike" dirty="0">
                <a:effectLst/>
              </a:rPr>
              <a:t>（</a:t>
            </a:r>
            <a:r>
              <a:rPr lang="en-US" altLang="zh-CN" b="0" i="0" u="none" strike="noStrike" dirty="0">
                <a:effectLst/>
              </a:rPr>
              <a:t>1</a:t>
            </a:r>
            <a:r>
              <a:rPr lang="zh-CN" altLang="en-US" b="0" i="0" u="none" strike="noStrike" dirty="0">
                <a:effectLst/>
              </a:rPr>
              <a:t>）将作业分数当作平时成绩，占总评成绩的</a:t>
            </a:r>
            <a:r>
              <a:rPr lang="en-US" altLang="zh-CN" b="0" i="0" u="none" strike="noStrike" dirty="0">
                <a:effectLst/>
              </a:rPr>
              <a:t>10%</a:t>
            </a:r>
            <a:endParaRPr lang="zh-CN" altLang="en-US" b="0" i="0" u="none" strike="noStrike" dirty="0">
              <a:effectLst/>
            </a:endParaRPr>
          </a:p>
          <a:p>
            <a:pPr marL="0" indent="0" algn="l" latinLnBrk="1">
              <a:buNone/>
            </a:pPr>
            <a:r>
              <a:rPr lang="zh-CN" altLang="en-US" b="0" i="0" u="none" strike="noStrike" dirty="0">
                <a:effectLst/>
              </a:rPr>
              <a:t>（</a:t>
            </a:r>
            <a:r>
              <a:rPr lang="en-US" altLang="zh-CN" b="0" i="0" u="none" strike="noStrike" dirty="0">
                <a:effectLst/>
              </a:rPr>
              <a:t>2</a:t>
            </a:r>
            <a:r>
              <a:rPr lang="zh-CN" altLang="en-US" b="0" i="0" u="none" strike="noStrike" dirty="0">
                <a:effectLst/>
              </a:rPr>
              <a:t>）主要考核学生对每章节知识点的复习、理解和掌握程度；考察学生分析、设计和研究能力。</a:t>
            </a:r>
          </a:p>
          <a:p>
            <a:pPr marL="0" indent="0" algn="l" latinLnBrk="1">
              <a:buNone/>
            </a:pPr>
            <a:r>
              <a:rPr lang="zh-CN" altLang="en-US" b="0" i="0" u="none" strike="noStrike" dirty="0">
                <a:effectLst/>
              </a:rPr>
              <a:t>（</a:t>
            </a:r>
            <a:r>
              <a:rPr lang="en-US" altLang="zh-CN" b="0" i="0" u="none" strike="noStrike" dirty="0">
                <a:effectLst/>
              </a:rPr>
              <a:t>3</a:t>
            </a:r>
            <a:r>
              <a:rPr lang="zh-CN" altLang="en-US" b="0" i="0" u="none" strike="noStrike" dirty="0">
                <a:effectLst/>
              </a:rPr>
              <a:t>）共</a:t>
            </a:r>
            <a:r>
              <a:rPr lang="en-US" altLang="zh-CN" b="0" i="0" u="none" strike="noStrike" dirty="0">
                <a:effectLst/>
              </a:rPr>
              <a:t>10</a:t>
            </a:r>
            <a:r>
              <a:rPr lang="zh-CN" altLang="en-US" b="0" i="0" u="none" strike="noStrike" dirty="0">
                <a:effectLst/>
              </a:rPr>
              <a:t>次作业，每次作业按</a:t>
            </a:r>
            <a:r>
              <a:rPr lang="en-US" altLang="zh-CN" b="0" i="0" u="none" strike="noStrike" dirty="0">
                <a:effectLst/>
              </a:rPr>
              <a:t>10</a:t>
            </a:r>
            <a:r>
              <a:rPr lang="zh-CN" altLang="en-US" b="0" i="0" u="none" strike="noStrike" dirty="0">
                <a:effectLst/>
              </a:rPr>
              <a:t>分制单独评分，共</a:t>
            </a:r>
            <a:r>
              <a:rPr lang="en-US" altLang="zh-CN" b="0" i="0" u="none" strike="noStrike" dirty="0">
                <a:effectLst/>
              </a:rPr>
              <a:t>100</a:t>
            </a:r>
            <a:r>
              <a:rPr lang="zh-CN" altLang="en-US" b="0" i="0" u="none" strike="noStrike" dirty="0">
                <a:effectLst/>
              </a:rPr>
              <a:t>分。</a:t>
            </a:r>
          </a:p>
          <a:p>
            <a:pPr marL="0" indent="0" algn="l" latinLnBrk="1">
              <a:buNone/>
            </a:pPr>
            <a:r>
              <a:rPr lang="en-US" altLang="zh-CN" i="0" u="none" strike="noStrike" dirty="0">
                <a:effectLst/>
              </a:rPr>
              <a:t>2.</a:t>
            </a:r>
            <a:r>
              <a:rPr lang="zh-CN" altLang="en-US" i="0" u="none" strike="noStrike" dirty="0">
                <a:effectLst/>
              </a:rPr>
              <a:t>实验成绩：</a:t>
            </a:r>
            <a:r>
              <a:rPr lang="en-US" altLang="zh-CN" i="0" u="none" strike="noStrike" dirty="0">
                <a:effectLst/>
              </a:rPr>
              <a:t>20%</a:t>
            </a:r>
            <a:endParaRPr lang="zh-CN" altLang="en-US" i="0" u="none" strike="noStrike" dirty="0">
              <a:effectLst/>
            </a:endParaRPr>
          </a:p>
          <a:p>
            <a:pPr marL="0" indent="0" algn="l" latinLnBrk="1">
              <a:buNone/>
            </a:pPr>
            <a:r>
              <a:rPr lang="zh-CN" altLang="en-US" b="0" i="0" u="none" strike="noStrike" dirty="0">
                <a:effectLst/>
              </a:rPr>
              <a:t>（</a:t>
            </a:r>
            <a:r>
              <a:rPr lang="en-US" altLang="zh-CN" b="0" i="0" u="none" strike="noStrike" dirty="0">
                <a:effectLst/>
              </a:rPr>
              <a:t>1</a:t>
            </a:r>
            <a:r>
              <a:rPr lang="zh-CN" altLang="en-US" b="0" i="0" u="none" strike="noStrike" dirty="0">
                <a:effectLst/>
              </a:rPr>
              <a:t>）将</a:t>
            </a:r>
            <a:r>
              <a:rPr lang="en-US" altLang="zh-CN" b="0" i="0" u="none" strike="noStrike" dirty="0">
                <a:effectLst/>
              </a:rPr>
              <a:t>5</a:t>
            </a:r>
            <a:r>
              <a:rPr lang="zh-CN" altLang="en-US" b="0" i="0" u="none" strike="noStrike" dirty="0">
                <a:effectLst/>
              </a:rPr>
              <a:t>次实验成绩当作实验成绩，占总评成绩的</a:t>
            </a:r>
            <a:r>
              <a:rPr lang="en-US" altLang="zh-CN" b="0" i="0" u="none" strike="noStrike" dirty="0">
                <a:effectLst/>
              </a:rPr>
              <a:t>20%</a:t>
            </a:r>
            <a:endParaRPr lang="zh-CN" altLang="en-US" b="0" i="0" u="none" strike="noStrike" dirty="0">
              <a:effectLst/>
            </a:endParaRPr>
          </a:p>
          <a:p>
            <a:pPr marL="0" indent="0" algn="l" latinLnBrk="1">
              <a:buNone/>
            </a:pPr>
            <a:r>
              <a:rPr lang="zh-CN" altLang="en-US" b="0" i="0" u="none" strike="noStrike" dirty="0">
                <a:effectLst/>
              </a:rPr>
              <a:t>（</a:t>
            </a:r>
            <a:r>
              <a:rPr lang="en-US" altLang="zh-CN" b="0" i="0" u="none" strike="noStrike" dirty="0">
                <a:effectLst/>
              </a:rPr>
              <a:t>2</a:t>
            </a:r>
            <a:r>
              <a:rPr lang="zh-CN" altLang="en-US" b="0" i="0" u="none" strike="noStrike" dirty="0">
                <a:effectLst/>
              </a:rPr>
              <a:t>）在</a:t>
            </a:r>
            <a:r>
              <a:rPr lang="en-US" altLang="zh-CN" b="0" i="0" u="none" strike="noStrike" dirty="0">
                <a:effectLst/>
              </a:rPr>
              <a:t>Linux</a:t>
            </a:r>
            <a:r>
              <a:rPr lang="zh-CN" altLang="en-US" b="0" i="0" u="none" strike="noStrike" dirty="0">
                <a:effectLst/>
              </a:rPr>
              <a:t>虚拟机中，对系统调用、多进程、多线程、信号量、文件系统进行专题实验，考察学生操作系统原理理解、软件开发的能力。</a:t>
            </a:r>
          </a:p>
          <a:p>
            <a:pPr marL="0" indent="0" algn="l" latinLnBrk="1">
              <a:buNone/>
            </a:pPr>
            <a:r>
              <a:rPr lang="zh-CN" altLang="en-US" b="0" i="0" u="none" strike="noStrike" dirty="0">
                <a:effectLst/>
              </a:rPr>
              <a:t>（</a:t>
            </a:r>
            <a:r>
              <a:rPr lang="en-US" altLang="zh-CN" b="0" i="0" u="none" strike="noStrike" dirty="0">
                <a:effectLst/>
              </a:rPr>
              <a:t>3</a:t>
            </a:r>
            <a:r>
              <a:rPr lang="zh-CN" altLang="en-US" b="0" i="0" u="none" strike="noStrike" dirty="0">
                <a:effectLst/>
              </a:rPr>
              <a:t>）根据实验报告、实验成果展示、交流情况综合评定，共</a:t>
            </a:r>
            <a:r>
              <a:rPr lang="en-US" altLang="zh-CN" b="0" i="0" u="none" strike="noStrike" dirty="0">
                <a:effectLst/>
              </a:rPr>
              <a:t>5</a:t>
            </a:r>
            <a:r>
              <a:rPr lang="zh-CN" altLang="en-US" b="0" i="0" u="none" strike="noStrike" dirty="0">
                <a:effectLst/>
              </a:rPr>
              <a:t>次实验，每次实验按</a:t>
            </a:r>
            <a:r>
              <a:rPr lang="en-US" altLang="zh-CN" b="0" i="0" u="none" strike="noStrike" dirty="0">
                <a:effectLst/>
              </a:rPr>
              <a:t>20</a:t>
            </a:r>
            <a:r>
              <a:rPr lang="zh-CN" altLang="en-US" b="0" i="0" u="none" strike="noStrike" dirty="0">
                <a:effectLst/>
              </a:rPr>
              <a:t>分制单独评分，共</a:t>
            </a:r>
            <a:r>
              <a:rPr lang="en-US" altLang="zh-CN" b="0" i="0" u="none" strike="noStrike" dirty="0">
                <a:effectLst/>
              </a:rPr>
              <a:t>100</a:t>
            </a:r>
            <a:r>
              <a:rPr lang="zh-CN" altLang="en-US" b="0" i="0" u="none" strike="noStrike" dirty="0">
                <a:effectLst/>
              </a:rPr>
              <a:t>分。</a:t>
            </a:r>
          </a:p>
          <a:p>
            <a:pPr marL="0" indent="0" algn="l" latinLnBrk="1">
              <a:buNone/>
            </a:pPr>
            <a:r>
              <a:rPr lang="en-US" altLang="zh-CN" i="0" u="none" strike="noStrike" dirty="0">
                <a:effectLst/>
              </a:rPr>
              <a:t>3.</a:t>
            </a:r>
            <a:r>
              <a:rPr lang="zh-CN" altLang="en-US" i="0" u="none" strike="noStrike" dirty="0">
                <a:effectLst/>
              </a:rPr>
              <a:t>期末考试成绩：</a:t>
            </a:r>
            <a:r>
              <a:rPr lang="en-US" altLang="zh-CN" i="0" u="none" strike="noStrike" dirty="0">
                <a:effectLst/>
              </a:rPr>
              <a:t>70%</a:t>
            </a:r>
            <a:endParaRPr lang="zh-CN" altLang="en-US" i="0" u="none" strike="noStrike" dirty="0">
              <a:effectLst/>
            </a:endParaRPr>
          </a:p>
          <a:p>
            <a:pPr marL="0" indent="0" algn="l" latinLnBrk="1">
              <a:buNone/>
            </a:pPr>
            <a:r>
              <a:rPr lang="zh-CN" altLang="en-US" b="0" i="0" u="none" strike="noStrike" dirty="0">
                <a:effectLst/>
              </a:rPr>
              <a:t>（</a:t>
            </a:r>
            <a:r>
              <a:rPr lang="en-US" altLang="zh-CN" b="0" i="0" u="none" strike="noStrike" dirty="0">
                <a:effectLst/>
              </a:rPr>
              <a:t>1</a:t>
            </a:r>
            <a:r>
              <a:rPr lang="zh-CN" altLang="en-US" b="0" i="0" u="none" strike="noStrike" dirty="0">
                <a:effectLst/>
              </a:rPr>
              <a:t>）期末考试成绩占总评成绩的</a:t>
            </a:r>
            <a:r>
              <a:rPr lang="en-US" altLang="zh-CN" b="0" i="0" u="none" strike="noStrike" dirty="0">
                <a:effectLst/>
              </a:rPr>
              <a:t>70%</a:t>
            </a:r>
            <a:r>
              <a:rPr lang="zh-CN" altLang="en-US" b="0" i="0" u="none" strike="noStrike" dirty="0">
                <a:effectLst/>
              </a:rPr>
              <a:t>。</a:t>
            </a:r>
          </a:p>
          <a:p>
            <a:pPr marL="0" indent="0" algn="l" latinLnBrk="1">
              <a:buNone/>
            </a:pPr>
            <a:r>
              <a:rPr lang="zh-CN" altLang="en-US" b="0" i="0" u="none" strike="noStrike" dirty="0">
                <a:effectLst/>
              </a:rPr>
              <a:t>（</a:t>
            </a:r>
            <a:r>
              <a:rPr lang="en-US" altLang="zh-CN" b="0" i="0" u="none" strike="noStrike" dirty="0">
                <a:effectLst/>
              </a:rPr>
              <a:t>2</a:t>
            </a:r>
            <a:r>
              <a:rPr lang="zh-CN" altLang="en-US" b="0" i="0" u="none" strike="noStrike" dirty="0">
                <a:effectLst/>
              </a:rPr>
              <a:t>）考核内容须体现操作系统的基本原理与基本方法，及综合应用课程的理论和方法，考察学生根据具体问题有效地进行网络分析、设计和研究的能力。</a:t>
            </a:r>
          </a:p>
          <a:p>
            <a:pPr marL="0" indent="0" algn="l" latinLnBrk="1">
              <a:buNone/>
            </a:pPr>
            <a:r>
              <a:rPr lang="zh-CN" altLang="en-US" b="0" i="0" u="none" strike="noStrike" dirty="0">
                <a:effectLst/>
              </a:rPr>
              <a:t>（</a:t>
            </a:r>
            <a:r>
              <a:rPr lang="en-US" altLang="zh-CN" b="0" i="0" u="none" strike="noStrike" dirty="0">
                <a:effectLst/>
              </a:rPr>
              <a:t>3</a:t>
            </a:r>
            <a:r>
              <a:rPr lang="zh-CN" altLang="en-US" b="0" i="0" u="none" strike="noStrike" dirty="0">
                <a:effectLst/>
              </a:rPr>
              <a:t>）采用笔试（闭卷）形式，卷面成绩</a:t>
            </a:r>
            <a:r>
              <a:rPr lang="en-US" altLang="zh-CN" b="0" i="0" u="none" strike="noStrike" dirty="0">
                <a:effectLst/>
              </a:rPr>
              <a:t>100</a:t>
            </a:r>
            <a:r>
              <a:rPr lang="zh-CN" altLang="en-US" b="0" i="0" u="none" strike="noStrike" dirty="0">
                <a:effectLst/>
              </a:rPr>
              <a:t>分。考试题型为：选择题、填空题、简答题、计算题和综合题。</a:t>
            </a:r>
          </a:p>
          <a:p>
            <a:pPr marL="0" indent="0" eaLnBrk="1" hangingPunct="1">
              <a:lnSpc>
                <a:spcPct val="150000"/>
              </a:lnSpc>
              <a:buNone/>
            </a:pPr>
            <a:endParaRPr lang="zh-CN" altLang="en-US" dirty="0"/>
          </a:p>
        </p:txBody>
      </p:sp>
    </p:spTree>
    <p:extLst>
      <p:ext uri="{BB962C8B-B14F-4D97-AF65-F5344CB8AC3E}">
        <p14:creationId xmlns:p14="http://schemas.microsoft.com/office/powerpoint/2010/main" val="3949445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035B7E6-97E6-4B38-AAA6-B0CE68191C53}"/>
              </a:ext>
            </a:extLst>
          </p:cNvPr>
          <p:cNvSpPr>
            <a:spLocks noGrp="1" noChangeArrowheads="1"/>
          </p:cNvSpPr>
          <p:nvPr>
            <p:ph type="title"/>
          </p:nvPr>
        </p:nvSpPr>
        <p:spPr/>
        <p:txBody>
          <a:bodyPr/>
          <a:lstStyle/>
          <a:p>
            <a:pPr eaLnBrk="1" hangingPunct="1"/>
            <a:r>
              <a:rPr lang="zh-CN" altLang="en-US"/>
              <a:t>学时安排与考核</a:t>
            </a:r>
          </a:p>
        </p:txBody>
      </p:sp>
      <p:sp>
        <p:nvSpPr>
          <p:cNvPr id="23555" name="Rectangle 3">
            <a:extLst>
              <a:ext uri="{FF2B5EF4-FFF2-40B4-BE49-F238E27FC236}">
                <a16:creationId xmlns:a16="http://schemas.microsoft.com/office/drawing/2014/main" id="{CDD8A097-FE9C-4AD8-BEBC-4351CE34956A}"/>
              </a:ext>
            </a:extLst>
          </p:cNvPr>
          <p:cNvSpPr>
            <a:spLocks noGrp="1" noChangeArrowheads="1"/>
          </p:cNvSpPr>
          <p:nvPr>
            <p:ph idx="1"/>
          </p:nvPr>
        </p:nvSpPr>
        <p:spPr>
          <a:xfrm>
            <a:off x="735831" y="1060308"/>
            <a:ext cx="10972800" cy="5519879"/>
          </a:xfrm>
        </p:spPr>
        <p:txBody>
          <a:bodyPr/>
          <a:lstStyle/>
          <a:p>
            <a:pPr eaLnBrk="1" hangingPunct="1">
              <a:lnSpc>
                <a:spcPct val="150000"/>
              </a:lnSpc>
            </a:pPr>
            <a:r>
              <a:rPr lang="zh-CN" altLang="en-US" sz="2800" dirty="0"/>
              <a:t>操作系统：</a:t>
            </a:r>
            <a:r>
              <a:rPr lang="en-US" altLang="zh-CN" sz="2800" dirty="0"/>
              <a:t>32</a:t>
            </a:r>
            <a:r>
              <a:rPr lang="zh-CN" altLang="en-US" sz="2800" dirty="0"/>
              <a:t>学时</a:t>
            </a:r>
          </a:p>
          <a:p>
            <a:pPr eaLnBrk="1" hangingPunct="1">
              <a:lnSpc>
                <a:spcPct val="150000"/>
              </a:lnSpc>
            </a:pPr>
            <a:r>
              <a:rPr lang="zh-CN" altLang="en-US" sz="2800" dirty="0"/>
              <a:t>配套实验：</a:t>
            </a:r>
            <a:r>
              <a:rPr lang="en-US" altLang="zh-CN" sz="2800" dirty="0"/>
              <a:t>32</a:t>
            </a:r>
            <a:r>
              <a:rPr lang="zh-CN" altLang="en-US" sz="2800" dirty="0"/>
              <a:t>学时</a:t>
            </a:r>
            <a:r>
              <a:rPr lang="en-US" altLang="zh-CN" sz="2800" dirty="0"/>
              <a:t>(</a:t>
            </a:r>
            <a:r>
              <a:rPr lang="zh-CN" altLang="en-US" sz="2800" dirty="0"/>
              <a:t>讲授</a:t>
            </a:r>
            <a:r>
              <a:rPr lang="en-US" altLang="zh-CN" sz="2800" dirty="0"/>
              <a:t>+</a:t>
            </a:r>
            <a:r>
              <a:rPr lang="zh-CN" altLang="en-US" sz="2800" dirty="0"/>
              <a:t>上机</a:t>
            </a:r>
            <a:r>
              <a:rPr lang="en-US" altLang="zh-CN" sz="2800" dirty="0"/>
              <a:t>)</a:t>
            </a:r>
            <a:endParaRPr lang="zh-CN" altLang="en-US" sz="2800" dirty="0"/>
          </a:p>
          <a:p>
            <a:pPr lvl="1" eaLnBrk="1" hangingPunct="1"/>
            <a:r>
              <a:rPr lang="zh-CN" altLang="en-US" sz="2800" dirty="0"/>
              <a:t>基于</a:t>
            </a:r>
            <a:r>
              <a:rPr lang="en-US" altLang="zh-CN" sz="2800" dirty="0"/>
              <a:t>Linux</a:t>
            </a:r>
            <a:r>
              <a:rPr lang="zh-CN" altLang="en-US" sz="2800" dirty="0"/>
              <a:t>操作系统（麒麟）</a:t>
            </a:r>
            <a:endParaRPr lang="en-US" altLang="zh-CN" sz="2800" dirty="0"/>
          </a:p>
          <a:p>
            <a:pPr lvl="1" eaLnBrk="1" hangingPunct="1"/>
            <a:r>
              <a:rPr lang="en-US" altLang="zh-CN" sz="2800" dirty="0"/>
              <a:t>p96</a:t>
            </a:r>
            <a:r>
              <a:rPr lang="zh-CN" altLang="en-US" sz="2800" dirty="0"/>
              <a:t>，</a:t>
            </a:r>
            <a:r>
              <a:rPr lang="en-US" altLang="zh-CN" sz="2800" dirty="0"/>
              <a:t>2.26 </a:t>
            </a:r>
            <a:r>
              <a:rPr lang="zh-CN" altLang="en-US" sz="2800" dirty="0"/>
              <a:t>（系统调用）</a:t>
            </a:r>
            <a:endParaRPr lang="en-US" altLang="zh-CN" sz="2800" dirty="0"/>
          </a:p>
          <a:p>
            <a:pPr lvl="1" eaLnBrk="1" hangingPunct="1"/>
            <a:r>
              <a:rPr lang="en-US" altLang="zh-CN" sz="2800" dirty="0"/>
              <a:t>p157</a:t>
            </a:r>
            <a:r>
              <a:rPr lang="zh-CN" altLang="en-US" sz="2800" dirty="0"/>
              <a:t>，</a:t>
            </a:r>
            <a:r>
              <a:rPr lang="en-US" altLang="zh-CN" sz="2800" dirty="0"/>
              <a:t>project1 </a:t>
            </a:r>
            <a:r>
              <a:rPr lang="zh-CN" altLang="en-US" sz="2800" dirty="0"/>
              <a:t>（实现一个</a:t>
            </a:r>
            <a:r>
              <a:rPr lang="en-US" altLang="zh-CN" sz="2800" dirty="0"/>
              <a:t>shell</a:t>
            </a:r>
            <a:r>
              <a:rPr lang="zh-CN" altLang="en-US" sz="2800" dirty="0"/>
              <a:t>，多进程编程）</a:t>
            </a:r>
            <a:endParaRPr lang="en-US" altLang="zh-CN" sz="2800" dirty="0"/>
          </a:p>
          <a:p>
            <a:pPr lvl="1" eaLnBrk="1" hangingPunct="1"/>
            <a:r>
              <a:rPr lang="en-US" altLang="zh-CN" sz="2800" dirty="0"/>
              <a:t>p199</a:t>
            </a:r>
            <a:r>
              <a:rPr lang="zh-CN" altLang="en-US" sz="2800" dirty="0"/>
              <a:t>，</a:t>
            </a:r>
            <a:r>
              <a:rPr lang="en-US" altLang="zh-CN" sz="2800" dirty="0"/>
              <a:t>project2 </a:t>
            </a:r>
            <a:r>
              <a:rPr lang="zh-CN" altLang="en-US" sz="2800" dirty="0"/>
              <a:t>（多线程）</a:t>
            </a:r>
            <a:endParaRPr lang="en-US" altLang="zh-CN" sz="2800" dirty="0"/>
          </a:p>
          <a:p>
            <a:pPr lvl="1" eaLnBrk="1" hangingPunct="1"/>
            <a:r>
              <a:rPr lang="en-US" altLang="zh-CN" sz="2800" dirty="0"/>
              <a:t>p253</a:t>
            </a:r>
            <a:r>
              <a:rPr lang="zh-CN" altLang="en-US" sz="2800" dirty="0"/>
              <a:t>，</a:t>
            </a:r>
            <a:r>
              <a:rPr lang="en-US" altLang="zh-CN" sz="2800" dirty="0"/>
              <a:t>project3 </a:t>
            </a:r>
            <a:r>
              <a:rPr lang="zh-CN" altLang="en-US" sz="2800" dirty="0"/>
              <a:t>（多线程与信号量）</a:t>
            </a:r>
            <a:endParaRPr lang="en-US" altLang="zh-CN" sz="2800" dirty="0"/>
          </a:p>
          <a:p>
            <a:pPr lvl="1" eaLnBrk="1" hangingPunct="1"/>
            <a:r>
              <a:rPr lang="en-US" altLang="zh-CN" sz="2800" dirty="0"/>
              <a:t>p583</a:t>
            </a:r>
            <a:r>
              <a:rPr lang="zh-CN" altLang="en-US" sz="2800" dirty="0"/>
              <a:t>，</a:t>
            </a:r>
            <a:r>
              <a:rPr lang="en-US" altLang="zh-CN" sz="2800" dirty="0"/>
              <a:t>programming problem </a:t>
            </a:r>
            <a:r>
              <a:rPr lang="zh-CN" altLang="en-US" sz="2800" dirty="0"/>
              <a:t>（文件系统）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B4CE987E-3745-46A9-B254-853B54BDF29F}"/>
              </a:ext>
            </a:extLst>
          </p:cNvPr>
          <p:cNvSpPr>
            <a:spLocks noGrp="1" noChangeArrowheads="1"/>
          </p:cNvSpPr>
          <p:nvPr>
            <p:ph type="title"/>
          </p:nvPr>
        </p:nvSpPr>
        <p:spPr/>
        <p:txBody>
          <a:bodyPr/>
          <a:lstStyle/>
          <a:p>
            <a:r>
              <a:rPr lang="en-US" altLang="zh-CN"/>
              <a:t>《</a:t>
            </a:r>
            <a:r>
              <a:rPr lang="zh-CN" altLang="en-US"/>
              <a:t>操作系统综合实验</a:t>
            </a:r>
            <a:r>
              <a:rPr lang="en-US" altLang="zh-CN"/>
              <a:t>》</a:t>
            </a:r>
            <a:endParaRPr lang="zh-CN" altLang="en-US"/>
          </a:p>
        </p:txBody>
      </p:sp>
      <p:sp>
        <p:nvSpPr>
          <p:cNvPr id="25603" name="内容占位符 2">
            <a:extLst>
              <a:ext uri="{FF2B5EF4-FFF2-40B4-BE49-F238E27FC236}">
                <a16:creationId xmlns:a16="http://schemas.microsoft.com/office/drawing/2014/main" id="{B5A67006-D58E-4B54-870C-C75B3F0AB518}"/>
              </a:ext>
            </a:extLst>
          </p:cNvPr>
          <p:cNvSpPr>
            <a:spLocks noGrp="1" noChangeArrowheads="1"/>
          </p:cNvSpPr>
          <p:nvPr>
            <p:ph idx="1"/>
          </p:nvPr>
        </p:nvSpPr>
        <p:spPr>
          <a:xfrm>
            <a:off x="561109" y="1219634"/>
            <a:ext cx="10972800" cy="5229657"/>
          </a:xfrm>
        </p:spPr>
        <p:txBody>
          <a:bodyPr/>
          <a:lstStyle/>
          <a:p>
            <a:pPr eaLnBrk="1" hangingPunct="1"/>
            <a:r>
              <a:rPr lang="en-US" altLang="zh-CN" sz="2800" dirty="0"/>
              <a:t>Linux</a:t>
            </a:r>
            <a:r>
              <a:rPr lang="zh-CN" altLang="en-US" sz="2800" dirty="0"/>
              <a:t>操作系统实例</a:t>
            </a:r>
            <a:endParaRPr lang="en-US" altLang="zh-CN" sz="2800" dirty="0"/>
          </a:p>
          <a:p>
            <a:pPr lvl="1" eaLnBrk="1" hangingPunct="1"/>
            <a:r>
              <a:rPr lang="en-US" altLang="zh-CN" sz="2800" dirty="0"/>
              <a:t>Ch18</a:t>
            </a:r>
            <a:r>
              <a:rPr lang="zh-CN" altLang="en-US" sz="2800" dirty="0"/>
              <a:t>（必选），</a:t>
            </a:r>
            <a:r>
              <a:rPr lang="en-US" altLang="zh-CN" sz="2800" dirty="0"/>
              <a:t>Ch19</a:t>
            </a:r>
            <a:r>
              <a:rPr lang="zh-CN" altLang="en-US" sz="2800" dirty="0"/>
              <a:t>（可选）</a:t>
            </a:r>
            <a:endParaRPr lang="en-US" altLang="zh-CN" sz="2800" dirty="0"/>
          </a:p>
          <a:p>
            <a:pPr eaLnBrk="1" hangingPunct="1"/>
            <a:r>
              <a:rPr lang="zh-CN" altLang="en-US" sz="2800" dirty="0"/>
              <a:t>内核编译与系统调用</a:t>
            </a:r>
            <a:endParaRPr lang="en-US" altLang="zh-CN" sz="2800" dirty="0"/>
          </a:p>
          <a:p>
            <a:pPr lvl="1" eaLnBrk="1" hangingPunct="1"/>
            <a:r>
              <a:rPr lang="en-US" altLang="zh-CN" sz="2800" dirty="0"/>
              <a:t>Linux</a:t>
            </a:r>
            <a:r>
              <a:rPr lang="zh-CN" altLang="en-US" sz="2800" dirty="0"/>
              <a:t>内核编译，增加系统调用</a:t>
            </a:r>
            <a:endParaRPr lang="en-US" altLang="zh-CN"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93873B96-B691-4777-8179-02185E4360B0}"/>
              </a:ext>
            </a:extLst>
          </p:cNvPr>
          <p:cNvSpPr>
            <a:spLocks noGrp="1" noChangeArrowheads="1"/>
          </p:cNvSpPr>
          <p:nvPr>
            <p:ph type="title"/>
          </p:nvPr>
        </p:nvSpPr>
        <p:spPr/>
        <p:txBody>
          <a:bodyPr/>
          <a:lstStyle/>
          <a:p>
            <a:r>
              <a:rPr lang="en-US" altLang="zh-CN"/>
              <a:t>《</a:t>
            </a:r>
            <a:r>
              <a:rPr lang="zh-CN" altLang="en-US"/>
              <a:t>操作系统综合实验</a:t>
            </a:r>
            <a:r>
              <a:rPr lang="en-US" altLang="zh-CN"/>
              <a:t>》</a:t>
            </a:r>
            <a:endParaRPr lang="zh-CN" altLang="en-US"/>
          </a:p>
        </p:txBody>
      </p:sp>
      <p:sp>
        <p:nvSpPr>
          <p:cNvPr id="26627" name="内容占位符 2">
            <a:extLst>
              <a:ext uri="{FF2B5EF4-FFF2-40B4-BE49-F238E27FC236}">
                <a16:creationId xmlns:a16="http://schemas.microsoft.com/office/drawing/2014/main" id="{65EDA3A7-AB01-42C7-9EC4-087C45CB6529}"/>
              </a:ext>
            </a:extLst>
          </p:cNvPr>
          <p:cNvSpPr>
            <a:spLocks noGrp="1" noChangeArrowheads="1"/>
          </p:cNvSpPr>
          <p:nvPr>
            <p:ph idx="1"/>
          </p:nvPr>
        </p:nvSpPr>
        <p:spPr>
          <a:xfrm>
            <a:off x="609600" y="1233489"/>
            <a:ext cx="11438467" cy="5201947"/>
          </a:xfrm>
        </p:spPr>
        <p:txBody>
          <a:bodyPr/>
          <a:lstStyle/>
          <a:p>
            <a:pPr eaLnBrk="1" hangingPunct="1"/>
            <a:r>
              <a:rPr lang="en-US" altLang="zh-CN" sz="2800" dirty="0"/>
              <a:t>p96</a:t>
            </a:r>
            <a:r>
              <a:rPr lang="zh-CN" altLang="en-US" sz="2800" dirty="0"/>
              <a:t>，</a:t>
            </a:r>
            <a:r>
              <a:rPr lang="en-US" altLang="zh-CN" sz="2800" dirty="0"/>
              <a:t>2.26 </a:t>
            </a:r>
            <a:r>
              <a:rPr lang="zh-CN" altLang="en-US" sz="2800" dirty="0"/>
              <a:t>（系统调用基础）</a:t>
            </a:r>
            <a:endParaRPr lang="en-US" altLang="zh-CN" sz="2800" dirty="0"/>
          </a:p>
          <a:p>
            <a:pPr eaLnBrk="1" hangingPunct="1"/>
            <a:r>
              <a:rPr lang="en-US" altLang="zh-CN" sz="2800" dirty="0"/>
              <a:t>p157</a:t>
            </a:r>
            <a:r>
              <a:rPr lang="zh-CN" altLang="en-US" sz="2800" dirty="0"/>
              <a:t>，</a:t>
            </a:r>
            <a:r>
              <a:rPr lang="en-US" altLang="zh-CN" sz="2800" dirty="0"/>
              <a:t>project1 </a:t>
            </a:r>
            <a:r>
              <a:rPr lang="zh-CN" altLang="en-US" sz="2800" dirty="0"/>
              <a:t>（实现一个</a:t>
            </a:r>
            <a:r>
              <a:rPr lang="en-US" altLang="zh-CN" sz="2800" dirty="0"/>
              <a:t>shell</a:t>
            </a:r>
            <a:r>
              <a:rPr lang="zh-CN" altLang="en-US" sz="2800" dirty="0"/>
              <a:t>，多进程编程）</a:t>
            </a:r>
            <a:endParaRPr lang="en-US" altLang="zh-CN" sz="2800" dirty="0"/>
          </a:p>
          <a:p>
            <a:pPr eaLnBrk="1" hangingPunct="1"/>
            <a:r>
              <a:rPr lang="en-US" altLang="zh-CN" sz="2800" dirty="0"/>
              <a:t>p199</a:t>
            </a:r>
            <a:r>
              <a:rPr lang="zh-CN" altLang="en-US" sz="2800" dirty="0"/>
              <a:t>，</a:t>
            </a:r>
            <a:r>
              <a:rPr lang="en-US" altLang="zh-CN" sz="2800" dirty="0"/>
              <a:t>project2 </a:t>
            </a:r>
            <a:r>
              <a:rPr lang="zh-CN" altLang="en-US" sz="2800" dirty="0"/>
              <a:t>（多线程）</a:t>
            </a:r>
            <a:endParaRPr lang="en-US" altLang="zh-CN" sz="2800" dirty="0"/>
          </a:p>
          <a:p>
            <a:pPr eaLnBrk="1" hangingPunct="1"/>
            <a:r>
              <a:rPr lang="en-US" altLang="zh-CN" sz="2800" dirty="0"/>
              <a:t>p253</a:t>
            </a:r>
            <a:r>
              <a:rPr lang="zh-CN" altLang="en-US" sz="2800" dirty="0"/>
              <a:t>，</a:t>
            </a:r>
            <a:r>
              <a:rPr lang="en-US" altLang="zh-CN" sz="2800" dirty="0"/>
              <a:t>project3 </a:t>
            </a:r>
            <a:r>
              <a:rPr lang="zh-CN" altLang="en-US" sz="2800" dirty="0"/>
              <a:t>（多线程与信号量）</a:t>
            </a:r>
            <a:endParaRPr lang="en-US" altLang="zh-CN" sz="2800" dirty="0"/>
          </a:p>
          <a:p>
            <a:pPr eaLnBrk="1" hangingPunct="1"/>
            <a:r>
              <a:rPr lang="en-US" altLang="zh-CN" sz="2800" dirty="0"/>
              <a:t>p583</a:t>
            </a:r>
            <a:r>
              <a:rPr lang="zh-CN" altLang="en-US" sz="2800" dirty="0"/>
              <a:t>，</a:t>
            </a:r>
            <a:r>
              <a:rPr lang="en-US" altLang="zh-CN" sz="2800" dirty="0"/>
              <a:t>programming problem </a:t>
            </a:r>
            <a:r>
              <a:rPr lang="zh-CN" altLang="en-US" sz="2800" dirty="0"/>
              <a:t>（文件系统）</a:t>
            </a:r>
            <a:endParaRPr lang="en-US" altLang="zh-CN" sz="2800" dirty="0"/>
          </a:p>
          <a:p>
            <a:pPr eaLnBrk="1" hangingPunct="1"/>
            <a:r>
              <a:rPr lang="en-US" altLang="zh-CN" sz="2800" dirty="0"/>
              <a:t>Linux</a:t>
            </a:r>
            <a:r>
              <a:rPr lang="zh-CN" altLang="en-US" sz="2800" dirty="0"/>
              <a:t>静态库与共享库</a:t>
            </a:r>
            <a:endParaRPr lang="en-US" altLang="zh-CN" sz="2800" dirty="0"/>
          </a:p>
          <a:p>
            <a:pPr eaLnBrk="1" hangingPunct="1"/>
            <a:r>
              <a:rPr lang="en-US" altLang="zh-CN" sz="2800" dirty="0"/>
              <a:t>Linux</a:t>
            </a:r>
            <a:r>
              <a:rPr lang="zh-CN" altLang="en-US" sz="2800" dirty="0"/>
              <a:t>内核编译</a:t>
            </a:r>
            <a:endParaRPr lang="en-US" altLang="zh-CN" sz="2800" dirty="0"/>
          </a:p>
          <a:p>
            <a:pPr eaLnBrk="1" hangingPunct="1"/>
            <a:r>
              <a:rPr lang="en-US" altLang="zh-CN" sz="2800" dirty="0"/>
              <a:t>Linux</a:t>
            </a:r>
            <a:r>
              <a:rPr lang="zh-CN" altLang="en-US" sz="2800" dirty="0"/>
              <a:t>操作系统实例研究报告（第</a:t>
            </a:r>
            <a:r>
              <a:rPr lang="en-US" altLang="zh-CN" sz="2800" dirty="0"/>
              <a:t>18</a:t>
            </a:r>
            <a:r>
              <a:rPr lang="zh-CN" altLang="en-US" sz="2800" dirty="0"/>
              <a:t>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68A0829-1574-4B53-80EC-A8BF5E0F37C4}"/>
              </a:ext>
            </a:extLst>
          </p:cNvPr>
          <p:cNvSpPr>
            <a:spLocks noGrp="1" noChangeArrowheads="1"/>
          </p:cNvSpPr>
          <p:nvPr>
            <p:ph type="title"/>
          </p:nvPr>
        </p:nvSpPr>
        <p:spPr/>
        <p:txBody>
          <a:bodyPr/>
          <a:lstStyle/>
          <a:p>
            <a:pPr eaLnBrk="1" hangingPunct="1"/>
            <a:r>
              <a:rPr lang="zh-CN" altLang="en-US"/>
              <a:t>注意事项</a:t>
            </a:r>
          </a:p>
        </p:txBody>
      </p:sp>
      <p:sp>
        <p:nvSpPr>
          <p:cNvPr id="27651" name="Rectangle 3">
            <a:extLst>
              <a:ext uri="{FF2B5EF4-FFF2-40B4-BE49-F238E27FC236}">
                <a16:creationId xmlns:a16="http://schemas.microsoft.com/office/drawing/2014/main" id="{8E99D3D3-9040-4634-8A7B-41031B13CFCE}"/>
              </a:ext>
            </a:extLst>
          </p:cNvPr>
          <p:cNvSpPr>
            <a:spLocks noGrp="1" noChangeArrowheads="1"/>
          </p:cNvSpPr>
          <p:nvPr>
            <p:ph idx="1"/>
          </p:nvPr>
        </p:nvSpPr>
        <p:spPr>
          <a:xfrm>
            <a:off x="708122" y="1163637"/>
            <a:ext cx="10972800" cy="4530725"/>
          </a:xfrm>
        </p:spPr>
        <p:txBody>
          <a:bodyPr/>
          <a:lstStyle/>
          <a:p>
            <a:pPr eaLnBrk="1" hangingPunct="1">
              <a:lnSpc>
                <a:spcPct val="150000"/>
              </a:lnSpc>
            </a:pPr>
            <a:r>
              <a:rPr lang="zh-CN" altLang="en-US" sz="2800" dirty="0"/>
              <a:t>参考资料的阅读</a:t>
            </a:r>
          </a:p>
          <a:p>
            <a:pPr lvl="1" eaLnBrk="1" hangingPunct="1">
              <a:lnSpc>
                <a:spcPct val="150000"/>
              </a:lnSpc>
            </a:pPr>
            <a:r>
              <a:rPr lang="zh-CN" altLang="en-US" sz="2800" dirty="0"/>
              <a:t>教材、参考书、互联网资料</a:t>
            </a:r>
          </a:p>
          <a:p>
            <a:pPr eaLnBrk="1" hangingPunct="1">
              <a:lnSpc>
                <a:spcPct val="150000"/>
              </a:lnSpc>
            </a:pPr>
            <a:r>
              <a:rPr lang="zh-CN" altLang="en-US" sz="2800" dirty="0"/>
              <a:t>课堂学习与课后实践</a:t>
            </a:r>
          </a:p>
          <a:p>
            <a:pPr lvl="1" eaLnBrk="1" hangingPunct="1">
              <a:lnSpc>
                <a:spcPct val="150000"/>
              </a:lnSpc>
            </a:pPr>
            <a:r>
              <a:rPr lang="en-US" altLang="zh-CN" sz="2800" dirty="0"/>
              <a:t>Linux</a:t>
            </a:r>
            <a:r>
              <a:rPr lang="zh-CN" altLang="en-US" sz="2800" dirty="0"/>
              <a:t>实例</a:t>
            </a:r>
          </a:p>
          <a:p>
            <a:pPr lvl="1" eaLnBrk="1" hangingPunct="1">
              <a:lnSpc>
                <a:spcPct val="150000"/>
              </a:lnSpc>
            </a:pPr>
            <a:r>
              <a:rPr lang="zh-CN" altLang="en-US" sz="2800" dirty="0"/>
              <a:t>理论与实践相结合</a:t>
            </a:r>
          </a:p>
          <a:p>
            <a:pPr lvl="1" eaLnBrk="1" hangingPunct="1">
              <a:lnSpc>
                <a:spcPct val="150000"/>
              </a:lnSpc>
            </a:pPr>
            <a:endParaRPr lang="zh-CN" altLang="en-US" sz="2800" dirty="0"/>
          </a:p>
          <a:p>
            <a:pPr eaLnBrk="1" hangingPunct="1">
              <a:lnSpc>
                <a:spcPct val="150000"/>
              </a:lnSpc>
            </a:pPr>
            <a:endParaRPr lang="zh-CN"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C543BBD-FACA-425D-93F7-455AF3E76EE2}"/>
              </a:ext>
            </a:extLst>
          </p:cNvPr>
          <p:cNvSpPr>
            <a:spLocks noGrp="1" noChangeArrowheads="1"/>
          </p:cNvSpPr>
          <p:nvPr>
            <p:ph type="title"/>
          </p:nvPr>
        </p:nvSpPr>
        <p:spPr/>
        <p:txBody>
          <a:bodyPr/>
          <a:lstStyle/>
          <a:p>
            <a:r>
              <a:rPr lang="zh-CN" altLang="en-US"/>
              <a:t>如何学习</a:t>
            </a:r>
            <a:r>
              <a:rPr lang="en-US" altLang="zh-CN"/>
              <a:t>Linux</a:t>
            </a:r>
            <a:r>
              <a:rPr lang="zh-CN" altLang="en-US"/>
              <a:t>？</a:t>
            </a:r>
          </a:p>
        </p:txBody>
      </p:sp>
      <p:sp>
        <p:nvSpPr>
          <p:cNvPr id="29699" name="内容占位符 2">
            <a:extLst>
              <a:ext uri="{FF2B5EF4-FFF2-40B4-BE49-F238E27FC236}">
                <a16:creationId xmlns:a16="http://schemas.microsoft.com/office/drawing/2014/main" id="{F5C6AA2A-1EA6-4698-A2BA-F63ED0F04A80}"/>
              </a:ext>
            </a:extLst>
          </p:cNvPr>
          <p:cNvSpPr>
            <a:spLocks noGrp="1" noChangeArrowheads="1"/>
          </p:cNvSpPr>
          <p:nvPr>
            <p:ph idx="1"/>
          </p:nvPr>
        </p:nvSpPr>
        <p:spPr>
          <a:xfrm>
            <a:off x="561109" y="1074162"/>
            <a:ext cx="11438467" cy="5977802"/>
          </a:xfrm>
        </p:spPr>
        <p:txBody>
          <a:bodyPr>
            <a:normAutofit/>
          </a:bodyPr>
          <a:lstStyle/>
          <a:p>
            <a:pPr eaLnBrk="1" hangingPunct="1">
              <a:lnSpc>
                <a:spcPct val="150000"/>
              </a:lnSpc>
            </a:pPr>
            <a:r>
              <a:rPr lang="en-US" altLang="zh-CN" sz="2800" dirty="0"/>
              <a:t>Linux</a:t>
            </a:r>
            <a:r>
              <a:rPr lang="zh-CN" altLang="en-US" sz="2800" dirty="0"/>
              <a:t>爱好者</a:t>
            </a:r>
          </a:p>
          <a:p>
            <a:pPr lvl="1" eaLnBrk="1" hangingPunct="1">
              <a:lnSpc>
                <a:spcPct val="150000"/>
              </a:lnSpc>
            </a:pPr>
            <a:r>
              <a:rPr lang="zh-CN" altLang="en-US" sz="2400" dirty="0"/>
              <a:t>先熟悉</a:t>
            </a:r>
            <a:r>
              <a:rPr lang="en-US" altLang="zh-CN" sz="2400" dirty="0"/>
              <a:t>Linux</a:t>
            </a:r>
            <a:r>
              <a:rPr lang="zh-CN" altLang="en-US" sz="2400" dirty="0"/>
              <a:t>系统管理操作</a:t>
            </a:r>
          </a:p>
          <a:p>
            <a:pPr lvl="1" eaLnBrk="1" hangingPunct="1">
              <a:lnSpc>
                <a:spcPct val="150000"/>
              </a:lnSpc>
            </a:pPr>
            <a:r>
              <a:rPr lang="zh-CN" altLang="en-US" sz="2400" dirty="0"/>
              <a:t>系统程序开发</a:t>
            </a:r>
          </a:p>
          <a:p>
            <a:pPr lvl="1" eaLnBrk="1" hangingPunct="1">
              <a:lnSpc>
                <a:spcPct val="150000"/>
              </a:lnSpc>
            </a:pPr>
            <a:r>
              <a:rPr lang="zh-CN" altLang="en-US" sz="2400" dirty="0"/>
              <a:t>深入内核学习</a:t>
            </a:r>
          </a:p>
          <a:p>
            <a:pPr lvl="1" eaLnBrk="1" hangingPunct="1">
              <a:lnSpc>
                <a:spcPct val="150000"/>
              </a:lnSpc>
            </a:pPr>
            <a:r>
              <a:rPr lang="zh-CN" altLang="en-US" sz="2400" dirty="0"/>
              <a:t>多读资料</a:t>
            </a:r>
            <a:r>
              <a:rPr lang="en-US" altLang="zh-CN" sz="2400" dirty="0"/>
              <a:t>/</a:t>
            </a:r>
            <a:r>
              <a:rPr lang="zh-CN" altLang="en-US" sz="2400" dirty="0"/>
              <a:t>多动手</a:t>
            </a:r>
            <a:endParaRPr lang="en-US" altLang="zh-CN" sz="2400" dirty="0"/>
          </a:p>
          <a:p>
            <a:pPr eaLnBrk="1" hangingPunct="1">
              <a:lnSpc>
                <a:spcPct val="150000"/>
              </a:lnSpc>
            </a:pPr>
            <a:r>
              <a:rPr lang="zh-CN" altLang="en-US" sz="2800" dirty="0"/>
              <a:t>多参加科技竞赛</a:t>
            </a:r>
          </a:p>
          <a:p>
            <a:pPr lvl="1" eaLnBrk="1" hangingPunct="1">
              <a:lnSpc>
                <a:spcPct val="150000"/>
              </a:lnSpc>
            </a:pPr>
            <a:r>
              <a:rPr lang="zh-CN" altLang="en-US" sz="2400" dirty="0"/>
              <a:t>国创</a:t>
            </a:r>
            <a:endParaRPr lang="en-US" altLang="zh-CN" sz="2400" dirty="0"/>
          </a:p>
          <a:p>
            <a:pPr lvl="1" eaLnBrk="1" hangingPunct="1">
              <a:lnSpc>
                <a:spcPct val="150000"/>
              </a:lnSpc>
            </a:pPr>
            <a:r>
              <a:rPr lang="zh-CN" altLang="en-US" sz="2400" dirty="0"/>
              <a:t>。。。。。。</a:t>
            </a:r>
          </a:p>
          <a:p>
            <a:pPr>
              <a:lnSpc>
                <a:spcPct val="150000"/>
              </a:lnSpc>
            </a:pP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C78ABC1-A172-42B7-AA50-10921738942F}"/>
              </a:ext>
            </a:extLst>
          </p:cNvPr>
          <p:cNvSpPr>
            <a:spLocks noGrp="1" noChangeArrowheads="1"/>
          </p:cNvSpPr>
          <p:nvPr>
            <p:ph type="title"/>
          </p:nvPr>
        </p:nvSpPr>
        <p:spPr/>
        <p:txBody>
          <a:bodyPr/>
          <a:lstStyle/>
          <a:p>
            <a:pPr eaLnBrk="1" hangingPunct="1"/>
            <a:endParaRPr lang="zh-CN" altLang="zh-CN"/>
          </a:p>
        </p:txBody>
      </p:sp>
      <p:sp>
        <p:nvSpPr>
          <p:cNvPr id="30723" name="Rectangle 3">
            <a:extLst>
              <a:ext uri="{FF2B5EF4-FFF2-40B4-BE49-F238E27FC236}">
                <a16:creationId xmlns:a16="http://schemas.microsoft.com/office/drawing/2014/main" id="{3DDF38DF-DD3E-474A-8F8C-AA428597C114}"/>
              </a:ext>
            </a:extLst>
          </p:cNvPr>
          <p:cNvSpPr>
            <a:spLocks noGrp="1" noChangeArrowheads="1"/>
          </p:cNvSpPr>
          <p:nvPr>
            <p:ph idx="1"/>
          </p:nvPr>
        </p:nvSpPr>
        <p:spPr/>
        <p:txBody>
          <a:bodyPr/>
          <a:lstStyle/>
          <a:p>
            <a:pPr eaLnBrk="1" hangingPunct="1"/>
            <a:r>
              <a:rPr lang="zh-CN" altLang="en-US" sz="2800" dirty="0"/>
              <a:t>兴趣小组指导</a:t>
            </a:r>
            <a:endParaRPr lang="en-US" altLang="zh-CN" sz="2800" dirty="0"/>
          </a:p>
          <a:p>
            <a:pPr lvl="1" eaLnBrk="1" hangingPunct="1"/>
            <a:r>
              <a:rPr lang="en-US" altLang="zh-CN" sz="2800" dirty="0"/>
              <a:t>Linux</a:t>
            </a:r>
          </a:p>
          <a:p>
            <a:pPr lvl="1" eaLnBrk="1" hangingPunct="1"/>
            <a:r>
              <a:rPr lang="zh-CN" altLang="en-US" sz="2800" dirty="0"/>
              <a:t>网络与信息安全</a:t>
            </a:r>
            <a:endParaRPr lang="en-US" altLang="zh-CN"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78A06ECC-9B21-4B40-910C-9A23C5FC9304}"/>
              </a:ext>
            </a:extLst>
          </p:cNvPr>
          <p:cNvSpPr>
            <a:spLocks noGrp="1" noChangeArrowheads="1"/>
          </p:cNvSpPr>
          <p:nvPr>
            <p:ph type="title"/>
          </p:nvPr>
        </p:nvSpPr>
        <p:spPr/>
        <p:txBody>
          <a:bodyPr/>
          <a:lstStyle/>
          <a:p>
            <a:endParaRPr lang="zh-CN" altLang="en-US"/>
          </a:p>
        </p:txBody>
      </p:sp>
      <p:sp>
        <p:nvSpPr>
          <p:cNvPr id="31747" name="内容占位符 2">
            <a:extLst>
              <a:ext uri="{FF2B5EF4-FFF2-40B4-BE49-F238E27FC236}">
                <a16:creationId xmlns:a16="http://schemas.microsoft.com/office/drawing/2014/main" id="{A35992AA-332C-4880-AE0D-D3581E3A1204}"/>
              </a:ext>
            </a:extLst>
          </p:cNvPr>
          <p:cNvSpPr>
            <a:spLocks noGrp="1" noChangeArrowheads="1"/>
          </p:cNvSpPr>
          <p:nvPr>
            <p:ph idx="1"/>
          </p:nvPr>
        </p:nvSpPr>
        <p:spPr>
          <a:xfrm>
            <a:off x="609600" y="1074162"/>
            <a:ext cx="10972800" cy="4530725"/>
          </a:xfrm>
        </p:spPr>
        <p:txBody>
          <a:bodyPr/>
          <a:lstStyle/>
          <a:p>
            <a:pPr>
              <a:lnSpc>
                <a:spcPct val="150000"/>
              </a:lnSpc>
            </a:pPr>
            <a:r>
              <a:rPr lang="zh-CN" altLang="en-US" sz="2800" dirty="0"/>
              <a:t>安装虚拟机</a:t>
            </a:r>
            <a:endParaRPr lang="en-US" altLang="zh-CN" sz="2800" dirty="0"/>
          </a:p>
          <a:p>
            <a:pPr lvl="1">
              <a:lnSpc>
                <a:spcPct val="150000"/>
              </a:lnSpc>
            </a:pPr>
            <a:r>
              <a:rPr lang="zh-CN" altLang="en-US" sz="2800" dirty="0"/>
              <a:t>下载安装盘，</a:t>
            </a:r>
            <a:r>
              <a:rPr lang="en-US" altLang="zh-CN" sz="2800" dirty="0"/>
              <a:t>iso</a:t>
            </a:r>
            <a:r>
              <a:rPr lang="zh-CN" altLang="en-US" sz="2800" dirty="0"/>
              <a:t>文件</a:t>
            </a:r>
            <a:endParaRPr lang="en-US" altLang="zh-CN" sz="2800" dirty="0"/>
          </a:p>
          <a:p>
            <a:pPr lvl="1">
              <a:lnSpc>
                <a:spcPct val="150000"/>
              </a:lnSpc>
            </a:pPr>
            <a:r>
              <a:rPr lang="en-US" altLang="zh-CN" sz="2800" dirty="0"/>
              <a:t>VMWare</a:t>
            </a:r>
            <a:r>
              <a:rPr lang="zh-CN" altLang="en-US" sz="2800" dirty="0"/>
              <a:t>或</a:t>
            </a:r>
            <a:r>
              <a:rPr lang="en-US" altLang="zh-CN" sz="2800" dirty="0"/>
              <a:t>VirtualBox</a:t>
            </a:r>
          </a:p>
          <a:p>
            <a:pPr lvl="1">
              <a:lnSpc>
                <a:spcPct val="150000"/>
              </a:lnSpc>
            </a:pPr>
            <a:r>
              <a:rPr lang="zh-CN" altLang="en-US" sz="2800" dirty="0"/>
              <a:t>安装时选择必要的软件</a:t>
            </a:r>
            <a:endParaRPr lang="en-US" altLang="zh-CN" sz="2800" dirty="0"/>
          </a:p>
          <a:p>
            <a:pPr lvl="2">
              <a:lnSpc>
                <a:spcPct val="150000"/>
              </a:lnSpc>
            </a:pPr>
            <a:r>
              <a:rPr lang="en-US" altLang="zh-CN" sz="2800" dirty="0"/>
              <a:t>C</a:t>
            </a:r>
            <a:r>
              <a:rPr lang="zh-CN" altLang="en-US" sz="2800" dirty="0"/>
              <a:t>语言开发环境（</a:t>
            </a:r>
            <a:r>
              <a:rPr lang="en-US" altLang="zh-CN" sz="2800" dirty="0" err="1"/>
              <a:t>gcc</a:t>
            </a:r>
            <a:r>
              <a:rPr lang="zh-CN" altLang="en-US" sz="2800" dirty="0"/>
              <a:t>）</a:t>
            </a:r>
            <a:endParaRPr lang="en-US" altLang="zh-CN" sz="2800" dirty="0"/>
          </a:p>
          <a:p>
            <a:pPr lvl="2">
              <a:lnSpc>
                <a:spcPct val="150000"/>
              </a:lnSpc>
            </a:pPr>
            <a:r>
              <a:rPr lang="zh-CN" altLang="en-US" sz="2800" dirty="0"/>
              <a:t>也可以安装完成后按需安装</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FD96EAB-4E56-4BAF-B2DB-6B1FADD6A190}"/>
              </a:ext>
            </a:extLst>
          </p:cNvPr>
          <p:cNvSpPr>
            <a:spLocks noGrp="1" noChangeArrowheads="1"/>
          </p:cNvSpPr>
          <p:nvPr>
            <p:ph type="title"/>
          </p:nvPr>
        </p:nvSpPr>
        <p:spPr/>
        <p:txBody>
          <a:bodyPr/>
          <a:lstStyle/>
          <a:p>
            <a:pPr eaLnBrk="1" hangingPunct="1"/>
            <a:r>
              <a:rPr lang="zh-CN" altLang="en-US"/>
              <a:t>教师信息</a:t>
            </a:r>
          </a:p>
        </p:txBody>
      </p:sp>
      <p:sp>
        <p:nvSpPr>
          <p:cNvPr id="24579" name="Rectangle 3">
            <a:extLst>
              <a:ext uri="{FF2B5EF4-FFF2-40B4-BE49-F238E27FC236}">
                <a16:creationId xmlns:a16="http://schemas.microsoft.com/office/drawing/2014/main" id="{010261AF-65B4-437F-AE79-F4EB78F374FE}"/>
              </a:ext>
            </a:extLst>
          </p:cNvPr>
          <p:cNvSpPr>
            <a:spLocks noGrp="1" noChangeArrowheads="1"/>
          </p:cNvSpPr>
          <p:nvPr>
            <p:ph idx="1"/>
          </p:nvPr>
        </p:nvSpPr>
        <p:spPr>
          <a:xfrm>
            <a:off x="609599" y="1149928"/>
            <a:ext cx="9968345" cy="4953000"/>
          </a:xfrm>
          <a:noFill/>
        </p:spPr>
        <p:txBody>
          <a:bodyPr>
            <a:normAutofit/>
          </a:bodyPr>
          <a:lstStyle/>
          <a:p>
            <a:pPr eaLnBrk="1" hangingPunct="1">
              <a:lnSpc>
                <a:spcPct val="150000"/>
              </a:lnSpc>
            </a:pPr>
            <a:r>
              <a:rPr lang="en-US" altLang="zh-CN" sz="2400" dirty="0"/>
              <a:t>Instructor : </a:t>
            </a:r>
            <a:r>
              <a:rPr lang="zh-CN" altLang="en-US" sz="2400" dirty="0"/>
              <a:t>王祥宇，副教授</a:t>
            </a:r>
          </a:p>
          <a:p>
            <a:pPr eaLnBrk="1" hangingPunct="1">
              <a:lnSpc>
                <a:spcPct val="150000"/>
              </a:lnSpc>
            </a:pPr>
            <a:r>
              <a:rPr lang="en-US" altLang="zh-CN" sz="2400" dirty="0"/>
              <a:t>Research Direction: </a:t>
            </a:r>
            <a:r>
              <a:rPr lang="zh-CN" altLang="en-US" sz="2400" dirty="0"/>
              <a:t>网络空间安全、应用密码学</a:t>
            </a:r>
          </a:p>
          <a:p>
            <a:pPr eaLnBrk="1" hangingPunct="1">
              <a:lnSpc>
                <a:spcPct val="150000"/>
              </a:lnSpc>
            </a:pPr>
            <a:r>
              <a:rPr lang="en-US" altLang="zh-CN" sz="2400" dirty="0"/>
              <a:t>Office : </a:t>
            </a:r>
            <a:r>
              <a:rPr lang="zh-CN" altLang="en-US" sz="2400" dirty="0"/>
              <a:t>网安大楼</a:t>
            </a:r>
            <a:r>
              <a:rPr lang="en-US" altLang="zh-CN" sz="2400" dirty="0"/>
              <a:t>A-0945</a:t>
            </a:r>
          </a:p>
          <a:p>
            <a:pPr eaLnBrk="1" hangingPunct="1">
              <a:lnSpc>
                <a:spcPct val="150000"/>
              </a:lnSpc>
            </a:pPr>
            <a:r>
              <a:rPr lang="en-US" altLang="zh-CN" sz="2400" dirty="0"/>
              <a:t>Affiliation : </a:t>
            </a:r>
          </a:p>
          <a:p>
            <a:pPr lvl="1" eaLnBrk="1" hangingPunct="1">
              <a:lnSpc>
                <a:spcPct val="150000"/>
              </a:lnSpc>
            </a:pPr>
            <a:r>
              <a:rPr lang="en-US" altLang="zh-CN" sz="2400" b="1" dirty="0"/>
              <a:t>Email : wangxiangyu01@xidian.edu.cn</a:t>
            </a:r>
          </a:p>
          <a:p>
            <a:pPr eaLnBrk="1" hangingPunct="1">
              <a:lnSpc>
                <a:spcPct val="150000"/>
              </a:lnSpc>
            </a:pPr>
            <a:r>
              <a:rPr lang="zh-CN" altLang="en-US" sz="2400" dirty="0"/>
              <a:t>校园网个人主页</a:t>
            </a:r>
            <a:endParaRPr lang="en-US" altLang="zh-CN" sz="2400" dirty="0"/>
          </a:p>
          <a:p>
            <a:pPr lvl="1" eaLnBrk="1" hangingPunct="1">
              <a:lnSpc>
                <a:spcPct val="150000"/>
              </a:lnSpc>
            </a:pPr>
            <a:r>
              <a:rPr lang="en-US" altLang="zh-CN" sz="2400" dirty="0">
                <a:hlinkClick r:id="rId3"/>
              </a:rPr>
              <a:t>https://web.xidian.edu.cn/wangxiangyu/</a:t>
            </a:r>
            <a:endParaRPr lang="en-US" altLang="zh-CN" sz="24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0-#ppt_w/2"/>
                                          </p:val>
                                        </p:tav>
                                        <p:tav tm="100000">
                                          <p:val>
                                            <p:strVal val="#ppt_x"/>
                                          </p:val>
                                        </p:tav>
                                      </p:tavLst>
                                    </p:anim>
                                    <p:anim calcmode="lin" valueType="num">
                                      <p:cBhvr additive="base">
                                        <p:cTn id="8"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Lst>
  </p:timing>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5104</TotalTime>
  <Words>754</Words>
  <Application>Microsoft Office PowerPoint</Application>
  <PresentationFormat>宽屏</PresentationFormat>
  <Paragraphs>127</Paragraphs>
  <Slides>17</Slides>
  <Notes>11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微软雅黑</vt:lpstr>
      <vt:lpstr>Arial</vt:lpstr>
      <vt:lpstr>Calibri</vt:lpstr>
      <vt:lpstr>Helvetica</vt:lpstr>
      <vt:lpstr>Times New Roman</vt:lpstr>
      <vt:lpstr>Verdana</vt:lpstr>
      <vt:lpstr>Wingdings</vt:lpstr>
      <vt:lpstr>os-8</vt:lpstr>
      <vt:lpstr>《操作系统》</vt:lpstr>
      <vt:lpstr>课程背景</vt:lpstr>
      <vt:lpstr>课程目标</vt:lpstr>
      <vt:lpstr>基础知识</vt:lpstr>
      <vt:lpstr>主要内容</vt:lpstr>
      <vt:lpstr>教材</vt:lpstr>
      <vt:lpstr>参考书</vt:lpstr>
      <vt:lpstr>其他参考</vt:lpstr>
      <vt:lpstr>学时安排与考核</vt:lpstr>
      <vt:lpstr>学时安排与考核</vt:lpstr>
      <vt:lpstr>《操作系统综合实验》</vt:lpstr>
      <vt:lpstr>《操作系统综合实验》</vt:lpstr>
      <vt:lpstr>注意事项</vt:lpstr>
      <vt:lpstr>如何学习Linux？</vt:lpstr>
      <vt:lpstr>PowerPoint 演示文稿</vt:lpstr>
      <vt:lpstr>PowerPoint 演示文稿</vt:lpstr>
      <vt:lpstr>教师信息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Synchronization</dc:title>
  <dc:creator>T an J</dc:creator>
  <cp:lastModifiedBy>祥宇</cp:lastModifiedBy>
  <cp:revision>331</cp:revision>
  <dcterms:created xsi:type="dcterms:W3CDTF">2017-09-14T07:02:41Z</dcterms:created>
  <dcterms:modified xsi:type="dcterms:W3CDTF">2026-03-03T02:02:50Z</dcterms:modified>
</cp:coreProperties>
</file>