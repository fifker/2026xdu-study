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4"/>
  </p:notesMasterIdLst>
  <p:sldIdLst>
    <p:sldId id="330" r:id="rId2"/>
    <p:sldId id="347" r:id="rId3"/>
    <p:sldId id="350" r:id="rId4"/>
    <p:sldId id="351" r:id="rId5"/>
    <p:sldId id="349" r:id="rId6"/>
    <p:sldId id="353" r:id="rId7"/>
    <p:sldId id="352" r:id="rId8"/>
    <p:sldId id="354" r:id="rId9"/>
    <p:sldId id="356" r:id="rId10"/>
    <p:sldId id="357" r:id="rId11"/>
    <p:sldId id="375" r:id="rId12"/>
    <p:sldId id="358" r:id="rId13"/>
    <p:sldId id="360" r:id="rId14"/>
    <p:sldId id="408" r:id="rId15"/>
    <p:sldId id="393" r:id="rId16"/>
    <p:sldId id="364" r:id="rId17"/>
    <p:sldId id="363" r:id="rId18"/>
    <p:sldId id="411" r:id="rId19"/>
    <p:sldId id="404" r:id="rId20"/>
    <p:sldId id="403" r:id="rId21"/>
    <p:sldId id="367" r:id="rId22"/>
    <p:sldId id="369" r:id="rId23"/>
    <p:sldId id="371" r:id="rId24"/>
    <p:sldId id="373" r:id="rId25"/>
    <p:sldId id="412" r:id="rId26"/>
    <p:sldId id="413" r:id="rId27"/>
    <p:sldId id="376" r:id="rId28"/>
    <p:sldId id="377" r:id="rId29"/>
    <p:sldId id="414" r:id="rId30"/>
    <p:sldId id="378" r:id="rId31"/>
    <p:sldId id="416" r:id="rId32"/>
    <p:sldId id="379" r:id="rId33"/>
    <p:sldId id="415" r:id="rId34"/>
    <p:sldId id="380" r:id="rId35"/>
    <p:sldId id="381" r:id="rId36"/>
    <p:sldId id="382" r:id="rId37"/>
    <p:sldId id="407" r:id="rId38"/>
    <p:sldId id="384" r:id="rId39"/>
    <p:sldId id="385" r:id="rId40"/>
    <p:sldId id="394" r:id="rId41"/>
    <p:sldId id="386" r:id="rId42"/>
    <p:sldId id="398" r:id="rId43"/>
    <p:sldId id="397" r:id="rId44"/>
    <p:sldId id="389" r:id="rId45"/>
    <p:sldId id="390" r:id="rId46"/>
    <p:sldId id="391" r:id="rId47"/>
    <p:sldId id="401" r:id="rId48"/>
    <p:sldId id="387" r:id="rId49"/>
    <p:sldId id="392" r:id="rId50"/>
    <p:sldId id="302" r:id="rId51"/>
    <p:sldId id="304" r:id="rId52"/>
    <p:sldId id="331" r:id="rId5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92" autoAdjust="0"/>
    <p:restoredTop sz="76186" autoAdjust="0"/>
  </p:normalViewPr>
  <p:slideViewPr>
    <p:cSldViewPr snapToGrid="0">
      <p:cViewPr varScale="1">
        <p:scale>
          <a:sx n="67" d="100"/>
          <a:sy n="67" d="100"/>
        </p:scale>
        <p:origin x="38" y="25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69E22-2D86-4898-BEB6-3C69E4421720}" type="datetimeFigureOut">
              <a:rPr lang="zh-CN" altLang="en-US" smtClean="0"/>
              <a:t>2026/3/6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9C07E-9D0A-4CD0-9B02-99F661E0B0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92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CC61288-EA9C-4888-A440-D27B6FA891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72A186F-1ED5-4264-9171-F1352E6C5D7B}" type="slidenum">
              <a:rPr lang="en-US" altLang="zh-CN">
                <a:latin typeface="Times New Roman" panose="02020603050405020304" pitchFamily="18" charset="0"/>
              </a:rPr>
              <a:pPr/>
              <a:t>1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1A3CCE9-8101-4859-9CFE-16D757AECE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CF32E8DD-EFC6-4CC1-A0E6-3734D0A3E2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2DDC879-EA1E-49A0-8F7A-F9C81E9025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5205EB6-EF08-441E-8C59-F16F9D2E7F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CEC5EEA-119D-4A59-93E5-E1F02C475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222FB155-683B-4039-B905-50B047245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8F35C52-F129-4593-9F39-38B2E995F5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C7EADF0-D96F-45DA-9E39-3E7D6FD32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6E9365F-D3AE-4312-A495-BA3F031F70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239CDC3-2C71-424A-AAEC-A6F4077B83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EC2280B-63C6-45FF-80D7-90E80955E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EE2FA9F-1713-4B1B-9F6B-61489BEC5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9131807-52E7-4C82-8953-D56BE7A0B2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BDA92F69-666C-43CA-831B-32C280AE1E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A445284-1238-4CAE-9C64-22BA3F9DBD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F98A3FEF-127C-41C0-8D1D-AD3B10C973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989E808-F7C1-4698-AA1F-B979FE425D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9771845A-86FA-422E-98A4-CFDD01478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6C94F86-1C96-47F8-8BDD-E362D488BE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F4E2EAC0-E483-48F8-8057-86DF72211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E847214A-3A73-4F49-A024-77D77F2A32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BBB0341-C107-4D8D-A5C1-7F0D8606B9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517003A5-9589-4E65-BD08-DE6276C94D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692722CA-9E57-44B3-A57A-6CB119AACB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954B7AC-5261-408D-90E1-366A0B26B8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AB5A4D8-7572-43C3-B18C-C6E2FF81D6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1600FFA-0292-432B-A9C4-98EC579A1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958D7BD-7772-40F9-9540-54C488FC3D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D570942-D85A-409C-BBFA-67183B976A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CD12A35-DCD8-4E3F-9F74-AD321307B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91600FFA-0292-432B-A9C4-98EC579A1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958D7BD-7772-40F9-9540-54C488FC3D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0525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CA000BE-9BE2-4087-9E4E-754C564D6B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8CD2881B-2D39-4A66-9CF7-15F072D5AD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0F3C3B1-F2B4-48B4-B321-F2EB6A498A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B8D4DCA-858F-4E4D-B4B6-8F942913CE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D47FCD19-D3A6-455A-85BF-E206520731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B2D5ADA4-83AE-43FD-B97D-F49076E0C4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F60A5732-41AA-44B7-8EDE-FC3DA5AA73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C35B922-BE09-476A-85FF-F405AFEF03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3C18CBA6-5A8C-46FA-8B58-116DC61151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B9CC6FE8-03A3-40E6-8951-CB52B3C88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F02CDAF-6F2E-4F89-86E6-6B5F3B5E8C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76A8E89-252F-43D6-B3CD-2E596E8C40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4F02CDAF-6F2E-4F89-86E6-6B5F3B5E8C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E76A8E89-252F-43D6-B3CD-2E596E8C40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96705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77BE11AC-2671-4F9E-8D4C-D00EA9EB78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47DB987E-7B38-4AB1-B92E-BB5B7279DA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39182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5E3D7800-70E8-4713-BDC2-3BE89E2723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29470C6-7A56-4B70-9196-26EAD4C80E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FA41CDBC-3789-4613-A26C-C66967306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9C0178B-E640-475F-9BC0-2231D7E4D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FA41CDBC-3789-4613-A26C-C66967306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9C0178B-E640-475F-9BC0-2231D7E4D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5675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6ED9BEC5-E2A6-42D4-8978-11E3250AB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360B4F68-CF9E-448E-ADCF-CD76DA34A9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765FB649-ECBF-43A2-B8BB-D39A00E214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5D6607C8-32A1-455E-8075-683F08B69F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1800C369-C2A7-4180-B696-412407B61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0C71246-2192-4A84-8446-A0E3480A0D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0026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1800C369-C2A7-4180-B696-412407B61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0C71246-2192-4A84-8446-A0E3480A0D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9753E86E-9A57-4479-AC0A-EDCC20E563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F54CBAA4-0C72-4BC3-B030-E4F40AAE22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078B6727-F00D-41CA-B0D3-E99B0FE424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705DF657-88B9-4B8A-968E-7B2021FBE3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1DBE4AA4-5966-4AF9-864E-2BB3DD69E5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F81DC201-2745-43E3-96D8-0E326E3B17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EE5BF102-698E-41B8-9EE9-B871668BB0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F20DDF4-85F9-4767-8483-F2A910391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9FEE9D29-1319-46AD-A56D-6D2EF06B39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2E088A3D-9A61-4D6B-8CB7-3E8B5DB656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91924EDA-E9E4-4624-A516-53D87D4A22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C070721B-2FD7-4BA3-B3C5-DCF23320FF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96ADED37-E619-494D-80E7-993B51F6ED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93824D2B-A2B9-420B-A9D7-B4BE77DFDF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98D8056A-2A7E-415F-84B7-E05976AE62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12D8587F-674B-43B1-A438-C4B926FF8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7D3E06FD-8DD9-4AF0-97FE-CE8E573A9B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5AFF0D68-C65B-4952-B428-5DC2AFC609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9E2BED3-2A68-4C43-B0BE-B4837C1793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42900" y="696913"/>
            <a:ext cx="6197600" cy="3486150"/>
          </a:xfrm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E484038F-1ABC-4C2A-9A59-0E0B74349D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975" y="4416425"/>
            <a:ext cx="550545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438" tIns="46219" rIns="92438" bIns="46219" anchor="t"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78137A77-5F26-4DEE-9A3E-430E63FCBC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A1F3F3-1665-4900-AAA8-810AB8950882}" type="slidenum">
              <a:rPr lang="en-US" altLang="zh-CN">
                <a:latin typeface="Times New Roman" panose="02020603050405020304" pitchFamily="18" charset="0"/>
              </a:rPr>
              <a:pPr/>
              <a:t>52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84D8CF55-AFCB-40DD-96F5-CF5C8D9A54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854A7D7F-EE1A-4FE0-B0E4-E55D6207E7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64584" y="2960688"/>
            <a:ext cx="114808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1800">
                <a:solidFill>
                  <a:srgbClr val="000000"/>
                </a:solidFill>
              </a:endParaRPr>
            </a:p>
          </p:txBody>
        </p:sp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35984" y="6613526"/>
            <a:ext cx="2659692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sz="1000" b="1">
                <a:solidFill>
                  <a:srgbClr val="336699"/>
                </a:solidFill>
                <a:ea typeface="MS PGothic" panose="020B0600070205080204" pitchFamily="34" charset="-128"/>
              </a:rPr>
              <a:t>Operating System Concepts – 9</a:t>
            </a:r>
            <a:r>
              <a:rPr lang="en-US" sz="1000" b="1" baseline="30000">
                <a:solidFill>
                  <a:srgbClr val="336699"/>
                </a:solidFill>
                <a:ea typeface="MS PGothic" panose="020B0600070205080204" pitchFamily="34" charset="-128"/>
              </a:rPr>
              <a:t>th</a:t>
            </a:r>
            <a:r>
              <a:rPr lang="en-US" sz="1000" b="1">
                <a:solidFill>
                  <a:srgbClr val="336699"/>
                </a:solidFill>
                <a:ea typeface="MS PGothic" panose="020B0600070205080204" pitchFamily="34" charset="-128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0984" y="4157663"/>
            <a:ext cx="2749549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4298951" y="4006850"/>
            <a:ext cx="3115733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37FDAE40-37DC-4D88-B117-D96496E36F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18450" y="6611937"/>
            <a:ext cx="4273550" cy="246217"/>
          </a:xfrm>
          <a:prstGeom prst="rect">
            <a:avLst/>
          </a:prstGeom>
          <a:noFill/>
          <a:ln>
            <a:noFill/>
          </a:ln>
        </p:spPr>
        <p:txBody>
          <a:bodyPr wrap="square" lIns="91435" tIns="45718" rIns="91435" bIns="4571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sz="1000" b="1" dirty="0" err="1">
                <a:solidFill>
                  <a:srgbClr val="336699"/>
                </a:solidFill>
                <a:latin typeface="Helvetica" pitchFamily="-84" charset="0"/>
              </a:rPr>
              <a:t>Xidian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 University,</a:t>
            </a:r>
            <a:r>
              <a:rPr lang="en-US" sz="1000" b="1" baseline="0" dirty="0">
                <a:solidFill>
                  <a:srgbClr val="336699"/>
                </a:solidFill>
                <a:latin typeface="Helvetica" pitchFamily="-84" charset="0"/>
              </a:rPr>
              <a:t> Cyber Engineering, Wang </a:t>
            </a:r>
            <a:r>
              <a:rPr lang="en-US" sz="1000" b="1" baseline="0" dirty="0" err="1">
                <a:solidFill>
                  <a:srgbClr val="336699"/>
                </a:solidFill>
                <a:latin typeface="Helvetica" pitchFamily="-84" charset="0"/>
              </a:rPr>
              <a:t>Xiangyu</a:t>
            </a:r>
            <a:r>
              <a:rPr lang="en-US" sz="1000" b="1" dirty="0">
                <a:solidFill>
                  <a:srgbClr val="336699"/>
                </a:solidFill>
                <a:latin typeface="Helvetica" pitchFamily="-84" charset="0"/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1647530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1313" indent="-341313">
              <a:buFont typeface="Wingdings" panose="05000000000000000000" pitchFamily="2" charset="2"/>
              <a:buChar char="p"/>
              <a:defRPr/>
            </a:lvl1pPr>
            <a:lvl2pPr marL="741363" indent="-284163">
              <a:buFont typeface="Wingdings" panose="05000000000000000000" pitchFamily="2" charset="2"/>
              <a:buChar char="n"/>
              <a:defRPr/>
            </a:lvl2pPr>
            <a:lvl3pPr marL="1084263" indent="-227013">
              <a:buFont typeface="Wingdings" panose="05000000000000000000" pitchFamily="2" charset="2"/>
              <a:buChar char="Ø"/>
              <a:defRPr/>
            </a:lvl3pPr>
            <a:lvl4pPr marL="1427163" indent="-227013">
              <a:buFont typeface="Wingdings" panose="05000000000000000000" pitchFamily="2" charset="2"/>
              <a:buChar char="ü"/>
              <a:defRPr/>
            </a:lvl4pPr>
            <a:lvl5pPr marL="1770063" indent="-227013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215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7" indent="0">
              <a:buNone/>
              <a:defRPr sz="1800"/>
            </a:lvl2pPr>
            <a:lvl3pPr marL="914354" indent="0">
              <a:buNone/>
              <a:defRPr sz="1600"/>
            </a:lvl3pPr>
            <a:lvl4pPr marL="1371532" indent="0">
              <a:buNone/>
              <a:defRPr sz="1400"/>
            </a:lvl4pPr>
            <a:lvl5pPr marL="1828709" indent="0">
              <a:buNone/>
              <a:defRPr sz="1400"/>
            </a:lvl5pPr>
            <a:lvl6pPr marL="2285886" indent="0">
              <a:buNone/>
              <a:defRPr sz="1400"/>
            </a:lvl6pPr>
            <a:lvl7pPr marL="2743063" indent="0">
              <a:buNone/>
              <a:defRPr sz="1400"/>
            </a:lvl7pPr>
            <a:lvl8pPr marL="3200240" indent="0">
              <a:buNone/>
              <a:defRPr sz="1400"/>
            </a:lvl8pPr>
            <a:lvl9pPr marL="3657417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4304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5267" y="1233490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90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08155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7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3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7528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1986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00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6015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3" indent="0">
              <a:buNone/>
              <a:defRPr sz="2000"/>
            </a:lvl7pPr>
            <a:lvl8pPr marL="3200240" indent="0">
              <a:buNone/>
              <a:defRPr sz="2000"/>
            </a:lvl8pPr>
            <a:lvl9pPr marL="3657417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4" indent="0">
              <a:buNone/>
              <a:defRPr sz="10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3" indent="0">
              <a:buNone/>
              <a:defRPr sz="900"/>
            </a:lvl7pPr>
            <a:lvl8pPr marL="3200240" indent="0">
              <a:buNone/>
              <a:defRPr sz="900"/>
            </a:lvl8pPr>
            <a:lvl9pPr marL="3657417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515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9312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88451" y="277813"/>
            <a:ext cx="285961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375651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6154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5"/>
            <a:ext cx="10972800" cy="5762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75267" y="123349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3267" y="1233491"/>
            <a:ext cx="53848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0972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0"/>
            <a:ext cx="1593851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5267" y="1233489"/>
            <a:ext cx="109728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09600" y="860425"/>
            <a:ext cx="107696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 lIns="91435" tIns="45718" rIns="91435" bIns="45718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1800">
              <a:solidFill>
                <a:srgbClr val="000000"/>
              </a:solidFill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3048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3048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lIns="91435" tIns="45718" rIns="91435" bIns="45718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5749461" y="6613526"/>
            <a:ext cx="447548" cy="246217"/>
          </a:xfrm>
          <a:prstGeom prst="rect">
            <a:avLst/>
          </a:prstGeom>
          <a:noFill/>
          <a:ln>
            <a:noFill/>
          </a:ln>
        </p:spPr>
        <p:txBody>
          <a:bodyPr wrap="none" lIns="91435" tIns="45718" rIns="91435" bIns="45718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zh-CN" sz="1000" b="1">
                <a:solidFill>
                  <a:srgbClr val="006699"/>
                </a:solidFill>
                <a:latin typeface="Helvetica" panose="020B0604020202020204" pitchFamily="34" charset="0"/>
              </a:rPr>
              <a:t>5.</a:t>
            </a:r>
            <a:fld id="{08C61524-A86C-4EEA-897F-D0BC5AB60DA3}" type="slidenum">
              <a:rPr lang="en-US" altLang="zh-CN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 eaLnBrk="0" fontAlgn="base" hangingPunct="0">
                <a:spcBef>
                  <a:spcPct val="50000"/>
                </a:spcBef>
                <a:spcAft>
                  <a:spcPct val="0"/>
                </a:spcAft>
              </a:pPr>
              <a:t>‹#›</a:t>
            </a:fld>
            <a:endParaRPr lang="en-US" altLang="zh-CN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5318" y="5849938"/>
            <a:ext cx="171238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7794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MS PGothic" charset="0"/>
        </a:defRPr>
      </a:lvl5pPr>
      <a:lvl6pPr marL="457177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354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532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709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1313" indent="-341313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Wingdings" panose="05000000000000000000" pitchFamily="2" charset="2"/>
        <a:buChar char="p"/>
        <a:defRPr kumimoji="1"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1363" indent="-284163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Wingdings" panose="05000000000000000000" pitchFamily="2" charset="2"/>
        <a:buChar char="n"/>
        <a:defRPr kumimoji="1"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marL="1084263" indent="-227013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Ø"/>
        <a:defRPr kumimoji="1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marL="1427163" indent="-227013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ü"/>
        <a:defRPr kumimoji="1" sz="16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marL="1770063" indent="-227013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Font typeface="Arial" panose="020B0604020202020204" pitchFamily="34" charset="0"/>
        <a:buChar char="•"/>
        <a:defRPr kumimoji="1" sz="16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2228738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5915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093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270" indent="-228589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4571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freshmeat.net/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" TargetMode="External"/><Relationship Id="rId4" Type="http://schemas.openxmlformats.org/officeDocument/2006/relationships/hyperlink" Target="http://sourceforge.net/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0D2832C-6D4B-4291-B505-BD7CAA12421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66900" y="1465232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第一章  导论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31D2EB0-46E9-458A-A67E-7557AB92277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第一章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导论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F590084-F9EC-4256-AAAA-FDB5613BB15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操作系统定义与功能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计算机系统的组成与运行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操作系统的结构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操作系统的执行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5E1DBD-7D4D-45FD-A35C-33F1E7585085}"/>
              </a:ext>
            </a:extLst>
          </p:cNvPr>
          <p:cNvSpPr/>
          <p:nvPr/>
        </p:nvSpPr>
        <p:spPr>
          <a:xfrm>
            <a:off x="6927272" y="1115954"/>
            <a:ext cx="6096000" cy="4648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marL="341313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内存管理</a:t>
            </a:r>
            <a:endParaRPr kumimoji="1"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1313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  <a:endParaRPr kumimoji="1"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1313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保护与安全</a:t>
            </a:r>
            <a:endParaRPr kumimoji="1"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1313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计算环境</a:t>
            </a:r>
            <a:endParaRPr kumimoji="1"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1313" indent="-34131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开源操作系统</a:t>
            </a:r>
            <a:endParaRPr kumimoji="1"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648373A-AFF7-4CDC-972C-C32AA466DAA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65400" y="182563"/>
            <a:ext cx="7645400" cy="576262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dirty="0"/>
              <a:t>操作系统定义与功能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A2819CF-8647-434E-AE20-B8F889B1FF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23094" y="1038658"/>
            <a:ext cx="11530011" cy="448310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计算机系统可以大致分为四个组件：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为系统提供基本的</a:t>
            </a:r>
            <a:r>
              <a:rPr lang="zh-CN" altLang="en-US" sz="2400" b="0" dirty="0"/>
              <a:t>计算、存储资源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中央处理单元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(CPU)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 内存，输入／输出设备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在各种应用程序和用户之间控制和协调硬件的使用</a:t>
            </a:r>
            <a:endParaRPr lang="en-US" altLang="zh-CN" sz="2400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  <a:r>
              <a:rPr lang="en-US" altLang="zh-CN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24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规定了用户为解决计算问题而使用这些资源的方式</a:t>
            </a:r>
            <a:endParaRPr lang="en-US" altLang="zh-CN" sz="24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/>
              <a:t>文字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处理程序，编译器， 网络浏览器，数据库系统，电子游戏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人、机器、其他计算机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  <a:spcBef>
                <a:spcPts val="300"/>
              </a:spcBef>
            </a:pP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1BF8F87-198A-4B15-AF36-F19C547010C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8550" y="120651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 sz="2800"/>
              <a:t>计算机系统的四个组成部分</a:t>
            </a:r>
            <a:endParaRPr lang="en-US" altLang="zh-CN" sz="2800"/>
          </a:p>
        </p:txBody>
      </p:sp>
      <p:grpSp>
        <p:nvGrpSpPr>
          <p:cNvPr id="15363" name="组合 7">
            <a:extLst>
              <a:ext uri="{FF2B5EF4-FFF2-40B4-BE49-F238E27FC236}">
                <a16:creationId xmlns:a16="http://schemas.microsoft.com/office/drawing/2014/main" id="{D8704A33-8A69-4162-8687-2889E4564EBF}"/>
              </a:ext>
            </a:extLst>
          </p:cNvPr>
          <p:cNvGrpSpPr>
            <a:grpSpLocks/>
          </p:cNvGrpSpPr>
          <p:nvPr/>
        </p:nvGrpSpPr>
        <p:grpSpPr bwMode="auto">
          <a:xfrm>
            <a:off x="2251363" y="1265528"/>
            <a:ext cx="7517823" cy="4989800"/>
            <a:chOff x="1952625" y="1533525"/>
            <a:chExt cx="5448300" cy="4340225"/>
          </a:xfrm>
        </p:grpSpPr>
        <p:pic>
          <p:nvPicPr>
            <p:cNvPr id="15364" name="Picture 4">
              <a:extLst>
                <a:ext uri="{FF2B5EF4-FFF2-40B4-BE49-F238E27FC236}">
                  <a16:creationId xmlns:a16="http://schemas.microsoft.com/office/drawing/2014/main" id="{EA31472E-BF9B-4CBC-9CF7-1AE4B27E86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2625" y="1533525"/>
              <a:ext cx="5448300" cy="4340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C12BE8C-69E2-4F72-8212-0594928E0363}"/>
                </a:ext>
              </a:extLst>
            </p:cNvPr>
            <p:cNvSpPr/>
            <p:nvPr/>
          </p:nvSpPr>
          <p:spPr bwMode="auto">
            <a:xfrm>
              <a:off x="1952625" y="1533525"/>
              <a:ext cx="752475" cy="736600"/>
            </a:xfrm>
            <a:prstGeom prst="rect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178FEB0-14A3-4A8F-8178-3D2BAC9A2EA6}"/>
                </a:ext>
              </a:extLst>
            </p:cNvPr>
            <p:cNvSpPr/>
            <p:nvPr/>
          </p:nvSpPr>
          <p:spPr bwMode="auto">
            <a:xfrm>
              <a:off x="3125788" y="1533525"/>
              <a:ext cx="752475" cy="736600"/>
            </a:xfrm>
            <a:prstGeom prst="rect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DEFE6253-4C00-4A8C-91A1-6057F2B2142A}"/>
                </a:ext>
              </a:extLst>
            </p:cNvPr>
            <p:cNvSpPr/>
            <p:nvPr/>
          </p:nvSpPr>
          <p:spPr bwMode="auto">
            <a:xfrm>
              <a:off x="4298950" y="1533525"/>
              <a:ext cx="752475" cy="736600"/>
            </a:xfrm>
            <a:prstGeom prst="rect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1DB1951-B0D7-48A2-A355-7FE8339B7439}"/>
                </a:ext>
              </a:extLst>
            </p:cNvPr>
            <p:cNvSpPr/>
            <p:nvPr/>
          </p:nvSpPr>
          <p:spPr bwMode="auto">
            <a:xfrm>
              <a:off x="6630988" y="1533525"/>
              <a:ext cx="752475" cy="736600"/>
            </a:xfrm>
            <a:prstGeom prst="rect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用户</a:t>
              </a: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69" name="矩形 6">
              <a:extLst>
                <a:ext uri="{FF2B5EF4-FFF2-40B4-BE49-F238E27FC236}">
                  <a16:creationId xmlns:a16="http://schemas.microsoft.com/office/drawing/2014/main" id="{17ECAD4B-09C4-4960-A91C-DE42B3F42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060" y="3154680"/>
              <a:ext cx="752475" cy="419100"/>
            </a:xfrm>
            <a:prstGeom prst="rect">
              <a:avLst/>
            </a:prstGeom>
            <a:solidFill>
              <a:srgbClr val="C5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编译器</a:t>
              </a:r>
            </a:p>
          </p:txBody>
        </p:sp>
        <p:sp>
          <p:nvSpPr>
            <p:cNvPr id="15370" name="矩形 11">
              <a:extLst>
                <a:ext uri="{FF2B5EF4-FFF2-40B4-BE49-F238E27FC236}">
                  <a16:creationId xmlns:a16="http://schemas.microsoft.com/office/drawing/2014/main" id="{7F0235A6-1CEE-4B15-B56E-E0839DC35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6104" y="3154680"/>
              <a:ext cx="752475" cy="419100"/>
            </a:xfrm>
            <a:prstGeom prst="rect">
              <a:avLst/>
            </a:prstGeom>
            <a:solidFill>
              <a:srgbClr val="C5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汇编器</a:t>
              </a:r>
            </a:p>
          </p:txBody>
        </p:sp>
        <p:sp>
          <p:nvSpPr>
            <p:cNvPr id="15371" name="矩形 12">
              <a:extLst>
                <a:ext uri="{FF2B5EF4-FFF2-40B4-BE49-F238E27FC236}">
                  <a16:creationId xmlns:a16="http://schemas.microsoft.com/office/drawing/2014/main" id="{87E6231A-5DB5-483D-AD9D-827D57B58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1470" y="3154680"/>
              <a:ext cx="1123953" cy="419100"/>
            </a:xfrm>
            <a:prstGeom prst="rect">
              <a:avLst/>
            </a:prstGeom>
            <a:solidFill>
              <a:srgbClr val="C5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文本编译器</a:t>
              </a:r>
            </a:p>
          </p:txBody>
        </p:sp>
        <p:sp>
          <p:nvSpPr>
            <p:cNvPr id="15372" name="矩形 13">
              <a:extLst>
                <a:ext uri="{FF2B5EF4-FFF2-40B4-BE49-F238E27FC236}">
                  <a16:creationId xmlns:a16="http://schemas.microsoft.com/office/drawing/2014/main" id="{D6365E97-857C-4EE6-8DE6-6FA825110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5067" y="3154680"/>
              <a:ext cx="1128713" cy="419100"/>
            </a:xfrm>
            <a:prstGeom prst="rect">
              <a:avLst/>
            </a:prstGeom>
            <a:solidFill>
              <a:srgbClr val="C5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数据库系统</a:t>
              </a:r>
            </a:p>
          </p:txBody>
        </p:sp>
        <p:sp>
          <p:nvSpPr>
            <p:cNvPr id="15373" name="矩形 14">
              <a:extLst>
                <a:ext uri="{FF2B5EF4-FFF2-40B4-BE49-F238E27FC236}">
                  <a16:creationId xmlns:a16="http://schemas.microsoft.com/office/drawing/2014/main" id="{9839BBFB-4AF5-4231-A30A-94D60EC18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5211" y="3620294"/>
              <a:ext cx="2236470" cy="419100"/>
            </a:xfrm>
            <a:prstGeom prst="rect">
              <a:avLst/>
            </a:prstGeom>
            <a:solidFill>
              <a:srgbClr val="C5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系统程序与应用程序</a:t>
              </a:r>
            </a:p>
          </p:txBody>
        </p:sp>
        <p:sp>
          <p:nvSpPr>
            <p:cNvPr id="15374" name="矩形 15">
              <a:extLst>
                <a:ext uri="{FF2B5EF4-FFF2-40B4-BE49-F238E27FC236}">
                  <a16:creationId xmlns:a16="http://schemas.microsoft.com/office/drawing/2014/main" id="{674CA682-7029-445B-8846-16FF25680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6700" y="4248150"/>
              <a:ext cx="1188723" cy="419100"/>
            </a:xfrm>
            <a:prstGeom prst="rect">
              <a:avLst/>
            </a:prstGeom>
            <a:solidFill>
              <a:srgbClr val="C5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 操作系统</a:t>
              </a:r>
            </a:p>
          </p:txBody>
        </p:sp>
        <p:sp>
          <p:nvSpPr>
            <p:cNvPr id="15375" name="矩形 16">
              <a:extLst>
                <a:ext uri="{FF2B5EF4-FFF2-40B4-BE49-F238E27FC236}">
                  <a16:creationId xmlns:a16="http://schemas.microsoft.com/office/drawing/2014/main" id="{6807C612-C644-46BD-BA30-B8BAB5664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551" y="5114925"/>
              <a:ext cx="1329689" cy="419100"/>
            </a:xfrm>
            <a:prstGeom prst="rect">
              <a:avLst/>
            </a:prstGeom>
            <a:solidFill>
              <a:srgbClr val="C5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 计算机硬件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7BDF4EF-81CA-42C9-BADD-AC9DF23848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87614" y="198438"/>
            <a:ext cx="7723187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操作系统简介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646FF39-35F8-4A63-A190-D9C8C56048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62278" y="1164504"/>
            <a:ext cx="9610867" cy="415925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充当计算机用户和计算机硬件之间中介的程序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  <a:r>
              <a:rPr lang="zh-CN" altLang="en-US" sz="2800" dirty="0"/>
              <a:t>功能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执行用户程序，解决用户问题更便捷</a:t>
            </a:r>
          </a:p>
          <a:p>
            <a:pPr lvl="1">
              <a:lnSpc>
                <a:spcPct val="200000"/>
              </a:lnSpc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使计算机系统使用方便</a:t>
            </a:r>
          </a:p>
          <a:p>
            <a:pPr lvl="1">
              <a:lnSpc>
                <a:spcPct val="200000"/>
              </a:lnSpc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以有效的方式使用计算机硬件</a:t>
            </a:r>
            <a:endParaRPr lang="en-US" altLang="zh-CN" sz="28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E6083CED-AA61-4E0F-8150-AF9E86DA4D4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06663" y="227013"/>
            <a:ext cx="7510462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操作系统的定义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6261234-449C-4C01-9896-40AA179E30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0053" y="1035628"/>
            <a:ext cx="10817656" cy="50768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资源分配器</a:t>
            </a:r>
            <a:endParaRPr lang="en-US" altLang="zh-CN" sz="2400" b="1" dirty="0">
              <a:solidFill>
                <a:srgbClr val="3366FF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管理所有资源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(CPU</a:t>
            </a:r>
            <a:r>
              <a:rPr lang="en-US" altLang="zh-CN" sz="2400" dirty="0"/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、存储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外存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、输入输出、网络等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在对有效且公平地使用资源与冲突请求之间做出决定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操作系统是一个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控制程序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控制程序的执行，以防止计算机的错误或不当使用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8A3706F2-DBA4-425F-8B1D-BC10391B55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操作系统功能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AE3CADD3-97DB-4F99-A653-29398FD8E799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26340" y="1046452"/>
            <a:ext cx="10775951" cy="53889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取决于不同使用者的使用角度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基本需求是为用户需要方便、易用和良好的</a:t>
            </a:r>
            <a:r>
              <a:rPr lang="zh-CN" altLang="en-US" b="0" dirty="0"/>
              <a:t>服务和管理各类资源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大型机或小型机等共享计算机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必须让所有用户满意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工作站等专用系统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的用户不但可以使用专用资源， 而且可以使用来自服务器的共享资源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手持电脑</a:t>
            </a: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资源匮乏，针对可用性和电池寿命进行了优化</a:t>
            </a:r>
            <a:endParaRPr lang="en-US" altLang="zh-CN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有的计算机几乎没有或根本没有用户界面。 例如， 家电和汽车使用的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嵌入式计算机</a:t>
            </a:r>
            <a:endParaRPr lang="en-US" altLang="zh-CN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:a16="http://schemas.microsoft.com/office/drawing/2014/main" id="{FDF9F22C-FC05-465F-ABAD-05AEC77833F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67473" y="1063337"/>
            <a:ext cx="10817945" cy="454501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没有被广泛接受的定义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“操作系统是一直运行在计算机上的程序”，通常称为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除此之外的其它程序： </a:t>
            </a:r>
            <a:endParaRPr lang="en-US" altLang="ja-JP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系统程序 </a:t>
            </a:r>
            <a:r>
              <a:rPr lang="en-US" altLang="ja-JP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随操作系统一起提供）</a:t>
            </a:r>
            <a:endParaRPr lang="en-US" altLang="ja-JP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应用程序</a:t>
            </a:r>
            <a:endParaRPr lang="en-US" altLang="zh-CN" sz="28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45B38FB-2DCF-4DA5-AB48-5D004E9B8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6663" y="227013"/>
            <a:ext cx="7510462" cy="576262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操作系统的定义（续）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2932158-1DEC-4679-A5CE-6B262FEA9A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计算机系统的组成与运行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CC6FCDE-0152-4981-BE86-DFC378FB13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46402" y="1163637"/>
            <a:ext cx="4874201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计算机系统的</a:t>
            </a:r>
            <a:r>
              <a:rPr lang="zh-CN" altLang="en-US" sz="2800" dirty="0"/>
              <a:t>组成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一个或多个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和若干设备控制器， 通过公用总线相连而成，该总线提供了共享内存的访问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580" name="组合 1">
            <a:extLst>
              <a:ext uri="{FF2B5EF4-FFF2-40B4-BE49-F238E27FC236}">
                <a16:creationId xmlns:a16="http://schemas.microsoft.com/office/drawing/2014/main" id="{EC0DCDDE-2F86-460A-962B-4A3DC1EB626C}"/>
              </a:ext>
            </a:extLst>
          </p:cNvPr>
          <p:cNvGrpSpPr>
            <a:grpSpLocks/>
          </p:cNvGrpSpPr>
          <p:nvPr/>
        </p:nvGrpSpPr>
        <p:grpSpPr bwMode="auto">
          <a:xfrm>
            <a:off x="5626322" y="2121196"/>
            <a:ext cx="6149975" cy="3068638"/>
            <a:chOff x="1785938" y="2889403"/>
            <a:chExt cx="6149021" cy="3068485"/>
          </a:xfrm>
        </p:grpSpPr>
        <p:pic>
          <p:nvPicPr>
            <p:cNvPr id="24581" name="Picture 5">
              <a:extLst>
                <a:ext uri="{FF2B5EF4-FFF2-40B4-BE49-F238E27FC236}">
                  <a16:creationId xmlns:a16="http://schemas.microsoft.com/office/drawing/2014/main" id="{0C0CF1C9-55A7-48EB-B7E6-8D6174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85938" y="2963863"/>
              <a:ext cx="6059487" cy="2994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F0E8A97-652F-471A-A77D-3E803FB4EBAB}"/>
                </a:ext>
              </a:extLst>
            </p:cNvPr>
            <p:cNvSpPr/>
            <p:nvPr/>
          </p:nvSpPr>
          <p:spPr bwMode="auto">
            <a:xfrm>
              <a:off x="1785938" y="4237124"/>
              <a:ext cx="1120601" cy="482576"/>
            </a:xfrm>
            <a:prstGeom prst="rect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中央处理器</a:t>
              </a: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D3DB1EA-B74D-4C5C-A92A-F921534398C2}"/>
                </a:ext>
              </a:extLst>
            </p:cNvPr>
            <p:cNvSpPr/>
            <p:nvPr/>
          </p:nvSpPr>
          <p:spPr bwMode="auto">
            <a:xfrm>
              <a:off x="3157325" y="4237124"/>
              <a:ext cx="1139648" cy="482576"/>
            </a:xfrm>
            <a:prstGeom prst="rect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磁盘控制器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FF225CE-1B29-41AC-9AC1-D1DFD1128E23}"/>
                </a:ext>
              </a:extLst>
            </p:cNvPr>
            <p:cNvSpPr/>
            <p:nvPr/>
          </p:nvSpPr>
          <p:spPr bwMode="auto">
            <a:xfrm>
              <a:off x="4677914" y="4219662"/>
              <a:ext cx="1966608" cy="482576"/>
            </a:xfrm>
            <a:prstGeom prst="rect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USB</a:t>
              </a: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控制器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FBCCFE1-EFD6-4FEC-ACFB-FCFBB1D6A322}"/>
                </a:ext>
              </a:extLst>
            </p:cNvPr>
            <p:cNvSpPr/>
            <p:nvPr/>
          </p:nvSpPr>
          <p:spPr bwMode="auto">
            <a:xfrm>
              <a:off x="6808009" y="4216487"/>
              <a:ext cx="1126950" cy="482576"/>
            </a:xfrm>
            <a:prstGeom prst="rect">
              <a:avLst/>
            </a:prstGeom>
            <a:solidFill>
              <a:schemeClr val="accent3">
                <a:lumMod val="6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图形适配器</a:t>
              </a:r>
            </a:p>
          </p:txBody>
        </p:sp>
        <p:sp>
          <p:nvSpPr>
            <p:cNvPr id="24586" name="矩形 8">
              <a:extLst>
                <a:ext uri="{FF2B5EF4-FFF2-40B4-BE49-F238E27FC236}">
                  <a16:creationId xmlns:a16="http://schemas.microsoft.com/office/drawing/2014/main" id="{BFB5FF92-94A3-4D80-A3C2-71A2A3EDF4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7459" y="5431473"/>
              <a:ext cx="1139586" cy="482600"/>
            </a:xfrm>
            <a:prstGeom prst="rect">
              <a:avLst/>
            </a:prstGeom>
            <a:solidFill>
              <a:srgbClr val="CCEC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内存</a:t>
              </a:r>
            </a:p>
          </p:txBody>
        </p:sp>
        <p:sp>
          <p:nvSpPr>
            <p:cNvPr id="24587" name="矩形 9">
              <a:extLst>
                <a:ext uri="{FF2B5EF4-FFF2-40B4-BE49-F238E27FC236}">
                  <a16:creationId xmlns:a16="http://schemas.microsoft.com/office/drawing/2014/main" id="{0B39C3CB-ADF7-4C72-87C3-72270D0C4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7538" y="3153411"/>
              <a:ext cx="1139586" cy="2727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磁盘</a:t>
              </a:r>
            </a:p>
          </p:txBody>
        </p:sp>
        <p:sp>
          <p:nvSpPr>
            <p:cNvPr id="24588" name="矩形 10">
              <a:extLst>
                <a:ext uri="{FF2B5EF4-FFF2-40B4-BE49-F238E27FC236}">
                  <a16:creationId xmlns:a16="http://schemas.microsoft.com/office/drawing/2014/main" id="{261165F9-2B32-4439-80AF-25D4E1E1EB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4636" y="2947991"/>
              <a:ext cx="1139586" cy="2727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鼠标</a:t>
              </a:r>
            </a:p>
          </p:txBody>
        </p:sp>
        <p:sp>
          <p:nvSpPr>
            <p:cNvPr id="24589" name="矩形 11">
              <a:extLst>
                <a:ext uri="{FF2B5EF4-FFF2-40B4-BE49-F238E27FC236}">
                  <a16:creationId xmlns:a16="http://schemas.microsoft.com/office/drawing/2014/main" id="{4ACCD002-90EB-4B4F-BC03-EB0312666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9840" y="3011804"/>
              <a:ext cx="835344" cy="270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 键盘</a:t>
              </a:r>
            </a:p>
          </p:txBody>
        </p:sp>
        <p:sp>
          <p:nvSpPr>
            <p:cNvPr id="24590" name="矩形 12">
              <a:extLst>
                <a:ext uri="{FF2B5EF4-FFF2-40B4-BE49-F238E27FC236}">
                  <a16:creationId xmlns:a16="http://schemas.microsoft.com/office/drawing/2014/main" id="{CB7EF9AC-5F15-431F-AAE8-99E5A10C2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9458" y="2949730"/>
              <a:ext cx="1139586" cy="2727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打印机</a:t>
              </a:r>
            </a:p>
          </p:txBody>
        </p:sp>
        <p:sp>
          <p:nvSpPr>
            <p:cNvPr id="24591" name="矩形 13">
              <a:extLst>
                <a:ext uri="{FF2B5EF4-FFF2-40B4-BE49-F238E27FC236}">
                  <a16:creationId xmlns:a16="http://schemas.microsoft.com/office/drawing/2014/main" id="{B7D717FB-84A3-438F-8A35-1F4FC2DF1F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67565" y="2889403"/>
              <a:ext cx="1067394" cy="2709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  显示器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45CB586-CDC8-497F-BCD2-BEF9FBD888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计算机系统的运行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A24AC9A8-46F5-42BC-BEC1-2B2E6CDC70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18606" y="1042104"/>
            <a:ext cx="10843291" cy="5124780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并发运行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设备控制器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负责一个特定的设备类型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设备控制器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都有一个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局部缓存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dirty="0">
                <a:solidFill>
                  <a:srgbClr val="FF0000"/>
                </a:solidFill>
              </a:rPr>
              <a:t>局部缓存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交换数据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I/O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是从</a:t>
            </a:r>
            <a:r>
              <a:rPr lang="zh-CN" altLang="en-US" dirty="0">
                <a:solidFill>
                  <a:srgbClr val="FF0000"/>
                </a:solidFill>
              </a:rPr>
              <a:t>设备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en-US" dirty="0">
                <a:solidFill>
                  <a:srgbClr val="FF0000"/>
                </a:solidFill>
              </a:rPr>
              <a:t>设备控制器的局部缓存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设备控制器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通过引发</a:t>
            </a:r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</a:t>
            </a:r>
            <a:r>
              <a:rPr lang="en-US" altLang="zh-CN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(Interrupt)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通知</a:t>
            </a:r>
            <a:r>
              <a:rPr lang="en-US" altLang="zh-CN" dirty="0">
                <a:solidFill>
                  <a:srgbClr val="FF0000"/>
                </a:solidFill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操作已完成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233FE42B-C64B-47AE-8179-94789D25D2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19350" y="166688"/>
            <a:ext cx="7791450" cy="576262"/>
          </a:xfrm>
        </p:spPr>
        <p:txBody>
          <a:bodyPr/>
          <a:lstStyle/>
          <a:p>
            <a:pPr eaLnBrk="1" hangingPunct="1"/>
            <a:r>
              <a:rPr lang="zh-CN" altLang="en-US" dirty="0"/>
              <a:t>计算机系统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的执行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B35B4F27-870A-4A53-9894-77EAD71035B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16811" y="1115772"/>
            <a:ext cx="11101115" cy="4938712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中断驱动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（硬件和软件）</a:t>
            </a: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其中一台设备的硬件中断</a:t>
            </a: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软件中断（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  <a:r>
              <a:rPr lang="en-US" altLang="zh-CN" sz="2400" b="1" dirty="0"/>
              <a:t>Exception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陷阱</a:t>
            </a:r>
            <a:r>
              <a:rPr lang="en-US" altLang="zh-CN" sz="2400" b="1" dirty="0"/>
              <a:t>Trap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软件错误（如除数为零）</a:t>
            </a:r>
          </a:p>
          <a:p>
            <a:pPr lvl="2"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请求执行操作系统的某个服务</a:t>
            </a:r>
          </a:p>
          <a:p>
            <a:pPr lvl="2"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其他进程问题包括陷入死循环、一个错误的程序可能修改另一程序甚至操作系统本身。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39C0D0E-4F84-4A2E-A874-41FFCADA2D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39433" y="166688"/>
            <a:ext cx="8860317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中断的常用功能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23665CC0-4E7E-49BF-AB84-12AF6E4FE0F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4158" y="1163637"/>
            <a:ext cx="10887740" cy="4530725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中断一般通过中断向量将控制权交给中断服务程序，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中断向量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包含所有服务程序的地址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中断架构必须保存被中断指令的地址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陷阱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是由错误或用户请求引起的软件生成的中断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中断驱动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50000"/>
              </a:lnSpc>
            </a:pPr>
            <a:endParaRPr lang="en-US" altLang="zh-CN" sz="800" i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55B3FFF-4400-425D-997A-B94A3FD1DD5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14313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中断时间表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D5A9EB-F001-4E92-A728-9B835B66E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009" y="1494734"/>
            <a:ext cx="8671122" cy="412988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405F9C0F-2687-4169-8A73-3C05D75EEA4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存储设备的层次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74F0DF0-10BB-4281-A77A-2CCA620B1C9C}"/>
              </a:ext>
            </a:extLst>
          </p:cNvPr>
          <p:cNvGrpSpPr/>
          <p:nvPr/>
        </p:nvGrpSpPr>
        <p:grpSpPr>
          <a:xfrm>
            <a:off x="3221553" y="1392866"/>
            <a:ext cx="5748894" cy="4931708"/>
            <a:chOff x="1238492" y="941749"/>
            <a:chExt cx="6493397" cy="5405032"/>
          </a:xfrm>
          <a:solidFill>
            <a:srgbClr val="ADE0FB"/>
          </a:solidFill>
        </p:grpSpPr>
        <p:pic>
          <p:nvPicPr>
            <p:cNvPr id="41987" name="Picture 3" descr="C:\Users\as668\Desktop\1_04.jpg">
              <a:extLst>
                <a:ext uri="{FF2B5EF4-FFF2-40B4-BE49-F238E27FC236}">
                  <a16:creationId xmlns:a16="http://schemas.microsoft.com/office/drawing/2014/main" id="{389D69C6-35F4-4D4A-80A8-02E5B3E075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238492" y="941749"/>
              <a:ext cx="6493397" cy="5405032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34D1BB94-740A-4F36-930A-8F9E703515A9}"/>
                </a:ext>
              </a:extLst>
            </p:cNvPr>
            <p:cNvSpPr/>
            <p:nvPr/>
          </p:nvSpPr>
          <p:spPr bwMode="auto">
            <a:xfrm>
              <a:off x="3553968" y="1078992"/>
              <a:ext cx="1719072" cy="26212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寄存器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22CBC5F-BB56-4F16-9A6B-274D1CF1E9B9}"/>
                </a:ext>
              </a:extLst>
            </p:cNvPr>
            <p:cNvSpPr/>
            <p:nvPr/>
          </p:nvSpPr>
          <p:spPr bwMode="auto">
            <a:xfrm>
              <a:off x="3236976" y="1658112"/>
              <a:ext cx="2273808" cy="30480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高速缓存</a:t>
              </a:r>
              <a:endParaRPr lang="zh-CN" altLang="en-US" sz="1600" dirty="0">
                <a:latin typeface="Verdana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7E32B1A-52A5-4F3B-A9B0-4EC8F9429E97}"/>
                </a:ext>
              </a:extLst>
            </p:cNvPr>
            <p:cNvSpPr/>
            <p:nvPr/>
          </p:nvSpPr>
          <p:spPr bwMode="auto">
            <a:xfrm>
              <a:off x="2993136" y="2328672"/>
              <a:ext cx="2724912" cy="362796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</a:t>
              </a:r>
              <a:endParaRPr lang="zh-CN" altLang="en-US" sz="1600" dirty="0">
                <a:latin typeface="Verdana" charset="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A5A37D16-712F-4D37-B171-4D3D3406F517}"/>
                </a:ext>
              </a:extLst>
            </p:cNvPr>
            <p:cNvSpPr/>
            <p:nvPr/>
          </p:nvSpPr>
          <p:spPr bwMode="auto">
            <a:xfrm>
              <a:off x="2615184" y="3066204"/>
              <a:ext cx="3438144" cy="463380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固态磁盘</a:t>
              </a:r>
              <a:endParaRPr lang="zh-CN" altLang="en-US" dirty="0">
                <a:latin typeface="Verdana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9A94247-ACBC-4A8F-A0B2-BAD684A0F096}"/>
                </a:ext>
              </a:extLst>
            </p:cNvPr>
            <p:cNvSpPr/>
            <p:nvPr/>
          </p:nvSpPr>
          <p:spPr bwMode="auto">
            <a:xfrm>
              <a:off x="2273808" y="3889078"/>
              <a:ext cx="4212336" cy="518329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硬盘</a:t>
              </a:r>
              <a:endParaRPr lang="zh-CN" altLang="en-US" dirty="0">
                <a:latin typeface="Verdana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01B014FA-4BBA-4AAE-90A6-5E73996EB660}"/>
                </a:ext>
              </a:extLst>
            </p:cNvPr>
            <p:cNvSpPr/>
            <p:nvPr/>
          </p:nvSpPr>
          <p:spPr bwMode="auto">
            <a:xfrm>
              <a:off x="1780032" y="4785443"/>
              <a:ext cx="5230368" cy="585133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光盘</a:t>
              </a:r>
              <a:endParaRPr lang="zh-CN" altLang="en-US" dirty="0">
                <a:latin typeface="Verdana" charset="0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1733F417-E83C-4398-A1D1-034DCE591140}"/>
                </a:ext>
              </a:extLst>
            </p:cNvPr>
            <p:cNvSpPr/>
            <p:nvPr/>
          </p:nvSpPr>
          <p:spPr bwMode="auto">
            <a:xfrm>
              <a:off x="1238492" y="5754709"/>
              <a:ext cx="6302260" cy="585134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 algn="ctr">
                <a:defRPr/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磁带</a:t>
              </a:r>
              <a:endParaRPr lang="zh-CN" altLang="en-US" dirty="0">
                <a:latin typeface="Verdana" charset="0"/>
              </a:endParaRPr>
            </a:p>
          </p:txBody>
        </p:sp>
      </p:grp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941F1ED-14AB-42BB-949C-79503799ED58}"/>
              </a:ext>
            </a:extLst>
          </p:cNvPr>
          <p:cNvCxnSpPr/>
          <p:nvPr/>
        </p:nvCxnSpPr>
        <p:spPr bwMode="auto">
          <a:xfrm flipV="1">
            <a:off x="1775638" y="2658335"/>
            <a:ext cx="0" cy="2052084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CD040D74-CCB3-40AF-955C-295B73F087F6}"/>
              </a:ext>
            </a:extLst>
          </p:cNvPr>
          <p:cNvSpPr/>
          <p:nvPr/>
        </p:nvSpPr>
        <p:spPr>
          <a:xfrm>
            <a:off x="1867379" y="2586686"/>
            <a:ext cx="1850064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速度、成本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逐渐增加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51AD711-4C26-496B-8F95-054123C52EBA}"/>
              </a:ext>
            </a:extLst>
          </p:cNvPr>
          <p:cNvGrpSpPr/>
          <p:nvPr/>
        </p:nvGrpSpPr>
        <p:grpSpPr>
          <a:xfrm>
            <a:off x="9693404" y="2549640"/>
            <a:ext cx="2043718" cy="2094992"/>
            <a:chOff x="9689805" y="2741819"/>
            <a:chExt cx="2043718" cy="2094992"/>
          </a:xfrm>
        </p:grpSpPr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9F24D019-5CC0-4DA8-9599-E6F54BF07AA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689805" y="2741819"/>
              <a:ext cx="0" cy="200539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FD9CCEA-6945-46F7-AD95-9E0F8B647BF7}"/>
                </a:ext>
              </a:extLst>
            </p:cNvPr>
            <p:cNvSpPr/>
            <p:nvPr/>
          </p:nvSpPr>
          <p:spPr>
            <a:xfrm>
              <a:off x="9883459" y="3962404"/>
              <a:ext cx="1850064" cy="874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>
                <a:lnSpc>
                  <a:spcPct val="150000"/>
                </a:lnSpc>
              </a:pPr>
              <a:r>
                <a:rPr lang="zh-CN" altLang="en-US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容量</a:t>
              </a:r>
              <a:endPara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lvl="1">
                <a:lnSpc>
                  <a:spcPct val="15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逐渐增加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3">
            <a:extLst>
              <a:ext uri="{FF2B5EF4-FFF2-40B4-BE49-F238E27FC236}">
                <a16:creationId xmlns:a16="http://schemas.microsoft.com/office/drawing/2014/main" id="{4B23B50F-C225-4A8E-9269-4D0E7760C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5288" y="128958"/>
            <a:ext cx="8533475" cy="576262"/>
          </a:xfrm>
        </p:spPr>
        <p:txBody>
          <a:bodyPr/>
          <a:lstStyle/>
          <a:p>
            <a:r>
              <a:rPr lang="zh-CN" altLang="en-US" sz="2800"/>
              <a:t>存储定义与符号</a:t>
            </a:r>
            <a:endParaRPr lang="en-US" altLang="zh-CN" sz="2800"/>
          </a:p>
        </p:txBody>
      </p:sp>
      <p:sp>
        <p:nvSpPr>
          <p:cNvPr id="36867" name="Rectangle 5">
            <a:extLst>
              <a:ext uri="{FF2B5EF4-FFF2-40B4-BE49-F238E27FC236}">
                <a16:creationId xmlns:a16="http://schemas.microsoft.com/office/drawing/2014/main" id="{4D321394-518E-48C6-A812-60B4FC92F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687" y="968375"/>
            <a:ext cx="10823945" cy="507587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计算机存储的基本单位是位或比特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(bit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）。每个位可以包含一个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或一个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。所有其他计算机存储都是由位组合而成的。只要位数足够，计算机就能表示各种信息：数字、字母、图像、视频、音频、文档和程序等。每个字节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(byte)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位，这是大多数计算机的常用最小存储。例如，虽然大多数计算机没有移动单个位的指令，但是有移动单个字节的指令。另一较少使用的单位是字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(word)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这是一个给定计算机架构的常用存储单位。每个字由一个或多个字节组成。例如，一个具有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位寄存器和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位内存寻址的计算机通常采用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(8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字节）的字。计算机的许多操作通常是按字为单位的，而不是按字节为单位的</a:t>
            </a:r>
            <a:endParaRPr kumimoji="0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16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计算机存储与计算机的大多数部分一样， 通常按字节或字节组合来计算或操作</a:t>
            </a:r>
            <a:endParaRPr kumimoji="0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kumimoji="0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千字节</a:t>
            </a:r>
            <a:r>
              <a:rPr kumimoji="0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(kilobyte, KB)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1024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字节，</a:t>
            </a:r>
            <a:endParaRPr kumimoji="0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kumimoji="0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兆字节</a:t>
            </a:r>
            <a:r>
              <a:rPr kumimoji="0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(megabyte, MB)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1024²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字节，</a:t>
            </a:r>
            <a:endParaRPr kumimoji="0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kumimoji="0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十亿字节</a:t>
            </a:r>
            <a:r>
              <a:rPr kumimoji="0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(gigabyte, GB)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1024³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字节，</a:t>
            </a:r>
            <a:endParaRPr kumimoji="0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kumimoji="0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兆兆字节</a:t>
            </a:r>
            <a:r>
              <a:rPr kumimoji="0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(terabyte, TB)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1024⁴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字节， </a:t>
            </a:r>
            <a:endParaRPr kumimoji="0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kumimoji="0"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千兆兆字节</a:t>
            </a:r>
            <a:r>
              <a:rPr kumimoji="0"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(petabyte, PB)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1024⁵ 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endParaRPr kumimoji="0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计算机制造商经常把这些数字四舍五入，认为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1MB= 10</a:t>
            </a:r>
            <a:r>
              <a:rPr kumimoji="0"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字节，</a:t>
            </a:r>
            <a:r>
              <a:rPr kumimoji="0"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1GB = 10</a:t>
            </a:r>
            <a:r>
              <a:rPr kumimoji="0"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kumimoji="0"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字节。然而，网络计量则不同，它们通常是按位来计算的（因为网络一次只移动一位数据）</a:t>
            </a:r>
            <a:endParaRPr kumimoji="0"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0152718-19A9-41D8-9758-6FF60AC7ED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00300" y="182563"/>
            <a:ext cx="78105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存储的层次结构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A8B0D54-C9C1-4F95-BFAC-8A18CF51BBD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51121" y="1074001"/>
            <a:ext cx="11089757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各种不同的存储按层次来分类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速度</a:t>
            </a:r>
            <a:r>
              <a:rPr lang="zh-CN" altLang="en-US" dirty="0"/>
              <a:t>、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成本、易失性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/>
              <a:t>易失性</a:t>
            </a:r>
            <a:r>
              <a:rPr lang="en-US" altLang="zh-CN" dirty="0"/>
              <a:t>(volatile)</a:t>
            </a:r>
            <a:r>
              <a:rPr lang="zh-CN" altLang="en-US" dirty="0"/>
              <a:t>存储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zh-CN" altLang="en-US" dirty="0"/>
              <a:t>寄存器、</a:t>
            </a:r>
            <a:r>
              <a:rPr lang="en-US" altLang="zh-CN" dirty="0"/>
              <a:t>CPU</a:t>
            </a:r>
            <a:r>
              <a:rPr lang="zh-CN" altLang="en-US" dirty="0"/>
              <a:t>缓存、内存（主存）</a:t>
            </a:r>
            <a:endParaRPr lang="en-US" altLang="zh-CN" dirty="0"/>
          </a:p>
          <a:p>
            <a:pPr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非易失性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(non-volatile, permanent)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硬盘、固态磁盘、磁带、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盘、光盘等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1FA5C80-1110-496B-85FB-55D862309EB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98438"/>
            <a:ext cx="82296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存储结构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426E918B-C4FF-4ACB-9CAB-BFB0CBB06AD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7954" y="1027114"/>
            <a:ext cx="10877106" cy="617112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(RAM, Main Memory)——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可以直接访问的大型存储介质</a:t>
            </a:r>
          </a:p>
          <a:p>
            <a:pPr lvl="1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随机访问</a:t>
            </a:r>
            <a:r>
              <a:rPr lang="zh-CN" altLang="en-US" b="1" dirty="0"/>
              <a:t>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典型的易失性</a:t>
            </a:r>
            <a:endParaRPr lang="en-US" altLang="zh-CN" b="1" dirty="0">
              <a:solidFill>
                <a:srgbClr val="33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内存的扩展，提供大的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非易失性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的存储容量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覆盖有磁记录材料的刚性金属或玻璃盘</a:t>
            </a:r>
          </a:p>
          <a:p>
            <a:pPr lvl="2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磁盘表面按逻辑划分为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，磁道又细分为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扇区</a:t>
            </a:r>
          </a:p>
          <a:p>
            <a:pPr lvl="2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磁盘控制器决定设备和计算机之间的逻辑交互</a:t>
            </a:r>
          </a:p>
          <a:p>
            <a:pPr lvl="1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固态磁盘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比硬盘快，是非易失的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0152718-19A9-41D8-9758-6FF60AC7ED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00300" y="182563"/>
            <a:ext cx="7810500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存储的层次结构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A8B0D54-C9C1-4F95-BFAC-8A18CF51BBD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51121" y="1074001"/>
            <a:ext cx="11089757" cy="4530725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将信息从较慢的存储系统复制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到更快的存储系统中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在计算机的许多层次上执行（在硬件、操作系统、软件方面）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内存也可以看作是二级存储的缓存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缓存管理是一个重要的设计问题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缓存大小和替换策略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工作过程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如果缓存存在数据，则直接从缓存中使用数据（快速）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如果不是，则将数据复制到缓存并在那里使用</a:t>
            </a:r>
            <a:endParaRPr lang="en-US" altLang="zh-CN" sz="800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369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277E2BD7-EC6A-4186-99D1-A40147AB5EF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59025" y="166688"/>
            <a:ext cx="8229600" cy="576262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现代计算机系统的工作原理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8132" name="组合 3">
            <a:extLst>
              <a:ext uri="{FF2B5EF4-FFF2-40B4-BE49-F238E27FC236}">
                <a16:creationId xmlns:a16="http://schemas.microsoft.com/office/drawing/2014/main" id="{4DA9B874-41AC-4766-B67E-DCE14F82B03F}"/>
              </a:ext>
            </a:extLst>
          </p:cNvPr>
          <p:cNvGrpSpPr>
            <a:grpSpLocks/>
          </p:cNvGrpSpPr>
          <p:nvPr/>
        </p:nvGrpSpPr>
        <p:grpSpPr bwMode="auto">
          <a:xfrm>
            <a:off x="4538441" y="1281002"/>
            <a:ext cx="7197357" cy="4925937"/>
            <a:chOff x="2220913" y="1230313"/>
            <a:chExt cx="5132387" cy="4084637"/>
          </a:xfrm>
        </p:grpSpPr>
        <p:pic>
          <p:nvPicPr>
            <p:cNvPr id="48133" name="Picture 5" descr="1">
              <a:extLst>
                <a:ext uri="{FF2B5EF4-FFF2-40B4-BE49-F238E27FC236}">
                  <a16:creationId xmlns:a16="http://schemas.microsoft.com/office/drawing/2014/main" id="{78742D86-2479-4696-AFA9-854A3F7CFF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0913" y="1230313"/>
              <a:ext cx="5132387" cy="40846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4" name="矩形 1">
              <a:extLst>
                <a:ext uri="{FF2B5EF4-FFF2-40B4-BE49-F238E27FC236}">
                  <a16:creationId xmlns:a16="http://schemas.microsoft.com/office/drawing/2014/main" id="{58F68FE1-8CBF-4E7C-97CE-4214422F2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520" y="2034540"/>
              <a:ext cx="1424940" cy="716280"/>
            </a:xfrm>
            <a:prstGeom prst="rect">
              <a:avLst/>
            </a:prstGeom>
            <a:solidFill>
              <a:srgbClr val="CF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执行线程</a:t>
              </a: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CPU</a:t>
              </a:r>
              <a:r>
                <a:rPr kumimoji="0"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0"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kumimoji="0"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个）</a:t>
              </a:r>
              <a:endParaRPr kumimoji="0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135" name="矩形 5">
              <a:extLst>
                <a:ext uri="{FF2B5EF4-FFF2-40B4-BE49-F238E27FC236}">
                  <a16:creationId xmlns:a16="http://schemas.microsoft.com/office/drawing/2014/main" id="{1AFC08EB-4B85-4847-A6F4-FA9C9689D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46787" y="1615440"/>
              <a:ext cx="1100773" cy="2308860"/>
            </a:xfrm>
            <a:prstGeom prst="rect">
              <a:avLst/>
            </a:prstGeom>
            <a:solidFill>
              <a:srgbClr val="CF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指令和数据</a:t>
              </a: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内存</a:t>
              </a:r>
              <a:endParaRPr kumimoji="0"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136" name="矩形 6">
              <a:extLst>
                <a:ext uri="{FF2B5EF4-FFF2-40B4-BE49-F238E27FC236}">
                  <a16:creationId xmlns:a16="http://schemas.microsoft.com/office/drawing/2014/main" id="{B01605DA-1628-48C4-9FB8-45D076E3C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1900" y="1676400"/>
              <a:ext cx="205740" cy="967740"/>
            </a:xfrm>
            <a:prstGeom prst="rect">
              <a:avLst/>
            </a:prstGeom>
            <a:solidFill>
              <a:srgbClr val="CF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</a:t>
              </a:r>
              <a:endParaRPr kumimoji="0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速</a:t>
              </a:r>
              <a:endParaRPr kumimoji="0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缓</a:t>
              </a:r>
              <a:endParaRPr kumimoji="0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存</a:t>
              </a:r>
              <a:endParaRPr kumimoji="0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137" name="矩形 2">
              <a:extLst>
                <a:ext uri="{FF2B5EF4-FFF2-40B4-BE49-F238E27FC236}">
                  <a16:creationId xmlns:a16="http://schemas.microsoft.com/office/drawing/2014/main" id="{32ED0F5D-D1A9-46E9-83CA-4B5991AC3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8620" y="1539240"/>
              <a:ext cx="1455420" cy="495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指令执行周期</a:t>
              </a:r>
            </a:p>
          </p:txBody>
        </p:sp>
        <p:sp>
          <p:nvSpPr>
            <p:cNvPr id="48138" name="矩形 8">
              <a:extLst>
                <a:ext uri="{FF2B5EF4-FFF2-40B4-BE49-F238E27FC236}">
                  <a16:creationId xmlns:a16="http://schemas.microsoft.com/office/drawing/2014/main" id="{D8565D0B-6CEC-4005-B5DC-FEBCD94BFD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893" y="2090262"/>
              <a:ext cx="1100773" cy="3633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数据移动</a:t>
              </a:r>
            </a:p>
          </p:txBody>
        </p:sp>
        <p:sp>
          <p:nvSpPr>
            <p:cNvPr id="48139" name="矩形 9">
              <a:extLst>
                <a:ext uri="{FF2B5EF4-FFF2-40B4-BE49-F238E27FC236}">
                  <a16:creationId xmlns:a16="http://schemas.microsoft.com/office/drawing/2014/main" id="{B7571664-E4EF-48B3-8CDE-345579B70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833" y="3139441"/>
              <a:ext cx="405607" cy="822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I/O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请</a:t>
              </a: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</a:t>
              </a:r>
            </a:p>
          </p:txBody>
        </p:sp>
        <p:sp>
          <p:nvSpPr>
            <p:cNvPr id="48140" name="矩形 10">
              <a:extLst>
                <a:ext uri="{FF2B5EF4-FFF2-40B4-BE49-F238E27FC236}">
                  <a16:creationId xmlns:a16="http://schemas.microsoft.com/office/drawing/2014/main" id="{8187D0DD-0F74-43E1-B6DA-2B40441D8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8134" y="3337560"/>
              <a:ext cx="405607" cy="4648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</a:t>
              </a: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据</a:t>
              </a:r>
            </a:p>
          </p:txBody>
        </p:sp>
        <p:sp>
          <p:nvSpPr>
            <p:cNvPr id="48141" name="矩形 11">
              <a:extLst>
                <a:ext uri="{FF2B5EF4-FFF2-40B4-BE49-F238E27FC236}">
                  <a16:creationId xmlns:a16="http://schemas.microsoft.com/office/drawing/2014/main" id="{364D1D06-A785-4CB3-B5D5-3BDD90592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5334" y="3242150"/>
              <a:ext cx="405607" cy="6288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断</a:t>
              </a: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142" name="矩形 12">
              <a:extLst>
                <a:ext uri="{FF2B5EF4-FFF2-40B4-BE49-F238E27FC236}">
                  <a16:creationId xmlns:a16="http://schemas.microsoft.com/office/drawing/2014/main" id="{00959B1F-24CF-4F1D-8EC1-883164AFB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8440" y="4526280"/>
              <a:ext cx="556894" cy="464820"/>
            </a:xfrm>
            <a:prstGeom prst="rect">
              <a:avLst/>
            </a:prstGeom>
            <a:solidFill>
              <a:srgbClr val="C6EB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设备</a:t>
              </a: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0" lang="en-US" altLang="zh-CN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M</a:t>
              </a: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个）</a:t>
              </a: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8131" name="TextBox 3">
            <a:extLst>
              <a:ext uri="{FF2B5EF4-FFF2-40B4-BE49-F238E27FC236}">
                <a16:creationId xmlns:a16="http://schemas.microsoft.com/office/drawing/2014/main" id="{964DBBD5-B7DF-4F49-9060-D8736A0AE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990" y="5536108"/>
            <a:ext cx="28749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冯诺依曼架构</a:t>
            </a:r>
            <a:endParaRPr kumimoji="0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2F7D96BF-061D-4930-A893-8F6776A9D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182" y="1030725"/>
            <a:ext cx="3516210" cy="4690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1313" indent="-341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1363" indent="-28416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 kumimoji="1"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0842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 kumimoji="1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4271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ü"/>
              <a:defRPr kumimoji="1"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7700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Char char="•"/>
              <a:defRPr kumimoji="1"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28738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5915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093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270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800" kern="0" dirty="0"/>
              <a:t>计算、存储、</a:t>
            </a:r>
            <a:r>
              <a:rPr lang="en-US" altLang="zh-CN" sz="2800" kern="0" dirty="0"/>
              <a:t>I/O</a:t>
            </a:r>
          </a:p>
          <a:p>
            <a:pPr lvl="1">
              <a:lnSpc>
                <a:spcPct val="200000"/>
              </a:lnSpc>
            </a:pPr>
            <a:r>
              <a:rPr lang="zh-CN" altLang="en-US" sz="2400" b="1" kern="0" dirty="0">
                <a:solidFill>
                  <a:srgbClr val="FF0000"/>
                </a:solidFill>
              </a:rPr>
              <a:t>轮询</a:t>
            </a:r>
            <a:endParaRPr lang="en-US" altLang="zh-CN" sz="2400" b="1" kern="0" dirty="0">
              <a:solidFill>
                <a:srgbClr val="FF00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zh-CN" altLang="en-US" sz="2400" b="1" kern="0" dirty="0">
                <a:solidFill>
                  <a:srgbClr val="FF0000"/>
                </a:solidFill>
              </a:rPr>
              <a:t>中断</a:t>
            </a:r>
            <a:endParaRPr lang="en-US" altLang="zh-CN" sz="2400" b="1" kern="0" dirty="0">
              <a:solidFill>
                <a:srgbClr val="FF0000"/>
              </a:solidFill>
            </a:endParaRPr>
          </a:p>
          <a:p>
            <a:pPr lvl="1">
              <a:lnSpc>
                <a:spcPct val="200000"/>
              </a:lnSpc>
            </a:pPr>
            <a:r>
              <a:rPr lang="en-US" altLang="zh-CN" sz="2400" b="1" kern="0" dirty="0">
                <a:solidFill>
                  <a:srgbClr val="FF0000"/>
                </a:solidFill>
              </a:rPr>
              <a:t>DMA (Direct Memory Access)</a:t>
            </a:r>
            <a:endParaRPr lang="en-US" altLang="zh-CN" sz="3200" b="1" kern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E12F4CEF-4939-49E8-845D-C5F58A480AA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44764" y="166688"/>
            <a:ext cx="7666037" cy="576262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直接存储器存取（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CFC878FD-9DDA-47BF-947A-0A9898753F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63526" y="1052736"/>
            <a:ext cx="4742122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用于高速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设备，能够以接近内存的速度传输信息</a:t>
            </a:r>
          </a:p>
          <a:p>
            <a:pPr>
              <a:lnSpc>
                <a:spcPct val="200000"/>
              </a:lnSpc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设备控制器将数据块从缓冲存储器直接传输到主存储器，无需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干预</a:t>
            </a:r>
          </a:p>
          <a:p>
            <a:pPr>
              <a:lnSpc>
                <a:spcPct val="200000"/>
              </a:lnSpc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每个块产生一个中断，而不是每个字节产生一个中断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B735EE7-0EED-4B0F-BF8C-2EA74A6E7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615" y="1690535"/>
            <a:ext cx="5827897" cy="3987249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D62221E-E9EC-4560-B0F0-8AC8F9D6BB4A}"/>
              </a:ext>
            </a:extLst>
          </p:cNvPr>
          <p:cNvCxnSpPr/>
          <p:nvPr/>
        </p:nvCxnSpPr>
        <p:spPr bwMode="auto">
          <a:xfrm flipV="1">
            <a:off x="7240773" y="3136604"/>
            <a:ext cx="2583711" cy="178627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ysDash"/>
            <a:round/>
            <a:headEnd type="triangle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E7067BE4-B6A6-4BA1-9192-F437A61003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39433" y="198438"/>
            <a:ext cx="8371367" cy="576262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计算机系统的体系结构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179" name="Content Placeholder 2">
            <a:extLst>
              <a:ext uri="{FF2B5EF4-FFF2-40B4-BE49-F238E27FC236}">
                <a16:creationId xmlns:a16="http://schemas.microsoft.com/office/drawing/2014/main" id="{1A2D0AA1-541A-4982-A740-58D4F5FEF46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489098" y="1183832"/>
            <a:ext cx="10919637" cy="5344559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大多数系统使用单个通用处理器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多处理器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系统的使用和重要性日益增长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也称为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并行系统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紧耦合系统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优点包括：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增加吞吐量</a:t>
            </a:r>
            <a:r>
              <a:rPr lang="zh-CN" altLang="en-US" b="1" dirty="0"/>
              <a:t>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规模经济、增加可靠性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故障弱化，提高容错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两种类型：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342900">
              <a:lnSpc>
                <a:spcPct val="150000"/>
              </a:lnSpc>
              <a:buFont typeface="Arial" panose="020B0604020202020204" pitchFamily="34" charset="0"/>
              <a:buAutoNum type="arabicPeriod"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非对称处理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每个处理器都有各自特定的任务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342900">
              <a:lnSpc>
                <a:spcPct val="150000"/>
              </a:lnSpc>
              <a:buFont typeface="Arial" panose="020B0604020202020204" pitchFamily="34" charset="0"/>
              <a:buAutoNum type="arabicPeriod"/>
              <a:defRPr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对称多处理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每个处理器都参与完成操作系统的所有任务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57250" lvl="2" indent="0">
              <a:lnSpc>
                <a:spcPct val="150000"/>
              </a:lnSpc>
              <a:buNone/>
              <a:defRPr/>
            </a:pPr>
            <a:endParaRPr lang="en-US" altLang="zh-CN" dirty="0"/>
          </a:p>
          <a:p>
            <a:pPr marL="1200150" lvl="2" indent="-342900">
              <a:lnSpc>
                <a:spcPct val="150000"/>
              </a:lnSpc>
              <a:buNone/>
              <a:defRPr/>
            </a:pPr>
            <a:endParaRPr lang="en-US" altLang="zh-CN" dirty="0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4CB2E1E0-8B06-4758-999D-39558F240FF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50263"/>
            <a:ext cx="8229600" cy="576263"/>
          </a:xfrm>
        </p:spPr>
        <p:txBody>
          <a:bodyPr/>
          <a:lstStyle/>
          <a:p>
            <a:r>
              <a:rPr lang="zh-CN" altLang="en-US" sz="2800" dirty="0"/>
              <a:t>多处理器系统结构</a:t>
            </a:r>
            <a:endParaRPr lang="en-US" altLang="zh-CN" sz="28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7535EC1-2E3D-48F6-9965-9F5A12258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511" y="1728640"/>
            <a:ext cx="3992149" cy="302354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8B74335-AC14-43E7-B0AA-BA98546DC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21" y="1728640"/>
            <a:ext cx="5970319" cy="3027362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55E4B15-AF74-41B2-9442-8E96795F818F}"/>
              </a:ext>
            </a:extLst>
          </p:cNvPr>
          <p:cNvSpPr/>
          <p:nvPr/>
        </p:nvSpPr>
        <p:spPr>
          <a:xfrm>
            <a:off x="2384166" y="5041237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对称多处理器结构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BAE4B37-F9D3-403C-B936-602DD8762DE1}"/>
              </a:ext>
            </a:extLst>
          </p:cNvPr>
          <p:cNvSpPr/>
          <p:nvPr/>
        </p:nvSpPr>
        <p:spPr>
          <a:xfrm>
            <a:off x="8658699" y="4945544"/>
            <a:ext cx="1415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多核结构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4B9E0C8C-53F1-4963-A0CE-F61EEF2A24F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集群系统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323" name="Content Placeholder 2">
            <a:extLst>
              <a:ext uri="{FF2B5EF4-FFF2-40B4-BE49-F238E27FC236}">
                <a16:creationId xmlns:a16="http://schemas.microsoft.com/office/drawing/2014/main" id="{BB8E637E-052C-4F44-A3CB-65349240FCA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09600" y="1084632"/>
            <a:ext cx="10972800" cy="539059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类似于多处理器系统，但多个系统协同工作</a:t>
            </a:r>
          </a:p>
          <a:p>
            <a:pPr lvl="1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通常通过存储域网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(SAN)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共享存储</a:t>
            </a:r>
          </a:p>
          <a:p>
            <a:pPr lvl="1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提供可在故障中幸存的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高可用性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</a:p>
          <a:p>
            <a:pPr lvl="2">
              <a:lnSpc>
                <a:spcPct val="15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非对称集群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有一台机器处于热备份模式</a:t>
            </a:r>
          </a:p>
          <a:p>
            <a:pPr lvl="2">
              <a:lnSpc>
                <a:spcPct val="150000"/>
              </a:lnSpc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对称集群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有多个主机运行应用程序，互相监视</a:t>
            </a:r>
          </a:p>
          <a:p>
            <a:pPr lvl="1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一些集群用于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高性能计算（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HPC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lvl="2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必须专门编写应用程序来使用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并行计算</a:t>
            </a:r>
          </a:p>
          <a:p>
            <a:pPr lvl="1">
              <a:lnSpc>
                <a:spcPct val="150000"/>
              </a:lnSpc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有的集群技术具有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分布锁管理器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(DLM)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，以避免操作冲突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Content Placeholder 3" descr="1.08.pdf">
            <a:extLst>
              <a:ext uri="{FF2B5EF4-FFF2-40B4-BE49-F238E27FC236}">
                <a16:creationId xmlns:a16="http://schemas.microsoft.com/office/drawing/2014/main" id="{2A1D7AE6-633B-4F4E-81A9-67E4E3650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76" b="-3476"/>
          <a:stretch>
            <a:fillRect/>
          </a:stretch>
        </p:blipFill>
        <p:spPr bwMode="auto">
          <a:xfrm>
            <a:off x="7474688" y="2209812"/>
            <a:ext cx="4429717" cy="2438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52162DC-E19B-4843-B8C8-805CBA0E0A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93976" y="166688"/>
            <a:ext cx="761682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操作系统的结构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DB0FA30-E8B5-46BD-8C99-F943CF8F0CB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75992" y="1060123"/>
            <a:ext cx="8240232" cy="546258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sym typeface="Wingdings 3" panose="05040102010807070707" pitchFamily="18" charset="2"/>
              </a:rPr>
              <a:t>批处理系统</a:t>
            </a:r>
            <a:r>
              <a:rPr lang="en-US" altLang="zh-CN" dirty="0">
                <a:sym typeface="Wingdings 3" panose="05040102010807070707" pitchFamily="18" charset="2"/>
              </a:rPr>
              <a:t>—</a:t>
            </a:r>
            <a:r>
              <a:rPr lang="zh-CN" altLang="en-US" b="0" dirty="0"/>
              <a:t>多道程序设计，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提高效率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  <a:sym typeface="Wingdings 3" panose="05040102010807070707" pitchFamily="18" charset="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单用户无法一直令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CPU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I/O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设备处于繁忙状态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多道程序系统组织和切换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作业（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job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，一般是代码和数据），因此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总有要执行的任务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系统中作业集的一个子集保存在内存中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通过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作业调度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选择并运行一项作业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当它必须等待时（例如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I/O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操作），操作系统切换到另一个作业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Wingdings 3" panose="05040102010807070707" pitchFamily="18" charset="2"/>
            </a:endParaRPr>
          </a:p>
        </p:txBody>
      </p:sp>
      <p:grpSp>
        <p:nvGrpSpPr>
          <p:cNvPr id="5" name="组合 3">
            <a:extLst>
              <a:ext uri="{FF2B5EF4-FFF2-40B4-BE49-F238E27FC236}">
                <a16:creationId xmlns:a16="http://schemas.microsoft.com/office/drawing/2014/main" id="{125D5164-EE55-4B08-A39C-DA73F83480BC}"/>
              </a:ext>
            </a:extLst>
          </p:cNvPr>
          <p:cNvGrpSpPr>
            <a:grpSpLocks/>
          </p:cNvGrpSpPr>
          <p:nvPr/>
        </p:nvGrpSpPr>
        <p:grpSpPr bwMode="auto">
          <a:xfrm>
            <a:off x="8866999" y="1400175"/>
            <a:ext cx="2814638" cy="4332287"/>
            <a:chOff x="2864514" y="1262856"/>
            <a:chExt cx="2814637" cy="4332287"/>
          </a:xfrm>
        </p:grpSpPr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A7A5BF6C-F208-48E2-A57E-321F3A99EA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4514" y="1262856"/>
              <a:ext cx="2814637" cy="433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矩形 1">
              <a:extLst>
                <a:ext uri="{FF2B5EF4-FFF2-40B4-BE49-F238E27FC236}">
                  <a16:creationId xmlns:a16="http://schemas.microsoft.com/office/drawing/2014/main" id="{327427DC-4595-4F6E-8554-FA5FB34D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1643606"/>
              <a:ext cx="1828800" cy="393539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操作系统</a:t>
              </a:r>
            </a:p>
          </p:txBody>
        </p:sp>
        <p:sp>
          <p:nvSpPr>
            <p:cNvPr id="8" name="矩形 2">
              <a:extLst>
                <a:ext uri="{FF2B5EF4-FFF2-40B4-BE49-F238E27FC236}">
                  <a16:creationId xmlns:a16="http://schemas.microsoft.com/office/drawing/2014/main" id="{A241701E-070D-4D63-A06D-3FB47F3DF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863" y="2476982"/>
              <a:ext cx="868102" cy="324091"/>
            </a:xfrm>
            <a:prstGeom prst="rect">
              <a:avLst/>
            </a:prstGeom>
            <a:solidFill>
              <a:srgbClr val="C8E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作业</a:t>
              </a:r>
              <a:r>
                <a:rPr kumimoji="0"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矩形 5">
              <a:extLst>
                <a:ext uri="{FF2B5EF4-FFF2-40B4-BE49-F238E27FC236}">
                  <a16:creationId xmlns:a16="http://schemas.microsoft.com/office/drawing/2014/main" id="{BE2B7F8A-557F-419F-87BE-4EFE0637C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737" y="3330007"/>
              <a:ext cx="868102" cy="324091"/>
            </a:xfrm>
            <a:prstGeom prst="rect">
              <a:avLst/>
            </a:prstGeom>
            <a:solidFill>
              <a:srgbClr val="C8E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作业</a:t>
              </a:r>
              <a:r>
                <a:rPr kumimoji="0"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6">
              <a:extLst>
                <a:ext uri="{FF2B5EF4-FFF2-40B4-BE49-F238E27FC236}">
                  <a16:creationId xmlns:a16="http://schemas.microsoft.com/office/drawing/2014/main" id="{68F17DA3-75E6-4477-B167-0F8AC5E23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737" y="4300529"/>
              <a:ext cx="868102" cy="324091"/>
            </a:xfrm>
            <a:prstGeom prst="rect">
              <a:avLst/>
            </a:prstGeom>
            <a:solidFill>
              <a:srgbClr val="C8E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作业</a:t>
              </a:r>
              <a:r>
                <a:rPr kumimoji="0"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7">
              <a:extLst>
                <a:ext uri="{FF2B5EF4-FFF2-40B4-BE49-F238E27FC236}">
                  <a16:creationId xmlns:a16="http://schemas.microsoft.com/office/drawing/2014/main" id="{0FCCE162-2373-4D1C-ADEB-35616BD87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7949" y="5052348"/>
              <a:ext cx="868102" cy="324091"/>
            </a:xfrm>
            <a:prstGeom prst="rect">
              <a:avLst/>
            </a:prstGeom>
            <a:solidFill>
              <a:srgbClr val="C8E9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作业</a:t>
              </a:r>
              <a:r>
                <a:rPr kumimoji="0" lang="en-US" altLang="zh-CN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kumimoji="0"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352162DC-E19B-4843-B8C8-805CBA0E0A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93976" y="166688"/>
            <a:ext cx="761682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操作系统的结构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BDB0FA30-E8B5-46BD-8C99-F943CF8F0CB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7704" y="888183"/>
            <a:ext cx="11206716" cy="546258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1200"/>
              </a:spcBef>
              <a:buFont typeface="Monotype Sorts" pitchFamily="-84" charset="2"/>
              <a:buNone/>
            </a:pPr>
            <a:endParaRPr lang="en-US" altLang="zh-CN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分时系统（多任务）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—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一种逻辑扩展，其中 </a:t>
            </a:r>
            <a:r>
              <a:rPr lang="en-US" altLang="zh-CN" b="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CPU 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频繁切换作业，用户可以在每个程序运行时与其进行交互，从而创建交互式计算</a:t>
            </a: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响应时间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应小于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秒</a:t>
            </a: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每个用户至少有一个程序在内存中执行 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进程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sym typeface="Wingdings 3" panose="05040102010807070707" pitchFamily="18" charset="2"/>
            </a:endParaRP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如果多个任务同时等待运行 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CPU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调度</a:t>
            </a: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如果程序</a:t>
            </a:r>
            <a:r>
              <a:rPr lang="zh-CN" altLang="en-US" dirty="0">
                <a:sym typeface="Wingdings 3" panose="05040102010807070707" pitchFamily="18" charset="2"/>
              </a:rPr>
              <a:t>无法进入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内存，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交换操作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会进行存储调度</a:t>
            </a:r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虚拟内存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Wingdings 3" panose="05040102010807070707" pitchFamily="18" charset="2"/>
              </a:rPr>
              <a:t>允许执行不完全在内存中的</a:t>
            </a:r>
            <a:r>
              <a:rPr lang="zh-CN" altLang="en-US" dirty="0">
                <a:sym typeface="Wingdings 3" panose="05040102010807070707" pitchFamily="18" charset="2"/>
              </a:rPr>
              <a:t>程序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Wingdings 3" panose="05040102010807070707" pitchFamily="18" charset="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2CF6B6F-857D-4AE1-BE63-0CE652B8D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344" y="3045232"/>
            <a:ext cx="4150076" cy="195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507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D44B7323-E82F-4C17-8A20-D123989E025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856509" y="198438"/>
            <a:ext cx="8638454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操作系统的执行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CE95A831-DC90-4D45-A2BB-5A35C47EAD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27319" y="957033"/>
            <a:ext cx="11376838" cy="49387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双模式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1" dirty="0"/>
              <a:t>用于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操作系统保护自身和其他系统组件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用户模式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内核模式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硬件提供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模式位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提供区分操作系统运行用户代码或内核代码的能力</a:t>
            </a:r>
          </a:p>
          <a:p>
            <a:pPr lvl="2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特权指令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只能在内核模式下执行 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>
                <a:solidFill>
                  <a:srgbClr val="0070C0"/>
                </a:solidFill>
              </a:rPr>
              <a:t>I/O, enable/disable interrupt</a:t>
            </a:r>
            <a:r>
              <a:rPr lang="en-US" altLang="zh-CN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系统调用更改模式为内核模式，从调用返回将其重置为用户模式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多模式操作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模式位不只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1bit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越来越多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支持，如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虚拟机管理器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VMM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guest_VMS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模式，拥有比用户程序更多的特权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853152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E2C4ED31-0979-4261-B8B6-347C8211297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06650" y="136526"/>
            <a:ext cx="8415338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用户模式到内核模式的转换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587" name="Rectangle 4">
            <a:extLst>
              <a:ext uri="{FF2B5EF4-FFF2-40B4-BE49-F238E27FC236}">
                <a16:creationId xmlns:a16="http://schemas.microsoft.com/office/drawing/2014/main" id="{9FC47759-E115-4BA3-8D79-FECB070AA8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35171" y="4011059"/>
            <a:ext cx="11121656" cy="2817813"/>
          </a:xfrm>
        </p:spPr>
        <p:txBody>
          <a:bodyPr/>
          <a:lstStyle/>
          <a:p>
            <a:r>
              <a:rPr lang="zh-CN" altLang="en-US" dirty="0"/>
              <a:t>定时器</a:t>
            </a:r>
            <a:r>
              <a:rPr lang="en-US" altLang="zh-CN" dirty="0"/>
              <a:t>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防止陷入死循环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进程占用资源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定时器可设置为在指定周期后中断计算机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保留一个时钟滴答时递减的计数器</a:t>
            </a:r>
            <a:r>
              <a:rPr lang="zh-CN" altLang="en-US" dirty="0"/>
              <a:t>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操作系统设置计数器（特权指令也可修改定时器）</a:t>
            </a: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当计数器的值为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 就会产生中断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在调度进程之前设置好定时器，以重新获得控制权，或终止超过了所设时间限制的程序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7BF942C-FDDC-44EF-B7D8-4263D2FD7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870" y="1144964"/>
            <a:ext cx="8654257" cy="25898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3348E0F3-21CD-41F0-A18A-0D2CB6F841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33108" y="198438"/>
            <a:ext cx="8477694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13BD875-F88D-40D3-8B8B-D769027AF3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84791" y="873423"/>
            <a:ext cx="11408735" cy="5105400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是一个正在执行的程序。</a:t>
            </a:r>
            <a:endParaRPr lang="en-US" altLang="zh-CN" b="0" dirty="0"/>
          </a:p>
          <a:p>
            <a:pPr lvl="1"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被动实体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。进程是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主动实体，</a:t>
            </a:r>
            <a:r>
              <a:rPr lang="zh-CN" altLang="en-US" dirty="0"/>
              <a:t>它是系统内的一个工作单元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进程需要一定的资源来完成任务</a:t>
            </a:r>
          </a:p>
          <a:p>
            <a:pPr lvl="1">
              <a:lnSpc>
                <a:spcPct val="200000"/>
              </a:lnSpc>
              <a:spcBef>
                <a:spcPts val="600"/>
              </a:spcBef>
              <a:defRPr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时间、内存、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设备、文件</a:t>
            </a:r>
          </a:p>
          <a:p>
            <a:pPr lvl="1"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初始化数据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进程终止时，需要回收所以可重用的资源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3348E0F3-21CD-41F0-A18A-0D2CB6F841E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13026" y="198438"/>
            <a:ext cx="7597775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进程管理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13BD875-F88D-40D3-8B8B-D769027AF39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84791" y="873423"/>
            <a:ext cx="11408735" cy="5105400"/>
          </a:xfrm>
        </p:spPr>
        <p:txBody>
          <a:bodyPr/>
          <a:lstStyle/>
          <a:p>
            <a:pPr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单线程进程有一个程序计数器，指定要执行的下一条指令的位置</a:t>
            </a:r>
          </a:p>
          <a:p>
            <a:pPr lvl="1"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进程按顺序执行指令，一次一个指令，直到进程完成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多线程进程的每个线程有一个程序计数器</a:t>
            </a:r>
          </a:p>
          <a:p>
            <a:pPr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通常系统由多个进程组成，其中有的是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操作系统进程（执行系统代码），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其他的是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用户进程（执行用户代码），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一个或多个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上并发运行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spcBef>
                <a:spcPts val="600"/>
              </a:spcBef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通过在单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上采用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多路复用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来实现进程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线程间的多路复用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8158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19865CD8-145D-460C-8023-56D3F99B859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52714" y="152401"/>
            <a:ext cx="7558087" cy="576263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进程管理的活动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1F90A9D8-895D-40B8-8191-B32AF51EB3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08949" y="1619620"/>
            <a:ext cx="7958137" cy="465358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上调度进程和线程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删除用户进程和系统进程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挂起和重启进程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提供进程同步机制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提供进程通信机制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en-US" altLang="zh-CN" dirty="0"/>
          </a:p>
        </p:txBody>
      </p:sp>
      <p:sp>
        <p:nvSpPr>
          <p:cNvPr id="71684" name="Text Box 4">
            <a:extLst>
              <a:ext uri="{FF2B5EF4-FFF2-40B4-BE49-F238E27FC236}">
                <a16:creationId xmlns:a16="http://schemas.microsoft.com/office/drawing/2014/main" id="{7B8084BE-D085-4BC0-A6D5-AF019D11C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1064420"/>
            <a:ext cx="758666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操作系统负责进程管理的以下活动：</a:t>
            </a:r>
            <a:endParaRPr kumimoji="0"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9E2996-9DAB-421D-964F-DA22BD86FC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030" y="1084016"/>
            <a:ext cx="4367940" cy="560436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A0D3AA6-D149-4D0A-84F3-6243B300B070}"/>
              </a:ext>
            </a:extLst>
          </p:cNvPr>
          <p:cNvSpPr txBox="1"/>
          <p:nvPr/>
        </p:nvSpPr>
        <p:spPr>
          <a:xfrm>
            <a:off x="8592503" y="2633259"/>
            <a:ext cx="6097904" cy="71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进群备注姓名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</a:t>
            </a:r>
          </a:p>
        </p:txBody>
      </p:sp>
    </p:spTree>
    <p:extLst>
      <p:ext uri="{BB962C8B-B14F-4D97-AF65-F5344CB8AC3E}">
        <p14:creationId xmlns:p14="http://schemas.microsoft.com/office/powerpoint/2010/main" val="3725555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EB13A76B-5181-4DE3-AF63-8C899ACF903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75638" y="166688"/>
            <a:ext cx="8435164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内存管理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BA2DFCEA-30B8-4A89-8933-513D6C61A0D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97343" y="1137800"/>
            <a:ext cx="10705066" cy="514604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程序所需的全部（或部分）指令必须在内存中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程序所需的全部（或部分）数据必须在内存中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内存管理确定内存中的内容以及时间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的利用率和用户的计算机响应速度</a:t>
            </a:r>
            <a:endParaRPr lang="en-US" altLang="zh-CN" sz="800" dirty="0"/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操作系统负责内存管理的以下活动：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记录内存的哪部分在被使用以及被谁使用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决定哪些进程（或其部分）会调入或调出内存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根据需要分配和释放内存空间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buFont typeface="Monotype Sorts" pitchFamily="-84" charset="2"/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010DB9C5-1086-45FE-954F-AE6EC8D6A4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52714" y="182563"/>
            <a:ext cx="7558087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B4036ABE-C9AF-4E3D-B3EE-BCE5259E86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19223" y="1073002"/>
            <a:ext cx="11153553" cy="499268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操作系统提供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信息存储的统一逻辑视图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将物理属性抽象为逻辑存储单元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</a:p>
          <a:p>
            <a:pPr lvl="1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每个介质都由一个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来控制， 如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磁盘驱动器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磁带驱动器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它们有不同特点，包括访问速度、容量、数据传输率和访问方法（顺序或随机）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880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010DB9C5-1086-45FE-954F-AE6EC8D6A4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652714" y="182563"/>
            <a:ext cx="7558087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存储管理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B4036ABE-C9AF-4E3D-B3EE-BCE5259E86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4158" y="1104900"/>
            <a:ext cx="11153553" cy="54447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文件系统管理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文件通常组织成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大多数系统包含的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访问控制机制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，来确定哪个用户如何访问文件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操作系统负责文件管理的以下活动：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创建和删除文件和目录</a:t>
            </a:r>
          </a:p>
          <a:p>
            <a:pPr lvl="2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提供文件和目录的操作原语</a:t>
            </a:r>
          </a:p>
          <a:p>
            <a:pPr lvl="2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将文件映射到外存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将文件备份到稳定（非易失性）的存储介质上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D2C437E4-CFE9-403B-A08B-821CD50717F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18556" y="203386"/>
            <a:ext cx="7354887" cy="576262"/>
          </a:xfrm>
        </p:spPr>
        <p:txBody>
          <a:bodyPr/>
          <a:lstStyle/>
          <a:p>
            <a:pPr eaLnBrk="1" hangingPunct="1"/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大容量存储器管理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F0263C1-B63F-4CAD-A294-AFB8516E5E2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84791" y="999572"/>
            <a:ext cx="11398102" cy="5421126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磁盘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用于存储无法放入内存的数据或必须“长时间”保存的数据</a:t>
            </a:r>
          </a:p>
          <a:p>
            <a:pPr>
              <a:lnSpc>
                <a:spcPct val="200000"/>
              </a:lnSpc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计算机运行的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整体速度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取决于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硬盘子系统的速度</a:t>
            </a: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管理该子系统的算法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操作系统负责有关硬盘管理的以下活动：</a:t>
            </a:r>
            <a:endParaRPr lang="en-US" altLang="zh-CN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空闲空间管理</a:t>
            </a:r>
          </a:p>
          <a:p>
            <a:pPr lvl="1"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存储空间分配</a:t>
            </a:r>
          </a:p>
          <a:p>
            <a:pPr lvl="1">
              <a:lnSpc>
                <a:spcPct val="20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硬盘调度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E454A1C6-5A04-43F7-ADEB-7EDAE636FA0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095501" y="252413"/>
            <a:ext cx="8531225" cy="576262"/>
          </a:xfrm>
        </p:spPr>
        <p:txBody>
          <a:bodyPr/>
          <a:lstStyle/>
          <a:p>
            <a:pPr eaLnBrk="1" hangingPunct="1"/>
            <a:r>
              <a:rPr lang="zh-CN" altLang="en-US" sz="2800"/>
              <a:t>各种级别存储的性能</a:t>
            </a:r>
            <a:endParaRPr lang="en-US" altLang="zh-CN" sz="2800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C8BF3430-7E4C-4F9E-80E6-AD1B8451C1A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54815" y="6144437"/>
            <a:ext cx="8082369" cy="576262"/>
          </a:xfrm>
        </p:spPr>
        <p:txBody>
          <a:bodyPr/>
          <a:lstStyle/>
          <a:p>
            <a:pPr algn="ctr">
              <a:buFont typeface="Monotype Sorts" pitchFamily="-84" charset="2"/>
              <a:buNone/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ＭＳ Ｐゴシック" charset="0"/>
              </a:rPr>
              <a:t>存储层次间的信息移动可以是显式的，也可以是隐式的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ＭＳ Ｐゴシック" charset="0"/>
            </a:endParaRPr>
          </a:p>
        </p:txBody>
      </p:sp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218A208C-DF2B-4AA8-97AC-629213C61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849737"/>
              </p:ext>
            </p:extLst>
          </p:nvPr>
        </p:nvGraphicFramePr>
        <p:xfrm>
          <a:off x="584791" y="1117600"/>
          <a:ext cx="10834577" cy="4911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88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07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67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级别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3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寄存器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高速缓存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固态盘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硬盘</a:t>
                      </a:r>
                    </a:p>
                    <a:p>
                      <a:pPr algn="ctr"/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74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典型尺寸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&lt;1KB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&lt;16MB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&lt;64GB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&lt;1TB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&lt;10TB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3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实现技术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具有多个端口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CMOS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的定制内存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片上或片外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CMOS SRAM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CMOS SRAM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闪存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硬盘</a:t>
                      </a:r>
                    </a:p>
                    <a:p>
                      <a:pPr algn="ctr"/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3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访问时间（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ns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0.25~0.5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0.5~25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80~250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25000~</a:t>
                      </a:r>
                    </a:p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50000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5000000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561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带宽（</a:t>
                      </a:r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MB/sec</a:t>
                      </a: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20000~100000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5000~</a:t>
                      </a:r>
                    </a:p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10000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1000~</a:t>
                      </a:r>
                    </a:p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5000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20~</a:t>
                      </a:r>
                    </a:p>
                    <a:p>
                      <a:pPr algn="ctr"/>
                      <a:r>
                        <a:rPr lang="en-US" altLang="zh-CN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</a:t>
                      </a:r>
                      <a:endParaRPr lang="zh-CN" alt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54" marR="91454" marT="45717" marB="4571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30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由谁管理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编译器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操作系统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操作系统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操作系统</a:t>
                      </a:r>
                    </a:p>
                  </a:txBody>
                  <a:tcPr marL="91454" marR="91454" marT="45717" marB="457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由谁备份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高速缓存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硬盘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硬盘</a:t>
                      </a:r>
                    </a:p>
                  </a:txBody>
                  <a:tcPr marL="91454" marR="91454" marT="45717" marB="4571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硬盘或磁带</a:t>
                      </a:r>
                    </a:p>
                  </a:txBody>
                  <a:tcPr marL="91454" marR="91454" marT="45717" marB="457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CFEFF2F6-3A2C-467B-B594-8289CEB7D78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438400" y="168276"/>
            <a:ext cx="8229600" cy="576263"/>
          </a:xfrm>
        </p:spPr>
        <p:txBody>
          <a:bodyPr/>
          <a:lstStyle/>
          <a:p>
            <a:pPr eaLnBrk="1" hangingPunct="1"/>
            <a:r>
              <a:rPr lang="zh-CN" altLang="en-US" sz="2800"/>
              <a:t>整数“</a:t>
            </a:r>
            <a:r>
              <a:rPr lang="en-US" altLang="zh-CN" sz="2800"/>
              <a:t>A</a:t>
            </a:r>
            <a:r>
              <a:rPr lang="zh-CN" altLang="en-US" sz="2800"/>
              <a:t>”从磁盘到寄存器的迁移</a:t>
            </a:r>
            <a:endParaRPr lang="en-US" altLang="zh-CN" sz="2800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11AEC698-01E1-4293-AC26-6CA68C167D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01748" y="2369913"/>
            <a:ext cx="11259880" cy="3960338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对于多处理器环境</a:t>
            </a:r>
            <a:endParaRPr lang="en-US" altLang="zh-CN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多处理器环境必须在硬件中提供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高速缓存一致性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，以确保每个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在其缓存中都具有最新值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分布式环境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一个文件可以存在多个副本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共享编辑文档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章涵盖各种解决方案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50000"/>
              </a:lnSpc>
              <a:defRPr/>
            </a:pPr>
            <a:endParaRPr lang="en-US" altLang="zh-CN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9779527-2D83-44DC-BEDF-51464FB45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572" y="3726044"/>
            <a:ext cx="3158627" cy="262876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5088C2A-9F6C-44A1-9E34-4F0C19B99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2150" y="1104899"/>
            <a:ext cx="7264235" cy="904654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23A26F6-6606-4E53-9433-6B86407532CC}"/>
              </a:ext>
            </a:extLst>
          </p:cNvPr>
          <p:cNvSpPr/>
          <p:nvPr/>
        </p:nvSpPr>
        <p:spPr>
          <a:xfrm>
            <a:off x="9384980" y="4837195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高速缓存一致性</a:t>
            </a:r>
            <a:endParaRPr lang="zh-CN" alt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06CFE4CA-924D-41B1-A208-229DEB1F227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81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I/O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子系统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BDAE0A22-EFC0-4100-AB26-5AB068D2EBC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74157" y="936073"/>
            <a:ext cx="10834577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操作系统的目的之一是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向用户</a:t>
            </a:r>
            <a:r>
              <a:rPr lang="zh-CN" altLang="en-US"/>
              <a:t>屏蔽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具体硬件设备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子系统负责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的内存管理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，包括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缓冲（在传输数据时临时存储数据）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缓存（将部分数据存储在更快的存储中以提高性能）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假脱机（一项作业的输出与其他作业的输入重叠）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设备驱动器的通用接口</a:t>
            </a:r>
          </a:p>
          <a:p>
            <a:pPr lvl="1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特定硬件设备的驱动程序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2AC081F3-3445-40D7-AC2F-647AD16EA5C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65005" y="182563"/>
            <a:ext cx="8445795" cy="576262"/>
          </a:xfrm>
        </p:spPr>
        <p:txBody>
          <a:bodyPr/>
          <a:lstStyle/>
          <a:p>
            <a:pPr eaLnBrk="1" hangingPunct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1.7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保护与安全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38EB253C-D55E-47F0-B6B9-585284E92A6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06056" y="1116530"/>
            <a:ext cx="10738883" cy="51831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用于控制进程或用户访问计算机系统资源的机制</a:t>
            </a: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保护系统免受内部和外部攻击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范围广泛，包括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拒绝服务、蠕虫、病毒、身份盗用、服务盗用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系统一般首先区分用户，以确定谁可以做什么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用户标志（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、安全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）包括姓名和关联号码，每个用户一个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然后将用户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与该用户的所有文件和进程相关联，以确定访问控制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组标识（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）允许定义一组用户并管理控件，然后与每个进程、文件相关联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升级特权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允许用户更改为具有更多权限的有效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F4055994-AE9E-470D-9DBA-86506001B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1.8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内核数据结构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D4DC2-507D-4C1F-AE20-2BCE18189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20837"/>
            <a:ext cx="10972800" cy="4530725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标准编程的数据结构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链表：单链表</a:t>
            </a:r>
            <a:r>
              <a:rPr lang="zh-CN" altLang="en-US" sz="2800" b="1" dirty="0"/>
              <a:t>、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双向链表、循环列表</a:t>
            </a:r>
            <a:endParaRPr lang="en-US" altLang="zh-CN" sz="2800" b="1" dirty="0">
              <a:latin typeface="ＭＳ Ｐゴシック" charset="-128"/>
              <a:ea typeface="ＭＳ Ｐゴシック" charset="-128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2800" b="1" dirty="0"/>
              <a:t>树：二叉搜索树</a:t>
            </a:r>
            <a:endParaRPr lang="en-US" altLang="zh-CN" sz="2800" b="1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sz="2800" b="1" dirty="0"/>
              <a:t>哈希表</a:t>
            </a:r>
            <a:endParaRPr lang="en-US" altLang="zh-CN" sz="2800" b="1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sz="2800" b="1" dirty="0"/>
              <a:t>位图</a:t>
            </a:r>
            <a:endParaRPr lang="en-US" sz="2800" dirty="0">
              <a:ea typeface="ＭＳ Ｐゴシック" charset="-128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E70CA0D-BD64-40E5-A6DB-92CC6DD7B7AB}"/>
              </a:ext>
            </a:extLst>
          </p:cNvPr>
          <p:cNvSpPr/>
          <p:nvPr/>
        </p:nvSpPr>
        <p:spPr>
          <a:xfrm>
            <a:off x="878958" y="6032669"/>
            <a:ext cx="84138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/>
              <a:t>--Linux </a:t>
            </a:r>
            <a:r>
              <a:rPr lang="zh-CN" altLang="en-US" i="1" dirty="0"/>
              <a:t>数据结构定义在文件 </a:t>
            </a:r>
            <a:r>
              <a:rPr lang="en-US" altLang="zh-CN" b="1" i="1" dirty="0">
                <a:solidFill>
                  <a:srgbClr val="0070C0"/>
                </a:solidFill>
              </a:rPr>
              <a:t>&lt;</a:t>
            </a:r>
            <a:r>
              <a:rPr lang="en-US" altLang="zh-CN" b="1" i="1" dirty="0" err="1">
                <a:solidFill>
                  <a:srgbClr val="0070C0"/>
                </a:solidFill>
              </a:rPr>
              <a:t>linux</a:t>
            </a:r>
            <a:r>
              <a:rPr lang="en-US" altLang="zh-CN" b="1" i="1" dirty="0">
                <a:solidFill>
                  <a:srgbClr val="0070C0"/>
                </a:solidFill>
              </a:rPr>
              <a:t>/</a:t>
            </a:r>
            <a:r>
              <a:rPr lang="en-US" altLang="zh-CN" b="1" i="1" dirty="0" err="1">
                <a:solidFill>
                  <a:srgbClr val="0070C0"/>
                </a:solidFill>
              </a:rPr>
              <a:t>list.h</a:t>
            </a:r>
            <a:r>
              <a:rPr lang="en-US" altLang="zh-CN" b="1" i="1" dirty="0">
                <a:solidFill>
                  <a:srgbClr val="0070C0"/>
                </a:solidFill>
              </a:rPr>
              <a:t>&gt;</a:t>
            </a:r>
            <a:r>
              <a:rPr lang="zh-CN" altLang="en-US" b="1" i="1" dirty="0">
                <a:solidFill>
                  <a:srgbClr val="0070C0"/>
                </a:solidFill>
              </a:rPr>
              <a:t>、</a:t>
            </a:r>
            <a:r>
              <a:rPr lang="en-US" altLang="zh-CN" b="1" i="1" dirty="0">
                <a:solidFill>
                  <a:srgbClr val="0070C0"/>
                </a:solidFill>
              </a:rPr>
              <a:t>&lt;</a:t>
            </a:r>
            <a:r>
              <a:rPr lang="en-US" altLang="zh-CN" b="1" i="1" dirty="0" err="1">
                <a:solidFill>
                  <a:srgbClr val="0070C0"/>
                </a:solidFill>
              </a:rPr>
              <a:t>linux</a:t>
            </a:r>
            <a:r>
              <a:rPr lang="en-US" altLang="zh-CN" b="1" i="1" dirty="0">
                <a:solidFill>
                  <a:srgbClr val="0070C0"/>
                </a:solidFill>
              </a:rPr>
              <a:t>/</a:t>
            </a:r>
            <a:r>
              <a:rPr lang="en-US" altLang="zh-CN" b="1" i="1" dirty="0" err="1">
                <a:solidFill>
                  <a:srgbClr val="0070C0"/>
                </a:solidFill>
              </a:rPr>
              <a:t>kfifo.h</a:t>
            </a:r>
            <a:r>
              <a:rPr lang="en-US" altLang="zh-CN" b="1" i="1" dirty="0">
                <a:solidFill>
                  <a:srgbClr val="0070C0"/>
                </a:solidFill>
              </a:rPr>
              <a:t>&gt;</a:t>
            </a:r>
            <a:r>
              <a:rPr lang="zh-CN" altLang="en-US" b="1" i="1" dirty="0">
                <a:solidFill>
                  <a:srgbClr val="0070C0"/>
                </a:solidFill>
              </a:rPr>
              <a:t>、</a:t>
            </a:r>
            <a:r>
              <a:rPr lang="en-US" altLang="zh-CN" b="1" i="1" dirty="0">
                <a:solidFill>
                  <a:srgbClr val="0070C0"/>
                </a:solidFill>
              </a:rPr>
              <a:t>&lt;</a:t>
            </a:r>
            <a:r>
              <a:rPr lang="en-US" altLang="zh-CN" b="1" i="1" dirty="0" err="1">
                <a:solidFill>
                  <a:srgbClr val="0070C0"/>
                </a:solidFill>
              </a:rPr>
              <a:t>linux</a:t>
            </a:r>
            <a:r>
              <a:rPr lang="en-US" altLang="zh-CN" b="1" i="1" dirty="0">
                <a:solidFill>
                  <a:srgbClr val="0070C0"/>
                </a:solidFill>
              </a:rPr>
              <a:t>/</a:t>
            </a:r>
            <a:r>
              <a:rPr lang="en-US" altLang="zh-CN" b="1" i="1" dirty="0" err="1">
                <a:solidFill>
                  <a:srgbClr val="0070C0"/>
                </a:solidFill>
              </a:rPr>
              <a:t>rbtree.h</a:t>
            </a:r>
            <a:r>
              <a:rPr lang="en-US" altLang="zh-CN" b="1" i="1" dirty="0">
                <a:solidFill>
                  <a:srgbClr val="0070C0"/>
                </a:solidFill>
              </a:rPr>
              <a:t>&gt;</a:t>
            </a:r>
          </a:p>
        </p:txBody>
      </p:sp>
      <p:pic>
        <p:nvPicPr>
          <p:cNvPr id="8" name="Picture 1" descr="1_16.pdf">
            <a:extLst>
              <a:ext uri="{FF2B5EF4-FFF2-40B4-BE49-F238E27FC236}">
                <a16:creationId xmlns:a16="http://schemas.microsoft.com/office/drawing/2014/main" id="{3F314106-4540-4A0E-8A01-8B6B25803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5173" y="1135136"/>
            <a:ext cx="2755900" cy="215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 descr="1_17.pdf">
            <a:extLst>
              <a:ext uri="{FF2B5EF4-FFF2-40B4-BE49-F238E27FC236}">
                <a16:creationId xmlns:a16="http://schemas.microsoft.com/office/drawing/2014/main" id="{07170800-0876-4629-9A4B-248EAB4194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1528" y="3931372"/>
            <a:ext cx="3630872" cy="146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>
            <a:extLst>
              <a:ext uri="{FF2B5EF4-FFF2-40B4-BE49-F238E27FC236}">
                <a16:creationId xmlns:a16="http://schemas.microsoft.com/office/drawing/2014/main" id="{DECA8C16-A197-4136-813D-32BF269C0D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765005" y="152401"/>
            <a:ext cx="8807745" cy="576263"/>
          </a:xfrm>
        </p:spPr>
        <p:txBody>
          <a:bodyPr/>
          <a:lstStyle/>
          <a:p>
            <a:r>
              <a:rPr lang="en-US" altLang="zh-CN" sz="2800" dirty="0"/>
              <a:t>1.9 </a:t>
            </a:r>
            <a:r>
              <a:rPr lang="zh-CN" altLang="en-US" sz="2800" dirty="0"/>
              <a:t>计算机环境</a:t>
            </a:r>
            <a:r>
              <a:rPr lang="en-US" altLang="zh-CN" sz="2800" dirty="0"/>
              <a:t>——</a:t>
            </a:r>
            <a:r>
              <a:rPr lang="zh-CN" altLang="en-US" sz="2800" dirty="0"/>
              <a:t>传统计算环境</a:t>
            </a:r>
            <a:endParaRPr lang="en-US" altLang="zh-CN" sz="2800" dirty="0"/>
          </a:p>
        </p:txBody>
      </p:sp>
      <p:sp>
        <p:nvSpPr>
          <p:cNvPr id="91139" name="Content Placeholder 2">
            <a:extLst>
              <a:ext uri="{FF2B5EF4-FFF2-40B4-BE49-F238E27FC236}">
                <a16:creationId xmlns:a16="http://schemas.microsoft.com/office/drawing/2014/main" id="{917F2F94-4243-40E0-AD52-DC0767DF5910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33620" y="1021281"/>
            <a:ext cx="11313043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/>
              <a:t>传统计算环境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/>
              <a:t>桌面</a:t>
            </a:r>
            <a:r>
              <a:rPr lang="en-US" altLang="zh-CN" dirty="0"/>
              <a:t>PC</a:t>
            </a:r>
            <a:r>
              <a:rPr lang="zh-CN" altLang="en-US" dirty="0"/>
              <a:t>，移动</a:t>
            </a:r>
            <a:r>
              <a:rPr lang="en-US" altLang="zh-CN" dirty="0"/>
              <a:t>PC</a:t>
            </a:r>
            <a:r>
              <a:rPr lang="zh-CN" altLang="en-US" dirty="0"/>
              <a:t>，服务器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但随着大多数系统与其他系统（即互联网）互连而变得模糊</a:t>
            </a:r>
          </a:p>
          <a:p>
            <a:pPr lvl="1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门户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提供对内部系统的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</a:p>
          <a:p>
            <a:pPr lvl="1">
              <a:lnSpc>
                <a:spcPct val="20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网络计算机（瘦客户端）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类似于网络终端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移动计算机通过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无线网络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互连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网络变得无处不在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甚至家庭系统也使用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防火墙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来保护家庭计算机免受来自互联网的攻击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Content Placeholder 2">
            <a:extLst>
              <a:ext uri="{FF2B5EF4-FFF2-40B4-BE49-F238E27FC236}">
                <a16:creationId xmlns:a16="http://schemas.microsoft.com/office/drawing/2014/main" id="{4FF11622-57F4-4063-8403-808305C12EB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06056" y="1122364"/>
            <a:ext cx="10770781" cy="4530725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移动计算环境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智能手机、平板电脑等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更多操作系统功能（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、陀螺仪传感器）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允许新类型的应用程序，如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增强现实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的应用程序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IEEE 802.11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无线网络或蜂窝数据网络进行连接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领先者为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苹果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iOS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谷歌 </a:t>
            </a:r>
            <a:r>
              <a:rPr lang="en-US" altLang="zh-CN" b="1" dirty="0"/>
              <a:t>Android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BEAAFA-9AD3-41F0-96F0-657AE41B3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3740" y="152401"/>
            <a:ext cx="8829010" cy="57626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计算环境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移动计算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Content Placeholder 2">
            <a:extLst>
              <a:ext uri="{FF2B5EF4-FFF2-40B4-BE49-F238E27FC236}">
                <a16:creationId xmlns:a16="http://schemas.microsoft.com/office/drawing/2014/main" id="{DD10C373-ABBC-4B50-9FD2-BF6A1D2976A7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574159" y="1092201"/>
            <a:ext cx="10877106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分布式计算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独立的、可能异构的、通过网络相联的一组计算机系统</a:t>
            </a:r>
          </a:p>
          <a:p>
            <a:pPr lvl="2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是一种通信路径，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TCP/IP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是最常用的网络协议</a:t>
            </a:r>
          </a:p>
          <a:p>
            <a:pPr lvl="3">
              <a:lnSpc>
                <a:spcPct val="15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局域网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(LAN)</a:t>
            </a:r>
          </a:p>
          <a:p>
            <a:pPr lvl="3">
              <a:lnSpc>
                <a:spcPct val="15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广域网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(WAN)</a:t>
            </a:r>
          </a:p>
          <a:p>
            <a:pPr lvl="3">
              <a:lnSpc>
                <a:spcPct val="15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城域网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(MAN)</a:t>
            </a:r>
          </a:p>
          <a:p>
            <a:pPr lvl="3">
              <a:lnSpc>
                <a:spcPct val="150000"/>
              </a:lnSpc>
            </a:pPr>
            <a:r>
              <a:rPr lang="zh-CN" altLang="en-US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个人局域网 </a:t>
            </a:r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(PAN)</a:t>
            </a:r>
          </a:p>
          <a:p>
            <a:pPr lvl="1">
              <a:lnSpc>
                <a:spcPct val="150000"/>
              </a:lnSpc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网络操作系统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提供跨网络系统的功能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通信方案允许系统之间交换消息</a:t>
            </a:r>
          </a:p>
          <a:p>
            <a:pPr lvl="2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单一系统的错觉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386BD4-D7D6-458F-8930-5E81DEEC8F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2474" y="152401"/>
            <a:ext cx="8850276" cy="57626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计算环境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分布式计算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4">
            <a:extLst>
              <a:ext uri="{FF2B5EF4-FFF2-40B4-BE49-F238E27FC236}">
                <a16:creationId xmlns:a16="http://schemas.microsoft.com/office/drawing/2014/main" id="{1A73D53A-E3D8-437E-9A86-F3FA13E0F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772" y="1092200"/>
            <a:ext cx="7691437" cy="467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08585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CF34F59-BC19-49CE-91B1-F2395975A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150" y="152401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计算环境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服务器计算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4212" name="组合 3">
            <a:extLst>
              <a:ext uri="{FF2B5EF4-FFF2-40B4-BE49-F238E27FC236}">
                <a16:creationId xmlns:a16="http://schemas.microsoft.com/office/drawing/2014/main" id="{33DF9CD9-23B7-453F-9433-93BC809AD22B}"/>
              </a:ext>
            </a:extLst>
          </p:cNvPr>
          <p:cNvGrpSpPr>
            <a:grpSpLocks/>
          </p:cNvGrpSpPr>
          <p:nvPr/>
        </p:nvGrpSpPr>
        <p:grpSpPr bwMode="auto">
          <a:xfrm>
            <a:off x="3971704" y="4194729"/>
            <a:ext cx="4610100" cy="2005012"/>
            <a:chOff x="2105660" y="3518693"/>
            <a:chExt cx="4610100" cy="2005013"/>
          </a:xfrm>
        </p:grpSpPr>
        <p:pic>
          <p:nvPicPr>
            <p:cNvPr id="94213" name="Picture 1" descr="1_18.pdf">
              <a:extLst>
                <a:ext uri="{FF2B5EF4-FFF2-40B4-BE49-F238E27FC236}">
                  <a16:creationId xmlns:a16="http://schemas.microsoft.com/office/drawing/2014/main" id="{84CE9AD0-3440-400F-9250-7DDF132B5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5660" y="3518693"/>
              <a:ext cx="4610100" cy="2005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4214" name="矩形 1">
              <a:extLst>
                <a:ext uri="{FF2B5EF4-FFF2-40B4-BE49-F238E27FC236}">
                  <a16:creationId xmlns:a16="http://schemas.microsoft.com/office/drawing/2014/main" id="{EE416A9A-CC91-41B3-BA80-8BAD903EA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5520" y="4358640"/>
              <a:ext cx="629920" cy="233680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服务器</a:t>
              </a:r>
            </a:p>
          </p:txBody>
        </p:sp>
        <p:sp>
          <p:nvSpPr>
            <p:cNvPr id="94215" name="矩形 5">
              <a:extLst>
                <a:ext uri="{FF2B5EF4-FFF2-40B4-BE49-F238E27FC236}">
                  <a16:creationId xmlns:a16="http://schemas.microsoft.com/office/drawing/2014/main" id="{E868656D-FBED-4D61-8628-63870E3CB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3520" y="4277360"/>
              <a:ext cx="822960" cy="436880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</a:rPr>
                <a:t> 网络</a:t>
              </a:r>
            </a:p>
          </p:txBody>
        </p:sp>
        <p:sp>
          <p:nvSpPr>
            <p:cNvPr id="94216" name="矩形 6">
              <a:extLst>
                <a:ext uri="{FF2B5EF4-FFF2-40B4-BE49-F238E27FC236}">
                  <a16:creationId xmlns:a16="http://schemas.microsoft.com/office/drawing/2014/main" id="{941F1737-7D49-405F-B19E-922933CFE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940" y="3588226"/>
              <a:ext cx="683260" cy="426720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桌面</a:t>
              </a: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</a:p>
          </p:txBody>
        </p:sp>
        <p:sp>
          <p:nvSpPr>
            <p:cNvPr id="94217" name="矩形 7">
              <a:extLst>
                <a:ext uri="{FF2B5EF4-FFF2-40B4-BE49-F238E27FC236}">
                  <a16:creationId xmlns:a16="http://schemas.microsoft.com/office/drawing/2014/main" id="{8CB87947-7F88-439A-BF19-4A8F8D183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9940" y="4277360"/>
              <a:ext cx="683260" cy="426720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笔记本</a:t>
              </a: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</a:p>
          </p:txBody>
        </p:sp>
        <p:sp>
          <p:nvSpPr>
            <p:cNvPr id="94218" name="椭圆 2">
              <a:extLst>
                <a:ext uri="{FF2B5EF4-FFF2-40B4-BE49-F238E27FC236}">
                  <a16:creationId xmlns:a16="http://schemas.microsoft.com/office/drawing/2014/main" id="{4B6B8F76-5B67-4269-ACC2-D80984FEC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820" y="4934109"/>
              <a:ext cx="1038939" cy="589597"/>
            </a:xfrm>
            <a:prstGeom prst="ellipse">
              <a:avLst/>
            </a:prstGeom>
            <a:solidFill>
              <a:srgbClr val="D1D3D4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zh-CN" altLang="en-US">
                <a:latin typeface="Verdana" panose="020B0604030504040204" pitchFamily="34" charset="0"/>
              </a:endParaRPr>
            </a:p>
          </p:txBody>
        </p:sp>
        <p:sp>
          <p:nvSpPr>
            <p:cNvPr id="94219" name="矩形 8">
              <a:extLst>
                <a:ext uri="{FF2B5EF4-FFF2-40B4-BE49-F238E27FC236}">
                  <a16:creationId xmlns:a16="http://schemas.microsoft.com/office/drawing/2014/main" id="{FAA1B1F1-5FE8-44AD-8BDA-FDE78D8CFB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4659" y="5014833"/>
              <a:ext cx="683260" cy="426720"/>
            </a:xfrm>
            <a:prstGeom prst="rect">
              <a:avLst/>
            </a:pr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智能手机</a:t>
              </a:r>
              <a:endParaRPr kumimoji="0" lang="en-US" altLang="zh-CN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</a:p>
          </p:txBody>
        </p:sp>
      </p:grp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01E791-55EF-4BE4-8ACD-A28ED3058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28" y="1000711"/>
            <a:ext cx="10972800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客户端</a:t>
            </a:r>
            <a:r>
              <a:rPr lang="en-US" altLang="zh-CN" dirty="0"/>
              <a:t>-</a:t>
            </a:r>
            <a:r>
              <a:rPr lang="zh-CN" altLang="en-US" dirty="0"/>
              <a:t>服务器计算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智能</a:t>
            </a:r>
            <a:r>
              <a:rPr lang="en-US" altLang="zh-CN" dirty="0"/>
              <a:t>PC</a:t>
            </a:r>
            <a:r>
              <a:rPr lang="zh-CN" altLang="en-US" dirty="0"/>
              <a:t>取代“哑终端”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许多现代系统可作为</a:t>
            </a:r>
            <a:r>
              <a:rPr lang="zh-CN" altLang="en-US" b="1" dirty="0"/>
              <a:t>服务器</a:t>
            </a:r>
            <a:r>
              <a:rPr lang="zh-CN" altLang="en-US" dirty="0"/>
              <a:t>，响应</a:t>
            </a:r>
            <a:r>
              <a:rPr lang="zh-CN" altLang="en-US" b="1" dirty="0"/>
              <a:t>客户端</a:t>
            </a:r>
            <a:r>
              <a:rPr lang="zh-CN" altLang="en-US" dirty="0"/>
              <a:t>的请求</a:t>
            </a:r>
          </a:p>
          <a:p>
            <a:pPr lvl="2">
              <a:lnSpc>
                <a:spcPct val="150000"/>
              </a:lnSpc>
            </a:pPr>
            <a:r>
              <a:rPr lang="zh-CN" altLang="en-US" sz="2000" b="1" dirty="0"/>
              <a:t>计算服务器系统</a:t>
            </a:r>
            <a:r>
              <a:rPr lang="zh-CN" altLang="en-US" sz="2000" dirty="0"/>
              <a:t>为客户端提供一个接口来请求服务（即数据库）</a:t>
            </a:r>
          </a:p>
          <a:p>
            <a:pPr lvl="2">
              <a:lnSpc>
                <a:spcPct val="150000"/>
              </a:lnSpc>
            </a:pPr>
            <a:r>
              <a:rPr lang="zh-CN" altLang="en-US" sz="2000" b="1" dirty="0"/>
              <a:t>文件服务器系统</a:t>
            </a:r>
            <a:r>
              <a:rPr lang="zh-CN" altLang="en-US" sz="2000" dirty="0"/>
              <a:t>为客户端提供存储和检索文件的接口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3">
            <a:extLst>
              <a:ext uri="{FF2B5EF4-FFF2-40B4-BE49-F238E27FC236}">
                <a16:creationId xmlns:a16="http://schemas.microsoft.com/office/drawing/2014/main" id="{02786A38-D75A-464D-8D1D-214788373ED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37953" y="1233489"/>
            <a:ext cx="8761227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分布式系统的另一种模型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不区分客户端和服务器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相反，所有节点都被视为对等节点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可以每个节点都充当客户端、服务器或两者兼备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节点必须加入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P2P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通过网络集中查询服务来注册服务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广播服务请求，并通过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发现协议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响应服务请求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示例包括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Napster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Gnutella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语音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(VoIP)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Skype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4FC757E-74E2-486D-BD62-4559E8B75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150" y="152401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计算环境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对等计算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6260" name="组合 1">
            <a:extLst>
              <a:ext uri="{FF2B5EF4-FFF2-40B4-BE49-F238E27FC236}">
                <a16:creationId xmlns:a16="http://schemas.microsoft.com/office/drawing/2014/main" id="{465E833E-2043-40C1-B995-E1CFEFB50BEB}"/>
              </a:ext>
            </a:extLst>
          </p:cNvPr>
          <p:cNvGrpSpPr>
            <a:grpSpLocks/>
          </p:cNvGrpSpPr>
          <p:nvPr/>
        </p:nvGrpSpPr>
        <p:grpSpPr bwMode="auto">
          <a:xfrm>
            <a:off x="7501324" y="2057401"/>
            <a:ext cx="3795712" cy="2882900"/>
            <a:chOff x="5347970" y="1987140"/>
            <a:chExt cx="3796030" cy="2883719"/>
          </a:xfrm>
        </p:grpSpPr>
        <p:pic>
          <p:nvPicPr>
            <p:cNvPr id="96261" name="Picture 1" descr="1_19.pdf">
              <a:extLst>
                <a:ext uri="{FF2B5EF4-FFF2-40B4-BE49-F238E27FC236}">
                  <a16:creationId xmlns:a16="http://schemas.microsoft.com/office/drawing/2014/main" id="{0B6C7E05-3725-4319-A6C8-724056C5DE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7970" y="1987140"/>
              <a:ext cx="3796030" cy="28837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6262" name="矩形 5">
              <a:extLst>
                <a:ext uri="{FF2B5EF4-FFF2-40B4-BE49-F238E27FC236}">
                  <a16:creationId xmlns:a16="http://schemas.microsoft.com/office/drawing/2014/main" id="{3069EBC1-43DF-4C06-9DC1-3C10A25818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5416564" y="2968781"/>
              <a:ext cx="547356" cy="231619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</a:p>
          </p:txBody>
        </p:sp>
        <p:sp>
          <p:nvSpPr>
            <p:cNvPr id="96263" name="矩形 6">
              <a:extLst>
                <a:ext uri="{FF2B5EF4-FFF2-40B4-BE49-F238E27FC236}">
                  <a16:creationId xmlns:a16="http://schemas.microsoft.com/office/drawing/2014/main" id="{E35C074E-D9A8-48CB-BB26-B597424E21A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889764" y="2095021"/>
              <a:ext cx="547356" cy="231619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</a:p>
          </p:txBody>
        </p:sp>
        <p:sp>
          <p:nvSpPr>
            <p:cNvPr id="96264" name="矩形 7">
              <a:extLst>
                <a:ext uri="{FF2B5EF4-FFF2-40B4-BE49-F238E27FC236}">
                  <a16:creationId xmlns:a16="http://schemas.microsoft.com/office/drawing/2014/main" id="{CE32F2AB-975E-4A4D-877B-E6C6E4CE0E5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8398510" y="2974891"/>
              <a:ext cx="547356" cy="231619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</a:p>
          </p:txBody>
        </p:sp>
        <p:sp>
          <p:nvSpPr>
            <p:cNvPr id="96265" name="矩形 8">
              <a:extLst>
                <a:ext uri="{FF2B5EF4-FFF2-40B4-BE49-F238E27FC236}">
                  <a16:creationId xmlns:a16="http://schemas.microsoft.com/office/drawing/2014/main" id="{16D11ADF-C3D7-4C3A-910B-C7BFF380B15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103316" y="4533421"/>
              <a:ext cx="547356" cy="231619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</a:p>
          </p:txBody>
        </p:sp>
        <p:sp>
          <p:nvSpPr>
            <p:cNvPr id="96266" name="矩形 9">
              <a:extLst>
                <a:ext uri="{FF2B5EF4-FFF2-40B4-BE49-F238E27FC236}">
                  <a16:creationId xmlns:a16="http://schemas.microsoft.com/office/drawing/2014/main" id="{4F830A26-5A8B-4706-867C-152F3F7CBFF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688594" y="4533420"/>
              <a:ext cx="547356" cy="231619"/>
            </a:xfrm>
            <a:prstGeom prst="rect">
              <a:avLst/>
            </a:prstGeom>
            <a:solidFill>
              <a:srgbClr val="C7EA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400"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客户端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3">
            <a:extLst>
              <a:ext uri="{FF2B5EF4-FFF2-40B4-BE49-F238E27FC236}">
                <a16:creationId xmlns:a16="http://schemas.microsoft.com/office/drawing/2014/main" id="{3873A8DB-94CA-447A-ACF0-C8B0E9694A2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52895" y="950986"/>
            <a:ext cx="11366204" cy="547107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允许操作系统在其他操作系统上运行应用程序</a:t>
            </a:r>
          </a:p>
          <a:p>
            <a:pPr lvl="1"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WinXP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VMware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，每个运行的应用程序都在本机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WinXP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操作系统上</a:t>
            </a:r>
          </a:p>
          <a:p>
            <a:pPr lvl="1">
              <a:lnSpc>
                <a:spcPct val="200000"/>
              </a:lnSpc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VMM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（虚拟机监视程序）提供虚拟化服务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</a:pPr>
            <a:r>
              <a:rPr lang="en-US" altLang="zh-CN" dirty="0"/>
              <a:t>VMWare</a:t>
            </a:r>
          </a:p>
          <a:p>
            <a:pPr lvl="1">
              <a:lnSpc>
                <a:spcPct val="200000"/>
              </a:lnSpc>
            </a:pPr>
            <a:r>
              <a:rPr lang="en-US" altLang="zh-CN" dirty="0"/>
              <a:t>KVM</a:t>
            </a:r>
          </a:p>
          <a:p>
            <a:pPr lvl="1">
              <a:lnSpc>
                <a:spcPct val="200000"/>
              </a:lnSpc>
            </a:pPr>
            <a:r>
              <a:rPr lang="en-US" altLang="zh-CN" dirty="0" err="1"/>
              <a:t>XenServer</a:t>
            </a:r>
            <a:endParaRPr lang="en-US" altLang="zh-CN" dirty="0"/>
          </a:p>
          <a:p>
            <a:pPr lvl="1">
              <a:lnSpc>
                <a:spcPct val="200000"/>
              </a:lnSpc>
            </a:pPr>
            <a:r>
              <a:rPr lang="en-US" altLang="zh-CN" dirty="0"/>
              <a:t>Java Virtual machines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F61C3F-2129-440D-929C-DEE9DFBED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150" y="152401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计算环境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虚拟化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3E8519-C9A0-43A6-AB76-265BFDFD6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9575" y="2806994"/>
            <a:ext cx="4699530" cy="318976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3">
            <a:extLst>
              <a:ext uri="{FF2B5EF4-FFF2-40B4-BE49-F238E27FC236}">
                <a16:creationId xmlns:a16="http://schemas.microsoft.com/office/drawing/2014/main" id="{79A90A0B-F4A3-4F50-B6FD-95412DD652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48587" y="1060451"/>
            <a:ext cx="10855841" cy="5103813"/>
          </a:xfrm>
        </p:spPr>
        <p:txBody>
          <a:bodyPr/>
          <a:lstStyle/>
          <a:p>
            <a:r>
              <a:rPr lang="zh-CN" altLang="en-US" dirty="0"/>
              <a:t>通过网络将计算、存储甚至应用程序作为服务提供</a:t>
            </a:r>
          </a:p>
          <a:p>
            <a:r>
              <a:rPr lang="zh-CN" altLang="en-US" dirty="0"/>
              <a:t>是虚拟化技术的逻辑延伸， 因为它以虚拟化技术为基础来实现功能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20AF428-386C-43D3-B72A-260698DC6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150" y="152401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计算环境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云计算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4C834F9-3DD3-4C2C-9EC1-79420928F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642" y="2228481"/>
            <a:ext cx="5517358" cy="426757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262F782C-506A-4041-8D8E-CCAFB25353E4}"/>
              </a:ext>
            </a:extLst>
          </p:cNvPr>
          <p:cNvSpPr/>
          <p:nvPr/>
        </p:nvSpPr>
        <p:spPr>
          <a:xfrm>
            <a:off x="559043" y="2092120"/>
            <a:ext cx="7149562" cy="16383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公共云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任何愿意付费的人都可以通过互联网获得</a:t>
            </a:r>
            <a:endParaRPr kumimoji="1" lang="en-US" altLang="zh-CN" sz="20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私有云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由公司运营，供公司自用</a:t>
            </a:r>
          </a:p>
          <a:p>
            <a:pPr marL="741363" lvl="1" indent="-284163" eaLnBrk="0" fontAlgn="base" hangingPunct="0">
              <a:lnSpc>
                <a:spcPct val="150000"/>
              </a:lnSpc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混合云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包括公共云和私有云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9976A3-53A1-431A-AA03-AC4561EFFA05}"/>
              </a:ext>
            </a:extLst>
          </p:cNvPr>
          <p:cNvSpPr/>
          <p:nvPr/>
        </p:nvSpPr>
        <p:spPr>
          <a:xfrm>
            <a:off x="533870" y="4012745"/>
            <a:ext cx="6096000" cy="2154436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1363" lvl="1" indent="-28416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软件即服务（</a:t>
            </a:r>
            <a:r>
              <a:rPr kumimoji="1" lang="en-US" altLang="zh-CN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SaaS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–—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提供的一个或多个应用程序（如文字处理器）</a:t>
            </a:r>
          </a:p>
          <a:p>
            <a:pPr marL="741363" lvl="1" indent="-28416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平台即服务（</a:t>
            </a:r>
            <a:r>
              <a:rPr kumimoji="1" lang="en-US" altLang="zh-CN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PaaS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可通过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供应用程序使用（如数据库服务器）的软件堆栈</a:t>
            </a:r>
          </a:p>
          <a:p>
            <a:pPr marL="741363" lvl="1" indent="-284163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</a:pP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基础设施即服务（</a:t>
            </a:r>
            <a:r>
              <a:rPr kumimoji="1" lang="en-US" altLang="zh-CN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IaaS</a:t>
            </a:r>
            <a:r>
              <a:rPr kumimoji="1" lang="zh-CN" altLang="en-US" sz="200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Internet</a:t>
            </a:r>
            <a:r>
              <a:rPr kumimoji="1" lang="zh-CN" altLang="en-US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提供的服务器或存储（如可供备份使用的存储</a:t>
            </a:r>
            <a:r>
              <a:rPr kumimoji="1" lang="en-US" altLang="zh-CN" sz="2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Content Placeholder 2">
            <a:extLst>
              <a:ext uri="{FF2B5EF4-FFF2-40B4-BE49-F238E27FC236}">
                <a16:creationId xmlns:a16="http://schemas.microsoft.com/office/drawing/2014/main" id="{D46847B5-F93F-4FDD-8553-56187FD9316E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616688" y="1154114"/>
            <a:ext cx="10823945" cy="51297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实时嵌入式系统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多种多样的、特殊用途或有限用途的操作系统，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实时操作系统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使用范围不断扩展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还有许多其他特殊的计算环境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有些有操作系统，有些在没有操作系统的情况下执行任务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实时操作系统具有明确的、固定的时间约束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在约束内完成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只有在满足约束条件时才能正确操作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2CF64C7-E5AC-4CC1-BCF6-344CC59A5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150" y="152401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+mj-lt"/>
                <a:ea typeface="MS PGothic" pitchFamily="34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  <a:ea typeface="MS PGothic" pitchFamily="34" charset="-128"/>
                <a:cs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6699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计算环境</a:t>
            </a:r>
            <a:r>
              <a:rPr lang="en-US" altLang="zh-CN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8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实时嵌入式系统</a:t>
            </a:r>
            <a:endParaRPr lang="en-US" altLang="zh-CN" sz="28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1">
            <a:extLst>
              <a:ext uri="{FF2B5EF4-FFF2-40B4-BE49-F238E27FC236}">
                <a16:creationId xmlns:a16="http://schemas.microsoft.com/office/drawing/2014/main" id="{1366CCE3-657E-40C6-ADFC-1278081C37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06664" y="127001"/>
            <a:ext cx="7704137" cy="576263"/>
          </a:xfrm>
        </p:spPr>
        <p:txBody>
          <a:bodyPr/>
          <a:lstStyle/>
          <a:p>
            <a:r>
              <a:rPr lang="zh-CN" altLang="en-US" sz="2800"/>
              <a:t>开源操作系统</a:t>
            </a:r>
            <a:endParaRPr lang="en-US" altLang="zh-CN" sz="280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1AF286-B5EE-410E-9B7D-21BD0DFCBAD9}"/>
              </a:ext>
            </a:extLst>
          </p:cNvPr>
          <p:cNvSpPr txBox="1">
            <a:spLocks/>
          </p:cNvSpPr>
          <p:nvPr/>
        </p:nvSpPr>
        <p:spPr>
          <a:xfrm>
            <a:off x="508591" y="1061945"/>
            <a:ext cx="10921410" cy="5275060"/>
          </a:xfrm>
          <a:prstGeom prst="rect">
            <a:avLst/>
          </a:prstGeom>
        </p:spPr>
        <p:txBody>
          <a:bodyPr>
            <a:normAutofit/>
          </a:bodyPr>
          <a:lstStyle>
            <a:lvl1pPr marL="341313" indent="-3413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Wingdings" panose="05000000000000000000" pitchFamily="2" charset="2"/>
              <a:buChar char="p"/>
              <a:defRPr kumimoji="1"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1363" indent="-28416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Wingdings" panose="05000000000000000000" pitchFamily="2" charset="2"/>
              <a:buChar char="n"/>
              <a:defRPr kumimoji="1" sz="2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0842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ingdings" panose="05000000000000000000" pitchFamily="2" charset="2"/>
              <a:buChar char="Ø"/>
              <a:defRPr kumimoji="1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4271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panose="05000000000000000000" pitchFamily="2" charset="2"/>
              <a:buChar char="ü"/>
              <a:defRPr kumimoji="1"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1770063" indent="-22701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Arial" panose="020B0604020202020204" pitchFamily="34" charset="0"/>
              <a:buChar char="•"/>
              <a:defRPr kumimoji="1" sz="16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228738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5915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093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270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altLang="zh-CN" kern="0" dirty="0"/>
              <a:t>BSD UNIX</a:t>
            </a:r>
          </a:p>
          <a:p>
            <a:pPr lvl="1"/>
            <a:r>
              <a:rPr lang="en-US" altLang="zh-CN" kern="0" dirty="0"/>
              <a:t>ATT Bell labs, UCB</a:t>
            </a:r>
          </a:p>
          <a:p>
            <a:r>
              <a:rPr lang="en-US" altLang="zh-CN" kern="0" dirty="0"/>
              <a:t>Linux</a:t>
            </a:r>
          </a:p>
          <a:p>
            <a:pPr lvl="1"/>
            <a:r>
              <a:rPr lang="zh-CN" altLang="en-US" kern="0" dirty="0"/>
              <a:t>由芬兰的</a:t>
            </a:r>
            <a:r>
              <a:rPr lang="en-US" altLang="zh-CN" kern="0" dirty="0"/>
              <a:t>Linus Torvalds 1991</a:t>
            </a:r>
            <a:r>
              <a:rPr lang="zh-CN" altLang="en-US" kern="0" dirty="0"/>
              <a:t>年开发</a:t>
            </a:r>
            <a:endParaRPr lang="en-US" altLang="zh-CN" kern="0" dirty="0"/>
          </a:p>
          <a:p>
            <a:pPr lvl="1"/>
            <a:r>
              <a:rPr lang="en-US" altLang="zh-CN" kern="0" dirty="0"/>
              <a:t>http://distrowatch.com</a:t>
            </a:r>
          </a:p>
          <a:p>
            <a:r>
              <a:rPr lang="en-US" altLang="zh-CN" kern="0" dirty="0"/>
              <a:t>Solaris</a:t>
            </a:r>
          </a:p>
          <a:p>
            <a:pPr lvl="1"/>
            <a:r>
              <a:rPr lang="en-US" altLang="zh-CN" kern="0" dirty="0"/>
              <a:t>Open Solaris</a:t>
            </a:r>
          </a:p>
          <a:p>
            <a:r>
              <a:rPr lang="en-US" altLang="zh-CN" kern="0" dirty="0"/>
              <a:t>Utility</a:t>
            </a:r>
          </a:p>
          <a:p>
            <a:pPr lvl="1"/>
            <a:r>
              <a:rPr lang="en-US" altLang="zh-CN" kern="0" dirty="0">
                <a:hlinkClick r:id="rId3"/>
              </a:rPr>
              <a:t>http://freshmeat.net</a:t>
            </a:r>
            <a:endParaRPr lang="en-US" altLang="zh-CN" kern="0" dirty="0"/>
          </a:p>
          <a:p>
            <a:pPr lvl="1"/>
            <a:r>
              <a:rPr lang="en-US" altLang="zh-CN" kern="0" dirty="0">
                <a:hlinkClick r:id="rId4"/>
              </a:rPr>
              <a:t>http://sourceforge.net</a:t>
            </a:r>
            <a:endParaRPr lang="en-US" altLang="zh-CN" kern="0" dirty="0"/>
          </a:p>
          <a:p>
            <a:pPr lvl="1"/>
            <a:r>
              <a:rPr lang="en-US" altLang="zh-CN" kern="0" dirty="0">
                <a:hlinkClick r:id="rId5"/>
              </a:rPr>
              <a:t>https://github.com</a:t>
            </a:r>
            <a:endParaRPr lang="en-US" altLang="zh-CN" kern="0" dirty="0"/>
          </a:p>
          <a:p>
            <a:pPr lvl="1"/>
            <a:r>
              <a:rPr lang="en-US" altLang="zh-CN" kern="0" dirty="0"/>
              <a:t>……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Exercises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1.1, 1.5, 1.6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1.12, 1.15, 1.19, 1.22, 1.23, 1.27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58102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网上查阅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233489"/>
            <a:ext cx="11438467" cy="45307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单用户</a:t>
            </a:r>
            <a:r>
              <a:rPr lang="en-US" altLang="zh-CN" dirty="0"/>
              <a:t>/</a:t>
            </a:r>
            <a:r>
              <a:rPr lang="zh-CN" altLang="en-US" dirty="0"/>
              <a:t>多用户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单任务</a:t>
            </a:r>
            <a:r>
              <a:rPr lang="en-US" altLang="zh-CN" dirty="0"/>
              <a:t>/</a:t>
            </a:r>
            <a:r>
              <a:rPr lang="zh-CN" altLang="en-US" dirty="0"/>
              <a:t>多任务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32</a:t>
            </a:r>
            <a:r>
              <a:rPr lang="zh-CN" altLang="en-US" dirty="0"/>
              <a:t>位</a:t>
            </a:r>
            <a:r>
              <a:rPr lang="en-US" altLang="zh-CN" dirty="0"/>
              <a:t>/64</a:t>
            </a:r>
            <a:r>
              <a:rPr lang="zh-CN" altLang="en-US" dirty="0"/>
              <a:t>位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不同平台（</a:t>
            </a:r>
            <a:r>
              <a:rPr lang="en-US" altLang="zh-CN" dirty="0"/>
              <a:t>CPU</a:t>
            </a:r>
            <a:r>
              <a:rPr lang="zh-CN" altLang="en-US" dirty="0"/>
              <a:t>）</a:t>
            </a:r>
            <a:r>
              <a:rPr lang="en-US" altLang="zh-CN" dirty="0"/>
              <a:t>Intel/ARM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不同的指令体系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27560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BA5E20B4-60A7-4B64-9778-75377DE34D9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4846</TotalTime>
  <Words>3353</Words>
  <Application>Microsoft Office PowerPoint</Application>
  <PresentationFormat>宽屏</PresentationFormat>
  <Paragraphs>477</Paragraphs>
  <Slides>52</Slides>
  <Notes>42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62" baseType="lpstr">
      <vt:lpstr>Monotype Sorts</vt:lpstr>
      <vt:lpstr>ＭＳ Ｐゴシック</vt:lpstr>
      <vt:lpstr>微软雅黑</vt:lpstr>
      <vt:lpstr>Arial</vt:lpstr>
      <vt:lpstr>Calibri</vt:lpstr>
      <vt:lpstr>Helvetica</vt:lpstr>
      <vt:lpstr>Times New Roman</vt:lpstr>
      <vt:lpstr>Verdana</vt:lpstr>
      <vt:lpstr>Wingdings</vt:lpstr>
      <vt:lpstr>os-8</vt:lpstr>
      <vt:lpstr>第一章  导论</vt:lpstr>
      <vt:lpstr>第一章  导论</vt:lpstr>
      <vt:lpstr>1.1 操作系统定义与功能</vt:lpstr>
      <vt:lpstr>计算机系统的四个组成部分</vt:lpstr>
      <vt:lpstr>操作系统简介</vt:lpstr>
      <vt:lpstr>操作系统的定义</vt:lpstr>
      <vt:lpstr>操作系统功能</vt:lpstr>
      <vt:lpstr>PowerPoint 演示文稿</vt:lpstr>
      <vt:lpstr>1.2 计算机系统的组成与运行</vt:lpstr>
      <vt:lpstr>计算机系统的运行</vt:lpstr>
      <vt:lpstr>计算机系统的执行</vt:lpstr>
      <vt:lpstr>中断的常用功能</vt:lpstr>
      <vt:lpstr>中断时间表</vt:lpstr>
      <vt:lpstr>存储设备的层次</vt:lpstr>
      <vt:lpstr>存储定义与符号</vt:lpstr>
      <vt:lpstr>存储的层次结构</vt:lpstr>
      <vt:lpstr>存储结构</vt:lpstr>
      <vt:lpstr>存储的层次结构</vt:lpstr>
      <vt:lpstr>现代计算机系统的工作原理</vt:lpstr>
      <vt:lpstr>直接存储器存取（DMA）</vt:lpstr>
      <vt:lpstr>1.3 计算机系统的体系结构</vt:lpstr>
      <vt:lpstr>多处理器系统结构</vt:lpstr>
      <vt:lpstr>集群系统</vt:lpstr>
      <vt:lpstr>操作系统的结构</vt:lpstr>
      <vt:lpstr>操作系统的结构</vt:lpstr>
      <vt:lpstr>1.4 操作系统的执行</vt:lpstr>
      <vt:lpstr>用户模式到内核模式的转换</vt:lpstr>
      <vt:lpstr>1.5 进程管理</vt:lpstr>
      <vt:lpstr>进程管理</vt:lpstr>
      <vt:lpstr>进程管理的活动</vt:lpstr>
      <vt:lpstr>PowerPoint 演示文稿</vt:lpstr>
      <vt:lpstr>1.6 内存管理</vt:lpstr>
      <vt:lpstr>存储管理</vt:lpstr>
      <vt:lpstr>存储管理</vt:lpstr>
      <vt:lpstr>大容量存储器管理</vt:lpstr>
      <vt:lpstr>各种级别存储的性能</vt:lpstr>
      <vt:lpstr>整数“A”从磁盘到寄存器的迁移</vt:lpstr>
      <vt:lpstr>I/O 子系统</vt:lpstr>
      <vt:lpstr>1.7 保护与安全</vt:lpstr>
      <vt:lpstr>1.8 内核数据结构*</vt:lpstr>
      <vt:lpstr>1.9 计算机环境——传统计算环境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开源操作系统</vt:lpstr>
      <vt:lpstr>Exercises</vt:lpstr>
      <vt:lpstr>网上查阅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Synchronization</dc:title>
  <dc:creator>T an J</dc:creator>
  <cp:lastModifiedBy>祥宇</cp:lastModifiedBy>
  <cp:revision>353</cp:revision>
  <dcterms:created xsi:type="dcterms:W3CDTF">2017-09-14T07:02:41Z</dcterms:created>
  <dcterms:modified xsi:type="dcterms:W3CDTF">2026-03-06T01:49:40Z</dcterms:modified>
</cp:coreProperties>
</file>