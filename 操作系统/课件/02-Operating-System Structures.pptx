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330" r:id="rId2"/>
    <p:sldId id="349" r:id="rId3"/>
    <p:sldId id="336" r:id="rId4"/>
    <p:sldId id="351" r:id="rId5"/>
    <p:sldId id="332" r:id="rId6"/>
    <p:sldId id="352" r:id="rId7"/>
    <p:sldId id="353" r:id="rId8"/>
    <p:sldId id="306" r:id="rId9"/>
    <p:sldId id="366" r:id="rId10"/>
    <p:sldId id="367" r:id="rId11"/>
    <p:sldId id="368" r:id="rId12"/>
    <p:sldId id="369" r:id="rId13"/>
    <p:sldId id="268" r:id="rId14"/>
    <p:sldId id="370" r:id="rId15"/>
    <p:sldId id="371" r:id="rId16"/>
    <p:sldId id="372" r:id="rId17"/>
    <p:sldId id="373" r:id="rId18"/>
    <p:sldId id="374" r:id="rId19"/>
    <p:sldId id="280" r:id="rId20"/>
    <p:sldId id="375" r:id="rId21"/>
    <p:sldId id="343" r:id="rId22"/>
    <p:sldId id="339" r:id="rId23"/>
    <p:sldId id="377" r:id="rId24"/>
    <p:sldId id="378" r:id="rId25"/>
    <p:sldId id="329" r:id="rId26"/>
    <p:sldId id="379" r:id="rId27"/>
    <p:sldId id="380" r:id="rId28"/>
    <p:sldId id="333" r:id="rId29"/>
    <p:sldId id="381" r:id="rId30"/>
    <p:sldId id="382" r:id="rId31"/>
    <p:sldId id="383" r:id="rId32"/>
    <p:sldId id="384" r:id="rId33"/>
    <p:sldId id="307" r:id="rId34"/>
    <p:sldId id="310" r:id="rId35"/>
    <p:sldId id="313" r:id="rId36"/>
    <p:sldId id="355" r:id="rId37"/>
    <p:sldId id="356" r:id="rId38"/>
    <p:sldId id="357" r:id="rId39"/>
    <p:sldId id="358" r:id="rId40"/>
    <p:sldId id="342" r:id="rId41"/>
    <p:sldId id="361" r:id="rId42"/>
    <p:sldId id="386" r:id="rId43"/>
    <p:sldId id="387" r:id="rId44"/>
    <p:sldId id="388" r:id="rId45"/>
    <p:sldId id="305" r:id="rId46"/>
    <p:sldId id="331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6" autoAdjust="0"/>
    <p:restoredTop sz="76753" autoAdjust="0"/>
  </p:normalViewPr>
  <p:slideViewPr>
    <p:cSldViewPr snapToGrid="0">
      <p:cViewPr varScale="1">
        <p:scale>
          <a:sx n="91" d="100"/>
          <a:sy n="91" d="100"/>
        </p:scale>
        <p:origin x="15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3899D-56CA-4428-AC83-C31E5D7CF5DB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8BB334-FCDD-4A9A-BA25-043E3AFEF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184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CC61288-EA9C-4888-A440-D27B6FA891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239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2A186F-1ED5-4264-9171-F1352E6C5D7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239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21A3CCE9-8101-4859-9CFE-16D757AECE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CF32E8DD-EFC6-4CC1-A0E6-3734D0A3E2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A8F80A3-079E-41E8-891D-48BDFE79C7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090DD2C-82D9-4FE3-AE8F-D96A4E621579}" type="slidenum">
              <a:rPr lang="en-US" altLang="zh-CN">
                <a:latin typeface="Times New Roman" panose="02020603050405020304" pitchFamily="18" charset="0"/>
              </a:rPr>
              <a:pPr/>
              <a:t>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5033FF99-3AC7-4824-AEAB-61935AFC96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3264CAE-6BB6-4243-AAB2-3649A9AA5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A1284AE-1408-44BA-81E8-62BA2B5CF4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F6A41B7-2196-48F4-875A-083BA3FD94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9C250E2A-D0AF-4707-A9E6-71DC37AF9C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7CBD17D-1C2D-4732-8ECF-19FB65621E4E}" type="slidenum">
              <a:rPr lang="en-US" altLang="zh-CN">
                <a:latin typeface="Times New Roman" panose="02020603050405020304" pitchFamily="18" charset="0"/>
              </a:rPr>
              <a:pPr/>
              <a:t>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8DAC5398-6A85-437A-ACEA-0EB8964484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507AFE54-E29F-4727-AEE0-00ABCF5165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23CF4F48-6E5A-4586-A5AE-FA3155E70F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28091A9-B604-4ED5-84B7-7B3E8E39E26B}" type="slidenum">
              <a:rPr lang="en-US" altLang="zh-CN">
                <a:latin typeface="Times New Roman" panose="02020603050405020304" pitchFamily="18" charset="0"/>
              </a:rPr>
              <a:pPr/>
              <a:t>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9B9FDAA1-0DE0-4BD5-96B9-7A80C1A784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EC62BA5B-E992-4DC0-99BE-CF873C2A23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C75434EB-1DC7-4138-9029-66502EFCF0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0228CB-2F80-41AE-9CB8-C6D99F376547}" type="slidenum">
              <a:rPr lang="en-US" altLang="zh-CN">
                <a:latin typeface="Times New Roman" panose="02020603050405020304" pitchFamily="18" charset="0"/>
              </a:rPr>
              <a:pPr/>
              <a:t>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73285E1-D3DE-4009-9404-BBC7E3952F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495884C8-70FC-4460-B5CA-AA894C4B0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63BE7DC1-30EC-48CA-8838-27A584FC0C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0729E7-D455-4B42-831A-61B23F61B047}" type="slidenum">
              <a:rPr lang="en-US" altLang="zh-CN">
                <a:latin typeface="Times New Roman" panose="02020603050405020304" pitchFamily="18" charset="0"/>
              </a:rPr>
              <a:pPr/>
              <a:t>7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E32243E9-B83A-4D19-9D33-17F06AAEE9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4BDB01E7-8CDB-423E-B92F-22D4B62E28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BD399DE-A4FD-4CC8-BEAF-3A436C22D7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73EBB9-DAF6-4F1C-A682-BBC2EBAF902D}" type="slidenum">
              <a:rPr lang="en-US" altLang="zh-CN">
                <a:latin typeface="Times New Roman" panose="02020603050405020304" pitchFamily="18" charset="0"/>
              </a:rPr>
              <a:pPr/>
              <a:t>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CA5FF49-0BC7-489B-B2E6-B2ADDEFAD3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968462EE-80FD-41FF-9038-85DA03A117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29422ABD-A630-4C64-B891-5259C22A8C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FC1C355-442B-48C2-B62E-F87934F57D82}" type="slidenum">
              <a:rPr lang="en-US" altLang="zh-CN">
                <a:latin typeface="Times New Roman" panose="02020603050405020304" pitchFamily="18" charset="0"/>
              </a:rPr>
              <a:pPr/>
              <a:t>10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5F4F7AB0-CBFE-4803-B3A1-E2847CCA4D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66663C34-9F29-4166-A9A1-D4BFD64B5D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5D328DDE-0223-4E93-99FA-5F512E39F6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894A4A9-0C6D-4D13-B4C5-F10A36F6BD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DC0FF18-D4CD-4E0B-A6C8-8034F9ACF5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3917DC3-EC02-48F2-BD33-C2A36A167395}" type="slidenum">
              <a:rPr lang="en-US" altLang="zh-CN">
                <a:latin typeface="Times New Roman" panose="02020603050405020304" pitchFamily="18" charset="0"/>
              </a:rPr>
              <a:pPr/>
              <a:t>12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7FDB75F-87B2-48DA-8B19-8F83ABAFE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BFC00B62-1727-4086-85A2-9BD101048F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F4DD846-BBB0-4B1F-8070-2C98D748DF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4DDA0C-E288-4BFB-99F9-9BB3816D8E95}" type="slidenum">
              <a:rPr lang="en-US" altLang="zh-CN">
                <a:latin typeface="Times New Roman" panose="02020603050405020304" pitchFamily="18" charset="0"/>
              </a:rPr>
              <a:pPr/>
              <a:t>14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991B6D1-963F-4FC1-84C2-E8FEE61B25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A7968A9A-3A5B-448B-929A-B8B8B406B1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4198D93D-4692-4AA2-ABCB-A73633E00E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1ED20F-78F5-4160-9057-B4244129AAB1}" type="slidenum">
              <a:rPr lang="en-US" altLang="zh-CN">
                <a:latin typeface="Times New Roman" panose="02020603050405020304" pitchFamily="18" charset="0"/>
              </a:rPr>
              <a:pPr/>
              <a:t>15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732917FB-AA54-4216-A1CF-52BB54AD3F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573367CF-7EE5-4A57-BCBF-837F4AD1E7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9DD15E97-65BD-4A00-8B16-D278CB9D4F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C17979-1053-4C0B-984C-B12712C59675}" type="slidenum">
              <a:rPr lang="en-US" altLang="zh-CN">
                <a:latin typeface="Times New Roman" panose="02020603050405020304" pitchFamily="18" charset="0"/>
              </a:rPr>
              <a:pPr/>
              <a:t>16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1606ADD6-0BCB-4E5F-97A0-DFEF9614FE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D04B872A-BBA9-4C3C-896C-19C16DD12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DABB1B50-311A-4E0B-BD28-14CC3FDFC2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37C88E8-772D-4A06-97A8-EB1F64B9B4C0}" type="slidenum">
              <a:rPr lang="en-US" altLang="zh-CN">
                <a:latin typeface="Times New Roman" panose="02020603050405020304" pitchFamily="18" charset="0"/>
              </a:rPr>
              <a:pPr/>
              <a:t>17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1DD69389-795A-401D-B989-E1F9E2AD47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0C44114E-D809-4DBB-B39A-322A6FB88C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6D4A0B1F-C49C-4DE3-8E40-0CCDC1F9D6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19F1644-B231-4293-A400-B28CD6728AD2}" type="slidenum">
              <a:rPr lang="en-US" altLang="zh-CN">
                <a:latin typeface="Times New Roman" panose="02020603050405020304" pitchFamily="18" charset="0"/>
              </a:rPr>
              <a:pPr/>
              <a:t>18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3404D919-D726-43C1-81E0-C9019BBBFE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F32666BD-6200-443D-B9D4-151D55A2A1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DA97257C-FE79-4855-9A9C-F422E56186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C6B9858-C953-4EB6-867C-E905A192F363}" type="slidenum">
              <a:rPr lang="en-US" altLang="zh-CN">
                <a:latin typeface="Times New Roman" panose="02020603050405020304" pitchFamily="18" charset="0"/>
              </a:rPr>
              <a:pPr/>
              <a:t>19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DE787514-CDA2-481F-AC18-07F27ED693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ADD3B6FF-81C2-4BF5-A058-14F6A8DAB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9D936E9-E437-48D1-84F0-C43B217A85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1A3680-7215-4543-A6B5-1EC6CAE85C51}" type="slidenum">
              <a:rPr lang="en-US" altLang="zh-CN">
                <a:latin typeface="Times New Roman" panose="02020603050405020304" pitchFamily="18" charset="0"/>
              </a:rPr>
              <a:pPr/>
              <a:t>20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01F9F4AE-DBAA-439D-B3CB-F3A60BBFC5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FF19CF4-B9A6-4E80-952D-F8CC6C6585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57B89707-763A-4609-B52E-BDD7E26E65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47B39E-21AE-4679-99F0-1C1560491AC8}" type="slidenum">
              <a:rPr lang="en-US" altLang="zh-CN">
                <a:latin typeface="Times New Roman" panose="02020603050405020304" pitchFamily="18" charset="0"/>
              </a:rPr>
              <a:pPr/>
              <a:t>21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2DD74B26-4C45-432D-AAEE-B05DCE46FA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437D256-8F68-4D02-BDD0-0327943AE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2B8197F-0FAC-4807-B435-580D8E60EC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DD2E3CF3-A576-4000-9932-897EE7192E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9538C331-857C-4EE9-855A-72C8DAEFED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9AEF25-21BF-4203-94F7-B464956123E8}" type="slidenum">
              <a:rPr lang="en-US" altLang="zh-CN">
                <a:latin typeface="Times New Roman" panose="02020603050405020304" pitchFamily="18" charset="0"/>
              </a:rPr>
              <a:pPr/>
              <a:t>23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30508905-A159-4869-8217-305FDA00B2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C1B265AC-5BB4-4F6C-9EC0-7B12C8BF40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A63CFEC5-1D9A-4546-8295-C43E630E94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F25021E-C4D1-495A-8679-8A9E952B17A6}" type="slidenum">
              <a:rPr lang="en-US" altLang="zh-CN">
                <a:latin typeface="Times New Roman" panose="02020603050405020304" pitchFamily="18" charset="0"/>
              </a:rPr>
              <a:pPr/>
              <a:t>24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156FD975-CBF1-4F62-A6CC-5D38493D7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AD54CFCC-432F-4D29-BE0F-D11C6F162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56D24974-6D67-4141-8151-0028617828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D73C62-6AC4-4221-9C4A-9399F3C643C0}" type="slidenum">
              <a:rPr lang="en-US" altLang="zh-CN">
                <a:latin typeface="Times New Roman" panose="02020603050405020304" pitchFamily="18" charset="0"/>
              </a:rPr>
              <a:pPr/>
              <a:t>25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2DB61B8D-5597-42F8-9D9F-2780E95795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C3D3E25F-9E0D-425E-9573-A6A108CA9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71FF444D-CC01-4C47-9298-DBEE9BCA1B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B4B4A4-40FF-42E2-A753-467E6C85C4DE}" type="slidenum">
              <a:rPr lang="en-US" altLang="zh-CN">
                <a:latin typeface="Times New Roman" panose="02020603050405020304" pitchFamily="18" charset="0"/>
              </a:rPr>
              <a:pPr/>
              <a:t>26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F45A1D7C-E822-4B8C-94F1-4E110D8EAB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46210478-F7DF-468F-85DD-8902C13B2F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C5E46D80-0EBD-416A-9700-7C5A961029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038F1E7-A0A1-40E7-9DED-048C9ECC1A02}" type="slidenum">
              <a:rPr lang="en-US" altLang="zh-CN">
                <a:latin typeface="Times New Roman" panose="02020603050405020304" pitchFamily="18" charset="0"/>
              </a:rPr>
              <a:pPr/>
              <a:t>27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EE4224AB-A843-415B-90B3-A939D5C86F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9B750124-269A-4A52-8704-C49066515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293DB62A-0CBF-4D1E-8CC5-3A572C6A02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1143F79-869F-4781-BE55-788B06A9EB71}" type="slidenum">
              <a:rPr lang="en-US" altLang="zh-CN">
                <a:latin typeface="Times New Roman" panose="02020603050405020304" pitchFamily="18" charset="0"/>
              </a:rPr>
              <a:pPr/>
              <a:t>28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412242F3-0419-4ECD-B500-CD8F2FD2C4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B2F71537-2D05-45D4-9EB0-39CE160049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5FF914B4-508A-451E-AF9F-EE1BEB6B17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06E5A3-7180-4B7C-A2FF-09552EB0B7DE}" type="slidenum">
              <a:rPr lang="en-US" altLang="zh-CN">
                <a:latin typeface="Times New Roman" panose="02020603050405020304" pitchFamily="18" charset="0"/>
              </a:rPr>
              <a:pPr/>
              <a:t>29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274F5774-1793-4ED6-8F94-606DDB4A2E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522BE959-942B-4E90-8DE0-A03B75283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318A9385-01B2-4B05-97BC-5D4BE304E6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AFD237E-23E0-4F50-AAB4-06389083297F}" type="slidenum">
              <a:rPr lang="en-US" altLang="zh-CN">
                <a:latin typeface="Times New Roman" panose="02020603050405020304" pitchFamily="18" charset="0"/>
              </a:rPr>
              <a:pPr/>
              <a:t>31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C89FA9DA-95F7-4EAC-ABC5-AEB50C93DC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B2513D5D-CB3A-4438-A3DB-6A8AF99F93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A16A9CB8-4751-4647-A90B-D96FEA99F0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C93BD0C-9B09-4627-A207-28AB873EA4DB}" type="slidenum">
              <a:rPr lang="en-US" altLang="zh-CN">
                <a:latin typeface="Times New Roman" panose="02020603050405020304" pitchFamily="18" charset="0"/>
              </a:rPr>
              <a:pPr/>
              <a:t>32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801C6A91-ECCB-4B6D-A7EC-B8938CE733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573A301B-58A1-4EF3-9AC1-93352895B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FD15C0BA-FF58-44FE-95FB-B254813856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596C69D-89E6-4963-8EE8-2C5D3D275C46}" type="slidenum">
              <a:rPr lang="en-US" altLang="zh-CN">
                <a:latin typeface="Times New Roman" panose="02020603050405020304" pitchFamily="18" charset="0"/>
              </a:rPr>
              <a:pPr/>
              <a:t>33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29D162A7-BA82-42FE-AF64-034C8C38D4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3624CC4-181B-480C-B2B7-F4C1147827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60F18AD3-39AB-4827-96A1-0B41E0ECFD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A1F32D-5083-406B-BEE8-FCABD75B64C5}" type="slidenum">
              <a:rPr lang="en-US" altLang="zh-CN">
                <a:latin typeface="Times New Roman" panose="02020603050405020304" pitchFamily="18" charset="0"/>
              </a:rPr>
              <a:pPr/>
              <a:t>34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E576CA13-2AF0-4DE3-A804-6A803A79E2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948F7A4B-4BF0-4E7A-AE70-B69D38EB39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D4DA2C32-C51B-4EAB-8D3D-9CE280092D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95C372-4060-4A35-89A0-1FFB154D18CD}" type="slidenum">
              <a:rPr lang="en-US" altLang="zh-CN">
                <a:latin typeface="Times New Roman" panose="02020603050405020304" pitchFamily="18" charset="0"/>
              </a:rPr>
              <a:pPr/>
              <a:t>35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D9FA536B-8BE4-458A-BF94-52376023BE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97E9CEAE-60B1-40E7-AAD6-D34AED227E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26210820-E9FE-4720-9BF9-03DF9D5CE3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3279EB-5327-482E-A60E-A692B0195834}" type="slidenum">
              <a:rPr lang="en-US" altLang="zh-CN">
                <a:latin typeface="Times New Roman" panose="02020603050405020304" pitchFamily="18" charset="0"/>
              </a:rPr>
              <a:pPr/>
              <a:t>36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E7782282-8E93-4317-9D84-FCE41E6FEB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18D2729C-7DA4-427C-BEC5-84C166468F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BB334-FCDD-4A9A-BA25-043E3AFEFE50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4630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37EA4D38-B6B3-436B-80B6-1DDA31B689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F0AC9E-06EC-4696-83C3-21883B8C1739}" type="slidenum">
              <a:rPr lang="en-US" altLang="zh-CN">
                <a:latin typeface="Times New Roman" panose="02020603050405020304" pitchFamily="18" charset="0"/>
              </a:rPr>
              <a:pPr/>
              <a:t>38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E42D81AD-7166-472F-BAB4-672188F161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D8821BD0-D878-4401-846A-FCEF49EDB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1BCB3031-E5F1-47F1-9432-3BBDA3BD5F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985E80-9808-454A-A464-5174C4B6E718}" type="slidenum">
              <a:rPr lang="en-US" altLang="zh-CN">
                <a:latin typeface="Times New Roman" panose="02020603050405020304" pitchFamily="18" charset="0"/>
              </a:rPr>
              <a:pPr/>
              <a:t>39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2A12A482-1613-41F7-942A-0AF3B64FA1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BB6A9A24-9EAB-4807-8BDB-E42C430B84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11FC97AD-6B99-4BBC-B478-435B0601CE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FAC0DB46-7FD2-42BD-97BD-000F90CDA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8E8A983B-CC77-4BF9-9F90-32A8C515D1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0D0C4E02-2DA3-4F2D-A18E-57986D3C33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F10F13C0-258A-4692-8FBB-A05D1EF3C7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C1F089-14D2-437B-BF22-BFCE1FC40A62}" type="slidenum">
              <a:rPr lang="en-US" altLang="zh-CN">
                <a:latin typeface="Times New Roman" panose="02020603050405020304" pitchFamily="18" charset="0"/>
              </a:rPr>
              <a:pPr/>
              <a:t>42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6A66C002-DC4A-4E2B-9DBA-1FF40D346E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F98DB13-B822-45F1-AFE6-BF42E190B0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C0ADDEC6-A728-40E6-85FE-A0617BB570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AEE03E5-F3B8-4483-9258-B4DDA7C582EB}" type="slidenum">
              <a:rPr lang="en-US" altLang="zh-CN">
                <a:latin typeface="Times New Roman" panose="02020603050405020304" pitchFamily="18" charset="0"/>
              </a:rPr>
              <a:pPr/>
              <a:t>43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53327BB0-85C0-4A89-9CF1-58F5B46AB2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25E6F10A-5CF0-47E4-857E-2969D58097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BE2DE602-EB97-4F7E-BCD8-8E6FD3F04C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541967-5082-4946-A69F-E579386C5370}" type="slidenum">
              <a:rPr lang="en-US" altLang="zh-CN">
                <a:latin typeface="Times New Roman" panose="02020603050405020304" pitchFamily="18" charset="0"/>
              </a:rPr>
              <a:pPr/>
              <a:t>44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75D78ABB-2A32-47EC-BF0E-A30A65F26F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D55498F-7D84-4DBB-B77C-FB11DB58C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F54446FA-CA97-44FA-9DF0-0F2ABC7139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7A1BC07-444F-49AA-97B3-374AF1974063}" type="slidenum">
              <a:rPr lang="en-US" altLang="zh-CN">
                <a:latin typeface="Times New Roman" panose="02020603050405020304" pitchFamily="18" charset="0"/>
              </a:rPr>
              <a:pPr/>
              <a:t>46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8FAE1DBC-AB72-40F1-9297-6F648E8C07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A055CF60-E361-4C3E-A55C-BA0972DEF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5984" y="6613526"/>
            <a:ext cx="2659692" cy="246217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000" b="1">
                <a:solidFill>
                  <a:srgbClr val="336699"/>
                </a:solidFill>
                <a:ea typeface="MS PGothic" panose="020B0600070205080204" pitchFamily="34" charset="-128"/>
              </a:rPr>
              <a:t>Operating System Concepts – 9</a:t>
            </a:r>
            <a:r>
              <a:rPr lang="en-US" sz="1000" b="1" baseline="30000">
                <a:solidFill>
                  <a:srgbClr val="336699"/>
                </a:solidFill>
                <a:ea typeface="MS PGothic" panose="020B0600070205080204" pitchFamily="34" charset="-128"/>
              </a:rPr>
              <a:t>th</a:t>
            </a:r>
            <a:r>
              <a:rPr lang="en-US" sz="1000" b="1">
                <a:solidFill>
                  <a:srgbClr val="336699"/>
                </a:solidFill>
                <a:ea typeface="MS PGothic" panose="020B0600070205080204" pitchFamily="34" charset="-128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37FDAE40-37DC-4D88-B117-D96496E36FC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18450" y="6611937"/>
            <a:ext cx="4273550" cy="246217"/>
          </a:xfrm>
          <a:prstGeom prst="rect">
            <a:avLst/>
          </a:prstGeom>
          <a:noFill/>
          <a:ln>
            <a:noFill/>
          </a:ln>
        </p:spPr>
        <p:txBody>
          <a:bodyPr wrap="square" lIns="91435" tIns="45718" rIns="91435" bIns="45718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sz="1000" b="1" dirty="0" err="1">
                <a:solidFill>
                  <a:srgbClr val="336699"/>
                </a:solidFill>
                <a:latin typeface="Helvetica" pitchFamily="-84" charset="0"/>
              </a:rPr>
              <a:t>Xidian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University,</a:t>
            </a:r>
            <a:r>
              <a:rPr lang="en-US" sz="1000" b="1" baseline="0" dirty="0">
                <a:solidFill>
                  <a:srgbClr val="336699"/>
                </a:solidFill>
                <a:latin typeface="Helvetica" pitchFamily="-84" charset="0"/>
              </a:rPr>
              <a:t> Cyber Engineering, </a:t>
            </a:r>
            <a:r>
              <a:rPr lang="en-US" altLang="zh-CN" sz="1000" b="1" baseline="0" dirty="0">
                <a:solidFill>
                  <a:srgbClr val="336699"/>
                </a:solidFill>
                <a:latin typeface="Helvetica" pitchFamily="-84" charset="0"/>
              </a:rPr>
              <a:t>Wang </a:t>
            </a:r>
            <a:r>
              <a:rPr lang="en-US" altLang="zh-CN" sz="1000" b="1" baseline="0" dirty="0" err="1">
                <a:solidFill>
                  <a:srgbClr val="336699"/>
                </a:solidFill>
                <a:latin typeface="Helvetica" pitchFamily="-84" charset="0"/>
              </a:rPr>
              <a:t>Xiangyu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32575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1313" indent="-341313">
              <a:buFont typeface="Wingdings" panose="05000000000000000000" pitchFamily="2" charset="2"/>
              <a:buChar char="p"/>
              <a:defRPr/>
            </a:lvl1pPr>
            <a:lvl2pPr marL="741363" indent="-284163">
              <a:buFont typeface="Wingdings" panose="05000000000000000000" pitchFamily="2" charset="2"/>
              <a:buChar char="n"/>
              <a:defRPr/>
            </a:lvl2pPr>
            <a:lvl3pPr marL="1084263" indent="-227013">
              <a:buFont typeface="Wingdings" panose="05000000000000000000" pitchFamily="2" charset="2"/>
              <a:buChar char="Ø"/>
              <a:defRPr/>
            </a:lvl3pPr>
            <a:lvl4pPr marL="1427163" indent="-227013">
              <a:buFont typeface="Wingdings" panose="05000000000000000000" pitchFamily="2" charset="2"/>
              <a:buChar char="ü"/>
              <a:defRPr/>
            </a:lvl4pPr>
            <a:lvl5pPr marL="1770063" indent="-227013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45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139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267" y="1233490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90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120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8846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6107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096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0888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912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0659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88451" y="277813"/>
            <a:ext cx="285961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375651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0242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5"/>
            <a:ext cx="10972800" cy="5762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75267" y="123349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9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082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593851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267" y="1233489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09600" y="860425"/>
            <a:ext cx="107696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 lIns="91435" tIns="45718" rIns="91435" bIns="4571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5749461" y="6613526"/>
            <a:ext cx="447548" cy="246217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1000" b="1">
                <a:solidFill>
                  <a:srgbClr val="006699"/>
                </a:solidFill>
                <a:latin typeface="Helvetica" panose="020B0604020202020204" pitchFamily="34" charset="0"/>
              </a:rPr>
              <a:t>5.</a:t>
            </a:r>
            <a:fld id="{08C61524-A86C-4EEA-897F-D0BC5AB60DA3}" type="slidenum">
              <a:rPr lang="en-US" altLang="zh-CN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t>‹#›</a:t>
            </a:fld>
            <a:endParaRPr lang="en-US" altLang="zh-CN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5318" y="5849938"/>
            <a:ext cx="171238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47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5pPr>
      <a:lvl6pPr marL="457177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354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532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709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Wingdings" panose="05000000000000000000" pitchFamily="2" charset="2"/>
        <a:buChar char="p"/>
        <a:defRPr kumimoji="1"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741363" indent="-284163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Wingdings" panose="05000000000000000000" pitchFamily="2" charset="2"/>
        <a:buChar char="n"/>
        <a:defRPr kumimoji="1"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084263" indent="-227013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ingdings" panose="05000000000000000000" pitchFamily="2" charset="2"/>
        <a:buChar char="Ø"/>
        <a:defRPr kumimoji="1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427163" indent="-227013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ü"/>
        <a:defRPr kumimoji="1" sz="16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1770063" indent="-227013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Font typeface="Arial" panose="020B0604020202020204" pitchFamily="34" charset="0"/>
        <a:buChar char="•"/>
        <a:defRPr kumimoji="1" sz="16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228738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5915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093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270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0D2832C-6D4B-4291-B505-BD7CAA12421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66900" y="1465232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第二章 </a:t>
            </a:r>
            <a:r>
              <a:rPr lang="zh-CN" altLang="en-US" dirty="0"/>
              <a:t>操作系统结构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F86BBAC-7013-4964-8EB3-E0CF181A0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第二章  操作系统结构</a:t>
            </a:r>
            <a:endParaRPr lang="en-US" altLang="zh-CN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CFB3E9B-E532-4F6D-B579-DB1754BD47A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操作系统的服务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用户与操作系统的界面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系统调用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系统调用的类型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系统程序</a:t>
            </a:r>
            <a:endParaRPr lang="en-US" altLang="zh-CN" sz="2800" dirty="0">
              <a:ea typeface="微软雅黑" panose="020B0503020204020204" pitchFamily="34" charset="-122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11FC706-F830-4E1F-BFB0-294E8D5C01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操作系统的设计与实现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操作系统的结构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操作系统的调试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操作系统的生成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系统引导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FC55630C-ED4A-412C-B5FB-D1635C403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45547" y="141288"/>
            <a:ext cx="8700241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</a:rPr>
              <a:t>2.1 </a:t>
            </a:r>
            <a:r>
              <a:rPr lang="zh-CN" altLang="en-US" dirty="0">
                <a:ea typeface="微软雅黑" panose="020B0503020204020204" pitchFamily="34" charset="-122"/>
              </a:rPr>
              <a:t>操作系统服务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grpSp>
        <p:nvGrpSpPr>
          <p:cNvPr id="17411" name="组合 2">
            <a:extLst>
              <a:ext uri="{FF2B5EF4-FFF2-40B4-BE49-F238E27FC236}">
                <a16:creationId xmlns:a16="http://schemas.microsoft.com/office/drawing/2014/main" id="{27ED0F49-4639-45C1-89A7-F3A8551954D0}"/>
              </a:ext>
            </a:extLst>
          </p:cNvPr>
          <p:cNvGrpSpPr>
            <a:grpSpLocks/>
          </p:cNvGrpSpPr>
          <p:nvPr/>
        </p:nvGrpSpPr>
        <p:grpSpPr bwMode="auto">
          <a:xfrm>
            <a:off x="1408853" y="1388534"/>
            <a:ext cx="8944081" cy="4632749"/>
            <a:chOff x="598951" y="1601788"/>
            <a:chExt cx="7536988" cy="3762692"/>
          </a:xfrm>
        </p:grpSpPr>
        <p:pic>
          <p:nvPicPr>
            <p:cNvPr id="17412" name="Picture 4" descr="2">
              <a:extLst>
                <a:ext uri="{FF2B5EF4-FFF2-40B4-BE49-F238E27FC236}">
                  <a16:creationId xmlns:a16="http://schemas.microsoft.com/office/drawing/2014/main" id="{449D1133-7459-44C5-AE74-FB773A2C27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951" y="1601788"/>
              <a:ext cx="7536988" cy="3762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3" name="矩形 1">
              <a:extLst>
                <a:ext uri="{FF2B5EF4-FFF2-40B4-BE49-F238E27FC236}">
                  <a16:creationId xmlns:a16="http://schemas.microsoft.com/office/drawing/2014/main" id="{6A1BA31D-DD21-4721-A7E5-E68F68AE6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1360" y="1625600"/>
              <a:ext cx="2225040" cy="2235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ea typeface="微软雅黑" panose="020B0503020204020204" pitchFamily="34" charset="-122"/>
                </a:rPr>
                <a:t>用户和其它系统程序</a:t>
              </a:r>
            </a:p>
          </p:txBody>
        </p:sp>
        <p:sp>
          <p:nvSpPr>
            <p:cNvPr id="17414" name="矩形 4">
              <a:extLst>
                <a:ext uri="{FF2B5EF4-FFF2-40B4-BE49-F238E27FC236}">
                  <a16:creationId xmlns:a16="http://schemas.microsoft.com/office/drawing/2014/main" id="{FC2B969B-FAA9-44EB-B20C-DBC353812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5120" y="2001520"/>
              <a:ext cx="436880" cy="243840"/>
            </a:xfrm>
            <a:prstGeom prst="rect">
              <a:avLst/>
            </a:prstGeom>
            <a:solidFill>
              <a:srgbClr val="D0D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ea typeface="微软雅黑" panose="020B0503020204020204" pitchFamily="34" charset="-122"/>
                </a:rPr>
                <a:t>批处理</a:t>
              </a:r>
            </a:p>
          </p:txBody>
        </p:sp>
        <p:sp>
          <p:nvSpPr>
            <p:cNvPr id="17415" name="矩形 5">
              <a:extLst>
                <a:ext uri="{FF2B5EF4-FFF2-40B4-BE49-F238E27FC236}">
                  <a16:creationId xmlns:a16="http://schemas.microsoft.com/office/drawing/2014/main" id="{87824B6A-3BBA-45E2-BCD7-921A3553E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7440" y="2001520"/>
              <a:ext cx="965200" cy="223520"/>
            </a:xfrm>
            <a:prstGeom prst="rect">
              <a:avLst/>
            </a:prstGeom>
            <a:solidFill>
              <a:srgbClr val="D0D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ea typeface="微软雅黑" panose="020B0503020204020204" pitchFamily="34" charset="-122"/>
                </a:rPr>
                <a:t>命令行</a:t>
              </a:r>
            </a:p>
          </p:txBody>
        </p:sp>
        <p:sp>
          <p:nvSpPr>
            <p:cNvPr id="17416" name="矩形 6">
              <a:extLst>
                <a:ext uri="{FF2B5EF4-FFF2-40B4-BE49-F238E27FC236}">
                  <a16:creationId xmlns:a16="http://schemas.microsoft.com/office/drawing/2014/main" id="{55169111-7002-4AE0-A9A2-92D96ED51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0960" y="2397760"/>
              <a:ext cx="1046480" cy="243840"/>
            </a:xfrm>
            <a:prstGeom prst="rect">
              <a:avLst/>
            </a:prstGeom>
            <a:solidFill>
              <a:srgbClr val="D0D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ea typeface="微软雅黑" panose="020B0503020204020204" pitchFamily="34" charset="-122"/>
                </a:rPr>
                <a:t>用户界面</a:t>
              </a:r>
            </a:p>
          </p:txBody>
        </p:sp>
        <p:sp>
          <p:nvSpPr>
            <p:cNvPr id="17417" name="矩形 7">
              <a:extLst>
                <a:ext uri="{FF2B5EF4-FFF2-40B4-BE49-F238E27FC236}">
                  <a16:creationId xmlns:a16="http://schemas.microsoft.com/office/drawing/2014/main" id="{33E47FDE-2830-4E38-A124-3198D114D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0960" y="2936240"/>
              <a:ext cx="1046480" cy="183198"/>
            </a:xfrm>
            <a:prstGeom prst="rect">
              <a:avLst/>
            </a:prstGeom>
            <a:solidFill>
              <a:srgbClr val="D0D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ea typeface="微软雅黑" panose="020B0503020204020204" pitchFamily="34" charset="-122"/>
                </a:rPr>
                <a:t>系统调用</a:t>
              </a:r>
            </a:p>
          </p:txBody>
        </p:sp>
        <p:sp>
          <p:nvSpPr>
            <p:cNvPr id="17418" name="矩形 8">
              <a:extLst>
                <a:ext uri="{FF2B5EF4-FFF2-40B4-BE49-F238E27FC236}">
                  <a16:creationId xmlns:a16="http://schemas.microsoft.com/office/drawing/2014/main" id="{EDC7245B-0FBB-4B06-A36C-D6E3AFCE6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8" y="3483134"/>
              <a:ext cx="765492" cy="377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ea typeface="微软雅黑" panose="020B0503020204020204" pitchFamily="34" charset="-122"/>
                </a:rPr>
                <a:t>程序执行</a:t>
              </a:r>
            </a:p>
          </p:txBody>
        </p:sp>
        <p:sp>
          <p:nvSpPr>
            <p:cNvPr id="17419" name="矩形 9">
              <a:extLst>
                <a:ext uri="{FF2B5EF4-FFF2-40B4-BE49-F238E27FC236}">
                  <a16:creationId xmlns:a16="http://schemas.microsoft.com/office/drawing/2014/main" id="{1CE66316-A287-4E38-8CF8-BC3D97958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0917" y="3483134"/>
              <a:ext cx="765492" cy="377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 dirty="0">
                  <a:ea typeface="微软雅黑" panose="020B0503020204020204" pitchFamily="34" charset="-122"/>
                </a:rPr>
                <a:t>I/O</a:t>
              </a:r>
              <a:r>
                <a:rPr kumimoji="0" lang="zh-CN" altLang="en-US" sz="1400" dirty="0">
                  <a:ea typeface="微软雅黑" panose="020B0503020204020204" pitchFamily="34" charset="-122"/>
                </a:rPr>
                <a:t>操作</a:t>
              </a:r>
            </a:p>
          </p:txBody>
        </p:sp>
        <p:sp>
          <p:nvSpPr>
            <p:cNvPr id="17420" name="矩形 10">
              <a:extLst>
                <a:ext uri="{FF2B5EF4-FFF2-40B4-BE49-F238E27FC236}">
                  <a16:creationId xmlns:a16="http://schemas.microsoft.com/office/drawing/2014/main" id="{9552960D-EC2E-4779-BF42-3478BE5ED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9628" y="3487341"/>
              <a:ext cx="765492" cy="377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 dirty="0">
                  <a:ea typeface="微软雅黑" panose="020B0503020204020204" pitchFamily="34" charset="-122"/>
                </a:rPr>
                <a:t>文件系统操作</a:t>
              </a:r>
            </a:p>
          </p:txBody>
        </p:sp>
        <p:sp>
          <p:nvSpPr>
            <p:cNvPr id="17421" name="矩形 11">
              <a:extLst>
                <a:ext uri="{FF2B5EF4-FFF2-40B4-BE49-F238E27FC236}">
                  <a16:creationId xmlns:a16="http://schemas.microsoft.com/office/drawing/2014/main" id="{5815F423-B2B9-4993-A6D9-6CF106451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8854" y="3483134"/>
              <a:ext cx="965199" cy="377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ea typeface="微软雅黑" panose="020B0503020204020204" pitchFamily="34" charset="-122"/>
                </a:rPr>
                <a:t>通信</a:t>
              </a:r>
            </a:p>
          </p:txBody>
        </p:sp>
        <p:sp>
          <p:nvSpPr>
            <p:cNvPr id="17422" name="矩形 12">
              <a:extLst>
                <a:ext uri="{FF2B5EF4-FFF2-40B4-BE49-F238E27FC236}">
                  <a16:creationId xmlns:a16="http://schemas.microsoft.com/office/drawing/2014/main" id="{6F2E8636-FDC7-416A-B1E6-D9F9B8AA1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7627" y="3483134"/>
              <a:ext cx="765492" cy="377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ea typeface="微软雅黑" panose="020B0503020204020204" pitchFamily="34" charset="-122"/>
                </a:rPr>
                <a:t>资源分配</a:t>
              </a:r>
            </a:p>
          </p:txBody>
        </p:sp>
        <p:sp>
          <p:nvSpPr>
            <p:cNvPr id="17423" name="矩形 13">
              <a:extLst>
                <a:ext uri="{FF2B5EF4-FFF2-40B4-BE49-F238E27FC236}">
                  <a16:creationId xmlns:a16="http://schemas.microsoft.com/office/drawing/2014/main" id="{5153A8DD-B156-4F04-B797-32A83DAAE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3083" y="3487341"/>
              <a:ext cx="765492" cy="377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ea typeface="微软雅黑" panose="020B0503020204020204" pitchFamily="34" charset="-122"/>
                </a:rPr>
                <a:t>记账</a:t>
              </a:r>
            </a:p>
          </p:txBody>
        </p:sp>
        <p:sp>
          <p:nvSpPr>
            <p:cNvPr id="17424" name="矩形 14">
              <a:extLst>
                <a:ext uri="{FF2B5EF4-FFF2-40B4-BE49-F238E27FC236}">
                  <a16:creationId xmlns:a16="http://schemas.microsoft.com/office/drawing/2014/main" id="{A65C7F11-B4B4-44EB-9E06-AA768E447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1308" y="4234974"/>
              <a:ext cx="765492" cy="377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ea typeface="微软雅黑" panose="020B0503020204020204" pitchFamily="34" charset="-122"/>
                </a:rPr>
                <a:t>错误检测</a:t>
              </a:r>
            </a:p>
          </p:txBody>
        </p:sp>
        <p:sp>
          <p:nvSpPr>
            <p:cNvPr id="17425" name="矩形 15">
              <a:extLst>
                <a:ext uri="{FF2B5EF4-FFF2-40B4-BE49-F238E27FC236}">
                  <a16:creationId xmlns:a16="http://schemas.microsoft.com/office/drawing/2014/main" id="{85AB9AC2-FF53-45AC-9E55-85820646C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4456" y="4202748"/>
              <a:ext cx="765492" cy="510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ea typeface="微软雅黑" panose="020B0503020204020204" pitchFamily="34" charset="-122"/>
                </a:rPr>
                <a:t>保护与安全</a:t>
              </a:r>
            </a:p>
          </p:txBody>
        </p:sp>
        <p:sp>
          <p:nvSpPr>
            <p:cNvPr id="17426" name="矩形 16">
              <a:extLst>
                <a:ext uri="{FF2B5EF4-FFF2-40B4-BE49-F238E27FC236}">
                  <a16:creationId xmlns:a16="http://schemas.microsoft.com/office/drawing/2014/main" id="{DCB2FA2D-365F-4910-A9AB-1B537BA8A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320" y="4501198"/>
              <a:ext cx="1046480" cy="243840"/>
            </a:xfrm>
            <a:prstGeom prst="rect">
              <a:avLst/>
            </a:prstGeom>
            <a:solidFill>
              <a:srgbClr val="D0D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ea typeface="微软雅黑" panose="020B0503020204020204" pitchFamily="34" charset="-122"/>
                </a:rPr>
                <a:t>服务</a:t>
              </a:r>
            </a:p>
          </p:txBody>
        </p:sp>
        <p:sp>
          <p:nvSpPr>
            <p:cNvPr id="17427" name="矩形 17">
              <a:extLst>
                <a:ext uri="{FF2B5EF4-FFF2-40B4-BE49-F238E27FC236}">
                  <a16:creationId xmlns:a16="http://schemas.microsoft.com/office/drawing/2014/main" id="{A2CAB2D6-9D47-4F28-BC7D-AA5520133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320" y="4852923"/>
              <a:ext cx="1087120" cy="164702"/>
            </a:xfrm>
            <a:prstGeom prst="rect">
              <a:avLst/>
            </a:prstGeom>
            <a:solidFill>
              <a:srgbClr val="C7E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ea typeface="微软雅黑" panose="020B0503020204020204" pitchFamily="34" charset="-122"/>
                </a:rPr>
                <a:t>操作系统</a:t>
              </a:r>
            </a:p>
          </p:txBody>
        </p:sp>
        <p:sp>
          <p:nvSpPr>
            <p:cNvPr id="17428" name="矩形 18">
              <a:extLst>
                <a:ext uri="{FF2B5EF4-FFF2-40B4-BE49-F238E27FC236}">
                  <a16:creationId xmlns:a16="http://schemas.microsoft.com/office/drawing/2014/main" id="{DC567436-E38F-4D5E-8F72-40670CBC7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454" y="5126236"/>
              <a:ext cx="765492" cy="1647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ea typeface="微软雅黑" panose="020B0503020204020204" pitchFamily="34" charset="-122"/>
                </a:rPr>
                <a:t>硬件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0AB82E1-A9EA-4AA0-A52F-025DEB5B82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74926" y="198438"/>
            <a:ext cx="7635875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操作系统的服务</a:t>
            </a:r>
            <a:endParaRPr lang="en-US" altLang="zh-CN">
              <a:ea typeface="微软雅黑" panose="020B0503020204020204" pitchFamily="34" charset="-122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AFB5441-73A3-4DE4-93F9-8A13DDC2AF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9919" y="1143000"/>
            <a:ext cx="11026987" cy="4865688"/>
          </a:xfrm>
          <a:noFill/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操作系统为程序和用户提供执行程序和服务的环境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操作系统有一组服务，为用户提供功能：</a:t>
            </a:r>
          </a:p>
          <a:p>
            <a:pPr lvl="1" algn="just">
              <a:lnSpc>
                <a:spcPct val="150000"/>
              </a:lnSpc>
            </a:pPr>
            <a:r>
              <a:rPr lang="zh-CN" altLang="en-US" sz="2400" b="1" dirty="0">
                <a:ea typeface="微软雅黑" panose="020B0503020204020204" pitchFamily="34" charset="-122"/>
              </a:rPr>
              <a:t>用户界面</a:t>
            </a:r>
            <a:r>
              <a:rPr lang="en-US" altLang="zh-CN" sz="2400" dirty="0"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ea typeface="微软雅黑" panose="020B0503020204020204" pitchFamily="34" charset="-122"/>
              </a:rPr>
              <a:t>几乎所有操作系统都有用户界面 </a:t>
            </a:r>
            <a:r>
              <a:rPr lang="en-US" altLang="zh-CN" sz="2400" dirty="0">
                <a:ea typeface="微软雅黑" panose="020B0503020204020204" pitchFamily="34" charset="-122"/>
              </a:rPr>
              <a:t>(</a:t>
            </a:r>
            <a:r>
              <a:rPr lang="en-US" altLang="zh-CN" sz="2400" b="1" dirty="0">
                <a:ea typeface="微软雅黑" panose="020B0503020204020204" pitchFamily="34" charset="-122"/>
              </a:rPr>
              <a:t>UI</a:t>
            </a:r>
            <a:r>
              <a:rPr lang="en-US" altLang="zh-CN" sz="2400" dirty="0">
                <a:ea typeface="微软雅黑" panose="020B0503020204020204" pitchFamily="34" charset="-122"/>
              </a:rPr>
              <a:t>)</a:t>
            </a:r>
            <a:endParaRPr lang="zh-CN" altLang="en-US" sz="2400" dirty="0">
              <a:ea typeface="微软雅黑" panose="020B0503020204020204" pitchFamily="34" charset="-122"/>
            </a:endParaRPr>
          </a:p>
          <a:p>
            <a:pPr lvl="2" algn="just">
              <a:lnSpc>
                <a:spcPct val="150000"/>
              </a:lnSpc>
            </a:pPr>
            <a:r>
              <a:rPr lang="zh-CN" altLang="en-US" sz="2000" b="1" dirty="0">
                <a:ea typeface="微软雅黑" panose="020B0503020204020204" pitchFamily="34" charset="-122"/>
              </a:rPr>
              <a:t>命令行界面 </a:t>
            </a:r>
            <a:r>
              <a:rPr lang="en-US" altLang="zh-CN" sz="2000" dirty="0">
                <a:ea typeface="微软雅黑" panose="020B0503020204020204" pitchFamily="34" charset="-122"/>
              </a:rPr>
              <a:t>(CLI)</a:t>
            </a:r>
            <a:r>
              <a:rPr lang="zh-CN" altLang="en-US" sz="2000" dirty="0">
                <a:ea typeface="微软雅黑" panose="020B0503020204020204" pitchFamily="34" charset="-122"/>
              </a:rPr>
              <a:t>、</a:t>
            </a:r>
            <a:r>
              <a:rPr lang="zh-CN" altLang="en-US" sz="2000" b="1" dirty="0">
                <a:ea typeface="微软雅黑" panose="020B0503020204020204" pitchFamily="34" charset="-122"/>
              </a:rPr>
              <a:t>图形用户界面 </a:t>
            </a:r>
            <a:r>
              <a:rPr lang="en-US" altLang="zh-CN" sz="2000" dirty="0">
                <a:ea typeface="微软雅黑" panose="020B0503020204020204" pitchFamily="34" charset="-122"/>
              </a:rPr>
              <a:t>(GUI)</a:t>
            </a:r>
            <a:r>
              <a:rPr lang="zh-CN" altLang="en-US" sz="2000" dirty="0">
                <a:ea typeface="微软雅黑" panose="020B0503020204020204" pitchFamily="34" charset="-122"/>
              </a:rPr>
              <a:t>、</a:t>
            </a:r>
            <a:r>
              <a:rPr lang="zh-CN" altLang="en-US" sz="2000" b="1" dirty="0">
                <a:ea typeface="微软雅黑" panose="020B0503020204020204" pitchFamily="34" charset="-122"/>
              </a:rPr>
              <a:t>批处理界面</a:t>
            </a:r>
            <a:r>
              <a:rPr lang="zh-CN" altLang="en-US" sz="2000" dirty="0"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ea typeface="微软雅黑" panose="020B0503020204020204" pitchFamily="34" charset="-122"/>
              </a:rPr>
              <a:t>bat</a:t>
            </a:r>
            <a:r>
              <a:rPr lang="zh-CN" altLang="en-US" sz="2000" dirty="0">
                <a:ea typeface="微软雅黑" panose="020B0503020204020204" pitchFamily="34" charset="-122"/>
              </a:rPr>
              <a:t>）</a:t>
            </a:r>
          </a:p>
          <a:p>
            <a:pPr lvl="1" algn="just">
              <a:lnSpc>
                <a:spcPct val="150000"/>
              </a:lnSpc>
            </a:pPr>
            <a:r>
              <a:rPr lang="zh-CN" altLang="en-US" sz="2400" b="1" dirty="0">
                <a:ea typeface="微软雅黑" panose="020B0503020204020204" pitchFamily="34" charset="-122"/>
              </a:rPr>
              <a:t>程序执行</a:t>
            </a:r>
            <a:r>
              <a:rPr lang="en-US" altLang="zh-CN" sz="2400" dirty="0"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ea typeface="微软雅黑" panose="020B0503020204020204" pitchFamily="34" charset="-122"/>
              </a:rPr>
              <a:t>系统应能加载程序到内存并加以运行，并且可以结束执行， 包括正常或不正常（并给出错误）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sz="2400" b="1" dirty="0">
                <a:ea typeface="微软雅黑" panose="020B0503020204020204" pitchFamily="34" charset="-122"/>
              </a:rPr>
              <a:t>I/O </a:t>
            </a:r>
            <a:r>
              <a:rPr lang="zh-CN" altLang="en-US" sz="2400" b="1" dirty="0">
                <a:ea typeface="微软雅黑" panose="020B0503020204020204" pitchFamily="34" charset="-122"/>
              </a:rPr>
              <a:t>操作</a:t>
            </a:r>
            <a:r>
              <a:rPr lang="en-US" altLang="zh-CN" sz="2400" dirty="0"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ea typeface="微软雅黑" panose="020B0503020204020204" pitchFamily="34" charset="-122"/>
              </a:rPr>
              <a:t>程序运行可能需要 </a:t>
            </a:r>
            <a:r>
              <a:rPr lang="en-US" altLang="zh-CN" sz="2400" dirty="0">
                <a:ea typeface="微软雅黑" panose="020B0503020204020204" pitchFamily="34" charset="-122"/>
              </a:rPr>
              <a:t>I/O</a:t>
            </a:r>
            <a:r>
              <a:rPr lang="zh-CN" altLang="en-US" sz="2400" dirty="0">
                <a:ea typeface="微软雅黑" panose="020B0503020204020204" pitchFamily="34" charset="-122"/>
              </a:rPr>
              <a:t>，这些 </a:t>
            </a:r>
            <a:r>
              <a:rPr lang="en-US" altLang="zh-CN" sz="2400" dirty="0">
                <a:ea typeface="微软雅黑" panose="020B0503020204020204" pitchFamily="34" charset="-122"/>
              </a:rPr>
              <a:t>I/O</a:t>
            </a:r>
            <a:r>
              <a:rPr lang="zh-CN" altLang="en-US" sz="2400" dirty="0">
                <a:ea typeface="微软雅黑" panose="020B0503020204020204" pitchFamily="34" charset="-122"/>
              </a:rPr>
              <a:t>可能涉及文件或设备</a:t>
            </a:r>
            <a:endParaRPr lang="en-US" altLang="zh-CN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F3E07CDD-7CC2-4BDD-81E6-A28CB8152D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3147" y="892175"/>
            <a:ext cx="11297920" cy="5729288"/>
          </a:xfrm>
          <a:noFill/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操作系统有一组服务，为用户提供功能：</a:t>
            </a:r>
          </a:p>
          <a:p>
            <a:pPr lvl="1" algn="just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文件系统操作</a:t>
            </a:r>
            <a:r>
              <a:rPr lang="en-US" altLang="zh-CN" dirty="0"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ea typeface="微软雅黑" panose="020B0503020204020204" pitchFamily="34" charset="-122"/>
              </a:rPr>
              <a:t>程序需要读写文件和目录，创建和删除、搜索、列出文件信息、管理权限</a:t>
            </a:r>
          </a:p>
          <a:p>
            <a:pPr lvl="1" algn="just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通信</a:t>
            </a:r>
            <a:r>
              <a:rPr lang="en-US" altLang="zh-CN" dirty="0"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ea typeface="微软雅黑" panose="020B0503020204020204" pitchFamily="34" charset="-122"/>
              </a:rPr>
              <a:t>进程可以在同一台计算机上或通过网络在不同计算机之间交换信息</a:t>
            </a:r>
          </a:p>
          <a:p>
            <a:pPr lvl="2" algn="just">
              <a:lnSpc>
                <a:spcPct val="150000"/>
              </a:lnSpc>
            </a:pPr>
            <a:r>
              <a:rPr lang="zh-CN" altLang="en-US" sz="2000" dirty="0">
                <a:ea typeface="微软雅黑" panose="020B0503020204020204" pitchFamily="34" charset="-122"/>
              </a:rPr>
              <a:t>通信可以通过共享内存</a:t>
            </a:r>
            <a:r>
              <a:rPr lang="en-US" altLang="zh-CN" sz="2000" dirty="0">
                <a:ea typeface="微软雅黑" panose="020B0503020204020204" pitchFamily="34" charset="-122"/>
              </a:rPr>
              <a:t> (</a:t>
            </a:r>
            <a:r>
              <a:rPr lang="zh-CN" altLang="en-US" sz="2000" dirty="0">
                <a:ea typeface="微软雅黑" panose="020B0503020204020204" pitchFamily="34" charset="-122"/>
              </a:rPr>
              <a:t>两个或多个进程读写共享内存区域），也可以通过消息交换</a:t>
            </a:r>
            <a:r>
              <a:rPr lang="en-US" altLang="zh-CN" sz="2000" dirty="0">
                <a:ea typeface="微软雅黑" panose="020B0503020204020204" pitchFamily="34" charset="-122"/>
              </a:rPr>
              <a:t>(message passing) (</a:t>
            </a:r>
            <a:r>
              <a:rPr lang="zh-CN" altLang="en-US" sz="2000" dirty="0">
                <a:ea typeface="微软雅黑" panose="020B0503020204020204" pitchFamily="34" charset="-122"/>
              </a:rPr>
              <a:t>符合预先定义格式的信息分组可以通过操作系统在进程之间移动）</a:t>
            </a:r>
          </a:p>
          <a:p>
            <a:pPr lvl="1" algn="just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错误检测</a:t>
            </a:r>
            <a:r>
              <a:rPr lang="en-US" altLang="zh-CN" dirty="0"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ea typeface="微软雅黑" panose="020B0503020204020204" pitchFamily="34" charset="-122"/>
              </a:rPr>
              <a:t>操作系统需要不断地检测和更正错误</a:t>
            </a:r>
          </a:p>
          <a:p>
            <a:pPr lvl="2" algn="just">
              <a:lnSpc>
                <a:spcPct val="150000"/>
              </a:lnSpc>
            </a:pPr>
            <a:r>
              <a:rPr lang="zh-CN" altLang="en-US" sz="2000" dirty="0">
                <a:ea typeface="微软雅黑" panose="020B0503020204020204" pitchFamily="34" charset="-122"/>
              </a:rPr>
              <a:t>可能发生在 </a:t>
            </a:r>
            <a:r>
              <a:rPr lang="en-US" altLang="zh-CN" sz="2000" dirty="0">
                <a:ea typeface="微软雅黑" panose="020B0503020204020204" pitchFamily="34" charset="-122"/>
              </a:rPr>
              <a:t>CPU </a:t>
            </a:r>
            <a:r>
              <a:rPr lang="zh-CN" altLang="en-US" sz="2000" dirty="0">
                <a:ea typeface="微软雅黑" panose="020B0503020204020204" pitchFamily="34" charset="-122"/>
              </a:rPr>
              <a:t>和内存硬件、</a:t>
            </a:r>
            <a:r>
              <a:rPr lang="en-US" altLang="zh-CN" sz="2000" dirty="0">
                <a:ea typeface="微软雅黑" panose="020B0503020204020204" pitchFamily="34" charset="-122"/>
              </a:rPr>
              <a:t>I/O </a:t>
            </a:r>
            <a:r>
              <a:rPr lang="zh-CN" altLang="en-US" sz="2000" dirty="0">
                <a:ea typeface="微软雅黑" panose="020B0503020204020204" pitchFamily="34" charset="-122"/>
              </a:rPr>
              <a:t>设备、用户程序中</a:t>
            </a:r>
          </a:p>
          <a:p>
            <a:pPr lvl="2" algn="just">
              <a:lnSpc>
                <a:spcPct val="150000"/>
              </a:lnSpc>
            </a:pPr>
            <a:r>
              <a:rPr lang="zh-CN" altLang="en-US" sz="2000" dirty="0">
                <a:ea typeface="微软雅黑" panose="020B0503020204020204" pitchFamily="34" charset="-122"/>
              </a:rPr>
              <a:t>对于每种类型的错误，操作系统应采取适当的措施以确保计算的正确和一致</a:t>
            </a:r>
            <a:endParaRPr lang="en-US" altLang="zh-CN" sz="2000" dirty="0">
              <a:ea typeface="微软雅黑" panose="020B0503020204020204" pitchFamily="34" charset="-122"/>
            </a:endParaRPr>
          </a:p>
          <a:p>
            <a:pPr lvl="2" algn="just">
              <a:lnSpc>
                <a:spcPct val="150000"/>
              </a:lnSpc>
            </a:pPr>
            <a:r>
              <a:rPr lang="zh-CN" altLang="en-US" sz="2000" dirty="0">
                <a:ea typeface="微软雅黑" panose="020B0503020204020204" pitchFamily="34" charset="-122"/>
              </a:rPr>
              <a:t>调试工具可以大幅提高用户和程序员有效使用系统的能力</a:t>
            </a:r>
            <a:endParaRPr lang="en-US" altLang="ja-JP" sz="2000" dirty="0">
              <a:ea typeface="微软雅黑" panose="020B0503020204020204" pitchFamily="34" charset="-122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A094A151-6360-4E5C-BB4F-85A2CB678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74926" y="198438"/>
            <a:ext cx="7635875" cy="5762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操作系统的服务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161FFF95-2274-4111-B685-CD36D2030D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5734" y="1073257"/>
            <a:ext cx="11250506" cy="521916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存在另一组操作系统功能，通过资源共享来确保系统本身的高效运行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ea typeface="微软雅黑" panose="020B0503020204020204" pitchFamily="34" charset="-122"/>
              </a:rPr>
              <a:t>资源分配</a:t>
            </a:r>
            <a:r>
              <a:rPr lang="en-US" altLang="zh-CN" sz="2400" dirty="0">
                <a:ea typeface="微软雅黑" panose="020B0503020204020204" pitchFamily="34" charset="-122"/>
              </a:rPr>
              <a:t>—— </a:t>
            </a:r>
            <a:r>
              <a:rPr lang="zh-CN" altLang="en-US" sz="2400" dirty="0">
                <a:ea typeface="微软雅黑" panose="020B0503020204020204" pitchFamily="34" charset="-122"/>
              </a:rPr>
              <a:t>当多个用户或多个作业同时运行时，必须为每个用户分配资源</a:t>
            </a:r>
          </a:p>
          <a:p>
            <a:pPr lvl="2">
              <a:lnSpc>
                <a:spcPct val="150000"/>
              </a:lnSpc>
            </a:pPr>
            <a:r>
              <a:rPr lang="zh-CN" altLang="en-US" sz="2000" dirty="0">
                <a:ea typeface="微软雅黑" panose="020B0503020204020204" pitchFamily="34" charset="-122"/>
              </a:rPr>
              <a:t>许多类型的资源</a:t>
            </a:r>
            <a:r>
              <a:rPr lang="en-US" altLang="zh-CN" sz="2000" dirty="0">
                <a:ea typeface="微软雅黑" panose="020B0503020204020204" pitchFamily="34" charset="-122"/>
              </a:rPr>
              <a:t>——CPU </a:t>
            </a:r>
            <a:r>
              <a:rPr lang="zh-CN" altLang="en-US" sz="2000" dirty="0">
                <a:ea typeface="微软雅黑" panose="020B0503020204020204" pitchFamily="34" charset="-122"/>
              </a:rPr>
              <a:t>周期、内存、文件存储、</a:t>
            </a:r>
            <a:r>
              <a:rPr lang="en-US" altLang="zh-CN" sz="2000" dirty="0">
                <a:ea typeface="微软雅黑" panose="020B0503020204020204" pitchFamily="34" charset="-122"/>
              </a:rPr>
              <a:t>I/O </a:t>
            </a:r>
            <a:r>
              <a:rPr lang="zh-CN" altLang="en-US" sz="2000" dirty="0">
                <a:ea typeface="微软雅黑" panose="020B0503020204020204" pitchFamily="34" charset="-122"/>
              </a:rPr>
              <a:t>设备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ea typeface="微软雅黑" panose="020B0503020204020204" pitchFamily="34" charset="-122"/>
              </a:rPr>
              <a:t>记账</a:t>
            </a:r>
            <a:r>
              <a:rPr lang="en-US" altLang="zh-CN" sz="2400" dirty="0"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ea typeface="微软雅黑" panose="020B0503020204020204" pitchFamily="34" charset="-122"/>
              </a:rPr>
              <a:t>记录用户使用资源的类型和数量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ea typeface="微软雅黑" panose="020B0503020204020204" pitchFamily="34" charset="-122"/>
              </a:rPr>
              <a:t>保护和安全</a:t>
            </a:r>
            <a:r>
              <a:rPr lang="en-US" altLang="zh-CN" sz="2400" dirty="0"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ea typeface="微软雅黑" panose="020B0503020204020204" pitchFamily="34" charset="-122"/>
              </a:rPr>
              <a:t>对于存储在多用户或联网计算机系统中的信息，用户可能希望控制该信息的使用。并发进程不应相互干扰</a:t>
            </a:r>
          </a:p>
          <a:p>
            <a:pPr lvl="2">
              <a:lnSpc>
                <a:spcPct val="150000"/>
              </a:lnSpc>
            </a:pPr>
            <a:r>
              <a:rPr lang="zh-CN" altLang="en-US" sz="2000" b="1" dirty="0">
                <a:ea typeface="微软雅黑" panose="020B0503020204020204" pitchFamily="34" charset="-122"/>
              </a:rPr>
              <a:t>保护</a:t>
            </a:r>
            <a:r>
              <a:rPr lang="zh-CN" altLang="en-US" sz="2000" dirty="0">
                <a:ea typeface="微软雅黑" panose="020B0503020204020204" pitchFamily="34" charset="-122"/>
              </a:rPr>
              <a:t>包括控制系统资源的所有访问</a:t>
            </a:r>
          </a:p>
          <a:p>
            <a:pPr lvl="2">
              <a:lnSpc>
                <a:spcPct val="150000"/>
              </a:lnSpc>
            </a:pPr>
            <a:r>
              <a:rPr lang="zh-CN" altLang="en-US" sz="2000" dirty="0">
                <a:ea typeface="微软雅黑" panose="020B0503020204020204" pitchFamily="34" charset="-122"/>
              </a:rPr>
              <a:t>外部系统的</a:t>
            </a:r>
            <a:r>
              <a:rPr lang="zh-CN" altLang="en-US" sz="2000" b="1" dirty="0">
                <a:ea typeface="微软雅黑" panose="020B0503020204020204" pitchFamily="34" charset="-122"/>
              </a:rPr>
              <a:t>安全性</a:t>
            </a:r>
            <a:r>
              <a:rPr lang="zh-CN" altLang="en-US" sz="2000" dirty="0">
                <a:ea typeface="微软雅黑" panose="020B0503020204020204" pitchFamily="34" charset="-122"/>
              </a:rPr>
              <a:t>要求用户身份验证，保护外部 </a:t>
            </a:r>
            <a:r>
              <a:rPr lang="en-US" altLang="zh-CN" sz="2000" dirty="0">
                <a:ea typeface="微软雅黑" panose="020B0503020204020204" pitchFamily="34" charset="-122"/>
              </a:rPr>
              <a:t>I/O </a:t>
            </a:r>
            <a:r>
              <a:rPr lang="zh-CN" altLang="en-US" sz="2000" dirty="0">
                <a:ea typeface="微软雅黑" panose="020B0503020204020204" pitchFamily="34" charset="-122"/>
              </a:rPr>
              <a:t>设备免受非法访问</a:t>
            </a:r>
            <a:endParaRPr lang="en-US" altLang="zh-CN" sz="20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endParaRPr lang="en-US" altLang="zh-CN" sz="1800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C10B9A39-77ED-4544-907E-DDDEAE5C1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74926" y="198438"/>
            <a:ext cx="7635875" cy="5762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操作系统的服务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88F2361-280A-4041-9881-28F38A431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32063" y="146051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 sz="2800"/>
              <a:t>用户与操作系统界面</a:t>
            </a:r>
            <a:r>
              <a:rPr lang="en-US" altLang="zh-CN" sz="2800"/>
              <a:t>——CLI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393060E1-AED1-41B6-BB96-453D0C74B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2828" y="1223963"/>
            <a:ext cx="10898292" cy="4483100"/>
          </a:xfrm>
        </p:spPr>
        <p:txBody>
          <a:bodyPr/>
          <a:lstStyle/>
          <a:p>
            <a:pPr>
              <a:lnSpc>
                <a:spcPct val="150000"/>
              </a:lnSpc>
              <a:buFont typeface="Monotype Sorts" pitchFamily="-84" charset="2"/>
              <a:buNone/>
            </a:pPr>
            <a:r>
              <a:rPr lang="en-US" altLang="zh-CN" sz="2800" dirty="0">
                <a:ea typeface="微软雅黑" panose="020B0503020204020204" pitchFamily="34" charset="-122"/>
              </a:rPr>
              <a:t>CLI </a:t>
            </a:r>
            <a:r>
              <a:rPr lang="zh-CN" altLang="en-US" sz="2800" dirty="0">
                <a:ea typeface="微软雅黑" panose="020B0503020204020204" pitchFamily="34" charset="-122"/>
              </a:rPr>
              <a:t>或</a:t>
            </a:r>
            <a:r>
              <a:rPr lang="zh-CN" altLang="en-US" sz="2800" b="1" dirty="0">
                <a:ea typeface="微软雅黑" panose="020B0503020204020204" pitchFamily="34" charset="-122"/>
              </a:rPr>
              <a:t>命令解释程序</a:t>
            </a:r>
            <a:r>
              <a:rPr lang="zh-CN" altLang="en-US" sz="2800" dirty="0">
                <a:ea typeface="微软雅黑" panose="020B0503020204020204" pitchFamily="34" charset="-122"/>
              </a:rPr>
              <a:t>允许用户直接输入命令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有时在内核中实现，有时由系统程序实现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对于具有多个可选命令解释程序的系统，解释程序称为</a:t>
            </a:r>
            <a:r>
              <a:rPr lang="zh-CN" altLang="en-US" sz="2400" b="1" dirty="0">
                <a:ea typeface="微软雅黑" panose="020B0503020204020204" pitchFamily="34" charset="-122"/>
              </a:rPr>
              <a:t>外壳 </a:t>
            </a:r>
            <a:r>
              <a:rPr lang="en-US" altLang="zh-CN" sz="2400" dirty="0">
                <a:ea typeface="微软雅黑" panose="020B0503020204020204" pitchFamily="34" charset="-122"/>
              </a:rPr>
              <a:t>(shell)</a:t>
            </a:r>
            <a:endParaRPr lang="zh-CN" altLang="en-US" sz="2400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获取并执行用户指定的下一条命令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有时是内置命令，有时只是程序名称</a:t>
            </a:r>
          </a:p>
          <a:p>
            <a:pPr lvl="2">
              <a:lnSpc>
                <a:spcPct val="150000"/>
              </a:lnSpc>
            </a:pPr>
            <a:r>
              <a:rPr lang="zh-CN" altLang="en-US" sz="2000" dirty="0">
                <a:ea typeface="微软雅黑" panose="020B0503020204020204" pitchFamily="34" charset="-122"/>
              </a:rPr>
              <a:t>如果是后者，添加新功能不需要修改</a:t>
            </a:r>
            <a:r>
              <a:rPr lang="en-US" altLang="zh-CN" sz="2000" dirty="0">
                <a:ea typeface="微软雅黑" panose="020B0503020204020204" pitchFamily="34" charset="-122"/>
              </a:rPr>
              <a:t>shell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9992520-104F-4FC6-9F66-2C9D44390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48" y="1917756"/>
            <a:ext cx="4845325" cy="393064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36545" y="6009409"/>
            <a:ext cx="5937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0070C0"/>
                </a:solidFill>
              </a:rPr>
              <a:t>Shell</a:t>
            </a:r>
            <a:r>
              <a:rPr lang="zh-CN" altLang="en-US" b="1" i="1" dirty="0">
                <a:solidFill>
                  <a:srgbClr val="0070C0"/>
                </a:solidFill>
              </a:rPr>
              <a:t>编程教程：</a:t>
            </a:r>
            <a:r>
              <a:rPr lang="en-US" altLang="zh-CN" i="1" dirty="0">
                <a:solidFill>
                  <a:srgbClr val="0070C0"/>
                </a:solidFill>
              </a:rPr>
              <a:t>https://zhuanlan.zhihu.com/p/102176365</a:t>
            </a:r>
            <a:endParaRPr lang="zh-CN" altLang="en-US" i="1" dirty="0">
              <a:solidFill>
                <a:srgbClr val="0070C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BFDBAD6-1BE9-4E4A-8238-0430FCD623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43188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</a:rPr>
              <a:t>Shell </a:t>
            </a:r>
            <a:r>
              <a:rPr lang="zh-CN" altLang="en-US" dirty="0">
                <a:ea typeface="微软雅黑" panose="020B0503020204020204" pitchFamily="34" charset="-122"/>
              </a:rPr>
              <a:t>脚本程序</a:t>
            </a:r>
            <a:r>
              <a:rPr lang="zh-CN" altLang="en-US" dirty="0"/>
              <a:t>举例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389CDCF-0E9D-4211-88B0-2930EBADD775}"/>
              </a:ext>
            </a:extLst>
          </p:cNvPr>
          <p:cNvSpPr/>
          <p:nvPr/>
        </p:nvSpPr>
        <p:spPr>
          <a:xfrm>
            <a:off x="8338505" y="2847783"/>
            <a:ext cx="2765075" cy="2213972"/>
          </a:xfrm>
          <a:prstGeom prst="rect">
            <a:avLst/>
          </a:prstGeom>
          <a:solidFill>
            <a:srgbClr val="70AD47">
              <a:lumMod val="75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外层应用程序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D9B0C9-9222-4947-9974-64DF1000012A}"/>
              </a:ext>
            </a:extLst>
          </p:cNvPr>
          <p:cNvSpPr/>
          <p:nvPr/>
        </p:nvSpPr>
        <p:spPr>
          <a:xfrm>
            <a:off x="8524448" y="3300060"/>
            <a:ext cx="2393190" cy="1605444"/>
          </a:xfrm>
          <a:prstGeom prst="rect">
            <a:avLst/>
          </a:prstGeom>
          <a:solidFill>
            <a:srgbClr val="ED7D31">
              <a:lumMod val="75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Shell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命令解释器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20C82E-77B2-4A39-9467-E81958A34021}"/>
              </a:ext>
            </a:extLst>
          </p:cNvPr>
          <p:cNvSpPr/>
          <p:nvPr/>
        </p:nvSpPr>
        <p:spPr>
          <a:xfrm>
            <a:off x="8688587" y="3687967"/>
            <a:ext cx="2064913" cy="1071555"/>
          </a:xfrm>
          <a:prstGeom prst="rect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内核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668BC5-E230-4F62-B2B9-E1DC36E566A3}"/>
              </a:ext>
            </a:extLst>
          </p:cNvPr>
          <p:cNvSpPr/>
          <p:nvPr/>
        </p:nvSpPr>
        <p:spPr>
          <a:xfrm>
            <a:off x="9014853" y="4102782"/>
            <a:ext cx="1412383" cy="463639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硬件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3B7FD3-C072-411C-9746-CA506DFDBA81}"/>
              </a:ext>
            </a:extLst>
          </p:cNvPr>
          <p:cNvSpPr/>
          <p:nvPr/>
        </p:nvSpPr>
        <p:spPr>
          <a:xfrm>
            <a:off x="311573" y="1016371"/>
            <a:ext cx="1141984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n"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Shell script programming ( loops, decision constructs, variables, etc. )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2FA04DB-27EA-4783-B4AA-0F6A243F7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4751" y="5589719"/>
            <a:ext cx="1597601" cy="120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65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DAE512D-DB9D-4551-A407-1C2984E023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0638" y="168276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 sz="3000"/>
              <a:t>图形用户界面</a:t>
            </a:r>
            <a:r>
              <a:rPr lang="en-US" altLang="zh-CN" sz="3000"/>
              <a:t>——GUI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7C67C36-3687-40B5-B25C-685AAD1120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2507" y="1075586"/>
            <a:ext cx="10708640" cy="45307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用户友好的</a:t>
            </a:r>
            <a:r>
              <a:rPr lang="zh-CN" altLang="en-US" b="1" dirty="0">
                <a:ea typeface="微软雅黑" panose="020B0503020204020204" pitchFamily="34" charset="-122"/>
              </a:rPr>
              <a:t>桌面</a:t>
            </a:r>
            <a:r>
              <a:rPr lang="zh-CN" altLang="en-US" dirty="0">
                <a:ea typeface="微软雅黑" panose="020B0503020204020204" pitchFamily="34" charset="-122"/>
              </a:rPr>
              <a:t>图形界面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鼠标、键盘和显示器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b="1" dirty="0">
                <a:ea typeface="微软雅黑" panose="020B0503020204020204" pitchFamily="34" charset="-122"/>
              </a:rPr>
              <a:t>图标</a:t>
            </a:r>
            <a:r>
              <a:rPr lang="zh-CN" altLang="en-US" dirty="0">
                <a:ea typeface="微软雅黑" panose="020B0503020204020204" pitchFamily="34" charset="-122"/>
              </a:rPr>
              <a:t>代表文件、程序、目录等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b="1" dirty="0">
                <a:ea typeface="微软雅黑" panose="020B0503020204020204" pitchFamily="34" charset="-122"/>
              </a:rPr>
              <a:t>Xerox PARC</a:t>
            </a:r>
            <a:r>
              <a:rPr lang="zh-CN" altLang="en-US" b="1" dirty="0">
                <a:ea typeface="微软雅黑" panose="020B0503020204020204" pitchFamily="34" charset="-122"/>
              </a:rPr>
              <a:t>研究中心（</a:t>
            </a:r>
            <a:r>
              <a:rPr lang="zh-CN" altLang="en-US" b="1" dirty="0"/>
              <a:t>施乐帕洛阿尔托研究中心</a:t>
            </a:r>
            <a:r>
              <a:rPr lang="zh-CN" altLang="en-US" b="1" dirty="0">
                <a:ea typeface="微软雅黑" panose="020B0503020204020204" pitchFamily="34" charset="-122"/>
              </a:rPr>
              <a:t>）</a:t>
            </a:r>
            <a:r>
              <a:rPr lang="zh-CN" altLang="en-US" dirty="0">
                <a:ea typeface="微软雅黑" panose="020B0503020204020204" pitchFamily="34" charset="-122"/>
              </a:rPr>
              <a:t>研发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许多现代的系统包括 </a:t>
            </a:r>
            <a:r>
              <a:rPr lang="en-US" altLang="zh-CN" dirty="0">
                <a:ea typeface="微软雅黑" panose="020B0503020204020204" pitchFamily="34" charset="-122"/>
              </a:rPr>
              <a:t>CLI </a:t>
            </a:r>
            <a:r>
              <a:rPr lang="zh-CN" altLang="en-US" dirty="0">
                <a:ea typeface="微软雅黑" panose="020B0503020204020204" pitchFamily="34" charset="-122"/>
              </a:rPr>
              <a:t>和 </a:t>
            </a:r>
            <a:r>
              <a:rPr lang="en-US" altLang="zh-CN" dirty="0">
                <a:ea typeface="微软雅黑" panose="020B0503020204020204" pitchFamily="34" charset="-122"/>
              </a:rPr>
              <a:t>GUI </a:t>
            </a:r>
            <a:r>
              <a:rPr lang="zh-CN" altLang="en-US" dirty="0">
                <a:ea typeface="微软雅黑" panose="020B0503020204020204" pitchFamily="34" charset="-122"/>
              </a:rPr>
              <a:t>界面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ea typeface="微软雅黑" panose="020B0503020204020204" pitchFamily="34" charset="-122"/>
              </a:rPr>
              <a:t>Microsoft Windows</a:t>
            </a:r>
            <a:r>
              <a:rPr lang="zh-CN" altLang="en-US" dirty="0">
                <a:ea typeface="微软雅黑" panose="020B0503020204020204" pitchFamily="34" charset="-122"/>
              </a:rPr>
              <a:t>是带有</a:t>
            </a:r>
            <a:r>
              <a:rPr lang="en-US" altLang="zh-CN" dirty="0">
                <a:ea typeface="微软雅黑" panose="020B0503020204020204" pitchFamily="34" charset="-122"/>
              </a:rPr>
              <a:t>CLI“</a:t>
            </a:r>
            <a:r>
              <a:rPr lang="zh-CN" altLang="en-US" dirty="0">
                <a:ea typeface="微软雅黑" panose="020B0503020204020204" pitchFamily="34" charset="-122"/>
              </a:rPr>
              <a:t>命令”</a:t>
            </a:r>
            <a:r>
              <a:rPr lang="en-US" altLang="zh-CN" dirty="0">
                <a:ea typeface="微软雅黑" panose="020B0503020204020204" pitchFamily="34" charset="-122"/>
              </a:rPr>
              <a:t>shell</a:t>
            </a:r>
            <a:r>
              <a:rPr lang="zh-CN" altLang="en-US" dirty="0">
                <a:ea typeface="微软雅黑" panose="020B0503020204020204" pitchFamily="34" charset="-122"/>
              </a:rPr>
              <a:t>的 </a:t>
            </a:r>
            <a:r>
              <a:rPr lang="en-US" altLang="zh-CN" dirty="0">
                <a:ea typeface="微软雅黑" panose="020B0503020204020204" pitchFamily="34" charset="-122"/>
              </a:rPr>
              <a:t>GUI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ea typeface="微软雅黑" panose="020B0503020204020204" pitchFamily="34" charset="-122"/>
              </a:rPr>
              <a:t>Apple Mac OS X </a:t>
            </a:r>
            <a:r>
              <a:rPr lang="zh-CN" altLang="en-US" dirty="0">
                <a:ea typeface="微软雅黑" panose="020B0503020204020204" pitchFamily="34" charset="-122"/>
              </a:rPr>
              <a:t>包括“</a:t>
            </a:r>
            <a:r>
              <a:rPr lang="en-US" altLang="zh-CN" dirty="0" err="1">
                <a:ea typeface="微软雅黑" panose="020B0503020204020204" pitchFamily="34" charset="-122"/>
              </a:rPr>
              <a:t>Aqua”GUI</a:t>
            </a:r>
            <a:r>
              <a:rPr lang="en-US" altLang="zh-CN" dirty="0">
                <a:ea typeface="微软雅黑" panose="020B0503020204020204" pitchFamily="34" charset="-122"/>
              </a:rPr>
              <a:t> </a:t>
            </a:r>
            <a:r>
              <a:rPr lang="zh-CN" altLang="en-US" dirty="0">
                <a:ea typeface="微软雅黑" panose="020B0503020204020204" pitchFamily="34" charset="-122"/>
              </a:rPr>
              <a:t>界面，带有 </a:t>
            </a:r>
            <a:r>
              <a:rPr lang="en-US" altLang="zh-CN" dirty="0">
                <a:ea typeface="微软雅黑" panose="020B0503020204020204" pitchFamily="34" charset="-122"/>
              </a:rPr>
              <a:t>UNIX </a:t>
            </a:r>
            <a:r>
              <a:rPr lang="zh-CN" altLang="en-US" dirty="0">
                <a:ea typeface="微软雅黑" panose="020B0503020204020204" pitchFamily="34" charset="-122"/>
              </a:rPr>
              <a:t>内核和可用的</a:t>
            </a:r>
            <a:r>
              <a:rPr lang="en-US" altLang="zh-CN" dirty="0">
                <a:ea typeface="微软雅黑" panose="020B0503020204020204" pitchFamily="34" charset="-122"/>
              </a:rPr>
              <a:t>shell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ea typeface="微软雅黑" panose="020B0503020204020204" pitchFamily="34" charset="-122"/>
              </a:rPr>
              <a:t>Unix </a:t>
            </a:r>
            <a:r>
              <a:rPr lang="zh-CN" altLang="en-US" dirty="0">
                <a:ea typeface="微软雅黑" panose="020B0503020204020204" pitchFamily="34" charset="-122"/>
              </a:rPr>
              <a:t>和 </a:t>
            </a:r>
            <a:r>
              <a:rPr lang="en-US" altLang="zh-CN" dirty="0">
                <a:ea typeface="微软雅黑" panose="020B0503020204020204" pitchFamily="34" charset="-122"/>
              </a:rPr>
              <a:t>Linux </a:t>
            </a:r>
            <a:r>
              <a:rPr lang="zh-CN" altLang="en-US" dirty="0">
                <a:ea typeface="微软雅黑" panose="020B0503020204020204" pitchFamily="34" charset="-122"/>
              </a:rPr>
              <a:t>具有</a:t>
            </a:r>
            <a:r>
              <a:rPr lang="en-US" altLang="zh-CN" dirty="0">
                <a:ea typeface="微软雅黑" panose="020B0503020204020204" pitchFamily="34" charset="-122"/>
              </a:rPr>
              <a:t>CLI</a:t>
            </a:r>
            <a:r>
              <a:rPr lang="zh-CN" altLang="en-US" dirty="0">
                <a:ea typeface="微软雅黑" panose="020B0503020204020204" pitchFamily="34" charset="-122"/>
              </a:rPr>
              <a:t>和可选 </a:t>
            </a:r>
            <a:r>
              <a:rPr lang="en-US" altLang="zh-CN" dirty="0">
                <a:ea typeface="微软雅黑" panose="020B0503020204020204" pitchFamily="34" charset="-122"/>
              </a:rPr>
              <a:t>GUI </a:t>
            </a:r>
            <a:r>
              <a:rPr lang="zh-CN" altLang="en-US" dirty="0">
                <a:ea typeface="微软雅黑" panose="020B0503020204020204" pitchFamily="34" charset="-122"/>
              </a:rPr>
              <a:t>界面（</a:t>
            </a:r>
            <a:r>
              <a:rPr lang="en-US" altLang="zh-CN" dirty="0">
                <a:ea typeface="微软雅黑" panose="020B0503020204020204" pitchFamily="34" charset="-122"/>
              </a:rPr>
              <a:t>CDE</a:t>
            </a:r>
            <a:r>
              <a:rPr lang="zh-CN" altLang="en-US" dirty="0"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ea typeface="微软雅黑" panose="020B0503020204020204" pitchFamily="34" charset="-122"/>
              </a:rPr>
              <a:t>KDE</a:t>
            </a:r>
            <a:r>
              <a:rPr lang="zh-CN" altLang="en-US" dirty="0"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ea typeface="微软雅黑" panose="020B0503020204020204" pitchFamily="34" charset="-122"/>
              </a:rPr>
              <a:t>GNOME</a:t>
            </a:r>
            <a:r>
              <a:rPr lang="zh-CN" altLang="en-US" dirty="0">
                <a:ea typeface="微软雅黑" panose="020B0503020204020204" pitchFamily="34" charset="-122"/>
              </a:rPr>
              <a:t>）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FAEB1D9-BB72-4837-9896-7CC4670B4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49488" y="219076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 sz="3000"/>
              <a:t>触摸屏</a:t>
            </a:r>
            <a:endParaRPr lang="en-US" altLang="zh-CN" sz="3000"/>
          </a:p>
        </p:txBody>
      </p:sp>
      <p:pic>
        <p:nvPicPr>
          <p:cNvPr id="25603" name="Picture 3" descr="ipad.pdf">
            <a:extLst>
              <a:ext uri="{FF2B5EF4-FFF2-40B4-BE49-F238E27FC236}">
                <a16:creationId xmlns:a16="http://schemas.microsoft.com/office/drawing/2014/main" id="{455EADE3-F2EB-4C4F-8882-4A8B221603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713" y="1343026"/>
            <a:ext cx="3441700" cy="458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78A9CF8A-64C7-4061-858E-D93298677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77" y="1084476"/>
            <a:ext cx="5678911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1313" indent="-341313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1363" lvl="1" indent="-284163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 kumimoji="1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084263" indent="-227013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Ø"/>
              <a:defRPr kumimoji="1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427163" indent="-227013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ü"/>
              <a:defRPr kumimoji="1" sz="16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770063" indent="-227013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Arial" panose="020B0604020202020204" pitchFamily="34" charset="0"/>
              <a:buChar char="•"/>
              <a:defRPr kumimoji="1" sz="16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228738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6pPr>
            <a:lvl7pPr marL="2685915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7pPr>
            <a:lvl8pPr marL="3143093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8pPr>
            <a:lvl9pPr marL="3600270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9pPr>
          </a:lstStyle>
          <a:p>
            <a:r>
              <a:rPr lang="zh-CN" altLang="en-US" sz="2800" dirty="0"/>
              <a:t>触摸屏</a:t>
            </a:r>
            <a:endParaRPr lang="en-US" sz="2800" dirty="0"/>
          </a:p>
          <a:p>
            <a:pPr lvl="1"/>
            <a:r>
              <a:rPr lang="zh-CN" altLang="en-US" sz="2400" dirty="0"/>
              <a:t>鼠标不可用或不需要</a:t>
            </a:r>
            <a:endParaRPr lang="en-US" sz="2400" dirty="0"/>
          </a:p>
          <a:p>
            <a:pPr lvl="1"/>
            <a:r>
              <a:rPr lang="zh-CN" altLang="en-US" sz="2400" dirty="0"/>
              <a:t>基于手势的动作和选择</a:t>
            </a:r>
            <a:endParaRPr lang="en-US" sz="2400" dirty="0"/>
          </a:p>
          <a:p>
            <a:pPr lvl="1"/>
            <a:r>
              <a:rPr lang="zh-CN" altLang="en-US" sz="2400" dirty="0"/>
              <a:t>用于文本输入的虚拟键盘</a:t>
            </a:r>
            <a:endParaRPr lang="en-US" sz="2400" dirty="0"/>
          </a:p>
          <a:p>
            <a:r>
              <a:rPr lang="zh-CN" altLang="en-US" sz="2800" dirty="0"/>
              <a:t>语音命令</a:t>
            </a:r>
            <a:endParaRPr lang="en-US" sz="2800" dirty="0"/>
          </a:p>
          <a:p>
            <a:endParaRPr lang="en-US" sz="2800" dirty="0"/>
          </a:p>
          <a:p>
            <a:pPr lvl="1"/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0F535B19-7F1E-4620-9DB0-35F75DA52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>
                <a:ea typeface="微软雅黑" panose="020B0503020204020204" pitchFamily="34" charset="-122"/>
              </a:rPr>
              <a:t>Mac OS X </a:t>
            </a:r>
            <a:r>
              <a:rPr lang="zh-CN" altLang="en-US">
                <a:ea typeface="微软雅黑" panose="020B0503020204020204" pitchFamily="34" charset="-122"/>
              </a:rPr>
              <a:t>图形用户界面</a:t>
            </a:r>
            <a:endParaRPr lang="en-US" altLang="zh-CN">
              <a:ea typeface="微软雅黑" panose="020B0503020204020204" pitchFamily="34" charset="-122"/>
            </a:endParaRPr>
          </a:p>
        </p:txBody>
      </p:sp>
      <p:pic>
        <p:nvPicPr>
          <p:cNvPr id="27651" name="Picture 4" descr="2">
            <a:extLst>
              <a:ext uri="{FF2B5EF4-FFF2-40B4-BE49-F238E27FC236}">
                <a16:creationId xmlns:a16="http://schemas.microsoft.com/office/drawing/2014/main" id="{E2FA677F-FB60-4467-8F70-828BF9AD0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389" y="1274764"/>
            <a:ext cx="6410325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7485A1B7-4762-456E-B372-9178D8A757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557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</a:rPr>
              <a:t>2.2 </a:t>
            </a:r>
            <a:r>
              <a:rPr lang="zh-CN" altLang="en-US" dirty="0">
                <a:ea typeface="微软雅黑" panose="020B0503020204020204" pitchFamily="34" charset="-122"/>
              </a:rPr>
              <a:t>系统调用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153369B-AD0C-41F5-A84D-083AEC7EB3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5047" y="888844"/>
            <a:ext cx="10936393" cy="528076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系统调</a:t>
            </a:r>
            <a:r>
              <a:rPr lang="zh-CN" altLang="en-US" dirty="0"/>
              <a:t>用提供</a:t>
            </a:r>
            <a:r>
              <a:rPr kumimoji="0" lang="zh-CN" altLang="en-US" dirty="0">
                <a:ea typeface="微软雅黑" panose="020B0503020204020204" pitchFamily="34" charset="-122"/>
              </a:rPr>
              <a:t>操作系统的服务接口</a:t>
            </a:r>
            <a:r>
              <a:rPr kumimoji="0" lang="zh-CN" altLang="en-US" b="0" dirty="0">
                <a:ea typeface="微软雅黑" panose="020B0503020204020204" pitchFamily="34" charset="-122"/>
              </a:rPr>
              <a:t>，通常用</a:t>
            </a:r>
            <a:r>
              <a:rPr kumimoji="0" lang="zh-CN" altLang="en-US" dirty="0">
                <a:ea typeface="微软雅黑" panose="020B0503020204020204" pitchFamily="34" charset="-122"/>
              </a:rPr>
              <a:t>高级语言（</a:t>
            </a:r>
            <a:r>
              <a:rPr kumimoji="0" lang="en-US" altLang="zh-CN" dirty="0">
                <a:ea typeface="微软雅黑" panose="020B0503020204020204" pitchFamily="34" charset="-122"/>
              </a:rPr>
              <a:t>C </a:t>
            </a:r>
            <a:r>
              <a:rPr kumimoji="0" lang="zh-CN" altLang="en-US" dirty="0">
                <a:ea typeface="微软雅黑" panose="020B0503020204020204" pitchFamily="34" charset="-122"/>
              </a:rPr>
              <a:t>或 </a:t>
            </a:r>
            <a:r>
              <a:rPr kumimoji="0" lang="en-US" altLang="zh-CN" dirty="0">
                <a:ea typeface="微软雅黑" panose="020B0503020204020204" pitchFamily="34" charset="-122"/>
              </a:rPr>
              <a:t>C++</a:t>
            </a:r>
            <a:r>
              <a:rPr kumimoji="0" lang="zh-CN" altLang="en-US" dirty="0">
                <a:ea typeface="微软雅黑" panose="020B0503020204020204" pitchFamily="34" charset="-122"/>
              </a:rPr>
              <a:t>）</a:t>
            </a:r>
            <a:r>
              <a:rPr kumimoji="0" lang="zh-CN" altLang="en-US" b="0" dirty="0">
                <a:ea typeface="微软雅黑" panose="020B0503020204020204" pitchFamily="34" charset="-122"/>
              </a:rPr>
              <a:t>编写</a:t>
            </a:r>
          </a:p>
          <a:p>
            <a:pPr>
              <a:lnSpc>
                <a:spcPct val="200000"/>
              </a:lnSpc>
            </a:pPr>
            <a:r>
              <a:rPr kumimoji="0" lang="zh-CN" altLang="en-US" b="0" dirty="0"/>
              <a:t>通常</a:t>
            </a:r>
            <a:r>
              <a:rPr kumimoji="0" lang="zh-CN" altLang="en-US" b="0" dirty="0">
                <a:ea typeface="微软雅黑" panose="020B0503020204020204" pitchFamily="34" charset="-122"/>
              </a:rPr>
              <a:t>由程序通过</a:t>
            </a:r>
            <a:r>
              <a:rPr kumimoji="0" lang="zh-CN" altLang="en-US" dirty="0">
                <a:ea typeface="微软雅黑" panose="020B0503020204020204" pitchFamily="34" charset="-122"/>
              </a:rPr>
              <a:t>高级应用程序编程接口 </a:t>
            </a:r>
            <a:r>
              <a:rPr kumimoji="0" lang="en-US" altLang="zh-CN" dirty="0">
                <a:ea typeface="微软雅黑" panose="020B0503020204020204" pitchFamily="34" charset="-122"/>
              </a:rPr>
              <a:t>(API) </a:t>
            </a:r>
            <a:r>
              <a:rPr kumimoji="0" lang="zh-CN" altLang="en-US" b="0" dirty="0">
                <a:ea typeface="微软雅黑" panose="020B0503020204020204" pitchFamily="34" charset="-122"/>
              </a:rPr>
              <a:t>访问，而不是直接使用系统调用</a:t>
            </a:r>
          </a:p>
          <a:p>
            <a:pPr>
              <a:lnSpc>
                <a:spcPct val="200000"/>
              </a:lnSpc>
            </a:pPr>
            <a:r>
              <a:rPr kumimoji="0" lang="zh-CN" altLang="en-US" b="0" dirty="0">
                <a:ea typeface="微软雅黑" panose="020B0503020204020204" pitchFamily="34" charset="-122"/>
              </a:rPr>
              <a:t>三组最常见的 </a:t>
            </a:r>
            <a:r>
              <a:rPr kumimoji="0" lang="en-US" altLang="zh-CN" b="0" dirty="0">
                <a:ea typeface="微软雅黑" panose="020B0503020204020204" pitchFamily="34" charset="-122"/>
              </a:rPr>
              <a:t>API </a:t>
            </a:r>
            <a:endParaRPr kumimoji="0" lang="en-US" altLang="zh-CN" b="0" dirty="0"/>
          </a:p>
          <a:p>
            <a:pPr lvl="1">
              <a:lnSpc>
                <a:spcPct val="200000"/>
              </a:lnSpc>
            </a:pPr>
            <a:r>
              <a:rPr kumimoji="0" lang="zh-CN" altLang="en-US" sz="2400" b="1" dirty="0">
                <a:ea typeface="微软雅黑" panose="020B0503020204020204" pitchFamily="34" charset="-122"/>
              </a:rPr>
              <a:t>用于 </a:t>
            </a:r>
            <a:r>
              <a:rPr kumimoji="0" lang="en-US" altLang="zh-CN" sz="2400" b="1" dirty="0">
                <a:ea typeface="微软雅黑" panose="020B0503020204020204" pitchFamily="34" charset="-122"/>
              </a:rPr>
              <a:t>Windows </a:t>
            </a:r>
            <a:r>
              <a:rPr kumimoji="0" lang="zh-CN" altLang="en-US" sz="2400" b="1" dirty="0">
                <a:ea typeface="微软雅黑" panose="020B0503020204020204" pitchFamily="34" charset="-122"/>
              </a:rPr>
              <a:t>的 </a:t>
            </a:r>
            <a:r>
              <a:rPr kumimoji="0" lang="en-US" altLang="zh-CN" sz="2400" b="1" dirty="0">
                <a:ea typeface="微软雅黑" panose="020B0503020204020204" pitchFamily="34" charset="-122"/>
              </a:rPr>
              <a:t>Win32 API</a:t>
            </a:r>
            <a:endParaRPr kumimoji="0" lang="en-US" altLang="zh-CN" sz="2400" b="1" dirty="0"/>
          </a:p>
          <a:p>
            <a:pPr lvl="1">
              <a:lnSpc>
                <a:spcPct val="200000"/>
              </a:lnSpc>
            </a:pPr>
            <a:r>
              <a:rPr kumimoji="0" lang="zh-CN" altLang="en-US" sz="2400" b="1" dirty="0">
                <a:ea typeface="微软雅黑" panose="020B0503020204020204" pitchFamily="34" charset="-122"/>
              </a:rPr>
              <a:t>适用于</a:t>
            </a:r>
            <a:r>
              <a:rPr kumimoji="0" lang="en-US" altLang="zh-CN" sz="2400" b="1" dirty="0">
                <a:ea typeface="微软雅黑" panose="020B0503020204020204" pitchFamily="34" charset="-122"/>
              </a:rPr>
              <a:t>POSIX </a:t>
            </a:r>
            <a:r>
              <a:rPr kumimoji="0" lang="zh-CN" altLang="en-US" sz="2400" b="1" dirty="0">
                <a:ea typeface="微软雅黑" panose="020B0503020204020204" pitchFamily="34" charset="-122"/>
              </a:rPr>
              <a:t>系统的</a:t>
            </a:r>
            <a:r>
              <a:rPr kumimoji="0" lang="en-US" altLang="zh-CN" sz="2400" b="1" dirty="0">
                <a:ea typeface="微软雅黑" panose="020B0503020204020204" pitchFamily="34" charset="-122"/>
              </a:rPr>
              <a:t>POSIX API</a:t>
            </a:r>
            <a:r>
              <a:rPr kumimoji="0" lang="zh-CN" altLang="en-US" sz="2400" b="1" dirty="0">
                <a:ea typeface="微软雅黑" panose="020B0503020204020204" pitchFamily="34" charset="-122"/>
              </a:rPr>
              <a:t>（包括几乎所有版本的 </a:t>
            </a:r>
            <a:r>
              <a:rPr kumimoji="0" lang="en-US" altLang="zh-CN" sz="2400" b="1" dirty="0">
                <a:ea typeface="微软雅黑" panose="020B0503020204020204" pitchFamily="34" charset="-122"/>
              </a:rPr>
              <a:t>UNIX</a:t>
            </a:r>
            <a:r>
              <a:rPr kumimoji="0" lang="zh-CN" altLang="en-US" sz="2400" b="1" dirty="0">
                <a:ea typeface="微软雅黑" panose="020B0503020204020204" pitchFamily="34" charset="-122"/>
              </a:rPr>
              <a:t>、</a:t>
            </a:r>
            <a:r>
              <a:rPr kumimoji="0" lang="en-US" altLang="zh-CN" sz="2400" b="1" dirty="0">
                <a:ea typeface="微软雅黑" panose="020B0503020204020204" pitchFamily="34" charset="-122"/>
              </a:rPr>
              <a:t>Linux </a:t>
            </a:r>
            <a:r>
              <a:rPr kumimoji="0" lang="zh-CN" altLang="en-US" sz="2400" b="1" dirty="0">
                <a:ea typeface="微软雅黑" panose="020B0503020204020204" pitchFamily="34" charset="-122"/>
              </a:rPr>
              <a:t>和 </a:t>
            </a:r>
            <a:r>
              <a:rPr kumimoji="0" lang="en-US" altLang="zh-CN" sz="2400" b="1" dirty="0">
                <a:ea typeface="微软雅黑" panose="020B0503020204020204" pitchFamily="34" charset="-122"/>
              </a:rPr>
              <a:t>Mac OS X</a:t>
            </a:r>
            <a:r>
              <a:rPr kumimoji="0" lang="zh-CN" altLang="en-US" sz="2400" b="1" dirty="0">
                <a:ea typeface="微软雅黑" panose="020B0503020204020204" pitchFamily="34" charset="-122"/>
              </a:rPr>
              <a:t>）</a:t>
            </a:r>
            <a:endParaRPr kumimoji="0" lang="en-US" altLang="zh-CN" sz="2400" b="1" dirty="0"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kumimoji="0" lang="zh-CN" altLang="en-US" sz="2400" b="1" dirty="0">
                <a:ea typeface="微软雅黑" panose="020B0503020204020204" pitchFamily="34" charset="-122"/>
              </a:rPr>
              <a:t>用于 </a:t>
            </a:r>
            <a:r>
              <a:rPr kumimoji="0" lang="en-US" altLang="zh-CN" sz="2400" b="1" dirty="0">
                <a:ea typeface="微软雅黑" panose="020B0503020204020204" pitchFamily="34" charset="-122"/>
              </a:rPr>
              <a:t>Java </a:t>
            </a:r>
            <a:r>
              <a:rPr kumimoji="0" lang="zh-CN" altLang="en-US" sz="2400" b="1" dirty="0">
                <a:ea typeface="微软雅黑" panose="020B0503020204020204" pitchFamily="34" charset="-122"/>
              </a:rPr>
              <a:t>虚拟机 </a:t>
            </a:r>
            <a:r>
              <a:rPr kumimoji="0" lang="en-US" altLang="zh-CN" sz="2400" b="1" dirty="0">
                <a:ea typeface="微软雅黑" panose="020B0503020204020204" pitchFamily="34" charset="-122"/>
              </a:rPr>
              <a:t>(JVM) </a:t>
            </a:r>
            <a:r>
              <a:rPr kumimoji="0" lang="zh-CN" altLang="en-US" sz="2400" b="1" dirty="0">
                <a:ea typeface="微软雅黑" panose="020B0503020204020204" pitchFamily="34" charset="-122"/>
              </a:rPr>
              <a:t>的 </a:t>
            </a:r>
            <a:r>
              <a:rPr kumimoji="0" lang="en-US" altLang="zh-CN" sz="2400" b="1" dirty="0">
                <a:ea typeface="微软雅黑" panose="020B0503020204020204" pitchFamily="34" charset="-122"/>
              </a:rPr>
              <a:t>Java 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7587" y="1358265"/>
            <a:ext cx="3903133" cy="4351338"/>
          </a:xfrm>
        </p:spPr>
        <p:txBody>
          <a:bodyPr/>
          <a:lstStyle/>
          <a:p>
            <a:r>
              <a:rPr lang="en-US" altLang="zh-CN" b="1" dirty="0"/>
              <a:t>“</a:t>
            </a:r>
            <a:r>
              <a:rPr lang="en-US" altLang="zh-CN" b="1" dirty="0" err="1"/>
              <a:t>strace”example</a:t>
            </a:r>
            <a:endParaRPr lang="en-US" altLang="zh-CN" b="1" dirty="0"/>
          </a:p>
          <a:p>
            <a:pPr lvl="1"/>
            <a:r>
              <a:rPr lang="en-US" altLang="zh-CN" dirty="0"/>
              <a:t>“strace </a:t>
            </a:r>
            <a:r>
              <a:rPr lang="en-US" altLang="zh-CN" dirty="0" err="1"/>
              <a:t>mkdir</a:t>
            </a:r>
            <a:r>
              <a:rPr lang="en-US" altLang="zh-CN" dirty="0"/>
              <a:t> temp”</a:t>
            </a:r>
          </a:p>
          <a:p>
            <a:pPr lvl="1"/>
            <a:r>
              <a:rPr lang="en-US" altLang="zh-CN" dirty="0"/>
              <a:t>“strace date &gt; t.t”</a:t>
            </a:r>
          </a:p>
          <a:p>
            <a:pPr lvl="1"/>
            <a:r>
              <a:rPr lang="en-US" altLang="zh-CN" dirty="0"/>
              <a:t>“strace </a:t>
            </a:r>
            <a:r>
              <a:rPr lang="en-US" altLang="zh-CN" dirty="0" err="1"/>
              <a:t>cp</a:t>
            </a:r>
            <a:r>
              <a:rPr lang="en-US" altLang="zh-CN" dirty="0"/>
              <a:t> t.t t.2”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“strace </a:t>
            </a:r>
            <a:r>
              <a:rPr lang="en-US" altLang="zh-CN" dirty="0" err="1"/>
              <a:t>helloworld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365" y="1358265"/>
            <a:ext cx="6520945" cy="43513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47" y="5223487"/>
            <a:ext cx="1597601" cy="1208711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DB7DF16-7A8A-43F8-86F0-3729729D9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5576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使用系统调用的例子</a:t>
            </a:r>
            <a:endParaRPr lang="en-US" altLang="zh-CN"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E8132D-A113-473C-8A29-E3934BEB16A7}"/>
              </a:ext>
            </a:extLst>
          </p:cNvPr>
          <p:cNvSpPr txBox="1"/>
          <p:nvPr/>
        </p:nvSpPr>
        <p:spPr>
          <a:xfrm>
            <a:off x="2845965" y="5412699"/>
            <a:ext cx="6893654" cy="923330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</a:rPr>
              <a:t>strace</a:t>
            </a:r>
            <a:r>
              <a:rPr lang="en-US" altLang="zh-CN" dirty="0">
                <a:solidFill>
                  <a:schemeClr val="bg1"/>
                </a:solidFill>
              </a:rPr>
              <a:t>‌ </a:t>
            </a:r>
            <a:r>
              <a:rPr lang="zh-CN" altLang="en-US" dirty="0">
                <a:solidFill>
                  <a:schemeClr val="bg1"/>
                </a:solidFill>
              </a:rPr>
              <a:t>是 </a:t>
            </a:r>
            <a:r>
              <a:rPr lang="en-US" altLang="zh-CN" dirty="0">
                <a:solidFill>
                  <a:schemeClr val="bg1"/>
                </a:solidFill>
              </a:rPr>
              <a:t>Linux </a:t>
            </a:r>
            <a:r>
              <a:rPr lang="zh-CN" altLang="en-US" dirty="0">
                <a:solidFill>
                  <a:schemeClr val="bg1"/>
                </a:solidFill>
              </a:rPr>
              <a:t>系统中用于跟踪进程执行期间的‌系统调用的强大诊断与调试工具。它可以捕获程序与内核之间的交互，帮助分析程序行为、排查故障、定位性能瓶颈等。</a:t>
            </a:r>
          </a:p>
        </p:txBody>
      </p:sp>
    </p:spTree>
    <p:extLst>
      <p:ext uri="{BB962C8B-B14F-4D97-AF65-F5344CB8AC3E}">
        <p14:creationId xmlns:p14="http://schemas.microsoft.com/office/powerpoint/2010/main" val="2488119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86A6F5ED-8959-464B-BD11-3B43C27752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标准</a:t>
            </a:r>
            <a:r>
              <a:rPr lang="en-US" altLang="zh-CN">
                <a:ea typeface="微软雅黑" panose="020B0503020204020204" pitchFamily="34" charset="-122"/>
              </a:rPr>
              <a:t>API</a:t>
            </a:r>
            <a:r>
              <a:rPr lang="zh-CN" altLang="en-US">
                <a:ea typeface="微软雅黑" panose="020B0503020204020204" pitchFamily="34" charset="-122"/>
              </a:rPr>
              <a:t>的例子</a:t>
            </a:r>
            <a:endParaRPr lang="en-US" altLang="zh-CN"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82B8DF7-B46D-469E-A4D3-D7184DC4019F}"/>
              </a:ext>
            </a:extLst>
          </p:cNvPr>
          <p:cNvGrpSpPr/>
          <p:nvPr/>
        </p:nvGrpSpPr>
        <p:grpSpPr>
          <a:xfrm>
            <a:off x="2335002" y="1066907"/>
            <a:ext cx="7234237" cy="5430156"/>
            <a:chOff x="573936" y="1019494"/>
            <a:chExt cx="7234237" cy="5430156"/>
          </a:xfrm>
        </p:grpSpPr>
        <p:sp>
          <p:nvSpPr>
            <p:cNvPr id="33795" name="矩形 3">
              <a:extLst>
                <a:ext uri="{FF2B5EF4-FFF2-40B4-BE49-F238E27FC236}">
                  <a16:creationId xmlns:a16="http://schemas.microsoft.com/office/drawing/2014/main" id="{CCF57888-1266-4875-869C-9178B7311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936" y="1019494"/>
              <a:ext cx="7234237" cy="5354637"/>
            </a:xfrm>
            <a:prstGeom prst="rect">
              <a:avLst/>
            </a:prstGeom>
            <a:solidFill>
              <a:srgbClr val="C9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>
                <a:latin typeface="Verdana" panose="020B0604030504040204" pitchFamily="34" charset="0"/>
              </a:endParaRPr>
            </a:p>
          </p:txBody>
        </p:sp>
        <p:sp>
          <p:nvSpPr>
            <p:cNvPr id="33796" name="文本框 4">
              <a:extLst>
                <a:ext uri="{FF2B5EF4-FFF2-40B4-BE49-F238E27FC236}">
                  <a16:creationId xmlns:a16="http://schemas.microsoft.com/office/drawing/2014/main" id="{E9EFFEB2-61B3-4B82-9F7C-8E6527BCEB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097" y="1094338"/>
              <a:ext cx="6919913" cy="5355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dirty="0">
                  <a:ea typeface="微软雅黑" panose="020B0503020204020204" pitchFamily="34" charset="-122"/>
                </a:rPr>
                <a:t>       </a:t>
              </a:r>
              <a:r>
                <a:rPr kumimoji="0" lang="zh-CN" altLang="en-US" dirty="0">
                  <a:ea typeface="微软雅黑" panose="020B0503020204020204" pitchFamily="34" charset="-122"/>
                </a:rPr>
                <a:t>作为标准 API 的一个例子，分析一下用于 UNIX 和 Linux 系统的函数 read()。可以通过在命令行上输入如下命令得到这个函数的帮助信息：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dirty="0">
                  <a:ea typeface="微软雅黑" panose="020B0503020204020204" pitchFamily="34" charset="-122"/>
                </a:rPr>
                <a:t>        </a:t>
              </a:r>
              <a:r>
                <a:rPr kumimoji="0" lang="zh-CN" altLang="en-US" dirty="0">
                  <a:ea typeface="微软雅黑" panose="020B0503020204020204" pitchFamily="34" charset="-122"/>
                </a:rPr>
                <a:t>man read </a:t>
              </a:r>
              <a:endParaRPr kumimoji="0" lang="en-US" altLang="zh-CN" dirty="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dirty="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dirty="0">
                  <a:ea typeface="微软雅黑" panose="020B0503020204020204" pitchFamily="34" charset="-122"/>
                </a:rPr>
                <a:t>该 API 描述如下：</a:t>
              </a:r>
              <a:endParaRPr kumimoji="0" lang="en-US" altLang="zh-CN" dirty="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dirty="0">
                  <a:ea typeface="微软雅黑" panose="020B0503020204020204" pitchFamily="34" charset="-122"/>
                </a:rPr>
                <a:t>include &lt;</a:t>
              </a:r>
              <a:r>
                <a:rPr kumimoji="0" lang="en-US" altLang="zh-CN" dirty="0" err="1">
                  <a:ea typeface="微软雅黑" panose="020B0503020204020204" pitchFamily="34" charset="-122"/>
                </a:rPr>
                <a:t>unistd.h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&gt;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dirty="0" err="1">
                  <a:ea typeface="微软雅黑" panose="020B0503020204020204" pitchFamily="34" charset="-122"/>
                </a:rPr>
                <a:t>ssize_t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      read(int </a:t>
              </a:r>
              <a:r>
                <a:rPr kumimoji="0" lang="en-US" altLang="zh-CN" dirty="0" err="1">
                  <a:ea typeface="微软雅黑" panose="020B0503020204020204" pitchFamily="34" charset="-122"/>
                </a:rPr>
                <a:t>fd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, void *</a:t>
              </a:r>
              <a:r>
                <a:rPr kumimoji="0" lang="en-US" altLang="zh-CN" dirty="0" err="1">
                  <a:ea typeface="微软雅黑" panose="020B0503020204020204" pitchFamily="34" charset="-122"/>
                </a:rPr>
                <a:t>buf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, </a:t>
              </a:r>
              <a:r>
                <a:rPr kumimoji="0" lang="en-US" altLang="zh-CN" dirty="0" err="1">
                  <a:ea typeface="微软雅黑" panose="020B0503020204020204" pitchFamily="34" charset="-122"/>
                </a:rPr>
                <a:t>size_t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 count)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dirty="0">
                  <a:ea typeface="微软雅黑" panose="020B0503020204020204" pitchFamily="34" charset="-122"/>
                </a:rPr>
                <a:t>返回值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	 </a:t>
              </a:r>
              <a:r>
                <a:rPr kumimoji="0" lang="zh-CN" altLang="en-US" dirty="0">
                  <a:ea typeface="微软雅黑" panose="020B0503020204020204" pitchFamily="34" charset="-122"/>
                </a:rPr>
                <a:t>函数名称                  参数</a:t>
              </a:r>
              <a:endParaRPr kumimoji="0" lang="en-US" altLang="zh-CN" dirty="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dirty="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dirty="0">
                  <a:ea typeface="微软雅黑" panose="020B0503020204020204" pitchFamily="34" charset="-122"/>
                </a:rPr>
                <a:t>调用函数 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read() </a:t>
              </a:r>
              <a:r>
                <a:rPr kumimoji="0" lang="zh-CN" altLang="en-US" dirty="0">
                  <a:ea typeface="微软雅黑" panose="020B0503020204020204" pitchFamily="34" charset="-122"/>
                </a:rPr>
                <a:t>的程序应包括头文件 </a:t>
              </a:r>
              <a:r>
                <a:rPr kumimoji="0" lang="en-US" altLang="zh-CN" dirty="0" err="1">
                  <a:ea typeface="微软雅黑" panose="020B0503020204020204" pitchFamily="34" charset="-122"/>
                </a:rPr>
                <a:t>unistd.h</a:t>
              </a:r>
              <a:r>
                <a:rPr kumimoji="0" lang="zh-CN" altLang="en-US" dirty="0">
                  <a:ea typeface="微软雅黑" panose="020B0503020204020204" pitchFamily="34" charset="-122"/>
                </a:rPr>
                <a:t>，这是因为该文件定义了数据类型</a:t>
              </a:r>
              <a:r>
                <a:rPr kumimoji="0" lang="en-US" altLang="zh-CN" dirty="0" err="1">
                  <a:ea typeface="微软雅黑" panose="020B0503020204020204" pitchFamily="34" charset="-122"/>
                </a:rPr>
                <a:t>ssize_t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 </a:t>
              </a:r>
              <a:r>
                <a:rPr kumimoji="0" lang="zh-CN" altLang="en-US" dirty="0">
                  <a:ea typeface="微软雅黑" panose="020B0503020204020204" pitchFamily="34" charset="-122"/>
                </a:rPr>
                <a:t>和 </a:t>
              </a:r>
              <a:r>
                <a:rPr kumimoji="0" lang="en-US" altLang="zh-CN" dirty="0" err="1">
                  <a:ea typeface="微软雅黑" panose="020B0503020204020204" pitchFamily="34" charset="-122"/>
                </a:rPr>
                <a:t>size_t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 (</a:t>
              </a:r>
              <a:r>
                <a:rPr kumimoji="0" lang="zh-CN" altLang="en-US" dirty="0">
                  <a:ea typeface="微软雅黑" panose="020B0503020204020204" pitchFamily="34" charset="-122"/>
                </a:rPr>
                <a:t>还有许多其他）。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read() </a:t>
              </a:r>
              <a:r>
                <a:rPr kumimoji="0" lang="zh-CN" altLang="en-US" dirty="0">
                  <a:ea typeface="微软雅黑" panose="020B0503020204020204" pitchFamily="34" charset="-122"/>
                </a:rPr>
                <a:t>传入的参数如下：</a:t>
              </a:r>
              <a:endParaRPr kumimoji="0" lang="en-US" altLang="zh-CN" dirty="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dirty="0">
                  <a:ea typeface="微软雅黑" panose="020B0503020204020204" pitchFamily="34" charset="-122"/>
                </a:rPr>
                <a:t>	•  int </a:t>
              </a:r>
              <a:r>
                <a:rPr kumimoji="0" lang="en-US" altLang="zh-CN" dirty="0" err="1">
                  <a:ea typeface="微软雅黑" panose="020B0503020204020204" pitchFamily="34" charset="-122"/>
                </a:rPr>
                <a:t>fd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: </a:t>
              </a:r>
              <a:r>
                <a:rPr kumimoji="0" lang="zh-CN" altLang="en-US" dirty="0">
                  <a:ea typeface="微软雅黑" panose="020B0503020204020204" pitchFamily="34" charset="-122"/>
                </a:rPr>
                <a:t>要读的文件描述符。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dirty="0">
                  <a:ea typeface="微软雅黑" panose="020B0503020204020204" pitchFamily="34" charset="-122"/>
                </a:rPr>
                <a:t>	•  void *</a:t>
              </a:r>
              <a:r>
                <a:rPr kumimoji="0" lang="en-US" altLang="zh-CN" dirty="0" err="1">
                  <a:ea typeface="微软雅黑" panose="020B0503020204020204" pitchFamily="34" charset="-122"/>
                </a:rPr>
                <a:t>buf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: </a:t>
              </a:r>
              <a:r>
                <a:rPr kumimoji="0" lang="zh-CN" altLang="en-US" dirty="0">
                  <a:ea typeface="微软雅黑" panose="020B0503020204020204" pitchFamily="34" charset="-122"/>
                </a:rPr>
                <a:t>数据要被读到的缓冲区。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dirty="0">
                  <a:ea typeface="微软雅黑" panose="020B0503020204020204" pitchFamily="34" charset="-122"/>
                </a:rPr>
                <a:t>	•  </a:t>
              </a:r>
              <a:r>
                <a:rPr kumimoji="0" lang="en-US" altLang="zh-CN" dirty="0" err="1">
                  <a:ea typeface="微软雅黑" panose="020B0503020204020204" pitchFamily="34" charset="-122"/>
                </a:rPr>
                <a:t>size_t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 count: </a:t>
              </a:r>
              <a:r>
                <a:rPr kumimoji="0" lang="zh-CN" altLang="en-US" dirty="0">
                  <a:ea typeface="微软雅黑" panose="020B0503020204020204" pitchFamily="34" charset="-122"/>
                </a:rPr>
                <a:t>要被读到缓冲区的最大字节数。</a:t>
              </a:r>
              <a:endParaRPr kumimoji="0" lang="en-US" altLang="zh-CN" dirty="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dirty="0">
                  <a:ea typeface="微软雅黑" panose="020B0503020204020204" pitchFamily="34" charset="-122"/>
                </a:rPr>
                <a:t>当成功读入后，会返回读取的字节数。返回值为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0</a:t>
              </a:r>
              <a:r>
                <a:rPr kumimoji="0" lang="zh-CN" altLang="en-US" dirty="0">
                  <a:ea typeface="微软雅黑" panose="020B0503020204020204" pitchFamily="34" charset="-122"/>
                </a:rPr>
                <a:t>表示文件结束。如果出错，会返回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-1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dirty="0">
                <a:latin typeface="Verdana" panose="020B0604030504040204" pitchFamily="34" charset="0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ED01F6A4-A58D-4C1A-8621-C5E62D3CF6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427" y="1233489"/>
            <a:ext cx="10898293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系统调用都有一个相关</a:t>
            </a:r>
            <a:r>
              <a:rPr lang="zh-CN" altLang="en-US" dirty="0"/>
              <a:t>索引号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系统调用接口</a:t>
            </a:r>
            <a:r>
              <a:rPr lang="zh-CN" altLang="en-US" dirty="0">
                <a:ea typeface="微软雅黑" panose="020B0503020204020204" pitchFamily="34" charset="-122"/>
              </a:rPr>
              <a:t>会根据索引号来建立一个索引列表</a:t>
            </a:r>
            <a:endParaRPr lang="en-US" altLang="zh-CN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系统调用接口调用操作系统内核中的所需系统调用，并返回系统调用状态与任何返回值</a:t>
            </a:r>
            <a:endParaRPr lang="en-US" altLang="zh-CN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调用者无需知道如何实现系统调用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只需遵循</a:t>
            </a:r>
            <a:r>
              <a:rPr lang="en-US" altLang="zh-CN" dirty="0">
                <a:ea typeface="微软雅黑" panose="020B0503020204020204" pitchFamily="34" charset="-122"/>
              </a:rPr>
              <a:t>API</a:t>
            </a:r>
            <a:r>
              <a:rPr lang="zh-CN" altLang="en-US" dirty="0">
                <a:ea typeface="微软雅黑" panose="020B0503020204020204" pitchFamily="34" charset="-122"/>
              </a:rPr>
              <a:t>，并了解在调用系统调用后操作系统做了什么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通过 </a:t>
            </a:r>
            <a:r>
              <a:rPr lang="en-US" altLang="zh-CN" dirty="0">
                <a:ea typeface="微软雅黑" panose="020B0503020204020204" pitchFamily="34" charset="-122"/>
              </a:rPr>
              <a:t>API</a:t>
            </a:r>
            <a:r>
              <a:rPr lang="zh-CN" altLang="en-US" dirty="0"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ea typeface="微软雅黑" panose="020B0503020204020204" pitchFamily="34" charset="-122"/>
              </a:rPr>
              <a:t> </a:t>
            </a:r>
            <a:r>
              <a:rPr lang="zh-CN" altLang="en-US" dirty="0">
                <a:ea typeface="微软雅黑" panose="020B0503020204020204" pitchFamily="34" charset="-122"/>
              </a:rPr>
              <a:t>操作系统接口的大部分细节隐被藏起来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由运行时支持库（编译器附带的库中内置的一组函数）管理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756A575F-09D3-4C01-81E5-F767B2C3D3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9913" y="190501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系统调用的实现</a:t>
            </a:r>
            <a:endParaRPr lang="en-US" altLang="zh-CN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3249B01-015C-492F-818C-F1CDE02713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475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>
                <a:ea typeface="微软雅黑" panose="020B0503020204020204" pitchFamily="34" charset="-122"/>
              </a:rPr>
              <a:t>API—</a:t>
            </a:r>
            <a:r>
              <a:rPr lang="zh-CN" altLang="en-US">
                <a:ea typeface="微软雅黑" panose="020B0503020204020204" pitchFamily="34" charset="-122"/>
              </a:rPr>
              <a:t>系统调用</a:t>
            </a:r>
            <a:r>
              <a:rPr lang="en-US" altLang="zh-CN">
                <a:ea typeface="微软雅黑" panose="020B0503020204020204" pitchFamily="34" charset="-122"/>
              </a:rPr>
              <a:t>—</a:t>
            </a:r>
            <a:r>
              <a:rPr lang="zh-CN" altLang="en-US">
                <a:ea typeface="微软雅黑" panose="020B0503020204020204" pitchFamily="34" charset="-122"/>
              </a:rPr>
              <a:t>操作系统关系</a:t>
            </a:r>
            <a:endParaRPr lang="en-US" altLang="zh-CN">
              <a:ea typeface="微软雅黑" panose="020B0503020204020204" pitchFamily="34" charset="-122"/>
            </a:endParaRPr>
          </a:p>
        </p:txBody>
      </p:sp>
      <p:grpSp>
        <p:nvGrpSpPr>
          <p:cNvPr id="37891" name="组合 1">
            <a:extLst>
              <a:ext uri="{FF2B5EF4-FFF2-40B4-BE49-F238E27FC236}">
                <a16:creationId xmlns:a16="http://schemas.microsoft.com/office/drawing/2014/main" id="{CF612AC0-E439-49AB-9C71-6FF512528066}"/>
              </a:ext>
            </a:extLst>
          </p:cNvPr>
          <p:cNvGrpSpPr>
            <a:grpSpLocks/>
          </p:cNvGrpSpPr>
          <p:nvPr/>
        </p:nvGrpSpPr>
        <p:grpSpPr bwMode="auto">
          <a:xfrm>
            <a:off x="2519362" y="1238250"/>
            <a:ext cx="7153275" cy="4381500"/>
            <a:chOff x="968375" y="1425575"/>
            <a:chExt cx="7153275" cy="4381500"/>
          </a:xfrm>
        </p:grpSpPr>
        <p:pic>
          <p:nvPicPr>
            <p:cNvPr id="37892" name="Picture 5" descr="2">
              <a:extLst>
                <a:ext uri="{FF2B5EF4-FFF2-40B4-BE49-F238E27FC236}">
                  <a16:creationId xmlns:a16="http://schemas.microsoft.com/office/drawing/2014/main" id="{03E9326E-460D-4AA7-A6DF-824396E4F6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8375" y="1425575"/>
              <a:ext cx="7153275" cy="438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893" name="矩形 3">
              <a:extLst>
                <a:ext uri="{FF2B5EF4-FFF2-40B4-BE49-F238E27FC236}">
                  <a16:creationId xmlns:a16="http://schemas.microsoft.com/office/drawing/2014/main" id="{ED5D429D-8273-4530-8625-EF83FB475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273" y="1612012"/>
              <a:ext cx="1632931" cy="390408"/>
            </a:xfrm>
            <a:prstGeom prst="rect">
              <a:avLst/>
            </a:prstGeom>
            <a:solidFill>
              <a:srgbClr val="C7E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ea typeface="微软雅黑" panose="020B0503020204020204" pitchFamily="34" charset="-122"/>
                </a:rPr>
                <a:t>用户应用程序</a:t>
              </a:r>
            </a:p>
          </p:txBody>
        </p:sp>
        <p:sp>
          <p:nvSpPr>
            <p:cNvPr id="37894" name="矩形 4">
              <a:extLst>
                <a:ext uri="{FF2B5EF4-FFF2-40B4-BE49-F238E27FC236}">
                  <a16:creationId xmlns:a16="http://schemas.microsoft.com/office/drawing/2014/main" id="{C7AE6FFE-CD2F-45FF-B8E9-D5B204964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273" y="3038593"/>
              <a:ext cx="1910724" cy="294916"/>
            </a:xfrm>
            <a:prstGeom prst="rect">
              <a:avLst/>
            </a:prstGeom>
            <a:solidFill>
              <a:srgbClr val="D0D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ea typeface="微软雅黑" panose="020B0503020204020204" pitchFamily="34" charset="-122"/>
                </a:rPr>
                <a:t>系统调用接口</a:t>
              </a:r>
            </a:p>
          </p:txBody>
        </p:sp>
        <p:sp>
          <p:nvSpPr>
            <p:cNvPr id="37895" name="矩形 5">
              <a:extLst>
                <a:ext uri="{FF2B5EF4-FFF2-40B4-BE49-F238E27FC236}">
                  <a16:creationId xmlns:a16="http://schemas.microsoft.com/office/drawing/2014/main" id="{BE55C355-499D-4F6F-B302-BA8FC8ABD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895" y="2713964"/>
              <a:ext cx="818927" cy="4288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ea typeface="微软雅黑" panose="020B0503020204020204" pitchFamily="34" charset="-122"/>
                </a:rPr>
                <a:t>用户模式</a:t>
              </a:r>
            </a:p>
          </p:txBody>
        </p:sp>
        <p:sp>
          <p:nvSpPr>
            <p:cNvPr id="37896" name="矩形 6">
              <a:extLst>
                <a:ext uri="{FF2B5EF4-FFF2-40B4-BE49-F238E27FC236}">
                  <a16:creationId xmlns:a16="http://schemas.microsoft.com/office/drawing/2014/main" id="{663F97F4-C533-46D0-A6C0-0617DFE50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320" y="3301801"/>
              <a:ext cx="818927" cy="576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ea typeface="微软雅黑" panose="020B0503020204020204" pitchFamily="34" charset="-122"/>
                </a:rPr>
                <a:t>内核模式</a:t>
              </a:r>
            </a:p>
          </p:txBody>
        </p:sp>
        <p:sp>
          <p:nvSpPr>
            <p:cNvPr id="37897" name="矩形 7">
              <a:extLst>
                <a:ext uri="{FF2B5EF4-FFF2-40B4-BE49-F238E27FC236}">
                  <a16:creationId xmlns:a16="http://schemas.microsoft.com/office/drawing/2014/main" id="{C3DFA599-E2AA-4EEC-8924-2E9C8807C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227" y="4369682"/>
              <a:ext cx="1481560" cy="7000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ea typeface="微软雅黑" panose="020B0503020204020204" pitchFamily="34" charset="-122"/>
                </a:rPr>
                <a:t>系统调用</a:t>
              </a: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600">
                  <a:ea typeface="微软雅黑" panose="020B0503020204020204" pitchFamily="34" charset="-122"/>
                </a:rPr>
                <a:t>open()</a:t>
              </a:r>
              <a:r>
                <a:rPr kumimoji="0" lang="zh-CN" altLang="en-US" sz="1600">
                  <a:ea typeface="微软雅黑" panose="020B0503020204020204" pitchFamily="34" charset="-122"/>
                </a:rPr>
                <a:t>的实现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8DB0BC79-DCBF-4C26-BFAA-666893A7D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6664" y="198438"/>
            <a:ext cx="7704137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系统调用参数传递</a:t>
            </a:r>
            <a:endParaRPr lang="en-US" altLang="zh-CN">
              <a:ea typeface="微软雅黑" panose="020B0503020204020204" pitchFamily="34" charset="-122"/>
            </a:endParaRP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A8A52F99-EC53-4CA8-A5B1-4DDABF7873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427" y="1070187"/>
            <a:ext cx="11006666" cy="578781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除了所需的系统调用外，还要提供其他信息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信息的具体类型和数量根据特定操作系统和调用而有所不同</a:t>
            </a:r>
            <a:endParaRPr lang="en-US" altLang="zh-CN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向操作系统传递参数有三种常用方法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寄存器</a:t>
            </a:r>
            <a:r>
              <a:rPr lang="zh-CN" altLang="en-US" dirty="0">
                <a:ea typeface="微软雅黑" panose="020B0503020204020204" pitchFamily="34" charset="-122"/>
              </a:rPr>
              <a:t>（最简单）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在某些情况下，参数数量会比寄存器多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内存</a:t>
            </a:r>
            <a:r>
              <a:rPr lang="zh-CN" altLang="en-US" dirty="0">
                <a:ea typeface="微软雅黑" panose="020B0503020204020204" pitchFamily="34" charset="-122"/>
              </a:rPr>
              <a:t>：参数存在内存的块或表中，而块或表的地址通过寄存器来传递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en-US" altLang="zh-CN" dirty="0">
                <a:ea typeface="微软雅黑" panose="020B0503020204020204" pitchFamily="34" charset="-122"/>
              </a:rPr>
              <a:t>Linux</a:t>
            </a:r>
            <a:r>
              <a:rPr lang="zh-CN" altLang="en-US" dirty="0"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ea typeface="微软雅黑" panose="020B0503020204020204" pitchFamily="34" charset="-122"/>
              </a:rPr>
              <a:t>Solaris</a:t>
            </a:r>
            <a:r>
              <a:rPr lang="zh-CN" altLang="en-US" dirty="0">
                <a:ea typeface="微软雅黑" panose="020B0503020204020204" pitchFamily="34" charset="-122"/>
              </a:rPr>
              <a:t>就采用这种方法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堆栈</a:t>
            </a:r>
            <a:r>
              <a:rPr lang="zh-CN" altLang="en-US" dirty="0">
                <a:ea typeface="微软雅黑" panose="020B0503020204020204" pitchFamily="34" charset="-122"/>
              </a:rPr>
              <a:t>：参数也可通过程序放在或</a:t>
            </a:r>
            <a:r>
              <a:rPr lang="zh-CN" altLang="en-US" b="1" dirty="0">
                <a:ea typeface="微软雅黑" panose="020B0503020204020204" pitchFamily="34" charset="-122"/>
              </a:rPr>
              <a:t>压入</a:t>
            </a:r>
            <a:r>
              <a:rPr lang="zh-CN" altLang="en-US" dirty="0">
                <a:ea typeface="微软雅黑" panose="020B0503020204020204" pitchFamily="34" charset="-122"/>
              </a:rPr>
              <a:t> 到</a:t>
            </a:r>
            <a:r>
              <a:rPr lang="zh-CN" altLang="en-US" b="1" dirty="0">
                <a:ea typeface="微软雅黑" panose="020B0503020204020204" pitchFamily="34" charset="-122"/>
              </a:rPr>
              <a:t>堆栈</a:t>
            </a:r>
            <a:r>
              <a:rPr lang="en-US" altLang="zh-CN" dirty="0"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ea typeface="微软雅黑" panose="020B0503020204020204" pitchFamily="34" charset="-122"/>
              </a:rPr>
              <a:t>并通过操作系统</a:t>
            </a:r>
            <a:r>
              <a:rPr lang="zh-CN" altLang="en-US" b="1" dirty="0">
                <a:ea typeface="微软雅黑" panose="020B0503020204020204" pitchFamily="34" charset="-122"/>
              </a:rPr>
              <a:t>弹出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内存和堆栈方法不限制传递参数的数量或长度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3A44E25F-7FB3-4FEB-B8F7-E5A91C9858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通过表来传递参数</a:t>
            </a:r>
            <a:endParaRPr lang="en-US" altLang="zh-CN">
              <a:ea typeface="微软雅黑" panose="020B0503020204020204" pitchFamily="34" charset="-122"/>
            </a:endParaRPr>
          </a:p>
        </p:txBody>
      </p:sp>
      <p:grpSp>
        <p:nvGrpSpPr>
          <p:cNvPr id="41987" name="组合 3">
            <a:extLst>
              <a:ext uri="{FF2B5EF4-FFF2-40B4-BE49-F238E27FC236}">
                <a16:creationId xmlns:a16="http://schemas.microsoft.com/office/drawing/2014/main" id="{4E35D8EE-BF63-4686-9558-AF478E1F6B91}"/>
              </a:ext>
            </a:extLst>
          </p:cNvPr>
          <p:cNvGrpSpPr>
            <a:grpSpLocks/>
          </p:cNvGrpSpPr>
          <p:nvPr/>
        </p:nvGrpSpPr>
        <p:grpSpPr bwMode="auto">
          <a:xfrm>
            <a:off x="3201989" y="1865314"/>
            <a:ext cx="6886575" cy="3451225"/>
            <a:chOff x="1678622" y="1865313"/>
            <a:chExt cx="6886646" cy="3451225"/>
          </a:xfrm>
        </p:grpSpPr>
        <p:pic>
          <p:nvPicPr>
            <p:cNvPr id="41988" name="Picture 7" descr="2">
              <a:extLst>
                <a:ext uri="{FF2B5EF4-FFF2-40B4-BE49-F238E27FC236}">
                  <a16:creationId xmlns:a16="http://schemas.microsoft.com/office/drawing/2014/main" id="{8594986B-2FB7-4BAD-B7F4-6E6A8E8183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8622" y="1865313"/>
              <a:ext cx="6573837" cy="3451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989" name="矩形 1">
              <a:extLst>
                <a:ext uri="{FF2B5EF4-FFF2-40B4-BE49-F238E27FC236}">
                  <a16:creationId xmlns:a16="http://schemas.microsoft.com/office/drawing/2014/main" id="{5C5B7034-B58D-45DF-A37B-C7030C39C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062" y="2468279"/>
              <a:ext cx="1406103" cy="1678329"/>
            </a:xfrm>
            <a:prstGeom prst="rect">
              <a:avLst/>
            </a:prstGeom>
            <a:solidFill>
              <a:srgbClr val="C9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dirty="0">
                  <a:ea typeface="微软雅黑" panose="020B0503020204020204" pitchFamily="34" charset="-122"/>
                </a:rPr>
                <a:t>X: </a:t>
              </a:r>
              <a:r>
                <a:rPr kumimoji="0" lang="zh-CN" altLang="en-US" dirty="0">
                  <a:ea typeface="微软雅黑" panose="020B0503020204020204" pitchFamily="34" charset="-122"/>
                </a:rPr>
                <a:t>调用参数</a:t>
              </a:r>
              <a:endParaRPr kumimoji="0" lang="en-US" altLang="zh-CN" dirty="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dirty="0">
                  <a:ea typeface="微软雅黑" panose="020B0503020204020204" pitchFamily="34" charset="-122"/>
                </a:rPr>
                <a:t>表</a:t>
              </a:r>
              <a:endParaRPr kumimoji="0" lang="en-US" altLang="zh-CN" dirty="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dirty="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dirty="0">
                  <a:ea typeface="微软雅黑" panose="020B0503020204020204" pitchFamily="34" charset="-122"/>
                </a:rPr>
                <a:t>加载地址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X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dirty="0">
                  <a:ea typeface="微软雅黑" panose="020B0503020204020204" pitchFamily="34" charset="-122"/>
                </a:rPr>
                <a:t>系统调用</a:t>
              </a:r>
              <a:r>
                <a:rPr kumimoji="0" lang="en-US" altLang="zh-CN" dirty="0">
                  <a:ea typeface="微软雅黑" panose="020B0503020204020204" pitchFamily="34" charset="-122"/>
                </a:rPr>
                <a:t>13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dirty="0">
                <a:latin typeface="Verdana" panose="020B060403050404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1990" name="矩形 2">
              <a:extLst>
                <a:ext uri="{FF2B5EF4-FFF2-40B4-BE49-F238E27FC236}">
                  <a16:creationId xmlns:a16="http://schemas.microsoft.com/office/drawing/2014/main" id="{5957452C-8099-4DA1-945D-425761DA3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3267" y="2210764"/>
              <a:ext cx="972274" cy="3009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ea typeface="微软雅黑" panose="020B0503020204020204" pitchFamily="34" charset="-122"/>
                </a:rPr>
                <a:t>寄存器</a:t>
              </a:r>
            </a:p>
          </p:txBody>
        </p:sp>
        <p:sp>
          <p:nvSpPr>
            <p:cNvPr id="41991" name="矩形 5">
              <a:extLst>
                <a:ext uri="{FF2B5EF4-FFF2-40B4-BE49-F238E27FC236}">
                  <a16:creationId xmlns:a16="http://schemas.microsoft.com/office/drawing/2014/main" id="{F6CFD69D-0A32-4652-8B30-53FB84C02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062" y="4616508"/>
              <a:ext cx="1301929" cy="2911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ea typeface="微软雅黑" panose="020B0503020204020204" pitchFamily="34" charset="-122"/>
                </a:rPr>
                <a:t>用户程序</a:t>
              </a:r>
            </a:p>
          </p:txBody>
        </p:sp>
        <p:sp>
          <p:nvSpPr>
            <p:cNvPr id="41992" name="矩形 6">
              <a:extLst>
                <a:ext uri="{FF2B5EF4-FFF2-40B4-BE49-F238E27FC236}">
                  <a16:creationId xmlns:a16="http://schemas.microsoft.com/office/drawing/2014/main" id="{E86F7507-C05C-4569-B1F0-1A8810B6C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4809" y="5025520"/>
              <a:ext cx="1519920" cy="2910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ea typeface="微软雅黑" panose="020B0503020204020204" pitchFamily="34" charset="-122"/>
                </a:rPr>
                <a:t>操作系统</a:t>
              </a:r>
            </a:p>
          </p:txBody>
        </p:sp>
        <p:sp>
          <p:nvSpPr>
            <p:cNvPr id="41993" name="矩形 7">
              <a:extLst>
                <a:ext uri="{FF2B5EF4-FFF2-40B4-BE49-F238E27FC236}">
                  <a16:creationId xmlns:a16="http://schemas.microsoft.com/office/drawing/2014/main" id="{4A4F9057-20ED-42A6-8F60-D8ACED462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4387" y="3071429"/>
              <a:ext cx="1070881" cy="817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ea typeface="微软雅黑" panose="020B0503020204020204" pitchFamily="34" charset="-122"/>
                </a:rPr>
                <a:t>系统调用</a:t>
              </a:r>
              <a:endParaRPr kumimoji="0" lang="en-US" altLang="zh-CN"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>
                  <a:ea typeface="微软雅黑" panose="020B0503020204020204" pitchFamily="34" charset="-122"/>
                </a:rPr>
                <a:t>13</a:t>
              </a:r>
              <a:r>
                <a:rPr kumimoji="0" lang="zh-CN" altLang="en-US">
                  <a:ea typeface="微软雅黑" panose="020B0503020204020204" pitchFamily="34" charset="-122"/>
                </a:rPr>
                <a:t>的代码</a:t>
              </a:r>
            </a:p>
          </p:txBody>
        </p:sp>
        <p:sp>
          <p:nvSpPr>
            <p:cNvPr id="41994" name="矩形 8">
              <a:extLst>
                <a:ext uri="{FF2B5EF4-FFF2-40B4-BE49-F238E27FC236}">
                  <a16:creationId xmlns:a16="http://schemas.microsoft.com/office/drawing/2014/main" id="{401ED942-8732-4C3D-A579-7593A9271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8163" y="3196561"/>
              <a:ext cx="1519920" cy="394364"/>
            </a:xfrm>
            <a:prstGeom prst="rect">
              <a:avLst/>
            </a:prstGeom>
            <a:solidFill>
              <a:srgbClr val="CF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dirty="0">
                  <a:ea typeface="微软雅黑" panose="020B0503020204020204" pitchFamily="34" charset="-122"/>
                </a:rPr>
                <a:t>使用</a:t>
              </a:r>
              <a:r>
                <a:rPr kumimoji="0" lang="en-US" altLang="zh-CN" sz="1600" dirty="0">
                  <a:ea typeface="微软雅黑" panose="020B0503020204020204" pitchFamily="34" charset="-122"/>
                </a:rPr>
                <a:t>X</a:t>
              </a:r>
              <a:r>
                <a:rPr kumimoji="0" lang="zh-CN" altLang="en-US" sz="1600" dirty="0">
                  <a:ea typeface="微软雅黑" panose="020B0503020204020204" pitchFamily="34" charset="-122"/>
                </a:rPr>
                <a:t>内的参数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40025EB9-CA50-4735-9C3F-056910B1E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7075" y="2143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系统调用的类型</a:t>
            </a:r>
            <a:endParaRPr lang="en-US" altLang="zh-CN">
              <a:ea typeface="微软雅黑" panose="020B0503020204020204" pitchFamily="34" charset="-122"/>
            </a:endParaRPr>
          </a:p>
        </p:txBody>
      </p:sp>
      <p:sp>
        <p:nvSpPr>
          <p:cNvPr id="44035" name="Rectangle 4">
            <a:extLst>
              <a:ext uri="{FF2B5EF4-FFF2-40B4-BE49-F238E27FC236}">
                <a16:creationId xmlns:a16="http://schemas.microsoft.com/office/drawing/2014/main" id="{2E3F707A-7BFC-494E-A513-8AE9C94CEB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0555" y="1163637"/>
            <a:ext cx="8229600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进程控制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创建进程，终止进程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结束、 中止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加载、执行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获取进程属性、设置进程属性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等待时间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等待事件、信号事件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分配和释放内存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083E49-DBFD-47D5-A986-CEBEEBC0BC51}"/>
              </a:ext>
            </a:extLst>
          </p:cNvPr>
          <p:cNvSpPr/>
          <p:nvPr/>
        </p:nvSpPr>
        <p:spPr>
          <a:xfrm>
            <a:off x="5642186" y="1722495"/>
            <a:ext cx="6096000" cy="16383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如果出错则转储内存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用于确定错误的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调试器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单步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用于管理进程间共享数据访问的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</a:t>
            </a:r>
            <a:endParaRPr kumimoji="1" lang="en-US" altLang="zh-CN" sz="20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>
            <a:extLst>
              <a:ext uri="{FF2B5EF4-FFF2-40B4-BE49-F238E27FC236}">
                <a16:creationId xmlns:a16="http://schemas.microsoft.com/office/drawing/2014/main" id="{F97E7228-1C32-4D66-9016-4413A1BE7E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507" y="1089131"/>
            <a:ext cx="10972800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文件管理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创建文件、删除文件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打开、关闭文件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读、写、重新定位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获取和设置文件属性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312320A4-E717-47BA-B523-962C317E56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7075" y="2143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系统调用的类型</a:t>
            </a:r>
            <a:endParaRPr lang="en-US" altLang="zh-CN"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0E4942-D41E-4005-8EA4-529696DF4BD1}"/>
              </a:ext>
            </a:extLst>
          </p:cNvPr>
          <p:cNvSpPr/>
          <p:nvPr/>
        </p:nvSpPr>
        <p:spPr>
          <a:xfrm>
            <a:off x="6685280" y="1089131"/>
            <a:ext cx="6096000" cy="286950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1313" lvl="0" indent="-34131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</a:pPr>
            <a:r>
              <a:rPr kumimoji="1" lang="zh-CN" altLang="en-US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设备管理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请求设备、释放设备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读、写、重新定位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获取设备属性，设置设备属性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逻辑附加或分离设备</a:t>
            </a:r>
            <a:endParaRPr kumimoji="1" lang="en-US" altLang="zh-CN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31E0F1-C606-4BF3-92D8-E2EEE7527312}"/>
              </a:ext>
            </a:extLst>
          </p:cNvPr>
          <p:cNvSpPr/>
          <p:nvPr/>
        </p:nvSpPr>
        <p:spPr>
          <a:xfrm>
            <a:off x="709507" y="4202570"/>
            <a:ext cx="6096000" cy="23001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1313" lvl="0" indent="-34131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</a:pPr>
            <a:r>
              <a:rPr kumimoji="1" lang="zh-CN" altLang="en-US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信息维护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获取时间或日期、设置时间或日期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获取系统数据，设置系统数据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获取和设置进程、文件或设备属性</a:t>
            </a:r>
            <a:endParaRPr kumimoji="1" lang="en-US" altLang="zh-CN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4">
            <a:extLst>
              <a:ext uri="{FF2B5EF4-FFF2-40B4-BE49-F238E27FC236}">
                <a16:creationId xmlns:a16="http://schemas.microsoft.com/office/drawing/2014/main" id="{1C0DC4E6-6960-4466-9512-B9801009BC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663" y="1163637"/>
            <a:ext cx="5851737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通信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创建、删除通信连接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如果</a:t>
            </a:r>
            <a:r>
              <a:rPr lang="zh-CN" altLang="en-US" b="1" dirty="0">
                <a:ea typeface="微软雅黑" panose="020B0503020204020204" pitchFamily="34" charset="-122"/>
              </a:rPr>
              <a:t>消息传递模型</a:t>
            </a:r>
            <a:r>
              <a:rPr lang="zh-CN" altLang="en-US" dirty="0">
                <a:ea typeface="微软雅黑" panose="020B0503020204020204" pitchFamily="34" charset="-122"/>
              </a:rPr>
              <a:t>获取到</a:t>
            </a:r>
            <a:r>
              <a:rPr lang="zh-CN" altLang="en-US" b="1" dirty="0">
                <a:ea typeface="微软雅黑" panose="020B0503020204020204" pitchFamily="34" charset="-122"/>
              </a:rPr>
              <a:t>主机名</a:t>
            </a:r>
            <a:r>
              <a:rPr lang="zh-CN" altLang="en-US" dirty="0">
                <a:ea typeface="微软雅黑" panose="020B0503020204020204" pitchFamily="34" charset="-122"/>
              </a:rPr>
              <a:t>或</a:t>
            </a:r>
            <a:r>
              <a:rPr lang="zh-CN" altLang="en-US" b="1" dirty="0">
                <a:ea typeface="微软雅黑" panose="020B0503020204020204" pitchFamily="34" charset="-122"/>
              </a:rPr>
              <a:t>进程名</a:t>
            </a:r>
            <a:r>
              <a:rPr lang="zh-CN" altLang="en-US" dirty="0">
                <a:ea typeface="微软雅黑" panose="020B0503020204020204" pitchFamily="34" charset="-122"/>
              </a:rPr>
              <a:t>，则发送、接收消息</a:t>
            </a:r>
            <a:endParaRPr lang="en-US" altLang="zh-CN" b="1" dirty="0">
              <a:solidFill>
                <a:srgbClr val="3366FF"/>
              </a:solidFill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从</a:t>
            </a:r>
            <a:r>
              <a:rPr lang="zh-CN" altLang="en-US" b="1" dirty="0">
                <a:ea typeface="微软雅黑" panose="020B0503020204020204" pitchFamily="34" charset="-122"/>
              </a:rPr>
              <a:t>客户端</a:t>
            </a:r>
            <a:r>
              <a:rPr lang="zh-CN" altLang="en-US" dirty="0">
                <a:ea typeface="微软雅黑" panose="020B0503020204020204" pitchFamily="34" charset="-122"/>
              </a:rPr>
              <a:t>到</a:t>
            </a:r>
            <a:r>
              <a:rPr lang="zh-CN" altLang="en-US" b="1" dirty="0">
                <a:ea typeface="微软雅黑" panose="020B0503020204020204" pitchFamily="34" charset="-122"/>
              </a:rPr>
              <a:t>服务器</a:t>
            </a:r>
            <a:endParaRPr lang="en-US" altLang="zh-CN" b="1" dirty="0">
              <a:solidFill>
                <a:srgbClr val="3366FF"/>
              </a:solidFill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共享内存模型</a:t>
            </a:r>
            <a:r>
              <a:rPr lang="zh-CN" altLang="en-US" dirty="0">
                <a:ea typeface="微软雅黑" panose="020B0503020204020204" pitchFamily="34" charset="-122"/>
              </a:rPr>
              <a:t>创建并访问内存区域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传送状态信息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附加或分离远程设备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D5062ACE-2F7A-471E-A906-69B58806B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492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系统调用的类型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E411F9-B503-44DB-86B0-EA0C04C36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2845" y="1030289"/>
            <a:ext cx="4878492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1313" indent="-341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1363" indent="-28416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 kumimoji="1"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0842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Ø"/>
              <a:defRPr kumimoji="1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4271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ü"/>
              <a:defRPr kumimoji="1" sz="16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7700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Arial" panose="020B0604020202020204" pitchFamily="34" charset="0"/>
              <a:buChar char="•"/>
              <a:defRPr kumimoji="1" sz="16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228738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5915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093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270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kern="0" dirty="0"/>
              <a:t>保护</a:t>
            </a:r>
          </a:p>
          <a:p>
            <a:pPr lvl="1">
              <a:lnSpc>
                <a:spcPct val="150000"/>
              </a:lnSpc>
            </a:pPr>
            <a:r>
              <a:rPr lang="zh-CN" altLang="en-US" kern="0" dirty="0"/>
              <a:t>控制对资源的访问</a:t>
            </a:r>
          </a:p>
          <a:p>
            <a:pPr lvl="1">
              <a:lnSpc>
                <a:spcPct val="150000"/>
              </a:lnSpc>
            </a:pPr>
            <a:r>
              <a:rPr lang="zh-CN" altLang="en-US" kern="0" dirty="0"/>
              <a:t>获取和设置权限</a:t>
            </a:r>
          </a:p>
          <a:p>
            <a:pPr lvl="1">
              <a:lnSpc>
                <a:spcPct val="150000"/>
              </a:lnSpc>
            </a:pPr>
            <a:r>
              <a:rPr lang="zh-CN" altLang="en-US" kern="0" dirty="0"/>
              <a:t>允许和拒绝用户访问某些资源</a:t>
            </a:r>
            <a:endParaRPr lang="en-US" altLang="zh-CN" kern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E77BBBDE-EA4C-4988-8C14-E3C0D56BF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7476" y="257176"/>
            <a:ext cx="7648575" cy="576263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系统调用的示例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grpSp>
        <p:nvGrpSpPr>
          <p:cNvPr id="52227" name="组合 2">
            <a:extLst>
              <a:ext uri="{FF2B5EF4-FFF2-40B4-BE49-F238E27FC236}">
                <a16:creationId xmlns:a16="http://schemas.microsoft.com/office/drawing/2014/main" id="{B3676C13-FC7A-45E7-9B68-3B71D2AB164B}"/>
              </a:ext>
            </a:extLst>
          </p:cNvPr>
          <p:cNvGrpSpPr>
            <a:grpSpLocks/>
          </p:cNvGrpSpPr>
          <p:nvPr/>
        </p:nvGrpSpPr>
        <p:grpSpPr bwMode="auto">
          <a:xfrm>
            <a:off x="700088" y="1304926"/>
            <a:ext cx="5395912" cy="4811713"/>
            <a:chOff x="2128838" y="1203325"/>
            <a:chExt cx="5395912" cy="4811713"/>
          </a:xfrm>
        </p:grpSpPr>
        <p:pic>
          <p:nvPicPr>
            <p:cNvPr id="52228" name="Picture 6" descr="OS8-p61">
              <a:extLst>
                <a:ext uri="{FF2B5EF4-FFF2-40B4-BE49-F238E27FC236}">
                  <a16:creationId xmlns:a16="http://schemas.microsoft.com/office/drawing/2014/main" id="{4F05C147-6179-4F47-943A-4BC57C30D0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8838" y="1203325"/>
              <a:ext cx="5395912" cy="4811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29" name="矩形 1">
              <a:extLst>
                <a:ext uri="{FF2B5EF4-FFF2-40B4-BE49-F238E27FC236}">
                  <a16:creationId xmlns:a16="http://schemas.microsoft.com/office/drawing/2014/main" id="{DD9C110B-CE9A-4A9F-9500-3750F50B1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1236" y="1585733"/>
              <a:ext cx="1273215" cy="4259483"/>
            </a:xfrm>
            <a:prstGeom prst="rect">
              <a:avLst/>
            </a:prstGeom>
            <a:solidFill>
              <a:srgbClr val="C6EB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ea typeface="微软雅黑" panose="020B0503020204020204" pitchFamily="34" charset="-122"/>
                </a:rPr>
                <a:t>进程控制</a:t>
              </a: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ea typeface="微软雅黑" panose="020B0503020204020204" pitchFamily="34" charset="-122"/>
                </a:rPr>
                <a:t>文件管理</a:t>
              </a: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lnSpc>
                  <a:spcPts val="1000"/>
                </a:lnSpc>
                <a:spcBef>
                  <a:spcPct val="0"/>
                </a:spcBef>
                <a:buClrTx/>
                <a:buSzTx/>
                <a:buNone/>
              </a:pP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ea typeface="微软雅黑" panose="020B0503020204020204" pitchFamily="34" charset="-122"/>
                </a:rPr>
                <a:t>设备管理</a:t>
              </a: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lnSpc>
                  <a:spcPts val="2800"/>
                </a:lnSpc>
                <a:spcBef>
                  <a:spcPct val="0"/>
                </a:spcBef>
                <a:buClrTx/>
                <a:buSzTx/>
                <a:buNone/>
              </a:pP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SzTx/>
                <a:buNone/>
              </a:pP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ea typeface="微软雅黑" panose="020B0503020204020204" pitchFamily="34" charset="-122"/>
                </a:rPr>
                <a:t>信息维护</a:t>
              </a: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lnSpc>
                  <a:spcPts val="1200"/>
                </a:lnSpc>
                <a:spcBef>
                  <a:spcPct val="0"/>
                </a:spcBef>
                <a:buClrTx/>
                <a:buSzTx/>
                <a:buNone/>
              </a:pP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SzTx/>
                <a:buNone/>
              </a:pP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ea typeface="微软雅黑" panose="020B0503020204020204" pitchFamily="34" charset="-122"/>
                </a:rPr>
                <a:t>通信</a:t>
              </a: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ea typeface="微软雅黑" panose="020B0503020204020204" pitchFamily="34" charset="-122"/>
                </a:rPr>
                <a:t>保护</a:t>
              </a:r>
              <a:endParaRPr kumimoji="0" lang="en-US" altLang="zh-CN" sz="1600"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>
                <a:latin typeface="Verdana" panose="020B0604030504040204" pitchFamily="34" charset="0"/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>
                <a:latin typeface="Verdana" panose="020B0604030504040204" pitchFamily="34" charset="0"/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>
                <a:latin typeface="Verdana" panose="020B0604030504040204" pitchFamily="34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D531908B-7342-4B49-ABB3-43AD4B27C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387" y="1365857"/>
            <a:ext cx="4476127" cy="475078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1A17ACE-1076-4E27-98BC-76348A276E62}"/>
              </a:ext>
            </a:extLst>
          </p:cNvPr>
          <p:cNvSpPr/>
          <p:nvPr/>
        </p:nvSpPr>
        <p:spPr>
          <a:xfrm>
            <a:off x="1078261" y="5946817"/>
            <a:ext cx="4330353" cy="580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</a:pP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Windows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系统调用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2F3274-D65E-41FA-8C18-FF120BBA0628}"/>
              </a:ext>
            </a:extLst>
          </p:cNvPr>
          <p:cNvSpPr/>
          <p:nvPr/>
        </p:nvSpPr>
        <p:spPr>
          <a:xfrm>
            <a:off x="6783386" y="6020409"/>
            <a:ext cx="4330353" cy="580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库的系统调用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779BE4E0-3628-499C-AAF6-7FC4C9B88B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</a:rPr>
              <a:t>2.3 </a:t>
            </a:r>
            <a:r>
              <a:rPr lang="zh-CN" altLang="en-US" dirty="0">
                <a:ea typeface="微软雅黑" panose="020B0503020204020204" pitchFamily="34" charset="-122"/>
              </a:rPr>
              <a:t>系统程序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013823B-DCD3-407F-B958-1528D372E1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2505" y="1087437"/>
            <a:ext cx="11270828" cy="46831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系统程序为应用程序的开发和执行提供了一个便利的环境。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000000"/>
                </a:solidFill>
              </a:rPr>
              <a:t>有的系统程序只是系统调用的简单用户接口， 而其他的可能更加复杂</a:t>
            </a:r>
            <a:endParaRPr lang="en-US" altLang="zh-CN" dirty="0"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可分为以下几类：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文件管理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状态信息（有时存储在文件中）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程序语言支持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程序加载和执行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D3100C-2B42-4EF0-80C4-3B322EA1377D}"/>
              </a:ext>
            </a:extLst>
          </p:cNvPr>
          <p:cNvSpPr/>
          <p:nvPr/>
        </p:nvSpPr>
        <p:spPr>
          <a:xfrm>
            <a:off x="5811520" y="3565217"/>
            <a:ext cx="6096000" cy="16383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</a:t>
            </a:r>
            <a:endParaRPr kumimoji="1" lang="en-US" altLang="zh-CN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后台服务</a:t>
            </a:r>
            <a:endParaRPr kumimoji="1" lang="en-US" altLang="zh-CN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应用程序</a:t>
            </a:r>
            <a:endParaRPr kumimoji="1" lang="en-US" altLang="zh-CN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>
            <a:extLst>
              <a:ext uri="{FF2B5EF4-FFF2-40B4-BE49-F238E27FC236}">
                <a16:creationId xmlns:a16="http://schemas.microsoft.com/office/drawing/2014/main" id="{B83BC097-E5D9-4B2E-A70A-CEB9FC3251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3147" y="1092201"/>
            <a:ext cx="11568853" cy="502761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>
                <a:ea typeface="微软雅黑" panose="020B0503020204020204" pitchFamily="34" charset="-122"/>
              </a:rPr>
              <a:t>文件管理</a:t>
            </a:r>
            <a:endParaRPr lang="en-US" altLang="zh-CN" b="1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ea typeface="微软雅黑" panose="020B0503020204020204" pitchFamily="34" charset="-122"/>
              </a:rPr>
              <a:t>创建、删除、复制、重命名、打印、转储、列出、操作文件和目录</a:t>
            </a:r>
          </a:p>
          <a:p>
            <a:pPr>
              <a:lnSpc>
                <a:spcPct val="150000"/>
              </a:lnSpc>
              <a:defRPr/>
            </a:pPr>
            <a:endParaRPr lang="en-US" altLang="zh-CN" sz="800" dirty="0"/>
          </a:p>
          <a:p>
            <a:pPr>
              <a:lnSpc>
                <a:spcPct val="150000"/>
              </a:lnSpc>
              <a:defRPr/>
            </a:pPr>
            <a:r>
              <a:rPr lang="zh-CN" altLang="en-US" b="1" dirty="0">
                <a:ea typeface="微软雅黑" panose="020B0503020204020204" pitchFamily="34" charset="-122"/>
              </a:rPr>
              <a:t>状态信息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ea typeface="微软雅黑" panose="020B0503020204020204" pitchFamily="34" charset="-122"/>
              </a:rPr>
              <a:t>从系统那里得到日期、时间、内存或磁盘空间的可用数量、 用户数或其他状态信息。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ea typeface="微软雅黑" panose="020B0503020204020204" pitchFamily="34" charset="-122"/>
              </a:rPr>
              <a:t>还有一些则更为复杂，可提供详细的性能、登录和调试信息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ea typeface="微软雅黑" panose="020B0503020204020204" pitchFamily="34" charset="-122"/>
              </a:rPr>
              <a:t>通常， 这些信息经格式化后，再打印到终端、输出设备或文件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ea typeface="微软雅黑" panose="020B0503020204020204" pitchFamily="34" charset="-122"/>
              </a:rPr>
              <a:t>一些系统支持</a:t>
            </a:r>
            <a:r>
              <a:rPr lang="zh-CN" altLang="en-US" b="1" dirty="0">
                <a:ea typeface="微软雅黑" panose="020B0503020204020204" pitchFamily="34" charset="-122"/>
              </a:rPr>
              <a:t>注册表</a:t>
            </a:r>
            <a:r>
              <a:rPr lang="en-US" altLang="zh-CN" dirty="0"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ea typeface="微软雅黑" panose="020B0503020204020204" pitchFamily="34" charset="-122"/>
              </a:rPr>
              <a:t>用于存储和获取配置信息</a:t>
            </a:r>
            <a:endParaRPr lang="en-US" altLang="zh-CN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Monotype Sorts" pitchFamily="-84" charset="2"/>
              <a:buNone/>
              <a:defRPr/>
            </a:pPr>
            <a:endParaRPr lang="en-US" altLang="zh-C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0C768F1-6541-4B8C-9A84-94C724334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5475" y="161926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微软雅黑" panose="020B0503020204020204" pitchFamily="34" charset="-122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微软雅黑" panose="020B0503020204020204" pitchFamily="34" charset="-122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微软雅黑" panose="020B0503020204020204" pitchFamily="34" charset="-122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微软雅黑" panose="020B0503020204020204" pitchFamily="34" charset="-122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微软雅黑" panose="020B0503020204020204" pitchFamily="34" charset="-122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ea typeface="微软雅黑" panose="020B0503020204020204" pitchFamily="34" charset="-122"/>
              </a:rPr>
              <a:t>系统程序</a:t>
            </a:r>
            <a:endParaRPr lang="en-US" altLang="zh-CN" kern="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>
            <a:extLst>
              <a:ext uri="{FF2B5EF4-FFF2-40B4-BE49-F238E27FC236}">
                <a16:creationId xmlns:a16="http://schemas.microsoft.com/office/drawing/2014/main" id="{894C57A3-F543-44B2-AE9B-6F1142CF9F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9280" y="1061403"/>
            <a:ext cx="11196320" cy="51879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文件修改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用于创建和修改文件的文本编辑器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用于查找文件内容或执行文本转换的特殊命令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程序语言支持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编译程序、 汇编程序、 调试程序和解释程序</a:t>
            </a:r>
            <a:endParaRPr lang="en-US" altLang="zh-CN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程序加载与执行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绝对加载程序、重定位加载程序、链接编辑器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覆盖式加载程序、高级语言和机器语言的调试程序</a:t>
            </a:r>
          </a:p>
          <a:p>
            <a:pPr>
              <a:lnSpc>
                <a:spcPct val="150000"/>
              </a:lnSpc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96D6DC-369B-4694-B5E8-1B9096F77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5475" y="161926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微软雅黑" panose="020B0503020204020204" pitchFamily="34" charset="-122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微软雅黑" panose="020B0503020204020204" pitchFamily="34" charset="-122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微软雅黑" panose="020B0503020204020204" pitchFamily="34" charset="-122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微软雅黑" panose="020B0503020204020204" pitchFamily="34" charset="-122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微软雅黑" panose="020B0503020204020204" pitchFamily="34" charset="-122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ea typeface="微软雅黑" panose="020B0503020204020204" pitchFamily="34" charset="-122"/>
              </a:rPr>
              <a:t>系统程序</a:t>
            </a:r>
            <a:endParaRPr lang="en-US" altLang="zh-CN" kern="0" dirty="0"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30515C-C76A-4077-9E2B-210413744839}"/>
              </a:ext>
            </a:extLst>
          </p:cNvPr>
          <p:cNvSpPr/>
          <p:nvPr/>
        </p:nvSpPr>
        <p:spPr>
          <a:xfrm>
            <a:off x="6834293" y="962395"/>
            <a:ext cx="4829387" cy="3577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1313" lvl="0" indent="-34131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</a:pPr>
            <a:r>
              <a:rPr kumimoji="1" lang="zh-CN" altLang="en-US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</a:t>
            </a:r>
            <a:endParaRPr kumimoji="1" lang="en-US" altLang="zh-CN" sz="24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提供在进程、用户和计算机系统之间创建虚拟连接的机制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允许用户向彼此的屏幕发送消息、浏览网页、发送电子邮件、远程登录、将文件从一台机器传输到另一台机器</a:t>
            </a:r>
            <a:endParaRPr kumimoji="1" lang="en-US" altLang="zh-CN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>
            <a:extLst>
              <a:ext uri="{FF2B5EF4-FFF2-40B4-BE49-F238E27FC236}">
                <a16:creationId xmlns:a16="http://schemas.microsoft.com/office/drawing/2014/main" id="{838D1F24-8BA3-44A0-AAD7-4BC8729E4D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1752" y="1047115"/>
            <a:ext cx="9389641" cy="51879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后台服务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在启动系统时启动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一些执行完任务后就终止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一些会一直运行到系统停机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提供磁盘检查、进程调度、错误记录、打印等功能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在用户上下文中运行，而不是内核上下文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称为</a:t>
            </a:r>
            <a:r>
              <a:rPr lang="zh-CN" altLang="en-US" b="1" dirty="0">
                <a:ea typeface="微软雅黑" panose="020B0503020204020204" pitchFamily="34" charset="-122"/>
              </a:rPr>
              <a:t>服务</a:t>
            </a:r>
            <a:r>
              <a:rPr lang="zh-CN" altLang="en-US" dirty="0"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ea typeface="微软雅黑" panose="020B0503020204020204" pitchFamily="34" charset="-122"/>
              </a:rPr>
              <a:t>子系统</a:t>
            </a:r>
            <a:r>
              <a:rPr lang="zh-CN" altLang="en-US" dirty="0">
                <a:ea typeface="微软雅黑" panose="020B0503020204020204" pitchFamily="34" charset="-122"/>
              </a:rPr>
              <a:t>或</a:t>
            </a:r>
            <a:r>
              <a:rPr lang="zh-CN" altLang="en-US" b="1" dirty="0">
                <a:ea typeface="微软雅黑" panose="020B0503020204020204" pitchFamily="34" charset="-122"/>
              </a:rPr>
              <a:t>守护进程</a:t>
            </a:r>
          </a:p>
          <a:p>
            <a:pPr lvl="1">
              <a:lnSpc>
                <a:spcPct val="150000"/>
              </a:lnSpc>
              <a:buFont typeface="Monotype Sorts" pitchFamily="-84" charset="2"/>
              <a:buNone/>
            </a:pPr>
            <a:endParaRPr lang="en-US" altLang="zh-CN" sz="8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E6E5366-FB5D-4FEA-A13B-77FE14A09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5475" y="161926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微软雅黑" panose="020B0503020204020204" pitchFamily="34" charset="-122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微软雅黑" panose="020B0503020204020204" pitchFamily="34" charset="-122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微软雅黑" panose="020B0503020204020204" pitchFamily="34" charset="-122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微软雅黑" panose="020B0503020204020204" pitchFamily="34" charset="-122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微软雅黑" panose="020B0503020204020204" pitchFamily="34" charset="-122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ea typeface="微软雅黑" panose="020B0503020204020204" pitchFamily="34" charset="-122"/>
              </a:rPr>
              <a:t>系统程序</a:t>
            </a:r>
            <a:endParaRPr lang="en-US" altLang="zh-CN" kern="0" dirty="0"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22B93B-C484-4588-8568-86AAF262B2BE}"/>
              </a:ext>
            </a:extLst>
          </p:cNvPr>
          <p:cNvSpPr/>
          <p:nvPr/>
        </p:nvSpPr>
        <p:spPr>
          <a:xfrm>
            <a:off x="7005428" y="945516"/>
            <a:ext cx="4888545" cy="2869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1313" lvl="0" indent="-34131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</a:pPr>
            <a:r>
              <a:rPr kumimoji="1" lang="zh-CN" altLang="en-US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应用程序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不属于系统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由用户运行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通常不被认为是操作系统的一部分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通过命令行启动（鼠标单击等）</a:t>
            </a:r>
            <a:endParaRPr kumimoji="1" lang="en-US" altLang="zh-CN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26">
            <a:extLst>
              <a:ext uri="{FF2B5EF4-FFF2-40B4-BE49-F238E27FC236}">
                <a16:creationId xmlns:a16="http://schemas.microsoft.com/office/drawing/2014/main" id="{67A213D8-B80B-46BB-9EA3-5702D8F8D9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1" y="296863"/>
            <a:ext cx="7712075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</a:rPr>
              <a:t>2.4 </a:t>
            </a:r>
            <a:r>
              <a:rPr lang="zh-CN" altLang="en-US" dirty="0">
                <a:ea typeface="微软雅黑" panose="020B0503020204020204" pitchFamily="34" charset="-122"/>
              </a:rPr>
              <a:t>操作系统的设计与实现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66563" name="Rectangle 1027">
            <a:extLst>
              <a:ext uri="{FF2B5EF4-FFF2-40B4-BE49-F238E27FC236}">
                <a16:creationId xmlns:a16="http://schemas.microsoft.com/office/drawing/2014/main" id="{DCB39951-4F59-4435-A825-255B4BF150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89280" y="925198"/>
            <a:ext cx="11115040" cy="500697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操作系统的设计和实现</a:t>
            </a:r>
            <a:r>
              <a:rPr lang="zh-CN" altLang="en-US" dirty="0">
                <a:ea typeface="微软雅黑" panose="020B0503020204020204" pitchFamily="34" charset="-122"/>
              </a:rPr>
              <a:t>没有完整的解决方案，</a:t>
            </a:r>
            <a:r>
              <a:rPr lang="zh-CN" altLang="en-US" b="0" dirty="0">
                <a:ea typeface="微软雅黑" panose="020B0503020204020204" pitchFamily="34" charset="-122"/>
              </a:rPr>
              <a:t>不同操作系统的内部结构可能会有很大差异</a:t>
            </a:r>
            <a:endParaRPr lang="en-US" altLang="zh-CN" b="0" dirty="0"/>
          </a:p>
          <a:p>
            <a:pPr>
              <a:lnSpc>
                <a:spcPct val="20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通过定义</a:t>
            </a:r>
            <a:r>
              <a:rPr lang="zh-CN" altLang="en-US" dirty="0">
                <a:ea typeface="微软雅黑" panose="020B0503020204020204" pitchFamily="34" charset="-122"/>
              </a:rPr>
              <a:t>目标</a:t>
            </a:r>
            <a:r>
              <a:rPr lang="zh-CN" altLang="en-US" b="0" dirty="0"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ea typeface="微软雅黑" panose="020B0503020204020204" pitchFamily="34" charset="-122"/>
              </a:rPr>
              <a:t>需求</a:t>
            </a:r>
            <a:r>
              <a:rPr lang="zh-CN" altLang="en-US" b="0" dirty="0">
                <a:ea typeface="微软雅黑" panose="020B0503020204020204" pitchFamily="34" charset="-122"/>
              </a:rPr>
              <a:t>开始设计</a:t>
            </a:r>
            <a:endParaRPr lang="en-US" altLang="zh-CN" b="0" dirty="0"/>
          </a:p>
          <a:p>
            <a:pPr lvl="1">
              <a:lnSpc>
                <a:spcPct val="20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受所选硬件与系统类型的影响</a:t>
            </a:r>
            <a:endParaRPr lang="en-US" altLang="zh-CN" b="0" dirty="0">
              <a:solidFill>
                <a:srgbClr val="3366FF"/>
              </a:solidFill>
            </a:endParaRPr>
          </a:p>
          <a:p>
            <a:pPr lvl="1">
              <a:lnSpc>
                <a:spcPct val="20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用户目标和系统目标</a:t>
            </a:r>
          </a:p>
          <a:p>
            <a:pPr lvl="2"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用户目标</a:t>
            </a:r>
            <a:r>
              <a:rPr lang="en-US" altLang="zh-CN" dirty="0"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ea typeface="微软雅黑" panose="020B0503020204020204" pitchFamily="34" charset="-122"/>
              </a:rPr>
              <a:t>操作系统应该便于使用、易学、可靠、安全和快速</a:t>
            </a:r>
          </a:p>
          <a:p>
            <a:pPr lvl="2"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系统目标</a:t>
            </a:r>
            <a:r>
              <a:rPr lang="en-US" altLang="zh-CN" dirty="0"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ea typeface="微软雅黑" panose="020B0503020204020204" pitchFamily="34" charset="-122"/>
              </a:rPr>
              <a:t>操作系统应该易于设计、实现和维护，以及灵活、可靠、正确和高效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>
            <a:extLst>
              <a:ext uri="{FF2B5EF4-FFF2-40B4-BE49-F238E27FC236}">
                <a16:creationId xmlns:a16="http://schemas.microsoft.com/office/drawing/2014/main" id="{322D5908-AE77-41F2-A364-893FBB3128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5733" y="1076326"/>
            <a:ext cx="10911840" cy="45307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策略与机制的分离</a:t>
            </a:r>
          </a:p>
          <a:p>
            <a:pPr lvl="1">
              <a:lnSpc>
                <a:spcPct val="20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机制决定怎么做</a:t>
            </a:r>
            <a:r>
              <a:rPr lang="zh-CN" altLang="en-US" dirty="0"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ea typeface="微软雅黑" panose="020B0503020204020204" pitchFamily="34" charset="-122"/>
              </a:rPr>
              <a:t>策略决定做什么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策略与机制的分离是一个至关重要的原则，如果以后要更改策略的话可以提供最大的灵活性（例如 ：计时器）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分析和设计操作系统</a:t>
            </a:r>
            <a:r>
              <a:rPr lang="zh-CN" altLang="en-US" b="0" dirty="0">
                <a:ea typeface="微软雅黑" panose="020B0503020204020204" pitchFamily="34" charset="-122"/>
              </a:rPr>
              <a:t>是软件工程中极具创造性的任务</a:t>
            </a:r>
            <a:endParaRPr lang="en-US" altLang="zh-CN" b="0" dirty="0"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Monotype Sorts" pitchFamily="-84" charset="2"/>
              <a:buNone/>
            </a:pPr>
            <a:endParaRPr lang="en-US" altLang="zh-CN" dirty="0"/>
          </a:p>
          <a:p>
            <a:pPr>
              <a:lnSpc>
                <a:spcPct val="200000"/>
              </a:lnSpc>
              <a:buFont typeface="Monotype Sorts" pitchFamily="-84" charset="2"/>
              <a:buNone/>
            </a:pPr>
            <a:endParaRPr lang="en-US" altLang="zh-CN" dirty="0"/>
          </a:p>
        </p:txBody>
      </p:sp>
      <p:sp>
        <p:nvSpPr>
          <p:cNvPr id="68611" name="Rectangle 1026">
            <a:extLst>
              <a:ext uri="{FF2B5EF4-FFF2-40B4-BE49-F238E27FC236}">
                <a16:creationId xmlns:a16="http://schemas.microsoft.com/office/drawing/2014/main" id="{6A52B80F-DF39-4B16-82EF-34E048836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1" y="296863"/>
            <a:ext cx="7712075" cy="5762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操作系统的设计与实现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3575E2B3-4122-4538-B206-2BDE4D9B4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171451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实现</a:t>
            </a:r>
            <a:endParaRPr lang="en-US" altLang="zh-CN">
              <a:ea typeface="微软雅黑" panose="020B0503020204020204" pitchFamily="34" charset="-122"/>
            </a:endParaRP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77376294-F7FD-443B-AA0E-1B26492F53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6054" y="1092201"/>
            <a:ext cx="10776374" cy="515958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多样化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早期，由汇编语言编写操作系统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然后是系统编程语言，如 </a:t>
            </a:r>
            <a:r>
              <a:rPr lang="en-US" altLang="zh-CN" dirty="0">
                <a:ea typeface="微软雅黑" panose="020B0503020204020204" pitchFamily="34" charset="-122"/>
              </a:rPr>
              <a:t>ALGOL</a:t>
            </a:r>
            <a:r>
              <a:rPr lang="zh-CN" altLang="en-US" dirty="0"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ea typeface="微软雅黑" panose="020B0503020204020204" pitchFamily="34" charset="-122"/>
              </a:rPr>
              <a:t>PL/1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现在是</a:t>
            </a:r>
            <a:r>
              <a:rPr lang="en-US" altLang="zh-CN" dirty="0">
                <a:ea typeface="微软雅黑" panose="020B0503020204020204" pitchFamily="34" charset="-122"/>
              </a:rPr>
              <a:t>C</a:t>
            </a:r>
            <a:r>
              <a:rPr lang="zh-CN" altLang="en-US" dirty="0"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ea typeface="微软雅黑" panose="020B0503020204020204" pitchFamily="34" charset="-122"/>
              </a:rPr>
              <a:t>C++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实际上通常是混合语言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主体是</a:t>
            </a:r>
            <a:r>
              <a:rPr lang="en-US" altLang="zh-CN" dirty="0">
                <a:ea typeface="微软雅黑" panose="020B0503020204020204" pitchFamily="34" charset="-122"/>
              </a:rPr>
              <a:t>C</a:t>
            </a:r>
            <a:r>
              <a:rPr lang="zh-CN" altLang="en-US" dirty="0">
                <a:ea typeface="微软雅黑" panose="020B0503020204020204" pitchFamily="34" charset="-122"/>
              </a:rPr>
              <a:t>语言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ea typeface="微软雅黑" panose="020B0503020204020204" pitchFamily="34" charset="-122"/>
              </a:rPr>
              <a:t>C</a:t>
            </a:r>
            <a:r>
              <a:rPr lang="zh-CN" altLang="en-US" dirty="0"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ea typeface="微软雅黑" panose="020B0503020204020204" pitchFamily="34" charset="-122"/>
              </a:rPr>
              <a:t>C++</a:t>
            </a:r>
            <a:r>
              <a:rPr lang="zh-CN" altLang="en-US" dirty="0">
                <a:ea typeface="微软雅黑" panose="020B0503020204020204" pitchFamily="34" charset="-122"/>
              </a:rPr>
              <a:t>中的系统程序，脚本语言，如</a:t>
            </a:r>
            <a:r>
              <a:rPr lang="en-US" altLang="zh-CN" dirty="0">
                <a:ea typeface="微软雅黑" panose="020B0503020204020204" pitchFamily="34" charset="-122"/>
              </a:rPr>
              <a:t>PERL</a:t>
            </a:r>
            <a:r>
              <a:rPr lang="zh-CN" altLang="en-US" dirty="0">
                <a:ea typeface="微软雅黑" panose="020B0503020204020204" pitchFamily="34" charset="-122"/>
              </a:rPr>
              <a:t>、</a:t>
            </a:r>
            <a:r>
              <a:rPr lang="en-US" altLang="zh-CN" dirty="0"/>
              <a:t> Python </a:t>
            </a:r>
            <a:r>
              <a:rPr lang="zh-CN" altLang="en-US" dirty="0"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ea typeface="微软雅黑" panose="020B0503020204020204" pitchFamily="34" charset="-122"/>
              </a:rPr>
              <a:t>shell </a:t>
            </a:r>
            <a:r>
              <a:rPr lang="zh-CN" altLang="en-US" dirty="0">
                <a:ea typeface="微软雅黑" panose="020B0503020204020204" pitchFamily="34" charset="-122"/>
              </a:rPr>
              <a:t>脚本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更高级</a:t>
            </a:r>
            <a:r>
              <a:rPr lang="zh-CN" altLang="en-US" dirty="0">
                <a:ea typeface="微软雅黑" panose="020B0503020204020204" pitchFamily="34" charset="-122"/>
              </a:rPr>
              <a:t>语言编写操作系统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易于移植，但是</a:t>
            </a:r>
            <a:r>
              <a:rPr lang="zh-CN" altLang="en-US" dirty="0"/>
              <a:t>效率</a:t>
            </a:r>
            <a:r>
              <a:rPr lang="zh-CN" altLang="en-US" dirty="0">
                <a:ea typeface="微软雅黑" panose="020B0503020204020204" pitchFamily="34" charset="-122"/>
              </a:rPr>
              <a:t>较慢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b="1" dirty="0">
                <a:ea typeface="微软雅黑" panose="020B0503020204020204" pitchFamily="34" charset="-122"/>
              </a:rPr>
              <a:t>模拟器</a:t>
            </a:r>
            <a:r>
              <a:rPr lang="zh-CN" altLang="en-US" dirty="0">
                <a:ea typeface="微软雅黑" panose="020B0503020204020204" pitchFamily="34" charset="-122"/>
              </a:rPr>
              <a:t>可以让操作系统在非本地硬件上运行</a:t>
            </a:r>
            <a:endParaRPr lang="en-US" altLang="zh-CN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Monotype Sorts" pitchFamily="-84" charset="2"/>
              <a:buNone/>
            </a:pP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  <a:buFont typeface="Monotype Sorts" pitchFamily="-84" charset="2"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446CD48E-9DD0-4764-9402-6BFCFF3BF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/>
          <a:lstStyle/>
          <a:p>
            <a:r>
              <a:rPr lang="en-US" altLang="zh-CN" dirty="0">
                <a:ea typeface="微软雅黑" panose="020B0503020204020204" pitchFamily="34" charset="-122"/>
              </a:rPr>
              <a:t>2.5 </a:t>
            </a:r>
            <a:r>
              <a:rPr lang="zh-CN" altLang="en-US" dirty="0">
                <a:ea typeface="微软雅黑" panose="020B0503020204020204" pitchFamily="34" charset="-122"/>
              </a:rPr>
              <a:t>操作系统的结构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B5C95A39-2D12-43D4-8C5D-63B017915D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3787" y="1092201"/>
            <a:ext cx="10776373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通用操作系统庞大而复杂</a:t>
            </a:r>
          </a:p>
          <a:p>
            <a:pPr>
              <a:lnSpc>
                <a:spcPct val="150000"/>
              </a:lnSpc>
            </a:pPr>
            <a:r>
              <a:rPr lang="zh-CN" altLang="en-US" sz="2800" b="0" dirty="0">
                <a:ea typeface="微软雅黑" panose="020B0503020204020204" pitchFamily="34" charset="-122"/>
              </a:rPr>
              <a:t>构造操作系统的</a:t>
            </a:r>
            <a:r>
              <a:rPr lang="zh-CN" altLang="en-US" sz="2800" b="0" dirty="0"/>
              <a:t>常用</a:t>
            </a:r>
            <a:r>
              <a:rPr lang="zh-CN" altLang="en-US" sz="2800" b="0" dirty="0">
                <a:ea typeface="微软雅黑" panose="020B0503020204020204" pitchFamily="34" charset="-122"/>
              </a:rPr>
              <a:t>方法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/>
              <a:t>简单结构</a:t>
            </a:r>
            <a:r>
              <a:rPr lang="en-US" altLang="zh-CN" sz="2400" b="1" dirty="0">
                <a:ea typeface="微软雅黑" panose="020B0503020204020204" pitchFamily="34" charset="-122"/>
              </a:rPr>
              <a:t>——MS-DOS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ea typeface="微软雅黑" panose="020B0503020204020204" pitchFamily="34" charset="-122"/>
              </a:rPr>
              <a:t>更复杂</a:t>
            </a:r>
            <a:r>
              <a:rPr lang="en-US" altLang="zh-CN" sz="2400" b="1" dirty="0">
                <a:ea typeface="微软雅黑" panose="020B0503020204020204" pitchFamily="34" charset="-122"/>
              </a:rPr>
              <a:t>——UNIX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ea typeface="微软雅黑" panose="020B0503020204020204" pitchFamily="34" charset="-122"/>
              </a:rPr>
              <a:t>分层法</a:t>
            </a:r>
            <a:r>
              <a:rPr lang="en-US" altLang="zh-CN" sz="2400" b="1" dirty="0"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ea typeface="微软雅黑" panose="020B0503020204020204" pitchFamily="34" charset="-122"/>
              </a:rPr>
              <a:t>抽象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ea typeface="微软雅黑" panose="020B0503020204020204" pitchFamily="34" charset="-122"/>
              </a:rPr>
              <a:t>微内核</a:t>
            </a:r>
            <a:r>
              <a:rPr lang="en-US" altLang="zh-CN" sz="2400" b="1" dirty="0">
                <a:ea typeface="微软雅黑" panose="020B0503020204020204" pitchFamily="34" charset="-122"/>
              </a:rPr>
              <a:t>——Mach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571D6EE6-252D-4B49-9402-184BEE71F1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/>
          <a:lstStyle/>
          <a:p>
            <a:pPr marL="342900" indent="-342900"/>
            <a:r>
              <a:rPr lang="zh-CN" altLang="en-US" dirty="0">
                <a:ea typeface="微软雅黑" panose="020B0503020204020204" pitchFamily="34" charset="-122"/>
              </a:rPr>
              <a:t>简易结构</a:t>
            </a:r>
            <a:r>
              <a:rPr lang="en-US" altLang="zh-CN" dirty="0">
                <a:ea typeface="微软雅黑" panose="020B0503020204020204" pitchFamily="34" charset="-122"/>
              </a:rPr>
              <a:t>(Simple)——MS-DOS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C0E88069-F34E-46B9-BA47-126EC41A57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3467" y="1249681"/>
            <a:ext cx="6084251" cy="45307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sz="2800" dirty="0">
                <a:ea typeface="微软雅黑" panose="020B0503020204020204" pitchFamily="34" charset="-122"/>
              </a:rPr>
              <a:t>MS-DOS </a:t>
            </a:r>
            <a:endParaRPr lang="en-US" altLang="zh-CN" sz="2800" dirty="0"/>
          </a:p>
          <a:p>
            <a:pPr lvl="1">
              <a:lnSpc>
                <a:spcPct val="200000"/>
              </a:lnSpc>
            </a:pPr>
            <a:r>
              <a:rPr lang="zh-CN" altLang="en-US" sz="2400" b="1" dirty="0">
                <a:ea typeface="微软雅黑" panose="020B0503020204020204" pitchFamily="34" charset="-122"/>
              </a:rPr>
              <a:t>以最少的空间提供最多的功能</a:t>
            </a:r>
          </a:p>
          <a:p>
            <a:pPr lvl="1">
              <a:lnSpc>
                <a:spcPct val="20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不分模块</a:t>
            </a:r>
          </a:p>
          <a:p>
            <a:pPr lvl="1">
              <a:lnSpc>
                <a:spcPct val="20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没有区分功能的接口和层次</a:t>
            </a:r>
            <a:r>
              <a:rPr lang="zh-CN" altLang="en-US" sz="2400" dirty="0"/>
              <a:t>（如内核态和用户态的区分）</a:t>
            </a:r>
            <a:endParaRPr lang="en-US" altLang="zh-CN" sz="2400" dirty="0"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56B1E1F-F709-4074-81E6-4942F0C51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097" y="1463040"/>
            <a:ext cx="4186452" cy="402981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07654EBF-AA23-4FEE-8F2F-1EE577B9A4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14663" y="255588"/>
            <a:ext cx="6773862" cy="4572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非</a:t>
            </a:r>
            <a:r>
              <a:rPr lang="zh-CN" altLang="en-US" dirty="0"/>
              <a:t>简易</a:t>
            </a:r>
            <a:r>
              <a:rPr lang="zh-CN" altLang="en-US" dirty="0">
                <a:ea typeface="微软雅黑" panose="020B0503020204020204" pitchFamily="34" charset="-122"/>
              </a:rPr>
              <a:t>结构</a:t>
            </a:r>
            <a:r>
              <a:rPr lang="en-US" altLang="zh-CN" dirty="0">
                <a:ea typeface="微软雅黑" panose="020B0503020204020204" pitchFamily="34" charset="-122"/>
              </a:rPr>
              <a:t>——UNIX</a:t>
            </a:r>
            <a:endParaRPr lang="en-US" altLang="zh-CN" sz="2400" dirty="0"/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61D9BD63-1CD9-4EC0-A6D3-3BC3037BE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6901" y="972822"/>
            <a:ext cx="5634565" cy="40735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ea typeface="微软雅黑" panose="020B0503020204020204" pitchFamily="34" charset="-122"/>
              </a:rPr>
              <a:t>UNIX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系统程序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内核</a:t>
            </a: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系统调用接口之下和物理硬件之上的所有部分组成内核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提供文件系统、</a:t>
            </a:r>
            <a:r>
              <a:rPr lang="en-US" altLang="zh-CN" sz="2400" dirty="0"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ea typeface="微软雅黑" panose="020B0503020204020204" pitchFamily="34" charset="-122"/>
              </a:rPr>
              <a:t>调度、内存管理等操作系统功能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kumimoji="0" lang="zh-CN" altLang="en-US" sz="2400" dirty="0"/>
              <a:t>非简易架构，但不完全分层</a:t>
            </a:r>
            <a:endParaRPr kumimoji="0" lang="en-US" altLang="zh-CN" sz="2400" dirty="0"/>
          </a:p>
          <a:p>
            <a:pPr lvl="2">
              <a:lnSpc>
                <a:spcPct val="150000"/>
              </a:lnSpc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127FBE-059F-4F70-BE48-2F91AC9BC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159" y="1511623"/>
            <a:ext cx="5397498" cy="326052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0CF4B6A0-F211-4D16-B4BB-A54130581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 dirty="0"/>
              <a:t>层次结构（</a:t>
            </a:r>
            <a:r>
              <a:rPr lang="en-US" altLang="zh-CN" dirty="0"/>
              <a:t> Layered Approach </a:t>
            </a:r>
            <a:r>
              <a:rPr lang="zh-CN" altLang="en-US" dirty="0"/>
              <a:t>）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034CC109-A2DE-4F4B-BF5D-FD54C791BD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4394" y="960440"/>
            <a:ext cx="6702520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层次化操作系统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分为许多层（级别），每一层都建立在较低层之上。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ea typeface="微软雅黑" panose="020B0503020204020204" pitchFamily="34" charset="-122"/>
              </a:rPr>
              <a:t>底层（</a:t>
            </a:r>
            <a:r>
              <a:rPr lang="en-US" altLang="zh-CN" sz="2400" b="1" dirty="0">
                <a:ea typeface="微软雅黑" panose="020B0503020204020204" pitchFamily="34" charset="-122"/>
              </a:rPr>
              <a:t>layer 0</a:t>
            </a:r>
            <a:r>
              <a:rPr lang="zh-CN" altLang="en-US" sz="2400" b="1" dirty="0">
                <a:ea typeface="微软雅黑" panose="020B0503020204020204" pitchFamily="34" charset="-122"/>
              </a:rPr>
              <a:t>）是硬件；最高层（</a:t>
            </a:r>
            <a:r>
              <a:rPr lang="en-US" altLang="zh-CN" sz="2400" b="1" dirty="0">
                <a:ea typeface="微软雅黑" panose="020B0503020204020204" pitchFamily="34" charset="-122"/>
              </a:rPr>
              <a:t>N </a:t>
            </a:r>
            <a:r>
              <a:rPr lang="zh-CN" altLang="en-US" sz="2400" b="1" dirty="0">
                <a:ea typeface="微软雅黑" panose="020B0503020204020204" pitchFamily="34" charset="-122"/>
              </a:rPr>
              <a:t>层）是用户界面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通过模块化，所选的层次要求每层只能调用更低层的功能（操作）和服务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易于管理，但不允许跨层访问，效率低，功能层次的决定比较困难</a:t>
            </a:r>
            <a:endParaRPr lang="en-US" altLang="zh-CN" sz="2400" dirty="0">
              <a:ea typeface="微软雅黑" panose="020B0503020204020204" pitchFamily="34" charset="-122"/>
            </a:endParaRPr>
          </a:p>
        </p:txBody>
      </p:sp>
      <p:grpSp>
        <p:nvGrpSpPr>
          <p:cNvPr id="79876" name="组合 2">
            <a:extLst>
              <a:ext uri="{FF2B5EF4-FFF2-40B4-BE49-F238E27FC236}">
                <a16:creationId xmlns:a16="http://schemas.microsoft.com/office/drawing/2014/main" id="{07BF0866-7C5D-4278-B7B0-A25BEAF9D544}"/>
              </a:ext>
            </a:extLst>
          </p:cNvPr>
          <p:cNvGrpSpPr>
            <a:grpSpLocks/>
          </p:cNvGrpSpPr>
          <p:nvPr/>
        </p:nvGrpSpPr>
        <p:grpSpPr bwMode="auto">
          <a:xfrm>
            <a:off x="7544635" y="1523895"/>
            <a:ext cx="4429125" cy="4406900"/>
            <a:chOff x="4550820" y="1612327"/>
            <a:chExt cx="4429165" cy="4405915"/>
          </a:xfrm>
        </p:grpSpPr>
        <p:pic>
          <p:nvPicPr>
            <p:cNvPr id="79877" name="Picture 5">
              <a:extLst>
                <a:ext uri="{FF2B5EF4-FFF2-40B4-BE49-F238E27FC236}">
                  <a16:creationId xmlns:a16="http://schemas.microsoft.com/office/drawing/2014/main" id="{78BCA685-C7E2-4AE3-B101-66F35A62B6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0820" y="1612327"/>
              <a:ext cx="4429165" cy="4405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878" name="矩形 1">
              <a:extLst>
                <a:ext uri="{FF2B5EF4-FFF2-40B4-BE49-F238E27FC236}">
                  <a16:creationId xmlns:a16="http://schemas.microsoft.com/office/drawing/2014/main" id="{8DF93B56-869B-4FF0-8C20-2DE94E3B0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4030" y="1683536"/>
              <a:ext cx="1203767" cy="446940"/>
            </a:xfrm>
            <a:prstGeom prst="rect">
              <a:avLst/>
            </a:prstGeom>
            <a:solidFill>
              <a:srgbClr val="E7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 dirty="0">
                  <a:ea typeface="微软雅黑" panose="020B0503020204020204" pitchFamily="34" charset="-122"/>
                </a:rPr>
                <a:t>层</a:t>
              </a:r>
              <a:r>
                <a:rPr kumimoji="0" lang="en-US" altLang="zh-CN" sz="1400" dirty="0">
                  <a:ea typeface="微软雅黑" panose="020B0503020204020204" pitchFamily="34" charset="-122"/>
                </a:rPr>
                <a:t>N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 dirty="0">
                  <a:ea typeface="微软雅黑" panose="020B0503020204020204" pitchFamily="34" charset="-122"/>
                </a:rPr>
                <a:t>用户接口</a:t>
              </a:r>
            </a:p>
          </p:txBody>
        </p:sp>
        <p:sp>
          <p:nvSpPr>
            <p:cNvPr id="79879" name="矩形 5">
              <a:extLst>
                <a:ext uri="{FF2B5EF4-FFF2-40B4-BE49-F238E27FC236}">
                  <a16:creationId xmlns:a16="http://schemas.microsoft.com/office/drawing/2014/main" id="{FA8E3F57-1CF8-4DAC-9C90-8FFB1D89C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7099" y="2814579"/>
              <a:ext cx="648182" cy="241138"/>
            </a:xfrm>
            <a:prstGeom prst="rect">
              <a:avLst/>
            </a:prstGeom>
            <a:solidFill>
              <a:srgbClr val="D4EF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ea typeface="微软雅黑" panose="020B0503020204020204" pitchFamily="34" charset="-122"/>
                </a:rPr>
                <a:t>层</a:t>
              </a:r>
              <a:r>
                <a:rPr kumimoji="0" lang="en-US" altLang="zh-CN" sz="1600">
                  <a:ea typeface="微软雅黑" panose="020B0503020204020204" pitchFamily="34" charset="-122"/>
                </a:rPr>
                <a:t>1</a:t>
              </a:r>
              <a:endParaRPr kumimoji="0" lang="zh-CN" altLang="en-US" sz="1600">
                <a:ea typeface="微软雅黑" panose="020B0503020204020204" pitchFamily="34" charset="-122"/>
              </a:endParaRPr>
            </a:p>
          </p:txBody>
        </p:sp>
        <p:sp>
          <p:nvSpPr>
            <p:cNvPr id="79880" name="矩形 6">
              <a:extLst>
                <a:ext uri="{FF2B5EF4-FFF2-40B4-BE49-F238E27FC236}">
                  <a16:creationId xmlns:a16="http://schemas.microsoft.com/office/drawing/2014/main" id="{A6207F4E-B292-411B-8362-C134EEC3E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2928" y="3498849"/>
              <a:ext cx="844950" cy="4282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ea typeface="微软雅黑" panose="020B0503020204020204" pitchFamily="34" charset="-122"/>
                </a:rPr>
                <a:t>层</a:t>
              </a:r>
              <a:r>
                <a:rPr kumimoji="0" lang="en-US" altLang="zh-CN" sz="1600">
                  <a:ea typeface="微软雅黑" panose="020B0503020204020204" pitchFamily="34" charset="-122"/>
                </a:rPr>
                <a:t>0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ea typeface="微软雅黑" panose="020B0503020204020204" pitchFamily="34" charset="-122"/>
                </a:rPr>
                <a:t>硬件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2A629597-7C77-4A86-BFE9-3C78176ADA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1238" y="1984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微内核系统结构（</a:t>
            </a:r>
            <a:r>
              <a:rPr lang="en-US" altLang="zh-CN" dirty="0"/>
              <a:t> Microkernels </a:t>
            </a:r>
            <a:r>
              <a:rPr lang="zh-CN" altLang="en-US" dirty="0">
                <a:ea typeface="微软雅黑" panose="020B0503020204020204" pitchFamily="34" charset="-122"/>
              </a:rPr>
              <a:t>）</a:t>
            </a:r>
            <a:endParaRPr lang="en-US" altLang="zh-CN" sz="2400" dirty="0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2FB8048-E5D1-40A4-8679-3F0EB7E6FF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6692" y="1108075"/>
            <a:ext cx="10986347" cy="492125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尽可能多地将功能从内核移入用户空间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process management, memory management, message passing, </a:t>
            </a:r>
            <a:r>
              <a:rPr lang="en-US" altLang="zh-CN" dirty="0" err="1"/>
              <a:t>etc</a:t>
            </a:r>
            <a:endParaRPr lang="zh-CN" altLang="en-US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名为</a:t>
            </a:r>
            <a:r>
              <a:rPr lang="en-US" altLang="zh-CN" b="1" dirty="0">
                <a:ea typeface="微软雅黑" panose="020B0503020204020204" pitchFamily="34" charset="-122"/>
              </a:rPr>
              <a:t>Mach</a:t>
            </a:r>
            <a:r>
              <a:rPr lang="zh-CN" altLang="en-US" dirty="0">
                <a:ea typeface="微软雅黑" panose="020B0503020204020204" pitchFamily="34" charset="-122"/>
              </a:rPr>
              <a:t>的操作系统采用微内核技术</a:t>
            </a:r>
            <a:endParaRPr lang="en-US" altLang="zh-CN" b="1" dirty="0">
              <a:solidFill>
                <a:srgbClr val="3366FF"/>
              </a:solidFill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ea typeface="微软雅黑" panose="020B0503020204020204" pitchFamily="34" charset="-122"/>
              </a:rPr>
              <a:t>Mac OS X </a:t>
            </a:r>
            <a:r>
              <a:rPr lang="zh-CN" altLang="en-US" dirty="0">
                <a:ea typeface="微软雅黑" panose="020B0503020204020204" pitchFamily="34" charset="-122"/>
              </a:rPr>
              <a:t>内核（</a:t>
            </a:r>
            <a:r>
              <a:rPr lang="en-US" altLang="zh-CN" b="1" dirty="0">
                <a:ea typeface="微软雅黑" panose="020B0503020204020204" pitchFamily="34" charset="-122"/>
              </a:rPr>
              <a:t>Darwin</a:t>
            </a:r>
            <a:r>
              <a:rPr lang="zh-CN" altLang="en-US" dirty="0">
                <a:ea typeface="微软雅黑" panose="020B0503020204020204" pitchFamily="34" charset="-122"/>
              </a:rPr>
              <a:t>）部分基于 </a:t>
            </a:r>
            <a:r>
              <a:rPr lang="en-US" altLang="zh-CN" dirty="0">
                <a:ea typeface="微软雅黑" panose="020B0503020204020204" pitchFamily="34" charset="-122"/>
              </a:rPr>
              <a:t>Mach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优点</a:t>
            </a:r>
          </a:p>
          <a:p>
            <a:pPr lvl="1">
              <a:spcBef>
                <a:spcPts val="60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更容易扩展操作系统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更容易将操作系统移植到新的平台</a:t>
            </a:r>
          </a:p>
          <a:p>
            <a:pPr lvl="1">
              <a:spcBef>
                <a:spcPts val="600"/>
              </a:spcBef>
            </a:pPr>
            <a:r>
              <a:rPr lang="zh-CN" altLang="en-US" dirty="0"/>
              <a:t>更安全，</a:t>
            </a:r>
            <a:r>
              <a:rPr lang="zh-CN" altLang="en-US" dirty="0">
                <a:ea typeface="微软雅黑" panose="020B0503020204020204" pitchFamily="34" charset="-122"/>
              </a:rPr>
              <a:t>更可靠（内核模式下运行的代码更少）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缺点</a:t>
            </a:r>
          </a:p>
          <a:p>
            <a:pPr lvl="1">
              <a:spcBef>
                <a:spcPts val="60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增加用户空间与内核空间通信的性能开销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74787A-26DD-48B3-8A3D-63097537C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53" y="3204191"/>
            <a:ext cx="4842291" cy="247566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2729EB34-48D9-4DD6-AF31-4779E112E0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微软雅黑" panose="020B0503020204020204" pitchFamily="34" charset="-122"/>
              </a:rPr>
              <a:t>模块化架构（</a:t>
            </a:r>
            <a:r>
              <a:rPr lang="en-US" altLang="zh-CN" dirty="0"/>
              <a:t> Modules </a:t>
            </a:r>
            <a:r>
              <a:rPr lang="zh-CN" altLang="en-US" dirty="0">
                <a:ea typeface="微软雅黑" panose="020B0503020204020204" pitchFamily="34" charset="-122"/>
              </a:rPr>
              <a:t>）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1C0D70C2-2AA7-4ED5-A01E-98AB0D1E10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599" y="976103"/>
            <a:ext cx="10695093" cy="588189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许多现代操作系统实现了</a:t>
            </a:r>
            <a:r>
              <a:rPr lang="zh-CN" altLang="en-US" b="1" dirty="0">
                <a:ea typeface="微软雅黑" panose="020B0503020204020204" pitchFamily="34" charset="-122"/>
              </a:rPr>
              <a:t>可加载的内核模块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使用面向对象的方法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每个核心组件都是独立的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每个模块都可以通过已知接口与其他模块通信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每个模块都可以根据需要在内核中加载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总体而言，与分层系统类似，但更加灵活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en-US" altLang="zh-CN" dirty="0">
                <a:ea typeface="微软雅黑" panose="020B0503020204020204" pitchFamily="34" charset="-122"/>
              </a:rPr>
              <a:t>Linux</a:t>
            </a:r>
            <a:r>
              <a:rPr lang="zh-CN" altLang="en-US" dirty="0"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ea typeface="微软雅黑" panose="020B0503020204020204" pitchFamily="34" charset="-122"/>
              </a:rPr>
              <a:t>Solaris</a:t>
            </a:r>
            <a:r>
              <a:rPr lang="zh-CN" altLang="en-US" dirty="0">
                <a:ea typeface="微软雅黑" panose="020B0503020204020204" pitchFamily="34" charset="-122"/>
              </a:rPr>
              <a:t>等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413C5A2-3CE5-48C5-A53E-8964EDEFB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265" y="2024129"/>
            <a:ext cx="5192802" cy="280974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62CFD8D0-C1BE-4AB0-B7C1-0829210EC9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混合系统</a:t>
            </a:r>
            <a:endParaRPr lang="en-US" altLang="zh-CN">
              <a:ea typeface="微软雅黑" panose="020B0503020204020204" pitchFamily="34" charset="-122"/>
            </a:endParaRP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D56E5953-ED63-4555-BA5C-DCB59B7502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8000" y="1233489"/>
            <a:ext cx="10884748" cy="45307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大多数现代操作系统实际上都不是一种单一的、严格定义的结构</a:t>
            </a:r>
          </a:p>
          <a:p>
            <a:pPr lvl="1">
              <a:lnSpc>
                <a:spcPct val="20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混合系统结合多种方法来满足</a:t>
            </a:r>
            <a:r>
              <a:rPr lang="zh-CN" altLang="en-US" sz="2400" b="1" dirty="0">
                <a:ea typeface="微软雅黑" panose="020B0503020204020204" pitchFamily="34" charset="-122"/>
              </a:rPr>
              <a:t>性能</a:t>
            </a:r>
            <a:r>
              <a:rPr lang="zh-CN" altLang="en-US" sz="2400" dirty="0"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ea typeface="微软雅黑" panose="020B0503020204020204" pitchFamily="34" charset="-122"/>
              </a:rPr>
              <a:t>安全性</a:t>
            </a:r>
            <a:r>
              <a:rPr lang="zh-CN" altLang="en-US" sz="2400" dirty="0">
                <a:ea typeface="微软雅黑" panose="020B0503020204020204" pitchFamily="34" charset="-122"/>
              </a:rPr>
              <a:t>和</a:t>
            </a:r>
            <a:r>
              <a:rPr lang="zh-CN" altLang="en-US" sz="2400" b="1" dirty="0">
                <a:ea typeface="微软雅黑" panose="020B0503020204020204" pitchFamily="34" charset="-122"/>
              </a:rPr>
              <a:t>可用性</a:t>
            </a:r>
            <a:r>
              <a:rPr lang="zh-CN" altLang="en-US" sz="2400" dirty="0">
                <a:ea typeface="微软雅黑" panose="020B0503020204020204" pitchFamily="34" charset="-122"/>
              </a:rPr>
              <a:t>需求</a:t>
            </a:r>
          </a:p>
          <a:p>
            <a:pPr lvl="1">
              <a:lnSpc>
                <a:spcPct val="200000"/>
              </a:lnSpc>
            </a:pPr>
            <a:r>
              <a:rPr lang="en-US" altLang="zh-CN" sz="2400" dirty="0"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ea typeface="微软雅黑" panose="020B0503020204020204" pitchFamily="34" charset="-122"/>
              </a:rPr>
              <a:t>Solaris</a:t>
            </a:r>
            <a:r>
              <a:rPr lang="zh-CN" altLang="en-US" sz="2400" dirty="0">
                <a:ea typeface="微软雅黑" panose="020B0503020204020204" pitchFamily="34" charset="-122"/>
              </a:rPr>
              <a:t>是复合系统，采用</a:t>
            </a:r>
            <a:r>
              <a:rPr lang="zh-CN" altLang="en-US" sz="2400" b="1" dirty="0">
                <a:ea typeface="微软雅黑" panose="020B0503020204020204" pitchFamily="34" charset="-122"/>
              </a:rPr>
              <a:t>模块化</a:t>
            </a:r>
            <a:r>
              <a:rPr lang="zh-CN" altLang="en-US" sz="2400" dirty="0">
                <a:ea typeface="微软雅黑" panose="020B0503020204020204" pitchFamily="34" charset="-122"/>
              </a:rPr>
              <a:t>结构，新的功能可动态添加到内核</a:t>
            </a:r>
          </a:p>
          <a:p>
            <a:pPr lvl="1">
              <a:lnSpc>
                <a:spcPct val="200000"/>
              </a:lnSpc>
            </a:pPr>
            <a:r>
              <a:rPr lang="en-US" altLang="zh-CN" sz="2400" dirty="0">
                <a:ea typeface="微软雅黑" panose="020B0503020204020204" pitchFamily="34" charset="-122"/>
              </a:rPr>
              <a:t>Windows </a:t>
            </a:r>
            <a:r>
              <a:rPr lang="zh-CN" altLang="en-US" sz="2400" dirty="0">
                <a:ea typeface="微软雅黑" panose="020B0503020204020204" pitchFamily="34" charset="-122"/>
              </a:rPr>
              <a:t>大多是复合的，加上用于</a:t>
            </a:r>
            <a:r>
              <a:rPr lang="zh-CN" altLang="en-US" sz="2400" b="1" dirty="0">
                <a:ea typeface="微软雅黑" panose="020B0503020204020204" pitchFamily="34" charset="-122"/>
              </a:rPr>
              <a:t>不同个性的子系统微内核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>
            <a:extLst>
              <a:ext uri="{FF2B5EF4-FFF2-40B4-BE49-F238E27FC236}">
                <a16:creationId xmlns:a16="http://schemas.microsoft.com/office/drawing/2014/main" id="{59FAE2BF-06A8-4159-AD16-46B1818A8A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微软雅黑" panose="020B0503020204020204" pitchFamily="34" charset="-122"/>
              </a:rPr>
              <a:t>Mac OS X </a:t>
            </a:r>
            <a:r>
              <a:rPr lang="zh-CN" altLang="en-US">
                <a:ea typeface="微软雅黑" panose="020B0503020204020204" pitchFamily="34" charset="-122"/>
              </a:rPr>
              <a:t>结构</a:t>
            </a:r>
            <a:endParaRPr lang="en-US" altLang="zh-CN"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A9E4A-EDE5-4C42-AE9A-9FD705C3F198}"/>
              </a:ext>
            </a:extLst>
          </p:cNvPr>
          <p:cNvSpPr/>
          <p:nvPr/>
        </p:nvSpPr>
        <p:spPr>
          <a:xfrm>
            <a:off x="551603" y="1135013"/>
            <a:ext cx="4569037" cy="5262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1313" lvl="0" indent="-341313" eaLnBrk="0" fontAlgn="base" hangingPunct="0">
              <a:lnSpc>
                <a:spcPct val="2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</a:pPr>
            <a:r>
              <a:rPr kumimoji="1" lang="en-US" altLang="zh-CN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Apple Mac OS X</a:t>
            </a:r>
          </a:p>
          <a:p>
            <a:pPr marL="798513" lvl="1" indent="-341313" eaLnBrk="0" fontAlgn="base" hangingPunct="0">
              <a:lnSpc>
                <a:spcPct val="2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混合结构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，是一个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分层系统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，顶层包括</a:t>
            </a:r>
            <a:r>
              <a:rPr kumimoji="1" lang="en-US" altLang="zh-CN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Aqua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用户界面，以及</a:t>
            </a:r>
            <a:r>
              <a:rPr kumimoji="1" lang="en-US" altLang="zh-CN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Cocoa 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编程环境</a:t>
            </a:r>
          </a:p>
          <a:p>
            <a:pPr marL="741363" lvl="1" indent="-284163" eaLnBrk="0" fontAlgn="base" hangingPunct="0">
              <a:lnSpc>
                <a:spcPct val="2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下层是主要由 </a:t>
            </a:r>
            <a:r>
              <a:rPr kumimoji="1" lang="en-US" altLang="zh-CN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Mach 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微内核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kumimoji="1" lang="en-US" altLang="zh-CN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BSD Unix 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组成的内核，加上 </a:t>
            </a:r>
            <a:r>
              <a:rPr kumimoji="1" lang="en-US" altLang="zh-CN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 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套件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动态可加载模块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（称之为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内核扩展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F78DDC-97E2-4CA0-94D6-C566D1234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03" y="1683759"/>
            <a:ext cx="6200797" cy="349048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0DA8FD7C-5AA3-4C97-AA9A-17AE7F25E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/>
              <a:t>iOS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CEF975CA-B1E5-4955-95E7-6D542BFEA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5733" y="1233489"/>
            <a:ext cx="7239531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适用于 </a:t>
            </a:r>
            <a:r>
              <a:rPr lang="en-US" altLang="zh-CN" dirty="0">
                <a:ea typeface="微软雅黑" panose="020B0503020204020204" pitchFamily="34" charset="-122"/>
              </a:rPr>
              <a:t>iPhone</a:t>
            </a:r>
            <a:r>
              <a:rPr lang="zh-CN" altLang="en-US" dirty="0"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ea typeface="微软雅黑" panose="020B0503020204020204" pitchFamily="34" charset="-122"/>
              </a:rPr>
              <a:t>iPad </a:t>
            </a:r>
            <a:r>
              <a:rPr lang="zh-CN" altLang="en-US" dirty="0">
                <a:ea typeface="微软雅黑" panose="020B0503020204020204" pitchFamily="34" charset="-122"/>
              </a:rPr>
              <a:t>的 </a:t>
            </a:r>
            <a:r>
              <a:rPr lang="en-US" altLang="zh-CN" dirty="0">
                <a:ea typeface="微软雅黑" panose="020B0503020204020204" pitchFamily="34" charset="-122"/>
              </a:rPr>
              <a:t>Apple </a:t>
            </a:r>
            <a:r>
              <a:rPr lang="zh-CN" altLang="en-US" dirty="0">
                <a:ea typeface="微软雅黑" panose="020B0503020204020204" pitchFamily="34" charset="-122"/>
              </a:rPr>
              <a:t>移动操作系统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以 </a:t>
            </a:r>
            <a:r>
              <a:rPr lang="en-US" altLang="zh-CN" dirty="0">
                <a:ea typeface="微软雅黑" panose="020B0503020204020204" pitchFamily="34" charset="-122"/>
              </a:rPr>
              <a:t>Mac OS X</a:t>
            </a:r>
            <a:r>
              <a:rPr lang="zh-CN" altLang="en-US" dirty="0">
                <a:ea typeface="微软雅黑" panose="020B0503020204020204" pitchFamily="34" charset="-122"/>
              </a:rPr>
              <a:t>为基础，增加了功能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不能直接运行 </a:t>
            </a:r>
            <a:r>
              <a:rPr lang="en-US" altLang="zh-CN" dirty="0">
                <a:ea typeface="微软雅黑" panose="020B0503020204020204" pitchFamily="34" charset="-122"/>
              </a:rPr>
              <a:t>OS X </a:t>
            </a:r>
            <a:r>
              <a:rPr lang="zh-CN" altLang="en-US" dirty="0">
                <a:ea typeface="微软雅黑" panose="020B0503020204020204" pitchFamily="34" charset="-122"/>
              </a:rPr>
              <a:t>的应用程序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可以在不同的 </a:t>
            </a:r>
            <a:r>
              <a:rPr lang="en-US" altLang="zh-CN" dirty="0">
                <a:ea typeface="微软雅黑" panose="020B0503020204020204" pitchFamily="34" charset="-122"/>
              </a:rPr>
              <a:t>CPU </a:t>
            </a:r>
            <a:r>
              <a:rPr lang="zh-CN" altLang="en-US" dirty="0">
                <a:ea typeface="微软雅黑" panose="020B0503020204020204" pitchFamily="34" charset="-122"/>
              </a:rPr>
              <a:t>架构上运行（</a:t>
            </a:r>
            <a:r>
              <a:rPr lang="en-US" altLang="zh-CN" dirty="0">
                <a:ea typeface="微软雅黑" panose="020B0503020204020204" pitchFamily="34" charset="-122"/>
              </a:rPr>
              <a:t>ARM </a:t>
            </a:r>
            <a:r>
              <a:rPr lang="zh-CN" altLang="en-US" dirty="0">
                <a:ea typeface="微软雅黑" panose="020B0503020204020204" pitchFamily="34" charset="-122"/>
              </a:rPr>
              <a:t>与 </a:t>
            </a:r>
            <a:r>
              <a:rPr lang="en-US" altLang="zh-CN" dirty="0">
                <a:ea typeface="微软雅黑" panose="020B0503020204020204" pitchFamily="34" charset="-122"/>
              </a:rPr>
              <a:t>Intel</a:t>
            </a:r>
            <a:r>
              <a:rPr lang="zh-CN" altLang="en-US" dirty="0">
                <a:ea typeface="微软雅黑" panose="020B0503020204020204" pitchFamily="34" charset="-122"/>
              </a:rPr>
              <a:t>）</a:t>
            </a:r>
          </a:p>
          <a:p>
            <a:pPr lvl="1">
              <a:lnSpc>
                <a:spcPct val="150000"/>
              </a:lnSpc>
            </a:pPr>
            <a:r>
              <a:rPr lang="en-US" altLang="zh-CN" b="1" dirty="0">
                <a:ea typeface="微软雅黑" panose="020B0503020204020204" pitchFamily="34" charset="-122"/>
              </a:rPr>
              <a:t>Cocoa Touch</a:t>
            </a:r>
            <a:r>
              <a:rPr lang="zh-CN" altLang="en-US" dirty="0">
                <a:ea typeface="微软雅黑" panose="020B0503020204020204" pitchFamily="34" charset="-122"/>
              </a:rPr>
              <a:t>为用</a:t>
            </a:r>
            <a:r>
              <a:rPr lang="en-US" altLang="zh-CN" dirty="0">
                <a:ea typeface="微软雅黑" panose="020B0503020204020204" pitchFamily="34" charset="-122"/>
              </a:rPr>
              <a:t>Objective-C</a:t>
            </a:r>
            <a:r>
              <a:rPr lang="zh-CN" altLang="en-US" dirty="0">
                <a:ea typeface="微软雅黑" panose="020B0503020204020204" pitchFamily="34" charset="-122"/>
              </a:rPr>
              <a:t>的</a:t>
            </a:r>
            <a:r>
              <a:rPr lang="en-US" altLang="zh-CN" dirty="0">
                <a:ea typeface="微软雅黑" panose="020B0503020204020204" pitchFamily="34" charset="-122"/>
              </a:rPr>
              <a:t>API</a:t>
            </a:r>
            <a:r>
              <a:rPr lang="zh-CN" altLang="en-US" dirty="0">
                <a:ea typeface="微软雅黑" panose="020B0503020204020204" pitchFamily="34" charset="-122"/>
              </a:rPr>
              <a:t>，开发可运行于</a:t>
            </a:r>
            <a:r>
              <a:rPr lang="en-US" altLang="zh-CN" dirty="0">
                <a:ea typeface="微软雅黑" panose="020B0503020204020204" pitchFamily="34" charset="-122"/>
              </a:rPr>
              <a:t>iOS</a:t>
            </a:r>
            <a:r>
              <a:rPr lang="zh-CN" altLang="en-US" dirty="0">
                <a:ea typeface="微软雅黑" panose="020B0503020204020204" pitchFamily="34" charset="-122"/>
              </a:rPr>
              <a:t>设备上的应用程序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媒体服务层提供</a:t>
            </a:r>
            <a:r>
              <a:rPr lang="zh-CN" altLang="en-US" dirty="0">
                <a:ea typeface="微软雅黑" panose="020B0503020204020204" pitchFamily="34" charset="-122"/>
              </a:rPr>
              <a:t>图形、音频和视频方面的服务</a:t>
            </a:r>
            <a:endParaRPr lang="zh-CN" altLang="en-US" b="1" dirty="0"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核心服务</a:t>
            </a:r>
            <a:r>
              <a:rPr lang="zh-CN" altLang="en-US" dirty="0">
                <a:ea typeface="微软雅黑" panose="020B0503020204020204" pitchFamily="34" charset="-122"/>
              </a:rPr>
              <a:t>提供云计算、数据库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核心操作系统，基于</a:t>
            </a:r>
            <a:r>
              <a:rPr lang="en-US" altLang="zh-CN" b="1" dirty="0">
                <a:ea typeface="微软雅黑" panose="020B0503020204020204" pitchFamily="34" charset="-122"/>
              </a:rPr>
              <a:t>Mac OS X</a:t>
            </a:r>
            <a:r>
              <a:rPr lang="zh-CN" altLang="en-US" b="1" dirty="0">
                <a:ea typeface="微软雅黑" panose="020B0503020204020204" pitchFamily="34" charset="-122"/>
              </a:rPr>
              <a:t>内核</a:t>
            </a:r>
            <a:endParaRPr lang="en-US" altLang="zh-CN" b="1" dirty="0">
              <a:ea typeface="微软雅黑" panose="020B0503020204020204" pitchFamily="34" charset="-122"/>
            </a:endParaRPr>
          </a:p>
        </p:txBody>
      </p:sp>
      <p:grpSp>
        <p:nvGrpSpPr>
          <p:cNvPr id="93188" name="组合 2">
            <a:extLst>
              <a:ext uri="{FF2B5EF4-FFF2-40B4-BE49-F238E27FC236}">
                <a16:creationId xmlns:a16="http://schemas.microsoft.com/office/drawing/2014/main" id="{7F3E8E69-5212-41BF-8D51-66DDB4FE6CBA}"/>
              </a:ext>
            </a:extLst>
          </p:cNvPr>
          <p:cNvGrpSpPr>
            <a:grpSpLocks/>
          </p:cNvGrpSpPr>
          <p:nvPr/>
        </p:nvGrpSpPr>
        <p:grpSpPr bwMode="auto">
          <a:xfrm>
            <a:off x="8113819" y="1804882"/>
            <a:ext cx="3170554" cy="3248236"/>
            <a:chOff x="6461761" y="2190272"/>
            <a:chExt cx="2182178" cy="2283303"/>
          </a:xfrm>
        </p:grpSpPr>
        <p:pic>
          <p:nvPicPr>
            <p:cNvPr id="93189" name="Picture 1" descr="2_17.pdf">
              <a:extLst>
                <a:ext uri="{FF2B5EF4-FFF2-40B4-BE49-F238E27FC236}">
                  <a16:creationId xmlns:a16="http://schemas.microsoft.com/office/drawing/2014/main" id="{65D0C6C3-9CE8-4ADA-A4C2-5C877F149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1761" y="2190272"/>
              <a:ext cx="2182178" cy="2283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190" name="矩形 1">
              <a:extLst>
                <a:ext uri="{FF2B5EF4-FFF2-40B4-BE49-F238E27FC236}">
                  <a16:creationId xmlns:a16="http://schemas.microsoft.com/office/drawing/2014/main" id="{71288895-4F62-431F-9B6D-F8F347259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4912" y="2877312"/>
              <a:ext cx="2060448" cy="256032"/>
            </a:xfrm>
            <a:prstGeom prst="rect">
              <a:avLst/>
            </a:prstGeom>
            <a:solidFill>
              <a:srgbClr val="C7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ea typeface="微软雅黑" panose="020B0503020204020204" pitchFamily="34" charset="-122"/>
                </a:rPr>
                <a:t>媒体服务</a:t>
              </a:r>
            </a:p>
          </p:txBody>
        </p:sp>
        <p:sp>
          <p:nvSpPr>
            <p:cNvPr id="93191" name="矩形 5">
              <a:extLst>
                <a:ext uri="{FF2B5EF4-FFF2-40B4-BE49-F238E27FC236}">
                  <a16:creationId xmlns:a16="http://schemas.microsoft.com/office/drawing/2014/main" id="{E43641CD-405C-43D9-A789-08F248CCF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4912" y="3498850"/>
              <a:ext cx="2060448" cy="256032"/>
            </a:xfrm>
            <a:prstGeom prst="rect">
              <a:avLst/>
            </a:prstGeom>
            <a:solidFill>
              <a:srgbClr val="C7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ea typeface="微软雅黑" panose="020B0503020204020204" pitchFamily="34" charset="-122"/>
                </a:rPr>
                <a:t>核心服务</a:t>
              </a:r>
            </a:p>
          </p:txBody>
        </p:sp>
        <p:sp>
          <p:nvSpPr>
            <p:cNvPr id="93192" name="矩形 6">
              <a:extLst>
                <a:ext uri="{FF2B5EF4-FFF2-40B4-BE49-F238E27FC236}">
                  <a16:creationId xmlns:a16="http://schemas.microsoft.com/office/drawing/2014/main" id="{0F5839E7-9241-4475-BBF9-E84757915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4912" y="4120388"/>
              <a:ext cx="2060448" cy="256032"/>
            </a:xfrm>
            <a:prstGeom prst="rect">
              <a:avLst/>
            </a:prstGeom>
            <a:solidFill>
              <a:srgbClr val="C7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微软雅黑" panose="020B0503020204020204" pitchFamily="34" charset="-122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ea typeface="微软雅黑" panose="020B0503020204020204" pitchFamily="34" charset="-122"/>
                </a:rPr>
                <a:t>核心</a:t>
              </a:r>
              <a:r>
                <a:rPr kumimoji="0" lang="en-US" altLang="zh-CN">
                  <a:ea typeface="微软雅黑" panose="020B0503020204020204" pitchFamily="34" charset="-122"/>
                </a:rPr>
                <a:t>OS</a:t>
              </a:r>
              <a:endParaRPr kumimoji="0" lang="zh-CN" altLang="en-US"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05B6990F-45C4-491A-9A1A-0B38265EA7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zh-CN"/>
              <a:t>Android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09EBDBC7-A9C9-4DED-9B9C-5E96AEBCC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9279" y="1044576"/>
            <a:ext cx="10173547" cy="5661023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由</a:t>
            </a:r>
            <a:r>
              <a:rPr lang="en-US" altLang="zh-CN" dirty="0">
                <a:ea typeface="微软雅黑" panose="020B0503020204020204" pitchFamily="34" charset="-122"/>
              </a:rPr>
              <a:t>Open Handset Alliance (</a:t>
            </a:r>
            <a:r>
              <a:rPr lang="zh-CN" altLang="en-US" dirty="0">
                <a:ea typeface="微软雅黑" panose="020B0503020204020204" pitchFamily="34" charset="-122"/>
              </a:rPr>
              <a:t>由</a:t>
            </a:r>
            <a:r>
              <a:rPr lang="en-US" altLang="zh-CN" dirty="0">
                <a:ea typeface="微软雅黑" panose="020B0503020204020204" pitchFamily="34" charset="-122"/>
              </a:rPr>
              <a:t>Google</a:t>
            </a:r>
            <a:r>
              <a:rPr lang="zh-CN" altLang="en-US" dirty="0">
                <a:ea typeface="微软雅黑" panose="020B0503020204020204" pitchFamily="34" charset="-122"/>
              </a:rPr>
              <a:t>主导）设计开发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开源、类似于 </a:t>
            </a:r>
            <a:r>
              <a:rPr lang="en-US" altLang="zh-CN" dirty="0">
                <a:ea typeface="微软雅黑" panose="020B0503020204020204" pitchFamily="34" charset="-122"/>
              </a:rPr>
              <a:t>IOS </a:t>
            </a:r>
            <a:r>
              <a:rPr lang="zh-CN" altLang="en-US" dirty="0">
                <a:ea typeface="微软雅黑" panose="020B0503020204020204" pitchFamily="34" charset="-122"/>
              </a:rPr>
              <a:t>的堆栈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基于经过修改的</a:t>
            </a:r>
            <a:r>
              <a:rPr lang="en-US" altLang="zh-CN" dirty="0">
                <a:ea typeface="微软雅黑" panose="020B0503020204020204" pitchFamily="34" charset="-122"/>
              </a:rPr>
              <a:t>Linux</a:t>
            </a:r>
            <a:r>
              <a:rPr lang="zh-CN" altLang="en-US" dirty="0">
                <a:ea typeface="微软雅黑" panose="020B0503020204020204" pitchFamily="34" charset="-122"/>
              </a:rPr>
              <a:t>内核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支持进程、内存、硬件设备驱动程序，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增加电源管理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运行环境包括一套核心库集和 </a:t>
            </a:r>
            <a:r>
              <a:rPr lang="en-US" altLang="zh-CN" dirty="0">
                <a:ea typeface="微软雅黑" panose="020B0503020204020204" pitchFamily="34" charset="-122"/>
              </a:rPr>
              <a:t>Dalvik </a:t>
            </a:r>
            <a:r>
              <a:rPr lang="zh-CN" altLang="en-US" dirty="0">
                <a:ea typeface="微软雅黑" panose="020B0503020204020204" pitchFamily="34" charset="-122"/>
              </a:rPr>
              <a:t>虚拟机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使用 </a:t>
            </a:r>
            <a:r>
              <a:rPr lang="en-US" altLang="zh-CN" dirty="0">
                <a:ea typeface="微软雅黑" panose="020B0503020204020204" pitchFamily="34" charset="-122"/>
              </a:rPr>
              <a:t>Java </a:t>
            </a:r>
            <a:r>
              <a:rPr lang="zh-CN" altLang="en-US" dirty="0">
                <a:ea typeface="微软雅黑" panose="020B0503020204020204" pitchFamily="34" charset="-122"/>
              </a:rPr>
              <a:t>和 </a:t>
            </a:r>
            <a:r>
              <a:rPr lang="en-US" altLang="zh-CN" dirty="0">
                <a:ea typeface="微软雅黑" panose="020B0503020204020204" pitchFamily="34" charset="-122"/>
              </a:rPr>
              <a:t>Android API </a:t>
            </a:r>
            <a:r>
              <a:rPr lang="zh-CN" altLang="en-US" dirty="0">
                <a:ea typeface="微软雅黑" panose="020B0503020204020204" pitchFamily="34" charset="-122"/>
              </a:rPr>
              <a:t>开发的应用程序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库包括 </a:t>
            </a:r>
            <a:r>
              <a:rPr lang="en-US" altLang="zh-CN" dirty="0">
                <a:ea typeface="微软雅黑" panose="020B0503020204020204" pitchFamily="34" charset="-122"/>
              </a:rPr>
              <a:t>Web </a:t>
            </a:r>
            <a:r>
              <a:rPr lang="zh-CN" altLang="en-US" dirty="0">
                <a:ea typeface="微软雅黑" panose="020B0503020204020204" pitchFamily="34" charset="-122"/>
              </a:rPr>
              <a:t>浏览器框架 </a:t>
            </a:r>
            <a:r>
              <a:rPr lang="en-US" altLang="zh-CN" dirty="0"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ea typeface="微软雅黑" panose="020B0503020204020204" pitchFamily="34" charset="-122"/>
              </a:rPr>
              <a:t>webkit</a:t>
            </a:r>
            <a:r>
              <a:rPr lang="en-US" altLang="zh-CN" dirty="0">
                <a:ea typeface="微软雅黑" panose="020B0503020204020204" pitchFamily="34" charset="-122"/>
              </a:rPr>
              <a:t>)</a:t>
            </a:r>
            <a:r>
              <a:rPr lang="zh-CN" altLang="en-US" dirty="0">
                <a:ea typeface="微软雅黑" panose="020B0503020204020204" pitchFamily="34" charset="-122"/>
              </a:rPr>
              <a:t>、数据库 </a:t>
            </a:r>
            <a:r>
              <a:rPr lang="en-US" altLang="zh-CN" dirty="0">
                <a:ea typeface="微软雅黑" panose="020B0503020204020204" pitchFamily="34" charset="-122"/>
              </a:rPr>
              <a:t>(SQLite)</a:t>
            </a:r>
            <a:r>
              <a:rPr lang="zh-CN" altLang="en-US" dirty="0">
                <a:ea typeface="微软雅黑" panose="020B0503020204020204" pitchFamily="34" charset="-122"/>
              </a:rPr>
              <a:t>、多媒体、较小的 </a:t>
            </a:r>
            <a:r>
              <a:rPr lang="en-US" altLang="zh-CN" dirty="0" err="1">
                <a:ea typeface="微软雅黑" panose="020B0503020204020204" pitchFamily="34" charset="-122"/>
              </a:rPr>
              <a:t>libc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042F5F1-A8F0-4A95-A975-D1259A419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342" y="2208106"/>
            <a:ext cx="3841601" cy="305055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>
            <a:extLst>
              <a:ext uri="{FF2B5EF4-FFF2-40B4-BE49-F238E27FC236}">
                <a16:creationId xmlns:a16="http://schemas.microsoft.com/office/drawing/2014/main" id="{499FE64E-778B-40CE-B8D4-951257BB6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14614" y="198438"/>
            <a:ext cx="7596187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</a:rPr>
              <a:t>2.6 </a:t>
            </a:r>
            <a:r>
              <a:rPr lang="zh-CN" altLang="en-US" dirty="0">
                <a:ea typeface="微软雅黑" panose="020B0503020204020204" pitchFamily="34" charset="-122"/>
              </a:rPr>
              <a:t>操作系统的调试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99331" name="Content Placeholder 2">
            <a:extLst>
              <a:ext uri="{FF2B5EF4-FFF2-40B4-BE49-F238E27FC236}">
                <a16:creationId xmlns:a16="http://schemas.microsoft.com/office/drawing/2014/main" id="{3242AAF3-B2BC-4BF2-A7EC-037B897C2D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9920" y="973931"/>
            <a:ext cx="10932160" cy="49101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调试</a:t>
            </a:r>
            <a:r>
              <a:rPr lang="zh-CN" altLang="en-US" dirty="0">
                <a:ea typeface="微软雅黑" panose="020B0503020204020204" pitchFamily="34" charset="-122"/>
              </a:rPr>
              <a:t>就是查找和更正系统错误，以及性能优化（修改</a:t>
            </a:r>
            <a:r>
              <a:rPr lang="en-US" altLang="zh-CN" b="1" dirty="0">
                <a:ea typeface="微软雅黑" panose="020B0503020204020204" pitchFamily="34" charset="-122"/>
              </a:rPr>
              <a:t>bug</a:t>
            </a:r>
            <a:r>
              <a:rPr lang="zh-CN" altLang="en-US" dirty="0">
                <a:ea typeface="微软雅黑" panose="020B0503020204020204" pitchFamily="34" charset="-122"/>
              </a:rPr>
              <a:t>）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操作系统生成包含错误信息的</a:t>
            </a:r>
            <a:r>
              <a:rPr lang="zh-CN" altLang="en-US" b="1" dirty="0">
                <a:ea typeface="微软雅黑" panose="020B0503020204020204" pitchFamily="34" charset="-122"/>
              </a:rPr>
              <a:t>日志文件</a:t>
            </a:r>
          </a:p>
          <a:p>
            <a:pPr lvl="1">
              <a:lnSpc>
                <a:spcPct val="20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应用程序的故障</a:t>
            </a:r>
            <a:r>
              <a:rPr lang="zh-CN" altLang="en-US" dirty="0">
                <a:ea typeface="微软雅黑" panose="020B0503020204020204" pitchFamily="34" charset="-122"/>
              </a:rPr>
              <a:t>会生成</a:t>
            </a:r>
            <a:r>
              <a:rPr lang="zh-CN" altLang="en-US" b="1" dirty="0">
                <a:ea typeface="微软雅黑" panose="020B0503020204020204" pitchFamily="34" charset="-122"/>
              </a:rPr>
              <a:t>核心转储</a:t>
            </a:r>
            <a:r>
              <a:rPr lang="zh-CN" altLang="en-US" dirty="0">
                <a:ea typeface="微软雅黑" panose="020B0503020204020204" pitchFamily="34" charset="-122"/>
              </a:rPr>
              <a:t>文件，可以使用</a:t>
            </a:r>
            <a:r>
              <a:rPr lang="en-US" altLang="zh-CN" b="1" dirty="0" err="1">
                <a:ea typeface="微软雅黑" panose="020B0503020204020204" pitchFamily="34" charset="-122"/>
              </a:rPr>
              <a:t>gdb</a:t>
            </a:r>
            <a:r>
              <a:rPr lang="zh-CN" altLang="en-US" b="1" dirty="0">
                <a:ea typeface="微软雅黑" panose="020B0503020204020204" pitchFamily="34" charset="-122"/>
              </a:rPr>
              <a:t>指令</a:t>
            </a:r>
            <a:r>
              <a:rPr lang="zh-CN" altLang="en-US" dirty="0">
                <a:ea typeface="微软雅黑" panose="020B0503020204020204" pitchFamily="34" charset="-122"/>
              </a:rPr>
              <a:t>进行程序调试</a:t>
            </a:r>
          </a:p>
          <a:p>
            <a:pPr lvl="1">
              <a:lnSpc>
                <a:spcPct val="20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操作系统故障</a:t>
            </a:r>
            <a:r>
              <a:rPr lang="zh-CN" altLang="en-US" dirty="0">
                <a:ea typeface="微软雅黑" panose="020B0503020204020204" pitchFamily="34" charset="-122"/>
              </a:rPr>
              <a:t>会生成包含内核内存状态的</a:t>
            </a:r>
            <a:r>
              <a:rPr lang="zh-CN" altLang="en-US" b="1" dirty="0">
                <a:ea typeface="微软雅黑" panose="020B0503020204020204" pitchFamily="34" charset="-122"/>
              </a:rPr>
              <a:t>崩溃转储文件</a:t>
            </a:r>
            <a:r>
              <a:rPr lang="en-US" altLang="zh-CN" b="1" dirty="0">
                <a:ea typeface="微软雅黑" panose="020B0503020204020204" pitchFamily="34" charset="-122"/>
              </a:rPr>
              <a:t>(crash dump)</a:t>
            </a:r>
            <a:endParaRPr lang="zh-CN" altLang="en-US" b="1" dirty="0"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除了崩溃之外，调试还可以改善系统性能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133717C-65E5-4DE2-A602-966A18C8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227" y="4464014"/>
            <a:ext cx="9559321" cy="239398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>
            <a:extLst>
              <a:ext uri="{FF2B5EF4-FFF2-40B4-BE49-F238E27FC236}">
                <a16:creationId xmlns:a16="http://schemas.microsoft.com/office/drawing/2014/main" id="{90052766-843A-472E-89CD-159DFBBE0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14614" y="136526"/>
            <a:ext cx="7596187" cy="576263"/>
          </a:xfrm>
        </p:spPr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性能优化</a:t>
            </a:r>
            <a:endParaRPr lang="en-US" altLang="zh-CN">
              <a:ea typeface="微软雅黑" panose="020B0503020204020204" pitchFamily="34" charset="-122"/>
            </a:endParaRPr>
          </a:p>
        </p:txBody>
      </p:sp>
      <p:sp>
        <p:nvSpPr>
          <p:cNvPr id="101379" name="Content Placeholder 2">
            <a:extLst>
              <a:ext uri="{FF2B5EF4-FFF2-40B4-BE49-F238E27FC236}">
                <a16:creationId xmlns:a16="http://schemas.microsoft.com/office/drawing/2014/main" id="{AE252326-68BE-437F-8A45-E3586E96A4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6373" y="1233489"/>
            <a:ext cx="5725690" cy="491013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通过消除瓶颈提高性能</a:t>
            </a:r>
          </a:p>
          <a:p>
            <a:pPr>
              <a:lnSpc>
                <a:spcPct val="20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操作系统必须提供计算和显示系统行为度量的方法</a:t>
            </a:r>
          </a:p>
          <a:p>
            <a:pPr lvl="1">
              <a:lnSpc>
                <a:spcPct val="200000"/>
              </a:lnSpc>
            </a:pPr>
            <a:r>
              <a:rPr lang="en-US" altLang="zh-CN" sz="2400" b="1" dirty="0">
                <a:ea typeface="微软雅黑" panose="020B0503020204020204" pitchFamily="34" charset="-122"/>
              </a:rPr>
              <a:t>top</a:t>
            </a:r>
            <a:r>
              <a:rPr lang="zh-CN" altLang="en-US" sz="2400" b="1" dirty="0">
                <a:ea typeface="微软雅黑" panose="020B0503020204020204" pitchFamily="34" charset="-122"/>
              </a:rPr>
              <a:t>命令</a:t>
            </a:r>
            <a:r>
              <a:rPr lang="en-US" altLang="zh-CN" sz="2400" b="1" dirty="0">
                <a:ea typeface="微软雅黑" panose="020B0503020204020204" pitchFamily="34" charset="-122"/>
              </a:rPr>
              <a:t>(</a:t>
            </a:r>
            <a:r>
              <a:rPr lang="en-US" altLang="zh-CN" sz="2400" b="1" dirty="0"/>
              <a:t>w, uptime, </a:t>
            </a:r>
            <a:r>
              <a:rPr lang="en-US" altLang="zh-CN" sz="2400" b="1" dirty="0" err="1"/>
              <a:t>ps</a:t>
            </a:r>
            <a:r>
              <a:rPr lang="en-US" altLang="zh-CN" sz="2400" b="1" dirty="0"/>
              <a:t>, etc.</a:t>
            </a:r>
            <a:r>
              <a:rPr lang="en-US" altLang="zh-CN" sz="2400" b="1" dirty="0">
                <a:ea typeface="微软雅黑" panose="020B0503020204020204" pitchFamily="34" charset="-122"/>
              </a:rPr>
              <a:t>)</a:t>
            </a:r>
            <a:endParaRPr lang="en-US" altLang="zh-CN" sz="2400" b="1" dirty="0"/>
          </a:p>
          <a:p>
            <a:pPr lvl="1">
              <a:lnSpc>
                <a:spcPct val="200000"/>
              </a:lnSpc>
            </a:pPr>
            <a:r>
              <a:rPr lang="en-US" altLang="zh-CN" sz="2400" b="1" dirty="0">
                <a:ea typeface="微软雅黑" panose="020B0503020204020204" pitchFamily="34" charset="-122"/>
              </a:rPr>
              <a:t>Windows</a:t>
            </a:r>
            <a:r>
              <a:rPr lang="zh-CN" altLang="en-US" sz="2400" b="1" dirty="0">
                <a:ea typeface="微软雅黑" panose="020B0503020204020204" pitchFamily="34" charset="-122"/>
              </a:rPr>
              <a:t>任务管理器</a:t>
            </a:r>
            <a:endParaRPr lang="en-US" altLang="zh-CN" sz="2400" b="1" dirty="0"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sz="2400" b="1" dirty="0"/>
              <a:t>日志文件</a:t>
            </a:r>
            <a:r>
              <a:rPr lang="en-US" altLang="zh-CN" sz="2400" b="1" dirty="0"/>
              <a:t>(log file)</a:t>
            </a:r>
            <a:endParaRPr lang="en-US" altLang="zh-CN" sz="2400" b="1" dirty="0">
              <a:ea typeface="微软雅黑" panose="020B0503020204020204" pitchFamily="34" charset="-122"/>
            </a:endParaRPr>
          </a:p>
        </p:txBody>
      </p:sp>
      <p:pic>
        <p:nvPicPr>
          <p:cNvPr id="101380" name="Picture 1" descr="2_19.pdf">
            <a:extLst>
              <a:ext uri="{FF2B5EF4-FFF2-40B4-BE49-F238E27FC236}">
                <a16:creationId xmlns:a16="http://schemas.microsoft.com/office/drawing/2014/main" id="{313C9E5D-AF39-48CD-B868-DEE756770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330" y="1300162"/>
            <a:ext cx="3732212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7566E8E5-B0A6-4848-BABF-C15F38F518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24100" y="13652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zh-CN" sz="3000" dirty="0" err="1"/>
              <a:t>Dtrace</a:t>
            </a:r>
            <a:r>
              <a:rPr lang="en-US" altLang="zh-CN" sz="3000" dirty="0"/>
              <a:t>*</a:t>
            </a:r>
          </a:p>
        </p:txBody>
      </p:sp>
      <p:pic>
        <p:nvPicPr>
          <p:cNvPr id="103427" name="Picture 3">
            <a:extLst>
              <a:ext uri="{FF2B5EF4-FFF2-40B4-BE49-F238E27FC236}">
                <a16:creationId xmlns:a16="http://schemas.microsoft.com/office/drawing/2014/main" id="{5579A996-155C-4362-BE73-7483D0477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1" t="1375" r="19221" b="2376"/>
          <a:stretch>
            <a:fillRect/>
          </a:stretch>
        </p:blipFill>
        <p:spPr bwMode="auto">
          <a:xfrm>
            <a:off x="6887741" y="1027959"/>
            <a:ext cx="4294187" cy="5033962"/>
          </a:xfrm>
          <a:prstGeom prst="rect">
            <a:avLst/>
          </a:prstGeom>
          <a:noFill/>
          <a:ln w="38100" cmpd="dbl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28" name="Content Placeholder 2">
            <a:extLst>
              <a:ext uri="{FF2B5EF4-FFF2-40B4-BE49-F238E27FC236}">
                <a16:creationId xmlns:a16="http://schemas.microsoft.com/office/drawing/2014/main" id="{6DDA8B96-334C-45EF-8883-A02E61018B47}"/>
              </a:ext>
            </a:extLst>
          </p:cNvPr>
          <p:cNvSpPr txBox="1">
            <a:spLocks/>
          </p:cNvSpPr>
          <p:nvPr/>
        </p:nvSpPr>
        <p:spPr bwMode="auto">
          <a:xfrm>
            <a:off x="541867" y="1233489"/>
            <a:ext cx="5554133" cy="491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1313" indent="-341313" eaLnBrk="0" fontAlgn="base" hangingPunct="0">
              <a:lnSpc>
                <a:spcPct val="2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1363" lvl="1" indent="-284163" eaLnBrk="0" fontAlgn="base" hangingPunct="0">
              <a:lnSpc>
                <a:spcPct val="2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 kumimoji="1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084263" indent="-227013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Ø"/>
              <a:defRPr kumimoji="1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427163" indent="-227013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ü"/>
              <a:defRPr kumimoji="1" sz="16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770063" indent="-227013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Arial" panose="020B0604020202020204" pitchFamily="34" charset="0"/>
              <a:buChar char="•"/>
              <a:defRPr kumimoji="1" sz="16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228738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6pPr>
            <a:lvl7pPr marL="2685915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7pPr>
            <a:lvl8pPr marL="3143093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8pPr>
            <a:lvl9pPr marL="3600270" indent="-228589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ea typeface="ＭＳ Ｐゴシック" charset="-128"/>
              </a:defRPr>
            </a:lvl9pPr>
          </a:lstStyle>
          <a:p>
            <a:r>
              <a:rPr lang="en-US" altLang="zh-CN" dirty="0"/>
              <a:t>Solaris</a:t>
            </a:r>
            <a:r>
              <a:rPr lang="zh-CN" altLang="en-US" dirty="0"/>
              <a:t>、</a:t>
            </a:r>
            <a:r>
              <a:rPr lang="en-US" altLang="zh-CN" dirty="0"/>
              <a:t>FreeBSD</a:t>
            </a:r>
            <a:r>
              <a:rPr lang="zh-CN" altLang="en-US" dirty="0"/>
              <a:t>和</a:t>
            </a:r>
            <a:r>
              <a:rPr lang="en-US" altLang="zh-CN" dirty="0"/>
              <a:t>Mac OS X</a:t>
            </a:r>
            <a:r>
              <a:rPr lang="zh-CN" altLang="en-US" dirty="0"/>
              <a:t>中的</a:t>
            </a:r>
            <a:r>
              <a:rPr lang="en-US" altLang="zh-CN" dirty="0" err="1"/>
              <a:t>DTrace</a:t>
            </a:r>
            <a:r>
              <a:rPr lang="zh-CN" altLang="en-US" dirty="0"/>
              <a:t>工具允许在生产系统上进行实时探测</a:t>
            </a:r>
          </a:p>
          <a:p>
            <a:r>
              <a:rPr lang="zh-CN" altLang="en-US" dirty="0"/>
              <a:t>当代码在提供程序中执行时，会触发</a:t>
            </a:r>
            <a:r>
              <a:rPr lang="zh-CN" altLang="en-US" b="1" dirty="0"/>
              <a:t>探测</a:t>
            </a:r>
            <a:r>
              <a:rPr lang="zh-CN" altLang="en-US" dirty="0"/>
              <a:t>，捕获状态数据并将其发送给这些探测的使用者</a:t>
            </a:r>
            <a:endParaRPr lang="en-US" altLang="zh-C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EDF5CCF1-CBCB-4C8F-87F0-643D1F09CD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5943" y="180235"/>
            <a:ext cx="7578725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  <a:cs typeface="Microsoft Himalaya" panose="01010100010101010101" pitchFamily="2" charset="0"/>
              </a:rPr>
              <a:t>2.7 </a:t>
            </a:r>
            <a:r>
              <a:rPr lang="zh-CN" altLang="en-US" dirty="0">
                <a:ea typeface="微软雅黑" panose="020B0503020204020204" pitchFamily="34" charset="-122"/>
                <a:cs typeface="Microsoft Himalaya" panose="01010100010101010101" pitchFamily="2" charset="0"/>
              </a:rPr>
              <a:t>操作系统的生成</a:t>
            </a:r>
            <a:endParaRPr lang="en-US" altLang="zh-CN" dirty="0">
              <a:ea typeface="微软雅黑" panose="020B0503020204020204" pitchFamily="34" charset="-122"/>
              <a:cs typeface="Microsoft Himalaya" panose="01010100010101010101" pitchFamily="2" charset="0"/>
            </a:endParaRP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31F1476-0545-45E5-8AAA-138A48455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5733" y="1163637"/>
            <a:ext cx="10884747" cy="45307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0" dirty="0">
                <a:ea typeface="微软雅黑" panose="020B0503020204020204" pitchFamily="34" charset="-122"/>
              </a:rPr>
              <a:t>操作系统通常被设计成能运行在任何一类计算机上，必须为每个特定的计算机配置对应的系统（</a:t>
            </a:r>
            <a:r>
              <a:rPr lang="zh-CN" altLang="en-US" dirty="0">
                <a:ea typeface="微软雅黑" panose="020B0503020204020204" pitchFamily="34" charset="-122"/>
              </a:rPr>
              <a:t>不同的</a:t>
            </a:r>
            <a:r>
              <a:rPr lang="en-US" altLang="zh-CN" dirty="0"/>
              <a:t>CPU, RAM, </a:t>
            </a:r>
            <a:r>
              <a:rPr lang="zh-CN" altLang="en-US" dirty="0"/>
              <a:t>设备</a:t>
            </a:r>
            <a:r>
              <a:rPr lang="zh-CN" altLang="en-US" b="0" dirty="0"/>
              <a:t>等</a:t>
            </a:r>
            <a:r>
              <a:rPr lang="zh-CN" altLang="en-US" b="0" dirty="0">
                <a:ea typeface="微软雅黑" panose="020B0503020204020204" pitchFamily="34" charset="-122"/>
              </a:rPr>
              <a:t>）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系统生成（</a:t>
            </a:r>
            <a:r>
              <a:rPr lang="en-US" altLang="zh-CN" b="1" dirty="0">
                <a:ea typeface="微软雅黑" panose="020B0503020204020204" pitchFamily="34" charset="-122"/>
              </a:rPr>
              <a:t>SYSGEN</a:t>
            </a:r>
            <a:r>
              <a:rPr lang="zh-CN" altLang="en-US" b="1" dirty="0"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ea typeface="微软雅黑" panose="020B0503020204020204" pitchFamily="34" charset="-122"/>
              </a:rPr>
              <a:t> </a:t>
            </a:r>
            <a:r>
              <a:rPr lang="zh-CN" altLang="en-US" dirty="0">
                <a:ea typeface="微软雅黑" panose="020B0503020204020204" pitchFamily="34" charset="-122"/>
              </a:rPr>
              <a:t>程序获取有关硬件系统的特定配置信息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用于构建系统特定的编译内核或</a:t>
            </a:r>
            <a:r>
              <a:rPr lang="zh-CN" altLang="en-US" dirty="0">
                <a:ea typeface="微软雅黑" panose="020B0503020204020204" pitchFamily="34" charset="-122"/>
                <a:cs typeface="MS PGothic" panose="020B0600070205080204" pitchFamily="34" charset="-128"/>
              </a:rPr>
              <a:t>系统优化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ea typeface="微软雅黑" panose="020B0503020204020204" pitchFamily="34" charset="-122"/>
                <a:cs typeface="MS PGothic" panose="020B0600070205080204" pitchFamily="34" charset="-128"/>
              </a:rPr>
              <a:t>当硬件发生改变时，操作系统重新生成配置，无需重新编译操作系统源码</a:t>
            </a:r>
            <a:endParaRPr lang="en-US" altLang="zh-CN" dirty="0">
              <a:ea typeface="微软雅黑" panose="020B0503020204020204" pitchFamily="34" charset="-122"/>
              <a:cs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E40F64DF-6339-4947-BD8A-C07CF88387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微软雅黑" panose="020B0503020204020204" pitchFamily="34" charset="-122"/>
              </a:rPr>
              <a:t>2.8 </a:t>
            </a:r>
            <a:r>
              <a:rPr lang="zh-CN" altLang="en-US" dirty="0">
                <a:ea typeface="微软雅黑" panose="020B0503020204020204" pitchFamily="34" charset="-122"/>
              </a:rPr>
              <a:t>系统引导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04C0BA06-EB05-4E10-B0C8-1CA11BF848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7013" y="1154114"/>
            <a:ext cx="10654453" cy="528055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在系统上初始化电源时，从固定的内存位置开始执行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固件</a:t>
            </a:r>
            <a:r>
              <a:rPr lang="en-US" altLang="zh-CN" dirty="0">
                <a:ea typeface="微软雅黑" panose="020B0503020204020204" pitchFamily="34" charset="-122"/>
              </a:rPr>
              <a:t>ROM</a:t>
            </a:r>
            <a:r>
              <a:rPr lang="zh-CN" altLang="en-US" dirty="0">
                <a:ea typeface="微软雅黑" panose="020B0503020204020204" pitchFamily="34" charset="-122"/>
              </a:rPr>
              <a:t>（</a:t>
            </a:r>
            <a:r>
              <a:rPr lang="en-US" altLang="zh-CN" dirty="0"/>
              <a:t> Firmware ROM </a:t>
            </a:r>
            <a:r>
              <a:rPr lang="zh-CN" altLang="en-US" dirty="0">
                <a:ea typeface="微软雅黑" panose="020B0503020204020204" pitchFamily="34" charset="-122"/>
              </a:rPr>
              <a:t>）用于保存初始引导程序</a:t>
            </a:r>
            <a:endParaRPr lang="en-US" altLang="zh-CN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操作系统应对硬件可用，这样硬件才能启动它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一小段代码</a:t>
            </a:r>
            <a:r>
              <a:rPr lang="en-US" altLang="zh-CN" dirty="0"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ea typeface="微软雅黑" panose="020B0503020204020204" pitchFamily="34" charset="-122"/>
              </a:rPr>
              <a:t>存储在</a:t>
            </a:r>
            <a:r>
              <a:rPr lang="en-US" altLang="zh-CN" b="1" dirty="0">
                <a:ea typeface="微软雅黑" panose="020B0503020204020204" pitchFamily="34" charset="-122"/>
              </a:rPr>
              <a:t>ROM</a:t>
            </a:r>
            <a:r>
              <a:rPr lang="zh-CN" altLang="en-US" dirty="0">
                <a:ea typeface="微软雅黑" panose="020B0503020204020204" pitchFamily="34" charset="-122"/>
              </a:rPr>
              <a:t>或</a:t>
            </a:r>
            <a:r>
              <a:rPr lang="en-US" altLang="zh-CN" b="1" dirty="0">
                <a:ea typeface="微软雅黑" panose="020B0503020204020204" pitchFamily="34" charset="-122"/>
              </a:rPr>
              <a:t>EEPROM</a:t>
            </a:r>
            <a:r>
              <a:rPr lang="zh-CN" altLang="en-US" dirty="0">
                <a:ea typeface="微软雅黑" panose="020B0503020204020204" pitchFamily="34" charset="-122"/>
              </a:rPr>
              <a:t>中的</a:t>
            </a:r>
            <a:r>
              <a:rPr lang="zh-CN" altLang="en-US" b="1" dirty="0">
                <a:ea typeface="微软雅黑" panose="020B0503020204020204" pitchFamily="34" charset="-122"/>
              </a:rPr>
              <a:t>引导加载程序</a:t>
            </a:r>
            <a:r>
              <a:rPr lang="zh-CN" altLang="en-US" dirty="0">
                <a:ea typeface="微软雅黑" panose="020B0503020204020204" pitchFamily="34" charset="-122"/>
              </a:rPr>
              <a:t>定位内核，将其加载到内存中，然后执行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有时是</a:t>
            </a:r>
            <a:r>
              <a:rPr lang="zh-CN" altLang="en-US" b="1" dirty="0">
                <a:ea typeface="微软雅黑" panose="020B0503020204020204" pitchFamily="34" charset="-122"/>
              </a:rPr>
              <a:t>两步过程</a:t>
            </a:r>
            <a:r>
              <a:rPr lang="zh-CN" altLang="en-US" dirty="0">
                <a:ea typeface="微软雅黑" panose="020B0503020204020204" pitchFamily="34" charset="-122"/>
              </a:rPr>
              <a:t>，其中固定位置的</a:t>
            </a:r>
            <a:r>
              <a:rPr lang="zh-CN" altLang="en-US" b="1" dirty="0">
                <a:ea typeface="微软雅黑" panose="020B0503020204020204" pitchFamily="34" charset="-122"/>
              </a:rPr>
              <a:t>引导块</a:t>
            </a:r>
            <a:r>
              <a:rPr lang="zh-CN" altLang="en-US" dirty="0">
                <a:ea typeface="微软雅黑" panose="020B0503020204020204" pitchFamily="34" charset="-122"/>
              </a:rPr>
              <a:t>由 </a:t>
            </a:r>
            <a:r>
              <a:rPr lang="en-US" altLang="zh-CN" dirty="0">
                <a:ea typeface="微软雅黑" panose="020B0503020204020204" pitchFamily="34" charset="-122"/>
              </a:rPr>
              <a:t>ROM </a:t>
            </a:r>
            <a:r>
              <a:rPr lang="zh-CN" altLang="en-US" dirty="0">
                <a:ea typeface="微软雅黑" panose="020B0503020204020204" pitchFamily="34" charset="-122"/>
              </a:rPr>
              <a:t>代码加载，从磁盘加载引导加载程序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通用引导加载程序</a:t>
            </a:r>
            <a:r>
              <a:rPr lang="en-US" altLang="zh-CN" b="1" dirty="0">
                <a:ea typeface="微软雅黑" panose="020B0503020204020204" pitchFamily="34" charset="-122"/>
              </a:rPr>
              <a:t>GRUB</a:t>
            </a:r>
            <a:r>
              <a:rPr lang="zh-CN" altLang="en-US" dirty="0">
                <a:ea typeface="微软雅黑" panose="020B0503020204020204" pitchFamily="34" charset="-122"/>
              </a:rPr>
              <a:t>允许从多个磁盘、版本和内核选项中选择内核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内核加载，然后系统</a:t>
            </a:r>
            <a:r>
              <a:rPr lang="zh-CN" altLang="en-US" b="1" dirty="0">
                <a:ea typeface="微软雅黑" panose="020B0503020204020204" pitchFamily="34" charset="-122"/>
              </a:rPr>
              <a:t>运行</a:t>
            </a:r>
            <a:endParaRPr lang="en-US" altLang="zh-CN" b="1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5641" y="1226716"/>
            <a:ext cx="10972800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网上学习理解“程序执行中的函数调用过程”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网上学习了解“</a:t>
            </a:r>
            <a:r>
              <a:rPr lang="en-US" altLang="zh-CN" dirty="0"/>
              <a:t>Linux</a:t>
            </a:r>
            <a:r>
              <a:rPr lang="zh-CN" altLang="en-US" dirty="0"/>
              <a:t>启动过程”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2.1~2.8, 2.9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2.12, 2.13, 2.15~2.19, 2.21, 2.22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48313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3EBF76E6-E7F2-4265-B94D-0230444050D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微软雅黑" panose="020B0503020204020204" pitchFamily="34" charset="-122"/>
              </a:rPr>
              <a:t>第二章结束</a:t>
            </a:r>
            <a:endParaRPr lang="en-US" altLang="zh-CN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3203</TotalTime>
  <Words>3078</Words>
  <Application>Microsoft Office PowerPoint</Application>
  <PresentationFormat>宽屏</PresentationFormat>
  <Paragraphs>429</Paragraphs>
  <Slides>46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5" baseType="lpstr">
      <vt:lpstr>Monotype Sorts</vt:lpstr>
      <vt:lpstr>等线</vt:lpstr>
      <vt:lpstr>微软雅黑</vt:lpstr>
      <vt:lpstr>Arial</vt:lpstr>
      <vt:lpstr>Helvetica</vt:lpstr>
      <vt:lpstr>Times New Roman</vt:lpstr>
      <vt:lpstr>Verdana</vt:lpstr>
      <vt:lpstr>Wingdings</vt:lpstr>
      <vt:lpstr>os-8</vt:lpstr>
      <vt:lpstr>第二章 操作系统结构</vt:lpstr>
      <vt:lpstr>第二章  操作系统结构</vt:lpstr>
      <vt:lpstr>2.1 操作系统服务</vt:lpstr>
      <vt:lpstr>操作系统的服务</vt:lpstr>
      <vt:lpstr>操作系统的服务</vt:lpstr>
      <vt:lpstr>操作系统的服务</vt:lpstr>
      <vt:lpstr>用户与操作系统界面——CLI</vt:lpstr>
      <vt:lpstr>Shell 脚本程序举例</vt:lpstr>
      <vt:lpstr>图形用户界面——GUI</vt:lpstr>
      <vt:lpstr>触摸屏</vt:lpstr>
      <vt:lpstr>Mac OS X 图形用户界面</vt:lpstr>
      <vt:lpstr>2.2 系统调用</vt:lpstr>
      <vt:lpstr>使用系统调用的例子</vt:lpstr>
      <vt:lpstr>标准API的例子</vt:lpstr>
      <vt:lpstr>系统调用的实现</vt:lpstr>
      <vt:lpstr>API—系统调用—操作系统关系</vt:lpstr>
      <vt:lpstr>系统调用参数传递</vt:lpstr>
      <vt:lpstr>通过表来传递参数</vt:lpstr>
      <vt:lpstr>系统调用的类型</vt:lpstr>
      <vt:lpstr>系统调用的类型</vt:lpstr>
      <vt:lpstr>系统调用的类型</vt:lpstr>
      <vt:lpstr>系统调用的示例</vt:lpstr>
      <vt:lpstr>2.3 系统程序</vt:lpstr>
      <vt:lpstr>PowerPoint 演示文稿</vt:lpstr>
      <vt:lpstr>PowerPoint 演示文稿</vt:lpstr>
      <vt:lpstr>PowerPoint 演示文稿</vt:lpstr>
      <vt:lpstr>2.4 操作系统的设计与实现</vt:lpstr>
      <vt:lpstr>操作系统的设计与实现</vt:lpstr>
      <vt:lpstr>实现</vt:lpstr>
      <vt:lpstr>2.5 操作系统的结构</vt:lpstr>
      <vt:lpstr>简易结构(Simple)——MS-DOS</vt:lpstr>
      <vt:lpstr>非简易结构——UNIX</vt:lpstr>
      <vt:lpstr>层次结构（ Layered Approach ）</vt:lpstr>
      <vt:lpstr>微内核系统结构（ Microkernels ）</vt:lpstr>
      <vt:lpstr>模块化架构（ Modules ）</vt:lpstr>
      <vt:lpstr>混合系统</vt:lpstr>
      <vt:lpstr>Mac OS X 结构</vt:lpstr>
      <vt:lpstr>iOS</vt:lpstr>
      <vt:lpstr>Android</vt:lpstr>
      <vt:lpstr>2.6 操作系统的调试</vt:lpstr>
      <vt:lpstr>性能优化</vt:lpstr>
      <vt:lpstr>Dtrace*</vt:lpstr>
      <vt:lpstr>2.7 操作系统的生成</vt:lpstr>
      <vt:lpstr>2.8 系统引导</vt:lpstr>
      <vt:lpstr>Exercises</vt:lpstr>
      <vt:lpstr>第二章结束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Operating-System Structures</dc:title>
  <dc:creator>surd</dc:creator>
  <cp:lastModifiedBy>祥宇</cp:lastModifiedBy>
  <cp:revision>148</cp:revision>
  <dcterms:created xsi:type="dcterms:W3CDTF">2017-09-07T08:55:48Z</dcterms:created>
  <dcterms:modified xsi:type="dcterms:W3CDTF">2026-03-05T10:12:34Z</dcterms:modified>
</cp:coreProperties>
</file>