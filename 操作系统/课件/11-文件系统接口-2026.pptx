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5"/>
  </p:notesMasterIdLst>
  <p:handoutMasterIdLst>
    <p:handoutMasterId r:id="rId46"/>
  </p:handoutMasterIdLst>
  <p:sldIdLst>
    <p:sldId id="299" r:id="rId2"/>
    <p:sldId id="257" r:id="rId3"/>
    <p:sldId id="259" r:id="rId4"/>
    <p:sldId id="261" r:id="rId5"/>
    <p:sldId id="316" r:id="rId6"/>
    <p:sldId id="262" r:id="rId7"/>
    <p:sldId id="263" r:id="rId8"/>
    <p:sldId id="264" r:id="rId9"/>
    <p:sldId id="265" r:id="rId10"/>
    <p:sldId id="266" r:id="rId11"/>
    <p:sldId id="267" r:id="rId12"/>
    <p:sldId id="260" r:id="rId13"/>
    <p:sldId id="268" r:id="rId14"/>
    <p:sldId id="269" r:id="rId15"/>
    <p:sldId id="270" r:id="rId16"/>
    <p:sldId id="317" r:id="rId17"/>
    <p:sldId id="271" r:id="rId18"/>
    <p:sldId id="272" r:id="rId19"/>
    <p:sldId id="315" r:id="rId20"/>
    <p:sldId id="273" r:id="rId21"/>
    <p:sldId id="318" r:id="rId22"/>
    <p:sldId id="275" r:id="rId23"/>
    <p:sldId id="276" r:id="rId24"/>
    <p:sldId id="277" r:id="rId25"/>
    <p:sldId id="278" r:id="rId26"/>
    <p:sldId id="279" r:id="rId27"/>
    <p:sldId id="281" r:id="rId28"/>
    <p:sldId id="282" r:id="rId29"/>
    <p:sldId id="283" r:id="rId30"/>
    <p:sldId id="284" r:id="rId31"/>
    <p:sldId id="285" r:id="rId32"/>
    <p:sldId id="286" r:id="rId33"/>
    <p:sldId id="288" r:id="rId34"/>
    <p:sldId id="289" r:id="rId35"/>
    <p:sldId id="291" r:id="rId36"/>
    <p:sldId id="292" r:id="rId37"/>
    <p:sldId id="293" r:id="rId38"/>
    <p:sldId id="294" r:id="rId39"/>
    <p:sldId id="295" r:id="rId40"/>
    <p:sldId id="297" r:id="rId41"/>
    <p:sldId id="298" r:id="rId42"/>
    <p:sldId id="320" r:id="rId43"/>
    <p:sldId id="314" r:id="rId44"/>
  </p:sldIdLst>
  <p:sldSz cx="12192000" cy="6858000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8">
          <p15:clr>
            <a:srgbClr val="A4A3A4"/>
          </p15:clr>
        </p15:guide>
        <p15:guide id="2" pos="67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408" y="72"/>
      </p:cViewPr>
      <p:guideLst>
        <p:guide orient="horz" pos="788"/>
        <p:guide pos="6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E96D8E14-F7C0-25F0-8E64-77712CE6743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756776FF-E75B-2C35-7813-46AF1F7796E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9204" name="Rectangle 4">
            <a:extLst>
              <a:ext uri="{FF2B5EF4-FFF2-40B4-BE49-F238E27FC236}">
                <a16:creationId xmlns:a16="http://schemas.microsoft.com/office/drawing/2014/main" id="{BA195F55-7D27-1F7B-1367-10AAF41F750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9205" name="Rectangle 5">
            <a:extLst>
              <a:ext uri="{FF2B5EF4-FFF2-40B4-BE49-F238E27FC236}">
                <a16:creationId xmlns:a16="http://schemas.microsoft.com/office/drawing/2014/main" id="{E7C0F5C6-BB78-4971-2CCA-71359EC61E0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263FEBC-ECFE-4D0E-AB22-624BD09241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45D682F1-2DFB-C94A-B4EF-555022FA382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29012111-47E3-F80A-F7D3-EF6DB6605B7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5A1E3BE-43A5-34DE-8BC1-015568FCF33B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404813" y="695325"/>
            <a:ext cx="6188075" cy="3481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3" name="Rectangle 5">
            <a:extLst>
              <a:ext uri="{FF2B5EF4-FFF2-40B4-BE49-F238E27FC236}">
                <a16:creationId xmlns:a16="http://schemas.microsoft.com/office/drawing/2014/main" id="{07A7A315-C420-92DD-A087-538BB602F4C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0075"/>
            <a:ext cx="5599112" cy="417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5174" name="Rectangle 6">
            <a:extLst>
              <a:ext uri="{FF2B5EF4-FFF2-40B4-BE49-F238E27FC236}">
                <a16:creationId xmlns:a16="http://schemas.microsoft.com/office/drawing/2014/main" id="{97CDDD27-D2A2-C23A-85BB-4AFA16EC922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175" name="Rectangle 7">
            <a:extLst>
              <a:ext uri="{FF2B5EF4-FFF2-40B4-BE49-F238E27FC236}">
                <a16:creationId xmlns:a16="http://schemas.microsoft.com/office/drawing/2014/main" id="{37D80707-6465-6D11-C26F-C40358FE82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25F156E-E3D1-4E74-921F-3C2309FE6E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AE25B172-74D8-B7B3-9654-B618D3CCC3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301BD15-A8B9-405D-AC33-DBB96A65F585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99787514-9C63-323C-5959-39E69529127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62B07A-CA0F-75DE-C2D8-605FD1317C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AC52098C-563C-17FF-D7CB-DDFEA4C5CC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7810822-2C9A-4430-AF36-251F05382505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F7042393-E10D-D30A-4D6A-0AD5939F76D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D315CF9B-E2FA-697A-06F3-86E3F01EE1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BE152D41-D826-D664-D17F-E236C1A6C4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6D427EE-7F2F-4E3C-8A9F-9B8BA992ECFC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20941D50-E86C-D876-2181-6E3C88C3175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934FDD1-AC37-1920-00AB-18344B2AE7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74D2D204-FB76-9952-28AE-6E17CF1523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E34887D-7501-4389-AFD3-1B089C81EA62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12A2A4B7-2C33-8582-505F-175241E92C1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47B185F5-A6CD-1CCC-BAEB-013AF994CE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FC343EB2-2808-3367-4180-E4380EDCF8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D81715F-A746-42FE-B5CD-81703FE01798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FFFDDF7F-550A-B6FD-A925-447F3B3DF98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FD96C45D-BEA9-421A-C080-304A483143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173829F0-0916-7D9D-88E1-1AD98F5F8B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470640C-D7B6-49B3-99EA-2488D69352C0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A9763BE-3CB3-A728-AAB1-EC15163EACB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D637E29D-D19B-BF23-8CCC-F24CCD92EB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6B6C1F2C-4768-5394-6A43-686ADD6C92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8741378-4232-4958-9A2B-FE4398925C0B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71667783-2865-340E-DA72-F09F0325298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D8F6B8AC-8D6F-961B-2C29-BDC5425DA1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2F034E5E-81CD-4C15-32B3-364DD6A1EF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1F8056D-E423-4C34-9976-729C95B15DCE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B62BCCFA-A89E-28EB-EFAD-1E3C0728754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350CAF08-EAB2-9841-E1B9-495C9EA39A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D8715118-F983-6312-A69E-B0CA2C7275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B9867A0-82DB-4E6D-90D0-894FC28BF8B8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F27D808F-CB79-0300-EC6E-BACBA738822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A48CC250-213B-2138-3FDB-C75471AD2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B77B7937-2EBE-0E41-BEFE-E96AA1EC25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1CBEF7-A0D7-48E5-A285-C5786458B229}" type="slidenum">
              <a:rPr lang="en-US" altLang="en-US" smtClean="0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B2A785EC-1725-377F-5EBF-DFB6E367374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A0C60BE4-038B-1C7B-EAEE-B5A533008C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BEE24EE1-1CD4-6A27-5695-516983B1C7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5C6ABEF-1D49-4B48-BC13-57444B7786C4}" type="slidenum">
              <a:rPr lang="en-US" altLang="en-US" smtClean="0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CC0B7E7D-9C31-6B2D-4CF7-AD99559EDAC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407EB212-A129-4BD8-A54D-7C118079C8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55FE354A-217C-285B-28D2-6563984069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1A60B6D-E729-4CDB-918B-1A8AF45BEFD2}" type="slidenum">
              <a:rPr lang="en-US" altLang="en-US" smtClean="0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C4E8B4-104B-64B2-3437-AE3E12C5E88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107DFD85-0E0D-17E9-C18D-90C01509A0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398F44DE-6135-5097-400D-1851D45CD4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04F2536-F8F8-4BEA-8458-E5A20A6B8C90}" type="slidenum">
              <a:rPr lang="en-US" altLang="en-US" smtClean="0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899E1DCA-6320-ACE6-8304-101131CD929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2A3C42CF-4DAF-1912-45C0-58FC842E10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036D64F3-94F7-21B7-CB9F-39A231D721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47DCD28-D50F-4299-80C6-0E72FA8023C1}" type="slidenum">
              <a:rPr lang="en-US" altLang="en-US" smtClean="0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CDFACA25-DC01-7A49-90A0-5251EFC81FD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AD6EABBB-A4D4-AF74-1F5C-C95B16171B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D1002F3B-09A2-D3DA-B2C7-FC9737440E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92CE69F-50D5-441F-B8AF-04C176F4B3D3}" type="slidenum">
              <a:rPr lang="en-US" altLang="en-US" smtClean="0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0B0468E3-BA9C-087B-7D63-56C06E0EA38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BDFF1B0A-B836-CD6D-686F-E9653F5D46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A28F928A-4CCC-8951-DD06-A4FE058BF3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E89A2E3-C93A-4840-B235-B56B559623D8}" type="slidenum">
              <a:rPr lang="en-US" altLang="en-US" smtClean="0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7277032E-463F-841A-82CF-B9A02B362DB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B05F7175-A921-B443-64CA-179490F8FD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D7EA1572-6E95-7651-7358-AC30EB3ABF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DF40429-45BF-4EB0-BE5A-1E106A384CE2}" type="slidenum">
              <a:rPr lang="en-US" altLang="en-US" smtClean="0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0A62C811-CED7-52EB-8177-4B90D916D6B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8D587075-5A32-06FC-7485-0A298F222D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0B3A1D5E-CF78-CF2E-B217-EEAC0C826A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A71FD1-D415-4BC7-B0A6-5DF305A75476}" type="slidenum">
              <a:rPr lang="en-US" altLang="en-US" smtClean="0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D786065-5B00-4970-48B6-E29FB4A9C57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D120506A-0ADA-C919-E6B5-36F0BAFBA0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9E28944E-D595-4049-832D-7D14A97126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2BEE0D0-B565-437F-BA07-59986CF8715D}" type="slidenum">
              <a:rPr lang="en-US" altLang="en-US" smtClean="0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4B9D8A29-AEAB-C136-C5C4-E1C11A5D50D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63DC0AD5-F690-2A51-A1E0-E2994F52F3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D4AA6EA4-5F1A-807F-DF77-4D4F2E01DC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056700-9C2C-4E68-8987-4C78C781B348}" type="slidenum">
              <a:rPr lang="en-US" altLang="en-US" smtClean="0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C20AC86A-6BE4-2011-49C2-39AFF9DC3FE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DB079753-C6D1-457F-ACF5-BE3DBBA6CC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0A3231CD-3D9F-052A-AB16-ACDA5DF87E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E995336-15A4-4079-9378-8C3AE1B8DA47}" type="slidenum">
              <a:rPr lang="en-US" altLang="en-US" smtClean="0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150086FB-F3D5-6456-8A05-CA53729CD85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979B8B49-B55F-E07E-B47D-747AB97E90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8140B232-EA5D-D0FC-7F9F-979482F753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9DAAFB9-EB0D-400B-8110-2C56C3FC2D47}" type="slidenum">
              <a:rPr lang="en-US" altLang="en-US" smtClean="0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3918ECF7-0E92-C55D-BDEF-F0208ADC602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8EB7B788-FC7B-C73B-9575-D8932A64FB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88AC762A-3CE6-F742-905E-CEB21093A8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628B892-913A-4B58-BB59-83F2D3249350}" type="slidenum">
              <a:rPr lang="en-US" altLang="en-US" smtClean="0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30BAF80C-F984-7650-4161-48ABF9174BC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DA2704B0-B2DF-23A8-4BFA-E78AC5F8A4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60EDAED3-7F41-AD6B-12C3-C2FBF9BA1F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98B6AE1-D980-4599-A0C8-381C4D6DE2C9}" type="slidenum">
              <a:rPr lang="en-US" altLang="en-US" smtClean="0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377A5227-D738-42D2-94AE-7EB46718463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AF3BBB11-4193-3B0A-D0E8-1E70DA5F8C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10749F8B-A06E-7C0B-41F0-AA49D050C1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6D75A10-3340-4511-B187-2D145BE20DFC}" type="slidenum">
              <a:rPr lang="en-US" altLang="en-US" smtClean="0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25013788-4F29-6872-FE19-87983803E78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3A3F6D4C-873E-4858-A703-C7E0DEC189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D963D444-C1C9-4E7C-998D-98548BCB3F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C1FC479-4730-4D85-833D-3EF90329DED7}" type="slidenum">
              <a:rPr lang="en-US" altLang="en-US" smtClean="0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EC26A660-E7EC-B973-B09B-314639B4CAF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93A1C6B2-B8CF-67FF-7E10-DBD6AEE0B6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B6BE9956-044C-B7B8-C80F-7D6150D88E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BA79350-E45F-4C07-874C-E9334062EC89}" type="slidenum">
              <a:rPr lang="en-US" altLang="en-US" smtClean="0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B3D5DF62-EF6E-82DC-D275-5701AB2E30A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5F116077-4D77-F105-D9AE-8E41A48EDB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7FA0B1EB-C391-D0A2-2056-0CD2134A6F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308CDF4-8CA3-4207-A40F-86DF29CA5416}" type="slidenum">
              <a:rPr lang="en-US" altLang="en-US" smtClean="0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5F13F12F-5BE5-E4BE-81CC-3D77A8EAD04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ABBA01CC-6EF7-3195-3183-909F4049C5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798CD3B0-26D3-6E2E-005A-BE3EC3169E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E2899D-5465-4F86-81A6-0CF89DA0F178}" type="slidenum">
              <a:rPr lang="en-US" altLang="en-US" smtClean="0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EE932F3B-9883-652A-24F0-FA617F0C033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36E5272B-83B9-8060-648C-A884250740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C844C863-8A99-B363-AE35-3815FC9CAE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9F9B958-AAE0-4719-87B9-B00A4C83D96D}" type="slidenum">
              <a:rPr lang="en-US" altLang="en-US" smtClean="0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7E968597-4A16-DA0A-31C1-DCDCD66D411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8D2E56DE-35A8-A466-D93C-FFCDA89559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CA083A7E-026E-9D48-9CCA-36908D31F9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D799FF-C0D8-4CC9-91E2-1093EA60A560}" type="slidenum">
              <a:rPr lang="en-US" altLang="en-US" smtClean="0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D4E84A7E-96EE-F71F-16DA-F1DE6492962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43FFBD43-FFC4-FF3B-CBDE-9C35508D9D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3BABD29E-9627-B031-1A01-B5A7FFC111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2680C6-3283-4680-8A37-12C92A15CFC4}" type="slidenum">
              <a:rPr lang="en-US" altLang="en-US" smtClean="0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89CA120C-62B4-3FFE-8D67-A4AB5701D7A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28C1C078-6BFE-0604-C061-F654AE0CD0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CCACF24E-C345-2826-6DF9-97B0C2891F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60AE2BA-64EE-4133-B207-F8945CBBFDA0}" type="slidenum">
              <a:rPr lang="en-US" altLang="en-US" smtClean="0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665FCD7E-3C51-9F02-0221-AFC290075D5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1CE47EC3-9281-77A8-6552-912FBA10D0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3605271F-F368-CD78-9637-7001CD8C69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30A866-A68D-4EE2-B66B-AC423A01B392}" type="slidenum">
              <a:rPr lang="en-US" altLang="en-US" smtClean="0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E9C0081C-6084-1FB4-7976-8162FF9066A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8A317BDC-7351-194C-24B6-DDFCB78638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8ABEC761-6908-1CCA-8617-5B949A48C0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1342EB-3AE9-4019-BFF1-58A792FE5510}" type="slidenum">
              <a:rPr lang="en-US" altLang="en-US" smtClean="0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0472F5B3-25B3-163C-4A50-192FB4809E3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75ED665D-90EB-8233-00D5-16C74160BE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EB055612-85B4-CBA6-601F-A774B8B732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0280492-AD6E-4865-979D-13A41DEDECD7}" type="slidenum">
              <a:rPr lang="en-US" altLang="en-US" smtClean="0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D71FC726-5872-C209-733E-C5FEF5A97E4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99F8BDA3-5C1F-151E-DC6B-CFF96B9970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E476D07C-1C83-CB59-3D91-66E0318B61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2065F5D-A3C8-4B55-8B0E-9ECF4592AF4D}" type="slidenum">
              <a:rPr lang="en-US" altLang="en-US" smtClean="0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387D497C-D10F-6BFD-EDFC-D6944CB6A35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2DC7597C-01AD-3890-56D1-243F73A823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D5CEFCCE-4BD7-DC0D-67E1-8B41445263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5A7DB7B-E014-4A77-B9CA-C5E3DE1DEE73}" type="slidenum">
              <a:rPr lang="en-US" altLang="en-US" smtClean="0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F261B396-03FD-7F88-F726-A03978F774F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3B6D5DEE-DD16-E3BF-DD68-5601B6503B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632A78F1-EB96-3673-B650-C9FD8872C0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AF4C407-BB90-4C81-AE11-A64D143727D8}" type="slidenum">
              <a:rPr lang="en-US" altLang="en-US" smtClean="0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002065D1-81C1-08A0-0323-E8872F9EB42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CC2F8167-17E1-FF2D-8EA4-A0607824BF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C4CE4401-2CE0-FCD1-D261-210B46A6ED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487903-6F68-4C77-BB27-7CA197D419F7}" type="slidenum">
              <a:rPr lang="en-US" altLang="en-US" smtClean="0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9D86E4FD-600B-1FD4-EB57-1906238CB23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91AF4482-6A09-0E6E-1B98-A59C2BAE90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65946CF2-615A-BE01-B4F3-6BD1926A73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782E49-5FEF-4AFF-9AF2-585B7EF8FFB1}" type="slidenum">
              <a:rPr lang="en-US" altLang="en-US" smtClean="0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CCFBD7A2-2AF5-399A-82D6-19E003494A0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D53A99FB-8EE1-C351-BBEF-28C9F34D14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44800D62-F93D-8BF3-E21D-F8A2538397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B94A29-673C-415C-8BC6-3046F03349D5}" type="slidenum">
              <a:rPr lang="en-US" altLang="en-US" smtClean="0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926930EA-C1E7-76EC-F910-657A7940348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55139863-859D-8EF9-F5D1-93C3A1009F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5EB2990E-D6D9-CB2D-6857-7402905649EE}"/>
              </a:ext>
            </a:extLst>
          </p:cNvPr>
          <p:cNvGrpSpPr>
            <a:grpSpLocks/>
          </p:cNvGrpSpPr>
          <p:nvPr/>
        </p:nvGrpSpPr>
        <p:grpSpPr bwMode="auto">
          <a:xfrm>
            <a:off x="265113" y="2960688"/>
            <a:ext cx="11480800" cy="201612"/>
            <a:chOff x="125" y="1865"/>
            <a:chExt cx="5424" cy="127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421891F8-396D-36E0-8FF1-D5D6DFA97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>
                <a:defRPr/>
              </a:pPr>
              <a:endParaRPr lang="en-US" altLang="en-US" sz="1800"/>
            </a:p>
          </p:txBody>
        </p:sp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8EBA6EBD-C620-FAAF-90E2-7F45804C4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>
                <a:defRPr/>
              </a:pPr>
              <a:endParaRPr lang="en-US" altLang="en-US" sz="1800"/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B448ABF3-3A71-8BFA-2EF5-41255102D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>
                <a:defRPr/>
              </a:pPr>
              <a:endParaRPr lang="en-US" altLang="en-US" sz="1800"/>
            </a:p>
          </p:txBody>
        </p:sp>
      </p:grpSp>
      <p:pic>
        <p:nvPicPr>
          <p:cNvPr id="6" name="Picture 9" descr="dino_4">
            <a:extLst>
              <a:ext uri="{FF2B5EF4-FFF2-40B4-BE49-F238E27FC236}">
                <a16:creationId xmlns:a16="http://schemas.microsoft.com/office/drawing/2014/main" id="{9669BDC2-E430-1D3F-7608-07D8CED5B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513" y="4157663"/>
            <a:ext cx="2749550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0">
            <a:extLst>
              <a:ext uri="{FF2B5EF4-FFF2-40B4-BE49-F238E27FC236}">
                <a16:creationId xmlns:a16="http://schemas.microsoft.com/office/drawing/2014/main" id="{C805F03B-D670-18D7-C1E3-23C2C2B82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0" y="4016375"/>
            <a:ext cx="3116263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1764908B-C8FD-647F-88F4-E33734D4DA4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9213" y="6613525"/>
            <a:ext cx="3084512" cy="246063"/>
          </a:xfrm>
          <a:prstGeom prst="rect">
            <a:avLst/>
          </a:prstGeom>
          <a:noFill/>
          <a:ln>
            <a:noFill/>
          </a:ln>
        </p:spPr>
        <p:txBody>
          <a:bodyPr wrap="none"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sz="1000" b="1">
                <a:solidFill>
                  <a:srgbClr val="336699"/>
                </a:solidFill>
              </a:rPr>
              <a:t>Operating System Concepts – 9</a:t>
            </a:r>
            <a:r>
              <a:rPr lang="en-US" altLang="zh-CN" sz="1000" b="1" baseline="30000">
                <a:solidFill>
                  <a:srgbClr val="336699"/>
                </a:solidFill>
              </a:rPr>
              <a:t>th</a:t>
            </a:r>
            <a:r>
              <a:rPr lang="en-US" altLang="zh-CN" sz="1000" b="1">
                <a:solidFill>
                  <a:srgbClr val="336699"/>
                </a:solidFill>
              </a:rPr>
              <a:t> Edition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5C0B4086-5803-EDA2-AFCB-42ED84F2B8D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367588" y="6611938"/>
            <a:ext cx="4824412" cy="246062"/>
          </a:xfrm>
          <a:prstGeom prst="rect">
            <a:avLst/>
          </a:prstGeom>
          <a:noFill/>
          <a:ln>
            <a:noFill/>
          </a:ln>
        </p:spPr>
        <p:txBody>
          <a:bodyPr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zh-CN" sz="1000" b="1" dirty="0" err="1">
                <a:solidFill>
                  <a:srgbClr val="336699"/>
                </a:solidFill>
                <a:latin typeface="Helvetica" panose="020B0604020202020204" pitchFamily="34" charset="0"/>
              </a:rPr>
              <a:t>Xidian</a:t>
            </a:r>
            <a:r>
              <a:rPr lang="en-US" altLang="zh-CN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 University, Cyber Engineering, </a:t>
            </a:r>
            <a:r>
              <a:rPr lang="en-US" altLang="zh-CN" sz="1000" b="1" dirty="0" err="1">
                <a:solidFill>
                  <a:srgbClr val="336699"/>
                </a:solidFill>
                <a:latin typeface="Helvetica" panose="020B0604020202020204" pitchFamily="34" charset="0"/>
              </a:rPr>
              <a:t>Xiangyu</a:t>
            </a:r>
            <a:r>
              <a:rPr lang="en-US" altLang="zh-CN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 Wang© 2026</a:t>
            </a:r>
          </a:p>
        </p:txBody>
      </p:sp>
      <p:sp>
        <p:nvSpPr>
          <p:cNvPr id="133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814896"/>
            <a:ext cx="103632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6203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3083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1912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5267" y="1233489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3267" y="1233489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5223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7320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69773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37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3835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510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451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88451" y="277813"/>
            <a:ext cx="285961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375651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3758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FF871DD9-E84D-33DD-C55A-7C1BA756B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59385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505C14B3-0225-3BE3-F65C-BC4074E2CD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3"/>
            <a:ext cx="109728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000A592-4229-A193-32E9-B1878F6F3D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4738" y="1233488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3F77BA3-4CE6-DDCB-A8AE-46C01E61A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 algn="ctr" eaLnBrk="1" hangingPunct="1">
              <a:defRPr/>
            </a:pPr>
            <a:endParaRPr lang="en-US" altLang="en-US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049CE489-CE24-A36C-99DE-EC6D1B4843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860425"/>
            <a:ext cx="107696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95890396-EDBC-E96C-0C29-218EB38DC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3048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 algn="ctr" eaLnBrk="1" hangingPunct="1">
              <a:defRPr/>
            </a:pPr>
            <a:endParaRPr lang="en-US" altLang="en-US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B382C73B-B603-A72C-9395-1A0D08487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 algn="ctr" eaLnBrk="1" hangingPunct="1">
              <a:defRPr/>
            </a:pPr>
            <a:endParaRPr lang="en-US" altLang="en-US">
              <a:latin typeface="Times New Roman" pitchFamily="18" charset="0"/>
            </a:endParaRPr>
          </a:p>
        </p:txBody>
      </p:sp>
      <p:pic>
        <p:nvPicPr>
          <p:cNvPr id="1033" name="Picture 12" descr="dino_6">
            <a:extLst>
              <a:ext uri="{FF2B5EF4-FFF2-40B4-BE49-F238E27FC236}">
                <a16:creationId xmlns:a16="http://schemas.microsoft.com/office/drawing/2014/main" id="{A1F5C4B6-5A17-290E-C785-59C41D03F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788" y="5849938"/>
            <a:ext cx="1712912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08" r:id="rId1"/>
    <p:sldLayoutId id="2147484098" r:id="rId2"/>
    <p:sldLayoutId id="2147484099" r:id="rId3"/>
    <p:sldLayoutId id="2147484100" r:id="rId4"/>
    <p:sldLayoutId id="2147484101" r:id="rId5"/>
    <p:sldLayoutId id="2147484102" r:id="rId6"/>
    <p:sldLayoutId id="2147484103" r:id="rId7"/>
    <p:sldLayoutId id="2147484104" r:id="rId8"/>
    <p:sldLayoutId id="2147484105" r:id="rId9"/>
    <p:sldLayoutId id="2147484106" r:id="rId10"/>
    <p:sldLayoutId id="214748410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843EC0E-3B3C-B66F-1D35-54EF80B5B0D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814388"/>
            <a:ext cx="7772400" cy="2127250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文件系统接口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F9BFBCC-565F-E4E9-1533-297C2360F2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2375" y="193675"/>
            <a:ext cx="7929563" cy="576263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文件系统接口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2A24033-C8F9-30AB-1FDB-BA0A701B7C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8500" y="1179513"/>
            <a:ext cx="8113713" cy="3494087"/>
          </a:xfrm>
        </p:spPr>
        <p:txBody>
          <a:bodyPr/>
          <a:lstStyle/>
          <a:p>
            <a:pPr>
              <a:lnSpc>
                <a:spcPct val="250000"/>
              </a:lnSpc>
              <a:buFont typeface="Wingdings" panose="05000000000000000000" pitchFamily="2" charset="2"/>
              <a:buChar char="p"/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文件概念</a:t>
            </a:r>
            <a:endParaRPr lang="en-US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p"/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访问方法</a:t>
            </a:r>
            <a:endParaRPr lang="en-US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p"/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磁盘和目录结构</a:t>
            </a:r>
            <a:endParaRPr lang="en-US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p"/>
            </a:pPr>
            <a:endParaRPr lang="en-US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54E2E39-A809-8F0D-DA30-F0A6AB801A97}"/>
              </a:ext>
            </a:extLst>
          </p:cNvPr>
          <p:cNvSpPr/>
          <p:nvPr/>
        </p:nvSpPr>
        <p:spPr>
          <a:xfrm>
            <a:off x="6526213" y="1096963"/>
            <a:ext cx="4572000" cy="34401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250000"/>
              </a:lnSpc>
              <a:spcBef>
                <a:spcPct val="35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文件系统挂载</a:t>
            </a:r>
            <a:endParaRPr kumimoji="1" lang="en-US" altLang="en-US" sz="28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50000"/>
              </a:lnSpc>
              <a:spcBef>
                <a:spcPct val="35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文件共享</a:t>
            </a:r>
            <a:endParaRPr kumimoji="1" lang="en-US" altLang="en-US" sz="28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50000"/>
              </a:lnSpc>
              <a:spcBef>
                <a:spcPct val="35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保护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989DD16-75F8-5A22-C2DD-6B2F5D5CB1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9367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11.1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文件概念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95408F3-2985-6DD6-745C-9305B3DAE9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1663" y="1014413"/>
            <a:ext cx="8053387" cy="514985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连续逻辑地址空间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数字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字符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二进制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文件创建者定义的内容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多种类型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考虑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文本文件、源文件、可执行文件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30AC8C7-FC26-1F94-1528-8A9C81FF01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0796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文件属性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97642DB-1F17-BE22-0261-E8DDE31B66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5638" y="989013"/>
            <a:ext cx="10755312" cy="522287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名称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以用户可读的形式保存的标号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标识符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唯一标签（数字）标识文件系统中的文件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支持不同类型的系统需要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位置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指向设备上文件位置的指针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大小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当前文件大小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保护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控制谁可以读取、写入、执行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时间、日期和用户标识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用于保护、安全和使用监控的数据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D8A0BF-40D3-2052-B0C2-4412F78FF79D}"/>
              </a:ext>
            </a:extLst>
          </p:cNvPr>
          <p:cNvSpPr/>
          <p:nvPr/>
        </p:nvSpPr>
        <p:spPr>
          <a:xfrm>
            <a:off x="711200" y="5438775"/>
            <a:ext cx="9329738" cy="12112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关于文件的信息保存在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目录结构</a:t>
            </a: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目录结构</a:t>
            </a: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保存在磁盘上</a:t>
            </a:r>
            <a:endParaRPr kumimoji="1" lang="en-US" altLang="en-US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许多变种，包括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扩展的文件属性</a:t>
            </a: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文件校验和</a:t>
            </a:r>
            <a:endParaRPr kumimoji="1" lang="en-US" altLang="en-US" sz="24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21E2A0E-093E-0146-7F05-780BF65ED0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23825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文件信息窗口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315" name="Picture 4" descr="11_01.pdf">
            <a:extLst>
              <a:ext uri="{FF2B5EF4-FFF2-40B4-BE49-F238E27FC236}">
                <a16:creationId xmlns:a16="http://schemas.microsoft.com/office/drawing/2014/main" id="{0291B3C0-A32C-EB55-FF18-2D65807BC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175" y="1195388"/>
            <a:ext cx="1920875" cy="515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图片 1">
            <a:extLst>
              <a:ext uri="{FF2B5EF4-FFF2-40B4-BE49-F238E27FC236}">
                <a16:creationId xmlns:a16="http://schemas.microsoft.com/office/drawing/2014/main" id="{43C49CC4-6859-91C6-A6B1-7CD4B6CDB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450" y="1195388"/>
            <a:ext cx="3910013" cy="514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EDBA833-28BC-763F-E5E0-2F0E0F2819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5100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文件操作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7E5E243-44E0-19A1-FF61-2D9E7C336C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6425" y="1023938"/>
            <a:ext cx="11374438" cy="45307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文件是一种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抽象数据类型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写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写指针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位置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读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读指针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位置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在文件中重新定位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</a:t>
            </a:r>
            <a:endParaRPr lang="en-US" altLang="zh-CN" sz="24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截短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打开</a:t>
            </a:r>
            <a:r>
              <a:rPr lang="en-US" altLang="en-US" sz="2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(F</a:t>
            </a:r>
            <a:r>
              <a:rPr lang="en-US" altLang="en-US" sz="2400" b="1" i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en-US" sz="2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在磁盘上的目录结构中搜索条目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4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，并将条目的内容移动到内存中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关闭</a:t>
            </a:r>
            <a:r>
              <a:rPr lang="en-US" altLang="en-US" sz="2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(F</a:t>
            </a:r>
            <a:r>
              <a:rPr lang="en-US" altLang="en-US" sz="2400" b="1" i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en-US" sz="2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将内存中条目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4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的内容移动到磁盘上的目录结构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72804A5-C5F7-37F9-AA0D-0CAB2160B4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7938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打开文件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6D45529-4F3D-B7F3-4F7B-BDF0E91E98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9125" y="896938"/>
            <a:ext cx="11098213" cy="553720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管理打开文件信息</a:t>
            </a:r>
            <a:r>
              <a:rPr lang="en-US" altLang="zh-CN" sz="24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打开文件表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跟踪打开的文件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文件指针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指向文件打开的每个进程最后读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写位置的指针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文件打开计数器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文件打开次数的计数器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允许在最后一个进程关闭时从打开文件表中删除数据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文件的磁盘位置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数据访问信息的缓存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访问权限：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每个进程的访问模式信息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4664E99-9852-7304-A858-72B4FF3398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7938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打开文件锁定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8FC0296-89EB-6067-7C40-53E7FF3B99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5000" y="1147763"/>
            <a:ext cx="9472613" cy="544512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由某些操作系统和文件系统提供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读写锁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读锁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共享锁，多个进程可以同时获取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写锁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独享锁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协调对文件的访问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强制锁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建议锁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强制锁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根据持有和请求的锁拒绝访问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建议锁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– 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进程可以找到锁的状态并决定要做什么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F156322-F71E-E5B2-85DD-798E7CE344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05088" y="179388"/>
            <a:ext cx="7605712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文件锁定示例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– Java API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5C2D319-3354-44B5-7C4B-574F4E2CC8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09863" y="1233488"/>
            <a:ext cx="7648575" cy="4530725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import java.io.*;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import java.nio.channels.*;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public class LockingExample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 i="1">
                <a:solidFill>
                  <a:srgbClr val="0033CC"/>
                </a:solidFill>
              </a:rPr>
              <a:t>	</a:t>
            </a:r>
            <a:r>
              <a:rPr lang="en-US" altLang="en-US" sz="1400">
                <a:solidFill>
                  <a:srgbClr val="0033CC"/>
                </a:solidFill>
              </a:rPr>
              <a:t>public static final boolean EXCLUSIVE = false;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public static final boolean SHARED = true;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public static void main(String arsg[]) throws IOException </a:t>
            </a:r>
            <a:r>
              <a:rPr lang="en-US" altLang="en-US" sz="1400" i="1">
                <a:solidFill>
                  <a:srgbClr val="0033CC"/>
                </a:solidFill>
              </a:rPr>
              <a:t>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	FileLock sharedLock = null;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	FileLock exclusiveLock = null;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	try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		RandomAccessFile raf = new RandomAccessFile("file.txt", "rw");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		// get the channel for the file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		FileChannel ch = raf.getChannel();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		// this locks the first half of the file - exclusive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		exclusiveLock = ch.lock(0, raf.length()/2, EXCLUSIVE);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		/** Now modify the data . . . */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		// release the lock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400">
                <a:solidFill>
                  <a:srgbClr val="0033CC"/>
                </a:solidFill>
              </a:rPr>
              <a:t>			exclusiveLock.release();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400">
              <a:solidFill>
                <a:srgbClr val="0033CC"/>
              </a:solidFill>
            </a:endParaRP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775923A1-DB38-EC74-F2F3-DDFEA5DA04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43200" y="147638"/>
            <a:ext cx="7996238" cy="576262"/>
          </a:xfrm>
        </p:spPr>
        <p:txBody>
          <a:bodyPr/>
          <a:lstStyle/>
          <a:p>
            <a:pPr eaLnBrk="1" hangingPunct="1"/>
            <a:r>
              <a:rPr lang="zh-CN" altLang="en-US" sz="3000">
                <a:latin typeface="微软雅黑" panose="020B0503020204020204" pitchFamily="34" charset="-122"/>
                <a:ea typeface="微软雅黑" panose="020B0503020204020204" pitchFamily="34" charset="-122"/>
              </a:rPr>
              <a:t>文件锁定示例</a:t>
            </a:r>
            <a:r>
              <a:rPr lang="en-US" altLang="en-US" sz="3000">
                <a:latin typeface="微软雅黑" panose="020B0503020204020204" pitchFamily="34" charset="-122"/>
                <a:ea typeface="微软雅黑" panose="020B0503020204020204" pitchFamily="34" charset="-122"/>
              </a:rPr>
              <a:t> – Java API (</a:t>
            </a:r>
            <a:r>
              <a:rPr lang="zh-CN" altLang="en-US" sz="3000">
                <a:latin typeface="微软雅黑" panose="020B0503020204020204" pitchFamily="34" charset="-122"/>
                <a:ea typeface="微软雅黑" panose="020B0503020204020204" pitchFamily="34" charset="-122"/>
              </a:rPr>
              <a:t>续</a:t>
            </a:r>
            <a:r>
              <a:rPr lang="en-US" altLang="en-US" sz="30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C2BD90F-4FFF-6C46-5A17-36E3E64B85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22513" y="1250950"/>
            <a:ext cx="7243762" cy="5267325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>
                <a:solidFill>
                  <a:srgbClr val="0033CC"/>
                </a:solidFill>
              </a:rPr>
              <a:t>			// this locks the second half of the file - shared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>
                <a:solidFill>
                  <a:srgbClr val="0033CC"/>
                </a:solidFill>
              </a:rPr>
              <a:t>			sharedLock = ch.lock(raf.length()/2+1, raf.length(), 				SHARED);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>
                <a:solidFill>
                  <a:srgbClr val="0033CC"/>
                </a:solidFill>
              </a:rPr>
              <a:t>			/** Now read the data . . . */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>
                <a:solidFill>
                  <a:srgbClr val="0033CC"/>
                </a:solidFill>
              </a:rPr>
              <a:t>			// release the lock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>
                <a:solidFill>
                  <a:srgbClr val="0033CC"/>
                </a:solidFill>
              </a:rPr>
              <a:t>			sharedLock.release();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i="1">
                <a:solidFill>
                  <a:srgbClr val="0033CC"/>
                </a:solidFill>
              </a:rPr>
              <a:t>		</a:t>
            </a:r>
            <a:r>
              <a:rPr lang="en-US" altLang="en-US" sz="1600">
                <a:solidFill>
                  <a:srgbClr val="0033CC"/>
                </a:solidFill>
              </a:rPr>
              <a:t>}</a:t>
            </a:r>
            <a:r>
              <a:rPr lang="en-US" altLang="en-US" sz="1600" i="1">
                <a:solidFill>
                  <a:srgbClr val="0033CC"/>
                </a:solidFill>
              </a:rPr>
              <a:t> </a:t>
            </a:r>
            <a:r>
              <a:rPr lang="en-US" altLang="en-US" sz="1600">
                <a:solidFill>
                  <a:srgbClr val="0033CC"/>
                </a:solidFill>
              </a:rPr>
              <a:t>catch (java.io.IOException ioe) {</a:t>
            </a:r>
            <a:r>
              <a:rPr lang="en-US" altLang="en-US" sz="1600" i="1">
                <a:solidFill>
                  <a:srgbClr val="0033CC"/>
                </a:solidFill>
              </a:rPr>
              <a:t>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i="1">
                <a:solidFill>
                  <a:srgbClr val="0033CC"/>
                </a:solidFill>
              </a:rPr>
              <a:t>			</a:t>
            </a:r>
            <a:r>
              <a:rPr lang="en-US" altLang="en-US" sz="1600">
                <a:solidFill>
                  <a:srgbClr val="0033CC"/>
                </a:solidFill>
              </a:rPr>
              <a:t>System.err.println(ioe);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i="1">
                <a:solidFill>
                  <a:srgbClr val="0033CC"/>
                </a:solidFill>
              </a:rPr>
              <a:t>		</a:t>
            </a:r>
            <a:r>
              <a:rPr lang="en-US" altLang="en-US" sz="1600">
                <a:solidFill>
                  <a:srgbClr val="0033CC"/>
                </a:solidFill>
              </a:rPr>
              <a:t>}finally {</a:t>
            </a:r>
            <a:r>
              <a:rPr lang="en-US" altLang="en-US" sz="1600" i="1">
                <a:solidFill>
                  <a:srgbClr val="0033CC"/>
                </a:solidFill>
              </a:rPr>
              <a:t>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>
                <a:solidFill>
                  <a:srgbClr val="0033CC"/>
                </a:solidFill>
              </a:rPr>
              <a:t>			if (exclusiveLock != null)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>
                <a:solidFill>
                  <a:srgbClr val="0033CC"/>
                </a:solidFill>
              </a:rPr>
              <a:t>			exclusiveLock.release();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>
                <a:solidFill>
                  <a:srgbClr val="0033CC"/>
                </a:solidFill>
              </a:rPr>
              <a:t>			if (sharedLock != null)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>
                <a:solidFill>
                  <a:srgbClr val="0033CC"/>
                </a:solidFill>
              </a:rPr>
              <a:t>			sharedLock.release();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i="1">
                <a:solidFill>
                  <a:srgbClr val="0033CC"/>
                </a:solidFill>
              </a:rPr>
              <a:t>		</a:t>
            </a:r>
            <a:r>
              <a:rPr lang="en-US" altLang="en-US" sz="1600">
                <a:solidFill>
                  <a:srgbClr val="0033CC"/>
                </a:solidFill>
              </a:rPr>
              <a:t>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i="1">
                <a:solidFill>
                  <a:srgbClr val="0033CC"/>
                </a:solidFill>
              </a:rPr>
              <a:t>	</a:t>
            </a:r>
            <a:r>
              <a:rPr lang="en-US" altLang="en-US" sz="1600">
                <a:solidFill>
                  <a:srgbClr val="0033CC"/>
                </a:solidFill>
              </a:rPr>
              <a:t>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>
                <a:solidFill>
                  <a:srgbClr val="0033CC"/>
                </a:solidFill>
              </a:rPr>
              <a:t>}</a:t>
            </a:r>
          </a:p>
          <a:p>
            <a:pPr>
              <a:lnSpc>
                <a:spcPct val="80000"/>
              </a:lnSpc>
            </a:pPr>
            <a:endParaRPr lang="en-US" altLang="en-US" sz="1600">
              <a:solidFill>
                <a:srgbClr val="0033CC"/>
              </a:solidFill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74589BEC-E150-D2CC-93C8-B577922114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92363" y="165100"/>
            <a:ext cx="7818437" cy="576263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文件类型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名称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扩展名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603" name="Picture 4">
            <a:extLst>
              <a:ext uri="{FF2B5EF4-FFF2-40B4-BE49-F238E27FC236}">
                <a16:creationId xmlns:a16="http://schemas.microsoft.com/office/drawing/2014/main" id="{BB123304-2C68-78AA-0E61-3D24E15BD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15" t="1186" r="15715" b="1186"/>
          <a:stretch>
            <a:fillRect/>
          </a:stretch>
        </p:blipFill>
        <p:spPr bwMode="auto">
          <a:xfrm>
            <a:off x="4022725" y="1209675"/>
            <a:ext cx="4337050" cy="4632325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586925F-A044-51CD-0ECB-1065E479B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3638" y="150813"/>
            <a:ext cx="7777162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文件结构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AC253AC8-38BE-A2BC-C541-FCE85D1F04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875" y="865188"/>
            <a:ext cx="9366250" cy="569277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无结构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字序列、字节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简单记录结构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线性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固定长度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可变长度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复杂结构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格式化文档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可重定位加载文件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1A16693-618C-ED1B-06E9-A315E5B1D4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11.2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访问方法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C66CFD3B-E9DD-36C7-3853-3C1C53078D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068388"/>
            <a:ext cx="11091863" cy="4529137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p"/>
              <a:tabLst>
                <a:tab pos="3203575" algn="l"/>
                <a:tab pos="4056063" algn="l"/>
              </a:tabLst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顺序访问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2400">
                <a:solidFill>
                  <a:srgbClr val="000000"/>
                </a:solidFill>
              </a:rPr>
              <a:t>		</a:t>
            </a:r>
            <a:r>
              <a:rPr lang="en-US" altLang="en-US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 next</a:t>
            </a:r>
          </a:p>
          <a:p>
            <a:pPr>
              <a:lnSpc>
                <a:spcPct val="90000"/>
              </a:lnSpc>
              <a:spcBef>
                <a:spcPts val="3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write next </a:t>
            </a:r>
          </a:p>
          <a:p>
            <a:pPr>
              <a:lnSpc>
                <a:spcPct val="90000"/>
              </a:lnSpc>
              <a:spcBef>
                <a:spcPts val="3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reset</a:t>
            </a:r>
          </a:p>
          <a:p>
            <a:pPr>
              <a:lnSpc>
                <a:spcPct val="90000"/>
              </a:lnSpc>
              <a:spcBef>
                <a:spcPts val="3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2400">
                <a:solidFill>
                  <a:srgbClr val="000000"/>
                </a:solidFill>
              </a:rPr>
              <a:t>		</a:t>
            </a:r>
          </a:p>
          <a:p>
            <a:pPr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p"/>
              <a:tabLst>
                <a:tab pos="3203575" algn="l"/>
                <a:tab pos="4056063" algn="l"/>
              </a:tabLst>
            </a:pP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直接访问</a:t>
            </a:r>
            <a:r>
              <a:rPr lang="en-US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文件是固定长度的</a:t>
            </a:r>
            <a:r>
              <a:rPr lang="zh-CN" altLang="en-US" sz="240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逻辑记录</a:t>
            </a:r>
            <a:endParaRPr lang="en-US" altLang="en-US" sz="240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2400">
                <a:solidFill>
                  <a:srgbClr val="000000"/>
                </a:solidFill>
              </a:rPr>
              <a:t>		</a:t>
            </a:r>
            <a:r>
              <a:rPr lang="en-US" altLang="en-US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 </a:t>
            </a:r>
            <a:r>
              <a:rPr lang="en-US" altLang="en-US" sz="24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>
              <a:lnSpc>
                <a:spcPct val="90000"/>
              </a:lnSpc>
              <a:spcBef>
                <a:spcPts val="3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write </a:t>
            </a:r>
            <a:r>
              <a:rPr lang="en-US" altLang="en-US" sz="24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>
              <a:lnSpc>
                <a:spcPct val="90000"/>
              </a:lnSpc>
              <a:spcBef>
                <a:spcPts val="3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position to </a:t>
            </a:r>
            <a:r>
              <a:rPr lang="en-US" altLang="en-US" sz="24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>
              <a:lnSpc>
                <a:spcPct val="90000"/>
              </a:lnSpc>
              <a:spcBef>
                <a:spcPts val="3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read next</a:t>
            </a:r>
          </a:p>
          <a:p>
            <a:pPr>
              <a:lnSpc>
                <a:spcPct val="90000"/>
              </a:lnSpc>
              <a:spcBef>
                <a:spcPts val="3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write next </a:t>
            </a:r>
          </a:p>
          <a:p>
            <a:pPr>
              <a:lnSpc>
                <a:spcPct val="90000"/>
              </a:lnSpc>
              <a:spcBef>
                <a:spcPts val="3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rewrite </a:t>
            </a:r>
            <a:r>
              <a:rPr lang="en-US" altLang="en-US" sz="2400" b="1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>
              <a:lnSpc>
                <a:spcPct val="90000"/>
              </a:lnSpc>
              <a:spcBef>
                <a:spcPts val="300"/>
              </a:spcBef>
              <a:buFont typeface="Monotype Sorts" pitchFamily="-84" charset="2"/>
              <a:buNone/>
              <a:tabLst>
                <a:tab pos="3203575" algn="l"/>
                <a:tab pos="4056063" algn="l"/>
              </a:tabLst>
            </a:pPr>
            <a:r>
              <a:rPr lang="en-US" altLang="en-US" sz="2400"/>
              <a:t>	</a:t>
            </a:r>
            <a:r>
              <a:rPr lang="en-US" altLang="en-US" sz="2400" i="1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zh-CN" altLang="en-US" sz="240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相对块号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p"/>
              <a:tabLst>
                <a:tab pos="3203575" algn="l"/>
                <a:tab pos="4056063" algn="l"/>
              </a:tabLst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相对块号允许操作系统决定文件应该放在哪里（参见第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章的</a:t>
            </a:r>
            <a:r>
              <a:rPr lang="zh-CN" altLang="en-US" sz="240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分配问题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C60C3C8B-28E5-C393-5CAD-89EBD3C6CB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7938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顺序访问文件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747" name="Picture 5">
            <a:extLst>
              <a:ext uri="{FF2B5EF4-FFF2-40B4-BE49-F238E27FC236}">
                <a16:creationId xmlns:a16="http://schemas.microsoft.com/office/drawing/2014/main" id="{ED80E281-3008-2748-2947-8C24F67DD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950" y="1358900"/>
            <a:ext cx="5946775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9F4120E-2EB1-6BB5-0DA5-37D13172A1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46338" y="339725"/>
            <a:ext cx="7580312" cy="438150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使用直接访问达到顺序访问效果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795" name="Picture 6">
            <a:extLst>
              <a:ext uri="{FF2B5EF4-FFF2-40B4-BE49-F238E27FC236}">
                <a16:creationId xmlns:a16="http://schemas.microsoft.com/office/drawing/2014/main" id="{9B437A01-4D25-344E-8B4B-0E55E88E3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5800" y="1289050"/>
            <a:ext cx="6129338" cy="226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130C9108-310E-B50B-7908-C3006B1EA9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36525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其他访问方法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EDD8B450-73F0-29AD-08BC-92849D09B9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5788" y="930275"/>
            <a:ext cx="9923462" cy="543718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  <a:tabLst>
                <a:tab pos="3203575" algn="l"/>
                <a:tab pos="4056063" algn="l"/>
              </a:tabLst>
            </a:pPr>
            <a:r>
              <a:rPr lang="zh-CN" altLang="en-US" sz="24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可以构建在基础方法之上</a:t>
            </a:r>
            <a:endParaRPr lang="en-US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  <a:tabLst>
                <a:tab pos="3203575" algn="l"/>
                <a:tab pos="4056063" algn="l"/>
              </a:tabLst>
            </a:pP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为文件创建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  <a:endParaRPr lang="en-US" altLang="en-US" sz="24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  <a:tabLst>
                <a:tab pos="3203575" algn="l"/>
                <a:tab pos="4056063" algn="l"/>
              </a:tabLst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将索引保存在内存中，以便快速确定要操作的数据的位置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  <a:tabLst>
                <a:tab pos="3203575" algn="l"/>
                <a:tab pos="4056063" algn="l"/>
              </a:tabLst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如果太大，建立索引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在内存中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的索引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在磁盘上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  <a:tabLst>
                <a:tab pos="3203575" algn="l"/>
                <a:tab pos="4056063" algn="l"/>
              </a:tabLst>
            </a:pP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IBM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索引顺序访问方法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(ISAM)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  <a:tabLst>
                <a:tab pos="3203575" algn="l"/>
                <a:tab pos="4056063" algn="l"/>
              </a:tabLst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小的主索引，指向二级索引的磁盘块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  <a:tabLst>
                <a:tab pos="3203575" algn="l"/>
                <a:tab pos="4056063" algn="l"/>
              </a:tabLst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文件按定义的键排序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  <a:tabLst>
                <a:tab pos="3203575" algn="l"/>
                <a:tab pos="4056063" algn="l"/>
              </a:tabLst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全部由操作系统完成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  <a:tabLst>
                <a:tab pos="3203575" algn="l"/>
                <a:tab pos="4056063" algn="l"/>
              </a:tabLst>
            </a:pP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VMS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操作系统提供索引和相关文件作为另一个示例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26751E2-D706-3C87-D016-3F0EBE1F28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03388" y="150813"/>
            <a:ext cx="9015412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索引和相关文件示例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7891" name="Picture 5">
            <a:extLst>
              <a:ext uri="{FF2B5EF4-FFF2-40B4-BE49-F238E27FC236}">
                <a16:creationId xmlns:a16="http://schemas.microsoft.com/office/drawing/2014/main" id="{DAD5F1CB-A135-A509-6C18-0108DC5B0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838" y="1679575"/>
            <a:ext cx="5902325" cy="397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DA9B7A3E-0FE2-CCA5-DF73-F8257C8A30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079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11.3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目录结构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72876148-1CB4-0FE4-CC13-4F78D2963C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7225" y="930275"/>
            <a:ext cx="7370763" cy="3556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3203575" algn="l"/>
                <a:tab pos="4056063" algn="l"/>
              </a:tabLst>
            </a:pPr>
            <a:r>
              <a:rPr lang="zh-CN" altLang="en-US" sz="24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包含所有文件信息的节点集合</a:t>
            </a:r>
            <a:endParaRPr lang="en-US" altLang="en-US" sz="24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940" name="Oval 4">
            <a:extLst>
              <a:ext uri="{FF2B5EF4-FFF2-40B4-BE49-F238E27FC236}">
                <a16:creationId xmlns:a16="http://schemas.microsoft.com/office/drawing/2014/main" id="{4C80A316-3725-6D7E-A5A6-48F645975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1" name="Oval 5">
            <a:extLst>
              <a:ext uri="{FF2B5EF4-FFF2-40B4-BE49-F238E27FC236}">
                <a16:creationId xmlns:a16="http://schemas.microsoft.com/office/drawing/2014/main" id="{FB307EC4-A5A3-1059-8BC8-40DF82D99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2" name="Oval 6">
            <a:extLst>
              <a:ext uri="{FF2B5EF4-FFF2-40B4-BE49-F238E27FC236}">
                <a16:creationId xmlns:a16="http://schemas.microsoft.com/office/drawing/2014/main" id="{E26CFC23-D7C3-A4A1-086D-2DC398887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3" name="Oval 7">
            <a:extLst>
              <a:ext uri="{FF2B5EF4-FFF2-40B4-BE49-F238E27FC236}">
                <a16:creationId xmlns:a16="http://schemas.microsoft.com/office/drawing/2014/main" id="{319CDA17-71F1-EFC3-60C5-12AE08CC6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4" name="Oval 8">
            <a:extLst>
              <a:ext uri="{FF2B5EF4-FFF2-40B4-BE49-F238E27FC236}">
                <a16:creationId xmlns:a16="http://schemas.microsoft.com/office/drawing/2014/main" id="{1675BA6D-E407-05CC-F491-AEC08D1A6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25908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5" name="Rectangle 9">
            <a:extLst>
              <a:ext uri="{FF2B5EF4-FFF2-40B4-BE49-F238E27FC236}">
                <a16:creationId xmlns:a16="http://schemas.microsoft.com/office/drawing/2014/main" id="{EE8EA29C-D4C2-5B19-344C-9F250DB9D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267200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 1</a:t>
            </a:r>
          </a:p>
        </p:txBody>
      </p:sp>
      <p:sp>
        <p:nvSpPr>
          <p:cNvPr id="39946" name="Rectangle 10">
            <a:extLst>
              <a:ext uri="{FF2B5EF4-FFF2-40B4-BE49-F238E27FC236}">
                <a16:creationId xmlns:a16="http://schemas.microsoft.com/office/drawing/2014/main" id="{6FE906C7-2F17-7F41-CA26-BF99C6DE3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267200"/>
            <a:ext cx="457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 2</a:t>
            </a:r>
          </a:p>
        </p:txBody>
      </p:sp>
      <p:sp>
        <p:nvSpPr>
          <p:cNvPr id="39947" name="Rectangle 11">
            <a:extLst>
              <a:ext uri="{FF2B5EF4-FFF2-40B4-BE49-F238E27FC236}">
                <a16:creationId xmlns:a16="http://schemas.microsoft.com/office/drawing/2014/main" id="{C5D0B69A-9653-E0DC-2E96-0A149CC5D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267200"/>
            <a:ext cx="4572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 3</a:t>
            </a:r>
          </a:p>
        </p:txBody>
      </p:sp>
      <p:sp>
        <p:nvSpPr>
          <p:cNvPr id="39948" name="Rectangle 12">
            <a:extLst>
              <a:ext uri="{FF2B5EF4-FFF2-40B4-BE49-F238E27FC236}">
                <a16:creationId xmlns:a16="http://schemas.microsoft.com/office/drawing/2014/main" id="{021AFCF6-6C10-76B4-27FD-B6C5EBE07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2672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 4</a:t>
            </a:r>
          </a:p>
        </p:txBody>
      </p:sp>
      <p:sp>
        <p:nvSpPr>
          <p:cNvPr id="39949" name="Rectangle 13">
            <a:extLst>
              <a:ext uri="{FF2B5EF4-FFF2-40B4-BE49-F238E27FC236}">
                <a16:creationId xmlns:a16="http://schemas.microsoft.com/office/drawing/2014/main" id="{455F9DFB-AB15-7D17-F07A-311E35D17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4648200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 n</a:t>
            </a:r>
          </a:p>
        </p:txBody>
      </p:sp>
      <p:sp>
        <p:nvSpPr>
          <p:cNvPr id="39950" name="Line 14">
            <a:extLst>
              <a:ext uri="{FF2B5EF4-FFF2-40B4-BE49-F238E27FC236}">
                <a16:creationId xmlns:a16="http://schemas.microsoft.com/office/drawing/2014/main" id="{22E8FFF6-FE58-A855-CD7F-B5862A27DA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2575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1" name="Line 15">
            <a:extLst>
              <a:ext uri="{FF2B5EF4-FFF2-40B4-BE49-F238E27FC236}">
                <a16:creationId xmlns:a16="http://schemas.microsoft.com/office/drawing/2014/main" id="{8C4506F6-10A7-7E5F-4CAA-B4055C514DF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2" name="Line 16">
            <a:extLst>
              <a:ext uri="{FF2B5EF4-FFF2-40B4-BE49-F238E27FC236}">
                <a16:creationId xmlns:a16="http://schemas.microsoft.com/office/drawing/2014/main" id="{174B9095-7C58-3707-A2E3-CA740C03E987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30480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3" name="Line 17">
            <a:extLst>
              <a:ext uri="{FF2B5EF4-FFF2-40B4-BE49-F238E27FC236}">
                <a16:creationId xmlns:a16="http://schemas.microsoft.com/office/drawing/2014/main" id="{947C6BA9-3547-FF48-1417-603F80FC8C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4" name="Line 18">
            <a:extLst>
              <a:ext uri="{FF2B5EF4-FFF2-40B4-BE49-F238E27FC236}">
                <a16:creationId xmlns:a16="http://schemas.microsoft.com/office/drawing/2014/main" id="{7614774F-79A7-775C-561D-A096CC9603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5" name="Freeform 19">
            <a:extLst>
              <a:ext uri="{FF2B5EF4-FFF2-40B4-BE49-F238E27FC236}">
                <a16:creationId xmlns:a16="http://schemas.microsoft.com/office/drawing/2014/main" id="{63B048F8-764B-8D89-AAFB-5743B0810463}"/>
              </a:ext>
            </a:extLst>
          </p:cNvPr>
          <p:cNvSpPr>
            <a:spLocks/>
          </p:cNvSpPr>
          <p:nvPr/>
        </p:nvSpPr>
        <p:spPr bwMode="auto">
          <a:xfrm>
            <a:off x="4062413" y="1962150"/>
            <a:ext cx="4186237" cy="1473200"/>
          </a:xfrm>
          <a:custGeom>
            <a:avLst/>
            <a:gdLst>
              <a:gd name="T0" fmla="*/ 2147483646 w 2637"/>
              <a:gd name="T1" fmla="*/ 2147483646 h 928"/>
              <a:gd name="T2" fmla="*/ 2147483646 w 2637"/>
              <a:gd name="T3" fmla="*/ 2147483646 h 928"/>
              <a:gd name="T4" fmla="*/ 2147483646 w 2637"/>
              <a:gd name="T5" fmla="*/ 2147483646 h 928"/>
              <a:gd name="T6" fmla="*/ 2147483646 w 2637"/>
              <a:gd name="T7" fmla="*/ 2147483646 h 928"/>
              <a:gd name="T8" fmla="*/ 2147483646 w 2637"/>
              <a:gd name="T9" fmla="*/ 0 h 928"/>
              <a:gd name="T10" fmla="*/ 2147483646 w 2637"/>
              <a:gd name="T11" fmla="*/ 2147483646 h 928"/>
              <a:gd name="T12" fmla="*/ 2147483646 w 2637"/>
              <a:gd name="T13" fmla="*/ 2147483646 h 928"/>
              <a:gd name="T14" fmla="*/ 2147483646 w 2637"/>
              <a:gd name="T15" fmla="*/ 2147483646 h 928"/>
              <a:gd name="T16" fmla="*/ 2147483646 w 2637"/>
              <a:gd name="T17" fmla="*/ 2147483646 h 928"/>
              <a:gd name="T18" fmla="*/ 2147483646 w 2637"/>
              <a:gd name="T19" fmla="*/ 2147483646 h 928"/>
              <a:gd name="T20" fmla="*/ 2147483646 w 2637"/>
              <a:gd name="T21" fmla="*/ 2147483646 h 928"/>
              <a:gd name="T22" fmla="*/ 2147483646 w 2637"/>
              <a:gd name="T23" fmla="*/ 2147483646 h 928"/>
              <a:gd name="T24" fmla="*/ 2147483646 w 2637"/>
              <a:gd name="T25" fmla="*/ 2147483646 h 928"/>
              <a:gd name="T26" fmla="*/ 2147483646 w 2637"/>
              <a:gd name="T27" fmla="*/ 2147483646 h 928"/>
              <a:gd name="T28" fmla="*/ 2147483646 w 2637"/>
              <a:gd name="T29" fmla="*/ 2147483646 h 928"/>
              <a:gd name="T30" fmla="*/ 2147483646 w 2637"/>
              <a:gd name="T31" fmla="*/ 2147483646 h 928"/>
              <a:gd name="T32" fmla="*/ 2147483646 w 2637"/>
              <a:gd name="T33" fmla="*/ 2147483646 h 928"/>
              <a:gd name="T34" fmla="*/ 2147483646 w 2637"/>
              <a:gd name="T35" fmla="*/ 2147483646 h 928"/>
              <a:gd name="T36" fmla="*/ 2147483646 w 2637"/>
              <a:gd name="T37" fmla="*/ 2147483646 h 928"/>
              <a:gd name="T38" fmla="*/ 2147483646 w 2637"/>
              <a:gd name="T39" fmla="*/ 2147483646 h 928"/>
              <a:gd name="T40" fmla="*/ 2147483646 w 2637"/>
              <a:gd name="T41" fmla="*/ 2147483646 h 928"/>
              <a:gd name="T42" fmla="*/ 2147483646 w 2637"/>
              <a:gd name="T43" fmla="*/ 2147483646 h 928"/>
              <a:gd name="T44" fmla="*/ 2147483646 w 2637"/>
              <a:gd name="T45" fmla="*/ 2147483646 h 928"/>
              <a:gd name="T46" fmla="*/ 2147483646 w 2637"/>
              <a:gd name="T47" fmla="*/ 2147483646 h 928"/>
              <a:gd name="T48" fmla="*/ 2147483646 w 2637"/>
              <a:gd name="T49" fmla="*/ 2147483646 h 928"/>
              <a:gd name="T50" fmla="*/ 2147483646 w 2637"/>
              <a:gd name="T51" fmla="*/ 2147483646 h 928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2637"/>
              <a:gd name="T79" fmla="*/ 0 h 928"/>
              <a:gd name="T80" fmla="*/ 2637 w 2637"/>
              <a:gd name="T81" fmla="*/ 928 h 928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2637" h="928">
                <a:moveTo>
                  <a:pt x="10" y="328"/>
                </a:moveTo>
                <a:cubicBezTo>
                  <a:pt x="14" y="291"/>
                  <a:pt x="6" y="248"/>
                  <a:pt x="28" y="219"/>
                </a:cubicBezTo>
                <a:cubicBezTo>
                  <a:pt x="124" y="92"/>
                  <a:pt x="264" y="66"/>
                  <a:pt x="410" y="37"/>
                </a:cubicBezTo>
                <a:cubicBezTo>
                  <a:pt x="516" y="16"/>
                  <a:pt x="457" y="14"/>
                  <a:pt x="583" y="10"/>
                </a:cubicBezTo>
                <a:cubicBezTo>
                  <a:pt x="728" y="5"/>
                  <a:pt x="874" y="3"/>
                  <a:pt x="1019" y="0"/>
                </a:cubicBezTo>
                <a:cubicBezTo>
                  <a:pt x="1146" y="3"/>
                  <a:pt x="1274" y="3"/>
                  <a:pt x="1401" y="10"/>
                </a:cubicBezTo>
                <a:cubicBezTo>
                  <a:pt x="1485" y="15"/>
                  <a:pt x="1571" y="41"/>
                  <a:pt x="1655" y="55"/>
                </a:cubicBezTo>
                <a:cubicBezTo>
                  <a:pt x="1733" y="86"/>
                  <a:pt x="1819" y="108"/>
                  <a:pt x="1901" y="128"/>
                </a:cubicBezTo>
                <a:cubicBezTo>
                  <a:pt x="1942" y="148"/>
                  <a:pt x="1975" y="152"/>
                  <a:pt x="2019" y="164"/>
                </a:cubicBezTo>
                <a:cubicBezTo>
                  <a:pt x="2098" y="185"/>
                  <a:pt x="2162" y="200"/>
                  <a:pt x="2246" y="210"/>
                </a:cubicBezTo>
                <a:cubicBezTo>
                  <a:pt x="2293" y="226"/>
                  <a:pt x="2338" y="230"/>
                  <a:pt x="2382" y="255"/>
                </a:cubicBezTo>
                <a:cubicBezTo>
                  <a:pt x="2439" y="287"/>
                  <a:pt x="2477" y="343"/>
                  <a:pt x="2519" y="391"/>
                </a:cubicBezTo>
                <a:cubicBezTo>
                  <a:pt x="2536" y="410"/>
                  <a:pt x="2562" y="423"/>
                  <a:pt x="2573" y="446"/>
                </a:cubicBezTo>
                <a:cubicBezTo>
                  <a:pt x="2594" y="488"/>
                  <a:pt x="2606" y="529"/>
                  <a:pt x="2619" y="573"/>
                </a:cubicBezTo>
                <a:cubicBezTo>
                  <a:pt x="2624" y="591"/>
                  <a:pt x="2637" y="628"/>
                  <a:pt x="2637" y="628"/>
                </a:cubicBezTo>
                <a:cubicBezTo>
                  <a:pt x="2634" y="654"/>
                  <a:pt x="2634" y="707"/>
                  <a:pt x="2619" y="737"/>
                </a:cubicBezTo>
                <a:cubicBezTo>
                  <a:pt x="2582" y="812"/>
                  <a:pt x="2477" y="854"/>
                  <a:pt x="2401" y="873"/>
                </a:cubicBezTo>
                <a:cubicBezTo>
                  <a:pt x="2341" y="911"/>
                  <a:pt x="2270" y="909"/>
                  <a:pt x="2201" y="919"/>
                </a:cubicBezTo>
                <a:cubicBezTo>
                  <a:pt x="1832" y="915"/>
                  <a:pt x="1500" y="928"/>
                  <a:pt x="1146" y="873"/>
                </a:cubicBezTo>
                <a:cubicBezTo>
                  <a:pt x="917" y="837"/>
                  <a:pt x="702" y="728"/>
                  <a:pt x="474" y="700"/>
                </a:cubicBezTo>
                <a:cubicBezTo>
                  <a:pt x="465" y="697"/>
                  <a:pt x="455" y="695"/>
                  <a:pt x="446" y="691"/>
                </a:cubicBezTo>
                <a:cubicBezTo>
                  <a:pt x="434" y="686"/>
                  <a:pt x="423" y="677"/>
                  <a:pt x="410" y="673"/>
                </a:cubicBezTo>
                <a:cubicBezTo>
                  <a:pt x="297" y="636"/>
                  <a:pt x="185" y="632"/>
                  <a:pt x="83" y="564"/>
                </a:cubicBezTo>
                <a:cubicBezTo>
                  <a:pt x="47" y="512"/>
                  <a:pt x="45" y="458"/>
                  <a:pt x="28" y="400"/>
                </a:cubicBezTo>
                <a:cubicBezTo>
                  <a:pt x="28" y="400"/>
                  <a:pt x="5" y="332"/>
                  <a:pt x="1" y="319"/>
                </a:cubicBezTo>
                <a:cubicBezTo>
                  <a:pt x="0" y="315"/>
                  <a:pt x="7" y="325"/>
                  <a:pt x="10" y="328"/>
                </a:cubicBez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6" name="Freeform 20">
            <a:extLst>
              <a:ext uri="{FF2B5EF4-FFF2-40B4-BE49-F238E27FC236}">
                <a16:creationId xmlns:a16="http://schemas.microsoft.com/office/drawing/2014/main" id="{FA7DB91F-48CD-127F-6A25-8AEB07B9757E}"/>
              </a:ext>
            </a:extLst>
          </p:cNvPr>
          <p:cNvSpPr>
            <a:spLocks/>
          </p:cNvSpPr>
          <p:nvPr/>
        </p:nvSpPr>
        <p:spPr bwMode="auto">
          <a:xfrm>
            <a:off x="3886200" y="3886200"/>
            <a:ext cx="4262438" cy="1600200"/>
          </a:xfrm>
          <a:custGeom>
            <a:avLst/>
            <a:gdLst>
              <a:gd name="T0" fmla="*/ 2147483646 w 2637"/>
              <a:gd name="T1" fmla="*/ 2147483646 h 928"/>
              <a:gd name="T2" fmla="*/ 2147483646 w 2637"/>
              <a:gd name="T3" fmla="*/ 2147483646 h 928"/>
              <a:gd name="T4" fmla="*/ 2147483646 w 2637"/>
              <a:gd name="T5" fmla="*/ 2147483646 h 928"/>
              <a:gd name="T6" fmla="*/ 2147483646 w 2637"/>
              <a:gd name="T7" fmla="*/ 2147483646 h 928"/>
              <a:gd name="T8" fmla="*/ 2147483646 w 2637"/>
              <a:gd name="T9" fmla="*/ 0 h 928"/>
              <a:gd name="T10" fmla="*/ 2147483646 w 2637"/>
              <a:gd name="T11" fmla="*/ 2147483646 h 928"/>
              <a:gd name="T12" fmla="*/ 2147483646 w 2637"/>
              <a:gd name="T13" fmla="*/ 2147483646 h 928"/>
              <a:gd name="T14" fmla="*/ 2147483646 w 2637"/>
              <a:gd name="T15" fmla="*/ 2147483646 h 928"/>
              <a:gd name="T16" fmla="*/ 2147483646 w 2637"/>
              <a:gd name="T17" fmla="*/ 2147483646 h 928"/>
              <a:gd name="T18" fmla="*/ 2147483646 w 2637"/>
              <a:gd name="T19" fmla="*/ 2147483646 h 928"/>
              <a:gd name="T20" fmla="*/ 2147483646 w 2637"/>
              <a:gd name="T21" fmla="*/ 2147483646 h 928"/>
              <a:gd name="T22" fmla="*/ 2147483646 w 2637"/>
              <a:gd name="T23" fmla="*/ 2147483646 h 928"/>
              <a:gd name="T24" fmla="*/ 2147483646 w 2637"/>
              <a:gd name="T25" fmla="*/ 2147483646 h 928"/>
              <a:gd name="T26" fmla="*/ 2147483646 w 2637"/>
              <a:gd name="T27" fmla="*/ 2147483646 h 928"/>
              <a:gd name="T28" fmla="*/ 2147483646 w 2637"/>
              <a:gd name="T29" fmla="*/ 2147483646 h 928"/>
              <a:gd name="T30" fmla="*/ 2147483646 w 2637"/>
              <a:gd name="T31" fmla="*/ 2147483646 h 928"/>
              <a:gd name="T32" fmla="*/ 2147483646 w 2637"/>
              <a:gd name="T33" fmla="*/ 2147483646 h 928"/>
              <a:gd name="T34" fmla="*/ 2147483646 w 2637"/>
              <a:gd name="T35" fmla="*/ 2147483646 h 928"/>
              <a:gd name="T36" fmla="*/ 2147483646 w 2637"/>
              <a:gd name="T37" fmla="*/ 2147483646 h 928"/>
              <a:gd name="T38" fmla="*/ 2147483646 w 2637"/>
              <a:gd name="T39" fmla="*/ 2147483646 h 928"/>
              <a:gd name="T40" fmla="*/ 2147483646 w 2637"/>
              <a:gd name="T41" fmla="*/ 2147483646 h 928"/>
              <a:gd name="T42" fmla="*/ 2147483646 w 2637"/>
              <a:gd name="T43" fmla="*/ 2147483646 h 928"/>
              <a:gd name="T44" fmla="*/ 2147483646 w 2637"/>
              <a:gd name="T45" fmla="*/ 2147483646 h 928"/>
              <a:gd name="T46" fmla="*/ 2147483646 w 2637"/>
              <a:gd name="T47" fmla="*/ 2147483646 h 928"/>
              <a:gd name="T48" fmla="*/ 2147483646 w 2637"/>
              <a:gd name="T49" fmla="*/ 2147483646 h 928"/>
              <a:gd name="T50" fmla="*/ 2147483646 w 2637"/>
              <a:gd name="T51" fmla="*/ 2147483646 h 928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2637"/>
              <a:gd name="T79" fmla="*/ 0 h 928"/>
              <a:gd name="T80" fmla="*/ 2637 w 2637"/>
              <a:gd name="T81" fmla="*/ 928 h 928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2637" h="928">
                <a:moveTo>
                  <a:pt x="10" y="328"/>
                </a:moveTo>
                <a:cubicBezTo>
                  <a:pt x="14" y="291"/>
                  <a:pt x="6" y="248"/>
                  <a:pt x="28" y="219"/>
                </a:cubicBezTo>
                <a:cubicBezTo>
                  <a:pt x="124" y="92"/>
                  <a:pt x="264" y="66"/>
                  <a:pt x="410" y="37"/>
                </a:cubicBezTo>
                <a:cubicBezTo>
                  <a:pt x="516" y="16"/>
                  <a:pt x="457" y="14"/>
                  <a:pt x="583" y="10"/>
                </a:cubicBezTo>
                <a:cubicBezTo>
                  <a:pt x="728" y="5"/>
                  <a:pt x="874" y="3"/>
                  <a:pt x="1019" y="0"/>
                </a:cubicBezTo>
                <a:cubicBezTo>
                  <a:pt x="1146" y="3"/>
                  <a:pt x="1274" y="3"/>
                  <a:pt x="1401" y="10"/>
                </a:cubicBezTo>
                <a:cubicBezTo>
                  <a:pt x="1485" y="15"/>
                  <a:pt x="1571" y="41"/>
                  <a:pt x="1655" y="55"/>
                </a:cubicBezTo>
                <a:cubicBezTo>
                  <a:pt x="1733" y="86"/>
                  <a:pt x="1819" y="108"/>
                  <a:pt x="1901" y="128"/>
                </a:cubicBezTo>
                <a:cubicBezTo>
                  <a:pt x="1942" y="148"/>
                  <a:pt x="1975" y="152"/>
                  <a:pt x="2019" y="164"/>
                </a:cubicBezTo>
                <a:cubicBezTo>
                  <a:pt x="2098" y="185"/>
                  <a:pt x="2162" y="200"/>
                  <a:pt x="2246" y="210"/>
                </a:cubicBezTo>
                <a:cubicBezTo>
                  <a:pt x="2293" y="226"/>
                  <a:pt x="2338" y="230"/>
                  <a:pt x="2382" y="255"/>
                </a:cubicBezTo>
                <a:cubicBezTo>
                  <a:pt x="2439" y="287"/>
                  <a:pt x="2477" y="343"/>
                  <a:pt x="2519" y="391"/>
                </a:cubicBezTo>
                <a:cubicBezTo>
                  <a:pt x="2536" y="410"/>
                  <a:pt x="2562" y="423"/>
                  <a:pt x="2573" y="446"/>
                </a:cubicBezTo>
                <a:cubicBezTo>
                  <a:pt x="2594" y="488"/>
                  <a:pt x="2606" y="529"/>
                  <a:pt x="2619" y="573"/>
                </a:cubicBezTo>
                <a:cubicBezTo>
                  <a:pt x="2624" y="591"/>
                  <a:pt x="2637" y="628"/>
                  <a:pt x="2637" y="628"/>
                </a:cubicBezTo>
                <a:cubicBezTo>
                  <a:pt x="2634" y="654"/>
                  <a:pt x="2634" y="707"/>
                  <a:pt x="2619" y="737"/>
                </a:cubicBezTo>
                <a:cubicBezTo>
                  <a:pt x="2582" y="812"/>
                  <a:pt x="2477" y="854"/>
                  <a:pt x="2401" y="873"/>
                </a:cubicBezTo>
                <a:cubicBezTo>
                  <a:pt x="2341" y="911"/>
                  <a:pt x="2270" y="909"/>
                  <a:pt x="2201" y="919"/>
                </a:cubicBezTo>
                <a:cubicBezTo>
                  <a:pt x="1832" y="915"/>
                  <a:pt x="1500" y="928"/>
                  <a:pt x="1146" y="873"/>
                </a:cubicBezTo>
                <a:cubicBezTo>
                  <a:pt x="917" y="837"/>
                  <a:pt x="702" y="728"/>
                  <a:pt x="474" y="700"/>
                </a:cubicBezTo>
                <a:cubicBezTo>
                  <a:pt x="465" y="697"/>
                  <a:pt x="455" y="695"/>
                  <a:pt x="446" y="691"/>
                </a:cubicBezTo>
                <a:cubicBezTo>
                  <a:pt x="434" y="686"/>
                  <a:pt x="423" y="677"/>
                  <a:pt x="410" y="673"/>
                </a:cubicBezTo>
                <a:cubicBezTo>
                  <a:pt x="297" y="636"/>
                  <a:pt x="185" y="632"/>
                  <a:pt x="83" y="564"/>
                </a:cubicBezTo>
                <a:cubicBezTo>
                  <a:pt x="47" y="512"/>
                  <a:pt x="45" y="458"/>
                  <a:pt x="28" y="400"/>
                </a:cubicBezTo>
                <a:cubicBezTo>
                  <a:pt x="28" y="400"/>
                  <a:pt x="5" y="332"/>
                  <a:pt x="1" y="319"/>
                </a:cubicBezTo>
                <a:cubicBezTo>
                  <a:pt x="0" y="315"/>
                  <a:pt x="7" y="325"/>
                  <a:pt x="10" y="328"/>
                </a:cubicBez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7" name="Text Box 21">
            <a:extLst>
              <a:ext uri="{FF2B5EF4-FFF2-40B4-BE49-F238E27FC236}">
                <a16:creationId xmlns:a16="http://schemas.microsoft.com/office/drawing/2014/main" id="{5CF5EE2A-FFB7-6651-916C-7F82112D1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425" y="2268538"/>
            <a:ext cx="6985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目录</a:t>
            </a:r>
            <a:endParaRPr kumimoji="0" lang="en-US" altLang="en-US" sz="20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58" name="Text Box 22">
            <a:extLst>
              <a:ext uri="{FF2B5EF4-FFF2-40B4-BE49-F238E27FC236}">
                <a16:creationId xmlns:a16="http://schemas.microsoft.com/office/drawing/2014/main" id="{2F830215-FADB-8FAC-34C6-0F95F1EF8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3225" y="4173538"/>
            <a:ext cx="6985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文件</a:t>
            </a:r>
            <a:endParaRPr kumimoji="0" lang="en-US" altLang="en-US" sz="200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59" name="Rectangle 23">
            <a:extLst>
              <a:ext uri="{FF2B5EF4-FFF2-40B4-BE49-F238E27FC236}">
                <a16:creationId xmlns:a16="http://schemas.microsoft.com/office/drawing/2014/main" id="{B5991C88-DA82-D487-9A87-B40C55278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3" y="5845175"/>
            <a:ext cx="760253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tabLst>
                <a:tab pos="3203575" algn="l"/>
                <a:tab pos="4056063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tabLst>
                <a:tab pos="3203575" algn="l"/>
                <a:tab pos="4056063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tabLst>
                <a:tab pos="3203575" algn="l"/>
                <a:tab pos="4056063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tabLst>
                <a:tab pos="3203575" algn="l"/>
                <a:tab pos="4056063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tabLst>
                <a:tab pos="3203575" algn="l"/>
                <a:tab pos="4056063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3203575" algn="l"/>
                <a:tab pos="4056063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3203575" algn="l"/>
                <a:tab pos="4056063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3203575" algn="l"/>
                <a:tab pos="4056063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3203575" algn="l"/>
                <a:tab pos="4056063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目录结构</a:t>
            </a:r>
            <a:r>
              <a:rPr lang="zh-CN" altLang="en-US" sz="24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4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都驻留在磁盘上</a:t>
            </a:r>
            <a:endParaRPr lang="en-US" altLang="en-US" sz="24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2">
            <a:extLst>
              <a:ext uri="{FF2B5EF4-FFF2-40B4-BE49-F238E27FC236}">
                <a16:creationId xmlns:a16="http://schemas.microsoft.com/office/drawing/2014/main" id="{A9F73997-6121-072B-E5C4-6A3BC92EFF8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7938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磁盘结构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987" name="Content Placeholder 3">
            <a:extLst>
              <a:ext uri="{FF2B5EF4-FFF2-40B4-BE49-F238E27FC236}">
                <a16:creationId xmlns:a16="http://schemas.microsoft.com/office/drawing/2014/main" id="{D4B2CE5A-377A-A4F9-F745-0C82179D9128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581025" y="1044575"/>
            <a:ext cx="11503025" cy="4530725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磁盘可以细分为多个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分区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分区也称为微型磁盘、切片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磁盘或分区可以进行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RAID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保护以防止故障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磁盘或分区可以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原始使用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没有文件系统，或使用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文件系统格式化</a:t>
            </a:r>
            <a:endParaRPr lang="en-US" altLang="en-US" sz="24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格式化后形成包含称为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的文件系统的实体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文件系统跟踪该文件系统在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设备目录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卷目录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中的信息</a:t>
            </a:r>
            <a:endParaRPr lang="en-US" altLang="ja-JP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除了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通用文件系统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，还有许多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专用文件系统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，通常都在同一个操作系统或计算机中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541A1671-8AB2-B5EA-6A9E-74D6BA85BC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89188" y="17938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典型的文件系统组织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4035" name="Picture 6" descr="10">
            <a:extLst>
              <a:ext uri="{FF2B5EF4-FFF2-40B4-BE49-F238E27FC236}">
                <a16:creationId xmlns:a16="http://schemas.microsoft.com/office/drawing/2014/main" id="{302A6FC6-DE4B-E5B0-6286-000BA9630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188" y="1860550"/>
            <a:ext cx="6910387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2">
            <a:extLst>
              <a:ext uri="{FF2B5EF4-FFF2-40B4-BE49-F238E27FC236}">
                <a16:creationId xmlns:a16="http://schemas.microsoft.com/office/drawing/2014/main" id="{30310782-E4EF-5AE2-ECA6-5A0CE96D381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7938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文件系统的类型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083" name="Content Placeholder 3">
            <a:extLst>
              <a:ext uri="{FF2B5EF4-FFF2-40B4-BE49-F238E27FC236}">
                <a16:creationId xmlns:a16="http://schemas.microsoft.com/office/drawing/2014/main" id="{88B2F93A-6ACB-6D85-6F6E-5B4F04AE5063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646113" y="1020763"/>
            <a:ext cx="9798050" cy="530383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系统通常有多个文件系统，一些是通用的，一些是专用的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我们主要谈论通用文件系统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考虑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Solaris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tmpfs 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用于快速临时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的基于内存的易失性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FS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objfs –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连接到内核内存以获取用于调试的内核符号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ctfs 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用于管理守护进程的合约文件系统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lofs 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环回文件系统允许访问一个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FS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来代替另一个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procfs 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进程结构的内核接口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ufs, zfs 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通用文件系统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2786CA85-D7FB-445D-2F42-E8FC6AB0D0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47925" y="15081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对目录执行的操作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FDFCBBE8-3FD0-160C-445F-A65EE6E12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5950" y="1038225"/>
            <a:ext cx="8229600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搜索文件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p"/>
            </a:pPr>
            <a:endParaRPr lang="en-US" altLang="en-US" sz="1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创建文件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p"/>
            </a:pPr>
            <a:endParaRPr lang="en-US" altLang="en-US" sz="1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删除文件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p"/>
            </a:pPr>
            <a:endParaRPr lang="en-US" altLang="en-US" sz="1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列出目录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p"/>
            </a:pPr>
            <a:endParaRPr lang="en-US" altLang="en-US" sz="1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重命名文件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p"/>
            </a:pPr>
            <a:endParaRPr lang="en-US" altLang="en-US" sz="1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遍历文件系统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511B5EFB-977A-8E82-56D7-E72EA979C0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03513" y="241300"/>
            <a:ext cx="7743825" cy="457200"/>
          </a:xfrm>
        </p:spPr>
        <p:txBody>
          <a:bodyPr/>
          <a:lstStyle/>
          <a:p>
            <a:pPr eaLnBrk="1" hangingPunct="1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目录组织</a:t>
            </a:r>
            <a:endParaRPr lang="en-US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C676FDC1-885C-2EEB-B777-89A87A2CAC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8650" y="1643063"/>
            <a:ext cx="9780588" cy="446087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效率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快速定位文件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命名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–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方便用户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两个用户可以对不同的文件使用相同的名称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同一文件可以有几个不同的名称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分组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按属性对文件进行逻辑分组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例如所有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程序、所有游戏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…)</a:t>
            </a:r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2EF29C43-A899-FC4B-3609-13E07F0DA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095375"/>
            <a:ext cx="8067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kumimoji="0"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逻辑结构</a:t>
            </a:r>
            <a:r>
              <a:rPr kumimoji="0"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来获得目录</a:t>
            </a:r>
            <a:endParaRPr kumimoji="0"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D1AAAB3-2B03-75C3-0F05-7D3A0884E2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5100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单级目录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8B7D0311-FCA6-FE32-515A-6D1C795EA0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4675" y="1001713"/>
            <a:ext cx="7673975" cy="41306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所有用户单一目录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命名问题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分组问题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</p:txBody>
      </p:sp>
      <p:sp>
        <p:nvSpPr>
          <p:cNvPr id="52228" name="Rectangle 5">
            <a:extLst>
              <a:ext uri="{FF2B5EF4-FFF2-40B4-BE49-F238E27FC236}">
                <a16:creationId xmlns:a16="http://schemas.microsoft.com/office/drawing/2014/main" id="{23BB8B35-7C14-7371-3F0F-C10AB0270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4925" y="3746500"/>
            <a:ext cx="4406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/>
          </a:p>
        </p:txBody>
      </p:sp>
      <p:pic>
        <p:nvPicPr>
          <p:cNvPr id="52229" name="Picture 7">
            <a:extLst>
              <a:ext uri="{FF2B5EF4-FFF2-40B4-BE49-F238E27FC236}">
                <a16:creationId xmlns:a16="http://schemas.microsoft.com/office/drawing/2014/main" id="{6DF2FEB3-838F-A4D8-5574-29595AFA0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538" y="2089150"/>
            <a:ext cx="6100762" cy="148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78408153-5447-F4DD-042F-C2231559DD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7938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两级目录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3684CCBE-7CB3-5FD1-AB0E-7E1DD179DA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8325" y="1017588"/>
            <a:ext cx="8261350" cy="5556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每个用户单独目录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276" name="Rectangle 5">
            <a:extLst>
              <a:ext uri="{FF2B5EF4-FFF2-40B4-BE49-F238E27FC236}">
                <a16:creationId xmlns:a16="http://schemas.microsoft.com/office/drawing/2014/main" id="{AA732A9B-9AF7-C836-CA4C-144277853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4062413"/>
            <a:ext cx="7961313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路径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不同用户可以有相同的文件名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高效搜索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没有分组功能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4277" name="Picture 8">
            <a:extLst>
              <a:ext uri="{FF2B5EF4-FFF2-40B4-BE49-F238E27FC236}">
                <a16:creationId xmlns:a16="http://schemas.microsoft.com/office/drawing/2014/main" id="{3AC85755-D033-2CD1-2220-F80D72397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963" y="1919288"/>
            <a:ext cx="6427787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60759544-D3CE-9B51-8F69-048CA61414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7938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树形结构目录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6323" name="Picture 6">
            <a:extLst>
              <a:ext uri="{FF2B5EF4-FFF2-40B4-BE49-F238E27FC236}">
                <a16:creationId xmlns:a16="http://schemas.microsoft.com/office/drawing/2014/main" id="{99C48781-CDDF-91BB-1CA4-6E260F9E5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3" y="1427163"/>
            <a:ext cx="7485062" cy="476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12BEB39-ABD5-2ED5-C97B-4D2B8CBC0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6038" y="900113"/>
            <a:ext cx="8394700" cy="45307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高效搜索</a:t>
            </a:r>
            <a:endParaRPr lang="en-US" altLang="en-US" sz="24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分组能力</a:t>
            </a:r>
            <a:endParaRPr lang="en-US" altLang="en-US" sz="24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当前目录</a:t>
            </a:r>
            <a:r>
              <a:rPr lang="en-US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工作目录</a:t>
            </a:r>
            <a:r>
              <a:rPr lang="en-US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en-US" sz="24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/spell/mail/prog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en-US" sz="24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 list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75C98033-AEDD-DAF2-C246-877D177BE6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4763" y="15081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树形结构目录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94A0F6F-E460-D87B-7FE5-38B5A8B524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6575" y="1120775"/>
            <a:ext cx="7781925" cy="299243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2857500" algn="ctr"/>
              </a:tabLst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绝对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相对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路径名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2857500" algn="ctr"/>
              </a:tabLst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在当前目录创建一个新文件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2857500" algn="ctr"/>
              </a:tabLst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删除文件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Monotype Sorts" pitchFamily="-84" charset="2"/>
              <a:buNone/>
              <a:tabLst>
                <a:tab pos="2857500" algn="ctr"/>
              </a:tabLst>
            </a:pP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rm &lt;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文件名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&gt;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2857500" algn="ctr"/>
              </a:tabLst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在当前目录中创建一个新的子目录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50000"/>
              </a:lnSpc>
              <a:buClr>
                <a:srgbClr val="993300"/>
              </a:buClr>
              <a:buSzPct val="90000"/>
              <a:buFont typeface="Monotype Sorts" pitchFamily="-84" charset="2"/>
              <a:buNone/>
              <a:tabLst>
                <a:tab pos="2857500" algn="ctr"/>
              </a:tabLst>
            </a:pP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mkdir &lt;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目录名称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342900" lvl="1" indent="-342900">
              <a:lnSpc>
                <a:spcPct val="150000"/>
              </a:lnSpc>
              <a:buClr>
                <a:srgbClr val="993300"/>
              </a:buClr>
              <a:buSzPct val="90000"/>
              <a:buFont typeface="Monotype Sorts" pitchFamily="-84" charset="2"/>
              <a:buNone/>
              <a:tabLst>
                <a:tab pos="2857500" algn="ctr"/>
              </a:tabLst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示例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如果在当前目录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/mail</a:t>
            </a:r>
          </a:p>
          <a:p>
            <a:pPr marL="342900" lvl="1" indent="-342900">
              <a:lnSpc>
                <a:spcPct val="150000"/>
              </a:lnSpc>
              <a:buClr>
                <a:srgbClr val="993300"/>
              </a:buClr>
              <a:buSzPct val="90000"/>
              <a:buFont typeface="Monotype Sorts" pitchFamily="-84" charset="2"/>
              <a:buNone/>
              <a:tabLst>
                <a:tab pos="2857500" algn="ctr"/>
              </a:tabLst>
            </a:pP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		mkdir count</a:t>
            </a:r>
          </a:p>
        </p:txBody>
      </p:sp>
      <p:sp>
        <p:nvSpPr>
          <p:cNvPr id="58372" name="Rectangle 11">
            <a:extLst>
              <a:ext uri="{FF2B5EF4-FFF2-40B4-BE49-F238E27FC236}">
                <a16:creationId xmlns:a16="http://schemas.microsoft.com/office/drawing/2014/main" id="{CDF0900E-4C93-17BA-354E-6DF3E19E1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8550" y="3043238"/>
            <a:ext cx="5773738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tabLst>
                <a:tab pos="2857500" algn="ctr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tabLst>
                <a:tab pos="2857500" algn="ctr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tabLst>
                <a:tab pos="2857500" algn="ctr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tabLst>
                <a:tab pos="2857500" algn="ctr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tabLst>
                <a:tab pos="2857500" algn="ctr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2857500" algn="ctr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2857500" algn="ctr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2857500" algn="ctr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2857500" algn="ctr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i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r>
              <a:rPr kumimoji="0" lang="en-US" altLang="en-US" sz="2000" i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ja-JP" altLang="en-US" sz="2000" i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kumimoji="0" lang="en-US" altLang="ja-JP" sz="2000" i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mail</a:t>
            </a:r>
            <a:r>
              <a:rPr kumimoji="0" lang="ja-JP" altLang="en-US" sz="2000" i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kumimoji="0" lang="en-US" altLang="ja-JP" sz="2000" i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en-US" altLang="ja-JP" sz="2000" i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 </a:t>
            </a:r>
            <a:r>
              <a:rPr kumimoji="0" lang="zh-CN" altLang="en-US" sz="2000" i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删除以</a:t>
            </a:r>
            <a:r>
              <a:rPr kumimoji="0" lang="ja-JP" altLang="en-US" sz="2000" i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“</a:t>
            </a:r>
            <a:r>
              <a:rPr kumimoji="0" lang="en-US" altLang="ja-JP" sz="2000" i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mail</a:t>
            </a:r>
            <a:r>
              <a:rPr kumimoji="0" lang="ja-JP" altLang="en-US" sz="2000" i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”</a:t>
            </a:r>
            <a:r>
              <a:rPr kumimoji="0" lang="zh-CN" altLang="en-US" sz="2000" i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为根的整个子树</a:t>
            </a:r>
            <a:endParaRPr kumimoji="0" lang="en-US" altLang="en-US" sz="2000" i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8373" name="Picture 1">
            <a:extLst>
              <a:ext uri="{FF2B5EF4-FFF2-40B4-BE49-F238E27FC236}">
                <a16:creationId xmlns:a16="http://schemas.microsoft.com/office/drawing/2014/main" id="{4174A889-20EB-5A66-8486-58AF88AE39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7213" y="1411288"/>
            <a:ext cx="3911600" cy="134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DC320FA3-2456-EF92-7F0D-6A8622E4E7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081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无环图目录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0CE99823-8186-9E5E-7A4C-5C7D975912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093788"/>
            <a:ext cx="7383463" cy="522287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有共享的子目录和文件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0420" name="Picture 7" descr="10">
            <a:extLst>
              <a:ext uri="{FF2B5EF4-FFF2-40B4-BE49-F238E27FC236}">
                <a16:creationId xmlns:a16="http://schemas.microsoft.com/office/drawing/2014/main" id="{035B0BC2-BE87-5186-3440-A45702742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325" y="2109788"/>
            <a:ext cx="4960938" cy="400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8A2E92C8-4F7D-C9DB-C0B6-8685F64BF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35238" y="136525"/>
            <a:ext cx="7718425" cy="576263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无环图目录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BF5DBA21-83C0-A67A-8258-5DEECEFF2D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1488" y="1065213"/>
            <a:ext cx="11845925" cy="497522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创建共享目录操作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链接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(Link)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指向现有文件的另一个名称（指针）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解析链接 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跟随指针以定位文件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两个不同的名称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别名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en-US" sz="2400" b="1">
                <a:solidFill>
                  <a:srgbClr val="0070C0"/>
                </a:solidFill>
              </a:rPr>
              <a:t> aliasing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其中一个操作会影响其他目录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dict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 i="1">
                <a:latin typeface="微软雅黑" panose="020B0503020204020204" pitchFamily="34" charset="-122"/>
                <a:ea typeface="微软雅黑" panose="020B0503020204020204" pitchFamily="34" charset="-122"/>
              </a:rPr>
              <a:t>list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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悬空指针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buFont typeface="Monotype Sorts" pitchFamily="-84" charset="2"/>
              <a:buNone/>
            </a:pP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解决方案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反向删除指针</a:t>
            </a:r>
            <a:r>
              <a:rPr lang="en-US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删除所有关联的指针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访问计数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en-US" sz="2400" b="1">
                <a:solidFill>
                  <a:srgbClr val="0070C0"/>
                </a:solidFill>
              </a:rPr>
              <a:t>Entry-hold-count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，记录所有访问该目录的数量，数量为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时删除文件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E8FDFBE2-C68B-3FA5-FBC7-0899B98187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4288" y="179388"/>
            <a:ext cx="7656512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通用图目录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4515" name="Picture 6" descr="10">
            <a:extLst>
              <a:ext uri="{FF2B5EF4-FFF2-40B4-BE49-F238E27FC236}">
                <a16:creationId xmlns:a16="http://schemas.microsoft.com/office/drawing/2014/main" id="{27B50E27-0AAB-AE0C-4240-D05B9582B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088" y="2036763"/>
            <a:ext cx="6616700" cy="391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8EF8FF5-1E80-DD77-D547-FC78A3897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093788"/>
            <a:ext cx="7383463" cy="5222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p"/>
              <a:defRPr/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允许循环的目录结构</a:t>
            </a:r>
            <a:endParaRPr lang="en-US" altLang="en-US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64466F55-B8BB-E875-C4AA-8051B0AB3D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32063" y="179388"/>
            <a:ext cx="7707312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通用图目录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F5E48375-B5C4-DF52-6E93-06BDAEAB24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0238" y="1135063"/>
            <a:ext cx="10306050" cy="453072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为了保证正确性和性能，在图目录中要尽量避免出现环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我们如何保证没有循环？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只允许链接到文件而不是子目录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垃圾收集（</a:t>
            </a:r>
            <a:r>
              <a:rPr lang="en-US" altLang="en-US" sz="2400" b="1">
                <a:solidFill>
                  <a:srgbClr val="0070C0"/>
                </a:solidFill>
              </a:rPr>
              <a:t>Garbage collection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en-US" sz="24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每次添加新链接时，使用循环检测算法来确定它是否正常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201B2E87-2D72-BE69-36FE-167CB6082C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2375" y="136525"/>
            <a:ext cx="7718425" cy="576263"/>
          </a:xfrm>
        </p:spPr>
        <p:txBody>
          <a:bodyPr/>
          <a:lstStyle/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11.4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文件系统挂载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2E5531FD-1047-98C2-E61B-B6B2F90049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055688"/>
            <a:ext cx="9671050" cy="1119187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必须先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挂载（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Mount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文件系统才能访问它</a:t>
            </a:r>
            <a:endParaRPr lang="en-US" altLang="en-US" sz="2400" b="1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一个未挂载的文件系统被挂载在一个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挂载点上</a:t>
            </a:r>
            <a:endParaRPr lang="en-US" altLang="zh-CN" sz="24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一般一个挂载点是一个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空目录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使用设备驱动读取文件目录并判定目录是否具备对应的文件格式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8612" name="Picture 1" descr="11_14.pdf">
            <a:extLst>
              <a:ext uri="{FF2B5EF4-FFF2-40B4-BE49-F238E27FC236}">
                <a16:creationId xmlns:a16="http://schemas.microsoft.com/office/drawing/2014/main" id="{B09F3E36-9690-EA50-15B8-2440B2E21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888" y="3597275"/>
            <a:ext cx="5091112" cy="294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B9964DA7-C05D-A5F1-E3ED-DAC7E06158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081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挂载点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0659" name="Picture 5">
            <a:extLst>
              <a:ext uri="{FF2B5EF4-FFF2-40B4-BE49-F238E27FC236}">
                <a16:creationId xmlns:a16="http://schemas.microsoft.com/office/drawing/2014/main" id="{DBF2C55B-E2B5-729F-4E25-92BDE9927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263" y="1257300"/>
            <a:ext cx="2984500" cy="342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7EFCF922-EF53-B789-05CB-A557ED5B1A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3652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11.5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文件共享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7A15823F-9EC0-0F96-6699-D77099CF3A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3888" y="1106488"/>
            <a:ext cx="9385300" cy="45307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在多用户系统上共享文件是可取的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共享过程需要进行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文件保护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在分布式系统中，文件可以通过网络共享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网络文件系统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(NFS)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是一种常见的分布式文件共享方法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多用户系统的保护方法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标识用户，允许每个用户的权限和保护</a:t>
            </a:r>
            <a:b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允许用户在组中，允许组访问权限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目录的所有者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一组文件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endParaRPr lang="en-US" altLang="en-US" sz="2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63DD576F-5E25-5BF9-170D-F9D5270C4F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11388" y="196850"/>
            <a:ext cx="8531225" cy="576263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文件共享 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远程文件系统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5EB70416-D916-CBD0-4172-D61F645B57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6113" y="868363"/>
            <a:ext cx="9593262" cy="551338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0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使用网络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允许系统之间的文件系统访问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通过文件传输协议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FTP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等程序手动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自动、无缝地使用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分布式文件系统</a:t>
            </a:r>
            <a:endParaRPr lang="en-US" altLang="en-US" sz="20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半自动通过</a:t>
            </a:r>
            <a:r>
              <a:rPr lang="en-US" altLang="zh-CN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WWW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万维网</a:t>
            </a:r>
            <a:endParaRPr lang="en-US" altLang="zh-CN" sz="20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云存储</a:t>
            </a:r>
            <a:endParaRPr lang="en-US" altLang="en-US" sz="20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客户机</a:t>
            </a:r>
            <a:r>
              <a:rPr lang="en-US" altLang="zh-CN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模式允许客户端从服务器挂载远程文件系统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服务器能服务多个客户端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NFS</a:t>
            </a:r>
            <a:r>
              <a:rPr lang="en-US" altLang="en-US" sz="20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是标准的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UNIX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服务器文件共享协议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CIFS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是标准的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标准操作系统文件调用被转换成远程调用</a:t>
            </a:r>
            <a:endParaRPr lang="en-US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3ECB8E47-7996-F2AF-13EE-1615D0959D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3313" y="136525"/>
            <a:ext cx="7888287" cy="576263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文件共享 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故障模式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8CD2CBC1-FAA4-C03D-3A10-BA89AC0180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3100" y="1109663"/>
            <a:ext cx="10748963" cy="4429125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LDAP, DNS, NIS, Active Directory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等分布式信息系统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分布式命名服务</a:t>
            </a: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实现对远程计算所需信息的统一访问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所有文件系统都有故障模式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例如目录结构或其他非用户数据（称为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元数据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）的损坏</a:t>
            </a:r>
            <a:endParaRPr lang="en-US" altLang="en-US" sz="2400" b="1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网络故障、服务器故障等，远程文件系统引入新的故障模式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从故障中恢复可能涉及关于每个远程请求状态的</a:t>
            </a:r>
            <a:r>
              <a:rPr lang="zh-CN" altLang="en-US" sz="2400" b="1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状态信息</a:t>
            </a:r>
            <a:endParaRPr lang="en-US" altLang="en-US" sz="2400" b="1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34BB2987-F3D4-11A8-53B1-250D127A6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98650" y="176213"/>
            <a:ext cx="8501063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文件共享 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一致性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BEE55125-3DF5-B63C-1468-DE5A2947EC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5788" y="1071563"/>
            <a:ext cx="12057062" cy="50038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指定多个用户如何同时访问共享文件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类似于第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章的进程同步算法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由于磁盘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和网络延迟的原因，往往不太复杂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Andrew File System (AFS)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实现了复杂的远程文件共享语义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Unix file system (UFS)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写入正在打开的文件，该文件的其他用户可以立即看到该文件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共享文件指针，允许多个用户同时读写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en-US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AFS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具有会话语义，仅向文件关闭后启动的会话写入可见内容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en-US" altLang="en-US" sz="2400"/>
          </a:p>
          <a:p>
            <a:endParaRPr lang="en-US" altLang="en-US" sz="2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3CC0CA8F-9F49-3F90-38E2-6AB293827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39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11.6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保护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AF80F357-8BDD-187F-A19C-6C503A1497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7863" y="1168400"/>
            <a:ext cx="8151812" cy="5241925"/>
          </a:xfrm>
        </p:spPr>
        <p:txBody>
          <a:bodyPr/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文件所有者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创建者应该能够控制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谁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做什么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访问类型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读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写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附加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访问文件属性列表</a:t>
            </a:r>
            <a:endParaRPr lang="en-US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E0F02E0B-6861-E35F-D8C3-BAE3AFEEB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9775" y="15398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访问列表和组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A414561C-1AA4-1A6E-B05A-4DA285F992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6900" y="966788"/>
            <a:ext cx="11060113" cy="357505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访问方式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读、写、执行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Unix / Linux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上的三类用户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-84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en-US" sz="100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			RWX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-84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		a)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所有者访问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	7	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	1 1 1</a:t>
            </a:r>
            <a:b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</a:b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				RWX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-84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		b)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组访问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	6	 	1 1 0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-84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					RWX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-84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		c) 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公开访问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	1	 	0 0 1</a:t>
            </a: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p"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要求管理员创建一个组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唯一名称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，比如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G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，并向组中添加一些用户。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p"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对于特定的文件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比如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game)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或子目录，定义适当的访问权限。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82948" name="Rectangle 13">
            <a:extLst>
              <a:ext uri="{FF2B5EF4-FFF2-40B4-BE49-F238E27FC236}">
                <a16:creationId xmlns:a16="http://schemas.microsoft.com/office/drawing/2014/main" id="{6868A5F5-D262-065D-D644-A13B9E6B2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950" y="5419725"/>
            <a:ext cx="7029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tabLst>
                <a:tab pos="1833563" algn="l"/>
                <a:tab pos="4459288" algn="l"/>
                <a:tab pos="5195888" algn="l"/>
                <a:tab pos="58880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tabLst>
                <a:tab pos="1833563" algn="l"/>
                <a:tab pos="4459288" algn="l"/>
                <a:tab pos="5195888" algn="l"/>
                <a:tab pos="58880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tabLst>
                <a:tab pos="1833563" algn="l"/>
                <a:tab pos="4459288" algn="l"/>
                <a:tab pos="5195888" algn="l"/>
                <a:tab pos="58880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tabLst>
                <a:tab pos="1833563" algn="l"/>
                <a:tab pos="4459288" algn="l"/>
                <a:tab pos="5195888" algn="l"/>
                <a:tab pos="58880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tabLst>
                <a:tab pos="1833563" algn="l"/>
                <a:tab pos="4459288" algn="l"/>
                <a:tab pos="5195888" algn="l"/>
                <a:tab pos="58880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1833563" algn="l"/>
                <a:tab pos="4459288" algn="l"/>
                <a:tab pos="5195888" algn="l"/>
                <a:tab pos="58880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1833563" algn="l"/>
                <a:tab pos="4459288" algn="l"/>
                <a:tab pos="5195888" algn="l"/>
                <a:tab pos="58880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1833563" algn="l"/>
                <a:tab pos="4459288" algn="l"/>
                <a:tab pos="5195888" algn="l"/>
                <a:tab pos="58880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1833563" algn="l"/>
                <a:tab pos="4459288" algn="l"/>
                <a:tab pos="5195888" algn="l"/>
                <a:tab pos="58880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SzTx/>
              <a:buFont typeface="Monotype Sorts" pitchFamily="-84" charset="2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将组附加到文件</a:t>
            </a:r>
            <a:br>
              <a:rPr lang="en-US" altLang="en-US" sz="2000">
                <a:latin typeface="Arial" panose="020B0604020202020204" pitchFamily="34" charset="0"/>
                <a:ea typeface="微软雅黑" panose="020B0503020204020204" pitchFamily="34" charset="-122"/>
                <a:sym typeface="Symbol" panose="05050102010706020507" pitchFamily="18" charset="2"/>
              </a:rPr>
            </a:br>
            <a:r>
              <a:rPr lang="en-US" altLang="en-US" sz="2000">
                <a:latin typeface="Arial" panose="020B0604020202020204" pitchFamily="34" charset="0"/>
                <a:ea typeface="微软雅黑" panose="020B0503020204020204" pitchFamily="34" charset="-122"/>
                <a:sym typeface="Symbol" panose="05050102010706020507" pitchFamily="18" charset="2"/>
              </a:rPr>
              <a:t>	         </a:t>
            </a:r>
            <a:r>
              <a:rPr lang="en-US" altLang="en-US" sz="20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chgrp     G    game</a:t>
            </a:r>
          </a:p>
        </p:txBody>
      </p:sp>
      <p:pic>
        <p:nvPicPr>
          <p:cNvPr id="82949" name="Picture 1">
            <a:extLst>
              <a:ext uri="{FF2B5EF4-FFF2-40B4-BE49-F238E27FC236}">
                <a16:creationId xmlns:a16="http://schemas.microsoft.com/office/drawing/2014/main" id="{BBC066BA-41FB-EDBD-29D8-08E11D939C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6350" y="2276475"/>
            <a:ext cx="251301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32BEF94E-BDA0-B3A8-28EA-697E842FC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01938" y="90488"/>
            <a:ext cx="7864475" cy="609600"/>
          </a:xfrm>
        </p:spPr>
        <p:txBody>
          <a:bodyPr/>
          <a:lstStyle/>
          <a:p>
            <a:pPr eaLnBrk="1" hangingPunct="1"/>
            <a:r>
              <a:rPr lang="en-US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Windows 7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访问控制列表管理</a:t>
            </a:r>
            <a:endParaRPr lang="en-US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4995" name="Picture 2" descr="11_16.pdf">
            <a:extLst>
              <a:ext uri="{FF2B5EF4-FFF2-40B4-BE49-F238E27FC236}">
                <a16:creationId xmlns:a16="http://schemas.microsoft.com/office/drawing/2014/main" id="{94904AAA-521F-8EE2-5C77-3EF0BA2E0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625" y="1120775"/>
            <a:ext cx="3533775" cy="486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550B34B0-6ED0-AA06-B129-1D16DF8009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3325" y="150813"/>
            <a:ext cx="7737475" cy="576262"/>
          </a:xfrm>
        </p:spPr>
        <p:txBody>
          <a:bodyPr/>
          <a:lstStyle/>
          <a:p>
            <a:pPr eaLnBrk="1" hangingPunct="1"/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UNIX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目录列表示例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7043" name="Picture 4">
            <a:extLst>
              <a:ext uri="{FF2B5EF4-FFF2-40B4-BE49-F238E27FC236}">
                <a16:creationId xmlns:a16="http://schemas.microsoft.com/office/drawing/2014/main" id="{F0507708-C55E-62F8-554B-F8E1B745CC1F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" t="27065" r="722" b="27065"/>
          <a:stretch>
            <a:fillRect/>
          </a:stretch>
        </p:blipFill>
        <p:spPr>
          <a:xfrm>
            <a:off x="2867025" y="2011363"/>
            <a:ext cx="6629400" cy="2592387"/>
          </a:xfr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标题 1">
            <a:extLst>
              <a:ext uri="{FF2B5EF4-FFF2-40B4-BE49-F238E27FC236}">
                <a16:creationId xmlns:a16="http://schemas.microsoft.com/office/drawing/2014/main" id="{209CD547-2CB9-E693-E9B0-C9F30226D1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</a:p>
        </p:txBody>
      </p:sp>
      <p:sp>
        <p:nvSpPr>
          <p:cNvPr id="89091" name="内容占位符 2">
            <a:extLst>
              <a:ext uri="{FF2B5EF4-FFF2-40B4-BE49-F238E27FC236}">
                <a16:creationId xmlns:a16="http://schemas.microsoft.com/office/drawing/2014/main" id="{7B46EC69-172C-05A5-E166-27A2B3C23C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11.2, 11.3, 11.5, 11.10, 11.11, 11.12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AD457AC1-DAE9-393F-393E-07CAB0E7F39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814388"/>
            <a:ext cx="7772400" cy="2127250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章 结束</a:t>
            </a:r>
            <a:endParaRPr lang="en-US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10190</TotalTime>
  <Words>2035</Words>
  <Application>Microsoft Office PowerPoint</Application>
  <PresentationFormat>宽屏</PresentationFormat>
  <Paragraphs>334</Paragraphs>
  <Slides>43</Slides>
  <Notes>42</Notes>
  <HiddenSlides>2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5" baseType="lpstr">
      <vt:lpstr>Verdana</vt:lpstr>
      <vt:lpstr>MS PGothic</vt:lpstr>
      <vt:lpstr>Arial</vt:lpstr>
      <vt:lpstr>Helvetica</vt:lpstr>
      <vt:lpstr>Monotype Sorts</vt:lpstr>
      <vt:lpstr>Webdings</vt:lpstr>
      <vt:lpstr>Times New Roman</vt:lpstr>
      <vt:lpstr>微软雅黑</vt:lpstr>
      <vt:lpstr>Wingdings</vt:lpstr>
      <vt:lpstr>Courier New</vt:lpstr>
      <vt:lpstr>Symbol</vt:lpstr>
      <vt:lpstr>os-8</vt:lpstr>
      <vt:lpstr>第11章 文件系统接口</vt:lpstr>
      <vt:lpstr>第11章:  文件系统接口</vt:lpstr>
      <vt:lpstr>11.1 文件概念</vt:lpstr>
      <vt:lpstr>文件属性</vt:lpstr>
      <vt:lpstr>文件信息窗口</vt:lpstr>
      <vt:lpstr>文件操作</vt:lpstr>
      <vt:lpstr>打开文件</vt:lpstr>
      <vt:lpstr>打开文件锁定</vt:lpstr>
      <vt:lpstr>文件锁定示例 – Java API</vt:lpstr>
      <vt:lpstr>文件锁定示例 – Java API (续)</vt:lpstr>
      <vt:lpstr>文件类型 – 名称, 扩展名</vt:lpstr>
      <vt:lpstr>文件结构</vt:lpstr>
      <vt:lpstr>11.2 访问方法</vt:lpstr>
      <vt:lpstr>顺序访问文件</vt:lpstr>
      <vt:lpstr>使用直接访问达到顺序访问效果</vt:lpstr>
      <vt:lpstr>其他访问方法</vt:lpstr>
      <vt:lpstr>索引和相关文件示例</vt:lpstr>
      <vt:lpstr>11.3 目录结构</vt:lpstr>
      <vt:lpstr>磁盘结构</vt:lpstr>
      <vt:lpstr>典型的文件系统组织</vt:lpstr>
      <vt:lpstr>文件系统的类型</vt:lpstr>
      <vt:lpstr>对目录执行的操作</vt:lpstr>
      <vt:lpstr>目录组织</vt:lpstr>
      <vt:lpstr>单级目录</vt:lpstr>
      <vt:lpstr>两级目录</vt:lpstr>
      <vt:lpstr>树形结构目录</vt:lpstr>
      <vt:lpstr>树形结构目录</vt:lpstr>
      <vt:lpstr>无环图目录</vt:lpstr>
      <vt:lpstr>无环图目录</vt:lpstr>
      <vt:lpstr>通用图目录</vt:lpstr>
      <vt:lpstr>通用图目录</vt:lpstr>
      <vt:lpstr>11.4 文件系统挂载</vt:lpstr>
      <vt:lpstr>挂载点</vt:lpstr>
      <vt:lpstr>11.5 文件共享</vt:lpstr>
      <vt:lpstr>文件共享 – 远程文件系统</vt:lpstr>
      <vt:lpstr>文件共享 – 故障模式</vt:lpstr>
      <vt:lpstr>文件共享 – 一致性</vt:lpstr>
      <vt:lpstr>11.6 保护</vt:lpstr>
      <vt:lpstr>访问列表和组</vt:lpstr>
      <vt:lpstr>Windows 7访问控制列表管理</vt:lpstr>
      <vt:lpstr>UNIX 目录列表示例</vt:lpstr>
      <vt:lpstr>作业</vt:lpstr>
      <vt:lpstr>第11章 结束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1.01</dc:title>
  <dc:creator>Lucent End User</dc:creator>
  <cp:lastModifiedBy>浩嘉 申</cp:lastModifiedBy>
  <cp:revision>215</cp:revision>
  <dcterms:created xsi:type="dcterms:W3CDTF">2004-10-07T18:29:30Z</dcterms:created>
  <dcterms:modified xsi:type="dcterms:W3CDTF">2026-06-03T15:01:31Z</dcterms:modified>
</cp:coreProperties>
</file>