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  <p:sldMasterId id="2147483701" r:id="rId2"/>
  </p:sldMasterIdLst>
  <p:notesMasterIdLst>
    <p:notesMasterId r:id="rId49"/>
  </p:notesMasterIdLst>
  <p:sldIdLst>
    <p:sldId id="786" r:id="rId3"/>
    <p:sldId id="535" r:id="rId4"/>
    <p:sldId id="750" r:id="rId5"/>
    <p:sldId id="751" r:id="rId6"/>
    <p:sldId id="746" r:id="rId7"/>
    <p:sldId id="753" r:id="rId8"/>
    <p:sldId id="754" r:id="rId9"/>
    <p:sldId id="755" r:id="rId10"/>
    <p:sldId id="779" r:id="rId11"/>
    <p:sldId id="756" r:id="rId12"/>
    <p:sldId id="757" r:id="rId13"/>
    <p:sldId id="780" r:id="rId14"/>
    <p:sldId id="781" r:id="rId15"/>
    <p:sldId id="784" r:id="rId16"/>
    <p:sldId id="785" r:id="rId17"/>
    <p:sldId id="787" r:id="rId18"/>
    <p:sldId id="758" r:id="rId19"/>
    <p:sldId id="759" r:id="rId20"/>
    <p:sldId id="760" r:id="rId21"/>
    <p:sldId id="761" r:id="rId22"/>
    <p:sldId id="762" r:id="rId23"/>
    <p:sldId id="774" r:id="rId24"/>
    <p:sldId id="775" r:id="rId25"/>
    <p:sldId id="747" r:id="rId26"/>
    <p:sldId id="788" r:id="rId27"/>
    <p:sldId id="763" r:id="rId28"/>
    <p:sldId id="764" r:id="rId29"/>
    <p:sldId id="765" r:id="rId30"/>
    <p:sldId id="766" r:id="rId31"/>
    <p:sldId id="767" r:id="rId32"/>
    <p:sldId id="789" r:id="rId33"/>
    <p:sldId id="748" r:id="rId34"/>
    <p:sldId id="790" r:id="rId35"/>
    <p:sldId id="768" r:id="rId36"/>
    <p:sldId id="769" r:id="rId37"/>
    <p:sldId id="791" r:id="rId38"/>
    <p:sldId id="770" r:id="rId39"/>
    <p:sldId id="776" r:id="rId40"/>
    <p:sldId id="749" r:id="rId41"/>
    <p:sldId id="782" r:id="rId42"/>
    <p:sldId id="792" r:id="rId43"/>
    <p:sldId id="771" r:id="rId44"/>
    <p:sldId id="772" r:id="rId45"/>
    <p:sldId id="773" r:id="rId46"/>
    <p:sldId id="777" r:id="rId47"/>
    <p:sldId id="778" r:id="rId4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200" b="1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60066"/>
    <a:srgbClr val="00CC00"/>
    <a:srgbClr val="996633"/>
    <a:srgbClr val="6666FF"/>
    <a:srgbClr val="3366FF"/>
    <a:srgbClr val="CCFF99"/>
    <a:srgbClr val="99FF33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66" d="100"/>
          <a:sy n="66" d="100"/>
        </p:scale>
        <p:origin x="0" y="0"/>
      </p:cViewPr>
      <p:guideLst>
        <p:guide orient="horz" pos="2160"/>
        <p:guide pos="2880"/>
      </p:guideLst>
    </p:cSldViewPr>
  </p:slideViewPr>
  <p:gridSpacing cx="76198" cy="7619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82C7054-B684-5CBE-7275-15714218BCC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481C634-BB82-D60D-F8D0-93EA0233302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C219953-6A9F-6BEB-1BF5-DFF4B129B85A}"/>
              </a:ext>
            </a:extLst>
          </p:cNvPr>
          <p:cNvSpPr>
            <a:spLocks noGrp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065E6078-7AB7-CD75-FDFD-5E064CB8E78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7BA8ABCE-96AF-3101-3CC5-F760415758E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AB8C2ABC-C2CD-C178-2BB4-9F285BD000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fld id="{8CC6B3E9-11F1-4DB2-885E-4654FC6D659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76B8DC-4EC7-B5FF-2EBC-01131EF2D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A369F36-9EB5-EF7F-4B33-CBA0EF66B1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73F855-F599-5CB0-9330-C7A53DA72B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13.</a:t>
            </a:r>
            <a:fld id="{FF5B8735-04F0-44FF-86F4-B25A5FA4003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7696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ACAE0-A614-2D9F-CB0E-1D10E914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982F82-019B-ED2E-2978-C099E3FCB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134E41-E7E5-93B1-EA91-5A8FC85653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13.</a:t>
            </a:r>
            <a:fld id="{082FC3C8-7DE9-40D1-8682-8E371295BEC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240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D2CE98-7F7B-33B8-6E88-14B5DC02D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DF1110-693D-9AAE-31BE-115D2686E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4F16E0F-B66C-8C30-930E-8C0FF21BF9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13.</a:t>
            </a:r>
            <a:fld id="{9B4AF033-E4F8-4B1A-812D-0D92C27D221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9995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B181FB-03C1-F151-C4EF-D5ED491F5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17E736-5699-9C3E-32B6-B96E964118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8118FB-CE24-C879-D948-068BEEAE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73286E0-2DD1-E1C3-8CD4-6688B516F5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13.</a:t>
            </a:r>
            <a:fld id="{3BC27DBD-285D-41ED-A177-563E28A9AF9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7612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858E22-5354-73AF-5195-30BD8A7D9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2A16AA-6975-A76B-C920-AF2EEEA47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C0F29C6-9DDC-346A-AC31-A601A1078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F96D36A-C095-E9DA-31DF-202F7BB051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C02A3CB-7C73-9066-B32C-4E187F2C61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0F647FF-CB26-8D65-55CF-31C5B568DF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13.</a:t>
            </a:r>
            <a:fld id="{D6B57FAC-EEF8-47BC-9D6D-77411B29537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6381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11AEA7-4C24-4405-AB4D-D91D711F6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77E2013-76A2-FD6E-D181-861EC14F94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13.</a:t>
            </a:r>
            <a:fld id="{1AE3EDA4-5B1D-4F12-8AEF-19E2B5F89AD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5724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9B4855D-BF31-3845-44FA-58E00CA31B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13.</a:t>
            </a:r>
            <a:fld id="{33685E03-C7FC-442B-993B-1D78CAAFCE9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0965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C8B431-0BB0-BEB5-E216-D933B144A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22A248-8DC8-E7BE-A80A-290C59AA6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A0FDB6-8DA7-2C72-4E21-8AA8C1B9C1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5391F5C-3B30-C715-A0C9-0EE620E786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13.</a:t>
            </a:r>
            <a:fld id="{60FEF792-D019-4205-B1CD-8C89F479A94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3378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66CF41-723C-4FD3-4A9E-1E0ABAEBF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66E1CF4-34E1-803A-375C-DA0947808A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0E78ACA-F7B1-96DF-BDB2-E9844418E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DB2E79-37F9-C37C-47C8-486B021A9B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13.</a:t>
            </a:r>
            <a:fld id="{B97656A7-0159-4F23-80C9-239F99BC8F7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41047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701B97-A68D-1447-C1A9-E2689F283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475B2F-D11E-6854-6007-FBBECFEFA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D366A5-CD92-93DE-76EF-B5826F1A32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13.</a:t>
            </a:r>
            <a:fld id="{7834E717-A371-4E19-B892-58FBB042ABF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5887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6887AE7-A6F7-20D0-F141-3A142BDCD7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E7796FA-86F1-8C92-5B76-1DFDBF9A7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1262E3-E1FC-B39A-0B90-DD214FA395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13.</a:t>
            </a:r>
            <a:fld id="{44EE421D-3BA7-48E5-B806-D984ED9779E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0734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7EBBD5-9037-DF63-B06E-BCEB88977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E006FB7-CB4E-BA6F-DE7F-0FCC569C3E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BE4041-66FC-F625-53F8-A1670D4EC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EB6831-01C3-5ADE-EA1A-9C11DE667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85FF01-3069-E5BC-7DE8-60E221A4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F75AC2-C0DB-447C-9080-5045FC834C8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8688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F768D4-173A-F60C-773A-AD71044E5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1149B3-F1E5-608E-328C-122545161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E7CE21-0460-1752-7DC6-CBB6B4C9E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8D6FCB-8F25-F7F2-0E7E-FA296F113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A2BF89-225D-1259-4175-2B11074DA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F2AD27-7D67-48AD-9AE1-1512B1F59C5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2326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13C8E6-5D16-189C-6514-E7176BA44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5F42E5-E32A-B923-544A-0E44845D7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6AD4F9-6451-62EB-FFAD-1AA856C98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35F5F3-A459-56F1-EBF6-6F9E3852F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96C9B2-5DBA-B1F4-27C8-0A5576C54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771051-6A4B-490E-A989-F16F7EAAF71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18430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3D05C6-C3A1-230E-6C4E-8A840E86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3DD1D0-3C98-9C9B-8B26-724165CD5F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DB33B15-C68A-E30E-0934-77B2A34D0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606537-7341-5173-AB17-CE919F50A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C92ABF-FFB8-05BA-EDAE-16444DA4D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1AA530-1F5F-FE4A-2502-B02F7F0FE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276C23-E697-49FE-8AF2-8E38ACE891E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11384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AA9F93-CC9A-89AF-F8BD-3179341FF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BEDA4C-8504-02B2-3D19-FBC53D2A0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3E37F76-316C-6062-7CAF-4561B5E8D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C77E31B-9B49-676F-1BB7-1863F0D37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99A648A-126F-CEAE-12A3-61447F351B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4B91649-9C92-D3BF-F8A2-5CE8ED0D3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62702ED-4A71-296A-F51F-22AEFA842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E32B2FF-9621-70AF-D565-A51C0CA54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5C0B08-6CB8-4FDB-A05A-116362D36A0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629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464CEF-8DE6-583E-C577-BEF751C40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9C833EC-6769-7D48-EFE6-FA6E92386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F8FE22F-B8D1-1660-AB41-A088E00B7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10CBE13-6217-2517-11BD-4CA48CF02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8814C5-616D-4983-8228-29338E6F4C3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854712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C4BB91-84AB-0D8B-60D1-C373606AC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D7A7FAD-9616-960D-4823-CDC8196AF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3ED5B1-9534-84E0-F436-86099DB19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CD2E7A-6A60-4F37-A3F5-B7547884C9A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38984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31A89-33E5-569C-E8BF-B5CADBECC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F60FD8-6428-C6D3-02AC-2F6D20650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23613A-A555-5878-0E89-E3B89971E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BC5906-E829-E1B9-5AA4-4ABF94C6F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6D7433-699B-C3C2-C91C-FA529EF7A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69E8A2-0BF8-5465-6843-A12C232A0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B73CE8-FF39-4B6A-BB7C-1FC03F279F1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621647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7B6CC1-CFB3-E11C-55CB-DF8778377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3C6CD52-EAE0-435D-ABAA-72B78F58AD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8B152C-B981-4980-D44C-33CB5FCF2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C248D7-67A0-6911-FCE5-79FF420C7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EF6D30-0461-7CCE-B23C-E03795812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13D4DF-26BB-E067-DB0C-8CE18DF28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9DB2AA-A1E9-474B-B300-58D64C941B6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82469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14F3B6-01BF-D969-2FE8-6DA22D3A3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F2CC1A5-97CD-9F76-510C-AE4AFA8A0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8931EF-B99D-0ACB-BF33-C4D7BC984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A11A81-196C-57B4-88B3-3BFDA251C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E56A74-7F56-3453-D607-961F51A19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0F7A47-5E5C-4A2E-9468-B5524C911F9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13702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1C95360-E8A8-55DF-7831-B6601F2970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351D5F-3277-3478-FA63-0F54B1C300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3DFE96-2539-8AB5-7585-88771FB3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746FFF-22ED-D547-B07F-F46C6E208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23CE2F-8C09-69F1-5656-5340813E0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C3AE08-2900-48AB-A8F2-DFDF6558B87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9715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6">
            <a:extLst>
              <a:ext uri="{FF2B5EF4-FFF2-40B4-BE49-F238E27FC236}">
                <a16:creationId xmlns:a16="http://schemas.microsoft.com/office/drawing/2014/main" id="{C5512F0A-CEAD-F131-7BA7-29B5BCA99BC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000">
                <a:solidFill>
                  <a:schemeClr val="bg2"/>
                </a:solidFill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13.</a:t>
            </a:r>
            <a:fld id="{41C02A63-6CC9-494A-AA8C-FCDCC3542482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>
            <a:extLst>
              <a:ext uri="{FF2B5EF4-FFF2-40B4-BE49-F238E27FC236}">
                <a16:creationId xmlns:a16="http://schemas.microsoft.com/office/drawing/2014/main" id="{A53543C6-A661-3B1F-1069-0F03C6CE2710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0"/>
            <a:chExt cx="5675" cy="663"/>
          </a:xfrm>
        </p:grpSpPr>
        <p:grpSp>
          <p:nvGrpSpPr>
            <p:cNvPr id="2051" name="Group 3">
              <a:extLst>
                <a:ext uri="{FF2B5EF4-FFF2-40B4-BE49-F238E27FC236}">
                  <a16:creationId xmlns:a16="http://schemas.microsoft.com/office/drawing/2014/main" id="{504DA257-0FE2-F218-69E8-590FA81164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68"/>
              <a:ext cx="449" cy="299"/>
              <a:chOff x="0" y="0"/>
              <a:chExt cx="624" cy="432"/>
            </a:xfrm>
          </p:grpSpPr>
          <p:sp>
            <p:nvSpPr>
              <p:cNvPr id="2052" name="Rectangle 4">
                <a:extLst>
                  <a:ext uri="{FF2B5EF4-FFF2-40B4-BE49-F238E27FC236}">
                    <a16:creationId xmlns:a16="http://schemas.microsoft.com/office/drawing/2014/main" id="{3CD1660E-4FB4-A0F2-FCDA-45D17B1EE8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053" name="Rectangle 5">
                <a:extLst>
                  <a:ext uri="{FF2B5EF4-FFF2-40B4-BE49-F238E27FC236}">
                    <a16:creationId xmlns:a16="http://schemas.microsoft.com/office/drawing/2014/main" id="{C2DB3DA4-E66A-4835-2168-061043B864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0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054" name="Group 6">
              <a:extLst>
                <a:ext uri="{FF2B5EF4-FFF2-40B4-BE49-F238E27FC236}">
                  <a16:creationId xmlns:a16="http://schemas.microsoft.com/office/drawing/2014/main" id="{60E3710F-5783-F305-DCD5-31C41FAA1C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334"/>
              <a:ext cx="466" cy="299"/>
              <a:chOff x="0" y="0"/>
              <a:chExt cx="672" cy="432"/>
            </a:xfrm>
          </p:grpSpPr>
          <p:sp>
            <p:nvSpPr>
              <p:cNvPr id="2055" name="Rectangle 7">
                <a:extLst>
                  <a:ext uri="{FF2B5EF4-FFF2-40B4-BE49-F238E27FC236}">
                    <a16:creationId xmlns:a16="http://schemas.microsoft.com/office/drawing/2014/main" id="{EE3C7CF4-FDFE-C2CC-D4F7-F78B31216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  <p:sp>
            <p:nvSpPr>
              <p:cNvPr id="2056" name="Rectangle 8">
                <a:extLst>
                  <a:ext uri="{FF2B5EF4-FFF2-40B4-BE49-F238E27FC236}">
                    <a16:creationId xmlns:a16="http://schemas.microsoft.com/office/drawing/2014/main" id="{52024C1F-C590-2A43-F9B9-CD24E509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" y="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 sz="3200" b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zh-CN" altLang="en-US"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2057" name="Rectangle 9">
              <a:extLst>
                <a:ext uri="{FF2B5EF4-FFF2-40B4-BE49-F238E27FC236}">
                  <a16:creationId xmlns:a16="http://schemas.microsoft.com/office/drawing/2014/main" id="{9F928E11-6EFA-C6EE-FD4F-7436DE428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8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58" name="Rectangle 10">
              <a:extLst>
                <a:ext uri="{FF2B5EF4-FFF2-40B4-BE49-F238E27FC236}">
                  <a16:creationId xmlns:a16="http://schemas.microsoft.com/office/drawing/2014/main" id="{B72AD612-9947-53C3-4A5A-7E6B46D7D2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0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59" name="Rectangle 11">
              <a:extLst>
                <a:ext uri="{FF2B5EF4-FFF2-40B4-BE49-F238E27FC236}">
                  <a16:creationId xmlns:a16="http://schemas.microsoft.com/office/drawing/2014/main" id="{AC226CD5-C0C2-E769-27BB-C8A1CB47CFC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518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zh-CN" altLang="en-US">
                <a:ea typeface="宋体" panose="02010600030101010101" pitchFamily="2" charset="-122"/>
              </a:endParaRPr>
            </a:p>
          </p:txBody>
        </p:sp>
      </p:grpSp>
      <p:sp>
        <p:nvSpPr>
          <p:cNvPr id="2060" name="Text Box 17">
            <a:extLst>
              <a:ext uri="{FF2B5EF4-FFF2-40B4-BE49-F238E27FC236}">
                <a16:creationId xmlns:a16="http://schemas.microsoft.com/office/drawing/2014/main" id="{22D88E20-D7A5-13F1-65D8-376759CB8E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1400" b="0">
                <a:latin typeface="McGrawHill-Italic" pitchFamily="2" charset="0"/>
              </a:rPr>
              <a:t>McGraw-Hill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2061" name="Text Box 18">
            <a:extLst>
              <a:ext uri="{FF2B5EF4-FFF2-40B4-BE49-F238E27FC236}">
                <a16:creationId xmlns:a16="http://schemas.microsoft.com/office/drawing/2014/main" id="{EA7EB674-45D4-FDCB-3268-BD7168F58E6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  <a:buFont typeface="Arial" panose="020B0604020202020204" pitchFamily="34" charset="0"/>
              <a:buChar char="©"/>
            </a:pPr>
            <a:r>
              <a:rPr lang="en-US" altLang="zh-CN" sz="1400" b="0">
                <a:latin typeface="McGrawHill-Italic" pitchFamily="2" charset="0"/>
              </a:rPr>
              <a:t>The McGraw-Hill Companies, Inc., 2000</a:t>
            </a:r>
            <a:endParaRPr lang="en-US" altLang="zh-CN" sz="2400" b="0">
              <a:latin typeface="Times New Roman" panose="02020603050405020304" pitchFamily="18" charset="0"/>
            </a:endParaRPr>
          </a:p>
        </p:txBody>
      </p:sp>
      <p:sp>
        <p:nvSpPr>
          <p:cNvPr id="2062" name="Rectangle 14">
            <a:extLst>
              <a:ext uri="{FF2B5EF4-FFF2-40B4-BE49-F238E27FC236}">
                <a16:creationId xmlns:a16="http://schemas.microsoft.com/office/drawing/2014/main" id="{7FD734AC-FB51-2ED8-55A2-52455498BD4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bg2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063" name="Rectangle 15">
            <a:extLst>
              <a:ext uri="{FF2B5EF4-FFF2-40B4-BE49-F238E27FC236}">
                <a16:creationId xmlns:a16="http://schemas.microsoft.com/office/drawing/2014/main" id="{BAFE6156-B615-B641-9731-D047F843446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bg2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064" name="Rectangle 16">
            <a:extLst>
              <a:ext uri="{FF2B5EF4-FFF2-40B4-BE49-F238E27FC236}">
                <a16:creationId xmlns:a16="http://schemas.microsoft.com/office/drawing/2014/main" id="{A6E9F0EC-ABCD-C4C2-30B7-502485EEE48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chemeClr val="bg2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fld id="{0AF42909-8259-4E2C-9EB4-796EBC8C577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2">
            <a:extLst>
              <a:ext uri="{FF2B5EF4-FFF2-40B4-BE49-F238E27FC236}">
                <a16:creationId xmlns:a16="http://schemas.microsoft.com/office/drawing/2014/main" id="{820EDECF-1FCC-1A01-83AC-DC409BB3899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1BB64677-7D5D-44B0-AE19-682BFE4E6810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1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pic>
        <p:nvPicPr>
          <p:cNvPr id="4099" name="Picture 2" descr="Forouzan4e07_banner">
            <a:extLst>
              <a:ext uri="{FF2B5EF4-FFF2-40B4-BE49-F238E27FC236}">
                <a16:creationId xmlns:a16="http://schemas.microsoft.com/office/drawing/2014/main" id="{2FF79984-EB6D-7937-2EA7-D3782EC38EF3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09696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Rectangle 3">
            <a:extLst>
              <a:ext uri="{FF2B5EF4-FFF2-40B4-BE49-F238E27FC236}">
                <a16:creationId xmlns:a16="http://schemas.microsoft.com/office/drawing/2014/main" id="{6D168EAD-6986-3F4C-60CF-1BA2F07B4B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68580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4400">
                <a:solidFill>
                  <a:schemeClr val="tx2"/>
                </a:solidFill>
                <a:ea typeface="宋体" panose="02010600030101010101" pitchFamily="2" charset="-122"/>
              </a:rPr>
              <a:t>第</a:t>
            </a:r>
            <a:r>
              <a:rPr lang="en-US" altLang="zh-CN" sz="4400">
                <a:solidFill>
                  <a:schemeClr val="tx2"/>
                </a:solidFill>
              </a:rPr>
              <a:t>13</a:t>
            </a:r>
            <a:r>
              <a:rPr lang="zh-CN" altLang="en-US" sz="4400">
                <a:solidFill>
                  <a:schemeClr val="tx2"/>
                </a:solidFill>
                <a:ea typeface="宋体" panose="02010600030101010101" pitchFamily="2" charset="-122"/>
              </a:rPr>
              <a:t>章</a:t>
            </a:r>
            <a:endParaRPr lang="en-US" altLang="zh-CN" sz="4400">
              <a:solidFill>
                <a:schemeClr val="tx2"/>
              </a:solidFill>
            </a:endParaRPr>
          </a:p>
          <a:p>
            <a:pPr algn="ctr"/>
            <a:endParaRPr lang="en-US" altLang="zh-CN" sz="2000">
              <a:solidFill>
                <a:schemeClr val="tx2"/>
              </a:solidFill>
            </a:endParaRPr>
          </a:p>
          <a:p>
            <a:pPr algn="ctr"/>
            <a:r>
              <a:rPr lang="zh-CN" altLang="en-US" sz="4400">
                <a:ea typeface="宋体" panose="02010600030101010101" pitchFamily="2" charset="-122"/>
              </a:rPr>
              <a:t>有线局域网</a:t>
            </a:r>
            <a:r>
              <a:rPr lang="en-US" altLang="zh-CN" sz="4400">
                <a:ea typeface="宋体" panose="02010600030101010101" pitchFamily="2" charset="-122"/>
              </a:rPr>
              <a:t>:</a:t>
            </a:r>
            <a:r>
              <a:rPr lang="zh-CN" altLang="en-US" sz="4400">
                <a:ea typeface="宋体" panose="02010600030101010101" pitchFamily="2" charset="-122"/>
              </a:rPr>
              <a:t>以太网</a:t>
            </a:r>
            <a:endParaRPr lang="en-US" altLang="zh-CN" sz="4400">
              <a:ea typeface="宋体" panose="02010600030101010101" pitchFamily="2" charset="-122"/>
            </a:endParaRPr>
          </a:p>
        </p:txBody>
      </p:sp>
      <p:sp>
        <p:nvSpPr>
          <p:cNvPr id="4101" name="Text Box 4">
            <a:extLst>
              <a:ext uri="{FF2B5EF4-FFF2-40B4-BE49-F238E27FC236}">
                <a16:creationId xmlns:a16="http://schemas.microsoft.com/office/drawing/2014/main" id="{B2DEA75D-E744-E719-0EB7-40EBEF381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07163"/>
            <a:ext cx="9144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CN" sz="1200">
                <a:latin typeface="Times New Roman" panose="02020603050405020304" pitchFamily="18" charset="0"/>
                <a:ea typeface="宋体" panose="02010600030101010101" pitchFamily="2" charset="-122"/>
              </a:rPr>
              <a:t>Copyright © The McGraw-Hill Companies, Inc. Permission required for reproduction or display.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1">
            <a:extLst>
              <a:ext uri="{FF2B5EF4-FFF2-40B4-BE49-F238E27FC236}">
                <a16:creationId xmlns:a16="http://schemas.microsoft.com/office/drawing/2014/main" id="{0968E0AB-1B2F-56BF-854D-AF93430925E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4A87F0F8-7803-4EFB-B007-EDC788382DA3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5F6EC90-0937-F809-71F4-1060662E8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4" name="Text Box 3">
            <a:extLst>
              <a:ext uri="{FF2B5EF4-FFF2-40B4-BE49-F238E27FC236}">
                <a16:creationId xmlns:a16="http://schemas.microsoft.com/office/drawing/2014/main" id="{748472AF-523D-9081-49C6-17881D99B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3051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  <a:ea typeface="宋体" panose="02010600030101010101" pitchFamily="2" charset="-122"/>
              </a:rPr>
              <a:t>13-1   IEEE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  <a:ea typeface="宋体" panose="02010600030101010101" pitchFamily="2" charset="-122"/>
              </a:rPr>
              <a:t>标准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5" name="Text Box 4">
            <a:extLst>
              <a:ext uri="{FF2B5EF4-FFF2-40B4-BE49-F238E27FC236}">
                <a16:creationId xmlns:a16="http://schemas.microsoft.com/office/drawing/2014/main" id="{826ED0AC-0D68-5692-A15F-7C5652475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6" name="Rectangle 5">
            <a:extLst>
              <a:ext uri="{FF2B5EF4-FFF2-40B4-BE49-F238E27FC236}">
                <a16:creationId xmlns:a16="http://schemas.microsoft.com/office/drawing/2014/main" id="{B326C062-4671-8435-44A4-1D11C977F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447800"/>
            <a:ext cx="8229600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1985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年，计算机团体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IEEE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（电器与电子工程师学会）开始了一个项目，称为项目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802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，以设定标准使得不同制造商生产的设备之间能相互通信。项目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802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并不旨在 代替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OSI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或者英特网模式。相反，它说明了大多数局域网协议的物理层和数据链路层的功能。</a:t>
            </a:r>
            <a:endParaRPr lang="en-US" altLang="zh-CN" sz="28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1" hangingPunct="1"/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该标准被美国国家标准协会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ANSI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所采用，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1987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年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OIS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也批准它为一个国际标准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ISO8802</a:t>
            </a:r>
          </a:p>
        </p:txBody>
      </p:sp>
      <p:sp>
        <p:nvSpPr>
          <p:cNvPr id="5127" name="Rectangle 29">
            <a:extLst>
              <a:ext uri="{FF2B5EF4-FFF2-40B4-BE49-F238E27FC236}">
                <a16:creationId xmlns:a16="http://schemas.microsoft.com/office/drawing/2014/main" id="{81A91B3F-A17B-E759-CB02-66768F22F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121275"/>
            <a:ext cx="6705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数据链路层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物理层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128" name="Text Box 30">
            <a:extLst>
              <a:ext uri="{FF2B5EF4-FFF2-40B4-BE49-F238E27FC236}">
                <a16:creationId xmlns:a16="http://schemas.microsoft.com/office/drawing/2014/main" id="{969E642B-738E-D934-3208-09A0AE9932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" y="4524375"/>
            <a:ext cx="37909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2800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本节重点讨论的话题：</a:t>
            </a:r>
            <a:endParaRPr lang="en-US" altLang="zh-CN" sz="2800" u="sng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1">
            <a:extLst>
              <a:ext uri="{FF2B5EF4-FFF2-40B4-BE49-F238E27FC236}">
                <a16:creationId xmlns:a16="http://schemas.microsoft.com/office/drawing/2014/main" id="{71289683-BB10-87B5-E89F-714944DFEE1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0213A336-82E5-45C3-8BCD-7777B2834A5C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6147" name="Line 2">
            <a:extLst>
              <a:ext uri="{FF2B5EF4-FFF2-40B4-BE49-F238E27FC236}">
                <a16:creationId xmlns:a16="http://schemas.microsoft.com/office/drawing/2014/main" id="{243F853B-9953-E8B8-C630-66BC43904D7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" name="Line 3">
            <a:extLst>
              <a:ext uri="{FF2B5EF4-FFF2-40B4-BE49-F238E27FC236}">
                <a16:creationId xmlns:a16="http://schemas.microsoft.com/office/drawing/2014/main" id="{CFCC6227-84F9-8C0B-2EFE-EA04ADA7164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9" name="Text Box 4">
            <a:extLst>
              <a:ext uri="{FF2B5EF4-FFF2-40B4-BE49-F238E27FC236}">
                <a16:creationId xmlns:a16="http://schemas.microsoft.com/office/drawing/2014/main" id="{B34A1EA3-3600-643C-8D70-051DDE6397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4258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13.1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局域网的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IEEE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标准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" name="Line 5">
            <a:extLst>
              <a:ext uri="{FF2B5EF4-FFF2-40B4-BE49-F238E27FC236}">
                <a16:creationId xmlns:a16="http://schemas.microsoft.com/office/drawing/2014/main" id="{D2F426D1-4E89-871B-C497-4BD3A8EDBB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6151" name="Picture 6">
            <a:extLst>
              <a:ext uri="{FF2B5EF4-FFF2-40B4-BE49-F238E27FC236}">
                <a16:creationId xmlns:a16="http://schemas.microsoft.com/office/drawing/2014/main" id="{7AC70DF3-68D7-7C0B-5459-62450C7B1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613" y="1739900"/>
            <a:ext cx="8866187" cy="420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2" name="TextBox 7">
            <a:extLst>
              <a:ext uri="{FF2B5EF4-FFF2-40B4-BE49-F238E27FC236}">
                <a16:creationId xmlns:a16="http://schemas.microsoft.com/office/drawing/2014/main" id="{4D4B8A6B-B448-253E-E2D1-30977514A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85800"/>
            <a:ext cx="51054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>
                <a:ea typeface="宋体" panose="02010600030101010101" pitchFamily="2" charset="-122"/>
              </a:rPr>
              <a:t>LLC</a:t>
            </a:r>
            <a:r>
              <a:rPr lang="zh-CN" altLang="en-US" sz="2000">
                <a:ea typeface="宋体" panose="02010600030101010101" pitchFamily="2" charset="-122"/>
              </a:rPr>
              <a:t>：流控、差控、部分成帧；所有局域网有统一的</a:t>
            </a:r>
            <a:r>
              <a:rPr lang="en-US" altLang="zh-CN" sz="2000">
                <a:ea typeface="宋体" panose="02010600030101010101" pitchFamily="2" charset="-122"/>
              </a:rPr>
              <a:t>LLC</a:t>
            </a:r>
            <a:r>
              <a:rPr lang="zh-CN" altLang="en-US" sz="2000">
                <a:ea typeface="宋体" panose="02010600030101010101" pitchFamily="2" charset="-122"/>
              </a:rPr>
              <a:t>，使得不同局域网可以互通，屏蔽不同的</a:t>
            </a:r>
            <a:r>
              <a:rPr lang="en-US" altLang="zh-CN" sz="2000">
                <a:ea typeface="宋体" panose="02010600030101010101" pitchFamily="2" charset="-122"/>
              </a:rPr>
              <a:t>MAC</a:t>
            </a:r>
            <a:r>
              <a:rPr lang="zh-CN" altLang="en-US" sz="2000">
                <a:ea typeface="宋体" panose="02010600030101010101" pitchFamily="2" charset="-122"/>
              </a:rPr>
              <a:t>子层。</a:t>
            </a:r>
            <a:endParaRPr lang="en-US" altLang="zh-CN" sz="2000">
              <a:ea typeface="宋体" panose="02010600030101010101" pitchFamily="2" charset="-122"/>
            </a:endParaRPr>
          </a:p>
          <a:p>
            <a:r>
              <a:rPr lang="en-US" altLang="zh-CN" sz="2000">
                <a:ea typeface="宋体" panose="02010600030101010101" pitchFamily="2" charset="-122"/>
              </a:rPr>
              <a:t>MAC</a:t>
            </a:r>
            <a:r>
              <a:rPr lang="zh-CN" altLang="en-US" sz="2000">
                <a:ea typeface="宋体" panose="02010600030101010101" pitchFamily="2" charset="-122"/>
              </a:rPr>
              <a:t>：媒体访问控制和部分成帧功能。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1">
            <a:extLst>
              <a:ext uri="{FF2B5EF4-FFF2-40B4-BE49-F238E27FC236}">
                <a16:creationId xmlns:a16="http://schemas.microsoft.com/office/drawing/2014/main" id="{C1A5ABEC-1764-6418-1EFF-A6A01752E38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80CEDE9B-7472-444F-A491-7412ECE9AD31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4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7171" name="Line 2">
            <a:extLst>
              <a:ext uri="{FF2B5EF4-FFF2-40B4-BE49-F238E27FC236}">
                <a16:creationId xmlns:a16="http://schemas.microsoft.com/office/drawing/2014/main" id="{929A7F75-F627-84D5-F105-E8DD2C80EC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2" name="Line 3">
            <a:extLst>
              <a:ext uri="{FF2B5EF4-FFF2-40B4-BE49-F238E27FC236}">
                <a16:creationId xmlns:a16="http://schemas.microsoft.com/office/drawing/2014/main" id="{50C68A74-5ECB-8111-C97B-1387C845BB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3" name="Text Box 4">
            <a:extLst>
              <a:ext uri="{FF2B5EF4-FFF2-40B4-BE49-F238E27FC236}">
                <a16:creationId xmlns:a16="http://schemas.microsoft.com/office/drawing/2014/main" id="{105B95ED-EC1C-A390-DC32-3B63CD5F4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8434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13.2 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HDLC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帧与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LLC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MAC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帧的比较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174" name="Line 5">
            <a:extLst>
              <a:ext uri="{FF2B5EF4-FFF2-40B4-BE49-F238E27FC236}">
                <a16:creationId xmlns:a16="http://schemas.microsoft.com/office/drawing/2014/main" id="{870E6FF1-094D-C29C-2381-2E7AAAEDCB2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7175" name="Picture 6">
            <a:extLst>
              <a:ext uri="{FF2B5EF4-FFF2-40B4-BE49-F238E27FC236}">
                <a16:creationId xmlns:a16="http://schemas.microsoft.com/office/drawing/2014/main" id="{785AD531-E78B-2C7B-0CAD-D24F187AC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609850"/>
            <a:ext cx="8866188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1">
            <a:extLst>
              <a:ext uri="{FF2B5EF4-FFF2-40B4-BE49-F238E27FC236}">
                <a16:creationId xmlns:a16="http://schemas.microsoft.com/office/drawing/2014/main" id="{A77B459E-12BC-A376-C4EE-2F03E226E61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7ECB5203-9DF0-47A8-A130-35F734B63147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5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E69A7BEF-E1B9-83B5-867A-209B5CACE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6" name="Text Box 3">
            <a:extLst>
              <a:ext uri="{FF2B5EF4-FFF2-40B4-BE49-F238E27FC236}">
                <a16:creationId xmlns:a16="http://schemas.microsoft.com/office/drawing/2014/main" id="{7D742F75-8795-B5CF-7B3C-4D9F74455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33035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  <a:ea typeface="宋体" panose="02010600030101010101" pitchFamily="2" charset="-122"/>
              </a:rPr>
              <a:t>13-2  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  <a:ea typeface="宋体" panose="02010600030101010101" pitchFamily="2" charset="-122"/>
              </a:rPr>
              <a:t>标准以太网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7" name="Text Box 4">
            <a:extLst>
              <a:ext uri="{FF2B5EF4-FFF2-40B4-BE49-F238E27FC236}">
                <a16:creationId xmlns:a16="http://schemas.microsoft.com/office/drawing/2014/main" id="{4A01AB32-E464-83E6-30A4-B4047858A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8" name="Rectangle 5">
            <a:extLst>
              <a:ext uri="{FF2B5EF4-FFF2-40B4-BE49-F238E27FC236}">
                <a16:creationId xmlns:a16="http://schemas.microsoft.com/office/drawing/2014/main" id="{06FD4628-E8C3-2368-3E23-FCE957A8CA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592263"/>
            <a:ext cx="82296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最初的以太网是由施乐公司的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Palo Alto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研究中心（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PARC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）创建的。自此之后，它经历了四代的发展。我们将简单介绍标准（或传统）以太网。</a:t>
            </a:r>
            <a:endParaRPr lang="en-US" altLang="zh-CN" sz="28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199" name="Rectangle 6">
            <a:extLst>
              <a:ext uri="{FF2B5EF4-FFF2-40B4-BE49-F238E27FC236}">
                <a16:creationId xmlns:a16="http://schemas.microsoft.com/office/drawing/2014/main" id="{44B92B27-FC5F-DFB3-77CB-D1A55DC4D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679950"/>
            <a:ext cx="6705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MAC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子层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物理层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200" name="Text Box 7">
            <a:extLst>
              <a:ext uri="{FF2B5EF4-FFF2-40B4-BE49-F238E27FC236}">
                <a16:creationId xmlns:a16="http://schemas.microsoft.com/office/drawing/2014/main" id="{9B9A852D-3F66-6DCF-1C53-3C8A61C47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203700"/>
            <a:ext cx="37909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2800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本节重点讨论的话题：</a:t>
            </a:r>
            <a:endParaRPr lang="en-US" altLang="zh-CN" sz="2800" u="sng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1">
            <a:extLst>
              <a:ext uri="{FF2B5EF4-FFF2-40B4-BE49-F238E27FC236}">
                <a16:creationId xmlns:a16="http://schemas.microsoft.com/office/drawing/2014/main" id="{65F324DB-EB90-4BEE-7617-C45DCC21C69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81011F73-58A7-4E1B-9769-7FBAEE12135D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6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9219" name="Line 2">
            <a:extLst>
              <a:ext uri="{FF2B5EF4-FFF2-40B4-BE49-F238E27FC236}">
                <a16:creationId xmlns:a16="http://schemas.microsoft.com/office/drawing/2014/main" id="{419DA1A2-F8BB-C944-5FA7-31CE9D01D22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0" name="Line 3">
            <a:extLst>
              <a:ext uri="{FF2B5EF4-FFF2-40B4-BE49-F238E27FC236}">
                <a16:creationId xmlns:a16="http://schemas.microsoft.com/office/drawing/2014/main" id="{1090A972-74B3-BC69-A160-92934727237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1" name="Text Box 4">
            <a:extLst>
              <a:ext uri="{FF2B5EF4-FFF2-40B4-BE49-F238E27FC236}">
                <a16:creationId xmlns:a16="http://schemas.microsoft.com/office/drawing/2014/main" id="{EBBAEC68-A0C5-B3CD-0495-33106AB91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251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13.3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以太网的四代发展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22" name="Line 5">
            <a:extLst>
              <a:ext uri="{FF2B5EF4-FFF2-40B4-BE49-F238E27FC236}">
                <a16:creationId xmlns:a16="http://schemas.microsoft.com/office/drawing/2014/main" id="{3AA65CF5-3F3F-0B06-B65C-91C01D79968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9223" name="Picture 6">
            <a:extLst>
              <a:ext uri="{FF2B5EF4-FFF2-40B4-BE49-F238E27FC236}">
                <a16:creationId xmlns:a16="http://schemas.microsoft.com/office/drawing/2014/main" id="{A4E48595-2BC1-5998-B75F-122914FA4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2286000"/>
            <a:ext cx="7394575" cy="235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1">
            <a:extLst>
              <a:ext uri="{FF2B5EF4-FFF2-40B4-BE49-F238E27FC236}">
                <a16:creationId xmlns:a16="http://schemas.microsoft.com/office/drawing/2014/main" id="{635D5EAE-3491-89DA-600D-0E9AE1C9A7F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A432BFF9-DE66-4F17-AE89-4B1E80F6F128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7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10243" name="Line 2">
            <a:extLst>
              <a:ext uri="{FF2B5EF4-FFF2-40B4-BE49-F238E27FC236}">
                <a16:creationId xmlns:a16="http://schemas.microsoft.com/office/drawing/2014/main" id="{532C51AB-A896-74A0-CC63-802CA3C6866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4" name="Line 3">
            <a:extLst>
              <a:ext uri="{FF2B5EF4-FFF2-40B4-BE49-F238E27FC236}">
                <a16:creationId xmlns:a16="http://schemas.microsoft.com/office/drawing/2014/main" id="{81F695F7-11AE-CBA5-0F4E-27F09C5EB0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45" name="Text Box 4">
            <a:extLst>
              <a:ext uri="{FF2B5EF4-FFF2-40B4-BE49-F238E27FC236}">
                <a16:creationId xmlns:a16="http://schemas.microsoft.com/office/drawing/2014/main" id="{AFBD87EB-E2F4-0446-9BC7-DD596E0EF4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8940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13.4 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802.3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MAC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帧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46" name="Line 5">
            <a:extLst>
              <a:ext uri="{FF2B5EF4-FFF2-40B4-BE49-F238E27FC236}">
                <a16:creationId xmlns:a16="http://schemas.microsoft.com/office/drawing/2014/main" id="{16C72A3E-75C0-2E39-235D-D3D93DA7AA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0247" name="Picture 6">
            <a:extLst>
              <a:ext uri="{FF2B5EF4-FFF2-40B4-BE49-F238E27FC236}">
                <a16:creationId xmlns:a16="http://schemas.microsoft.com/office/drawing/2014/main" id="{11C7C71B-655E-D226-7815-59612C4C49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863" y="2290763"/>
            <a:ext cx="8821737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8" name="TextBox 7">
            <a:extLst>
              <a:ext uri="{FF2B5EF4-FFF2-40B4-BE49-F238E27FC236}">
                <a16:creationId xmlns:a16="http://schemas.microsoft.com/office/drawing/2014/main" id="{067C9968-F4AB-8AA0-03EA-E89C052A81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1752600"/>
            <a:ext cx="3048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>
                <a:ea typeface="宋体" panose="02010600030101010101" pitchFamily="2" charset="-122"/>
              </a:rPr>
              <a:t>前导符：时钟同步；</a:t>
            </a:r>
            <a:endParaRPr lang="en-US" altLang="zh-CN" sz="2000">
              <a:ea typeface="宋体" panose="02010600030101010101" pitchFamily="2" charset="-122"/>
            </a:endParaRPr>
          </a:p>
          <a:p>
            <a:r>
              <a:rPr lang="zh-CN" altLang="en-US" sz="2000">
                <a:ea typeface="宋体" panose="02010600030101010101" pitchFamily="2" charset="-122"/>
              </a:rPr>
              <a:t>帧分界符：帧的开始。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1">
            <a:extLst>
              <a:ext uri="{FF2B5EF4-FFF2-40B4-BE49-F238E27FC236}">
                <a16:creationId xmlns:a16="http://schemas.microsoft.com/office/drawing/2014/main" id="{2952973B-794D-62B6-77D4-5AE622623BD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D17DDEB3-B220-4ED7-A1CA-7CF68D8F684B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8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11267" name="Line 2">
            <a:extLst>
              <a:ext uri="{FF2B5EF4-FFF2-40B4-BE49-F238E27FC236}">
                <a16:creationId xmlns:a16="http://schemas.microsoft.com/office/drawing/2014/main" id="{E6F13D5E-1C94-A7B7-3C41-F2B703B6B86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8" name="Line 3">
            <a:extLst>
              <a:ext uri="{FF2B5EF4-FFF2-40B4-BE49-F238E27FC236}">
                <a16:creationId xmlns:a16="http://schemas.microsoft.com/office/drawing/2014/main" id="{5D30BB48-D372-D532-D9E8-211296A82C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69" name="Text Box 4">
            <a:extLst>
              <a:ext uri="{FF2B5EF4-FFF2-40B4-BE49-F238E27FC236}">
                <a16:creationId xmlns:a16="http://schemas.microsoft.com/office/drawing/2014/main" id="{2FDBF14C-2899-AF9A-1A11-43442DF01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1417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Figure 13.5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最小长度和最大长度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270" name="Line 5">
            <a:extLst>
              <a:ext uri="{FF2B5EF4-FFF2-40B4-BE49-F238E27FC236}">
                <a16:creationId xmlns:a16="http://schemas.microsoft.com/office/drawing/2014/main" id="{DCE2FF76-3BF2-8206-10CD-A748F1A8FE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1271" name="Picture 6">
            <a:extLst>
              <a:ext uri="{FF2B5EF4-FFF2-40B4-BE49-F238E27FC236}">
                <a16:creationId xmlns:a16="http://schemas.microsoft.com/office/drawing/2014/main" id="{7E9CC91D-2641-74F3-F227-B98C32E716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433638"/>
            <a:ext cx="8574088" cy="267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1">
            <a:extLst>
              <a:ext uri="{FF2B5EF4-FFF2-40B4-BE49-F238E27FC236}">
                <a16:creationId xmlns:a16="http://schemas.microsoft.com/office/drawing/2014/main" id="{9CE0CE03-0550-CE3E-B562-F7359769270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6C731819-20B1-4F29-B312-3E14D178E8B4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9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BB3F7EDB-645A-65C4-66F6-1C109D7F6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B9717147-B7F0-75A8-3316-70D196F29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3" name="Rectangle 4">
            <a:extLst>
              <a:ext uri="{FF2B5EF4-FFF2-40B4-BE49-F238E27FC236}">
                <a16:creationId xmlns:a16="http://schemas.microsoft.com/office/drawing/2014/main" id="{64E417C6-D87C-6D6B-B78B-4AAA4B1BE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4" name="Rectangle 5">
            <a:extLst>
              <a:ext uri="{FF2B5EF4-FFF2-40B4-BE49-F238E27FC236}">
                <a16:creationId xmlns:a16="http://schemas.microsoft.com/office/drawing/2014/main" id="{6E28B955-681B-1D8F-C06E-78AE395BF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5" name="Rectangle 6">
            <a:extLst>
              <a:ext uri="{FF2B5EF4-FFF2-40B4-BE49-F238E27FC236}">
                <a16:creationId xmlns:a16="http://schemas.microsoft.com/office/drawing/2014/main" id="{59EA9866-2439-C818-0580-6B656AEDD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6" name="Rectangle 7">
            <a:extLst>
              <a:ext uri="{FF2B5EF4-FFF2-40B4-BE49-F238E27FC236}">
                <a16:creationId xmlns:a16="http://schemas.microsoft.com/office/drawing/2014/main" id="{CDC0AEB6-2761-806D-B3BC-B3BC7DA27F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7" name="Rectangle 8">
            <a:extLst>
              <a:ext uri="{FF2B5EF4-FFF2-40B4-BE49-F238E27FC236}">
                <a16:creationId xmlns:a16="http://schemas.microsoft.com/office/drawing/2014/main" id="{86E46FD0-9FF6-729F-E0F1-9E6B8E514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298" name="Line 9">
            <a:extLst>
              <a:ext uri="{FF2B5EF4-FFF2-40B4-BE49-F238E27FC236}">
                <a16:creationId xmlns:a16="http://schemas.microsoft.com/office/drawing/2014/main" id="{3846D34C-A905-94F7-E7F3-BA8FB2252B7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 cmpd="sng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9" name="Line 10">
            <a:extLst>
              <a:ext uri="{FF2B5EF4-FFF2-40B4-BE49-F238E27FC236}">
                <a16:creationId xmlns:a16="http://schemas.microsoft.com/office/drawing/2014/main" id="{E88F3662-7044-DCC2-26FA-3A969873F33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876800"/>
            <a:ext cx="8153400" cy="0"/>
          </a:xfrm>
          <a:prstGeom prst="line">
            <a:avLst/>
          </a:prstGeom>
          <a:noFill/>
          <a:ln w="76200" cmpd="sng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300" name="Rectangle 11">
            <a:extLst>
              <a:ext uri="{FF2B5EF4-FFF2-40B4-BE49-F238E27FC236}">
                <a16:creationId xmlns:a16="http://schemas.microsoft.com/office/drawing/2014/main" id="{66318405-2180-3862-4B5A-E0B55BAAC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759075"/>
            <a:ext cx="8077200" cy="206216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solidFill>
                  <a:schemeClr val="hlink"/>
                </a:solidFill>
                <a:ea typeface="宋体" panose="02010600030101010101" pitchFamily="2" charset="-122"/>
              </a:rPr>
              <a:t>帧的长度</a:t>
            </a:r>
            <a:r>
              <a:rPr lang="en-US" altLang="zh-CN">
                <a:solidFill>
                  <a:schemeClr val="hlink"/>
                </a:solidFill>
                <a:ea typeface="宋体" panose="02010600030101010101" pitchFamily="2" charset="-122"/>
              </a:rPr>
              <a:t>:</a:t>
            </a:r>
            <a:endParaRPr lang="en-US" altLang="zh-CN">
              <a:ea typeface="宋体" panose="02010600030101010101" pitchFamily="2" charset="-122"/>
            </a:endParaRPr>
          </a:p>
          <a:p>
            <a:pPr algn="ctr"/>
            <a:r>
              <a:rPr lang="zh-CN" altLang="en-US">
                <a:ea typeface="宋体" panose="02010600030101010101" pitchFamily="2" charset="-122"/>
              </a:rPr>
              <a:t>最小值</a:t>
            </a:r>
            <a:r>
              <a:rPr lang="en-US" altLang="zh-CN">
                <a:ea typeface="宋体" panose="02010600030101010101" pitchFamily="2" charset="-122"/>
              </a:rPr>
              <a:t>: 64 bytes (512 bits) </a:t>
            </a:r>
            <a:r>
              <a:rPr lang="zh-CN" altLang="en-US">
                <a:ea typeface="宋体" panose="02010600030101010101" pitchFamily="2" charset="-122"/>
              </a:rPr>
              <a:t>：不够则填充</a:t>
            </a:r>
            <a:br>
              <a:rPr lang="en-US" altLang="zh-CN">
                <a:ea typeface="宋体" panose="02010600030101010101" pitchFamily="2" charset="-122"/>
              </a:rPr>
            </a:br>
            <a:r>
              <a:rPr lang="zh-CN" altLang="en-US">
                <a:ea typeface="宋体" panose="02010600030101010101" pitchFamily="2" charset="-122"/>
              </a:rPr>
              <a:t>最大值</a:t>
            </a:r>
            <a:r>
              <a:rPr lang="en-US" altLang="zh-CN">
                <a:ea typeface="宋体" panose="02010600030101010101" pitchFamily="2" charset="-122"/>
              </a:rPr>
              <a:t>: 1518 bytes (12,144 bits)</a:t>
            </a:r>
            <a:r>
              <a:rPr lang="zh-CN" altLang="en-US">
                <a:ea typeface="宋体" panose="02010600030101010101" pitchFamily="2" charset="-122"/>
              </a:rPr>
              <a:t>：当时存储器贵且防止站点独占介质</a:t>
            </a:r>
            <a:endParaRPr lang="en-US" altLang="zh-CN" baseline="30000">
              <a:ea typeface="宋体" panose="02010600030101010101" pitchFamily="2" charset="-122"/>
            </a:endParaRPr>
          </a:p>
        </p:txBody>
      </p:sp>
      <p:grpSp>
        <p:nvGrpSpPr>
          <p:cNvPr id="12301" name="Group 12">
            <a:extLst>
              <a:ext uri="{FF2B5EF4-FFF2-40B4-BE49-F238E27FC236}">
                <a16:creationId xmlns:a16="http://schemas.microsoft.com/office/drawing/2014/main" id="{E9D0F5CB-4D88-54FB-3766-883169EA225B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0" y="0"/>
            <a:chExt cx="720" cy="357"/>
          </a:xfrm>
        </p:grpSpPr>
        <p:pic>
          <p:nvPicPr>
            <p:cNvPr id="12302" name="Picture 13">
              <a:extLst>
                <a:ext uri="{FF2B5EF4-FFF2-40B4-BE49-F238E27FC236}">
                  <a16:creationId xmlns:a16="http://schemas.microsoft.com/office/drawing/2014/main" id="{2647B984-F871-7FBD-9801-FA8971E8C7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03" name="Text Box 14">
              <a:extLst>
                <a:ext uri="{FF2B5EF4-FFF2-40B4-BE49-F238E27FC236}">
                  <a16:creationId xmlns:a16="http://schemas.microsoft.com/office/drawing/2014/main" id="{A654B78B-7E34-81BB-8B38-970B6F01D8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1">
            <a:extLst>
              <a:ext uri="{FF2B5EF4-FFF2-40B4-BE49-F238E27FC236}">
                <a16:creationId xmlns:a16="http://schemas.microsoft.com/office/drawing/2014/main" id="{00B71CEF-D65E-32B7-24B8-6A5594F5915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2CFB729E-142D-4EA1-BEA4-D2B6A3D8DF4F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10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13315" name="Line 2">
            <a:extLst>
              <a:ext uri="{FF2B5EF4-FFF2-40B4-BE49-F238E27FC236}">
                <a16:creationId xmlns:a16="http://schemas.microsoft.com/office/drawing/2014/main" id="{A40B660A-1274-E05E-539D-555CF60E64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6" name="Line 3">
            <a:extLst>
              <a:ext uri="{FF2B5EF4-FFF2-40B4-BE49-F238E27FC236}">
                <a16:creationId xmlns:a16="http://schemas.microsoft.com/office/drawing/2014/main" id="{0196AE04-9AE3-D3EC-F0FB-A8C0E835694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7" name="Text Box 4">
            <a:extLst>
              <a:ext uri="{FF2B5EF4-FFF2-40B4-BE49-F238E27FC236}">
                <a16:creationId xmlns:a16="http://schemas.microsoft.com/office/drawing/2014/main" id="{694E820E-B9ED-A4A6-410F-F2032DE49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66706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13.6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用十六进制表示法表示的以太网地址的一个示例 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318" name="Line 5">
            <a:extLst>
              <a:ext uri="{FF2B5EF4-FFF2-40B4-BE49-F238E27FC236}">
                <a16:creationId xmlns:a16="http://schemas.microsoft.com/office/drawing/2014/main" id="{422AB448-72D2-B7C2-1A81-C6C11D43AEF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3319" name="Picture 6">
            <a:extLst>
              <a:ext uri="{FF2B5EF4-FFF2-40B4-BE49-F238E27FC236}">
                <a16:creationId xmlns:a16="http://schemas.microsoft.com/office/drawing/2014/main" id="{BAC40B2A-165D-B891-1FF4-81026D188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938" y="2679700"/>
            <a:ext cx="6078537" cy="149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1">
            <a:extLst>
              <a:ext uri="{FF2B5EF4-FFF2-40B4-BE49-F238E27FC236}">
                <a16:creationId xmlns:a16="http://schemas.microsoft.com/office/drawing/2014/main" id="{1008A50B-188C-95AC-0B30-2EEAE817E0B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9BD73224-420B-4EBF-89B4-36E3EA1FC382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11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14339" name="Line 2">
            <a:extLst>
              <a:ext uri="{FF2B5EF4-FFF2-40B4-BE49-F238E27FC236}">
                <a16:creationId xmlns:a16="http://schemas.microsoft.com/office/drawing/2014/main" id="{B22DD0BD-EC90-C22A-78EE-9A88620675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0" name="Line 3">
            <a:extLst>
              <a:ext uri="{FF2B5EF4-FFF2-40B4-BE49-F238E27FC236}">
                <a16:creationId xmlns:a16="http://schemas.microsoft.com/office/drawing/2014/main" id="{2991C689-F357-79B9-DC25-99164338FA1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41" name="Text Box 4">
            <a:extLst>
              <a:ext uri="{FF2B5EF4-FFF2-40B4-BE49-F238E27FC236}">
                <a16:creationId xmlns:a16="http://schemas.microsoft.com/office/drawing/2014/main" id="{68F70E35-EFAD-E15F-0A5E-728D4C3A6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5099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13.7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单播地址和多播地址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42" name="Line 5">
            <a:extLst>
              <a:ext uri="{FF2B5EF4-FFF2-40B4-BE49-F238E27FC236}">
                <a16:creationId xmlns:a16="http://schemas.microsoft.com/office/drawing/2014/main" id="{0B7AC40B-5E4F-7481-B629-303709D3592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14343" name="Picture 6">
            <a:extLst>
              <a:ext uri="{FF2B5EF4-FFF2-40B4-BE49-F238E27FC236}">
                <a16:creationId xmlns:a16="http://schemas.microsoft.com/office/drawing/2014/main" id="{101BE34D-C7C4-DF00-D835-46F0B3BEB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2892425"/>
            <a:ext cx="7277100" cy="11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4" name="Text Box 3">
            <a:extLst>
              <a:ext uri="{FF2B5EF4-FFF2-40B4-BE49-F238E27FC236}">
                <a16:creationId xmlns:a16="http://schemas.microsoft.com/office/drawing/2014/main" id="{F6FD500A-0AB1-074D-074C-857E0B1A2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68513"/>
            <a:ext cx="3733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华文细黑" panose="02010600040101010101" pitchFamily="2" charset="-122"/>
              </a:rPr>
              <a:t>单播地址，组播地址：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1">
            <a:extLst>
              <a:ext uri="{FF2B5EF4-FFF2-40B4-BE49-F238E27FC236}">
                <a16:creationId xmlns:a16="http://schemas.microsoft.com/office/drawing/2014/main" id="{4E6ECFE7-1AFE-BE67-C4D4-49EF82C0E12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8452E2AB-94A8-41AC-9EAA-6DE9FC24BA21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12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8555DB83-5D5A-2644-0EBE-042F3A7EF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E2938986-51C0-33DE-DD9B-FB67E8CB9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5" name="Rectangle 4">
            <a:extLst>
              <a:ext uri="{FF2B5EF4-FFF2-40B4-BE49-F238E27FC236}">
                <a16:creationId xmlns:a16="http://schemas.microsoft.com/office/drawing/2014/main" id="{39BA8CDD-7548-A6B3-49C8-1937D09F9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6" name="Rectangle 5">
            <a:extLst>
              <a:ext uri="{FF2B5EF4-FFF2-40B4-BE49-F238E27FC236}">
                <a16:creationId xmlns:a16="http://schemas.microsoft.com/office/drawing/2014/main" id="{AFD4B17E-4A6E-A9AE-E627-A7E91C1FB7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7" name="Rectangle 6">
            <a:extLst>
              <a:ext uri="{FF2B5EF4-FFF2-40B4-BE49-F238E27FC236}">
                <a16:creationId xmlns:a16="http://schemas.microsoft.com/office/drawing/2014/main" id="{2D9C597D-5569-427D-9676-672EFE577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8" name="Rectangle 7">
            <a:extLst>
              <a:ext uri="{FF2B5EF4-FFF2-40B4-BE49-F238E27FC236}">
                <a16:creationId xmlns:a16="http://schemas.microsoft.com/office/drawing/2014/main" id="{77FBA591-2679-11A3-0A9C-0343B711C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9" name="Rectangle 8">
            <a:extLst>
              <a:ext uri="{FF2B5EF4-FFF2-40B4-BE49-F238E27FC236}">
                <a16:creationId xmlns:a16="http://schemas.microsoft.com/office/drawing/2014/main" id="{4889E640-7E17-6E50-73C8-D701AB792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70" name="Line 9">
            <a:extLst>
              <a:ext uri="{FF2B5EF4-FFF2-40B4-BE49-F238E27FC236}">
                <a16:creationId xmlns:a16="http://schemas.microsoft.com/office/drawing/2014/main" id="{367514DD-BF67-9C95-EDCE-32AED7FACD7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 cmpd="sng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1" name="Line 10">
            <a:extLst>
              <a:ext uri="{FF2B5EF4-FFF2-40B4-BE49-F238E27FC236}">
                <a16:creationId xmlns:a16="http://schemas.microsoft.com/office/drawing/2014/main" id="{5F4902C3-235D-0A76-8A30-7372C7F6E3C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 cmpd="sng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372" name="Rectangle 11">
            <a:extLst>
              <a:ext uri="{FF2B5EF4-FFF2-40B4-BE49-F238E27FC236}">
                <a16:creationId xmlns:a16="http://schemas.microsoft.com/office/drawing/2014/main" id="{2E4F8715-58EF-70B1-B012-E889F5CB8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570038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第一个字节的最低位决定了地址的类型。如果该位是</a:t>
            </a:r>
            <a:r>
              <a:rPr lang="en-US" altLang="zh-CN">
                <a:ea typeface="宋体" panose="02010600030101010101" pitchFamily="2" charset="-122"/>
              </a:rPr>
              <a:t>0</a:t>
            </a:r>
            <a:r>
              <a:rPr lang="zh-CN" altLang="en-US">
                <a:ea typeface="宋体" panose="02010600030101010101" pitchFamily="2" charset="-122"/>
              </a:rPr>
              <a:t>，地址是单播地址，否则便是多播地址。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15373" name="Group 12">
            <a:extLst>
              <a:ext uri="{FF2B5EF4-FFF2-40B4-BE49-F238E27FC236}">
                <a16:creationId xmlns:a16="http://schemas.microsoft.com/office/drawing/2014/main" id="{A14CA2CE-5266-D9CC-100B-8B3BF177733C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0" y="0"/>
            <a:chExt cx="720" cy="357"/>
          </a:xfrm>
        </p:grpSpPr>
        <p:pic>
          <p:nvPicPr>
            <p:cNvPr id="15374" name="Picture 13">
              <a:extLst>
                <a:ext uri="{FF2B5EF4-FFF2-40B4-BE49-F238E27FC236}">
                  <a16:creationId xmlns:a16="http://schemas.microsoft.com/office/drawing/2014/main" id="{9A5B198C-9C8E-FF1E-744D-D36275BF12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75" name="Text Box 14">
              <a:extLst>
                <a:ext uri="{FF2B5EF4-FFF2-40B4-BE49-F238E27FC236}">
                  <a16:creationId xmlns:a16="http://schemas.microsoft.com/office/drawing/2014/main" id="{6D8245D9-D2FE-C1AB-07AD-A775EB5BCC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1">
            <a:extLst>
              <a:ext uri="{FF2B5EF4-FFF2-40B4-BE49-F238E27FC236}">
                <a16:creationId xmlns:a16="http://schemas.microsoft.com/office/drawing/2014/main" id="{89E75A98-08A2-A01E-8627-633313F1D2C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E42B7DB3-8F49-4045-B964-3355176C64C4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13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E1638E9-E1FE-BC43-E08D-68C42EDEE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3BB5A870-18A4-3360-DC36-1AF50F6A3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89" name="Rectangle 4">
            <a:extLst>
              <a:ext uri="{FF2B5EF4-FFF2-40B4-BE49-F238E27FC236}">
                <a16:creationId xmlns:a16="http://schemas.microsoft.com/office/drawing/2014/main" id="{6FBA6CDF-14CF-B20D-7E9B-05241404F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90" name="Rectangle 5">
            <a:extLst>
              <a:ext uri="{FF2B5EF4-FFF2-40B4-BE49-F238E27FC236}">
                <a16:creationId xmlns:a16="http://schemas.microsoft.com/office/drawing/2014/main" id="{EFB9F0D5-0393-A9AF-97E5-256EFCAEF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91" name="Rectangle 6">
            <a:extLst>
              <a:ext uri="{FF2B5EF4-FFF2-40B4-BE49-F238E27FC236}">
                <a16:creationId xmlns:a16="http://schemas.microsoft.com/office/drawing/2014/main" id="{5C56B218-3A2E-E7AE-8361-3A4CB8F09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92" name="Rectangle 7">
            <a:extLst>
              <a:ext uri="{FF2B5EF4-FFF2-40B4-BE49-F238E27FC236}">
                <a16:creationId xmlns:a16="http://schemas.microsoft.com/office/drawing/2014/main" id="{D3843AE7-059D-496B-5D33-425590A4E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93" name="Rectangle 8">
            <a:extLst>
              <a:ext uri="{FF2B5EF4-FFF2-40B4-BE49-F238E27FC236}">
                <a16:creationId xmlns:a16="http://schemas.microsoft.com/office/drawing/2014/main" id="{6072B376-0AC7-E27E-D58B-7A7C7A415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394" name="Line 9">
            <a:extLst>
              <a:ext uri="{FF2B5EF4-FFF2-40B4-BE49-F238E27FC236}">
                <a16:creationId xmlns:a16="http://schemas.microsoft.com/office/drawing/2014/main" id="{FA40C31E-AE5E-A14D-7A36-FB767C3441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 cmpd="sng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5" name="Line 10">
            <a:extLst>
              <a:ext uri="{FF2B5EF4-FFF2-40B4-BE49-F238E27FC236}">
                <a16:creationId xmlns:a16="http://schemas.microsoft.com/office/drawing/2014/main" id="{808C6A3C-197B-058B-FCEE-2429C8EBFC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 cmpd="sng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6" name="Rectangle 11">
            <a:extLst>
              <a:ext uri="{FF2B5EF4-FFF2-40B4-BE49-F238E27FC236}">
                <a16:creationId xmlns:a16="http://schemas.microsoft.com/office/drawing/2014/main" id="{04DF1E31-858E-32D6-AB91-6B2938AF9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广播目的地址是多播地址的一个特例，它的所有位都是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16397" name="Group 12">
            <a:extLst>
              <a:ext uri="{FF2B5EF4-FFF2-40B4-BE49-F238E27FC236}">
                <a16:creationId xmlns:a16="http://schemas.microsoft.com/office/drawing/2014/main" id="{FF1885A9-E5CA-690A-1A83-72AC686FC41E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0" y="0"/>
            <a:chExt cx="720" cy="357"/>
          </a:xfrm>
        </p:grpSpPr>
        <p:pic>
          <p:nvPicPr>
            <p:cNvPr id="16398" name="Picture 13">
              <a:extLst>
                <a:ext uri="{FF2B5EF4-FFF2-40B4-BE49-F238E27FC236}">
                  <a16:creationId xmlns:a16="http://schemas.microsoft.com/office/drawing/2014/main" id="{DCDBBD4E-0444-9507-6C6F-D969F9082A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399" name="Text Box 14">
              <a:extLst>
                <a:ext uri="{FF2B5EF4-FFF2-40B4-BE49-F238E27FC236}">
                  <a16:creationId xmlns:a16="http://schemas.microsoft.com/office/drawing/2014/main" id="{FC52A2FE-44B5-4A9C-50CB-C47CCDA0A2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1">
            <a:extLst>
              <a:ext uri="{FF2B5EF4-FFF2-40B4-BE49-F238E27FC236}">
                <a16:creationId xmlns:a16="http://schemas.microsoft.com/office/drawing/2014/main" id="{8C692774-24EF-7B63-17E8-621E710B716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7F84B411-BE4B-48C8-BF87-7ABD561CC502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14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8B4A98C1-4956-B273-0F2D-840500B8E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A490A17D-83EF-A00C-27F8-EE915ACA8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3" name="Rectangle 4">
            <a:extLst>
              <a:ext uri="{FF2B5EF4-FFF2-40B4-BE49-F238E27FC236}">
                <a16:creationId xmlns:a16="http://schemas.microsoft.com/office/drawing/2014/main" id="{48493860-3BAE-6706-778A-898ED4CA0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4" name="Rectangle 5">
            <a:extLst>
              <a:ext uri="{FF2B5EF4-FFF2-40B4-BE49-F238E27FC236}">
                <a16:creationId xmlns:a16="http://schemas.microsoft.com/office/drawing/2014/main" id="{9054C16A-2DFE-D163-0499-D208B6BEC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5" name="Rectangle 6">
            <a:extLst>
              <a:ext uri="{FF2B5EF4-FFF2-40B4-BE49-F238E27FC236}">
                <a16:creationId xmlns:a16="http://schemas.microsoft.com/office/drawing/2014/main" id="{C7CDB550-3850-438C-9BE7-1088292C3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6" name="Rectangle 7">
            <a:extLst>
              <a:ext uri="{FF2B5EF4-FFF2-40B4-BE49-F238E27FC236}">
                <a16:creationId xmlns:a16="http://schemas.microsoft.com/office/drawing/2014/main" id="{6FA6CB67-9D8B-41F6-081B-826350079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7" name="Rectangle 8">
            <a:extLst>
              <a:ext uri="{FF2B5EF4-FFF2-40B4-BE49-F238E27FC236}">
                <a16:creationId xmlns:a16="http://schemas.microsoft.com/office/drawing/2014/main" id="{BFA93F47-5BAD-6794-7F1E-51FE035AD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8" name="Rectangle 9">
            <a:extLst>
              <a:ext uri="{FF2B5EF4-FFF2-40B4-BE49-F238E27FC236}">
                <a16:creationId xmlns:a16="http://schemas.microsoft.com/office/drawing/2014/main" id="{CD695683-0950-E567-E96A-DC6574C53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90600"/>
            <a:ext cx="86868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solidFill>
                  <a:schemeClr val="folHlink"/>
                </a:solidFill>
                <a:ea typeface="宋体" panose="02010600030101010101" pitchFamily="2" charset="-122"/>
              </a:rPr>
              <a:t>确定下列目的</a:t>
            </a:r>
            <a:r>
              <a:rPr lang="en-US" altLang="zh-CN" sz="2800">
                <a:solidFill>
                  <a:schemeClr val="folHlink"/>
                </a:solidFill>
                <a:ea typeface="宋体" panose="02010600030101010101" pitchFamily="2" charset="-122"/>
              </a:rPr>
              <a:t>MAC</a:t>
            </a:r>
            <a:r>
              <a:rPr lang="zh-CN" altLang="en-US" sz="2800">
                <a:solidFill>
                  <a:schemeClr val="folHlink"/>
                </a:solidFill>
                <a:ea typeface="宋体" panose="02010600030101010101" pitchFamily="2" charset="-122"/>
              </a:rPr>
              <a:t>地址的类型：</a:t>
            </a:r>
          </a:p>
          <a:p>
            <a:pPr algn="just"/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.  4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:30:10:21:10:1A               </a:t>
            </a:r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.  4</a:t>
            </a:r>
            <a:r>
              <a:rPr lang="en-US" altLang="zh-CN" sz="2800" i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7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:20:1B:2E:08:EE</a:t>
            </a:r>
          </a:p>
          <a:p>
            <a:pPr algn="just"/>
            <a:r>
              <a:rPr lang="en-US" altLang="zh-CN" sz="2800" i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c.</a:t>
            </a:r>
            <a:r>
              <a:rPr lang="en-US" altLang="zh-CN" sz="2800" i="1">
                <a:latin typeface="Times New Roman" panose="02020603050405020304" pitchFamily="18" charset="0"/>
                <a:ea typeface="宋体" panose="02010600030101010101" pitchFamily="2" charset="-122"/>
              </a:rPr>
              <a:t>  FF:FF:FF:FF:FF:FF</a:t>
            </a:r>
          </a:p>
        </p:txBody>
      </p:sp>
      <p:sp>
        <p:nvSpPr>
          <p:cNvPr id="17419" name="Rectangle 10">
            <a:extLst>
              <a:ext uri="{FF2B5EF4-FFF2-40B4-BE49-F238E27FC236}">
                <a16:creationId xmlns:a16="http://schemas.microsoft.com/office/drawing/2014/main" id="{9200FD9A-1FDF-41D6-4642-0A49CC36C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438400"/>
            <a:ext cx="868680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en-US" altLang="zh-CN" sz="2800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>
                <a:latin typeface="Times" panose="02020603050405020304" pitchFamily="18" charset="0"/>
                <a:ea typeface="宋体" panose="02010600030101010101" pitchFamily="2" charset="-122"/>
              </a:rPr>
              <a:t>为了知道地址的类型，我们必须看左边第二个十六进制数字。如果是偶数，那么地址是单播地址。如果是奇数，那么地址是多播地址。如果所有的数字都是</a:t>
            </a:r>
            <a:r>
              <a:rPr lang="en-US" altLang="zh-CN" sz="2800">
                <a:latin typeface="Times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zh-CN" altLang="en-US" sz="2800">
                <a:latin typeface="Times" panose="02020603050405020304" pitchFamily="18" charset="0"/>
                <a:ea typeface="宋体" panose="02010600030101010101" pitchFamily="2" charset="-122"/>
              </a:rPr>
              <a:t>，那么地址是广播地址。因此，我们得到以下答案：</a:t>
            </a:r>
            <a:endParaRPr lang="en-US" altLang="zh-CN" sz="2800">
              <a:latin typeface="Times" panose="02020603050405020304" pitchFamily="18" charset="0"/>
              <a:ea typeface="宋体" panose="02010600030101010101" pitchFamily="2" charset="-122"/>
            </a:endParaRPr>
          </a:p>
          <a:p>
            <a:pPr>
              <a:buFont typeface="Arial" panose="020B0604020202020204" pitchFamily="34" charset="0"/>
              <a:buAutoNum type="alphaLcPeriod"/>
            </a:pPr>
            <a:r>
              <a:rPr lang="zh-CN" altLang="en-US" sz="2800">
                <a:solidFill>
                  <a:schemeClr val="folHlink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单播地址，</a:t>
            </a:r>
            <a:r>
              <a:rPr lang="en-US" altLang="zh-CN" sz="2800">
                <a:solidFill>
                  <a:schemeClr val="folHlink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(A)</a:t>
            </a:r>
            <a:r>
              <a:rPr lang="en-US" altLang="zh-CN" sz="2800" baseline="-25000">
                <a:solidFill>
                  <a:schemeClr val="folHlink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16</a:t>
            </a:r>
            <a:r>
              <a:rPr lang="zh-CN" altLang="en-US" sz="2800">
                <a:solidFill>
                  <a:schemeClr val="folHlink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＝</a:t>
            </a:r>
            <a:r>
              <a:rPr lang="en-US" altLang="zh-CN" sz="2800">
                <a:solidFill>
                  <a:schemeClr val="folHlink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( 101</a:t>
            </a:r>
            <a:r>
              <a:rPr lang="en-US" altLang="zh-CN" sz="2800">
                <a:solidFill>
                  <a:schemeClr val="hlink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0 </a:t>
            </a:r>
            <a:r>
              <a:rPr lang="en-US" altLang="zh-CN" sz="2800">
                <a:solidFill>
                  <a:schemeClr val="folHlink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  <a:r>
              <a:rPr lang="en-US" altLang="zh-CN" sz="2800" baseline="-25000">
                <a:solidFill>
                  <a:schemeClr val="folHlink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</a:t>
            </a:r>
          </a:p>
          <a:p>
            <a:pPr>
              <a:buFont typeface="Arial" panose="020B0604020202020204" pitchFamily="34" charset="0"/>
              <a:buAutoNum type="alphaLcPeriod"/>
            </a:pPr>
            <a:r>
              <a:rPr lang="zh-CN" altLang="en-US" sz="2800">
                <a:solidFill>
                  <a:schemeClr val="folHlink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组播地址，</a:t>
            </a:r>
            <a:r>
              <a:rPr lang="en-US" altLang="zh-CN" sz="2800">
                <a:solidFill>
                  <a:schemeClr val="folHlink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(7)</a:t>
            </a:r>
            <a:r>
              <a:rPr lang="en-US" altLang="zh-CN" sz="2800" baseline="-25000">
                <a:solidFill>
                  <a:schemeClr val="folHlink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16</a:t>
            </a:r>
            <a:r>
              <a:rPr lang="en-US" altLang="zh-CN" sz="2800">
                <a:solidFill>
                  <a:schemeClr val="folHlink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  =( 011</a:t>
            </a:r>
            <a:r>
              <a:rPr lang="en-US" altLang="zh-CN" sz="2800">
                <a:solidFill>
                  <a:schemeClr val="hlink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 </a:t>
            </a:r>
            <a:r>
              <a:rPr lang="en-US" altLang="zh-CN" sz="2800">
                <a:solidFill>
                  <a:schemeClr val="folHlink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)</a:t>
            </a:r>
            <a:r>
              <a:rPr lang="en-US" altLang="zh-CN" sz="2800" baseline="-25000">
                <a:solidFill>
                  <a:schemeClr val="folHlink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</a:t>
            </a:r>
          </a:p>
          <a:p>
            <a:r>
              <a:rPr lang="en-US" altLang="zh-CN" sz="2800">
                <a:solidFill>
                  <a:schemeClr val="folHlink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c.  </a:t>
            </a:r>
            <a:r>
              <a:rPr lang="zh-CN" altLang="en-US" sz="2800">
                <a:solidFill>
                  <a:schemeClr val="folHlink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广播地址。</a:t>
            </a:r>
            <a:endParaRPr lang="en-US" altLang="zh-CN" sz="2800">
              <a:solidFill>
                <a:schemeClr val="folHlink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7420" name="Text Box 11">
            <a:extLst>
              <a:ext uri="{FF2B5EF4-FFF2-40B4-BE49-F238E27FC236}">
                <a16:creationId xmlns:a16="http://schemas.microsoft.com/office/drawing/2014/main" id="{21AF95F7-F45C-74F4-2975-12B66448E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8388" y="-44450"/>
            <a:ext cx="1314450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13.1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1">
            <a:extLst>
              <a:ext uri="{FF2B5EF4-FFF2-40B4-BE49-F238E27FC236}">
                <a16:creationId xmlns:a16="http://schemas.microsoft.com/office/drawing/2014/main" id="{CFDEF13E-DF86-5ABD-8349-5A549078BC0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64DD8EF5-0F92-44DD-B85B-6219748B8070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15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98FABE9A-41A6-F6DA-513C-200D85726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4C9DC955-302C-7206-6902-27C33E583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7" name="Rectangle 4">
            <a:extLst>
              <a:ext uri="{FF2B5EF4-FFF2-40B4-BE49-F238E27FC236}">
                <a16:creationId xmlns:a16="http://schemas.microsoft.com/office/drawing/2014/main" id="{916B74B4-4519-ADEB-34F2-B272B5FD1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8" name="Rectangle 5">
            <a:extLst>
              <a:ext uri="{FF2B5EF4-FFF2-40B4-BE49-F238E27FC236}">
                <a16:creationId xmlns:a16="http://schemas.microsoft.com/office/drawing/2014/main" id="{AE468F47-DB7F-CCBA-E764-88DF11CB2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9" name="Rectangle 6">
            <a:extLst>
              <a:ext uri="{FF2B5EF4-FFF2-40B4-BE49-F238E27FC236}">
                <a16:creationId xmlns:a16="http://schemas.microsoft.com/office/drawing/2014/main" id="{5282B2D4-4C11-4AB3-19BE-EDCBEAE0A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40" name="Rectangle 7">
            <a:extLst>
              <a:ext uri="{FF2B5EF4-FFF2-40B4-BE49-F238E27FC236}">
                <a16:creationId xmlns:a16="http://schemas.microsoft.com/office/drawing/2014/main" id="{761D6988-2377-2135-999F-662C348B3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41" name="Rectangle 8">
            <a:extLst>
              <a:ext uri="{FF2B5EF4-FFF2-40B4-BE49-F238E27FC236}">
                <a16:creationId xmlns:a16="http://schemas.microsoft.com/office/drawing/2014/main" id="{DB4B4570-72A9-C7C0-115E-347EB82A4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42" name="Rectangle 9">
            <a:extLst>
              <a:ext uri="{FF2B5EF4-FFF2-40B4-BE49-F238E27FC236}">
                <a16:creationId xmlns:a16="http://schemas.microsoft.com/office/drawing/2014/main" id="{822DB24E-B788-12C2-CF29-8DD406741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295400"/>
            <a:ext cx="86868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solidFill>
                  <a:schemeClr val="folHlink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写出</a:t>
            </a:r>
            <a:r>
              <a:rPr lang="en-US" altLang="zh-CN" sz="2800">
                <a:solidFill>
                  <a:schemeClr val="folHlink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MAC</a:t>
            </a:r>
            <a:r>
              <a:rPr lang="zh-CN" altLang="en-US" sz="2800">
                <a:solidFill>
                  <a:schemeClr val="folHlink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地址 </a:t>
            </a:r>
            <a:r>
              <a:rPr lang="en-US" altLang="zh-CN" sz="2800">
                <a:solidFill>
                  <a:schemeClr val="folHlink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47:20:1B:2E:08:EE </a:t>
            </a:r>
            <a:r>
              <a:rPr lang="zh-CN" altLang="en-US" sz="2800">
                <a:solidFill>
                  <a:schemeClr val="folHlink"/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在线路上的发送次序。</a:t>
            </a:r>
            <a:endParaRPr lang="en-US" altLang="zh-CN" sz="2800">
              <a:solidFill>
                <a:schemeClr val="folHlink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18443" name="Rectangle 10">
            <a:extLst>
              <a:ext uri="{FF2B5EF4-FFF2-40B4-BE49-F238E27FC236}">
                <a16:creationId xmlns:a16="http://schemas.microsoft.com/office/drawing/2014/main" id="{EBE8A052-E8C9-82CA-9547-8FFA4191D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819400"/>
            <a:ext cx="86868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endParaRPr lang="en-US" altLang="zh-CN" sz="28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sz="2800">
                <a:latin typeface="Times" panose="02020603050405020304" pitchFamily="18" charset="0"/>
                <a:ea typeface="宋体" panose="02010600030101010101" pitchFamily="2" charset="-122"/>
              </a:rPr>
              <a:t>地址被一个字节一个字节地从左向右发送，每个字节是一位一位地 从右向左发送的，如下所示</a:t>
            </a:r>
            <a:endParaRPr lang="en-US" altLang="zh-CN" sz="2800"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444" name="Text Box 13">
            <a:extLst>
              <a:ext uri="{FF2B5EF4-FFF2-40B4-BE49-F238E27FC236}">
                <a16:creationId xmlns:a16="http://schemas.microsoft.com/office/drawing/2014/main" id="{C3A6EC42-41E0-FB34-C546-B2B6DF5BB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8388" y="0"/>
            <a:ext cx="13144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13.2</a:t>
            </a:r>
          </a:p>
        </p:txBody>
      </p:sp>
      <p:pic>
        <p:nvPicPr>
          <p:cNvPr id="18445" name="Picture 14">
            <a:extLst>
              <a:ext uri="{FF2B5EF4-FFF2-40B4-BE49-F238E27FC236}">
                <a16:creationId xmlns:a16="http://schemas.microsoft.com/office/drawing/2014/main" id="{CC8C0E8C-F410-3FBB-4996-6F71AC0D2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579938"/>
            <a:ext cx="8091488" cy="296862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1">
            <a:extLst>
              <a:ext uri="{FF2B5EF4-FFF2-40B4-BE49-F238E27FC236}">
                <a16:creationId xmlns:a16="http://schemas.microsoft.com/office/drawing/2014/main" id="{C9CAF419-719B-A04A-579A-6F0B73973F5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9574C29A-A59C-4B02-9EE8-98D8300E3E1D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16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691BD6DC-F419-6AF1-FEF3-904961D72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7DA2761E-C3BA-E8CB-1173-CCB747BCE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1" name="Rectangle 4">
            <a:extLst>
              <a:ext uri="{FF2B5EF4-FFF2-40B4-BE49-F238E27FC236}">
                <a16:creationId xmlns:a16="http://schemas.microsoft.com/office/drawing/2014/main" id="{29A1AFFB-F2B1-8A5F-F75B-8613B72AF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2" name="Rectangle 5">
            <a:extLst>
              <a:ext uri="{FF2B5EF4-FFF2-40B4-BE49-F238E27FC236}">
                <a16:creationId xmlns:a16="http://schemas.microsoft.com/office/drawing/2014/main" id="{6AA09520-9BC2-43F5-9038-6023266E1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3" name="Rectangle 6">
            <a:extLst>
              <a:ext uri="{FF2B5EF4-FFF2-40B4-BE49-F238E27FC236}">
                <a16:creationId xmlns:a16="http://schemas.microsoft.com/office/drawing/2014/main" id="{42C0E5E4-F677-DB82-1441-32B6FE5AD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4" name="Rectangle 7">
            <a:extLst>
              <a:ext uri="{FF2B5EF4-FFF2-40B4-BE49-F238E27FC236}">
                <a16:creationId xmlns:a16="http://schemas.microsoft.com/office/drawing/2014/main" id="{6439C5BF-ABC9-7BBC-25C8-5ED87A0CD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5" name="Rectangle 8">
            <a:extLst>
              <a:ext uri="{FF2B5EF4-FFF2-40B4-BE49-F238E27FC236}">
                <a16:creationId xmlns:a16="http://schemas.microsoft.com/office/drawing/2014/main" id="{8DF3E817-89A9-B4AB-C449-60889A98D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6" name="Line 9">
            <a:extLst>
              <a:ext uri="{FF2B5EF4-FFF2-40B4-BE49-F238E27FC236}">
                <a16:creationId xmlns:a16="http://schemas.microsoft.com/office/drawing/2014/main" id="{3A97A560-0A9D-CF82-0215-66B5F709CE3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219200"/>
            <a:ext cx="8153400" cy="0"/>
          </a:xfrm>
          <a:prstGeom prst="line">
            <a:avLst/>
          </a:prstGeom>
          <a:noFill/>
          <a:ln w="76200" cmpd="sng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7" name="Line 10">
            <a:extLst>
              <a:ext uri="{FF2B5EF4-FFF2-40B4-BE49-F238E27FC236}">
                <a16:creationId xmlns:a16="http://schemas.microsoft.com/office/drawing/2014/main" id="{5826F7CE-E079-BD35-B715-64CD3EBA57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5943600"/>
            <a:ext cx="8153400" cy="0"/>
          </a:xfrm>
          <a:prstGeom prst="line">
            <a:avLst/>
          </a:prstGeom>
          <a:noFill/>
          <a:ln w="76200" cmpd="sng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68" name="Rectangle 11">
            <a:extLst>
              <a:ext uri="{FF2B5EF4-FFF2-40B4-BE49-F238E27FC236}">
                <a16:creationId xmlns:a16="http://schemas.microsoft.com/office/drawing/2014/main" id="{40CC5185-3BD5-8B38-2776-8DB4152B2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311275"/>
            <a:ext cx="8077200" cy="4479925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ea typeface="宋体" panose="02010600030101010101" pitchFamily="2" charset="-122"/>
              </a:rPr>
              <a:t>访问方法：标准以太网使用</a:t>
            </a:r>
            <a:r>
              <a:rPr lang="en-US" altLang="zh-CN" sz="2400">
                <a:ea typeface="宋体" panose="02010600030101010101" pitchFamily="2" charset="-122"/>
              </a:rPr>
              <a:t>1-</a:t>
            </a:r>
            <a:r>
              <a:rPr lang="zh-CN" altLang="en-US" sz="2400">
                <a:ea typeface="宋体" panose="02010600030101010101" pitchFamily="2" charset="-122"/>
              </a:rPr>
              <a:t>持续的</a:t>
            </a:r>
            <a:r>
              <a:rPr lang="en-US" altLang="zh-CN" sz="2400">
                <a:ea typeface="宋体" panose="02010600030101010101" pitchFamily="2" charset="-122"/>
              </a:rPr>
              <a:t>CSMA/CD</a:t>
            </a:r>
            <a:r>
              <a:rPr lang="zh-CN" altLang="en-US" sz="2400">
                <a:ea typeface="宋体" panose="02010600030101010101" pitchFamily="2" charset="-122"/>
              </a:rPr>
              <a:t>方法；</a:t>
            </a:r>
            <a:endParaRPr lang="en-US" altLang="zh-CN" sz="2400">
              <a:ea typeface="宋体" panose="02010600030101010101" pitchFamily="2" charset="-122"/>
            </a:endParaRPr>
          </a:p>
          <a:p>
            <a:endParaRPr lang="en-US" altLang="zh-CN" sz="2400">
              <a:ea typeface="宋体" panose="02010600030101010101" pitchFamily="2" charset="-122"/>
            </a:endParaRPr>
          </a:p>
          <a:p>
            <a:r>
              <a:rPr lang="zh-CN" altLang="en-US" sz="2400">
                <a:ea typeface="宋体" panose="02010600030101010101" pitchFamily="2" charset="-122"/>
              </a:rPr>
              <a:t>冲突时槽</a:t>
            </a:r>
            <a:r>
              <a:rPr lang="en-US" altLang="zh-CN" sz="2400">
                <a:ea typeface="宋体" panose="02010600030101010101" pitchFamily="2" charset="-122"/>
              </a:rPr>
              <a:t>/</a:t>
            </a:r>
            <a:r>
              <a:rPr lang="zh-CN" altLang="en-US" sz="2400">
                <a:ea typeface="宋体" panose="02010600030101010101" pitchFamily="2" charset="-122"/>
              </a:rPr>
              <a:t>时隙：</a:t>
            </a:r>
            <a:r>
              <a:rPr lang="en-US" altLang="zh-CN" sz="2400">
                <a:ea typeface="宋体" panose="02010600030101010101" pitchFamily="2" charset="-122"/>
              </a:rPr>
              <a:t>2Tp+Tfr(jumming</a:t>
            </a:r>
            <a:r>
              <a:rPr lang="zh-CN" altLang="en-US" sz="2400">
                <a:ea typeface="宋体" panose="02010600030101010101" pitchFamily="2" charset="-122"/>
              </a:rPr>
              <a:t>信号，可忽略</a:t>
            </a:r>
            <a:r>
              <a:rPr lang="en-US" altLang="zh-CN" sz="2400">
                <a:ea typeface="宋体" panose="02010600030101010101" pitchFamily="2" charset="-122"/>
              </a:rPr>
              <a:t>)</a:t>
            </a:r>
            <a:r>
              <a:rPr lang="zh-CN" altLang="en-US" sz="2400">
                <a:ea typeface="宋体" panose="02010600030101010101" pitchFamily="2" charset="-122"/>
              </a:rPr>
              <a:t>；标以太网</a:t>
            </a:r>
            <a:r>
              <a:rPr lang="en-US" altLang="zh-CN" sz="2400">
                <a:ea typeface="宋体" panose="02010600030101010101" pitchFamily="2" charset="-122"/>
              </a:rPr>
              <a:t>10Mbps</a:t>
            </a:r>
            <a:r>
              <a:rPr lang="zh-CN" altLang="en-US" sz="2400">
                <a:ea typeface="宋体" panose="02010600030101010101" pitchFamily="2" charset="-122"/>
              </a:rPr>
              <a:t>的冲突时槽是</a:t>
            </a:r>
            <a:r>
              <a:rPr lang="en-US" altLang="zh-CN" sz="2400">
                <a:ea typeface="宋体" panose="02010600030101010101" pitchFamily="2" charset="-122"/>
              </a:rPr>
              <a:t>51.2us</a:t>
            </a:r>
            <a:r>
              <a:rPr lang="zh-CN" altLang="en-US" sz="2400">
                <a:ea typeface="宋体" panose="02010600030101010101" pitchFamily="2" charset="-122"/>
              </a:rPr>
              <a:t>，以位来表示，是</a:t>
            </a:r>
            <a:r>
              <a:rPr lang="en-US" altLang="zh-CN" sz="2400">
                <a:ea typeface="宋体" panose="02010600030101010101" pitchFamily="2" charset="-122"/>
              </a:rPr>
              <a:t>512ibt</a:t>
            </a:r>
            <a:r>
              <a:rPr lang="zh-CN" altLang="en-US" sz="2400">
                <a:ea typeface="宋体" panose="02010600030101010101" pitchFamily="2" charset="-122"/>
              </a:rPr>
              <a:t>位时（</a:t>
            </a:r>
            <a:r>
              <a:rPr lang="en-US" altLang="zh-CN" sz="2400">
                <a:ea typeface="宋体" panose="02010600030101010101" pitchFamily="2" charset="-122"/>
              </a:rPr>
              <a:t>64Byte</a:t>
            </a:r>
            <a:r>
              <a:rPr lang="zh-CN" altLang="en-US" sz="2400">
                <a:ea typeface="宋体" panose="02010600030101010101" pitchFamily="2" charset="-122"/>
              </a:rPr>
              <a:t>，最小帧长）；</a:t>
            </a:r>
            <a:endParaRPr lang="en-US" altLang="zh-CN" sz="2400">
              <a:ea typeface="宋体" panose="02010600030101010101" pitchFamily="2" charset="-122"/>
            </a:endParaRPr>
          </a:p>
          <a:p>
            <a:endParaRPr lang="en-US" altLang="zh-CN" sz="2400">
              <a:ea typeface="宋体" panose="02010600030101010101" pitchFamily="2" charset="-122"/>
            </a:endParaRPr>
          </a:p>
          <a:p>
            <a:r>
              <a:rPr lang="zh-CN" altLang="en-US" sz="2400">
                <a:ea typeface="宋体" panose="02010600030101010101" pitchFamily="2" charset="-122"/>
              </a:rPr>
              <a:t>最大网段长度：大多数传输介质中，信号以</a:t>
            </a:r>
            <a:r>
              <a:rPr lang="en-US" altLang="zh-CN" sz="2400">
                <a:ea typeface="宋体" panose="02010600030101010101" pitchFamily="2" charset="-122"/>
              </a:rPr>
              <a:t>2</a:t>
            </a:r>
            <a:r>
              <a:rPr lang="zh-CN" altLang="en-US" sz="2400">
                <a:ea typeface="宋体" panose="02010600030101010101" pitchFamily="2" charset="-122"/>
              </a:rPr>
              <a:t>*</a:t>
            </a:r>
            <a:r>
              <a:rPr lang="en-US" altLang="zh-CN" sz="2400">
                <a:ea typeface="宋体" panose="02010600030101010101" pitchFamily="2" charset="-122"/>
              </a:rPr>
              <a:t>10</a:t>
            </a:r>
            <a:r>
              <a:rPr lang="en-US" altLang="zh-CN" sz="2400" baseline="30000">
                <a:ea typeface="宋体" panose="02010600030101010101" pitchFamily="2" charset="-122"/>
              </a:rPr>
              <a:t>8</a:t>
            </a:r>
            <a:r>
              <a:rPr lang="en-US" altLang="zh-CN" sz="2400">
                <a:ea typeface="宋体" panose="02010600030101010101" pitchFamily="2" charset="-122"/>
              </a:rPr>
              <a:t>m/s</a:t>
            </a:r>
            <a:r>
              <a:rPr lang="zh-CN" altLang="en-US" sz="2400">
                <a:ea typeface="宋体" panose="02010600030101010101" pitchFamily="2" charset="-122"/>
              </a:rPr>
              <a:t>，是空气中光速的</a:t>
            </a:r>
            <a:r>
              <a:rPr lang="en-US" altLang="zh-CN" sz="2400">
                <a:ea typeface="宋体" panose="02010600030101010101" pitchFamily="2" charset="-122"/>
              </a:rPr>
              <a:t>2/3</a:t>
            </a:r>
            <a:r>
              <a:rPr lang="zh-CN" altLang="en-US" sz="2400">
                <a:ea typeface="宋体" panose="02010600030101010101" pitchFamily="2" charset="-122"/>
              </a:rPr>
              <a:t>，则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zh-CN" altLang="en-US" sz="2400">
                <a:ea typeface="宋体" panose="02010600030101010101" pitchFamily="2" charset="-122"/>
              </a:rPr>
              <a:t>最大长度</a:t>
            </a:r>
            <a:r>
              <a:rPr lang="en-US" altLang="zh-CN" sz="2400">
                <a:ea typeface="宋体" panose="02010600030101010101" pitchFamily="2" charset="-122"/>
              </a:rPr>
              <a:t>=2/3*c*Tp= (2</a:t>
            </a:r>
            <a:r>
              <a:rPr lang="zh-CN" altLang="en-US" sz="2400">
                <a:ea typeface="宋体" panose="02010600030101010101" pitchFamily="2" charset="-122"/>
              </a:rPr>
              <a:t>*</a:t>
            </a:r>
            <a:r>
              <a:rPr lang="en-US" altLang="zh-CN" sz="2400">
                <a:ea typeface="宋体" panose="02010600030101010101" pitchFamily="2" charset="-122"/>
              </a:rPr>
              <a:t>10</a:t>
            </a:r>
            <a:r>
              <a:rPr lang="en-US" altLang="zh-CN" sz="2400" baseline="30000">
                <a:ea typeface="宋体" panose="02010600030101010101" pitchFamily="2" charset="-122"/>
              </a:rPr>
              <a:t>8</a:t>
            </a:r>
            <a:r>
              <a:rPr lang="en-US" altLang="zh-CN" sz="2400">
                <a:ea typeface="宋体" panose="02010600030101010101" pitchFamily="2" charset="-122"/>
              </a:rPr>
              <a:t>m/s)*(51.2us)=5120m;</a:t>
            </a:r>
          </a:p>
          <a:p>
            <a:r>
              <a:rPr lang="zh-CN" altLang="en-US" sz="2400">
                <a:ea typeface="宋体" panose="02010600030101010101" pitchFamily="2" charset="-122"/>
              </a:rPr>
              <a:t>考虑到中继器和接口的延迟以及发送</a:t>
            </a:r>
            <a:r>
              <a:rPr lang="en-US" altLang="zh-CN" sz="2400">
                <a:ea typeface="宋体" panose="02010600030101010101" pitchFamily="2" charset="-122"/>
              </a:rPr>
              <a:t>jumming</a:t>
            </a:r>
            <a:r>
              <a:rPr lang="zh-CN" altLang="en-US" sz="2400">
                <a:ea typeface="宋体" panose="02010600030101010101" pitchFamily="2" charset="-122"/>
              </a:rPr>
              <a:t>信号的延迟，传统以太网的最大长度减少为</a:t>
            </a:r>
            <a:r>
              <a:rPr lang="en-US" altLang="zh-CN" sz="2400">
                <a:ea typeface="宋体" panose="02010600030101010101" pitchFamily="2" charset="-122"/>
              </a:rPr>
              <a:t>2500m</a:t>
            </a:r>
            <a:r>
              <a:rPr lang="zh-CN" altLang="en-US" sz="2400">
                <a:ea typeface="宋体" panose="02010600030101010101" pitchFamily="2" charset="-122"/>
              </a:rPr>
              <a:t>，仅仅是理论的</a:t>
            </a:r>
            <a:r>
              <a:rPr lang="en-US" altLang="zh-CN" sz="2400">
                <a:ea typeface="宋体" panose="02010600030101010101" pitchFamily="2" charset="-122"/>
              </a:rPr>
              <a:t>48%</a:t>
            </a:r>
            <a:r>
              <a:rPr lang="zh-CN" altLang="en-US" sz="2400">
                <a:ea typeface="宋体" panose="02010600030101010101" pitchFamily="2" charset="-122"/>
              </a:rPr>
              <a:t>。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grpSp>
        <p:nvGrpSpPr>
          <p:cNvPr id="19469" name="Group 12">
            <a:extLst>
              <a:ext uri="{FF2B5EF4-FFF2-40B4-BE49-F238E27FC236}">
                <a16:creationId xmlns:a16="http://schemas.microsoft.com/office/drawing/2014/main" id="{D0060F01-F0EC-B767-2B01-6DF50D45B00A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533400"/>
            <a:ext cx="1143000" cy="566738"/>
            <a:chOff x="0" y="0"/>
            <a:chExt cx="720" cy="357"/>
          </a:xfrm>
        </p:grpSpPr>
        <p:pic>
          <p:nvPicPr>
            <p:cNvPr id="19470" name="Picture 13">
              <a:extLst>
                <a:ext uri="{FF2B5EF4-FFF2-40B4-BE49-F238E27FC236}">
                  <a16:creationId xmlns:a16="http://schemas.microsoft.com/office/drawing/2014/main" id="{4AD3CB30-5523-F7C7-0855-A4BB5BFDAE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71" name="Text Box 14">
              <a:extLst>
                <a:ext uri="{FF2B5EF4-FFF2-40B4-BE49-F238E27FC236}">
                  <a16:creationId xmlns:a16="http://schemas.microsoft.com/office/drawing/2014/main" id="{AEBE3E92-3CB2-A8D1-9340-C36CA13A4A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1">
            <a:extLst>
              <a:ext uri="{FF2B5EF4-FFF2-40B4-BE49-F238E27FC236}">
                <a16:creationId xmlns:a16="http://schemas.microsoft.com/office/drawing/2014/main" id="{2E524F79-264A-5BB7-7465-9268E9940BA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9F4C677C-5D25-4808-BE5B-CC1D210C9B7E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17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20483" name="Line 2">
            <a:extLst>
              <a:ext uri="{FF2B5EF4-FFF2-40B4-BE49-F238E27FC236}">
                <a16:creationId xmlns:a16="http://schemas.microsoft.com/office/drawing/2014/main" id="{C96BC8E7-3D74-8D3A-0518-41BD527811C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4" name="Line 3">
            <a:extLst>
              <a:ext uri="{FF2B5EF4-FFF2-40B4-BE49-F238E27FC236}">
                <a16:creationId xmlns:a16="http://schemas.microsoft.com/office/drawing/2014/main" id="{15524759-C729-BAE3-FD5A-9389CA6D91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5" name="Text Box 4">
            <a:extLst>
              <a:ext uri="{FF2B5EF4-FFF2-40B4-BE49-F238E27FC236}">
                <a16:creationId xmlns:a16="http://schemas.microsoft.com/office/drawing/2014/main" id="{C9C0CEA4-35A4-9C24-75CB-475F53B95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3305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13.8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标准以太网的分类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6" name="Line 5">
            <a:extLst>
              <a:ext uri="{FF2B5EF4-FFF2-40B4-BE49-F238E27FC236}">
                <a16:creationId xmlns:a16="http://schemas.microsoft.com/office/drawing/2014/main" id="{460D597A-FC86-CE8A-C1D6-7BDE14A2BC5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0487" name="Picture 6">
            <a:extLst>
              <a:ext uri="{FF2B5EF4-FFF2-40B4-BE49-F238E27FC236}">
                <a16:creationId xmlns:a16="http://schemas.microsoft.com/office/drawing/2014/main" id="{272D07FE-23CC-4C80-9AB9-E8AF89317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514600"/>
            <a:ext cx="6389688" cy="335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8" name="TextBox 7">
            <a:extLst>
              <a:ext uri="{FF2B5EF4-FFF2-40B4-BE49-F238E27FC236}">
                <a16:creationId xmlns:a16="http://schemas.microsoft.com/office/drawing/2014/main" id="{7040AE4A-A712-FAE7-1089-2ECD1A98E8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600200"/>
            <a:ext cx="7924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ea typeface="宋体" panose="02010600030101010101" pitchFamily="2" charset="-122"/>
              </a:rPr>
              <a:t>所有标准的实现都使用</a:t>
            </a:r>
            <a:r>
              <a:rPr lang="en-US" altLang="zh-CN" sz="2800">
                <a:ea typeface="宋体" panose="02010600030101010101" pitchFamily="2" charset="-122"/>
              </a:rPr>
              <a:t>10Mbps</a:t>
            </a:r>
            <a:r>
              <a:rPr lang="zh-CN" altLang="en-US" sz="2800">
                <a:ea typeface="宋体" panose="02010600030101010101" pitchFamily="2" charset="-122"/>
              </a:rPr>
              <a:t>的基带数字信号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1">
            <a:extLst>
              <a:ext uri="{FF2B5EF4-FFF2-40B4-BE49-F238E27FC236}">
                <a16:creationId xmlns:a16="http://schemas.microsoft.com/office/drawing/2014/main" id="{A5089F71-FADC-6E3D-310D-64C789D4918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2AD11A6B-9A91-4F88-BC30-062018CF46EA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18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21507" name="Line 2">
            <a:extLst>
              <a:ext uri="{FF2B5EF4-FFF2-40B4-BE49-F238E27FC236}">
                <a16:creationId xmlns:a16="http://schemas.microsoft.com/office/drawing/2014/main" id="{C18B7A2F-F723-56F2-360F-3221D2A1D8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8" name="Line 3">
            <a:extLst>
              <a:ext uri="{FF2B5EF4-FFF2-40B4-BE49-F238E27FC236}">
                <a16:creationId xmlns:a16="http://schemas.microsoft.com/office/drawing/2014/main" id="{80652708-3F80-BEC6-33A7-CD6A3A800F9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9" name="Text Box 4">
            <a:extLst>
              <a:ext uri="{FF2B5EF4-FFF2-40B4-BE49-F238E27FC236}">
                <a16:creationId xmlns:a16="http://schemas.microsoft.com/office/drawing/2014/main" id="{884E1F7D-F4DB-34CA-36C1-0AB9130373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0259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13.9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标准以太网实现中的编码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510" name="Line 5">
            <a:extLst>
              <a:ext uri="{FF2B5EF4-FFF2-40B4-BE49-F238E27FC236}">
                <a16:creationId xmlns:a16="http://schemas.microsoft.com/office/drawing/2014/main" id="{62A43B97-4C7C-7D4A-7CE2-C11BFE86E30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1511" name="Picture 6">
            <a:extLst>
              <a:ext uri="{FF2B5EF4-FFF2-40B4-BE49-F238E27FC236}">
                <a16:creationId xmlns:a16="http://schemas.microsoft.com/office/drawing/2014/main" id="{C274DCD6-E5F5-7C08-6826-2CA28E724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2363788"/>
            <a:ext cx="7367587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1">
            <a:extLst>
              <a:ext uri="{FF2B5EF4-FFF2-40B4-BE49-F238E27FC236}">
                <a16:creationId xmlns:a16="http://schemas.microsoft.com/office/drawing/2014/main" id="{C9FA79CF-5836-DF44-8382-7632AA45FCC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46445A31-AB3A-4423-AD3D-170E3F790AA2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19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22531" name="Line 2">
            <a:extLst>
              <a:ext uri="{FF2B5EF4-FFF2-40B4-BE49-F238E27FC236}">
                <a16:creationId xmlns:a16="http://schemas.microsoft.com/office/drawing/2014/main" id="{EEE3D526-A3CD-23E7-7A7C-F70C8D0E7C4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2" name="Line 3">
            <a:extLst>
              <a:ext uri="{FF2B5EF4-FFF2-40B4-BE49-F238E27FC236}">
                <a16:creationId xmlns:a16="http://schemas.microsoft.com/office/drawing/2014/main" id="{C66B185B-7E0F-8ADA-E913-99611258218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33" name="Text Box 4">
            <a:extLst>
              <a:ext uri="{FF2B5EF4-FFF2-40B4-BE49-F238E27FC236}">
                <a16:creationId xmlns:a16="http://schemas.microsoft.com/office/drawing/2014/main" id="{D1EB137D-E89E-19A4-D54F-A01B1A9F33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6417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13.10 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10Base5: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粗缆以太网</a:t>
            </a:r>
          </a:p>
        </p:txBody>
      </p:sp>
      <p:sp>
        <p:nvSpPr>
          <p:cNvPr id="22534" name="Line 5">
            <a:extLst>
              <a:ext uri="{FF2B5EF4-FFF2-40B4-BE49-F238E27FC236}">
                <a16:creationId xmlns:a16="http://schemas.microsoft.com/office/drawing/2014/main" id="{73FC11D2-34E1-E0FB-B165-46EFCC2CE6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2535" name="Picture 6">
            <a:extLst>
              <a:ext uri="{FF2B5EF4-FFF2-40B4-BE49-F238E27FC236}">
                <a16:creationId xmlns:a16="http://schemas.microsoft.com/office/drawing/2014/main" id="{B5DC1F47-26C9-B475-C048-147B536D3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590800"/>
            <a:ext cx="8720138" cy="185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6" name="TextBox 7">
            <a:extLst>
              <a:ext uri="{FF2B5EF4-FFF2-40B4-BE49-F238E27FC236}">
                <a16:creationId xmlns:a16="http://schemas.microsoft.com/office/drawing/2014/main" id="{E9EE63F7-CB18-7D09-38A7-8D4FAC7102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876800"/>
            <a:ext cx="7848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ea typeface="宋体" panose="02010600030101010101" pitchFamily="2" charset="-122"/>
              </a:rPr>
              <a:t>收发器负责传输、接收和冲突检测；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zh-CN" altLang="en-US" sz="2400">
                <a:ea typeface="宋体" panose="02010600030101010101" pitchFamily="2" charset="-122"/>
              </a:rPr>
              <a:t>最多分</a:t>
            </a:r>
            <a:r>
              <a:rPr lang="en-US" altLang="zh-CN" sz="2400">
                <a:ea typeface="宋体" panose="02010600030101010101" pitchFamily="2" charset="-122"/>
              </a:rPr>
              <a:t>5</a:t>
            </a:r>
            <a:r>
              <a:rPr lang="zh-CN" altLang="en-US" sz="2400">
                <a:ea typeface="宋体" panose="02010600030101010101" pitchFamily="2" charset="-122"/>
              </a:rPr>
              <a:t>个段，每段最大长度</a:t>
            </a:r>
            <a:r>
              <a:rPr lang="en-US" altLang="zh-CN" sz="2400">
                <a:ea typeface="宋体" panose="02010600030101010101" pitchFamily="2" charset="-122"/>
              </a:rPr>
              <a:t>500</a:t>
            </a:r>
            <a:r>
              <a:rPr lang="zh-CN" altLang="en-US" sz="2400">
                <a:ea typeface="宋体" panose="02010600030101010101" pitchFamily="2" charset="-122"/>
              </a:rPr>
              <a:t>米，使用中继器连接。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1">
            <a:extLst>
              <a:ext uri="{FF2B5EF4-FFF2-40B4-BE49-F238E27FC236}">
                <a16:creationId xmlns:a16="http://schemas.microsoft.com/office/drawing/2014/main" id="{6AE91DB4-1A7E-4823-5532-C1C325030CF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09B9AB82-A185-4A31-B69F-09ECF6463A48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20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23555" name="Line 2">
            <a:extLst>
              <a:ext uri="{FF2B5EF4-FFF2-40B4-BE49-F238E27FC236}">
                <a16:creationId xmlns:a16="http://schemas.microsoft.com/office/drawing/2014/main" id="{8D68AFBC-DD56-9B11-E598-382072FD920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6" name="Line 3">
            <a:extLst>
              <a:ext uri="{FF2B5EF4-FFF2-40B4-BE49-F238E27FC236}">
                <a16:creationId xmlns:a16="http://schemas.microsoft.com/office/drawing/2014/main" id="{23FC34D3-89E1-9350-0C36-743B203984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57" name="Text Box 4">
            <a:extLst>
              <a:ext uri="{FF2B5EF4-FFF2-40B4-BE49-F238E27FC236}">
                <a16:creationId xmlns:a16="http://schemas.microsoft.com/office/drawing/2014/main" id="{FF33D7E1-0450-182C-D653-839C3C8990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733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13.11 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10Base2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：细缆以太网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558" name="Line 5">
            <a:extLst>
              <a:ext uri="{FF2B5EF4-FFF2-40B4-BE49-F238E27FC236}">
                <a16:creationId xmlns:a16="http://schemas.microsoft.com/office/drawing/2014/main" id="{4F596772-F873-6379-B17E-6C83D8BDA10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3559" name="Picture 6">
            <a:extLst>
              <a:ext uri="{FF2B5EF4-FFF2-40B4-BE49-F238E27FC236}">
                <a16:creationId xmlns:a16="http://schemas.microsoft.com/office/drawing/2014/main" id="{4522C8F3-D1FD-A114-F945-242C898A9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1452563"/>
            <a:ext cx="7843837" cy="327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0" name="TextBox 7">
            <a:extLst>
              <a:ext uri="{FF2B5EF4-FFF2-40B4-BE49-F238E27FC236}">
                <a16:creationId xmlns:a16="http://schemas.microsoft.com/office/drawing/2014/main" id="{D5F60A73-74D3-F609-75AA-692192B2E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876800"/>
            <a:ext cx="7848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ea typeface="宋体" panose="02010600030101010101" pitchFamily="2" charset="-122"/>
              </a:rPr>
              <a:t>收发器通常是网卡</a:t>
            </a:r>
            <a:r>
              <a:rPr lang="en-US" altLang="zh-CN" sz="2400">
                <a:ea typeface="宋体" panose="02010600030101010101" pitchFamily="2" charset="-122"/>
              </a:rPr>
              <a:t>NIC</a:t>
            </a:r>
            <a:r>
              <a:rPr lang="zh-CN" altLang="en-US" sz="2400">
                <a:ea typeface="宋体" panose="02010600030101010101" pitchFamily="2" charset="-122"/>
              </a:rPr>
              <a:t>的一部分，安装在节点内部；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zh-CN" altLang="en-US" sz="2400">
                <a:ea typeface="宋体" panose="02010600030101010101" pitchFamily="2" charset="-122"/>
              </a:rPr>
              <a:t>最多分</a:t>
            </a:r>
            <a:r>
              <a:rPr lang="en-US" altLang="zh-CN" sz="2400">
                <a:ea typeface="宋体" panose="02010600030101010101" pitchFamily="2" charset="-122"/>
              </a:rPr>
              <a:t>5</a:t>
            </a:r>
            <a:r>
              <a:rPr lang="zh-CN" altLang="en-US" sz="2400">
                <a:ea typeface="宋体" panose="02010600030101010101" pitchFamily="2" charset="-122"/>
              </a:rPr>
              <a:t>个段，每段最大长度</a:t>
            </a:r>
            <a:r>
              <a:rPr lang="en-US" altLang="zh-CN" sz="2400">
                <a:ea typeface="宋体" panose="02010600030101010101" pitchFamily="2" charset="-122"/>
              </a:rPr>
              <a:t>185</a:t>
            </a:r>
            <a:r>
              <a:rPr lang="zh-CN" altLang="en-US" sz="2400">
                <a:ea typeface="宋体" panose="02010600030101010101" pitchFamily="2" charset="-122"/>
              </a:rPr>
              <a:t>米，使用中继器连接。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1">
            <a:extLst>
              <a:ext uri="{FF2B5EF4-FFF2-40B4-BE49-F238E27FC236}">
                <a16:creationId xmlns:a16="http://schemas.microsoft.com/office/drawing/2014/main" id="{D6010D41-6215-593F-7DFC-EA28CD2CF86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24CE9487-99E7-4C2D-BF1F-C9F1051B4D77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21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24579" name="Line 2">
            <a:extLst>
              <a:ext uri="{FF2B5EF4-FFF2-40B4-BE49-F238E27FC236}">
                <a16:creationId xmlns:a16="http://schemas.microsoft.com/office/drawing/2014/main" id="{2C57817A-D631-FC58-6EEC-585B3DCC2B9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0" name="Line 3">
            <a:extLst>
              <a:ext uri="{FF2B5EF4-FFF2-40B4-BE49-F238E27FC236}">
                <a16:creationId xmlns:a16="http://schemas.microsoft.com/office/drawing/2014/main" id="{47DF2F37-271A-8754-3323-9E4B5B34E8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1" name="Text Box 4">
            <a:extLst>
              <a:ext uri="{FF2B5EF4-FFF2-40B4-BE49-F238E27FC236}">
                <a16:creationId xmlns:a16="http://schemas.microsoft.com/office/drawing/2014/main" id="{DD39683E-2FEC-B37D-45E6-3D393137C3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1735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13.12 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10Base-T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：双绞线以太网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582" name="Line 5">
            <a:extLst>
              <a:ext uri="{FF2B5EF4-FFF2-40B4-BE49-F238E27FC236}">
                <a16:creationId xmlns:a16="http://schemas.microsoft.com/office/drawing/2014/main" id="{28BF0DA9-8238-BB72-22B0-D909869516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4583" name="Picture 6">
            <a:extLst>
              <a:ext uri="{FF2B5EF4-FFF2-40B4-BE49-F238E27FC236}">
                <a16:creationId xmlns:a16="http://schemas.microsoft.com/office/drawing/2014/main" id="{743BE141-0760-0B20-9246-FADFE0FB9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1447800"/>
            <a:ext cx="7724775" cy="284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4" name="TextBox 7">
            <a:extLst>
              <a:ext uri="{FF2B5EF4-FFF2-40B4-BE49-F238E27FC236}">
                <a16:creationId xmlns:a16="http://schemas.microsoft.com/office/drawing/2014/main" id="{1ACAB39E-F59B-BF38-7FDA-99396FE62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724400"/>
            <a:ext cx="78486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ea typeface="宋体" panose="02010600030101010101" pitchFamily="2" charset="-122"/>
              </a:rPr>
              <a:t>物理星型，逻辑总线；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zh-CN" altLang="en-US" sz="2400">
                <a:ea typeface="宋体" panose="02010600030101010101" pitchFamily="2" charset="-122"/>
              </a:rPr>
              <a:t>站点</a:t>
            </a:r>
            <a:r>
              <a:rPr lang="en-US" altLang="zh-CN" sz="2400">
                <a:ea typeface="宋体" panose="02010600030101010101" pitchFamily="2" charset="-122"/>
              </a:rPr>
              <a:t>-Hub</a:t>
            </a:r>
            <a:r>
              <a:rPr lang="zh-CN" altLang="en-US" sz="2400">
                <a:ea typeface="宋体" panose="02010600030101010101" pitchFamily="2" charset="-122"/>
              </a:rPr>
              <a:t>间是双绞线，一条发一条收，冲突发生在</a:t>
            </a:r>
            <a:r>
              <a:rPr lang="en-US" altLang="zh-CN" sz="2400">
                <a:ea typeface="宋体" panose="02010600030101010101" pitchFamily="2" charset="-122"/>
              </a:rPr>
              <a:t>Hub</a:t>
            </a:r>
            <a:r>
              <a:rPr lang="zh-CN" altLang="en-US" sz="2400">
                <a:ea typeface="宋体" panose="02010600030101010101" pitchFamily="2" charset="-122"/>
              </a:rPr>
              <a:t>内，即</a:t>
            </a:r>
            <a:r>
              <a:rPr lang="en-US" altLang="zh-CN" sz="2400">
                <a:ea typeface="宋体" panose="02010600030101010101" pitchFamily="2" charset="-122"/>
              </a:rPr>
              <a:t>Hub</a:t>
            </a:r>
            <a:r>
              <a:rPr lang="zh-CN" altLang="en-US" sz="2400">
                <a:ea typeface="宋体" panose="02010600030101010101" pitchFamily="2" charset="-122"/>
              </a:rPr>
              <a:t>代替了同轴电缆的位置；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zh-CN" altLang="en-US" sz="2400">
                <a:ea typeface="宋体" panose="02010600030101010101" pitchFamily="2" charset="-122"/>
              </a:rPr>
              <a:t>双绞线最大长度</a:t>
            </a:r>
            <a:r>
              <a:rPr lang="en-US" altLang="zh-CN" sz="2400">
                <a:ea typeface="宋体" panose="02010600030101010101" pitchFamily="2" charset="-122"/>
              </a:rPr>
              <a:t>100</a:t>
            </a:r>
            <a:r>
              <a:rPr lang="zh-CN" altLang="en-US" sz="2400">
                <a:ea typeface="宋体" panose="02010600030101010101" pitchFamily="2" charset="-122"/>
              </a:rPr>
              <a:t>米。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1">
            <a:extLst>
              <a:ext uri="{FF2B5EF4-FFF2-40B4-BE49-F238E27FC236}">
                <a16:creationId xmlns:a16="http://schemas.microsoft.com/office/drawing/2014/main" id="{898BFEAC-FB29-69C4-8953-B888D5EFCDE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989C2F1B-840E-40F4-8500-24C8E36754DE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22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25603" name="Line 2">
            <a:extLst>
              <a:ext uri="{FF2B5EF4-FFF2-40B4-BE49-F238E27FC236}">
                <a16:creationId xmlns:a16="http://schemas.microsoft.com/office/drawing/2014/main" id="{20CBE5D8-AE0F-17E9-6AF2-EC052F138E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4" name="Line 3">
            <a:extLst>
              <a:ext uri="{FF2B5EF4-FFF2-40B4-BE49-F238E27FC236}">
                <a16:creationId xmlns:a16="http://schemas.microsoft.com/office/drawing/2014/main" id="{E27D1115-9654-E590-BA8E-DEDEE4EDF9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05" name="Text Box 4">
            <a:extLst>
              <a:ext uri="{FF2B5EF4-FFF2-40B4-BE49-F238E27FC236}">
                <a16:creationId xmlns:a16="http://schemas.microsoft.com/office/drawing/2014/main" id="{6472DF4F-75EF-3ED0-F752-90DABB6D7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8798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13.13 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10Base-F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：光纤以太网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5606" name="Line 5">
            <a:extLst>
              <a:ext uri="{FF2B5EF4-FFF2-40B4-BE49-F238E27FC236}">
                <a16:creationId xmlns:a16="http://schemas.microsoft.com/office/drawing/2014/main" id="{4CD90F30-BECF-AA6A-FE2F-ACC9CAC6AA2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5607" name="Picture 6">
            <a:extLst>
              <a:ext uri="{FF2B5EF4-FFF2-40B4-BE49-F238E27FC236}">
                <a16:creationId xmlns:a16="http://schemas.microsoft.com/office/drawing/2014/main" id="{D85FDFE7-66EB-49F3-5EFB-D6E3B2CA6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3" y="2430463"/>
            <a:ext cx="7805737" cy="259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1">
            <a:extLst>
              <a:ext uri="{FF2B5EF4-FFF2-40B4-BE49-F238E27FC236}">
                <a16:creationId xmlns:a16="http://schemas.microsoft.com/office/drawing/2014/main" id="{A0B38DEF-327D-1179-BE04-2D6BA3D3108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0B8B9D1A-6D9A-4588-A468-714F843FAF7E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23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26627" name="Text Box 2">
            <a:extLst>
              <a:ext uri="{FF2B5EF4-FFF2-40B4-BE49-F238E27FC236}">
                <a16:creationId xmlns:a16="http://schemas.microsoft.com/office/drawing/2014/main" id="{AD36E152-76AF-3ABA-EF19-50C42F5F3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981200"/>
            <a:ext cx="3767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13.1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标准以太网实现的总结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6628" name="Picture 4">
            <a:extLst>
              <a:ext uri="{FF2B5EF4-FFF2-40B4-BE49-F238E27FC236}">
                <a16:creationId xmlns:a16="http://schemas.microsoft.com/office/drawing/2014/main" id="{2DC729D4-D5C2-DDDB-C69A-94E84BBF5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00" y="2559050"/>
            <a:ext cx="7797800" cy="183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1">
            <a:extLst>
              <a:ext uri="{FF2B5EF4-FFF2-40B4-BE49-F238E27FC236}">
                <a16:creationId xmlns:a16="http://schemas.microsoft.com/office/drawing/2014/main" id="{4457DEA2-7EB2-2015-D2D1-799B1FD127A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3FEFF81D-BF98-488F-86BA-3FB52A310895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24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16AC6E46-7776-8A0D-A62B-E6F7CB164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2" name="Text Box 3">
            <a:extLst>
              <a:ext uri="{FF2B5EF4-FFF2-40B4-BE49-F238E27FC236}">
                <a16:creationId xmlns:a16="http://schemas.microsoft.com/office/drawing/2014/main" id="{10771F77-7234-9083-E652-4DA5E6BDD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33035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  <a:ea typeface="宋体" panose="02010600030101010101" pitchFamily="2" charset="-122"/>
              </a:rPr>
              <a:t>13-3  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  <a:ea typeface="宋体" panose="02010600030101010101" pitchFamily="2" charset="-122"/>
              </a:rPr>
              <a:t>标准的变化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3" name="Text Box 4">
            <a:extLst>
              <a:ext uri="{FF2B5EF4-FFF2-40B4-BE49-F238E27FC236}">
                <a16:creationId xmlns:a16="http://schemas.microsoft.com/office/drawing/2014/main" id="{170197FB-6FEB-130F-CA36-C1DECBDA4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4" name="Rectangle 5">
            <a:extLst>
              <a:ext uri="{FF2B5EF4-FFF2-40B4-BE49-F238E27FC236}">
                <a16:creationId xmlns:a16="http://schemas.microsoft.com/office/drawing/2014/main" id="{691F97F3-4350-E619-CE0D-B97604CD0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712913"/>
            <a:ext cx="8229600" cy="181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Mbps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标准以太网在运行更高的传输速率之前已经经历了一些变化。这些变化事实上为以太网的发展开辟了一条新路，使得与其它高传输速率的局域网相比，以太网变得更有竞争力。</a:t>
            </a:r>
            <a:endParaRPr lang="en-US" altLang="zh-CN" sz="28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5" name="Rectangle 6">
            <a:extLst>
              <a:ext uri="{FF2B5EF4-FFF2-40B4-BE49-F238E27FC236}">
                <a16:creationId xmlns:a16="http://schemas.microsoft.com/office/drawing/2014/main" id="{4099E928-E738-13BE-A4AF-C76EFF9A8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679950"/>
            <a:ext cx="6705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桥接以太网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交换式以太网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全双工以太网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656" name="Text Box 7">
            <a:extLst>
              <a:ext uri="{FF2B5EF4-FFF2-40B4-BE49-F238E27FC236}">
                <a16:creationId xmlns:a16="http://schemas.microsoft.com/office/drawing/2014/main" id="{FC006352-FD22-7B27-9680-0A1313064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" y="4203700"/>
            <a:ext cx="37909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2800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本节重点讨论的话题：</a:t>
            </a:r>
            <a:endParaRPr lang="en-US" altLang="zh-CN" sz="2800" i="1" u="sng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1">
            <a:extLst>
              <a:ext uri="{FF2B5EF4-FFF2-40B4-BE49-F238E27FC236}">
                <a16:creationId xmlns:a16="http://schemas.microsoft.com/office/drawing/2014/main" id="{88361EDB-CAB5-A462-C004-BAD54F44EE1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53896399-151D-48A1-BA41-4778DAEF913A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25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629470AF-D41A-0C66-3DEF-4D5413585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503C103-AB18-3D2B-01D3-D20332C5D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77" name="Rectangle 4">
            <a:extLst>
              <a:ext uri="{FF2B5EF4-FFF2-40B4-BE49-F238E27FC236}">
                <a16:creationId xmlns:a16="http://schemas.microsoft.com/office/drawing/2014/main" id="{76FDD065-5ABA-605C-9858-0A5D09F97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78" name="Rectangle 5">
            <a:extLst>
              <a:ext uri="{FF2B5EF4-FFF2-40B4-BE49-F238E27FC236}">
                <a16:creationId xmlns:a16="http://schemas.microsoft.com/office/drawing/2014/main" id="{FC89BEF1-ACF0-0862-5D21-D3AB9AB6D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79" name="Rectangle 6">
            <a:extLst>
              <a:ext uri="{FF2B5EF4-FFF2-40B4-BE49-F238E27FC236}">
                <a16:creationId xmlns:a16="http://schemas.microsoft.com/office/drawing/2014/main" id="{5E2C3950-53FC-51C9-27E1-058897599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80" name="Rectangle 7">
            <a:extLst>
              <a:ext uri="{FF2B5EF4-FFF2-40B4-BE49-F238E27FC236}">
                <a16:creationId xmlns:a16="http://schemas.microsoft.com/office/drawing/2014/main" id="{E2D678E1-9D9B-5C35-B9A8-700F5BE6E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81" name="Rectangle 8">
            <a:extLst>
              <a:ext uri="{FF2B5EF4-FFF2-40B4-BE49-F238E27FC236}">
                <a16:creationId xmlns:a16="http://schemas.microsoft.com/office/drawing/2014/main" id="{5FC7644D-E625-C124-7036-E50DB55C3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8682" name="Line 9">
            <a:extLst>
              <a:ext uri="{FF2B5EF4-FFF2-40B4-BE49-F238E27FC236}">
                <a16:creationId xmlns:a16="http://schemas.microsoft.com/office/drawing/2014/main" id="{9D2A4CE3-C92F-08EC-645A-2072AA7AC8D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 cmpd="sng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3" name="Line 10">
            <a:extLst>
              <a:ext uri="{FF2B5EF4-FFF2-40B4-BE49-F238E27FC236}">
                <a16:creationId xmlns:a16="http://schemas.microsoft.com/office/drawing/2014/main" id="{6B622EFE-AA69-8CC3-851A-50E81F10D2D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 cmpd="sng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4" name="Rectangle 11">
            <a:extLst>
              <a:ext uri="{FF2B5EF4-FFF2-40B4-BE49-F238E27FC236}">
                <a16:creationId xmlns:a16="http://schemas.microsoft.com/office/drawing/2014/main" id="{C72EFB39-8EEF-951B-D230-E76FD4EF58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570038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桥接以太网：以太网发展第一步是将局域网用网桥（</a:t>
            </a:r>
            <a:r>
              <a:rPr lang="en-US" altLang="zh-CN">
                <a:ea typeface="宋体" panose="02010600030101010101" pitchFamily="2" charset="-122"/>
              </a:rPr>
              <a:t>bridge</a:t>
            </a:r>
            <a:r>
              <a:rPr lang="zh-CN" altLang="en-US">
                <a:ea typeface="宋体" panose="02010600030101010101" pitchFamily="2" charset="-122"/>
              </a:rPr>
              <a:t>）分割，目的是提高带宽，分割冲突域。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28685" name="Group 12">
            <a:extLst>
              <a:ext uri="{FF2B5EF4-FFF2-40B4-BE49-F238E27FC236}">
                <a16:creationId xmlns:a16="http://schemas.microsoft.com/office/drawing/2014/main" id="{91D26C51-585D-FA59-0F9D-6C95DE205014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0" y="0"/>
            <a:chExt cx="720" cy="357"/>
          </a:xfrm>
        </p:grpSpPr>
        <p:pic>
          <p:nvPicPr>
            <p:cNvPr id="28686" name="Picture 13">
              <a:extLst>
                <a:ext uri="{FF2B5EF4-FFF2-40B4-BE49-F238E27FC236}">
                  <a16:creationId xmlns:a16="http://schemas.microsoft.com/office/drawing/2014/main" id="{A4A3DDF2-3CF7-729D-F208-574A22CD0B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687" name="Text Box 14">
              <a:extLst>
                <a:ext uri="{FF2B5EF4-FFF2-40B4-BE49-F238E27FC236}">
                  <a16:creationId xmlns:a16="http://schemas.microsoft.com/office/drawing/2014/main" id="{8889AC6E-5477-CD76-DE0C-47EEBEAACA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灯片编号占位符 1">
            <a:extLst>
              <a:ext uri="{FF2B5EF4-FFF2-40B4-BE49-F238E27FC236}">
                <a16:creationId xmlns:a16="http://schemas.microsoft.com/office/drawing/2014/main" id="{04CFE76B-30A5-2BA9-38A1-1E8D388D7A3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C0ACD006-4357-4B50-9ADD-7E3B6C42DD7F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26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29699" name="Line 2">
            <a:extLst>
              <a:ext uri="{FF2B5EF4-FFF2-40B4-BE49-F238E27FC236}">
                <a16:creationId xmlns:a16="http://schemas.microsoft.com/office/drawing/2014/main" id="{A41C1E9D-6543-90DB-D3B9-A5E580291FC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0" name="Line 3">
            <a:extLst>
              <a:ext uri="{FF2B5EF4-FFF2-40B4-BE49-F238E27FC236}">
                <a16:creationId xmlns:a16="http://schemas.microsoft.com/office/drawing/2014/main" id="{816B217F-FE92-70DA-166F-5A257C07E9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01" name="Text Box 4">
            <a:extLst>
              <a:ext uri="{FF2B5EF4-FFF2-40B4-BE49-F238E27FC236}">
                <a16:creationId xmlns:a16="http://schemas.microsoft.com/office/drawing/2014/main" id="{E5B15A59-FDB6-77B0-2B05-6F75117869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3733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13.14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带宽共享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9702" name="Line 5">
            <a:extLst>
              <a:ext uri="{FF2B5EF4-FFF2-40B4-BE49-F238E27FC236}">
                <a16:creationId xmlns:a16="http://schemas.microsoft.com/office/drawing/2014/main" id="{C531ABFD-73C5-CDFE-A854-C62FBEC3E1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29703" name="Picture 6">
            <a:extLst>
              <a:ext uri="{FF2B5EF4-FFF2-40B4-BE49-F238E27FC236}">
                <a16:creationId xmlns:a16="http://schemas.microsoft.com/office/drawing/2014/main" id="{106B11C4-C811-5416-01A3-1304B93B7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470150"/>
            <a:ext cx="8382000" cy="225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4" name="TextBox 7">
            <a:extLst>
              <a:ext uri="{FF2B5EF4-FFF2-40B4-BE49-F238E27FC236}">
                <a16:creationId xmlns:a16="http://schemas.microsoft.com/office/drawing/2014/main" id="{6DC44EC8-1560-6867-9A0C-CC9AB446B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953000"/>
            <a:ext cx="56388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>
                <a:ea typeface="宋体" panose="02010600030101010101" pitchFamily="2" charset="-122"/>
              </a:rPr>
              <a:t>两个站轮流发送数据帧，可以认为平均每个站发送速率是</a:t>
            </a:r>
            <a:r>
              <a:rPr lang="en-US" altLang="zh-CN" sz="2800"/>
              <a:t>5Mbps</a:t>
            </a:r>
            <a:r>
              <a:rPr lang="zh-CN" altLang="en-US" sz="2800"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1">
            <a:extLst>
              <a:ext uri="{FF2B5EF4-FFF2-40B4-BE49-F238E27FC236}">
                <a16:creationId xmlns:a16="http://schemas.microsoft.com/office/drawing/2014/main" id="{148AA1E9-5F16-D1FB-48A9-9BC40AD41996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8911BE5B-1226-485D-96B9-41866DE5C606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27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0723" name="Line 2">
            <a:extLst>
              <a:ext uri="{FF2B5EF4-FFF2-40B4-BE49-F238E27FC236}">
                <a16:creationId xmlns:a16="http://schemas.microsoft.com/office/drawing/2014/main" id="{A4D0DDA9-1E47-CE50-5D22-9A1B9DA3EB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4" name="Line 3">
            <a:extLst>
              <a:ext uri="{FF2B5EF4-FFF2-40B4-BE49-F238E27FC236}">
                <a16:creationId xmlns:a16="http://schemas.microsoft.com/office/drawing/2014/main" id="{29C43614-C83E-146D-FCC6-2002A20BFDC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725" name="Text Box 4">
            <a:extLst>
              <a:ext uri="{FF2B5EF4-FFF2-40B4-BE49-F238E27FC236}">
                <a16:creationId xmlns:a16="http://schemas.microsoft.com/office/drawing/2014/main" id="{3A227C8D-F60A-57A5-2787-98217687B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727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13.15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一个带有网桥的网络和不带网桥的网络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0726" name="Line 5">
            <a:extLst>
              <a:ext uri="{FF2B5EF4-FFF2-40B4-BE49-F238E27FC236}">
                <a16:creationId xmlns:a16="http://schemas.microsoft.com/office/drawing/2014/main" id="{EF313CAF-F924-1A49-6582-AE7A242574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0727" name="Picture 6">
            <a:extLst>
              <a:ext uri="{FF2B5EF4-FFF2-40B4-BE49-F238E27FC236}">
                <a16:creationId xmlns:a16="http://schemas.microsoft.com/office/drawing/2014/main" id="{CF5F62C5-A721-B887-44F2-95203C0D0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2133600"/>
            <a:ext cx="8528050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8" name="TextBox 7">
            <a:extLst>
              <a:ext uri="{FF2B5EF4-FFF2-40B4-BE49-F238E27FC236}">
                <a16:creationId xmlns:a16="http://schemas.microsoft.com/office/drawing/2014/main" id="{81CF5CB2-75B6-3A07-EC15-0099A83B64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065713"/>
            <a:ext cx="56388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/>
              <a:t>10Mbps</a:t>
            </a:r>
            <a:r>
              <a:rPr lang="zh-CN" altLang="en-US" sz="2800">
                <a:ea typeface="宋体" panose="02010600030101010101" pitchFamily="2" charset="-122"/>
              </a:rPr>
              <a:t>的带宽在每个网段中被</a:t>
            </a:r>
            <a:r>
              <a:rPr lang="en-US" altLang="zh-CN" sz="2800"/>
              <a:t>6</a:t>
            </a:r>
            <a:r>
              <a:rPr lang="zh-CN" altLang="en-US" sz="2800">
                <a:ea typeface="宋体" panose="02010600030101010101" pitchFamily="2" charset="-122"/>
              </a:rPr>
              <a:t>个站点共享而不是</a:t>
            </a:r>
            <a:r>
              <a:rPr lang="en-US" altLang="zh-CN" sz="2800"/>
              <a:t>12</a:t>
            </a:r>
            <a:r>
              <a:rPr lang="zh-CN" altLang="en-US" sz="2800">
                <a:ea typeface="宋体" panose="02010600030101010101" pitchFamily="2" charset="-122"/>
              </a:rPr>
              <a:t>个站点。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1">
            <a:extLst>
              <a:ext uri="{FF2B5EF4-FFF2-40B4-BE49-F238E27FC236}">
                <a16:creationId xmlns:a16="http://schemas.microsoft.com/office/drawing/2014/main" id="{DBECB8A4-8F47-C937-9883-CD8D7131361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2AB814E8-CDAF-4A62-B7E9-37BA900A48C6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28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1747" name="Line 2">
            <a:extLst>
              <a:ext uri="{FF2B5EF4-FFF2-40B4-BE49-F238E27FC236}">
                <a16:creationId xmlns:a16="http://schemas.microsoft.com/office/drawing/2014/main" id="{AD029223-64D2-552B-0751-E2EDBF72F12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8" name="Line 3">
            <a:extLst>
              <a:ext uri="{FF2B5EF4-FFF2-40B4-BE49-F238E27FC236}">
                <a16:creationId xmlns:a16="http://schemas.microsoft.com/office/drawing/2014/main" id="{91E96F0B-06C0-6D0A-785B-92496E5953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49" name="Text Box 4">
            <a:extLst>
              <a:ext uri="{FF2B5EF4-FFF2-40B4-BE49-F238E27FC236}">
                <a16:creationId xmlns:a16="http://schemas.microsoft.com/office/drawing/2014/main" id="{EE61DDC1-CA88-3B33-5ACF-A0C960FFD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5984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13.16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一个带有网桥和不带有网桥网络的冲突域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50" name="Line 5">
            <a:extLst>
              <a:ext uri="{FF2B5EF4-FFF2-40B4-BE49-F238E27FC236}">
                <a16:creationId xmlns:a16="http://schemas.microsoft.com/office/drawing/2014/main" id="{1B06D921-686E-234E-CBDE-F63A048141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1751" name="Picture 7">
            <a:extLst>
              <a:ext uri="{FF2B5EF4-FFF2-40B4-BE49-F238E27FC236}">
                <a16:creationId xmlns:a16="http://schemas.microsoft.com/office/drawing/2014/main" id="{32A7DE72-721E-D376-ACAA-57EF3ABB7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150" y="1533525"/>
            <a:ext cx="8528050" cy="441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2" name="TextBox 7">
            <a:extLst>
              <a:ext uri="{FF2B5EF4-FFF2-40B4-BE49-F238E27FC236}">
                <a16:creationId xmlns:a16="http://schemas.microsoft.com/office/drawing/2014/main" id="{8F89C2FC-35AA-A475-A203-27D929281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3395663"/>
            <a:ext cx="1219200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ea typeface="宋体" panose="02010600030101010101" pitchFamily="2" charset="-122"/>
              </a:rPr>
              <a:t>冲突域更小，冲突概率大幅减少。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1">
            <a:extLst>
              <a:ext uri="{FF2B5EF4-FFF2-40B4-BE49-F238E27FC236}">
                <a16:creationId xmlns:a16="http://schemas.microsoft.com/office/drawing/2014/main" id="{D33C160B-0B95-260A-E5B9-E1CE223E553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F278B200-B498-469E-92D1-190F833A7433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29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2771" name="Line 2">
            <a:extLst>
              <a:ext uri="{FF2B5EF4-FFF2-40B4-BE49-F238E27FC236}">
                <a16:creationId xmlns:a16="http://schemas.microsoft.com/office/drawing/2014/main" id="{E0C532D9-364E-C313-020F-225A85E214E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2" name="Line 3">
            <a:extLst>
              <a:ext uri="{FF2B5EF4-FFF2-40B4-BE49-F238E27FC236}">
                <a16:creationId xmlns:a16="http://schemas.microsoft.com/office/drawing/2014/main" id="{5004AFCC-7EFD-66D8-8417-836545C3934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773" name="Text Box 4">
            <a:extLst>
              <a:ext uri="{FF2B5EF4-FFF2-40B4-BE49-F238E27FC236}">
                <a16:creationId xmlns:a16="http://schemas.microsoft.com/office/drawing/2014/main" id="{74FE4A18-E876-8B56-F344-8877B7BCF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2889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13.17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交换式以太网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2774" name="Line 5">
            <a:extLst>
              <a:ext uri="{FF2B5EF4-FFF2-40B4-BE49-F238E27FC236}">
                <a16:creationId xmlns:a16="http://schemas.microsoft.com/office/drawing/2014/main" id="{EF7E767F-838B-F969-4E90-89ACF2C255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2775" name="Picture 7">
            <a:extLst>
              <a:ext uri="{FF2B5EF4-FFF2-40B4-BE49-F238E27FC236}">
                <a16:creationId xmlns:a16="http://schemas.microsoft.com/office/drawing/2014/main" id="{025BACBE-18C5-13C1-8A4F-6E0C0FE28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1524000"/>
            <a:ext cx="7048500" cy="348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6" name="TextBox 7">
            <a:extLst>
              <a:ext uri="{FF2B5EF4-FFF2-40B4-BE49-F238E27FC236}">
                <a16:creationId xmlns:a16="http://schemas.microsoft.com/office/drawing/2014/main" id="{D6E815CF-F085-FF70-FC28-C0D34D29B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267325"/>
            <a:ext cx="68580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/>
              <a:t>N</a:t>
            </a:r>
            <a:r>
              <a:rPr lang="zh-CN" altLang="en-US" sz="2400">
                <a:ea typeface="宋体" panose="02010600030101010101" pitchFamily="2" charset="-122"/>
              </a:rPr>
              <a:t>个端口的网桥就是一个</a:t>
            </a:r>
            <a:r>
              <a:rPr lang="en-US" altLang="zh-CN" sz="2400"/>
              <a:t>2</a:t>
            </a:r>
            <a:r>
              <a:rPr lang="zh-CN" altLang="en-US" sz="2400">
                <a:ea typeface="宋体" panose="02010600030101010101" pitchFamily="2" charset="-122"/>
              </a:rPr>
              <a:t>层交换机。</a:t>
            </a:r>
            <a:endParaRPr lang="en-US" altLang="zh-CN" sz="2400"/>
          </a:p>
          <a:p>
            <a:r>
              <a:rPr lang="zh-CN" altLang="en-US" sz="2400">
                <a:ea typeface="宋体" panose="02010600030101010101" pitchFamily="2" charset="-122"/>
              </a:rPr>
              <a:t>分割为</a:t>
            </a:r>
            <a:r>
              <a:rPr lang="en-US" altLang="zh-CN" sz="2400"/>
              <a:t>N</a:t>
            </a:r>
            <a:r>
              <a:rPr lang="zh-CN" altLang="en-US" sz="2400">
                <a:ea typeface="宋体" panose="02010600030101010101" pitchFamily="2" charset="-122"/>
              </a:rPr>
              <a:t>个冲突域，带宽仅由站点和交换机共享。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1">
            <a:extLst>
              <a:ext uri="{FF2B5EF4-FFF2-40B4-BE49-F238E27FC236}">
                <a16:creationId xmlns:a16="http://schemas.microsoft.com/office/drawing/2014/main" id="{5D73799D-FE93-0C49-E5F4-31BF1C7F7D3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117BFD42-A24C-446D-8AF6-CEE466F5A11C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30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3795" name="Line 2">
            <a:extLst>
              <a:ext uri="{FF2B5EF4-FFF2-40B4-BE49-F238E27FC236}">
                <a16:creationId xmlns:a16="http://schemas.microsoft.com/office/drawing/2014/main" id="{580B22F6-54FB-EB0B-8260-BE0E18ED262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6" name="Line 3">
            <a:extLst>
              <a:ext uri="{FF2B5EF4-FFF2-40B4-BE49-F238E27FC236}">
                <a16:creationId xmlns:a16="http://schemas.microsoft.com/office/drawing/2014/main" id="{A825BB87-658F-34D2-AD63-3056F5B3CE2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797" name="Text Box 4">
            <a:extLst>
              <a:ext uri="{FF2B5EF4-FFF2-40B4-BE49-F238E27FC236}">
                <a16:creationId xmlns:a16="http://schemas.microsoft.com/office/drawing/2014/main" id="{9E6FAFCA-39E6-0907-6773-F93EB57E6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6639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13.18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全双工交换式以太网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798" name="Line 5">
            <a:extLst>
              <a:ext uri="{FF2B5EF4-FFF2-40B4-BE49-F238E27FC236}">
                <a16:creationId xmlns:a16="http://schemas.microsoft.com/office/drawing/2014/main" id="{5A1506AF-8961-3DEE-9A66-F148AAFB7E9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3799" name="Picture 8">
            <a:extLst>
              <a:ext uri="{FF2B5EF4-FFF2-40B4-BE49-F238E27FC236}">
                <a16:creationId xmlns:a16="http://schemas.microsoft.com/office/drawing/2014/main" id="{74475187-4366-F179-799E-72338D88A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275" y="1419225"/>
            <a:ext cx="6791325" cy="376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800" name="TextBox 7">
            <a:extLst>
              <a:ext uri="{FF2B5EF4-FFF2-40B4-BE49-F238E27FC236}">
                <a16:creationId xmlns:a16="http://schemas.microsoft.com/office/drawing/2014/main" id="{49F38FEF-B3D6-1929-8656-A11FBBE33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181600"/>
            <a:ext cx="8077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/>
              <a:t>10Base5</a:t>
            </a:r>
            <a:r>
              <a:rPr lang="zh-CN" altLang="en-US" sz="2000">
                <a:ea typeface="宋体" panose="02010600030101010101" pitchFamily="2" charset="-122"/>
              </a:rPr>
              <a:t>和</a:t>
            </a:r>
            <a:r>
              <a:rPr lang="en-US" altLang="zh-CN" sz="2000"/>
              <a:t>10Base2</a:t>
            </a:r>
            <a:r>
              <a:rPr lang="zh-CN" altLang="en-US" sz="2000">
                <a:ea typeface="宋体" panose="02010600030101010101" pitchFamily="2" charset="-122"/>
              </a:rPr>
              <a:t>是半双工，一个站点要么发送数据要么接收数据；</a:t>
            </a:r>
            <a:r>
              <a:rPr lang="en-US" altLang="zh-CN" sz="2000"/>
              <a:t>10BaseT</a:t>
            </a:r>
            <a:r>
              <a:rPr lang="zh-CN" altLang="en-US" sz="2000">
                <a:ea typeface="宋体" panose="02010600030101010101" pitchFamily="2" charset="-122"/>
              </a:rPr>
              <a:t>是双工的；</a:t>
            </a:r>
            <a:endParaRPr lang="en-US" altLang="zh-CN" sz="2000"/>
          </a:p>
          <a:p>
            <a:r>
              <a:rPr lang="zh-CN" altLang="en-US" sz="2000">
                <a:ea typeface="宋体" panose="02010600030101010101" pitchFamily="2" charset="-122"/>
              </a:rPr>
              <a:t>全双工中，站点与交换机之间是</a:t>
            </a:r>
            <a:r>
              <a:rPr lang="en-US" altLang="zh-CN" sz="2000"/>
              <a:t>2</a:t>
            </a:r>
            <a:r>
              <a:rPr lang="zh-CN" altLang="en-US" sz="2000">
                <a:ea typeface="宋体" panose="02010600030101010101" pitchFamily="2" charset="-122"/>
              </a:rPr>
              <a:t>条链路，一个发送，另一个接收。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灯片编号占位符 1">
            <a:extLst>
              <a:ext uri="{FF2B5EF4-FFF2-40B4-BE49-F238E27FC236}">
                <a16:creationId xmlns:a16="http://schemas.microsoft.com/office/drawing/2014/main" id="{4D8D5B46-2D2B-FD8F-5E3F-DA769EBDF50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955C620C-8E6D-400E-B952-30131361C4B9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31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39D00B6B-647A-744F-7C82-4ED69E63D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08499812-FEE1-4688-045E-450C37124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1" name="Rectangle 4">
            <a:extLst>
              <a:ext uri="{FF2B5EF4-FFF2-40B4-BE49-F238E27FC236}">
                <a16:creationId xmlns:a16="http://schemas.microsoft.com/office/drawing/2014/main" id="{FEFF3D3C-2CEA-F954-C260-C941B309D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2" name="Rectangle 5">
            <a:extLst>
              <a:ext uri="{FF2B5EF4-FFF2-40B4-BE49-F238E27FC236}">
                <a16:creationId xmlns:a16="http://schemas.microsoft.com/office/drawing/2014/main" id="{556326C1-3498-1588-DDB8-BA60C3FDF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3" name="Rectangle 6">
            <a:extLst>
              <a:ext uri="{FF2B5EF4-FFF2-40B4-BE49-F238E27FC236}">
                <a16:creationId xmlns:a16="http://schemas.microsoft.com/office/drawing/2014/main" id="{FEA7DA1E-DE9F-8010-D6EB-1D16D58F4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4" name="Rectangle 7">
            <a:extLst>
              <a:ext uri="{FF2B5EF4-FFF2-40B4-BE49-F238E27FC236}">
                <a16:creationId xmlns:a16="http://schemas.microsoft.com/office/drawing/2014/main" id="{ECD512BD-A3C4-7824-ECAA-A99AE59B3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5" name="Rectangle 8">
            <a:extLst>
              <a:ext uri="{FF2B5EF4-FFF2-40B4-BE49-F238E27FC236}">
                <a16:creationId xmlns:a16="http://schemas.microsoft.com/office/drawing/2014/main" id="{0C350A4A-D89B-29DA-501A-927B3474E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4826" name="Line 9">
            <a:extLst>
              <a:ext uri="{FF2B5EF4-FFF2-40B4-BE49-F238E27FC236}">
                <a16:creationId xmlns:a16="http://schemas.microsoft.com/office/drawing/2014/main" id="{A79EC2B3-2908-027A-A020-2793FB324E7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 cmpd="sng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7" name="Line 10">
            <a:extLst>
              <a:ext uri="{FF2B5EF4-FFF2-40B4-BE49-F238E27FC236}">
                <a16:creationId xmlns:a16="http://schemas.microsoft.com/office/drawing/2014/main" id="{3CDCCB1F-8E03-6575-8D66-DD22DB0D7B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3886200"/>
            <a:ext cx="8153400" cy="0"/>
          </a:xfrm>
          <a:prstGeom prst="line">
            <a:avLst/>
          </a:prstGeom>
          <a:noFill/>
          <a:ln w="76200" cmpd="sng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828" name="Rectangle 11">
            <a:extLst>
              <a:ext uri="{FF2B5EF4-FFF2-40B4-BE49-F238E27FC236}">
                <a16:creationId xmlns:a16="http://schemas.microsoft.com/office/drawing/2014/main" id="{9A64587D-BB3A-1D0F-DB53-2B4F1A2AE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2759075"/>
            <a:ext cx="8077200" cy="10779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>
                <a:ea typeface="宋体" panose="02010600030101010101" pitchFamily="2" charset="-122"/>
              </a:rPr>
              <a:t>全双工交换式以太网不需要</a:t>
            </a:r>
            <a:r>
              <a:rPr lang="en-US" altLang="zh-CN">
                <a:ea typeface="宋体" panose="02010600030101010101" pitchFamily="2" charset="-122"/>
              </a:rPr>
              <a:t>CSMA/CD</a:t>
            </a:r>
            <a:r>
              <a:rPr lang="zh-CN" altLang="en-US">
                <a:ea typeface="宋体" panose="02010600030101010101" pitchFamily="2" charset="-122"/>
              </a:rPr>
              <a:t>，因为每个站点和交换机之间都是专用链路。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34829" name="Group 12">
            <a:extLst>
              <a:ext uri="{FF2B5EF4-FFF2-40B4-BE49-F238E27FC236}">
                <a16:creationId xmlns:a16="http://schemas.microsoft.com/office/drawing/2014/main" id="{81D258EF-0DAF-B6CD-3D48-822A8D2956AC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0" y="0"/>
            <a:chExt cx="720" cy="357"/>
          </a:xfrm>
        </p:grpSpPr>
        <p:pic>
          <p:nvPicPr>
            <p:cNvPr id="34830" name="Picture 13">
              <a:extLst>
                <a:ext uri="{FF2B5EF4-FFF2-40B4-BE49-F238E27FC236}">
                  <a16:creationId xmlns:a16="http://schemas.microsoft.com/office/drawing/2014/main" id="{E73A0DA6-9981-F1CC-4623-796CE1CD77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4831" name="Text Box 14">
              <a:extLst>
                <a:ext uri="{FF2B5EF4-FFF2-40B4-BE49-F238E27FC236}">
                  <a16:creationId xmlns:a16="http://schemas.microsoft.com/office/drawing/2014/main" id="{B111FE3F-9E23-E4A0-3B63-ABD3C0FEEB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1">
            <a:extLst>
              <a:ext uri="{FF2B5EF4-FFF2-40B4-BE49-F238E27FC236}">
                <a16:creationId xmlns:a16="http://schemas.microsoft.com/office/drawing/2014/main" id="{F3C58CA2-1522-B5A7-7769-F914A168795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AB5001BD-C6FA-4E8A-988C-62E5793E49C5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32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DAE40B6F-F9B6-D479-6D1C-A11ABACAA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44" name="Text Box 3">
            <a:extLst>
              <a:ext uri="{FF2B5EF4-FFF2-40B4-BE49-F238E27FC236}">
                <a16:creationId xmlns:a16="http://schemas.microsoft.com/office/drawing/2014/main" id="{607403FD-FE38-3320-483B-D124E69B5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33035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  <a:ea typeface="宋体" panose="02010600030101010101" pitchFamily="2" charset="-122"/>
              </a:rPr>
              <a:t>13-4  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  <a:ea typeface="宋体" panose="02010600030101010101" pitchFamily="2" charset="-122"/>
              </a:rPr>
              <a:t>快速以太网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45" name="Text Box 4">
            <a:extLst>
              <a:ext uri="{FF2B5EF4-FFF2-40B4-BE49-F238E27FC236}">
                <a16:creationId xmlns:a16="http://schemas.microsoft.com/office/drawing/2014/main" id="{F0991448-9D9D-218A-7F29-E00E363F1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46" name="Rectangle 5">
            <a:extLst>
              <a:ext uri="{FF2B5EF4-FFF2-40B4-BE49-F238E27FC236}">
                <a16:creationId xmlns:a16="http://schemas.microsoft.com/office/drawing/2014/main" id="{67A556C5-6ED4-5100-92CE-2433565B7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866900"/>
            <a:ext cx="82296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设计快速以太网是为了与诸如 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FDDI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或光纤通道等的局域网协议相竞争。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IEEE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在名为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802.3u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下创造了快速以太网。快速以太网是标准以太网的后向兼容，但是他的传输速度是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100Mbps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，快了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倍；并且保留相同的帧格式、最大最小帧长。</a:t>
            </a:r>
            <a:endParaRPr lang="en-US" altLang="zh-CN" sz="28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47" name="Rectangle 6">
            <a:extLst>
              <a:ext uri="{FF2B5EF4-FFF2-40B4-BE49-F238E27FC236}">
                <a16:creationId xmlns:a16="http://schemas.microsoft.com/office/drawing/2014/main" id="{F3F44884-1AC2-355A-A758-F0A89042E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045075"/>
            <a:ext cx="67056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MAC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子层</a:t>
            </a:r>
            <a:br>
              <a:rPr lang="fr-FR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物理层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48" name="Text Box 7">
            <a:extLst>
              <a:ext uri="{FF2B5EF4-FFF2-40B4-BE49-F238E27FC236}">
                <a16:creationId xmlns:a16="http://schemas.microsoft.com/office/drawing/2014/main" id="{F5E6F6C9-9C01-DB3D-6361-7C697E9B1D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568825"/>
            <a:ext cx="37909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2800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本节重点讨论的话题：</a:t>
            </a:r>
            <a:endParaRPr lang="en-US" altLang="zh-CN" sz="2800" i="1" u="sng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灯片编号占位符 1">
            <a:extLst>
              <a:ext uri="{FF2B5EF4-FFF2-40B4-BE49-F238E27FC236}">
                <a16:creationId xmlns:a16="http://schemas.microsoft.com/office/drawing/2014/main" id="{CF5B2214-1D15-192E-F65B-9CEBF08BF9C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D1002CB0-F95A-4898-8E49-172BF4EB5FD4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33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2E4DDF40-C790-6D3E-6897-54B9486C5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AD95DBB4-7E7B-D2F2-ECD6-FF8823790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69" name="Rectangle 4">
            <a:extLst>
              <a:ext uri="{FF2B5EF4-FFF2-40B4-BE49-F238E27FC236}">
                <a16:creationId xmlns:a16="http://schemas.microsoft.com/office/drawing/2014/main" id="{2DE03D16-B183-EB84-4620-2EF84EEF4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0" name="Rectangle 5">
            <a:extLst>
              <a:ext uri="{FF2B5EF4-FFF2-40B4-BE49-F238E27FC236}">
                <a16:creationId xmlns:a16="http://schemas.microsoft.com/office/drawing/2014/main" id="{713EEF43-89A9-8A54-3454-8BE2CB3FD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1" name="Rectangle 6">
            <a:extLst>
              <a:ext uri="{FF2B5EF4-FFF2-40B4-BE49-F238E27FC236}">
                <a16:creationId xmlns:a16="http://schemas.microsoft.com/office/drawing/2014/main" id="{971AEEF3-A1E3-D92B-1326-5C0129DA9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2" name="Rectangle 7">
            <a:extLst>
              <a:ext uri="{FF2B5EF4-FFF2-40B4-BE49-F238E27FC236}">
                <a16:creationId xmlns:a16="http://schemas.microsoft.com/office/drawing/2014/main" id="{E2AD8BE2-27F5-3481-CDD3-BF945A5CD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3" name="Rectangle 8">
            <a:extLst>
              <a:ext uri="{FF2B5EF4-FFF2-40B4-BE49-F238E27FC236}">
                <a16:creationId xmlns:a16="http://schemas.microsoft.com/office/drawing/2014/main" id="{62D36B04-4E3D-C8AD-A7CD-137D8895C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74" name="Line 9">
            <a:extLst>
              <a:ext uri="{FF2B5EF4-FFF2-40B4-BE49-F238E27FC236}">
                <a16:creationId xmlns:a16="http://schemas.microsoft.com/office/drawing/2014/main" id="{303C8F9B-AD50-56AD-6612-7B450675AE7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 cmpd="sng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5" name="Line 10">
            <a:extLst>
              <a:ext uri="{FF2B5EF4-FFF2-40B4-BE49-F238E27FC236}">
                <a16:creationId xmlns:a16="http://schemas.microsoft.com/office/drawing/2014/main" id="{4ECF6EB7-56C4-B896-EC27-BD817CCDDF7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4876800"/>
            <a:ext cx="8153400" cy="0"/>
          </a:xfrm>
          <a:prstGeom prst="line">
            <a:avLst/>
          </a:prstGeom>
          <a:noFill/>
          <a:ln w="76200" cmpd="sng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876" name="Rectangle 11">
            <a:extLst>
              <a:ext uri="{FF2B5EF4-FFF2-40B4-BE49-F238E27FC236}">
                <a16:creationId xmlns:a16="http://schemas.microsoft.com/office/drawing/2014/main" id="{955EDCFE-03DC-0E84-A162-121F9554F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59075"/>
            <a:ext cx="8077200" cy="206216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向</a:t>
            </a:r>
            <a:r>
              <a:rPr lang="en-US" altLang="zh-CN">
                <a:ea typeface="宋体" panose="02010600030101010101" pitchFamily="2" charset="-122"/>
              </a:rPr>
              <a:t>100Mbps</a:t>
            </a:r>
            <a:r>
              <a:rPr lang="zh-CN" altLang="en-US">
                <a:ea typeface="宋体" panose="02010600030101010101" pitchFamily="2" charset="-122"/>
              </a:rPr>
              <a:t>过渡的总体思想是不触及</a:t>
            </a:r>
            <a:r>
              <a:rPr lang="en-US" altLang="zh-CN">
                <a:ea typeface="宋体" panose="02010600030101010101" pitchFamily="2" charset="-122"/>
              </a:rPr>
              <a:t>MAC</a:t>
            </a:r>
            <a:r>
              <a:rPr lang="zh-CN" altLang="en-US">
                <a:ea typeface="宋体" panose="02010600030101010101" pitchFamily="2" charset="-122"/>
              </a:rPr>
              <a:t>子层，所以放弃总线只保留星型；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半双工用</a:t>
            </a:r>
            <a:r>
              <a:rPr lang="en-US" altLang="zh-CN">
                <a:ea typeface="宋体" panose="02010600030101010101" pitchFamily="2" charset="-122"/>
              </a:rPr>
              <a:t>Hub</a:t>
            </a:r>
            <a:r>
              <a:rPr lang="zh-CN" altLang="en-US">
                <a:ea typeface="宋体" panose="02010600030101010101" pitchFamily="2" charset="-122"/>
              </a:rPr>
              <a:t>，全双工用</a:t>
            </a:r>
            <a:r>
              <a:rPr lang="en-US" altLang="zh-CN">
                <a:ea typeface="宋体" panose="02010600030101010101" pitchFamily="2" charset="-122"/>
              </a:rPr>
              <a:t>Switch</a:t>
            </a:r>
            <a:r>
              <a:rPr lang="zh-CN" altLang="en-US">
                <a:ea typeface="宋体" panose="02010600030101010101" pitchFamily="2" charset="-122"/>
              </a:rPr>
              <a:t>；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全双工下</a:t>
            </a:r>
            <a:r>
              <a:rPr lang="en-US" altLang="zh-CN">
                <a:ea typeface="宋体" panose="02010600030101010101" pitchFamily="2" charset="-122"/>
              </a:rPr>
              <a:t>CSMA/CD</a:t>
            </a:r>
            <a:r>
              <a:rPr lang="zh-CN" altLang="en-US">
                <a:ea typeface="宋体" panose="02010600030101010101" pitchFamily="2" charset="-122"/>
              </a:rPr>
              <a:t>不必要但保留为兼容。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36877" name="Group 12">
            <a:extLst>
              <a:ext uri="{FF2B5EF4-FFF2-40B4-BE49-F238E27FC236}">
                <a16:creationId xmlns:a16="http://schemas.microsoft.com/office/drawing/2014/main" id="{C2BD0835-2EA8-9BF7-E58B-EF6E8AA40481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0" y="0"/>
            <a:chExt cx="720" cy="357"/>
          </a:xfrm>
        </p:grpSpPr>
        <p:pic>
          <p:nvPicPr>
            <p:cNvPr id="36878" name="Picture 13">
              <a:extLst>
                <a:ext uri="{FF2B5EF4-FFF2-40B4-BE49-F238E27FC236}">
                  <a16:creationId xmlns:a16="http://schemas.microsoft.com/office/drawing/2014/main" id="{FA093752-4E55-024D-E531-446F1C7FB7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79" name="Text Box 14">
              <a:extLst>
                <a:ext uri="{FF2B5EF4-FFF2-40B4-BE49-F238E27FC236}">
                  <a16:creationId xmlns:a16="http://schemas.microsoft.com/office/drawing/2014/main" id="{024FD9B3-4F23-9B7E-7FC0-7C5D2F9C76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1">
            <a:extLst>
              <a:ext uri="{FF2B5EF4-FFF2-40B4-BE49-F238E27FC236}">
                <a16:creationId xmlns:a16="http://schemas.microsoft.com/office/drawing/2014/main" id="{76AF1E07-427D-C4F3-8B63-25C3E7AFEC5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AE05567A-2596-482E-8517-92827AF46AF7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34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7891" name="Line 2">
            <a:extLst>
              <a:ext uri="{FF2B5EF4-FFF2-40B4-BE49-F238E27FC236}">
                <a16:creationId xmlns:a16="http://schemas.microsoft.com/office/drawing/2014/main" id="{6B6A3CBB-638C-6575-1BE0-27A5F850AC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2" name="Line 3">
            <a:extLst>
              <a:ext uri="{FF2B5EF4-FFF2-40B4-BE49-F238E27FC236}">
                <a16:creationId xmlns:a16="http://schemas.microsoft.com/office/drawing/2014/main" id="{C4C84337-0347-336A-5E8A-1F01858A099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893" name="Text Box 4">
            <a:extLst>
              <a:ext uri="{FF2B5EF4-FFF2-40B4-BE49-F238E27FC236}">
                <a16:creationId xmlns:a16="http://schemas.microsoft.com/office/drawing/2014/main" id="{8BDB11FB-B760-92FB-C1DF-141B5AECF5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146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13.19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快速以太网拓扑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7894" name="Line 5">
            <a:extLst>
              <a:ext uri="{FF2B5EF4-FFF2-40B4-BE49-F238E27FC236}">
                <a16:creationId xmlns:a16="http://schemas.microsoft.com/office/drawing/2014/main" id="{C1EE6311-5F94-90ED-3690-E924A5508A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7895" name="Picture 6">
            <a:extLst>
              <a:ext uri="{FF2B5EF4-FFF2-40B4-BE49-F238E27FC236}">
                <a16:creationId xmlns:a16="http://schemas.microsoft.com/office/drawing/2014/main" id="{183EB4BC-EC18-E9F4-3D35-94984BBEF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3" y="2598738"/>
            <a:ext cx="6929437" cy="227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1">
            <a:extLst>
              <a:ext uri="{FF2B5EF4-FFF2-40B4-BE49-F238E27FC236}">
                <a16:creationId xmlns:a16="http://schemas.microsoft.com/office/drawing/2014/main" id="{8082DC9C-EFFB-6C4C-6BE7-3FC79657FB8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49A79E3D-BEE3-4136-A976-A0AC568A4F6C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35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8915" name="Line 2">
            <a:extLst>
              <a:ext uri="{FF2B5EF4-FFF2-40B4-BE49-F238E27FC236}">
                <a16:creationId xmlns:a16="http://schemas.microsoft.com/office/drawing/2014/main" id="{189831A7-89BB-78C7-A4B8-84E75301D0A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16" name="Line 3">
            <a:extLst>
              <a:ext uri="{FF2B5EF4-FFF2-40B4-BE49-F238E27FC236}">
                <a16:creationId xmlns:a16="http://schemas.microsoft.com/office/drawing/2014/main" id="{65361078-0CB3-AE4E-5D40-5036A035ABD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917" name="Text Box 4">
            <a:extLst>
              <a:ext uri="{FF2B5EF4-FFF2-40B4-BE49-F238E27FC236}">
                <a16:creationId xmlns:a16="http://schemas.microsoft.com/office/drawing/2014/main" id="{16C916D3-6924-498B-10FE-B12A5F72E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405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13.20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快速以太网的实现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8918" name="Line 5">
            <a:extLst>
              <a:ext uri="{FF2B5EF4-FFF2-40B4-BE49-F238E27FC236}">
                <a16:creationId xmlns:a16="http://schemas.microsoft.com/office/drawing/2014/main" id="{829421B5-D15C-785F-D095-0F73816A379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8919" name="Picture 6">
            <a:extLst>
              <a:ext uri="{FF2B5EF4-FFF2-40B4-BE49-F238E27FC236}">
                <a16:creationId xmlns:a16="http://schemas.microsoft.com/office/drawing/2014/main" id="{66E34A86-1B0B-6D80-5361-7E840F71F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2514600"/>
            <a:ext cx="66548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灯片编号占位符 1">
            <a:extLst>
              <a:ext uri="{FF2B5EF4-FFF2-40B4-BE49-F238E27FC236}">
                <a16:creationId xmlns:a16="http://schemas.microsoft.com/office/drawing/2014/main" id="{4C936DB2-F628-5331-E82D-4B3774CF0EA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07985522-D8B9-4AB5-A613-6FA998757F74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36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32D81181-F918-32DA-F51B-CBD062676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7D70352D-B600-2A69-E855-E2C65ECC0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1" name="Rectangle 4">
            <a:extLst>
              <a:ext uri="{FF2B5EF4-FFF2-40B4-BE49-F238E27FC236}">
                <a16:creationId xmlns:a16="http://schemas.microsoft.com/office/drawing/2014/main" id="{8499ACF2-6E14-3D74-F853-EF3497B9D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2" name="Rectangle 5">
            <a:extLst>
              <a:ext uri="{FF2B5EF4-FFF2-40B4-BE49-F238E27FC236}">
                <a16:creationId xmlns:a16="http://schemas.microsoft.com/office/drawing/2014/main" id="{06298972-96A7-52EB-5047-2E7270175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49099D1E-9BE2-6F58-5895-FE23684F4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4" name="Rectangle 7">
            <a:extLst>
              <a:ext uri="{FF2B5EF4-FFF2-40B4-BE49-F238E27FC236}">
                <a16:creationId xmlns:a16="http://schemas.microsoft.com/office/drawing/2014/main" id="{4C761392-CCA9-1E39-1771-866540ADF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5" name="Rectangle 8">
            <a:extLst>
              <a:ext uri="{FF2B5EF4-FFF2-40B4-BE49-F238E27FC236}">
                <a16:creationId xmlns:a16="http://schemas.microsoft.com/office/drawing/2014/main" id="{D62D07F4-EAE1-B641-53AB-2DFAF0EA5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9946" name="Line 9">
            <a:extLst>
              <a:ext uri="{FF2B5EF4-FFF2-40B4-BE49-F238E27FC236}">
                <a16:creationId xmlns:a16="http://schemas.microsoft.com/office/drawing/2014/main" id="{FB94E0B4-2C77-8064-E66C-FA114F6E446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 cmpd="sng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7" name="Line 10">
            <a:extLst>
              <a:ext uri="{FF2B5EF4-FFF2-40B4-BE49-F238E27FC236}">
                <a16:creationId xmlns:a16="http://schemas.microsoft.com/office/drawing/2014/main" id="{70FF6CA9-BEF0-0BF6-8306-EF6E41C91E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5410200"/>
            <a:ext cx="8153400" cy="0"/>
          </a:xfrm>
          <a:prstGeom prst="line">
            <a:avLst/>
          </a:prstGeom>
          <a:noFill/>
          <a:ln w="76200" cmpd="sng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48" name="Rectangle 11">
            <a:extLst>
              <a:ext uri="{FF2B5EF4-FFF2-40B4-BE49-F238E27FC236}">
                <a16:creationId xmlns:a16="http://schemas.microsoft.com/office/drawing/2014/main" id="{F023D26F-53FF-ED86-A629-00DF3C4A6F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59075"/>
            <a:ext cx="8077200" cy="2554288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为了</a:t>
            </a:r>
            <a:r>
              <a:rPr lang="en-US" altLang="zh-CN">
                <a:ea typeface="宋体" panose="02010600030101010101" pitchFamily="2" charset="-122"/>
              </a:rPr>
              <a:t>100Mbps</a:t>
            </a:r>
            <a:r>
              <a:rPr lang="zh-CN" altLang="en-US">
                <a:ea typeface="宋体" panose="02010600030101010101" pitchFamily="2" charset="-122"/>
              </a:rPr>
              <a:t>速率，曼彻斯特编码需要</a:t>
            </a:r>
            <a:r>
              <a:rPr lang="en-US" altLang="zh-CN">
                <a:ea typeface="宋体" panose="02010600030101010101" pitchFamily="2" charset="-122"/>
              </a:rPr>
              <a:t>200MHz</a:t>
            </a:r>
            <a:r>
              <a:rPr lang="zh-CN" altLang="en-US">
                <a:ea typeface="宋体" panose="02010600030101010101" pitchFamily="2" charset="-122"/>
              </a:rPr>
              <a:t>带宽，双绞线介质不合适，所以需要重新设计编码方案；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三种实现</a:t>
            </a:r>
            <a:r>
              <a:rPr lang="en-US" altLang="zh-CN">
                <a:ea typeface="宋体" panose="02010600030101010101" pitchFamily="2" charset="-122"/>
              </a:rPr>
              <a:t>1</a:t>
            </a:r>
            <a:r>
              <a:rPr lang="zh-CN" altLang="en-US">
                <a:ea typeface="宋体" panose="02010600030101010101" pitchFamily="2" charset="-122"/>
              </a:rPr>
              <a:t>种编码方案表现不好，所以选择了</a:t>
            </a:r>
            <a:r>
              <a:rPr lang="en-US" altLang="zh-CN">
                <a:ea typeface="宋体" panose="02010600030101010101" pitchFamily="2" charset="-122"/>
              </a:rPr>
              <a:t>3</a:t>
            </a:r>
            <a:r>
              <a:rPr lang="zh-CN" altLang="en-US">
                <a:ea typeface="宋体" panose="02010600030101010101" pitchFamily="2" charset="-122"/>
              </a:rPr>
              <a:t>种不同的编码方案。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39949" name="Group 12">
            <a:extLst>
              <a:ext uri="{FF2B5EF4-FFF2-40B4-BE49-F238E27FC236}">
                <a16:creationId xmlns:a16="http://schemas.microsoft.com/office/drawing/2014/main" id="{106BDC26-4D89-56AF-6D22-6051FB4D7BBE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0" y="0"/>
            <a:chExt cx="720" cy="357"/>
          </a:xfrm>
        </p:grpSpPr>
        <p:pic>
          <p:nvPicPr>
            <p:cNvPr id="39950" name="Picture 13">
              <a:extLst>
                <a:ext uri="{FF2B5EF4-FFF2-40B4-BE49-F238E27FC236}">
                  <a16:creationId xmlns:a16="http://schemas.microsoft.com/office/drawing/2014/main" id="{896B4B6A-CB44-4E7F-BB70-06E7E2A10E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951" name="Text Box 14">
              <a:extLst>
                <a:ext uri="{FF2B5EF4-FFF2-40B4-BE49-F238E27FC236}">
                  <a16:creationId xmlns:a16="http://schemas.microsoft.com/office/drawing/2014/main" id="{1B2C027F-F7D0-DD30-3ED3-4E84CA6D7B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1">
            <a:extLst>
              <a:ext uri="{FF2B5EF4-FFF2-40B4-BE49-F238E27FC236}">
                <a16:creationId xmlns:a16="http://schemas.microsoft.com/office/drawing/2014/main" id="{B57F077F-8E11-14E4-A374-0430253E80F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F930FA50-B182-4FA9-89A1-2A934585C4B4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37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40963" name="Line 2">
            <a:extLst>
              <a:ext uri="{FF2B5EF4-FFF2-40B4-BE49-F238E27FC236}">
                <a16:creationId xmlns:a16="http://schemas.microsoft.com/office/drawing/2014/main" id="{43430281-60E3-4902-F2D5-CC59A7E3F9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4" name="Line 3">
            <a:extLst>
              <a:ext uri="{FF2B5EF4-FFF2-40B4-BE49-F238E27FC236}">
                <a16:creationId xmlns:a16="http://schemas.microsoft.com/office/drawing/2014/main" id="{D56D1394-2ABC-4631-36F2-A593A8A753F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5" name="Text Box 4">
            <a:extLst>
              <a:ext uri="{FF2B5EF4-FFF2-40B4-BE49-F238E27FC236}">
                <a16:creationId xmlns:a16="http://schemas.microsoft.com/office/drawing/2014/main" id="{09D3D3CD-CC1F-CFE3-5B1A-1384086D7C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921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13.21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快速以太网实现的编码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0966" name="Line 5">
            <a:extLst>
              <a:ext uri="{FF2B5EF4-FFF2-40B4-BE49-F238E27FC236}">
                <a16:creationId xmlns:a16="http://schemas.microsoft.com/office/drawing/2014/main" id="{944E2DE9-2CAF-89D0-7B62-2660A3E6ECC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0967" name="Picture 6">
            <a:extLst>
              <a:ext uri="{FF2B5EF4-FFF2-40B4-BE49-F238E27FC236}">
                <a16:creationId xmlns:a16="http://schemas.microsoft.com/office/drawing/2014/main" id="{7B82BDA7-D630-96C6-0863-84C87E02D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888" y="1536700"/>
            <a:ext cx="5776912" cy="463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8" name="TextBox 7">
            <a:extLst>
              <a:ext uri="{FF2B5EF4-FFF2-40B4-BE49-F238E27FC236}">
                <a16:creationId xmlns:a16="http://schemas.microsoft.com/office/drawing/2014/main" id="{83A96F93-D5D8-6DF7-45AC-F97261CD9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886200"/>
            <a:ext cx="2209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/>
              <a:t>100BaseTx</a:t>
            </a:r>
            <a:r>
              <a:rPr lang="zh-CN" altLang="en-US" sz="2000">
                <a:ea typeface="宋体" panose="02010600030101010101" pitchFamily="2" charset="-122"/>
              </a:rPr>
              <a:t>实现中，带宽好，选择</a:t>
            </a:r>
            <a:r>
              <a:rPr lang="en-US" altLang="zh-CN" sz="2000"/>
              <a:t>MLT-3</a:t>
            </a:r>
            <a:r>
              <a:rPr lang="zh-CN" altLang="en-US" sz="2000">
                <a:ea typeface="宋体" panose="02010600030101010101" pitchFamily="2" charset="-122"/>
              </a:rPr>
              <a:t>编码，但其没有自同步，所以增加</a:t>
            </a:r>
            <a:r>
              <a:rPr lang="en-US" altLang="zh-CN" sz="2000"/>
              <a:t>4B/5B</a:t>
            </a:r>
            <a:r>
              <a:rPr lang="zh-CN" altLang="en-US" sz="2000">
                <a:ea typeface="宋体" panose="02010600030101010101" pitchFamily="2" charset="-122"/>
              </a:rPr>
              <a:t>块编码实现同步。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1">
            <a:extLst>
              <a:ext uri="{FF2B5EF4-FFF2-40B4-BE49-F238E27FC236}">
                <a16:creationId xmlns:a16="http://schemas.microsoft.com/office/drawing/2014/main" id="{4CC71035-57CF-A92E-B061-2C8D8FFFC6C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D74C83F6-9841-419E-8D3A-C9FF03BB9120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38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41987" name="Text Box 2">
            <a:extLst>
              <a:ext uri="{FF2B5EF4-FFF2-40B4-BE49-F238E27FC236}">
                <a16:creationId xmlns:a16="http://schemas.microsoft.com/office/drawing/2014/main" id="{ED2AA739-D2D1-2737-E468-8B33E99A0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828800"/>
            <a:ext cx="3767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13.2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快速以太网实现的总结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1988" name="Picture 4">
            <a:extLst>
              <a:ext uri="{FF2B5EF4-FFF2-40B4-BE49-F238E27FC236}">
                <a16:creationId xmlns:a16="http://schemas.microsoft.com/office/drawing/2014/main" id="{53FD7927-3B68-29C9-3717-0F8066B690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75" y="2339975"/>
            <a:ext cx="7642225" cy="215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灯片编号占位符 1">
            <a:extLst>
              <a:ext uri="{FF2B5EF4-FFF2-40B4-BE49-F238E27FC236}">
                <a16:creationId xmlns:a16="http://schemas.microsoft.com/office/drawing/2014/main" id="{13A978A8-39FA-F481-EE85-4B6AC63704B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19F0F2E7-3D15-4D4B-95D1-972BAB02DA0A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39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2070DF34-540C-382F-0D47-FCE48C332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 cmpd="sng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zh-CN" altLang="en-US">
              <a:effectLst>
                <a:outerShdw blurRad="38100" dist="38100" dir="2700000" algn="tl">
                  <a:srgbClr val="FFFFFF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2" name="Text Box 3">
            <a:extLst>
              <a:ext uri="{FF2B5EF4-FFF2-40B4-BE49-F238E27FC236}">
                <a16:creationId xmlns:a16="http://schemas.microsoft.com/office/drawing/2014/main" id="{092021B7-B051-214D-19F4-4112B4333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06400"/>
            <a:ext cx="33035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  <a:ea typeface="宋体" panose="02010600030101010101" pitchFamily="2" charset="-122"/>
              </a:rPr>
              <a:t>13-5   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  <a:latin typeface="Times" panose="02020603050405020304" pitchFamily="18" charset="0"/>
                <a:ea typeface="宋体" panose="02010600030101010101" pitchFamily="2" charset="-122"/>
              </a:rPr>
              <a:t>千兆以太网</a:t>
            </a:r>
            <a:endParaRPr lang="en-US" altLang="zh-CN">
              <a:effectLst>
                <a:outerShdw blurRad="38100" dist="38100" dir="2700000" algn="tl">
                  <a:srgbClr val="C0C0C0"/>
                </a:outerShdw>
              </a:effectLst>
              <a:latin typeface="Times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3" name="Text Box 4">
            <a:extLst>
              <a:ext uri="{FF2B5EF4-FFF2-40B4-BE49-F238E27FC236}">
                <a16:creationId xmlns:a16="http://schemas.microsoft.com/office/drawing/2014/main" id="{C363756B-1CC8-7E31-95A1-2586C4CC8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18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4" name="Rectangle 5">
            <a:extLst>
              <a:ext uri="{FF2B5EF4-FFF2-40B4-BE49-F238E27FC236}">
                <a16:creationId xmlns:a16="http://schemas.microsoft.com/office/drawing/2014/main" id="{9A487626-89E4-F084-E021-12D6750E9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733550"/>
            <a:ext cx="82296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对传输速度更高的需求使得千兆以太网（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1000 Mbps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）应运而生。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IEEE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委员会称之为标准</a:t>
            </a:r>
            <a:r>
              <a:rPr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802.3z</a:t>
            </a:r>
            <a:r>
              <a:rPr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。目标：向前兼容、相同帧格式、保留最大最小帧长、支持快速以太网中的自动协商功能。</a:t>
            </a:r>
            <a:endParaRPr lang="en-US" altLang="zh-CN" sz="28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5" name="Rectangle 6">
            <a:extLst>
              <a:ext uri="{FF2B5EF4-FFF2-40B4-BE49-F238E27FC236}">
                <a16:creationId xmlns:a16="http://schemas.microsoft.com/office/drawing/2014/main" id="{4A3C4959-D180-DBD1-9B03-5E17F5619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4679950"/>
            <a:ext cx="67056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MAC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子层</a:t>
            </a:r>
            <a:br>
              <a:rPr lang="fr-FR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</a:b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物理层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buClr>
                <a:schemeClr val="tx1"/>
              </a:buClr>
              <a:buSzPct val="117000"/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en-US" sz="2400">
                <a:solidFill>
                  <a:srgbClr val="00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千兆以太网</a:t>
            </a:r>
            <a:endParaRPr lang="en-US" altLang="zh-CN" sz="240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016" name="Text Box 7">
            <a:extLst>
              <a:ext uri="{FF2B5EF4-FFF2-40B4-BE49-F238E27FC236}">
                <a16:creationId xmlns:a16="http://schemas.microsoft.com/office/drawing/2014/main" id="{350CAE7B-8117-E0A1-6EE6-87101554CB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203700"/>
            <a:ext cx="37909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zh-CN" altLang="en-US" sz="2800" u="sng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本节重点讨论的话题：</a:t>
            </a:r>
            <a:endParaRPr lang="en-US" altLang="zh-CN" sz="2800" i="1" u="sng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灯片编号占位符 1">
            <a:extLst>
              <a:ext uri="{FF2B5EF4-FFF2-40B4-BE49-F238E27FC236}">
                <a16:creationId xmlns:a16="http://schemas.microsoft.com/office/drawing/2014/main" id="{0BB453BF-6C24-56DE-53E1-11A0C5CBDC4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C63F8C1B-4BF0-4193-93C9-481ABE200A27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40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2ECAEC20-546A-83DA-272C-FE867692B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C2552645-6474-AABD-F890-3E5E2C471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7" name="Rectangle 4">
            <a:extLst>
              <a:ext uri="{FF2B5EF4-FFF2-40B4-BE49-F238E27FC236}">
                <a16:creationId xmlns:a16="http://schemas.microsoft.com/office/drawing/2014/main" id="{832E1E6B-2CE5-465D-E768-8C7C1B1B2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8" name="Rectangle 5">
            <a:extLst>
              <a:ext uri="{FF2B5EF4-FFF2-40B4-BE49-F238E27FC236}">
                <a16:creationId xmlns:a16="http://schemas.microsoft.com/office/drawing/2014/main" id="{8BCC35EC-9566-0B15-4F50-284D37BA4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39" name="Rectangle 6">
            <a:extLst>
              <a:ext uri="{FF2B5EF4-FFF2-40B4-BE49-F238E27FC236}">
                <a16:creationId xmlns:a16="http://schemas.microsoft.com/office/drawing/2014/main" id="{BAACE552-1381-231B-A590-B15FD4E8C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40" name="Rectangle 7">
            <a:extLst>
              <a:ext uri="{FF2B5EF4-FFF2-40B4-BE49-F238E27FC236}">
                <a16:creationId xmlns:a16="http://schemas.microsoft.com/office/drawing/2014/main" id="{6FFEC17E-0695-9616-E91D-598DB7718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41" name="Rectangle 8">
            <a:extLst>
              <a:ext uri="{FF2B5EF4-FFF2-40B4-BE49-F238E27FC236}">
                <a16:creationId xmlns:a16="http://schemas.microsoft.com/office/drawing/2014/main" id="{510AF6F5-AFF7-CDA2-EC1C-8D71142F4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42" name="Line 9">
            <a:extLst>
              <a:ext uri="{FF2B5EF4-FFF2-40B4-BE49-F238E27FC236}">
                <a16:creationId xmlns:a16="http://schemas.microsoft.com/office/drawing/2014/main" id="{F64C2C1D-ADCA-CB55-71CD-1E679D31E43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209800"/>
            <a:ext cx="8153400" cy="0"/>
          </a:xfrm>
          <a:prstGeom prst="line">
            <a:avLst/>
          </a:prstGeom>
          <a:noFill/>
          <a:ln w="76200" cmpd="sng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3" name="Line 10">
            <a:extLst>
              <a:ext uri="{FF2B5EF4-FFF2-40B4-BE49-F238E27FC236}">
                <a16:creationId xmlns:a16="http://schemas.microsoft.com/office/drawing/2014/main" id="{EC0B4340-6D3F-A0EC-ECB2-D7A7F4BECA0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5410200"/>
            <a:ext cx="8153400" cy="0"/>
          </a:xfrm>
          <a:prstGeom prst="line">
            <a:avLst/>
          </a:prstGeom>
          <a:noFill/>
          <a:ln w="76200" cmpd="sng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44" name="Rectangle 11">
            <a:extLst>
              <a:ext uri="{FF2B5EF4-FFF2-40B4-BE49-F238E27FC236}">
                <a16:creationId xmlns:a16="http://schemas.microsoft.com/office/drawing/2014/main" id="{1B93B143-4BA4-B40D-6D6E-25D8624B2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301875"/>
            <a:ext cx="8077200" cy="304641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>
                <a:ea typeface="宋体" panose="02010600030101010101" pitchFamily="2" charset="-122"/>
              </a:rPr>
              <a:t>在千兆以太网的全双工模式中，交换机每个端口有缓存区，使得不存在冲突，</a:t>
            </a:r>
            <a:r>
              <a:rPr lang="en-US" altLang="zh-CN">
                <a:ea typeface="宋体" panose="02010600030101010101" pitchFamily="2" charset="-122"/>
              </a:rPr>
              <a:t>CSMA/CD</a:t>
            </a:r>
            <a:r>
              <a:rPr lang="zh-CN" altLang="en-US">
                <a:ea typeface="宋体" panose="02010600030101010101" pitchFamily="2" charset="-122"/>
              </a:rPr>
              <a:t>不必要；</a:t>
            </a:r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缺少冲突意味电缆长度的最大值取决于电缆中信号的衰减程度，而不是冲突检测过程。</a:t>
            </a:r>
            <a:endParaRPr lang="en-US" altLang="zh-CN">
              <a:ea typeface="宋体" panose="02010600030101010101" pitchFamily="2" charset="-122"/>
            </a:endParaRPr>
          </a:p>
        </p:txBody>
      </p:sp>
      <p:grpSp>
        <p:nvGrpSpPr>
          <p:cNvPr id="44045" name="Group 12">
            <a:extLst>
              <a:ext uri="{FF2B5EF4-FFF2-40B4-BE49-F238E27FC236}">
                <a16:creationId xmlns:a16="http://schemas.microsoft.com/office/drawing/2014/main" id="{90032E23-8BB9-8BA4-8D5B-DECB1BC51385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524000"/>
            <a:ext cx="1143000" cy="566738"/>
            <a:chOff x="0" y="0"/>
            <a:chExt cx="720" cy="357"/>
          </a:xfrm>
        </p:grpSpPr>
        <p:pic>
          <p:nvPicPr>
            <p:cNvPr id="44046" name="Picture 13">
              <a:extLst>
                <a:ext uri="{FF2B5EF4-FFF2-40B4-BE49-F238E27FC236}">
                  <a16:creationId xmlns:a16="http://schemas.microsoft.com/office/drawing/2014/main" id="{CE8D3B6D-FBF8-A245-DE5E-200F9D2641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047" name="Text Box 14">
              <a:extLst>
                <a:ext uri="{FF2B5EF4-FFF2-40B4-BE49-F238E27FC236}">
                  <a16:creationId xmlns:a16="http://schemas.microsoft.com/office/drawing/2014/main" id="{C2721345-A991-FD68-641D-5E37B853DE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灯片编号占位符 1">
            <a:extLst>
              <a:ext uri="{FF2B5EF4-FFF2-40B4-BE49-F238E27FC236}">
                <a16:creationId xmlns:a16="http://schemas.microsoft.com/office/drawing/2014/main" id="{C0B4B9BD-0E00-046F-2BE6-78084861FCF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4FDD3A97-9738-4778-B525-DD2C2C6CD55C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41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CCDE6697-092E-B53C-85AC-3D7CE1222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BFB3DC96-6213-40D1-82B6-A872CDEC9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1" name="Rectangle 4">
            <a:extLst>
              <a:ext uri="{FF2B5EF4-FFF2-40B4-BE49-F238E27FC236}">
                <a16:creationId xmlns:a16="http://schemas.microsoft.com/office/drawing/2014/main" id="{F97AB423-B6A4-087C-C136-FD1EC35EA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2" name="Rectangle 5">
            <a:extLst>
              <a:ext uri="{FF2B5EF4-FFF2-40B4-BE49-F238E27FC236}">
                <a16:creationId xmlns:a16="http://schemas.microsoft.com/office/drawing/2014/main" id="{858D897C-364E-3DCC-CA97-CB5A58544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3" name="Rectangle 6">
            <a:extLst>
              <a:ext uri="{FF2B5EF4-FFF2-40B4-BE49-F238E27FC236}">
                <a16:creationId xmlns:a16="http://schemas.microsoft.com/office/drawing/2014/main" id="{FA46B473-69BD-08F6-5377-075F7FBF7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4" name="Rectangle 7">
            <a:extLst>
              <a:ext uri="{FF2B5EF4-FFF2-40B4-BE49-F238E27FC236}">
                <a16:creationId xmlns:a16="http://schemas.microsoft.com/office/drawing/2014/main" id="{6447A7C9-F176-E39E-F448-E7B8376D5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5" name="Rectangle 8">
            <a:extLst>
              <a:ext uri="{FF2B5EF4-FFF2-40B4-BE49-F238E27FC236}">
                <a16:creationId xmlns:a16="http://schemas.microsoft.com/office/drawing/2014/main" id="{63015B0A-8917-77B4-ED1F-6FE5A20C5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CN" altLang="en-US" sz="240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6" name="Line 9">
            <a:extLst>
              <a:ext uri="{FF2B5EF4-FFF2-40B4-BE49-F238E27FC236}">
                <a16:creationId xmlns:a16="http://schemas.microsoft.com/office/drawing/2014/main" id="{EBC2B5CB-F46B-DE55-3FF1-0A54A1AEEC1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2209800"/>
            <a:ext cx="8153400" cy="0"/>
          </a:xfrm>
          <a:prstGeom prst="line">
            <a:avLst/>
          </a:prstGeom>
          <a:noFill/>
          <a:ln w="76200" cmpd="sng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7" name="Line 10">
            <a:extLst>
              <a:ext uri="{FF2B5EF4-FFF2-40B4-BE49-F238E27FC236}">
                <a16:creationId xmlns:a16="http://schemas.microsoft.com/office/drawing/2014/main" id="{82339D89-1BB0-4EA4-461B-1B11627047D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8" y="5791200"/>
            <a:ext cx="8153400" cy="0"/>
          </a:xfrm>
          <a:prstGeom prst="line">
            <a:avLst/>
          </a:prstGeom>
          <a:noFill/>
          <a:ln w="76200" cmpd="sng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8" name="Rectangle 11">
            <a:extLst>
              <a:ext uri="{FF2B5EF4-FFF2-40B4-BE49-F238E27FC236}">
                <a16:creationId xmlns:a16="http://schemas.microsoft.com/office/drawing/2014/main" id="{2E00AF53-2FAC-38A0-F288-19E8D109A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301875"/>
            <a:ext cx="8077200" cy="34163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ea typeface="宋体" panose="02010600030101010101" pitchFamily="2" charset="-122"/>
              </a:rPr>
              <a:t>在千兆以太网的半双工模式中，使用</a:t>
            </a:r>
            <a:r>
              <a:rPr lang="en-US" altLang="zh-CN" sz="2400">
                <a:ea typeface="宋体" panose="02010600030101010101" pitchFamily="2" charset="-122"/>
              </a:rPr>
              <a:t>Hub</a:t>
            </a:r>
            <a:r>
              <a:rPr lang="zh-CN" altLang="en-US" sz="2400">
                <a:ea typeface="宋体" panose="02010600030101010101" pitchFamily="2" charset="-122"/>
              </a:rPr>
              <a:t>和</a:t>
            </a:r>
            <a:r>
              <a:rPr lang="en-US" altLang="zh-CN" sz="2400">
                <a:ea typeface="宋体" panose="02010600030101010101" pitchFamily="2" charset="-122"/>
              </a:rPr>
              <a:t>CSMA/CD</a:t>
            </a:r>
            <a:r>
              <a:rPr lang="zh-CN" altLang="en-US" sz="2400">
                <a:ea typeface="宋体" panose="02010600030101010101" pitchFamily="2" charset="-122"/>
              </a:rPr>
              <a:t>；然而此模式下，网络的最大长度完全取决于最小帧长；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zh-CN" altLang="en-US" sz="2400">
                <a:ea typeface="宋体" panose="02010600030101010101" pitchFamily="2" charset="-122"/>
              </a:rPr>
              <a:t>所以，采用</a:t>
            </a:r>
            <a:r>
              <a:rPr lang="en-US" altLang="zh-CN" sz="2400">
                <a:ea typeface="宋体" panose="02010600030101010101" pitchFamily="2" charset="-122"/>
              </a:rPr>
              <a:t>3</a:t>
            </a:r>
            <a:r>
              <a:rPr lang="zh-CN" altLang="en-US" sz="2400">
                <a:ea typeface="宋体" panose="02010600030101010101" pitchFamily="2" charset="-122"/>
              </a:rPr>
              <a:t>种方案：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 sz="2400">
                <a:ea typeface="宋体" panose="02010600030101010101" pitchFamily="2" charset="-122"/>
              </a:rPr>
              <a:t>1)</a:t>
            </a:r>
            <a:r>
              <a:rPr lang="zh-CN" altLang="en-US" sz="2400">
                <a:ea typeface="宋体" panose="02010600030101010101" pitchFamily="2" charset="-122"/>
              </a:rPr>
              <a:t>传统方案：保留</a:t>
            </a:r>
            <a:r>
              <a:rPr lang="en-US" altLang="zh-CN" sz="2400">
                <a:ea typeface="宋体" panose="02010600030101010101" pitchFamily="2" charset="-122"/>
              </a:rPr>
              <a:t>512bit</a:t>
            </a:r>
            <a:r>
              <a:rPr lang="zh-CN" altLang="en-US" sz="2400">
                <a:ea typeface="宋体" panose="02010600030101010101" pitchFamily="2" charset="-122"/>
              </a:rPr>
              <a:t>最小帧长，数据速率是</a:t>
            </a:r>
            <a:r>
              <a:rPr lang="en-US" altLang="zh-CN" sz="2400">
                <a:ea typeface="宋体" panose="02010600030101010101" pitchFamily="2" charset="-122"/>
              </a:rPr>
              <a:t>10Mbps</a:t>
            </a:r>
            <a:r>
              <a:rPr lang="zh-CN" altLang="en-US" sz="2400">
                <a:ea typeface="宋体" panose="02010600030101010101" pitchFamily="2" charset="-122"/>
              </a:rPr>
              <a:t>的</a:t>
            </a:r>
            <a:r>
              <a:rPr lang="en-US" altLang="zh-CN" sz="2400">
                <a:ea typeface="宋体" panose="02010600030101010101" pitchFamily="2" charset="-122"/>
              </a:rPr>
              <a:t>100</a:t>
            </a:r>
            <a:r>
              <a:rPr lang="zh-CN" altLang="en-US" sz="2400">
                <a:ea typeface="宋体" panose="02010600030101010101" pitchFamily="2" charset="-122"/>
              </a:rPr>
              <a:t>倍，所以最大网段长度是</a:t>
            </a:r>
            <a:r>
              <a:rPr lang="en-US" altLang="zh-CN" sz="2400">
                <a:ea typeface="宋体" panose="02010600030101010101" pitchFamily="2" charset="-122"/>
              </a:rPr>
              <a:t>2500/100=25</a:t>
            </a:r>
            <a:r>
              <a:rPr lang="zh-CN" altLang="en-US" sz="2400">
                <a:ea typeface="宋体" panose="02010600030101010101" pitchFamily="2" charset="-122"/>
              </a:rPr>
              <a:t>米；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 sz="2400">
                <a:ea typeface="宋体" panose="02010600030101010101" pitchFamily="2" charset="-122"/>
              </a:rPr>
              <a:t>2)</a:t>
            </a:r>
            <a:r>
              <a:rPr lang="zh-CN" altLang="en-US" sz="2400">
                <a:ea typeface="宋体" panose="02010600030101010101" pitchFamily="2" charset="-122"/>
              </a:rPr>
              <a:t>载波扩展方案：用填充载波扩展方法将最小帧长增加到</a:t>
            </a:r>
            <a:r>
              <a:rPr lang="en-US" altLang="zh-CN" sz="2400">
                <a:ea typeface="宋体" panose="02010600030101010101" pitchFamily="2" charset="-122"/>
              </a:rPr>
              <a:t>512Byte</a:t>
            </a:r>
            <a:r>
              <a:rPr lang="zh-CN" altLang="en-US" sz="2400">
                <a:ea typeface="宋体" panose="02010600030101010101" pitchFamily="2" charset="-122"/>
              </a:rPr>
              <a:t>，是</a:t>
            </a:r>
            <a:r>
              <a:rPr lang="en-US" altLang="zh-CN" sz="2400">
                <a:ea typeface="宋体" panose="02010600030101010101" pitchFamily="2" charset="-122"/>
              </a:rPr>
              <a:t>512bit</a:t>
            </a:r>
            <a:r>
              <a:rPr lang="zh-CN" altLang="en-US" sz="2400">
                <a:ea typeface="宋体" panose="02010600030101010101" pitchFamily="2" charset="-122"/>
              </a:rPr>
              <a:t>的</a:t>
            </a:r>
            <a:r>
              <a:rPr lang="en-US" altLang="zh-CN" sz="2400">
                <a:ea typeface="宋体" panose="02010600030101010101" pitchFamily="2" charset="-122"/>
              </a:rPr>
              <a:t>8</a:t>
            </a:r>
            <a:r>
              <a:rPr lang="zh-CN" altLang="en-US" sz="2400">
                <a:ea typeface="宋体" panose="02010600030101010101" pitchFamily="2" charset="-122"/>
              </a:rPr>
              <a:t>倍，所以网段长度</a:t>
            </a:r>
            <a:r>
              <a:rPr lang="en-US" altLang="zh-CN" sz="2400">
                <a:ea typeface="宋体" panose="02010600030101010101" pitchFamily="2" charset="-122"/>
              </a:rPr>
              <a:t>25</a:t>
            </a:r>
            <a:r>
              <a:rPr lang="zh-CN" altLang="en-US" sz="2400">
                <a:ea typeface="宋体" panose="02010600030101010101" pitchFamily="2" charset="-122"/>
              </a:rPr>
              <a:t>*</a:t>
            </a:r>
            <a:r>
              <a:rPr lang="en-US" altLang="zh-CN" sz="2400">
                <a:ea typeface="宋体" panose="02010600030101010101" pitchFamily="2" charset="-122"/>
              </a:rPr>
              <a:t>8=200</a:t>
            </a:r>
            <a:r>
              <a:rPr lang="zh-CN" altLang="en-US" sz="2400">
                <a:ea typeface="宋体" panose="02010600030101010101" pitchFamily="2" charset="-122"/>
              </a:rPr>
              <a:t>米；</a:t>
            </a:r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 sz="2400">
                <a:ea typeface="宋体" panose="02010600030101010101" pitchFamily="2" charset="-122"/>
              </a:rPr>
              <a:t>3)</a:t>
            </a:r>
            <a:r>
              <a:rPr lang="zh-CN" altLang="en-US" sz="2400">
                <a:ea typeface="宋体" panose="02010600030101010101" pitchFamily="2" charset="-122"/>
              </a:rPr>
              <a:t>帧突发方案：多个短帧用载波扩展效率低下，所以将连续的多个短帧组合成一个长帧传输。</a:t>
            </a:r>
            <a:endParaRPr lang="en-US" altLang="zh-CN" sz="2400">
              <a:ea typeface="宋体" panose="02010600030101010101" pitchFamily="2" charset="-122"/>
            </a:endParaRPr>
          </a:p>
        </p:txBody>
      </p:sp>
      <p:grpSp>
        <p:nvGrpSpPr>
          <p:cNvPr id="45069" name="Group 12">
            <a:extLst>
              <a:ext uri="{FF2B5EF4-FFF2-40B4-BE49-F238E27FC236}">
                <a16:creationId xmlns:a16="http://schemas.microsoft.com/office/drawing/2014/main" id="{76A19E76-8C18-2DE4-1AC6-BBE1815F6B5D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524000"/>
            <a:ext cx="1143000" cy="566738"/>
            <a:chOff x="0" y="0"/>
            <a:chExt cx="720" cy="357"/>
          </a:xfrm>
        </p:grpSpPr>
        <p:pic>
          <p:nvPicPr>
            <p:cNvPr id="45070" name="Picture 13">
              <a:extLst>
                <a:ext uri="{FF2B5EF4-FFF2-40B4-BE49-F238E27FC236}">
                  <a16:creationId xmlns:a16="http://schemas.microsoft.com/office/drawing/2014/main" id="{2DFD400C-B9CA-556C-B5D5-8CF8332203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071" name="Text Box 14">
              <a:extLst>
                <a:ext uri="{FF2B5EF4-FFF2-40B4-BE49-F238E27FC236}">
                  <a16:creationId xmlns:a16="http://schemas.microsoft.com/office/drawing/2014/main" id="{7BEE28A7-B694-52A1-A4ED-3CA411AF30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" y="0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 sz="3200"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80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注意</a:t>
              </a:r>
              <a:endParaRPr lang="en-US" altLang="zh-CN" sz="2800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灯片编号占位符 1">
            <a:extLst>
              <a:ext uri="{FF2B5EF4-FFF2-40B4-BE49-F238E27FC236}">
                <a16:creationId xmlns:a16="http://schemas.microsoft.com/office/drawing/2014/main" id="{165ACDA2-98B7-2BF9-B61F-4067974AD17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2A71C1C8-0746-4064-9CAE-9F4FF5E1E2D5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42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46083" name="Line 2">
            <a:extLst>
              <a:ext uri="{FF2B5EF4-FFF2-40B4-BE49-F238E27FC236}">
                <a16:creationId xmlns:a16="http://schemas.microsoft.com/office/drawing/2014/main" id="{62030994-AAEB-AC94-C7D4-D1FD4C621CD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4" name="Line 3">
            <a:extLst>
              <a:ext uri="{FF2B5EF4-FFF2-40B4-BE49-F238E27FC236}">
                <a16:creationId xmlns:a16="http://schemas.microsoft.com/office/drawing/2014/main" id="{F18F7B1F-7F22-6EA7-E6D0-18369F8760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7620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6085" name="Text Box 4">
            <a:extLst>
              <a:ext uri="{FF2B5EF4-FFF2-40B4-BE49-F238E27FC236}">
                <a16:creationId xmlns:a16="http://schemas.microsoft.com/office/drawing/2014/main" id="{4D6512D0-42B6-906A-CE94-8A93639F32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8600"/>
            <a:ext cx="40592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13.22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千兆以太网的拓扑结构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6086" name="Line 5">
            <a:extLst>
              <a:ext uri="{FF2B5EF4-FFF2-40B4-BE49-F238E27FC236}">
                <a16:creationId xmlns:a16="http://schemas.microsoft.com/office/drawing/2014/main" id="{27A53875-A124-71E7-F9E0-207A9AC6C6E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4008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6087" name="Picture 6">
            <a:extLst>
              <a:ext uri="{FF2B5EF4-FFF2-40B4-BE49-F238E27FC236}">
                <a16:creationId xmlns:a16="http://schemas.microsoft.com/office/drawing/2014/main" id="{C6C034D7-E178-64E9-88DD-996D2E673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675" y="850900"/>
            <a:ext cx="4479925" cy="547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1">
            <a:extLst>
              <a:ext uri="{FF2B5EF4-FFF2-40B4-BE49-F238E27FC236}">
                <a16:creationId xmlns:a16="http://schemas.microsoft.com/office/drawing/2014/main" id="{4CFD6550-D23E-82FE-3796-6D42641A42A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C5F25CE8-C7F2-444B-A5BB-014F1CFB7498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43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47107" name="Line 2">
            <a:extLst>
              <a:ext uri="{FF2B5EF4-FFF2-40B4-BE49-F238E27FC236}">
                <a16:creationId xmlns:a16="http://schemas.microsoft.com/office/drawing/2014/main" id="{B030FA8A-3631-E370-452C-5A0FAFA2F58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08" name="Line 3">
            <a:extLst>
              <a:ext uri="{FF2B5EF4-FFF2-40B4-BE49-F238E27FC236}">
                <a16:creationId xmlns:a16="http://schemas.microsoft.com/office/drawing/2014/main" id="{08A4F26A-D658-B5D4-0386-08BE7132F1F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09" name="Text Box 4">
            <a:extLst>
              <a:ext uri="{FF2B5EF4-FFF2-40B4-BE49-F238E27FC236}">
                <a16:creationId xmlns:a16="http://schemas.microsoft.com/office/drawing/2014/main" id="{42467E9E-88BA-31F4-08A2-C8C5A8316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3405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13.23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千兆以太网的实现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7110" name="Line 5">
            <a:extLst>
              <a:ext uri="{FF2B5EF4-FFF2-40B4-BE49-F238E27FC236}">
                <a16:creationId xmlns:a16="http://schemas.microsoft.com/office/drawing/2014/main" id="{42310C87-56AE-39C1-AC75-A7D6E097CDA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7111" name="Picture 6">
            <a:extLst>
              <a:ext uri="{FF2B5EF4-FFF2-40B4-BE49-F238E27FC236}">
                <a16:creationId xmlns:a16="http://schemas.microsoft.com/office/drawing/2014/main" id="{BF864C25-8081-5100-CABD-F62D87B31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88" y="2209800"/>
            <a:ext cx="7961312" cy="289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1">
            <a:extLst>
              <a:ext uri="{FF2B5EF4-FFF2-40B4-BE49-F238E27FC236}">
                <a16:creationId xmlns:a16="http://schemas.microsoft.com/office/drawing/2014/main" id="{E5C38719-BC9F-41A8-2C95-B4ACA00BC06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6B080C26-2DC1-4AC7-A9BE-F1635CAD1AB4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44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48131" name="Line 2">
            <a:extLst>
              <a:ext uri="{FF2B5EF4-FFF2-40B4-BE49-F238E27FC236}">
                <a16:creationId xmlns:a16="http://schemas.microsoft.com/office/drawing/2014/main" id="{B957454B-9A72-4A03-627A-274246DD3AF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533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2" name="Line 3">
            <a:extLst>
              <a:ext uri="{FF2B5EF4-FFF2-40B4-BE49-F238E27FC236}">
                <a16:creationId xmlns:a16="http://schemas.microsoft.com/office/drawing/2014/main" id="{A89805A5-5EA7-1B31-2A70-AD887E72837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371600"/>
            <a:ext cx="8763000" cy="0"/>
          </a:xfrm>
          <a:prstGeom prst="line">
            <a:avLst/>
          </a:prstGeom>
          <a:noFill/>
          <a:ln w="1905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3" name="Text Box 4">
            <a:extLst>
              <a:ext uri="{FF2B5EF4-FFF2-40B4-BE49-F238E27FC236}">
                <a16:creationId xmlns:a16="http://schemas.microsoft.com/office/drawing/2014/main" id="{61CBD87D-4A16-D1B2-91A9-2D929B29B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762000"/>
            <a:ext cx="41798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图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13.24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千兆以太网实现中的编码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8134" name="Line 5">
            <a:extLst>
              <a:ext uri="{FF2B5EF4-FFF2-40B4-BE49-F238E27FC236}">
                <a16:creationId xmlns:a16="http://schemas.microsoft.com/office/drawing/2014/main" id="{A14A5564-5B80-ADCC-9224-042908EE67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 cmpd="sng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8135" name="Picture 6">
            <a:extLst>
              <a:ext uri="{FF2B5EF4-FFF2-40B4-BE49-F238E27FC236}">
                <a16:creationId xmlns:a16="http://schemas.microsoft.com/office/drawing/2014/main" id="{302CA18B-A375-3048-D5F4-161695199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175" y="2443163"/>
            <a:ext cx="8226425" cy="311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灯片编号占位符 1">
            <a:extLst>
              <a:ext uri="{FF2B5EF4-FFF2-40B4-BE49-F238E27FC236}">
                <a16:creationId xmlns:a16="http://schemas.microsoft.com/office/drawing/2014/main" id="{D0DE15CD-30C0-339F-6759-D4D5A7A1D46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07D2F69E-54E6-4B28-A3A8-AA260D3C89A6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45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49155" name="Text Box 2">
            <a:extLst>
              <a:ext uri="{FF2B5EF4-FFF2-40B4-BE49-F238E27FC236}">
                <a16:creationId xmlns:a16="http://schemas.microsoft.com/office/drawing/2014/main" id="{4BC4F643-DC3E-7C3D-801B-DD768D167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676400"/>
            <a:ext cx="37671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13.3  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千兆以太网实现的总结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49156" name="Picture 4">
            <a:extLst>
              <a:ext uri="{FF2B5EF4-FFF2-40B4-BE49-F238E27FC236}">
                <a16:creationId xmlns:a16="http://schemas.microsoft.com/office/drawing/2014/main" id="{1E73D2B2-6EB9-2F10-65C4-74ECEFE08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63" y="2270125"/>
            <a:ext cx="7742237" cy="245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1">
            <a:extLst>
              <a:ext uri="{FF2B5EF4-FFF2-40B4-BE49-F238E27FC236}">
                <a16:creationId xmlns:a16="http://schemas.microsoft.com/office/drawing/2014/main" id="{7A76ADCA-9E9A-B7A0-FB50-377541BDA04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-74613" y="6400800"/>
            <a:ext cx="1903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t>13.</a:t>
            </a:r>
            <a:fld id="{7FB161CD-6E3D-4DC8-A0FA-1E027518623D}" type="slidenum">
              <a:rPr lang="en-US" altLang="zh-CN" sz="2000">
                <a:solidFill>
                  <a:schemeClr val="bg2"/>
                </a:solidFill>
                <a:ea typeface="宋体" panose="02010600030101010101" pitchFamily="2" charset="-122"/>
              </a:rPr>
              <a:pPr eaLnBrk="1" hangingPunct="1"/>
              <a:t>46</a:t>
            </a:fld>
            <a:endParaRPr lang="en-US" altLang="zh-CN" sz="2000">
              <a:solidFill>
                <a:schemeClr val="bg2"/>
              </a:solidFill>
              <a:ea typeface="宋体" panose="02010600030101010101" pitchFamily="2" charset="-122"/>
            </a:endParaRPr>
          </a:p>
        </p:txBody>
      </p:sp>
      <p:sp>
        <p:nvSpPr>
          <p:cNvPr id="50179" name="Text Box 2">
            <a:extLst>
              <a:ext uri="{FF2B5EF4-FFF2-40B4-BE49-F238E27FC236}">
                <a16:creationId xmlns:a16="http://schemas.microsoft.com/office/drawing/2014/main" id="{49B27ED4-CDF4-70AB-3B53-B534E799B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981200"/>
            <a:ext cx="6553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en-US" altLang="zh-CN" sz="240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13.4 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千兆以太网（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</a:rPr>
              <a:t>IEEE802.3ae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</a:rPr>
              <a:t>）实现的总结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0180" name="Picture 5">
            <a:extLst>
              <a:ext uri="{FF2B5EF4-FFF2-40B4-BE49-F238E27FC236}">
                <a16:creationId xmlns:a16="http://schemas.microsoft.com/office/drawing/2014/main" id="{2A97229C-94C2-B57C-8418-1D3B76043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438400"/>
            <a:ext cx="7897813" cy="162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1" name="TextBox 4">
            <a:extLst>
              <a:ext uri="{FF2B5EF4-FFF2-40B4-BE49-F238E27FC236}">
                <a16:creationId xmlns:a16="http://schemas.microsoft.com/office/drawing/2014/main" id="{3826E65D-F932-A9B7-EB29-C278CC280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495800"/>
            <a:ext cx="5638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/>
              <a:t>10</a:t>
            </a:r>
            <a:r>
              <a:rPr lang="zh-CN" altLang="en-US" sz="2400">
                <a:ea typeface="宋体" panose="02010600030101010101" pitchFamily="2" charset="-122"/>
              </a:rPr>
              <a:t>千兆以太网只在全双工模式下运行，不存在竞争，不使用</a:t>
            </a:r>
            <a:r>
              <a:rPr lang="en-US" altLang="zh-CN" sz="2400"/>
              <a:t>CSMA/CD</a:t>
            </a:r>
            <a:r>
              <a:rPr lang="zh-CN" altLang="en-US" sz="2400"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altLang="zh-CN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altLang="zh-CN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Blends">
  <a:themeElements>
    <a:clrScheme name="1_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altLang="zh-CN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en-US" altLang="zh-CN" sz="3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Pages>0</Pages>
  <Words>1651</Words>
  <Characters>0</Characters>
  <Application>Microsoft Office PowerPoint</Application>
  <DocSecurity>0</DocSecurity>
  <PresentationFormat>全屏显示(4:3)</PresentationFormat>
  <Lines>0</Lines>
  <Paragraphs>175</Paragraphs>
  <Slides>46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46</vt:i4>
      </vt:variant>
    </vt:vector>
  </HeadingPairs>
  <TitlesOfParts>
    <vt:vector size="56" baseType="lpstr">
      <vt:lpstr>Arial</vt:lpstr>
      <vt:lpstr>宋体</vt:lpstr>
      <vt:lpstr>Wingdings</vt:lpstr>
      <vt:lpstr>Tahoma</vt:lpstr>
      <vt:lpstr>Times New Roman</vt:lpstr>
      <vt:lpstr>McGrawHill-Italic</vt:lpstr>
      <vt:lpstr>Times</vt:lpstr>
      <vt:lpstr>华文细黑</vt:lpstr>
      <vt:lpstr>Blends</vt:lpstr>
      <vt:lpstr>1_Blends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Valued Gateway Client</dc:creator>
  <cp:keywords/>
  <dc:description/>
  <cp:lastModifiedBy>浩嘉 申</cp:lastModifiedBy>
  <cp:revision>197</cp:revision>
  <dcterms:created xsi:type="dcterms:W3CDTF">2000-01-15T04:50:39Z</dcterms:created>
  <dcterms:modified xsi:type="dcterms:W3CDTF">2026-06-02T07:12:07Z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2052-9.1.0.4716</vt:lpwstr>
  </property>
</Properties>
</file>