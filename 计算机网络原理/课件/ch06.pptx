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0"/>
  </p:notesMasterIdLst>
  <p:handoutMasterIdLst>
    <p:handoutMasterId r:id="rId61"/>
  </p:handoutMasterIdLst>
  <p:sldIdLst>
    <p:sldId id="749" r:id="rId2"/>
    <p:sldId id="721" r:id="rId3"/>
    <p:sldId id="748" r:id="rId4"/>
    <p:sldId id="688" r:id="rId5"/>
    <p:sldId id="689" r:id="rId6"/>
    <p:sldId id="690" r:id="rId7"/>
    <p:sldId id="722" r:id="rId8"/>
    <p:sldId id="691" r:id="rId9"/>
    <p:sldId id="692" r:id="rId10"/>
    <p:sldId id="728" r:id="rId11"/>
    <p:sldId id="738" r:id="rId12"/>
    <p:sldId id="729" r:id="rId13"/>
    <p:sldId id="694" r:id="rId14"/>
    <p:sldId id="730" r:id="rId15"/>
    <p:sldId id="695" r:id="rId16"/>
    <p:sldId id="696" r:id="rId17"/>
    <p:sldId id="739" r:id="rId18"/>
    <p:sldId id="752" r:id="rId19"/>
    <p:sldId id="697" r:id="rId20"/>
    <p:sldId id="723" r:id="rId21"/>
    <p:sldId id="698" r:id="rId22"/>
    <p:sldId id="699" r:id="rId23"/>
    <p:sldId id="724" r:id="rId24"/>
    <p:sldId id="700" r:id="rId25"/>
    <p:sldId id="725" r:id="rId26"/>
    <p:sldId id="732" r:id="rId27"/>
    <p:sldId id="740" r:id="rId28"/>
    <p:sldId id="746" r:id="rId29"/>
    <p:sldId id="734" r:id="rId30"/>
    <p:sldId id="741" r:id="rId31"/>
    <p:sldId id="735" r:id="rId32"/>
    <p:sldId id="750" r:id="rId33"/>
    <p:sldId id="743" r:id="rId34"/>
    <p:sldId id="704" r:id="rId35"/>
    <p:sldId id="705" r:id="rId36"/>
    <p:sldId id="753" r:id="rId37"/>
    <p:sldId id="706" r:id="rId38"/>
    <p:sldId id="707" r:id="rId39"/>
    <p:sldId id="708" r:id="rId40"/>
    <p:sldId id="754" r:id="rId41"/>
    <p:sldId id="709" r:id="rId42"/>
    <p:sldId id="747" r:id="rId43"/>
    <p:sldId id="736" r:id="rId44"/>
    <p:sldId id="737" r:id="rId45"/>
    <p:sldId id="710" r:id="rId46"/>
    <p:sldId id="726" r:id="rId47"/>
    <p:sldId id="711" r:id="rId48"/>
    <p:sldId id="712" r:id="rId49"/>
    <p:sldId id="727" r:id="rId50"/>
    <p:sldId id="713" r:id="rId51"/>
    <p:sldId id="687" r:id="rId52"/>
    <p:sldId id="714" r:id="rId53"/>
    <p:sldId id="715" r:id="rId54"/>
    <p:sldId id="716" r:id="rId55"/>
    <p:sldId id="717" r:id="rId56"/>
    <p:sldId id="718" r:id="rId57"/>
    <p:sldId id="719" r:id="rId58"/>
    <p:sldId id="720" r:id="rId5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5" autoAdjust="0"/>
    <p:restoredTop sz="97082" autoAdjust="0"/>
  </p:normalViewPr>
  <p:slideViewPr>
    <p:cSldViewPr>
      <p:cViewPr varScale="1">
        <p:scale>
          <a:sx n="158" d="100"/>
          <a:sy n="158" d="100"/>
        </p:scale>
        <p:origin x="441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2" name="Rectangle 2">
            <a:extLst>
              <a:ext uri="{FF2B5EF4-FFF2-40B4-BE49-F238E27FC236}">
                <a16:creationId xmlns:a16="http://schemas.microsoft.com/office/drawing/2014/main" id="{AA1CDD6C-2313-41D8-BD9B-131F5045AB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6723" name="Rectangle 3">
            <a:extLst>
              <a:ext uri="{FF2B5EF4-FFF2-40B4-BE49-F238E27FC236}">
                <a16:creationId xmlns:a16="http://schemas.microsoft.com/office/drawing/2014/main" id="{4E44CC7F-7EB4-4864-BCDA-F9D0F94DA8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6724" name="Rectangle 4">
            <a:extLst>
              <a:ext uri="{FF2B5EF4-FFF2-40B4-BE49-F238E27FC236}">
                <a16:creationId xmlns:a16="http://schemas.microsoft.com/office/drawing/2014/main" id="{8C1A4B3F-0B97-4940-BFA6-237098F005E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6725" name="Rectangle 5">
            <a:extLst>
              <a:ext uri="{FF2B5EF4-FFF2-40B4-BE49-F238E27FC236}">
                <a16:creationId xmlns:a16="http://schemas.microsoft.com/office/drawing/2014/main" id="{5E3E3D97-F142-43E3-8023-B97D1D648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76123E19-140A-4AC9-80DF-375EBB7CDB7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2">
            <a:extLst>
              <a:ext uri="{FF2B5EF4-FFF2-40B4-BE49-F238E27FC236}">
                <a16:creationId xmlns:a16="http://schemas.microsoft.com/office/drawing/2014/main" id="{DE03E554-C986-4A13-928D-57931B7620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56067" name="Rectangle 3">
            <a:extLst>
              <a:ext uri="{FF2B5EF4-FFF2-40B4-BE49-F238E27FC236}">
                <a16:creationId xmlns:a16="http://schemas.microsoft.com/office/drawing/2014/main" id="{0A17DE2E-2813-441F-8213-D5C7B457960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40C6772-4A4A-940A-2B4A-6533DA80FF8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56069" name="Rectangle 5">
            <a:extLst>
              <a:ext uri="{FF2B5EF4-FFF2-40B4-BE49-F238E27FC236}">
                <a16:creationId xmlns:a16="http://schemas.microsoft.com/office/drawing/2014/main" id="{A997CE93-FCE7-42AF-819B-70633E26000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856070" name="Rectangle 6">
            <a:extLst>
              <a:ext uri="{FF2B5EF4-FFF2-40B4-BE49-F238E27FC236}">
                <a16:creationId xmlns:a16="http://schemas.microsoft.com/office/drawing/2014/main" id="{6F8E423F-4267-429F-9B49-51E9E03C4F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56071" name="Rectangle 7">
            <a:extLst>
              <a:ext uri="{FF2B5EF4-FFF2-40B4-BE49-F238E27FC236}">
                <a16:creationId xmlns:a16="http://schemas.microsoft.com/office/drawing/2014/main" id="{320F9C1B-3E0E-4209-B1E8-5D6EAA3862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109E66BB-BE65-4D49-80A0-1AEF9D4E04A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4AC6630-0583-BA55-4AAF-0278D35A50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F4A3F20-C6AE-9F51-6B65-F340D8C3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2DACFC4-53F7-75AD-C50A-62A6FC1679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A976DF5-ACE5-14EF-F569-DC47CEEEC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8747C90-F0EF-46C5-CEAE-364883EE7B6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045C2A5-5232-3ED4-0C31-E84639254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AE1602B-F797-F771-5222-EA2031335E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2F0A992-AB3E-67FF-5AD2-670EE2C6C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CBBB4C0-DAC8-0276-6C51-4774379408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04AD0F4-4C01-0A91-E590-B833888ED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BDE9324-8AC8-3440-E7C5-813A9637EF3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72B5555-A981-9762-185C-4FD7F5058B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E8FB427-88DA-C930-D3B4-F7FC7CFEE73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924EED8-24ED-8FC9-0C62-04558FE54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132F441-EA0B-2C31-4290-706BCAE237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4785C1D-C3F2-C1BE-AA36-29D1FB842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5479E39-B030-C676-6425-4FBCEFFF09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A317FAF-19CB-BA01-280F-62CFA8636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D494D10-6274-FFAB-952A-246FB35BDF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29508CC-9BB6-EAA2-94D9-F0C3E0EDFF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C821088-FF1E-7B02-4146-DA8E1E5F19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B1AD7FE-F085-8152-AB71-4C4D05BA0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AC770E1-2FDC-80ED-CFA7-469766F870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6091BB8-15F6-93C7-FFA1-0A2059B82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6179C19-1103-B4C2-4A8B-5B9AB8910C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0A0BD2B-4252-C471-40B6-66EFE6546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C80DFFD-6042-AB9B-B28F-01C752456F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32C357E-FCD7-09F4-C465-2DF7CF1DD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A81EF8C-B4A2-1FFF-A1C8-51445E3187B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3188DBC-F1F5-0A25-CE16-64E3C38BB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9796C8F-E0FC-D96F-ADE9-26A2A02BE6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FF947C3-050E-BA84-EDE7-99BB9D545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1B51E1B-8FF4-EB7C-A98C-F3F46B2016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025971E-AF43-0C21-363C-61B376768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39CF38E-BE00-30D2-5460-D18DA204CFB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B7C3C8F-0347-A5BE-11D5-71CE55EDA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B727CB8-F976-B9EF-2EBE-02A33A2CE8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C50C8A1-A6E9-5DF0-99EE-CFEFC4E7E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CD0E326-30FE-31F7-976F-BBCA1C389D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E0224BC-0C2C-2F40-FBBC-591AB4F0F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BD86E03-A54D-2B24-900B-A949B09A96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AF8DFE4-EED4-5C23-C44B-478D2D455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A5C06A7-828B-F467-8F2A-16638E3612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BB3128C-EF1A-0577-0984-B6207EAC4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8668148-AE7C-E77B-14B3-C63A18C507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30C9DDE-5ACB-2633-4EA6-C353B7CA9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990B336-FDB9-DEE2-B8D3-FD7ECD4299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B6B5A99-B88F-CADE-BCFB-5F8FE3F74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AB321E5E-2652-E9B7-94D9-EDE4BD65D2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D881496-5BDB-B089-A414-40B20EAF4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96246A9-A49F-F508-0941-F8D00E4032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55D8F6D-CEB1-04BC-7A51-8F1FE1A0F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092251D8-F142-83AF-E010-F5F15E5F25D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F376364-46CE-FF69-D1A8-906649A0D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4ABAD23-0A94-812A-C699-DBB70D8D82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C49271B-0FCB-2C5C-0AD5-100A9B968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EDBD016-91DD-2134-8581-D5924762A58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741199C-A6BC-5771-0579-6CFAAD0F33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D2D86F11-8F66-0667-4DF1-6B15839784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B3CFFC8-F4B7-397D-94ED-35DCA2B1C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6FB8CFA-0262-39D3-B2D2-4517F157EE8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020863A-9F39-614D-2A40-69063675F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D1ECCF5-24F5-5D12-A9EF-C7D4B52F3B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B7811936-C9A8-FFB6-0A38-3F4BDF98B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90616F44-4246-C883-2061-4CE308E639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6ABD7F6-F059-98E3-4B39-5CBC5721C7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2ABF7F0-5A96-B680-8A89-F2E5A602AD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8A5535B-BD20-7585-E1A8-D64403854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04AF3E3-0794-78F6-3F6B-9BFECA6B302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11A5BFD-7AE3-F65F-8A11-2107D40DD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D756BF5-9B24-D003-09B3-E08DFE89D5E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BC02511-FDA4-9C0C-33D6-71CA5365C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092F96D-9DB3-C1E5-894D-00908E00317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FC09FADB-C418-B90F-37A8-02251942D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E5FC61ED-6A60-14D9-BC7B-FD251A14C01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B02D3BCD-7E61-9E04-4D5E-974C40C48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51636FDE-1B89-618C-1228-4118D5F17F3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B804171-3858-36B1-BEFB-4E31CF7F4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CE9D574F-905D-DCA3-5AB5-5CDCCFC74A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C35A4E9D-1809-C181-3BF0-CDE466D46C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605B852-DBC0-BC4A-9C0D-D0EDC804D43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4C695EF-E30F-EFA1-2799-E1CC90704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3112D15-087C-BCEF-7E54-76A382ED19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FAAE601-3074-BE3E-6F97-827E1E876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C5F63281-6C92-8DA2-7D2F-CECA6731431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685415B-C3EB-A561-D90F-355E7BF45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59FBE2E7-B4AC-C4EE-AA2C-B7B082B57C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566830F4-245D-BFE9-FA3B-377762800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C3454CDB-F62A-5424-1A70-C0F37FF1F8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708F8B6-AB6F-E698-8796-FE1A349AC6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CE7BDC9-9405-115C-6466-D7EDAB9ADE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71FBCEDC-92C0-5FD5-01E7-1B60E6557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374A0D3-2FA2-680B-4E6F-FC41055B00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6FF1C4F-677C-5323-F794-15C65968F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D3DECBD-F6B7-2901-D7B6-8406074854F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041B8970-B90A-4CC7-7D4B-FDCA3C4F2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95BA10E6-3BC9-1CBE-48A1-66848CC1DB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0B179B22-DD64-2C8A-9AB1-035F1618E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9F5E6899-4C48-4F12-8593-EAC72B5E82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FCD53A10-0626-CC00-3558-7A9F1CE4C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26F5FF05-2306-5524-98C7-D6EB83627E6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6E3E8F4E-9B52-C50E-B156-8A06B6EB8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F2D482B1-B7B4-420B-25FD-53347ABEFB8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B52E4556-D6B7-0428-85F5-0EE555A31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B471EA7-158F-272F-9274-BDA5D1FC7F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1BF6AD4-49AB-8256-9B3F-90F101AB3A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2635C779-0B19-EB33-F580-353AF63292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2449AA0B-DC72-EFED-B82D-71F8603C8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F8945C55-5BA1-3F2E-9E3A-468105965B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EE48933F-F172-CC65-F68D-87BCE5674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BD138B4E-C3C0-60CE-EE00-9EC77697DC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124E453E-86FB-80BE-B075-8EAB129C6E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50B9C745-F58F-8BC4-A305-6113CBCBEE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7DD4E5F6-1D29-C584-7053-95A9D6620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9C6342-6C88-A105-63D7-F3DE463AF39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419FA5E-E161-7649-13B8-1CF8B30CC8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CA492493-FF9B-36DE-C8F2-6B2AF4A8E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1A8E55A-FEC5-CA6D-7927-F1553DED7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003ED2DA-16B5-DEE4-27D8-B47916D68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966FA9-3EBA-6B4E-9F96-496C36499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0731E7C-A3D8-9642-A7D1-D32DFDAC5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47A09F28-2178-7B84-5120-56FD54E82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88089A99-5308-9D8A-C419-84744751A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1CB2BCE9-1B13-4BF7-C2EB-B0469675B6B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63095B9F-9B19-8463-35AB-489B0FC668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58F39499-7D91-DD89-07ED-02EB5466DF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2DA901A6-DE96-BA24-16C9-8EDF20419C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82A8E3D-5116-FC2E-8413-9E6090E803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9E12EBC4-E0C4-1346-8D87-161BFAC1FC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4E90CA80-27BB-4297-9FE1-A253B627A7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33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361EABE-ED0F-4BC1-4FE8-564195D358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1FF3AED9-296B-41A6-BEFA-2D4BD905B5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170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63EAE7D-426A-3E82-6D49-C2D2A94D8AD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65C11165-C705-4D93-A65B-06CAD98F6C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17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E76C7DB-A57A-8B9F-6EEA-570C606D3F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170B0AFC-F5A2-4146-BE9E-4C62CCC926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36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41D8953-6304-D621-6819-A064CF615A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B0CF6C1F-D155-4528-996C-FBA1D9F9BB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58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9046ECFE-802B-C28D-6569-26C7309988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75B0D662-190D-42DF-8864-7B69BBC724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50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C2083213-9355-1D72-7144-5D126312A4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C12F0B26-27A5-4C2C-942A-3E776F9471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888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8451995-F3ED-0350-06DB-2278DC6203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24DD6639-52FB-4584-8ADA-433BD6B687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3768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1D4A250C-3CA4-43AE-9506-15467891C1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148AD9E8-61A2-4BF3-923B-565E725A1A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268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96653C4-ABE1-3C16-338A-EBB53485CA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0FD8524B-530B-4FB7-8AC7-390135D011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286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6858E89-95B5-D7A8-4DA6-51F1B52B8E6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0E0D4782-1868-43F3-9F63-D0873447B8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3810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DBA0E294-7B2C-6AEC-C79F-6A4F24B65F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6.</a:t>
            </a:r>
            <a:fld id="{D4574952-8971-46B4-9473-43A18C851C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615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DA539C8A-A938-4EB7-828F-31E3763601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6.</a:t>
            </a:r>
            <a:fld id="{97DEA0A2-5699-418F-A1EA-49867D142E7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>
            <a:extLst>
              <a:ext uri="{FF2B5EF4-FFF2-40B4-BE49-F238E27FC236}">
                <a16:creationId xmlns:a16="http://schemas.microsoft.com/office/drawing/2014/main" id="{1C3F12C1-E43F-DD6F-4C9B-41A78399F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B70BAF50-EFA7-4FBB-8532-9D6F41AED904}" type="slidenum">
              <a:rPr lang="en-US" altLang="zh-CN" sz="200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5123" name="Picture 2" descr="Forouzan4e07_banner">
            <a:extLst>
              <a:ext uri="{FF2B5EF4-FFF2-40B4-BE49-F238E27FC236}">
                <a16:creationId xmlns:a16="http://schemas.microsoft.com/office/drawing/2014/main" id="{CE90621E-06A5-68DB-B49E-3DD04BBFE5A7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3">
            <a:extLst>
              <a:ext uri="{FF2B5EF4-FFF2-40B4-BE49-F238E27FC236}">
                <a16:creationId xmlns:a16="http://schemas.microsoft.com/office/drawing/2014/main" id="{7EE42CA0-E43D-38C1-C30F-094C33BC1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400">
                <a:solidFill>
                  <a:schemeClr val="tx2"/>
                </a:solidFill>
              </a:rPr>
              <a:t>Chapter 6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带宽利用</a:t>
            </a:r>
            <a:endParaRPr lang="en-US" altLang="zh-CN" sz="4400">
              <a:ea typeface="宋体" panose="02010600030101010101" pitchFamily="2" charset="-122"/>
            </a:endParaRPr>
          </a:p>
          <a:p>
            <a:pPr algn="ctr"/>
            <a:r>
              <a:rPr lang="en-US" altLang="zh-CN" sz="2800">
                <a:ea typeface="宋体" panose="02010600030101010101" pitchFamily="2" charset="-122"/>
              </a:rPr>
              <a:t>(Bandwidth Utilization:</a:t>
            </a:r>
          </a:p>
          <a:p>
            <a:pPr algn="ctr"/>
            <a:r>
              <a:rPr lang="en-US" altLang="zh-CN" sz="2800">
                <a:ea typeface="宋体" panose="02010600030101010101" pitchFamily="2" charset="-122"/>
              </a:rPr>
              <a:t>Multiplexing and Spreading)</a:t>
            </a: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C86842F4-3236-E45C-96A5-0F2385526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ECF1B370-4CB0-DB2B-7A97-5441010EC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65B04EB9-1C37-4641-9952-61E8E9CE29D4}" type="slidenum">
              <a:rPr lang="en-US" altLang="zh-CN" sz="200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38D462-7030-EECB-A339-81D2BC0E51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B066F4E-7ECE-F1F8-B722-D13C342EC9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6DB2865C-2C70-2AA2-89A5-24640CAF3D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34CFD96D-D15A-C24B-2DE6-EC2A7EB437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5" name="Rectangle 6">
            <a:extLst>
              <a:ext uri="{FF2B5EF4-FFF2-40B4-BE49-F238E27FC236}">
                <a16:creationId xmlns:a16="http://schemas.microsoft.com/office/drawing/2014/main" id="{7F1A92C9-6655-7959-8F8A-240FB04E01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FA7BBD2F-8B6E-414D-841D-0CEF3331EB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7" name="Rectangle 8">
            <a:extLst>
              <a:ext uri="{FF2B5EF4-FFF2-40B4-BE49-F238E27FC236}">
                <a16:creationId xmlns:a16="http://schemas.microsoft.com/office/drawing/2014/main" id="{8DFFEB43-733B-3168-CB8E-2CEE97BA052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8" name="Line 9">
            <a:extLst>
              <a:ext uri="{FF2B5EF4-FFF2-40B4-BE49-F238E27FC236}">
                <a16:creationId xmlns:a16="http://schemas.microsoft.com/office/drawing/2014/main" id="{69D25046-DEA0-42CE-B212-146363030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981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9" name="Line 10">
            <a:extLst>
              <a:ext uri="{FF2B5EF4-FFF2-40B4-BE49-F238E27FC236}">
                <a16:creationId xmlns:a16="http://schemas.microsoft.com/office/drawing/2014/main" id="{80A72291-8E08-B961-FC22-8F6EE1AD1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71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0" name="Rectangle 11">
            <a:extLst>
              <a:ext uri="{FF2B5EF4-FFF2-40B4-BE49-F238E27FC236}">
                <a16:creationId xmlns:a16="http://schemas.microsoft.com/office/drawing/2014/main" id="{04A4A5EF-C386-AD1A-BC5B-755007C88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073275"/>
            <a:ext cx="8077200" cy="25542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为达到特殊的目的，带宽利用是可用带宽的合理使用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 algn="ctr"/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复用</a:t>
            </a:r>
            <a:r>
              <a:rPr lang="en-US" altLang="zh-CN">
                <a:ea typeface="宋体" panose="02010600030101010101" pitchFamily="2" charset="-122"/>
              </a:rPr>
              <a:t>(multiplexing)</a:t>
            </a:r>
            <a:r>
              <a:rPr lang="zh-CN" altLang="en-US">
                <a:ea typeface="宋体" panose="02010600030101010101" pitchFamily="2" charset="-122"/>
              </a:rPr>
              <a:t>可获得效率，扩频</a:t>
            </a:r>
            <a:r>
              <a:rPr lang="en-US" altLang="zh-CN">
                <a:ea typeface="宋体" panose="02010600030101010101" pitchFamily="2" charset="-122"/>
              </a:rPr>
              <a:t>(spreading)</a:t>
            </a:r>
            <a:r>
              <a:rPr lang="zh-CN" altLang="en-US">
                <a:ea typeface="宋体" panose="02010600030101010101" pitchFamily="2" charset="-122"/>
              </a:rPr>
              <a:t>可以到保密与抗干扰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7181" name="Group 12">
            <a:extLst>
              <a:ext uri="{FF2B5EF4-FFF2-40B4-BE49-F238E27FC236}">
                <a16:creationId xmlns:a16="http://schemas.microsoft.com/office/drawing/2014/main" id="{56C44CB7-A634-34B7-1AB1-05CF591E611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371600"/>
            <a:ext cx="1143000" cy="566738"/>
            <a:chOff x="1200" y="1248"/>
            <a:chExt cx="720" cy="357"/>
          </a:xfrm>
        </p:grpSpPr>
        <p:pic>
          <p:nvPicPr>
            <p:cNvPr id="7182" name="Picture 13">
              <a:extLst>
                <a:ext uri="{FF2B5EF4-FFF2-40B4-BE49-F238E27FC236}">
                  <a16:creationId xmlns:a16="http://schemas.microsoft.com/office/drawing/2014/main" id="{FE25D95B-D734-5DDE-34F1-993C8666E2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3" name="Text Box 14">
              <a:extLst>
                <a:ext uri="{FF2B5EF4-FFF2-40B4-BE49-F238E27FC236}">
                  <a16:creationId xmlns:a16="http://schemas.microsoft.com/office/drawing/2014/main" id="{00F97788-34F1-48B9-895A-A62788B14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4CE37ACC-15B1-8FF2-27E2-863B8A746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3DF8218C-B878-48F3-8ECE-B402457A26E0}" type="slidenum">
              <a:rPr lang="en-US" altLang="zh-CN" sz="200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4674" name="Rectangle 2">
            <a:extLst>
              <a:ext uri="{FF2B5EF4-FFF2-40B4-BE49-F238E27FC236}">
                <a16:creationId xmlns:a16="http://schemas.microsoft.com/office/drawing/2014/main" id="{6A5AD7A6-25C7-493C-92E6-5C9C5254C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24675" name="Text Box 3">
            <a:extLst>
              <a:ext uri="{FF2B5EF4-FFF2-40B4-BE49-F238E27FC236}">
                <a16:creationId xmlns:a16="http://schemas.microsoft.com/office/drawing/2014/main" id="{66DB68FE-927E-4738-99E0-D30B5615A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426243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6-1   MULTIPLEXING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pitchFamily="2" charset="-122"/>
            </a:endParaRPr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29A0C9F0-6C81-E389-CB44-324FC629A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4677" name="Rectangle 5">
            <a:extLst>
              <a:ext uri="{FF2B5EF4-FFF2-40B4-BE49-F238E27FC236}">
                <a16:creationId xmlns:a16="http://schemas.microsoft.com/office/drawing/2014/main" id="{AEDEDB70-4CC6-4DDE-9A9A-A0DA50031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00213"/>
            <a:ext cx="8229600" cy="181451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只要连接两台设备的介质带宽比设备间传输所要求的带宽高时，该链路就可以被共享。复用就是是允许同时通过一条数据链路传输多个信号的一组技术。随着数据和电信应用的增加，通信量不断增加。</a:t>
            </a:r>
            <a:endParaRPr lang="en-US" altLang="zh-CN" sz="28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5DC6E2F5-7699-D79A-F76D-7BF4059A8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865688"/>
            <a:ext cx="86868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频分多路复用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(Frequency-Division Multiplexing)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波分多路复用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Wavelength-Division Multiplexing)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同步时分多路复用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Synchronous Time-Division Multiplexing)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统计时分多路复用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(Statistical Time-Division Multiplexing)</a:t>
            </a:r>
          </a:p>
        </p:txBody>
      </p:sp>
      <p:sp>
        <p:nvSpPr>
          <p:cNvPr id="924679" name="Text Box 7">
            <a:extLst>
              <a:ext uri="{FF2B5EF4-FFF2-40B4-BE49-F238E27FC236}">
                <a16:creationId xmlns:a16="http://schemas.microsoft.com/office/drawing/2014/main" id="{15F3C2BB-4F3C-49BA-9BE7-0C48BEB61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95775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1321DC95-448D-CB31-9240-88A918FAC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D757504E-7E72-4657-9583-A2DDCFF20D0F}" type="slidenum">
              <a:rPr lang="en-US" altLang="zh-CN" sz="200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4F032E06-3D39-630F-2EE7-EA1377CC1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5D0A9897-B599-4FC1-ED77-CFCD4841BE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2A7E7EBA-2550-688F-1B2B-7D87C4239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30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链路划分为通道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2D5F6022-C5B1-51F1-38ED-7EF92A764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4AB379AB-7213-5BE9-817C-FE16FB90C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46455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1EEFBDFF-86DB-4D1E-91B3-C7F78167E4F8}"/>
              </a:ext>
            </a:extLst>
          </p:cNvPr>
          <p:cNvSpPr/>
          <p:nvPr/>
        </p:nvSpPr>
        <p:spPr bwMode="auto">
          <a:xfrm>
            <a:off x="457200" y="3657600"/>
            <a:ext cx="7696200" cy="24384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复用就是允许同时通过一条数据链路传输多个信号的一组技术</a:t>
            </a:r>
            <a:endParaRPr lang="en-US" altLang="zh-CN" sz="240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复用器</a:t>
            </a:r>
            <a:r>
              <a:rPr lang="en-US" altLang="zh-CN" sz="24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MUX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分离器</a:t>
            </a:r>
            <a:r>
              <a:rPr lang="en-US" altLang="zh-CN" sz="24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DEMUX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通道</a:t>
            </a:r>
            <a:r>
              <a:rPr lang="en-US" altLang="zh-CN" sz="24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channel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endParaRPr lang="zh-CN" altLang="en-US" sz="240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7E9E95D7-2AEF-518A-4119-359A8E019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01F53817-7BDC-49E1-8D80-5DD5AECEE394}" type="slidenum">
              <a:rPr lang="en-US" altLang="zh-CN" sz="200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93E53732-A1E8-8BAF-738D-1F8C5F28B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F5E6729E-5661-094D-73CE-CEC1098A3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58C926BB-FBD3-1342-4805-760147E94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30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多路复用的分类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43CAA868-6F97-8C63-2C86-C32A87FCB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7">
            <a:extLst>
              <a:ext uri="{FF2B5EF4-FFF2-40B4-BE49-F238E27FC236}">
                <a16:creationId xmlns:a16="http://schemas.microsoft.com/office/drawing/2014/main" id="{56E88405-03DE-0D17-2944-2BAB1550D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390775"/>
            <a:ext cx="8318500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076A493C-8981-2330-AB1F-7C70BB7EF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257E141F-5736-42F7-87E9-83CC5A1D104A}" type="slidenum">
              <a:rPr lang="en-US" altLang="zh-CN" sz="200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363" name="Line 2">
            <a:extLst>
              <a:ext uri="{FF2B5EF4-FFF2-40B4-BE49-F238E27FC236}">
                <a16:creationId xmlns:a16="http://schemas.microsoft.com/office/drawing/2014/main" id="{75D57A7C-E9E4-112E-7A48-2A9E42585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825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Line 3">
            <a:extLst>
              <a:ext uri="{FF2B5EF4-FFF2-40B4-BE49-F238E27FC236}">
                <a16:creationId xmlns:a16="http://schemas.microsoft.com/office/drawing/2014/main" id="{EA2F5238-D216-AA54-7810-124C250A5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C0F9AC2D-7957-42D9-2774-7D2EA25AA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521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6.3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频分多路复用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6" name="Line 5">
            <a:extLst>
              <a:ext uri="{FF2B5EF4-FFF2-40B4-BE49-F238E27FC236}">
                <a16:creationId xmlns:a16="http://schemas.microsoft.com/office/drawing/2014/main" id="{6ECFEDEF-EC4C-8CFE-6E49-EB9106D5C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7" name="Picture 6">
            <a:extLst>
              <a:ext uri="{FF2B5EF4-FFF2-40B4-BE49-F238E27FC236}">
                <a16:creationId xmlns:a16="http://schemas.microsoft.com/office/drawing/2014/main" id="{C61CF86E-76CC-C8CB-D1A3-D151AEA64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17788"/>
            <a:ext cx="8793163" cy="225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C354C593-6A05-4952-A97E-80DDC91B11F9}"/>
              </a:ext>
            </a:extLst>
          </p:cNvPr>
          <p:cNvSpPr/>
          <p:nvPr/>
        </p:nvSpPr>
        <p:spPr bwMode="auto">
          <a:xfrm>
            <a:off x="4548188" y="192088"/>
            <a:ext cx="4291012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频分多路复用</a:t>
            </a:r>
            <a:r>
              <a:rPr lang="en-US" altLang="zh-CN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(FDM)</a:t>
            </a:r>
            <a:endParaRPr lang="zh-CN" altLang="en-US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0A81820F-C220-0DF9-2E67-8394DC426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9BB13009-8AD5-4249-BA0E-5DEE40FCCFD9}" type="slidenum">
              <a:rPr lang="en-US" altLang="zh-CN" sz="200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5A6E5B5-AF8A-96FD-2E5E-DC36AB713A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1F50788-93E2-5566-8945-68CA6C8594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ACF62F1D-8A30-ECD5-874B-C9249B34E0D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2A2D97F6-ECE7-0846-D92B-0F2052C769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A475DD72-9AEF-C707-E373-DD0B14888D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CEBB289D-17D3-9974-3961-1EB48CE717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BE1D2B57-D9C4-BF8F-2462-A07B276414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Line 9">
            <a:extLst>
              <a:ext uri="{FF2B5EF4-FFF2-40B4-BE49-F238E27FC236}">
                <a16:creationId xmlns:a16="http://schemas.microsoft.com/office/drawing/2014/main" id="{A56D617D-9F5D-9EFA-22DE-5AB0CD6E3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Line 10">
            <a:extLst>
              <a:ext uri="{FF2B5EF4-FFF2-40B4-BE49-F238E27FC236}">
                <a16:creationId xmlns:a16="http://schemas.microsoft.com/office/drawing/2014/main" id="{587B3DAD-CC90-4EE2-DD96-D8EB62B1A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191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0FE47AC0-3E17-BB89-0BE3-2317B72DF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FDM </a:t>
            </a:r>
            <a:r>
              <a:rPr lang="zh-CN" altLang="en-US">
                <a:ea typeface="宋体" panose="02010600030101010101" pitchFamily="2" charset="-122"/>
              </a:rPr>
              <a:t>是用来组合模拟信号的模拟多路复用技术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17421" name="Group 12">
            <a:extLst>
              <a:ext uri="{FF2B5EF4-FFF2-40B4-BE49-F238E27FC236}">
                <a16:creationId xmlns:a16="http://schemas.microsoft.com/office/drawing/2014/main" id="{5BC133A7-1598-10E3-40D2-F96773358A1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52663"/>
            <a:ext cx="1143000" cy="566737"/>
            <a:chOff x="1200" y="1248"/>
            <a:chExt cx="720" cy="357"/>
          </a:xfrm>
        </p:grpSpPr>
        <p:pic>
          <p:nvPicPr>
            <p:cNvPr id="17422" name="Picture 13">
              <a:extLst>
                <a:ext uri="{FF2B5EF4-FFF2-40B4-BE49-F238E27FC236}">
                  <a16:creationId xmlns:a16="http://schemas.microsoft.com/office/drawing/2014/main" id="{EFFAC9A7-9B2E-A922-76A4-60706526D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3" name="Text Box 14">
              <a:extLst>
                <a:ext uri="{FF2B5EF4-FFF2-40B4-BE49-F238E27FC236}">
                  <a16:creationId xmlns:a16="http://schemas.microsoft.com/office/drawing/2014/main" id="{97517B85-ED34-647F-AAE5-1BF91F6F1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C20C7766-CFC1-2884-7423-F6F910C31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5CDBA21F-20BA-4644-A95D-AA79871A5C2E}" type="slidenum">
              <a:rPr lang="en-US" altLang="zh-CN" sz="200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9459" name="Line 2">
            <a:extLst>
              <a:ext uri="{FF2B5EF4-FFF2-40B4-BE49-F238E27FC236}">
                <a16:creationId xmlns:a16="http://schemas.microsoft.com/office/drawing/2014/main" id="{CD8438B3-8BF9-740E-957D-7E957BA9A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EE214405-87DA-A2E1-B6F7-82A58F37A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0FBA56BB-8A38-CE33-38D4-BCD20A13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830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FDM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过程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2" name="Line 5">
            <a:extLst>
              <a:ext uri="{FF2B5EF4-FFF2-40B4-BE49-F238E27FC236}">
                <a16:creationId xmlns:a16="http://schemas.microsoft.com/office/drawing/2014/main" id="{C567DF37-28D7-9BA5-7D45-315EAE486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463" name="Picture 6">
            <a:extLst>
              <a:ext uri="{FF2B5EF4-FFF2-40B4-BE49-F238E27FC236}">
                <a16:creationId xmlns:a16="http://schemas.microsoft.com/office/drawing/2014/main" id="{25670D0A-CE69-1F9E-49F4-403824065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973263"/>
            <a:ext cx="8255000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EC07DF7A-2A98-D6A3-B1D8-42BB56858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4FB1D41B-09CA-4DE0-A7BA-974CC5AD9CD8}" type="slidenum">
              <a:rPr lang="en-US" altLang="zh-CN" sz="200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1507" name="Line 2">
            <a:extLst>
              <a:ext uri="{FF2B5EF4-FFF2-40B4-BE49-F238E27FC236}">
                <a16:creationId xmlns:a16="http://schemas.microsoft.com/office/drawing/2014/main" id="{3DFCD28D-E127-FC0A-215A-06E50DEF9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3">
            <a:extLst>
              <a:ext uri="{FF2B5EF4-FFF2-40B4-BE49-F238E27FC236}">
                <a16:creationId xmlns:a16="http://schemas.microsoft.com/office/drawing/2014/main" id="{262E70E4-F7BA-625F-1253-D438F8FE9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D4E47A46-BC61-6C68-A1FC-9CF5767EB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346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FDM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分离示例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0" name="Line 5">
            <a:extLst>
              <a:ext uri="{FF2B5EF4-FFF2-40B4-BE49-F238E27FC236}">
                <a16:creationId xmlns:a16="http://schemas.microsoft.com/office/drawing/2014/main" id="{343FEDC1-ECE9-CC7E-1474-EB60703E6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11" name="Picture 6">
            <a:extLst>
              <a:ext uri="{FF2B5EF4-FFF2-40B4-BE49-F238E27FC236}">
                <a16:creationId xmlns:a16="http://schemas.microsoft.com/office/drawing/2014/main" id="{BD957FBE-656D-87F2-C5DA-D9AD3A30D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1870075"/>
            <a:ext cx="8556625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BA783B85-17E4-C445-CACC-E5F4B1D08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28B2F82F-29A4-401A-B5F8-26DB30D8EE3D}" type="slidenum">
              <a:rPr lang="en-US" altLang="zh-CN" sz="200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2A0D1171-0877-D441-8676-F84E8A6CE6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0C69246D-3617-EC2C-5255-5519F46FE3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9D41CC8D-6F4C-CD24-CC9B-4F5EF97FAF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C9DDA2CE-4835-D51B-1FB7-B3A706B7AD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7D931226-9830-BB52-D501-DB36EB4DF1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0" name="Rectangle 7">
            <a:extLst>
              <a:ext uri="{FF2B5EF4-FFF2-40B4-BE49-F238E27FC236}">
                <a16:creationId xmlns:a16="http://schemas.microsoft.com/office/drawing/2014/main" id="{B994F010-844A-0D28-3D4F-A2FAFDC870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1" name="Rectangle 8">
            <a:extLst>
              <a:ext uri="{FF2B5EF4-FFF2-40B4-BE49-F238E27FC236}">
                <a16:creationId xmlns:a16="http://schemas.microsoft.com/office/drawing/2014/main" id="{1A099978-C67F-25C0-EBF2-32DB17283E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A9AA28B1-2EAB-B171-8B9E-319077124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假定一个语音通道占用的带宽是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 kHz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，要将三个语音通道合并到一条带宽为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12 kHz( 20 ~ 32 kHz)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的链路。使用频域图表示这一配置过程，这里假定不使用防护频带。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127E28F5-1B8A-36D6-2646-F16967466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00400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将三语音通道平移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调制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到不同的带宽，如图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6.6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所示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第一个信道使用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20~ 24kHz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的带宽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, 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第二个信道使用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24~ 28kHz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的带宽，第三信道使用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28~ 32kHz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的带宽。如图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Figure 6.6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所示将他们合并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B0E7C663-D08B-D334-E19B-DD07B1387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28A1692C-B553-9021-F97C-13AAD2623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2C8EC5AD-D048-41E9-B0C1-A361FF1D7EC4}" type="slidenum">
              <a:rPr lang="en-US" altLang="zh-CN" sz="200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5603" name="Line 2">
            <a:extLst>
              <a:ext uri="{FF2B5EF4-FFF2-40B4-BE49-F238E27FC236}">
                <a16:creationId xmlns:a16="http://schemas.microsoft.com/office/drawing/2014/main" id="{3F887947-5F04-AE42-60B4-1F9020DBE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064238CE-3C8D-8913-2BFD-1A0491D38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1E8FD619-A9D6-91A6-652F-6A2749B46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296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Example 6.1</a:t>
            </a:r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CD9F9DF4-6C55-237C-6B58-70C5D4118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7" name="Picture 6">
            <a:extLst>
              <a:ext uri="{FF2B5EF4-FFF2-40B4-BE49-F238E27FC236}">
                <a16:creationId xmlns:a16="http://schemas.microsoft.com/office/drawing/2014/main" id="{A618E167-8D8A-3CB9-C612-8B7FCB519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98525"/>
            <a:ext cx="815340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45332295-1169-DD07-F78E-271EE72D3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1875DC2F-0A97-4993-BC44-814A34A04CF6}" type="slidenum">
              <a:rPr lang="en-US" altLang="zh-CN" sz="200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04FA476-C8E8-0429-F1A2-224F3ACFB0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2F8FE67-4BC2-B689-A059-AD565C9E4E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AABB8600-F261-84CA-9A96-E428BE151F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C53935E6-C0C6-5C2F-328C-7799B3B7D4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5C0E0FE5-540C-18E0-B817-A49129A67B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E5F7855C-1979-40DC-BE9B-F0F18EE296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7" name="Rectangle 8">
            <a:extLst>
              <a:ext uri="{FF2B5EF4-FFF2-40B4-BE49-F238E27FC236}">
                <a16:creationId xmlns:a16="http://schemas.microsoft.com/office/drawing/2014/main" id="{B83BE89C-AE86-ACA2-4C4A-5B151A714B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039FE4A6-04F9-2065-0BFC-675FB8AA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个通道，每个通道的带宽是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100-kHz 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全部进行多路复用。如果通道之间需要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 kHz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的防护频带以防止干扰，则链路的最小带宽是多少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?</a:t>
            </a: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2A16E228-C9F9-0EA1-3EF3-05066CD49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38575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对于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个通道，至少需要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个防护频带。这意味着至少需要带宽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/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5 × 100 + 4 × 10 = 540 kHz,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如图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6.7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所示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BB26CC52-31EE-340A-15A4-EBA3E1FB7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D5009EAF-7F54-7B61-0D82-F3254565E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C57CA6A0-1FE5-4894-A9EB-0E220981AC16}" type="slidenum">
              <a:rPr lang="en-US" altLang="zh-CN" sz="200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9699" name="Line 2">
            <a:extLst>
              <a:ext uri="{FF2B5EF4-FFF2-40B4-BE49-F238E27FC236}">
                <a16:creationId xmlns:a16="http://schemas.microsoft.com/office/drawing/2014/main" id="{C69A1EBE-F586-D7CB-9A54-7C1D50D83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1D1F7F12-57C2-AD0A-FFFC-EEB316EFED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CC4F98A8-B7E8-C4DD-BF58-5C3DB4E8A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6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Example 6.2</a:t>
            </a:r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F181F966-0564-9B23-F919-4DBF8850B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3" name="Picture 6">
            <a:extLst>
              <a:ext uri="{FF2B5EF4-FFF2-40B4-BE49-F238E27FC236}">
                <a16:creationId xmlns:a16="http://schemas.microsoft.com/office/drawing/2014/main" id="{DA8F822F-F85C-5CF2-52E4-923378849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14613"/>
            <a:ext cx="7696200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E24C4082-C60A-294B-2EDE-BE23A3FF2B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C956B124-D840-474A-9BD8-35816A297EFF}" type="slidenum">
              <a:rPr lang="en-US" altLang="zh-CN" sz="200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86EFE6D-61C9-E0A3-F7ED-4DB11C8083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C30D48F-B7A4-B9C3-DED9-89BD6EC5B1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054127DA-1078-4C4C-D9D5-71313910DC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9BE15371-1F35-8A63-B7C1-86D4097666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42DF33EF-FBE9-7C34-5B7D-533A895B694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67D3112C-227B-A9AC-1FBA-DD56E44481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Rectangle 8">
            <a:extLst>
              <a:ext uri="{FF2B5EF4-FFF2-40B4-BE49-F238E27FC236}">
                <a16:creationId xmlns:a16="http://schemas.microsoft.com/office/drawing/2014/main" id="{DEDFFD26-4B0E-3806-FF41-777D8AE72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1E5B1467-30FD-4E57-98D9-09F0A5C53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8229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个数据通道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数字的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每个通道的传输速率是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 Mbps,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 MHz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的卫星信道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FDM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设计一种合理的配置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29930FAD-BC76-B552-0E12-18DCAD8F7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11538"/>
            <a:ext cx="86868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卫星信道是模拟的，将其划分为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个通道，每个通道的带宽是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250-kHz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对每个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 Mbps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的数字信道进行调制，每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位调制为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 Hz.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一种解决方案是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16-QAM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6.8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描述了一种可能的配置方案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.</a:t>
            </a:r>
          </a:p>
        </p:txBody>
      </p:sp>
      <p:sp>
        <p:nvSpPr>
          <p:cNvPr id="31756" name="Rectangle 12">
            <a:extLst>
              <a:ext uri="{FF2B5EF4-FFF2-40B4-BE49-F238E27FC236}">
                <a16:creationId xmlns:a16="http://schemas.microsoft.com/office/drawing/2014/main" id="{3D934AD8-4EA3-8D59-4931-893FBCD90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78001F62-4E56-30B9-8821-F1DD94E42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A783AD9D-B2BB-4938-A94D-15BFC596AEAF}" type="slidenum">
              <a:rPr lang="en-US" altLang="zh-CN" sz="200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3795" name="Line 2">
            <a:extLst>
              <a:ext uri="{FF2B5EF4-FFF2-40B4-BE49-F238E27FC236}">
                <a16:creationId xmlns:a16="http://schemas.microsoft.com/office/drawing/2014/main" id="{C2679442-C493-5DFF-C833-FA7633361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Line 3">
            <a:extLst>
              <a:ext uri="{FF2B5EF4-FFF2-40B4-BE49-F238E27FC236}">
                <a16:creationId xmlns:a16="http://schemas.microsoft.com/office/drawing/2014/main" id="{86E384CE-0193-105E-3E59-25817F9A3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F579812D-3AEF-2124-FD5A-1D5947404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6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6.8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Example 6.3</a:t>
            </a:r>
          </a:p>
        </p:txBody>
      </p:sp>
      <p:sp>
        <p:nvSpPr>
          <p:cNvPr id="33798" name="Line 5">
            <a:extLst>
              <a:ext uri="{FF2B5EF4-FFF2-40B4-BE49-F238E27FC236}">
                <a16:creationId xmlns:a16="http://schemas.microsoft.com/office/drawing/2014/main" id="{FE9DDDA1-60A8-10F3-8F71-DB92B1D6F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799" name="Picture 6">
            <a:extLst>
              <a:ext uri="{FF2B5EF4-FFF2-40B4-BE49-F238E27FC236}">
                <a16:creationId xmlns:a16="http://schemas.microsoft.com/office/drawing/2014/main" id="{3FA0235E-B1BE-0CB6-CBE3-15DA46FB1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2120900"/>
            <a:ext cx="6892925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AA19A1C1-9C24-ABD8-A31D-3866FF79E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EB1AC126-45D2-4FB1-8F04-4E519A8794F9}" type="slidenum">
              <a:rPr lang="en-US" altLang="zh-CN" sz="200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5843" name="Line 2">
            <a:extLst>
              <a:ext uri="{FF2B5EF4-FFF2-40B4-BE49-F238E27FC236}">
                <a16:creationId xmlns:a16="http://schemas.microsoft.com/office/drawing/2014/main" id="{7F4E2318-E414-5E01-7BBF-FEE449D42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Line 3">
            <a:extLst>
              <a:ext uri="{FF2B5EF4-FFF2-40B4-BE49-F238E27FC236}">
                <a16:creationId xmlns:a16="http://schemas.microsoft.com/office/drawing/2014/main" id="{54A2D7C4-E559-2F95-B28E-91943C266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6A04D901-D135-A8C8-76C1-9C1BD1D9D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567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6.9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模拟载波体系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Analog hierarchy)</a:t>
            </a:r>
          </a:p>
        </p:txBody>
      </p:sp>
      <p:sp>
        <p:nvSpPr>
          <p:cNvPr id="35846" name="Line 5">
            <a:extLst>
              <a:ext uri="{FF2B5EF4-FFF2-40B4-BE49-F238E27FC236}">
                <a16:creationId xmlns:a16="http://schemas.microsoft.com/office/drawing/2014/main" id="{067BC143-24FC-4C2D-FEA0-D17ED86CA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5847" name="Picture 6">
            <a:extLst>
              <a:ext uri="{FF2B5EF4-FFF2-40B4-BE49-F238E27FC236}">
                <a16:creationId xmlns:a16="http://schemas.microsoft.com/office/drawing/2014/main" id="{EEAA7D0B-F692-6F22-F788-845FFF075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1866900"/>
            <a:ext cx="8272462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5056C639-E596-485E-96F1-5C41C2F03102}"/>
              </a:ext>
            </a:extLst>
          </p:cNvPr>
          <p:cNvSpPr/>
          <p:nvPr/>
        </p:nvSpPr>
        <p:spPr bwMode="auto">
          <a:xfrm>
            <a:off x="4548188" y="192088"/>
            <a:ext cx="4291012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频分多路复用</a:t>
            </a:r>
            <a:r>
              <a:rPr lang="en-US" altLang="zh-CN">
                <a:solidFill>
                  <a:schemeClr val="tx1"/>
                </a:solidFill>
                <a:latin typeface="Arial" charset="0"/>
                <a:ea typeface="宋体" pitchFamily="2" charset="-122"/>
              </a:rPr>
              <a:t>(FDM)</a:t>
            </a:r>
            <a:endParaRPr lang="zh-CN" altLang="en-US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BB0411B5-7232-7912-7F0F-19A00FF00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E3146546-B8C7-4B2E-851B-16A850D66A94}" type="slidenum">
              <a:rPr lang="en-US" altLang="zh-CN" sz="200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77EEBD5-8E68-F4D8-2D91-CCBD48BEB4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A5F69E2-1E09-C67C-419E-35C3888F36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BABD69A0-CDB4-911A-56FD-64698ABD7C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1ABAFA99-12D9-5D29-FCC4-6E1B7C98F3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15A8B15C-2AA2-F28D-8817-8386B4E606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1FF2A259-0539-BFCE-D969-EF3D44715FD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7" name="Rectangle 8">
            <a:extLst>
              <a:ext uri="{FF2B5EF4-FFF2-40B4-BE49-F238E27FC236}">
                <a16:creationId xmlns:a16="http://schemas.microsoft.com/office/drawing/2014/main" id="{71A6605D-8F14-D084-6050-560AD41146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8" name="Rectangle 9">
            <a:extLst>
              <a:ext uri="{FF2B5EF4-FFF2-40B4-BE49-F238E27FC236}">
                <a16:creationId xmlns:a16="http://schemas.microsoft.com/office/drawing/2014/main" id="{E01DBA42-D53F-EBC9-79C7-13BBD0F7A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4582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高级移动系统（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Advanced Mobile Phone System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AMPS)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个波段，第一个波段是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824 ~849 MHz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用于发送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869 ~ 894 MHz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用于接收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每一个用户在每个方向上都有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30 kHz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带宽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3kHz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语音使用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FM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调制，生成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30kHz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的调制信号。试问，可以有多少人同时使用移动电话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37899" name="Rectangle 10">
            <a:extLst>
              <a:ext uri="{FF2B5EF4-FFF2-40B4-BE49-F238E27FC236}">
                <a16:creationId xmlns:a16="http://schemas.microsoft.com/office/drawing/2014/main" id="{038B5016-CBD6-2716-DCE9-D70CF8660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733800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每个波段是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25 MHz.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如果将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25 MHz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按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30 kHz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划分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可以得到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833.33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实际上，波段划分为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832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通道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在这些通道中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, 42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个通道用于控制，意味着只有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790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个通道可用于移动电话用户。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37900" name="Rectangle 11">
            <a:extLst>
              <a:ext uri="{FF2B5EF4-FFF2-40B4-BE49-F238E27FC236}">
                <a16:creationId xmlns:a16="http://schemas.microsoft.com/office/drawing/2014/main" id="{C1A16319-6FD4-AE5C-83FD-3B48587BA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69C4E38F-1B46-FB9E-2666-8C996666C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6452DE43-5DC2-4035-8C2B-DE6BBDE2352B}" type="slidenum">
              <a:rPr lang="en-US" altLang="zh-CN" sz="200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D108674-5E9A-523C-38CA-BFDA33FC8B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860ABCB-7FA5-19FC-C5F3-38BD9A73C8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163B1DC5-D49F-A3D1-9DD6-66109BA26D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7B03ABE1-904F-5DF7-71E0-4DD747E00F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D1A10598-F7C0-8FE6-4FA2-62C78E7B54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A51BA18F-92DA-0FD8-8366-486970E6E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Rectangle 8">
            <a:extLst>
              <a:ext uri="{FF2B5EF4-FFF2-40B4-BE49-F238E27FC236}">
                <a16:creationId xmlns:a16="http://schemas.microsoft.com/office/drawing/2014/main" id="{15B15D0B-CA58-6EDE-3314-6B7EC1D52C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6" name="Line 9">
            <a:extLst>
              <a:ext uri="{FF2B5EF4-FFF2-40B4-BE49-F238E27FC236}">
                <a16:creationId xmlns:a16="http://schemas.microsoft.com/office/drawing/2014/main" id="{6E62F230-78B1-0C9F-4D57-B18FE0BAD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7" name="Line 10">
            <a:extLst>
              <a:ext uri="{FF2B5EF4-FFF2-40B4-BE49-F238E27FC236}">
                <a16:creationId xmlns:a16="http://schemas.microsoft.com/office/drawing/2014/main" id="{D008026B-28F7-90D2-E161-903BE5B50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71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0A248F2A-A0A4-49AB-99A7-AABC1F866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63875"/>
            <a:ext cx="8077200" cy="2554288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Arial" charset="0"/>
                <a:ea typeface="宋体" pitchFamily="2" charset="-122"/>
              </a:rPr>
              <a:t>FDM </a:t>
            </a:r>
            <a:r>
              <a:rPr lang="zh-CN" altLang="en-US" dirty="0">
                <a:latin typeface="Arial" charset="0"/>
                <a:ea typeface="宋体" pitchFamily="2" charset="-122"/>
              </a:rPr>
              <a:t>的其他应用：</a:t>
            </a:r>
            <a:endParaRPr lang="en-US" altLang="zh-CN" dirty="0">
              <a:latin typeface="Arial" charset="0"/>
              <a:ea typeface="宋体" pitchFamily="2" charset="-122"/>
            </a:endParaRPr>
          </a:p>
          <a:p>
            <a:pPr marL="514350" indent="-514350">
              <a:buFontTx/>
              <a:buAutoNum type="arabicPeriod"/>
              <a:defRPr/>
            </a:pPr>
            <a:r>
              <a:rPr lang="en-US" altLang="zh-CN" dirty="0">
                <a:latin typeface="Arial" charset="0"/>
                <a:ea typeface="宋体" pitchFamily="2" charset="-122"/>
              </a:rPr>
              <a:t>AM</a:t>
            </a:r>
            <a:r>
              <a:rPr lang="zh-CN" altLang="en-US" dirty="0">
                <a:latin typeface="Arial" charset="0"/>
                <a:ea typeface="宋体" pitchFamily="2" charset="-122"/>
              </a:rPr>
              <a:t>；</a:t>
            </a:r>
            <a:endParaRPr lang="en-US" altLang="zh-CN" dirty="0">
              <a:latin typeface="Arial" charset="0"/>
              <a:ea typeface="宋体" pitchFamily="2" charset="-122"/>
            </a:endParaRPr>
          </a:p>
          <a:p>
            <a:pPr marL="514350" indent="-514350">
              <a:buFontTx/>
              <a:buAutoNum type="arabicPeriod"/>
              <a:defRPr/>
            </a:pPr>
            <a:r>
              <a:rPr lang="en-US" altLang="zh-CN" dirty="0">
                <a:latin typeface="Arial" charset="0"/>
                <a:ea typeface="宋体" pitchFamily="2" charset="-122"/>
              </a:rPr>
              <a:t>FM</a:t>
            </a:r>
          </a:p>
          <a:p>
            <a:pPr marL="514350" indent="-514350">
              <a:buFontTx/>
              <a:buAutoNum type="arabicPeriod"/>
              <a:defRPr/>
            </a:pPr>
            <a:r>
              <a:rPr lang="en-US" altLang="zh-CN" dirty="0">
                <a:latin typeface="Arial" charset="0"/>
                <a:ea typeface="宋体" pitchFamily="2" charset="-122"/>
              </a:rPr>
              <a:t>TV</a:t>
            </a:r>
          </a:p>
          <a:p>
            <a:pPr marL="514350" indent="-514350">
              <a:buFontTx/>
              <a:buAutoNum type="arabicPeriod"/>
              <a:defRPr/>
            </a:pPr>
            <a:r>
              <a:rPr lang="en-US" altLang="zh-CN" dirty="0">
                <a:latin typeface="Arial" charset="0"/>
                <a:ea typeface="宋体" pitchFamily="2" charset="-122"/>
              </a:rPr>
              <a:t>1</a:t>
            </a:r>
            <a:r>
              <a:rPr lang="en-US" altLang="zh-CN" baseline="30000" dirty="0">
                <a:latin typeface="Arial" charset="0"/>
                <a:ea typeface="宋体" pitchFamily="2" charset="-122"/>
              </a:rPr>
              <a:t>st</a:t>
            </a:r>
            <a:r>
              <a:rPr lang="en-US" altLang="zh-CN" dirty="0">
                <a:latin typeface="Arial" charset="0"/>
                <a:ea typeface="宋体" pitchFamily="2" charset="-122"/>
              </a:rPr>
              <a:t> generation GSM</a:t>
            </a:r>
          </a:p>
        </p:txBody>
      </p:sp>
      <p:grpSp>
        <p:nvGrpSpPr>
          <p:cNvPr id="39949" name="Group 12">
            <a:extLst>
              <a:ext uri="{FF2B5EF4-FFF2-40B4-BE49-F238E27FC236}">
                <a16:creationId xmlns:a16="http://schemas.microsoft.com/office/drawing/2014/main" id="{448AA058-63D8-46B3-232E-F24A32B51C8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52663"/>
            <a:ext cx="1143000" cy="566737"/>
            <a:chOff x="1200" y="1248"/>
            <a:chExt cx="720" cy="357"/>
          </a:xfrm>
        </p:grpSpPr>
        <p:pic>
          <p:nvPicPr>
            <p:cNvPr id="39950" name="Picture 13">
              <a:extLst>
                <a:ext uri="{FF2B5EF4-FFF2-40B4-BE49-F238E27FC236}">
                  <a16:creationId xmlns:a16="http://schemas.microsoft.com/office/drawing/2014/main" id="{8A2856B4-3221-581F-9969-119F349C4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51" name="Text Box 14">
              <a:extLst>
                <a:ext uri="{FF2B5EF4-FFF2-40B4-BE49-F238E27FC236}">
                  <a16:creationId xmlns:a16="http://schemas.microsoft.com/office/drawing/2014/main" id="{8A7FDD59-4159-D880-18CD-E5957A84C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0E223697-9B8E-5ABB-2158-E369067598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8B99D529-DD64-4E4D-AFD0-698CC6B11A34}" type="slidenum">
              <a:rPr lang="en-US" altLang="zh-CN" sz="200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1987" name="Line 2">
            <a:extLst>
              <a:ext uri="{FF2B5EF4-FFF2-40B4-BE49-F238E27FC236}">
                <a16:creationId xmlns:a16="http://schemas.microsoft.com/office/drawing/2014/main" id="{204820D3-0C07-13CD-D4C5-A2AEAFE30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" name="Line 3">
            <a:extLst>
              <a:ext uri="{FF2B5EF4-FFF2-40B4-BE49-F238E27FC236}">
                <a16:creationId xmlns:a16="http://schemas.microsoft.com/office/drawing/2014/main" id="{97D65B98-9284-42E9-34AA-A3C921CD8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6E3595F0-5FDD-6646-5B23-69BC8A475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75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6.10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波分多路复用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90" name="Line 5">
            <a:extLst>
              <a:ext uri="{FF2B5EF4-FFF2-40B4-BE49-F238E27FC236}">
                <a16:creationId xmlns:a16="http://schemas.microsoft.com/office/drawing/2014/main" id="{BF32ED7B-C0AD-87CD-2132-AF9C3115E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991" name="Picture 6">
            <a:extLst>
              <a:ext uri="{FF2B5EF4-FFF2-40B4-BE49-F238E27FC236}">
                <a16:creationId xmlns:a16="http://schemas.microsoft.com/office/drawing/2014/main" id="{4BCC39CE-FC99-AF04-85FB-E7202D377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1447800"/>
            <a:ext cx="801687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CC4A5C7F-1356-473A-AF3D-B77B59496C89}"/>
              </a:ext>
            </a:extLst>
          </p:cNvPr>
          <p:cNvSpPr/>
          <p:nvPr/>
        </p:nvSpPr>
        <p:spPr bwMode="auto">
          <a:xfrm>
            <a:off x="4648200" y="192088"/>
            <a:ext cx="41910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波分多路复用</a:t>
            </a:r>
            <a:r>
              <a:rPr lang="en-US" altLang="zh-CN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(WDM)</a:t>
            </a:r>
            <a:endParaRPr lang="zh-CN" altLang="en-US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A1BF34-132F-46A0-AC61-D2B29B430435}"/>
              </a:ext>
            </a:extLst>
          </p:cNvPr>
          <p:cNvSpPr/>
          <p:nvPr/>
        </p:nvSpPr>
        <p:spPr bwMode="auto">
          <a:xfrm>
            <a:off x="1066800" y="4191000"/>
            <a:ext cx="6781800" cy="16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用于具有高数据速率传输能力的光缆</a:t>
            </a:r>
            <a:endParaRPr lang="en-US" altLang="zh-CN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WDM</a:t>
            </a: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在概念上与</a:t>
            </a:r>
            <a:r>
              <a:rPr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FDM</a:t>
            </a: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相同，其原理也一样</a:t>
            </a:r>
            <a:endParaRPr lang="en-US" altLang="zh-CN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差别是这些频率非常高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A5746C92-3AFE-4EAE-B191-C5C6E52C0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2E2305ED-C976-49B0-952C-0BAEEAB1A4C5}" type="slidenum">
              <a:rPr lang="en-US" altLang="zh-CN" sz="200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68A0E6C-A527-5024-AC76-535D89E500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67BDACF-3CA8-76FD-4F42-03974F2601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E127E988-BD84-80C1-20F8-94BF309B89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id="{9AAE0ADF-AE63-BFC6-3580-8F1F07DE96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B2DB40E6-10AE-3B8B-58FC-A9C1632B6DE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97441447-D71E-0FFC-2732-47DD2D7194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C4E1222E-758D-0772-4160-B49E788EAC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2" name="Line 9">
            <a:extLst>
              <a:ext uri="{FF2B5EF4-FFF2-40B4-BE49-F238E27FC236}">
                <a16:creationId xmlns:a16="http://schemas.microsoft.com/office/drawing/2014/main" id="{2515DF26-B2BC-FA17-1210-CE5650FEC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3" name="Line 10">
            <a:extLst>
              <a:ext uri="{FF2B5EF4-FFF2-40B4-BE49-F238E27FC236}">
                <a16:creationId xmlns:a16="http://schemas.microsoft.com/office/drawing/2014/main" id="{70CEE2E9-A723-DAB0-2E3D-FE8BB4A04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191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4" name="Rectangle 11">
            <a:extLst>
              <a:ext uri="{FF2B5EF4-FFF2-40B4-BE49-F238E27FC236}">
                <a16:creationId xmlns:a16="http://schemas.microsoft.com/office/drawing/2014/main" id="{2270FF34-A24E-CBE6-9D4B-C166165EC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WDM</a:t>
            </a:r>
            <a:r>
              <a:rPr lang="zh-CN" altLang="en-US">
                <a:ea typeface="宋体" panose="02010600030101010101" pitchFamily="2" charset="-122"/>
              </a:rPr>
              <a:t>是合并多个光信号的模拟多路复用技术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4045" name="Group 12">
            <a:extLst>
              <a:ext uri="{FF2B5EF4-FFF2-40B4-BE49-F238E27FC236}">
                <a16:creationId xmlns:a16="http://schemas.microsoft.com/office/drawing/2014/main" id="{4CCC9283-CEDB-47A2-75FE-805AB68CD6E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52663"/>
            <a:ext cx="1143000" cy="566737"/>
            <a:chOff x="1200" y="1248"/>
            <a:chExt cx="720" cy="357"/>
          </a:xfrm>
        </p:grpSpPr>
        <p:pic>
          <p:nvPicPr>
            <p:cNvPr id="44046" name="Picture 13">
              <a:extLst>
                <a:ext uri="{FF2B5EF4-FFF2-40B4-BE49-F238E27FC236}">
                  <a16:creationId xmlns:a16="http://schemas.microsoft.com/office/drawing/2014/main" id="{655A96E4-580D-98BB-DCC2-37EFE05F6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7" name="Text Box 14">
              <a:extLst>
                <a:ext uri="{FF2B5EF4-FFF2-40B4-BE49-F238E27FC236}">
                  <a16:creationId xmlns:a16="http://schemas.microsoft.com/office/drawing/2014/main" id="{27A92E1E-727A-B84C-EAF9-FD7057776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C21A9030-2B9A-749E-FB8D-1CE282370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329B76A5-E03A-4C6A-A0C8-2532E10C927A}" type="slidenum">
              <a:rPr lang="en-US" altLang="zh-CN" sz="200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6083" name="Line 2">
            <a:extLst>
              <a:ext uri="{FF2B5EF4-FFF2-40B4-BE49-F238E27FC236}">
                <a16:creationId xmlns:a16="http://schemas.microsoft.com/office/drawing/2014/main" id="{CBE9CCE2-36A3-16D4-6455-CEADB1607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Line 3">
            <a:extLst>
              <a:ext uri="{FF2B5EF4-FFF2-40B4-BE49-F238E27FC236}">
                <a16:creationId xmlns:a16="http://schemas.microsoft.com/office/drawing/2014/main" id="{EB85F9D9-9E68-A3D6-1FC3-A5EA0F0BA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BE01C8F0-E8AC-6CF5-602C-72D3CC683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0"/>
            <a:ext cx="6632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Prisms(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棱镜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在波分复用中的复用和分离器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6" name="Line 5">
            <a:extLst>
              <a:ext uri="{FF2B5EF4-FFF2-40B4-BE49-F238E27FC236}">
                <a16:creationId xmlns:a16="http://schemas.microsoft.com/office/drawing/2014/main" id="{1AEA9468-A694-27F0-9D6E-CE0391F98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6087" name="Picture 6">
            <a:extLst>
              <a:ext uri="{FF2B5EF4-FFF2-40B4-BE49-F238E27FC236}">
                <a16:creationId xmlns:a16="http://schemas.microsoft.com/office/drawing/2014/main" id="{EBB30FE1-1762-8672-11AF-3B8A3D205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40105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AEDFAFA2-4B97-4C91-92A6-D0974B69FE1F}"/>
              </a:ext>
            </a:extLst>
          </p:cNvPr>
          <p:cNvSpPr/>
          <p:nvPr/>
        </p:nvSpPr>
        <p:spPr bwMode="auto">
          <a:xfrm>
            <a:off x="1066800" y="4191000"/>
            <a:ext cx="6781800" cy="16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在复用器上将多个光源组成单一光信号</a:t>
            </a:r>
            <a:endParaRPr lang="en-US" altLang="zh-CN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在分离器上做相反的处理</a:t>
            </a:r>
            <a:endParaRPr lang="en-US" altLang="zh-CN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光源组合与分离由棱镜完成。</a:t>
            </a:r>
            <a:endParaRPr lang="en-US" altLang="zh-CN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WDM</a:t>
            </a: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的一种应用是同步光纤网络</a:t>
            </a:r>
            <a:r>
              <a:rPr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(SONET)</a:t>
            </a:r>
            <a:endParaRPr lang="zh-CN" altLang="en-US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1">
            <a:extLst>
              <a:ext uri="{FF2B5EF4-FFF2-40B4-BE49-F238E27FC236}">
                <a16:creationId xmlns:a16="http://schemas.microsoft.com/office/drawing/2014/main" id="{8A92A5CA-9F5C-587B-4106-B4512D765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A3C2B10C-009D-4697-BB9C-02BC6BD6776F}" type="slidenum">
              <a:rPr lang="en-US" altLang="zh-CN" sz="200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8131" name="Line 2">
            <a:extLst>
              <a:ext uri="{FF2B5EF4-FFF2-40B4-BE49-F238E27FC236}">
                <a16:creationId xmlns:a16="http://schemas.microsoft.com/office/drawing/2014/main" id="{2FB7EB1C-969D-9A9B-B702-6F9C91D574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Line 3">
            <a:extLst>
              <a:ext uri="{FF2B5EF4-FFF2-40B4-BE49-F238E27FC236}">
                <a16:creationId xmlns:a16="http://schemas.microsoft.com/office/drawing/2014/main" id="{79DE40D3-5AF6-989A-CFD5-68D38DC91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B68C0C42-28F6-F208-5F68-5C99EE430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37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TDM</a:t>
            </a:r>
          </a:p>
        </p:txBody>
      </p:sp>
      <p:sp>
        <p:nvSpPr>
          <p:cNvPr id="48134" name="Line 5">
            <a:extLst>
              <a:ext uri="{FF2B5EF4-FFF2-40B4-BE49-F238E27FC236}">
                <a16:creationId xmlns:a16="http://schemas.microsoft.com/office/drawing/2014/main" id="{CD6067FE-BB82-159F-BCCB-D72B6454A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8135" name="Picture 6">
            <a:extLst>
              <a:ext uri="{FF2B5EF4-FFF2-40B4-BE49-F238E27FC236}">
                <a16:creationId xmlns:a16="http://schemas.microsoft.com/office/drawing/2014/main" id="{5CB44926-2EAF-6CDA-71E3-C7A45BDD3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447800"/>
            <a:ext cx="7980362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93AF9139-3541-468F-AE30-3D3F05EA1CCB}"/>
              </a:ext>
            </a:extLst>
          </p:cNvPr>
          <p:cNvSpPr/>
          <p:nvPr/>
        </p:nvSpPr>
        <p:spPr bwMode="auto">
          <a:xfrm>
            <a:off x="838200" y="4572000"/>
            <a:ext cx="7467600" cy="16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TDM</a:t>
            </a:r>
            <a:r>
              <a:rPr lang="zh-CN" altLang="en-US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是一个数字化的过程，它允许多个连接共享一条高宽链路</a:t>
            </a:r>
            <a:endParaRPr lang="en-US" altLang="zh-CN" sz="20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TDM</a:t>
            </a:r>
            <a:r>
              <a:rPr lang="zh-CN" altLang="en-US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在时间上共享，每个连接占用链路的一个时间片段。</a:t>
            </a:r>
            <a:endParaRPr lang="en-US" altLang="zh-CN" sz="20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TDM</a:t>
            </a:r>
            <a:r>
              <a:rPr lang="zh-CN" altLang="en-US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将不同源端的数字数据合并到一个时间共享的链路上。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1">
            <a:extLst>
              <a:ext uri="{FF2B5EF4-FFF2-40B4-BE49-F238E27FC236}">
                <a16:creationId xmlns:a16="http://schemas.microsoft.com/office/drawing/2014/main" id="{B5B226BB-128A-8D00-19D7-336758C4B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0D8F879D-9A67-4B5E-93CA-6B87051014C1}" type="slidenum">
              <a:rPr lang="en-US" altLang="zh-CN" sz="200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204CD28-F1D2-ED39-0486-8B3E6F4CEB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BE0F981-2AE3-FEEC-8ED7-ED2CA2960D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60F14A8E-7EB3-EE70-34C7-0110A085E2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2" name="Rectangle 5">
            <a:extLst>
              <a:ext uri="{FF2B5EF4-FFF2-40B4-BE49-F238E27FC236}">
                <a16:creationId xmlns:a16="http://schemas.microsoft.com/office/drawing/2014/main" id="{ADBD45B0-1CA6-6531-B779-50F910A4B7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3" name="Rectangle 6">
            <a:extLst>
              <a:ext uri="{FF2B5EF4-FFF2-40B4-BE49-F238E27FC236}">
                <a16:creationId xmlns:a16="http://schemas.microsoft.com/office/drawing/2014/main" id="{E1414C94-61CD-BC59-C689-8859815EA6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4" name="Rectangle 7">
            <a:extLst>
              <a:ext uri="{FF2B5EF4-FFF2-40B4-BE49-F238E27FC236}">
                <a16:creationId xmlns:a16="http://schemas.microsoft.com/office/drawing/2014/main" id="{476CC829-3450-EB54-9A34-B65D8F1C3F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5" name="Rectangle 8">
            <a:extLst>
              <a:ext uri="{FF2B5EF4-FFF2-40B4-BE49-F238E27FC236}">
                <a16:creationId xmlns:a16="http://schemas.microsoft.com/office/drawing/2014/main" id="{4A52383D-175C-9F72-FF81-1A35192A9B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6" name="Line 9">
            <a:extLst>
              <a:ext uri="{FF2B5EF4-FFF2-40B4-BE49-F238E27FC236}">
                <a16:creationId xmlns:a16="http://schemas.microsoft.com/office/drawing/2014/main" id="{66BF856E-12B0-3B30-9BDF-821DBC21D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479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7" name="Line 10">
            <a:extLst>
              <a:ext uri="{FF2B5EF4-FFF2-40B4-BE49-F238E27FC236}">
                <a16:creationId xmlns:a16="http://schemas.microsoft.com/office/drawing/2014/main" id="{C1646955-4762-BA89-E1CD-C34994054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7577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Rectangle 11">
            <a:extLst>
              <a:ext uri="{FF2B5EF4-FFF2-40B4-BE49-F238E27FC236}">
                <a16:creationId xmlns:a16="http://schemas.microsoft.com/office/drawing/2014/main" id="{61AB7FCD-1BBD-ED84-39BF-E1EDEF90B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640013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TDM</a:t>
            </a:r>
            <a:r>
              <a:rPr lang="zh-CN" altLang="en-US">
                <a:ea typeface="宋体" panose="02010600030101010101" pitchFamily="2" charset="-122"/>
              </a:rPr>
              <a:t>是组合多个低速的通道为一个高速通道数据的复用技术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50189" name="Group 12">
            <a:extLst>
              <a:ext uri="{FF2B5EF4-FFF2-40B4-BE49-F238E27FC236}">
                <a16:creationId xmlns:a16="http://schemas.microsoft.com/office/drawing/2014/main" id="{B1DC2A53-7EEE-0101-C67C-CEA9DBEEFB0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05000"/>
            <a:ext cx="1143000" cy="566738"/>
            <a:chOff x="1200" y="1248"/>
            <a:chExt cx="720" cy="357"/>
          </a:xfrm>
        </p:grpSpPr>
        <p:pic>
          <p:nvPicPr>
            <p:cNvPr id="50191" name="Picture 13">
              <a:extLst>
                <a:ext uri="{FF2B5EF4-FFF2-40B4-BE49-F238E27FC236}">
                  <a16:creationId xmlns:a16="http://schemas.microsoft.com/office/drawing/2014/main" id="{3D2678B5-F942-37E3-6DC2-0BC8A9A04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92" name="Text Box 14">
              <a:extLst>
                <a:ext uri="{FF2B5EF4-FFF2-40B4-BE49-F238E27FC236}">
                  <a16:creationId xmlns:a16="http://schemas.microsoft.com/office/drawing/2014/main" id="{EF813C95-0F34-A072-D24A-8448A3DE2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F668F67-37B9-42AE-9F30-049F019BFD89}"/>
              </a:ext>
            </a:extLst>
          </p:cNvPr>
          <p:cNvSpPr/>
          <p:nvPr/>
        </p:nvSpPr>
        <p:spPr bwMode="auto">
          <a:xfrm>
            <a:off x="4648200" y="192088"/>
            <a:ext cx="41910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时分多路复用</a:t>
            </a:r>
            <a:r>
              <a:rPr lang="en-US" altLang="zh-CN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(TDM)</a:t>
            </a:r>
            <a:endParaRPr lang="zh-CN" altLang="en-US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1">
            <a:extLst>
              <a:ext uri="{FF2B5EF4-FFF2-40B4-BE49-F238E27FC236}">
                <a16:creationId xmlns:a16="http://schemas.microsoft.com/office/drawing/2014/main" id="{6C905B76-FA45-4CA1-EFEC-326513FDF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E81E1932-55F3-4A25-8399-2FF45AAC5236}" type="slidenum">
              <a:rPr lang="en-US" altLang="zh-CN" sz="200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2227" name="Line 2">
            <a:extLst>
              <a:ext uri="{FF2B5EF4-FFF2-40B4-BE49-F238E27FC236}">
                <a16:creationId xmlns:a16="http://schemas.microsoft.com/office/drawing/2014/main" id="{C49D4764-3AEF-F373-DDA6-9B93FE43C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Line 3">
            <a:extLst>
              <a:ext uri="{FF2B5EF4-FFF2-40B4-BE49-F238E27FC236}">
                <a16:creationId xmlns:a16="http://schemas.microsoft.com/office/drawing/2014/main" id="{304F1802-5315-8EF1-E649-8A20512E38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id="{E05CBA7D-92ED-3907-0AB8-876668C46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085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6.13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同步时分复用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Synchronous time-division multiplexing)</a:t>
            </a:r>
          </a:p>
        </p:txBody>
      </p:sp>
      <p:sp>
        <p:nvSpPr>
          <p:cNvPr id="52230" name="Line 5">
            <a:extLst>
              <a:ext uri="{FF2B5EF4-FFF2-40B4-BE49-F238E27FC236}">
                <a16:creationId xmlns:a16="http://schemas.microsoft.com/office/drawing/2014/main" id="{A2A2B352-DCBB-C57B-0A9B-52A68FF3B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2231" name="Picture 6">
            <a:extLst>
              <a:ext uri="{FF2B5EF4-FFF2-40B4-BE49-F238E27FC236}">
                <a16:creationId xmlns:a16="http://schemas.microsoft.com/office/drawing/2014/main" id="{77BE9CBD-B616-5A45-33E1-C51114FA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153400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06D36623-5B58-48CE-8DE5-BB8C6D8C6987}"/>
              </a:ext>
            </a:extLst>
          </p:cNvPr>
          <p:cNvSpPr/>
          <p:nvPr/>
        </p:nvSpPr>
        <p:spPr bwMode="auto">
          <a:xfrm>
            <a:off x="838200" y="4648200"/>
            <a:ext cx="7467600" cy="16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每个输入连接的数据流被划分为多个单元，每个输入占用一个输入时隙。</a:t>
            </a:r>
            <a:endParaRPr lang="en-US" altLang="zh-CN" sz="20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一个单元可以是一位，一个字符或一个数据块</a:t>
            </a:r>
            <a:endParaRPr lang="en-US" altLang="zh-CN" sz="20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每个输入单元成为一个输出单元，占用一个输出时隙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1">
            <a:extLst>
              <a:ext uri="{FF2B5EF4-FFF2-40B4-BE49-F238E27FC236}">
                <a16:creationId xmlns:a16="http://schemas.microsoft.com/office/drawing/2014/main" id="{09F49A21-7D3F-E5FC-B86E-4C9D0D377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A0754F06-9243-4CEA-9BC7-AAB4DD04BA76}" type="slidenum">
              <a:rPr lang="en-US" altLang="zh-CN" sz="200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141C7F1-DE66-4EF6-A49E-ADF6439603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D9FACD5-3046-1AB1-F205-BA69E50A632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23AC7128-DDB8-EB80-DE13-440F44D116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8" name="Rectangle 5">
            <a:extLst>
              <a:ext uri="{FF2B5EF4-FFF2-40B4-BE49-F238E27FC236}">
                <a16:creationId xmlns:a16="http://schemas.microsoft.com/office/drawing/2014/main" id="{80B4D120-EF4A-41CC-6D44-C531003CA6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9" name="Rectangle 6">
            <a:extLst>
              <a:ext uri="{FF2B5EF4-FFF2-40B4-BE49-F238E27FC236}">
                <a16:creationId xmlns:a16="http://schemas.microsoft.com/office/drawing/2014/main" id="{60345147-DA87-102A-09F1-D51AFAED75E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0" name="Rectangle 7">
            <a:extLst>
              <a:ext uri="{FF2B5EF4-FFF2-40B4-BE49-F238E27FC236}">
                <a16:creationId xmlns:a16="http://schemas.microsoft.com/office/drawing/2014/main" id="{180EC838-903D-D90E-9655-EE65AC7C5F5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1" name="Rectangle 8">
            <a:extLst>
              <a:ext uri="{FF2B5EF4-FFF2-40B4-BE49-F238E27FC236}">
                <a16:creationId xmlns:a16="http://schemas.microsoft.com/office/drawing/2014/main" id="{DEAC0C39-958D-7552-01DB-C4FEE77EE5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2" name="Line 9">
            <a:extLst>
              <a:ext uri="{FF2B5EF4-FFF2-40B4-BE49-F238E27FC236}">
                <a16:creationId xmlns:a16="http://schemas.microsoft.com/office/drawing/2014/main" id="{C7654BCC-AB84-8BFE-F6CD-1B42BA992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743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3" name="Line 10">
            <a:extLst>
              <a:ext uri="{FF2B5EF4-FFF2-40B4-BE49-F238E27FC236}">
                <a16:creationId xmlns:a16="http://schemas.microsoft.com/office/drawing/2014/main" id="{A3A4AD4A-D0C0-E587-9C17-89559ACF4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95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4" name="Rectangle 11">
            <a:extLst>
              <a:ext uri="{FF2B5EF4-FFF2-40B4-BE49-F238E27FC236}">
                <a16:creationId xmlns:a16="http://schemas.microsoft.com/office/drawing/2014/main" id="{65614160-B94B-41A5-A0B0-55502C3BC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36888"/>
            <a:ext cx="8077200" cy="1077912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在同步</a:t>
            </a:r>
            <a:r>
              <a:rPr lang="en-US" altLang="zh-CN">
                <a:ea typeface="宋体" panose="02010600030101010101" pitchFamily="2" charset="-122"/>
              </a:rPr>
              <a:t>TDM</a:t>
            </a:r>
            <a:r>
              <a:rPr lang="zh-CN" altLang="en-US">
                <a:ea typeface="宋体" panose="02010600030101010101" pitchFamily="2" charset="-122"/>
              </a:rPr>
              <a:t>中</a:t>
            </a:r>
            <a:r>
              <a:rPr lang="en-US" altLang="zh-CN">
                <a:ea typeface="宋体" panose="02010600030101010101" pitchFamily="2" charset="-122"/>
              </a:rPr>
              <a:t>,  </a:t>
            </a:r>
            <a:r>
              <a:rPr lang="zh-CN" altLang="en-US">
                <a:ea typeface="宋体" panose="02010600030101010101" pitchFamily="2" charset="-122"/>
              </a:rPr>
              <a:t>链路速率是数据速率的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倍，并且比单元持续时间短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倍</a:t>
            </a:r>
            <a:r>
              <a:rPr lang="en-US" altLang="zh-CN">
                <a:ea typeface="宋体" panose="02010600030101010101" pitchFamily="2" charset="-122"/>
              </a:rPr>
              <a:t> .</a:t>
            </a:r>
          </a:p>
        </p:txBody>
      </p:sp>
      <p:grpSp>
        <p:nvGrpSpPr>
          <p:cNvPr id="54285" name="Group 12">
            <a:extLst>
              <a:ext uri="{FF2B5EF4-FFF2-40B4-BE49-F238E27FC236}">
                <a16:creationId xmlns:a16="http://schemas.microsoft.com/office/drawing/2014/main" id="{3E23CBBC-6827-1472-D4F5-B74D774D074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57400"/>
            <a:ext cx="1143000" cy="566738"/>
            <a:chOff x="1200" y="1248"/>
            <a:chExt cx="720" cy="357"/>
          </a:xfrm>
        </p:grpSpPr>
        <p:pic>
          <p:nvPicPr>
            <p:cNvPr id="54286" name="Picture 13">
              <a:extLst>
                <a:ext uri="{FF2B5EF4-FFF2-40B4-BE49-F238E27FC236}">
                  <a16:creationId xmlns:a16="http://schemas.microsoft.com/office/drawing/2014/main" id="{1C6F22FC-9B34-82D2-A7D8-44D2CC799D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287" name="Text Box 14">
              <a:extLst>
                <a:ext uri="{FF2B5EF4-FFF2-40B4-BE49-F238E27FC236}">
                  <a16:creationId xmlns:a16="http://schemas.microsoft.com/office/drawing/2014/main" id="{590EA15C-CFF9-8FBF-6160-950653F76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1">
            <a:extLst>
              <a:ext uri="{FF2B5EF4-FFF2-40B4-BE49-F238E27FC236}">
                <a16:creationId xmlns:a16="http://schemas.microsoft.com/office/drawing/2014/main" id="{5A461B7C-CD0D-9BD9-2CA8-4506AF3F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464B40A6-FB1D-4AC3-8423-03C2218C59FF}" type="slidenum">
              <a:rPr lang="en-US" altLang="zh-CN" sz="200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765B1CDC-6119-9874-7638-D02EA8F213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4527D4B5-A6B0-B8B4-9106-833E8DC357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5" name="Rectangle 4">
            <a:extLst>
              <a:ext uri="{FF2B5EF4-FFF2-40B4-BE49-F238E27FC236}">
                <a16:creationId xmlns:a16="http://schemas.microsoft.com/office/drawing/2014/main" id="{EC6D40C8-92FE-A709-8DA6-6B78DE8BC2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6" name="Rectangle 5">
            <a:extLst>
              <a:ext uri="{FF2B5EF4-FFF2-40B4-BE49-F238E27FC236}">
                <a16:creationId xmlns:a16="http://schemas.microsoft.com/office/drawing/2014/main" id="{4C53E2F9-1670-F942-D4F6-0DF64068A8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7" name="Rectangle 6">
            <a:extLst>
              <a:ext uri="{FF2B5EF4-FFF2-40B4-BE49-F238E27FC236}">
                <a16:creationId xmlns:a16="http://schemas.microsoft.com/office/drawing/2014/main" id="{A57B40D4-82D9-4419-A8D6-B836CAA365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8" name="Rectangle 7">
            <a:extLst>
              <a:ext uri="{FF2B5EF4-FFF2-40B4-BE49-F238E27FC236}">
                <a16:creationId xmlns:a16="http://schemas.microsoft.com/office/drawing/2014/main" id="{A0C61652-840B-EE92-B580-9EA9A4C608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9" name="Rectangle 8">
            <a:extLst>
              <a:ext uri="{FF2B5EF4-FFF2-40B4-BE49-F238E27FC236}">
                <a16:creationId xmlns:a16="http://schemas.microsoft.com/office/drawing/2014/main" id="{E6E79F68-26A5-DBCE-9DF9-80A1B853EC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30" name="Rectangle 10">
            <a:extLst>
              <a:ext uri="{FF2B5EF4-FFF2-40B4-BE49-F238E27FC236}">
                <a16:creationId xmlns:a16="http://schemas.microsoft.com/office/drawing/2014/main" id="{1F737605-A095-D61C-ED61-B474BFF1A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017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在图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6.13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每个输入连接的数据速率是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33 kbps.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一个单元为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位，试确定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: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每个输入单元的时隙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每个输出单元的时隙 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每个帧的时隙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56331" name="Rectangle 11">
            <a:extLst>
              <a:ext uri="{FF2B5EF4-FFF2-40B4-BE49-F238E27FC236}">
                <a16:creationId xmlns:a16="http://schemas.microsoft.com/office/drawing/2014/main" id="{4B8688DF-9DE1-B9CF-33F0-F492A0B9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0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这些问题回答如下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: 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每个输入连接的数据速率是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1 kbps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，这就是说位持续时间是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1/1000 s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 ms. 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输入时隙的持续时间是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 ms (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与位持续时间相同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).</a:t>
            </a:r>
          </a:p>
        </p:txBody>
      </p:sp>
      <p:sp>
        <p:nvSpPr>
          <p:cNvPr id="56332" name="Rectangle 12">
            <a:extLst>
              <a:ext uri="{FF2B5EF4-FFF2-40B4-BE49-F238E27FC236}">
                <a16:creationId xmlns:a16="http://schemas.microsoft.com/office/drawing/2014/main" id="{41E216BE-CE83-F4AF-F787-D83219B5E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6.5</a:t>
            </a:r>
          </a:p>
        </p:txBody>
      </p:sp>
      <p:sp>
        <p:nvSpPr>
          <p:cNvPr id="56333" name="Rectangle 10">
            <a:extLst>
              <a:ext uri="{FF2B5EF4-FFF2-40B4-BE49-F238E27FC236}">
                <a16:creationId xmlns:a16="http://schemas.microsoft.com/office/drawing/2014/main" id="{3B7A83EC-DB2F-EBA4-1DCA-B9A81AE6A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72000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每个输出时隙的持续时间是输入时隙的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1/3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，这说明输出时隙的持续时间是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1/3 ms.</a:t>
            </a:r>
          </a:p>
          <a:p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每个帧具有三个输出时隙，因此一个帧持续时间是 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3 × 1/3 ms,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 ms..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1">
            <a:extLst>
              <a:ext uri="{FF2B5EF4-FFF2-40B4-BE49-F238E27FC236}">
                <a16:creationId xmlns:a16="http://schemas.microsoft.com/office/drawing/2014/main" id="{F1538262-8C3C-1998-413E-208A32E4F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E50D9FC1-60C1-4E53-BE0E-8FC9D5523E8B}" type="slidenum">
              <a:rPr lang="en-US" altLang="zh-CN" sz="200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CD57652-7BB5-3ED4-BDF7-AC59B0AFDC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4A98E4CC-D482-B180-FC44-6BD3FDBB34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373" name="Rectangle 4">
            <a:extLst>
              <a:ext uri="{FF2B5EF4-FFF2-40B4-BE49-F238E27FC236}">
                <a16:creationId xmlns:a16="http://schemas.microsoft.com/office/drawing/2014/main" id="{A55A63CA-B85F-CB8D-909D-E4A90FBC62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374" name="Rectangle 5">
            <a:extLst>
              <a:ext uri="{FF2B5EF4-FFF2-40B4-BE49-F238E27FC236}">
                <a16:creationId xmlns:a16="http://schemas.microsoft.com/office/drawing/2014/main" id="{9BC75A3E-698D-90A1-9178-615175265D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375" name="Rectangle 6">
            <a:extLst>
              <a:ext uri="{FF2B5EF4-FFF2-40B4-BE49-F238E27FC236}">
                <a16:creationId xmlns:a16="http://schemas.microsoft.com/office/drawing/2014/main" id="{5561CDBD-7D02-E664-F541-B418B01E3A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376" name="Rectangle 7">
            <a:extLst>
              <a:ext uri="{FF2B5EF4-FFF2-40B4-BE49-F238E27FC236}">
                <a16:creationId xmlns:a16="http://schemas.microsoft.com/office/drawing/2014/main" id="{89F52E06-0AFC-C156-0904-93E7943FE6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377" name="Rectangle 8">
            <a:extLst>
              <a:ext uri="{FF2B5EF4-FFF2-40B4-BE49-F238E27FC236}">
                <a16:creationId xmlns:a16="http://schemas.microsoft.com/office/drawing/2014/main" id="{3800724C-2750-210E-EB99-CA63E0E01E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378" name="Rectangle 9">
            <a:extLst>
              <a:ext uri="{FF2B5EF4-FFF2-40B4-BE49-F238E27FC236}">
                <a16:creationId xmlns:a16="http://schemas.microsoft.com/office/drawing/2014/main" id="{E4666CEC-C1CC-6819-663F-AB71DDB63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95375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6.14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表示了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个输入数据流和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个输出数据流的同步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TDM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，数据单元是一位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试求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输入位的持续时间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输出为的持续时间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输出比特率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输出帧的速率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58379" name="Rectangle 11">
            <a:extLst>
              <a:ext uri="{FF2B5EF4-FFF2-40B4-BE49-F238E27FC236}">
                <a16:creationId xmlns:a16="http://schemas.microsoft.com/office/drawing/2014/main" id="{E24C7C54-9F55-A65F-6560-E43D58515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6.6</a:t>
            </a:r>
          </a:p>
        </p:txBody>
      </p:sp>
      <p:sp>
        <p:nvSpPr>
          <p:cNvPr id="58380" name="Line 2">
            <a:extLst>
              <a:ext uri="{FF2B5EF4-FFF2-40B4-BE49-F238E27FC236}">
                <a16:creationId xmlns:a16="http://schemas.microsoft.com/office/drawing/2014/main" id="{366BCA9A-2CE2-B31E-5A50-11D69F131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124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1" name="Line 3">
            <a:extLst>
              <a:ext uri="{FF2B5EF4-FFF2-40B4-BE49-F238E27FC236}">
                <a16:creationId xmlns:a16="http://schemas.microsoft.com/office/drawing/2014/main" id="{50043EFA-6184-C31C-E17A-4F6DE4E21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124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2" name="Text Box 4">
            <a:extLst>
              <a:ext uri="{FF2B5EF4-FFF2-40B4-BE49-F238E27FC236}">
                <a16:creationId xmlns:a16="http://schemas.microsoft.com/office/drawing/2014/main" id="{CC554D84-55D5-9491-1D08-270A258D5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486400"/>
            <a:ext cx="311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Example 6.6</a:t>
            </a:r>
          </a:p>
        </p:txBody>
      </p:sp>
      <p:sp>
        <p:nvSpPr>
          <p:cNvPr id="58383" name="Line 5">
            <a:extLst>
              <a:ext uri="{FF2B5EF4-FFF2-40B4-BE49-F238E27FC236}">
                <a16:creationId xmlns:a16="http://schemas.microsoft.com/office/drawing/2014/main" id="{06701010-3D6F-06EF-616C-DC695D58F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943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8384" name="Picture 6">
            <a:extLst>
              <a:ext uri="{FF2B5EF4-FFF2-40B4-BE49-F238E27FC236}">
                <a16:creationId xmlns:a16="http://schemas.microsoft.com/office/drawing/2014/main" id="{0473F81E-3783-6C6D-DA11-2BE4F97D5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200400"/>
            <a:ext cx="89027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1">
            <a:extLst>
              <a:ext uri="{FF2B5EF4-FFF2-40B4-BE49-F238E27FC236}">
                <a16:creationId xmlns:a16="http://schemas.microsoft.com/office/drawing/2014/main" id="{C8D90E8E-D7F0-6E4B-9914-A4AB2659F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39AACB45-C9BA-49FB-9572-3E5D20865E2F}" type="slidenum">
              <a:rPr lang="en-US" altLang="zh-CN" sz="200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6845A774-0DCC-C795-7CF6-B26CB68538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3D4207C-B30F-9F1A-BA3A-51ED1E698D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1" name="Rectangle 4">
            <a:extLst>
              <a:ext uri="{FF2B5EF4-FFF2-40B4-BE49-F238E27FC236}">
                <a16:creationId xmlns:a16="http://schemas.microsoft.com/office/drawing/2014/main" id="{108E01D9-2516-A316-B68E-ED33551666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2" name="Rectangle 5">
            <a:extLst>
              <a:ext uri="{FF2B5EF4-FFF2-40B4-BE49-F238E27FC236}">
                <a16:creationId xmlns:a16="http://schemas.microsoft.com/office/drawing/2014/main" id="{4F1067AA-96ED-C477-AB03-92E2197438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3" name="Rectangle 6">
            <a:extLst>
              <a:ext uri="{FF2B5EF4-FFF2-40B4-BE49-F238E27FC236}">
                <a16:creationId xmlns:a16="http://schemas.microsoft.com/office/drawing/2014/main" id="{44C833A2-6699-E647-7AE9-BD1E9FD796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4" name="Rectangle 7">
            <a:extLst>
              <a:ext uri="{FF2B5EF4-FFF2-40B4-BE49-F238E27FC236}">
                <a16:creationId xmlns:a16="http://schemas.microsoft.com/office/drawing/2014/main" id="{B798D62E-E118-7B09-F63A-420912A0C1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5" name="Rectangle 8">
            <a:extLst>
              <a:ext uri="{FF2B5EF4-FFF2-40B4-BE49-F238E27FC236}">
                <a16:creationId xmlns:a16="http://schemas.microsoft.com/office/drawing/2014/main" id="{4E678152-DF94-2324-7333-71E8C357E8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6" name="Rectangle 10">
            <a:extLst>
              <a:ext uri="{FF2B5EF4-FFF2-40B4-BE49-F238E27FC236}">
                <a16:creationId xmlns:a16="http://schemas.microsoft.com/office/drawing/2014/main" id="{AD1E0477-F304-ABC6-4FD0-5B106076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3521075"/>
            <a:ext cx="86868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输出比特率是输出位持续时间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1/(4μs)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的倒数，即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4 Mbps.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这也可从输出速率比输入速率快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4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倍这一事实推出，即输出速率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= 4 × 1 Mbps = 4 Mbps. </a:t>
            </a:r>
            <a:b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</a:b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d.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帧速率常与任一输入速率相同，因此帧速率是每秒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1,000,000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帧，因此我们发送没阵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4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位，所以我们可用复用证明前一结论，用每帧位的个数证明帧速率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0427" name="Rectangle 11">
            <a:extLst>
              <a:ext uri="{FF2B5EF4-FFF2-40B4-BE49-F238E27FC236}">
                <a16:creationId xmlns:a16="http://schemas.microsoft.com/office/drawing/2014/main" id="{C1C65806-AC4C-5C70-A8DD-DA371BD15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4849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6.6 (continued)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E260080-25E6-4DFA-BACF-B7BB4FDF7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96875"/>
            <a:ext cx="8686800" cy="3108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indent="-457200" algn="just">
              <a:defRPr/>
            </a:pPr>
            <a:r>
              <a:rPr lang="en-US" altLang="zh-CN" sz="2800" i="1" dirty="0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Solution</a:t>
            </a:r>
          </a:p>
          <a:p>
            <a:pPr marL="457200" indent="-457200" algn="just">
              <a:defRPr/>
            </a:pP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这些问题回答如下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:</a:t>
            </a:r>
          </a:p>
          <a:p>
            <a:pPr marL="514350" indent="-514350" algn="just">
              <a:buFontTx/>
              <a:buAutoNum type="alphaLcPeriod"/>
              <a:defRPr/>
            </a:pP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输入位的持续时间是速率的倒数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:</a:t>
            </a:r>
          </a:p>
          <a:p>
            <a:pPr algn="just">
              <a:defRPr/>
            </a:pP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     1/1 Mbps = 1 </a:t>
            </a:r>
            <a:r>
              <a:rPr lang="en-US" altLang="zh-CN" sz="2800" i="1" dirty="0" err="1">
                <a:latin typeface="Times" pitchFamily="18" charset="0"/>
                <a:ea typeface="宋体" pitchFamily="2" charset="-122"/>
              </a:rPr>
              <a:t>μs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.</a:t>
            </a:r>
          </a:p>
          <a:p>
            <a:pPr marL="457200" indent="-457200" algn="just">
              <a:buFontTx/>
              <a:buAutoNum type="alphaLcPeriod"/>
              <a:defRPr/>
            </a:pPr>
            <a:endParaRPr lang="en-US" altLang="zh-CN" sz="2800" i="1" dirty="0">
              <a:latin typeface="Times" pitchFamily="18" charset="0"/>
              <a:ea typeface="宋体" pitchFamily="2" charset="-122"/>
            </a:endParaRPr>
          </a:p>
          <a:p>
            <a:pPr marL="457200" indent="-457200" algn="just">
              <a:defRPr/>
            </a:pPr>
            <a:r>
              <a:rPr lang="en-US" altLang="zh-CN" sz="2800" i="1" dirty="0">
                <a:solidFill>
                  <a:schemeClr val="hlink"/>
                </a:solidFill>
                <a:latin typeface="Times" pitchFamily="18" charset="0"/>
                <a:ea typeface="宋体" pitchFamily="2" charset="-122"/>
              </a:rPr>
              <a:t>b.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输出位持续时间是输入位持续时间的四分之一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, </a:t>
            </a:r>
          </a:p>
          <a:p>
            <a:pPr marL="457200" indent="-457200" algn="just">
              <a:defRPr/>
            </a:pP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     即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¼ </a:t>
            </a:r>
            <a:r>
              <a:rPr lang="en-US" altLang="zh-CN" sz="2800" i="1" dirty="0" err="1">
                <a:latin typeface="Times" pitchFamily="18" charset="0"/>
                <a:ea typeface="宋体" pitchFamily="2" charset="-122"/>
              </a:rPr>
              <a:t>μs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1">
            <a:extLst>
              <a:ext uri="{FF2B5EF4-FFF2-40B4-BE49-F238E27FC236}">
                <a16:creationId xmlns:a16="http://schemas.microsoft.com/office/drawing/2014/main" id="{CE6EB500-A9C4-09AB-D0D5-16934B714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FF299C60-F48D-46D5-9C17-B95DA4166441}" type="slidenum">
              <a:rPr lang="en-US" altLang="zh-CN" sz="200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5604E9BD-9E5C-4CB1-3C91-A07E0E6CD5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F8605917-88C4-46EE-F1CA-0B21E0360C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69" name="Rectangle 4">
            <a:extLst>
              <a:ext uri="{FF2B5EF4-FFF2-40B4-BE49-F238E27FC236}">
                <a16:creationId xmlns:a16="http://schemas.microsoft.com/office/drawing/2014/main" id="{A559A19D-189A-B76C-213F-74B40FE7C2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0" name="Rectangle 5">
            <a:extLst>
              <a:ext uri="{FF2B5EF4-FFF2-40B4-BE49-F238E27FC236}">
                <a16:creationId xmlns:a16="http://schemas.microsoft.com/office/drawing/2014/main" id="{66FC8128-8237-CCAE-6CE0-BB9B3151C90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1" name="Rectangle 6">
            <a:extLst>
              <a:ext uri="{FF2B5EF4-FFF2-40B4-BE49-F238E27FC236}">
                <a16:creationId xmlns:a16="http://schemas.microsoft.com/office/drawing/2014/main" id="{6F5EBCF6-2E26-0130-EFD3-119E5EBFBA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2" name="Rectangle 7">
            <a:extLst>
              <a:ext uri="{FF2B5EF4-FFF2-40B4-BE49-F238E27FC236}">
                <a16:creationId xmlns:a16="http://schemas.microsoft.com/office/drawing/2014/main" id="{DABE2AD4-DD52-A1FF-AABB-D6A201EEA9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3" name="Rectangle 8">
            <a:extLst>
              <a:ext uri="{FF2B5EF4-FFF2-40B4-BE49-F238E27FC236}">
                <a16:creationId xmlns:a16="http://schemas.microsoft.com/office/drawing/2014/main" id="{5BD19A37-68E3-2CC6-6FB0-41E948D342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4" name="Rectangle 10">
            <a:extLst>
              <a:ext uri="{FF2B5EF4-FFF2-40B4-BE49-F238E27FC236}">
                <a16:creationId xmlns:a16="http://schemas.microsoft.com/office/drawing/2014/main" id="{0A959D21-A013-0194-8BA8-88124A160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1-kbps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的连接一起复用，每个单位为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试求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复用前一位持续的时间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链路传输速率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时隙持续时间  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一帧持续时间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2475" name="Rectangle 12">
            <a:extLst>
              <a:ext uri="{FF2B5EF4-FFF2-40B4-BE49-F238E27FC236}">
                <a16:creationId xmlns:a16="http://schemas.microsoft.com/office/drawing/2014/main" id="{2986621D-8E8F-FFE7-F416-87DCE29B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6.7</a:t>
            </a:r>
          </a:p>
        </p:txBody>
      </p:sp>
      <p:sp>
        <p:nvSpPr>
          <p:cNvPr id="62476" name="Line 2">
            <a:extLst>
              <a:ext uri="{FF2B5EF4-FFF2-40B4-BE49-F238E27FC236}">
                <a16:creationId xmlns:a16="http://schemas.microsoft.com/office/drawing/2014/main" id="{4DB19F34-D32E-F6E0-6EC6-C1FB89F6A4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276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7" name="Line 3">
            <a:extLst>
              <a:ext uri="{FF2B5EF4-FFF2-40B4-BE49-F238E27FC236}">
                <a16:creationId xmlns:a16="http://schemas.microsoft.com/office/drawing/2014/main" id="{EE796505-46BB-BECF-4C04-84AAEF764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276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8" name="Text Box 4">
            <a:extLst>
              <a:ext uri="{FF2B5EF4-FFF2-40B4-BE49-F238E27FC236}">
                <a16:creationId xmlns:a16="http://schemas.microsoft.com/office/drawing/2014/main" id="{C27CB3E9-D9ED-E6CE-ED3B-82B8C06F8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0525" y="5943600"/>
            <a:ext cx="3089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Interleaving</a:t>
            </a:r>
          </a:p>
        </p:txBody>
      </p:sp>
      <p:sp>
        <p:nvSpPr>
          <p:cNvPr id="62479" name="Line 5">
            <a:extLst>
              <a:ext uri="{FF2B5EF4-FFF2-40B4-BE49-F238E27FC236}">
                <a16:creationId xmlns:a16="http://schemas.microsoft.com/office/drawing/2014/main" id="{9B616F0C-A18B-CA9F-6973-D91E2E83A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2480" name="Picture 7">
            <a:extLst>
              <a:ext uri="{FF2B5EF4-FFF2-40B4-BE49-F238E27FC236}">
                <a16:creationId xmlns:a16="http://schemas.microsoft.com/office/drawing/2014/main" id="{B792691C-B8A5-F586-9E38-B1B121587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0"/>
            <a:ext cx="8940800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1">
            <a:extLst>
              <a:ext uri="{FF2B5EF4-FFF2-40B4-BE49-F238E27FC236}">
                <a16:creationId xmlns:a16="http://schemas.microsoft.com/office/drawing/2014/main" id="{D17815C7-37B2-B273-FB74-D84B29370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674402CC-FF28-495A-AD3B-46792F992222}" type="slidenum">
              <a:rPr lang="en-US" altLang="zh-CN" sz="2000">
                <a:solidFill>
                  <a:schemeClr val="bg2"/>
                </a:solidFill>
              </a:rPr>
              <a:pPr/>
              <a:t>30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4515" name="Rectangle 11">
            <a:extLst>
              <a:ext uri="{FF2B5EF4-FFF2-40B4-BE49-F238E27FC236}">
                <a16:creationId xmlns:a16="http://schemas.microsoft.com/office/drawing/2014/main" id="{3C3CD123-189A-9EFB-ADB1-ADC50ECBB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96888"/>
            <a:ext cx="86868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答案如下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复用前一位持续时间是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 / 1 kbps,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0.001 s (1 ms).</a:t>
            </a:r>
          </a:p>
          <a:p>
            <a:pPr algn="just"/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链路速率是连接速率的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倍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4 kbps.</a:t>
            </a:r>
          </a:p>
        </p:txBody>
      </p:sp>
      <p:sp>
        <p:nvSpPr>
          <p:cNvPr id="64516" name="Rectangle 10">
            <a:extLst>
              <a:ext uri="{FF2B5EF4-FFF2-40B4-BE49-F238E27FC236}">
                <a16:creationId xmlns:a16="http://schemas.microsoft.com/office/drawing/2014/main" id="{FF07D3F1-304A-214C-5222-06B3C0C66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60675"/>
            <a:ext cx="8686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每个时隙持续时间是复用前每位持续时间的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1/4,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250 μs.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注意：我们也可以从链路数据速率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 kbps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来计算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,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位持续时间是数据速率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1/4 kbps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的倒数，即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250 μs.</a:t>
            </a:r>
          </a:p>
          <a:p>
            <a:pPr algn="just"/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d.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帧持续时间总是与复用前一个单元持续时间，即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 ms.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我们也可以从另一个方法计算，此时每帧有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个时隙，所以一个帧持续时间是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250 μs,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 ms.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1">
            <a:extLst>
              <a:ext uri="{FF2B5EF4-FFF2-40B4-BE49-F238E27FC236}">
                <a16:creationId xmlns:a16="http://schemas.microsoft.com/office/drawing/2014/main" id="{E9E95EF6-741E-9B18-0C62-08FF0C587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35FA861A-84B9-46EF-802E-4523A58837C5}" type="slidenum">
              <a:rPr lang="en-US" altLang="zh-CN" sz="2000">
                <a:solidFill>
                  <a:schemeClr val="bg2"/>
                </a:solidFill>
              </a:rPr>
              <a:pPr/>
              <a:t>31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371AB86A-8117-481E-3829-46DCE34F8B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F3DB13D0-8D16-6E14-DC89-4D306879B6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565" name="Rectangle 4">
            <a:extLst>
              <a:ext uri="{FF2B5EF4-FFF2-40B4-BE49-F238E27FC236}">
                <a16:creationId xmlns:a16="http://schemas.microsoft.com/office/drawing/2014/main" id="{A2DD02A1-81C2-90D9-7FC7-20675EAD0B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566" name="Rectangle 5">
            <a:extLst>
              <a:ext uri="{FF2B5EF4-FFF2-40B4-BE49-F238E27FC236}">
                <a16:creationId xmlns:a16="http://schemas.microsoft.com/office/drawing/2014/main" id="{546D4D44-B536-A2E6-ECD1-2542B1ABE0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567" name="Rectangle 6">
            <a:extLst>
              <a:ext uri="{FF2B5EF4-FFF2-40B4-BE49-F238E27FC236}">
                <a16:creationId xmlns:a16="http://schemas.microsoft.com/office/drawing/2014/main" id="{22D74614-EBA0-F7AA-12C8-6D92F82BC4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568" name="Rectangle 7">
            <a:extLst>
              <a:ext uri="{FF2B5EF4-FFF2-40B4-BE49-F238E27FC236}">
                <a16:creationId xmlns:a16="http://schemas.microsoft.com/office/drawing/2014/main" id="{6B95BD1F-36DD-E316-D0C9-2B1AF1E5CD2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569" name="Rectangle 8">
            <a:extLst>
              <a:ext uri="{FF2B5EF4-FFF2-40B4-BE49-F238E27FC236}">
                <a16:creationId xmlns:a16="http://schemas.microsoft.com/office/drawing/2014/main" id="{EE9160F7-2BB3-C30C-935B-EC8D9A5FF3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570" name="Rectangle 10">
            <a:extLst>
              <a:ext uri="{FF2B5EF4-FFF2-40B4-BE49-F238E27FC236}">
                <a16:creationId xmlns:a16="http://schemas.microsoft.com/office/drawing/2014/main" id="{6E054F72-7455-B59D-20E3-3A88B7E65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31900"/>
            <a:ext cx="8610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个通道使用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TDM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实现复用。如果每个通道的发送速度是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100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/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秒，每个通道复用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试画出链路中帧的传输情况，说明帧的大小、帧的持续时间、帧传输速度以及链路的比特率。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71" name="Rectangle 12">
            <a:extLst>
              <a:ext uri="{FF2B5EF4-FFF2-40B4-BE49-F238E27FC236}">
                <a16:creationId xmlns:a16="http://schemas.microsoft.com/office/drawing/2014/main" id="{8498940E-5B7A-084E-343E-D4F32E183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6.8</a:t>
            </a:r>
          </a:p>
        </p:txBody>
      </p:sp>
      <p:sp>
        <p:nvSpPr>
          <p:cNvPr id="66572" name="Line 2">
            <a:extLst>
              <a:ext uri="{FF2B5EF4-FFF2-40B4-BE49-F238E27FC236}">
                <a16:creationId xmlns:a16="http://schemas.microsoft.com/office/drawing/2014/main" id="{8308E75C-6F17-9441-AC02-8E55775E5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581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3" name="Line 3">
            <a:extLst>
              <a:ext uri="{FF2B5EF4-FFF2-40B4-BE49-F238E27FC236}">
                <a16:creationId xmlns:a16="http://schemas.microsoft.com/office/drawing/2014/main" id="{84B65E73-B24B-0CC3-067E-0FD30D729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581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74" name="Text Box 4">
            <a:extLst>
              <a:ext uri="{FF2B5EF4-FFF2-40B4-BE49-F238E27FC236}">
                <a16:creationId xmlns:a16="http://schemas.microsoft.com/office/drawing/2014/main" id="{C15B7DCB-C2D4-D7A1-40BF-B6EAF46BA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943600"/>
            <a:ext cx="311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Example 6.8</a:t>
            </a:r>
          </a:p>
        </p:txBody>
      </p:sp>
      <p:sp>
        <p:nvSpPr>
          <p:cNvPr id="66575" name="Line 5">
            <a:extLst>
              <a:ext uri="{FF2B5EF4-FFF2-40B4-BE49-F238E27FC236}">
                <a16:creationId xmlns:a16="http://schemas.microsoft.com/office/drawing/2014/main" id="{4B0C85BA-EF4C-8710-2D34-A38C1E0E8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6576" name="Picture 6">
            <a:extLst>
              <a:ext uri="{FF2B5EF4-FFF2-40B4-BE49-F238E27FC236}">
                <a16:creationId xmlns:a16="http://schemas.microsoft.com/office/drawing/2014/main" id="{77F01FF7-B7FC-D854-F39B-3E4C4B603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51263"/>
            <a:ext cx="7688263" cy="211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3">
            <a:extLst>
              <a:ext uri="{FF2B5EF4-FFF2-40B4-BE49-F238E27FC236}">
                <a16:creationId xmlns:a16="http://schemas.microsoft.com/office/drawing/2014/main" id="{1DB4DAEC-9D38-9B80-009C-CBCB21B79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9B7598AD-4281-454F-BF9A-34EB0EFBE8E7}" type="slidenum">
              <a:rPr lang="en-US" altLang="zh-CN" sz="2000">
                <a:solidFill>
                  <a:schemeClr val="bg2"/>
                </a:solidFill>
              </a:rPr>
              <a:pPr/>
              <a:t>32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8611" name="Rectangle 11">
            <a:extLst>
              <a:ext uri="{FF2B5EF4-FFF2-40B4-BE49-F238E27FC236}">
                <a16:creationId xmlns:a16="http://schemas.microsoft.com/office/drawing/2014/main" id="{620C557E-9413-0F5E-5DD9-844556F74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66800"/>
            <a:ext cx="86868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endParaRPr lang="en-US" altLang="zh-CN" sz="2800" i="1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复用器如图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6.16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所示。每帧从每个通道中传送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字节。所以每个帧的大小是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4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字节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32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位。 因为每个通道发送速率是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100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字节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秒，一帧从每个通道中运送一个字节，帧传输速率必须是每秒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100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帧。所以，每帧的持续时间是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1/100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秒。链路每秒钟运送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帧，每帧包含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位，所以比特率是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100 × 32,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3200 bps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。这实际上是每个通道的比特率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每个通道的比特率是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100 ×8=800 bps )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倍。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1">
            <a:extLst>
              <a:ext uri="{FF2B5EF4-FFF2-40B4-BE49-F238E27FC236}">
                <a16:creationId xmlns:a16="http://schemas.microsoft.com/office/drawing/2014/main" id="{DECFC08C-AC91-6BB6-DA97-942C3CD85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52BA4416-71A0-4D25-A5DC-4AAFD6B99123}" type="slidenum">
              <a:rPr lang="en-US" altLang="zh-CN" sz="2000">
                <a:solidFill>
                  <a:schemeClr val="bg2"/>
                </a:solidFill>
              </a:rPr>
              <a:pPr/>
              <a:t>33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1C008A0-9E41-2077-726D-65283C3070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4D3EC3C2-85DF-7378-6A31-AFA275CA4A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7" name="Rectangle 4">
            <a:extLst>
              <a:ext uri="{FF2B5EF4-FFF2-40B4-BE49-F238E27FC236}">
                <a16:creationId xmlns:a16="http://schemas.microsoft.com/office/drawing/2014/main" id="{2BC3F9A7-57CC-69AA-D218-895ECEED06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8" name="Rectangle 5">
            <a:extLst>
              <a:ext uri="{FF2B5EF4-FFF2-40B4-BE49-F238E27FC236}">
                <a16:creationId xmlns:a16="http://schemas.microsoft.com/office/drawing/2014/main" id="{1F0B4D45-9D00-6DB5-3A6A-ADA5144809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9" name="Rectangle 6">
            <a:extLst>
              <a:ext uri="{FF2B5EF4-FFF2-40B4-BE49-F238E27FC236}">
                <a16:creationId xmlns:a16="http://schemas.microsoft.com/office/drawing/2014/main" id="{909DE69D-2BA6-79EC-7FAB-5001FE592B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0" name="Rectangle 7">
            <a:extLst>
              <a:ext uri="{FF2B5EF4-FFF2-40B4-BE49-F238E27FC236}">
                <a16:creationId xmlns:a16="http://schemas.microsoft.com/office/drawing/2014/main" id="{B0549A23-5A3F-0536-63BF-4ECDBD2699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1" name="Rectangle 8">
            <a:extLst>
              <a:ext uri="{FF2B5EF4-FFF2-40B4-BE49-F238E27FC236}">
                <a16:creationId xmlns:a16="http://schemas.microsoft.com/office/drawing/2014/main" id="{F8FA3F38-E035-FFC6-5F71-ED9C68F0EE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2" name="Rectangle 9">
            <a:extLst>
              <a:ext uri="{FF2B5EF4-FFF2-40B4-BE49-F238E27FC236}">
                <a16:creationId xmlns:a16="http://schemas.microsoft.com/office/drawing/2014/main" id="{5EED6054-12BF-57DE-D47B-FECC9AC96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8610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复用器使用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位的时隙合并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100-kbps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。试画出任意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种输入的输出结果。 帧速率是多少？ 帧的持续时间是多少？比特率是多少？ 位持续时间是什么？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43" name="Rectangle 10">
            <a:extLst>
              <a:ext uri="{FF2B5EF4-FFF2-40B4-BE49-F238E27FC236}">
                <a16:creationId xmlns:a16="http://schemas.microsoft.com/office/drawing/2014/main" id="{C641E948-F3DE-F35A-F0D9-12F463738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95600"/>
            <a:ext cx="8686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6.17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画出了任意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种输入的输出结果。由于每帧包含每个通道的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位，所以链路每秒钟传输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50,000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帧。每帧的持续时间是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1/50,000 s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20 μs.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帧速率是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50,000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秒，每帧运送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8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比特率是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50,000 × 8 = 400,000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比特，即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400 kbps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，持续时间是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1/400,000 s,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2.5 μs.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注意：帧的持续时间是位持续时间的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倍，因为每帧运送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位。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9644" name="Rectangle 11">
            <a:extLst>
              <a:ext uri="{FF2B5EF4-FFF2-40B4-BE49-F238E27FC236}">
                <a16:creationId xmlns:a16="http://schemas.microsoft.com/office/drawing/2014/main" id="{277CB190-C891-817B-5CD0-2BBC18529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1">
            <a:extLst>
              <a:ext uri="{FF2B5EF4-FFF2-40B4-BE49-F238E27FC236}">
                <a16:creationId xmlns:a16="http://schemas.microsoft.com/office/drawing/2014/main" id="{DCE74A43-5B15-27BC-EE48-F48E78EA7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E8DB8500-C608-415C-872B-E0984AF4DA2E}" type="slidenum">
              <a:rPr lang="en-US" altLang="zh-CN" sz="2000">
                <a:solidFill>
                  <a:schemeClr val="bg2"/>
                </a:solidFill>
              </a:rPr>
              <a:pPr/>
              <a:t>34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683" name="Line 2">
            <a:extLst>
              <a:ext uri="{FF2B5EF4-FFF2-40B4-BE49-F238E27FC236}">
                <a16:creationId xmlns:a16="http://schemas.microsoft.com/office/drawing/2014/main" id="{F123BBEF-0706-1D38-DF45-59D858658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Line 3">
            <a:extLst>
              <a:ext uri="{FF2B5EF4-FFF2-40B4-BE49-F238E27FC236}">
                <a16:creationId xmlns:a16="http://schemas.microsoft.com/office/drawing/2014/main" id="{F7827485-9503-13D9-8F52-0975C50B8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5" name="Text Box 4">
            <a:extLst>
              <a:ext uri="{FF2B5EF4-FFF2-40B4-BE49-F238E27FC236}">
                <a16:creationId xmlns:a16="http://schemas.microsoft.com/office/drawing/2014/main" id="{8ACF7199-1A97-C62A-23F8-0F3073AF0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1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Example 6.9</a:t>
            </a:r>
          </a:p>
        </p:txBody>
      </p:sp>
      <p:sp>
        <p:nvSpPr>
          <p:cNvPr id="71686" name="Line 5">
            <a:extLst>
              <a:ext uri="{FF2B5EF4-FFF2-40B4-BE49-F238E27FC236}">
                <a16:creationId xmlns:a16="http://schemas.microsoft.com/office/drawing/2014/main" id="{E57DD760-59DF-F535-E7A7-32099A870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687" name="Picture 6">
            <a:extLst>
              <a:ext uri="{FF2B5EF4-FFF2-40B4-BE49-F238E27FC236}">
                <a16:creationId xmlns:a16="http://schemas.microsoft.com/office/drawing/2014/main" id="{52464BB5-5594-F0F5-6EF4-0A9EE3AB9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671763"/>
            <a:ext cx="8647112" cy="218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1">
            <a:extLst>
              <a:ext uri="{FF2B5EF4-FFF2-40B4-BE49-F238E27FC236}">
                <a16:creationId xmlns:a16="http://schemas.microsoft.com/office/drawing/2014/main" id="{BF86B5B0-443B-A072-ECD1-152D5F0254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CD417545-8BE9-4205-B0CF-4D52EB773406}" type="slidenum">
              <a:rPr lang="en-US" altLang="zh-CN" sz="2000">
                <a:solidFill>
                  <a:schemeClr val="bg2"/>
                </a:solidFill>
              </a:rPr>
              <a:pPr/>
              <a:t>35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3731" name="Line 2">
            <a:extLst>
              <a:ext uri="{FF2B5EF4-FFF2-40B4-BE49-F238E27FC236}">
                <a16:creationId xmlns:a16="http://schemas.microsoft.com/office/drawing/2014/main" id="{54AA75CC-071A-8B8F-73AE-E45177F91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Line 3">
            <a:extLst>
              <a:ext uri="{FF2B5EF4-FFF2-40B4-BE49-F238E27FC236}">
                <a16:creationId xmlns:a16="http://schemas.microsoft.com/office/drawing/2014/main" id="{F7DEAEE3-9910-8A50-CD91-BCDFFBC80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3" name="Text Box 4">
            <a:extLst>
              <a:ext uri="{FF2B5EF4-FFF2-40B4-BE49-F238E27FC236}">
                <a16:creationId xmlns:a16="http://schemas.microsoft.com/office/drawing/2014/main" id="{15930D29-5DE8-1908-2CF8-396454706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4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6.18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空时隙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Empty slots)</a:t>
            </a:r>
          </a:p>
        </p:txBody>
      </p:sp>
      <p:sp>
        <p:nvSpPr>
          <p:cNvPr id="73734" name="Line 5">
            <a:extLst>
              <a:ext uri="{FF2B5EF4-FFF2-40B4-BE49-F238E27FC236}">
                <a16:creationId xmlns:a16="http://schemas.microsoft.com/office/drawing/2014/main" id="{395DBBE3-FEF8-5649-8EEE-1CC3FA481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3735" name="Picture 7">
            <a:extLst>
              <a:ext uri="{FF2B5EF4-FFF2-40B4-BE49-F238E27FC236}">
                <a16:creationId xmlns:a16="http://schemas.microsoft.com/office/drawing/2014/main" id="{A276929F-DEEF-3878-73D5-738974595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516188"/>
            <a:ext cx="8043862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1">
            <a:extLst>
              <a:ext uri="{FF2B5EF4-FFF2-40B4-BE49-F238E27FC236}">
                <a16:creationId xmlns:a16="http://schemas.microsoft.com/office/drawing/2014/main" id="{1F5CD446-BEE9-E734-F4D9-D76FAA79B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E5DEDCD2-C97B-4CC5-8352-4DFCD6E78C75}" type="slidenum">
              <a:rPr lang="en-US" altLang="zh-CN" sz="2000">
                <a:solidFill>
                  <a:schemeClr val="bg2"/>
                </a:solidFill>
              </a:rPr>
              <a:pPr/>
              <a:t>36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BDA444D-D53B-395A-F847-4B4D3941F8F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CA2E08C8-0D0D-B456-49B3-5CDCAF5E1DE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A75E5040-37F1-82C3-2AD4-9BE25E56CE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2" name="Rectangle 5">
            <a:extLst>
              <a:ext uri="{FF2B5EF4-FFF2-40B4-BE49-F238E27FC236}">
                <a16:creationId xmlns:a16="http://schemas.microsoft.com/office/drawing/2014/main" id="{01D77820-2055-031B-5F2B-75B9328A03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3" name="Rectangle 6">
            <a:extLst>
              <a:ext uri="{FF2B5EF4-FFF2-40B4-BE49-F238E27FC236}">
                <a16:creationId xmlns:a16="http://schemas.microsoft.com/office/drawing/2014/main" id="{FC931E3E-4B12-C601-F0C8-45FA8B9C97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4" name="Rectangle 7">
            <a:extLst>
              <a:ext uri="{FF2B5EF4-FFF2-40B4-BE49-F238E27FC236}">
                <a16:creationId xmlns:a16="http://schemas.microsoft.com/office/drawing/2014/main" id="{D4AF5A8B-CFA1-D6BD-7A39-9E50BF763F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5" name="Rectangle 8">
            <a:extLst>
              <a:ext uri="{FF2B5EF4-FFF2-40B4-BE49-F238E27FC236}">
                <a16:creationId xmlns:a16="http://schemas.microsoft.com/office/drawing/2014/main" id="{27CB18E5-2320-1FA7-B9A5-BDA30A69A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6" name="Line 9">
            <a:extLst>
              <a:ext uri="{FF2B5EF4-FFF2-40B4-BE49-F238E27FC236}">
                <a16:creationId xmlns:a16="http://schemas.microsoft.com/office/drawing/2014/main" id="{50E87BBC-FAE0-7B74-705A-4BA10EB60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479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7" name="Line 10">
            <a:extLst>
              <a:ext uri="{FF2B5EF4-FFF2-40B4-BE49-F238E27FC236}">
                <a16:creationId xmlns:a16="http://schemas.microsoft.com/office/drawing/2014/main" id="{C669F16D-041F-64F8-4A99-C57063DDD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7577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8" name="Rectangle 11">
            <a:extLst>
              <a:ext uri="{FF2B5EF4-FFF2-40B4-BE49-F238E27FC236}">
                <a16:creationId xmlns:a16="http://schemas.microsoft.com/office/drawing/2014/main" id="{67E29F85-5E6F-807A-2F56-F508DF35D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640013"/>
            <a:ext cx="8382000" cy="2062162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TDM</a:t>
            </a:r>
            <a:r>
              <a:rPr lang="zh-CN" altLang="en-US">
                <a:ea typeface="宋体" panose="02010600030101010101" pitchFamily="2" charset="-122"/>
              </a:rPr>
              <a:t>的一个问题是：如何处理输入数据速率的差异（目前假定所有输入数据速率均相同）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解决方法：多级复用、多时隙分配、脉冲填充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75789" name="Group 12">
            <a:extLst>
              <a:ext uri="{FF2B5EF4-FFF2-40B4-BE49-F238E27FC236}">
                <a16:creationId xmlns:a16="http://schemas.microsoft.com/office/drawing/2014/main" id="{809999BE-9E27-3B80-B121-2FBB643BB81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05000"/>
            <a:ext cx="1143000" cy="566738"/>
            <a:chOff x="1200" y="1248"/>
            <a:chExt cx="720" cy="357"/>
          </a:xfrm>
        </p:grpSpPr>
        <p:pic>
          <p:nvPicPr>
            <p:cNvPr id="75790" name="Picture 13">
              <a:extLst>
                <a:ext uri="{FF2B5EF4-FFF2-40B4-BE49-F238E27FC236}">
                  <a16:creationId xmlns:a16="http://schemas.microsoft.com/office/drawing/2014/main" id="{62E435FA-6D9C-8F4C-DB1F-EEF18F0B8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91" name="Text Box 14">
              <a:extLst>
                <a:ext uri="{FF2B5EF4-FFF2-40B4-BE49-F238E27FC236}">
                  <a16:creationId xmlns:a16="http://schemas.microsoft.com/office/drawing/2014/main" id="{71759C27-2F43-787C-AFB5-6477AA8A2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1">
            <a:extLst>
              <a:ext uri="{FF2B5EF4-FFF2-40B4-BE49-F238E27FC236}">
                <a16:creationId xmlns:a16="http://schemas.microsoft.com/office/drawing/2014/main" id="{387ACB40-B9BE-CBB6-776F-06841D8D7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50AF8B3B-3927-45B8-B8FD-541062D7E87A}" type="slidenum">
              <a:rPr lang="en-US" altLang="zh-CN" sz="2000">
                <a:solidFill>
                  <a:schemeClr val="bg2"/>
                </a:solidFill>
              </a:rPr>
              <a:pPr/>
              <a:t>37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7827" name="Line 2">
            <a:extLst>
              <a:ext uri="{FF2B5EF4-FFF2-40B4-BE49-F238E27FC236}">
                <a16:creationId xmlns:a16="http://schemas.microsoft.com/office/drawing/2014/main" id="{5DF85FE6-EFE7-E592-AD83-7AE9488D4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Line 3">
            <a:extLst>
              <a:ext uri="{FF2B5EF4-FFF2-40B4-BE49-F238E27FC236}">
                <a16:creationId xmlns:a16="http://schemas.microsoft.com/office/drawing/2014/main" id="{A4C3A9E3-EDD8-2BE5-A877-85DF322A22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9" name="Text Box 4">
            <a:extLst>
              <a:ext uri="{FF2B5EF4-FFF2-40B4-BE49-F238E27FC236}">
                <a16:creationId xmlns:a16="http://schemas.microsoft.com/office/drawing/2014/main" id="{BD5C797A-5B74-265C-A7FD-96D05B150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707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6.19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多级复用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Multilevel multiplexing)</a:t>
            </a:r>
          </a:p>
        </p:txBody>
      </p:sp>
      <p:sp>
        <p:nvSpPr>
          <p:cNvPr id="77830" name="Line 5">
            <a:extLst>
              <a:ext uri="{FF2B5EF4-FFF2-40B4-BE49-F238E27FC236}">
                <a16:creationId xmlns:a16="http://schemas.microsoft.com/office/drawing/2014/main" id="{6A324BF5-40D9-0541-34BD-662EDEC55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7831" name="Picture 8">
            <a:extLst>
              <a:ext uri="{FF2B5EF4-FFF2-40B4-BE49-F238E27FC236}">
                <a16:creationId xmlns:a16="http://schemas.microsoft.com/office/drawing/2014/main" id="{29704FC8-D88B-1BCC-0A9D-29249EF37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2471738"/>
            <a:ext cx="7897812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1">
            <a:extLst>
              <a:ext uri="{FF2B5EF4-FFF2-40B4-BE49-F238E27FC236}">
                <a16:creationId xmlns:a16="http://schemas.microsoft.com/office/drawing/2014/main" id="{F679A1CA-0135-59EF-F20A-FC75C3A57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D06215F1-4329-429A-A29D-51A57E44B849}" type="slidenum">
              <a:rPr lang="en-US" altLang="zh-CN" sz="2000">
                <a:solidFill>
                  <a:schemeClr val="bg2"/>
                </a:solidFill>
              </a:rPr>
              <a:pPr/>
              <a:t>38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9875" name="Line 2">
            <a:extLst>
              <a:ext uri="{FF2B5EF4-FFF2-40B4-BE49-F238E27FC236}">
                <a16:creationId xmlns:a16="http://schemas.microsoft.com/office/drawing/2014/main" id="{4A59B071-BCD8-A1B7-E861-7DAB7DA28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Line 3">
            <a:extLst>
              <a:ext uri="{FF2B5EF4-FFF2-40B4-BE49-F238E27FC236}">
                <a16:creationId xmlns:a16="http://schemas.microsoft.com/office/drawing/2014/main" id="{9F4EDFE7-DC44-5BD1-AB0D-3663997CA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7" name="Text Box 4">
            <a:extLst>
              <a:ext uri="{FF2B5EF4-FFF2-40B4-BE49-F238E27FC236}">
                <a16:creationId xmlns:a16="http://schemas.microsoft.com/office/drawing/2014/main" id="{DD4F825B-D5EE-0DB1-6AA3-6F776DEFB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81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6.20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多时隙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Multiple-slot multiplexing)</a:t>
            </a:r>
          </a:p>
        </p:txBody>
      </p:sp>
      <p:sp>
        <p:nvSpPr>
          <p:cNvPr id="79878" name="Line 5">
            <a:extLst>
              <a:ext uri="{FF2B5EF4-FFF2-40B4-BE49-F238E27FC236}">
                <a16:creationId xmlns:a16="http://schemas.microsoft.com/office/drawing/2014/main" id="{6151AA7F-928E-932B-C04B-CF4BEA75E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9879" name="Picture 6">
            <a:extLst>
              <a:ext uri="{FF2B5EF4-FFF2-40B4-BE49-F238E27FC236}">
                <a16:creationId xmlns:a16="http://schemas.microsoft.com/office/drawing/2014/main" id="{2F2756C1-E232-CC4B-8CF4-BCD83F7E6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362200"/>
            <a:ext cx="7751762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1">
            <a:extLst>
              <a:ext uri="{FF2B5EF4-FFF2-40B4-BE49-F238E27FC236}">
                <a16:creationId xmlns:a16="http://schemas.microsoft.com/office/drawing/2014/main" id="{27F42757-B92C-21BB-0EC8-2676FB8B5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4E04C99B-E280-4F19-9625-EF37534F22A1}" type="slidenum">
              <a:rPr lang="en-US" altLang="zh-CN" sz="2000">
                <a:solidFill>
                  <a:schemeClr val="bg2"/>
                </a:solidFill>
              </a:rPr>
              <a:pPr/>
              <a:t>39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23" name="Line 2">
            <a:extLst>
              <a:ext uri="{FF2B5EF4-FFF2-40B4-BE49-F238E27FC236}">
                <a16:creationId xmlns:a16="http://schemas.microsoft.com/office/drawing/2014/main" id="{DDE46457-A3D5-FB20-049F-9DEFA5A308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4" name="Line 3">
            <a:extLst>
              <a:ext uri="{FF2B5EF4-FFF2-40B4-BE49-F238E27FC236}">
                <a16:creationId xmlns:a16="http://schemas.microsoft.com/office/drawing/2014/main" id="{43A85B93-6742-5AF0-720E-A44F9B8BE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5" name="Text Box 4">
            <a:extLst>
              <a:ext uri="{FF2B5EF4-FFF2-40B4-BE49-F238E27FC236}">
                <a16:creationId xmlns:a16="http://schemas.microsoft.com/office/drawing/2014/main" id="{292653E4-10F4-EA99-EC00-80A13AC2E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711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6.21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脉冲填充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Pulse stuffing)</a:t>
            </a:r>
          </a:p>
        </p:txBody>
      </p:sp>
      <p:sp>
        <p:nvSpPr>
          <p:cNvPr id="81926" name="Line 5">
            <a:extLst>
              <a:ext uri="{FF2B5EF4-FFF2-40B4-BE49-F238E27FC236}">
                <a16:creationId xmlns:a16="http://schemas.microsoft.com/office/drawing/2014/main" id="{4FCABD92-D831-C49B-2CE1-547A534D2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27" name="Picture 6">
            <a:extLst>
              <a:ext uri="{FF2B5EF4-FFF2-40B4-BE49-F238E27FC236}">
                <a16:creationId xmlns:a16="http://schemas.microsoft.com/office/drawing/2014/main" id="{36AA23FD-A9BE-243A-42C9-351A9517B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439988"/>
            <a:ext cx="6353175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8" name="TextBox 7">
            <a:extLst>
              <a:ext uri="{FF2B5EF4-FFF2-40B4-BE49-F238E27FC236}">
                <a16:creationId xmlns:a16="http://schemas.microsoft.com/office/drawing/2014/main" id="{2BB60B14-7DD7-BCC1-28BE-2543C9CD4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257800"/>
            <a:ext cx="403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适用速率非整数倍的情况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1">
            <a:extLst>
              <a:ext uri="{FF2B5EF4-FFF2-40B4-BE49-F238E27FC236}">
                <a16:creationId xmlns:a16="http://schemas.microsoft.com/office/drawing/2014/main" id="{CC48B931-3271-4666-EC4F-7354E7D84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B0D40522-D6A2-46E2-858A-50F36BD8C9BC}" type="slidenum">
              <a:rPr lang="en-US" altLang="zh-CN" sz="2000">
                <a:solidFill>
                  <a:schemeClr val="bg2"/>
                </a:solidFill>
              </a:rPr>
              <a:pPr/>
              <a:t>40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711EC49-D29F-DEDA-8B8E-E4BC07C5C0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5C3A526A-3AD5-55CA-2A69-558EC79A04A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973" name="Rectangle 4">
            <a:extLst>
              <a:ext uri="{FF2B5EF4-FFF2-40B4-BE49-F238E27FC236}">
                <a16:creationId xmlns:a16="http://schemas.microsoft.com/office/drawing/2014/main" id="{5B3791A1-5D64-2719-97A2-5433E4EFD8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974" name="Rectangle 5">
            <a:extLst>
              <a:ext uri="{FF2B5EF4-FFF2-40B4-BE49-F238E27FC236}">
                <a16:creationId xmlns:a16="http://schemas.microsoft.com/office/drawing/2014/main" id="{038192D0-B3CE-DDC7-BC35-545BEDB2E4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975" name="Rectangle 6">
            <a:extLst>
              <a:ext uri="{FF2B5EF4-FFF2-40B4-BE49-F238E27FC236}">
                <a16:creationId xmlns:a16="http://schemas.microsoft.com/office/drawing/2014/main" id="{5EA34841-2B46-2B98-AA5A-765F475D9B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976" name="Rectangle 7">
            <a:extLst>
              <a:ext uri="{FF2B5EF4-FFF2-40B4-BE49-F238E27FC236}">
                <a16:creationId xmlns:a16="http://schemas.microsoft.com/office/drawing/2014/main" id="{61044D33-C130-9FD5-829A-E76132F311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977" name="Rectangle 8">
            <a:extLst>
              <a:ext uri="{FF2B5EF4-FFF2-40B4-BE49-F238E27FC236}">
                <a16:creationId xmlns:a16="http://schemas.microsoft.com/office/drawing/2014/main" id="{0BF55E64-997D-C840-D7A3-6FD862FA3B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978" name="Line 9">
            <a:extLst>
              <a:ext uri="{FF2B5EF4-FFF2-40B4-BE49-F238E27FC236}">
                <a16:creationId xmlns:a16="http://schemas.microsoft.com/office/drawing/2014/main" id="{A0A7453A-9FE1-8A57-38D0-0BAFEF961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479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9" name="Line 10">
            <a:extLst>
              <a:ext uri="{FF2B5EF4-FFF2-40B4-BE49-F238E27FC236}">
                <a16:creationId xmlns:a16="http://schemas.microsoft.com/office/drawing/2014/main" id="{B4F54724-CFD1-7C3A-9B10-EA23E481A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7577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0" name="Rectangle 11">
            <a:extLst>
              <a:ext uri="{FF2B5EF4-FFF2-40B4-BE49-F238E27FC236}">
                <a16:creationId xmlns:a16="http://schemas.microsoft.com/office/drawing/2014/main" id="{E4D32EB0-B636-6803-12F9-C657CC94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640013"/>
            <a:ext cx="8077200" cy="2062162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TDM</a:t>
            </a:r>
            <a:r>
              <a:rPr lang="zh-CN" altLang="en-US">
                <a:ea typeface="宋体" panose="02010600030101010101" pitchFamily="2" charset="-122"/>
              </a:rPr>
              <a:t>另一个问题是：复用器和解复用器之间的同步问题。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解决方法：幁指示位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83981" name="Group 12">
            <a:extLst>
              <a:ext uri="{FF2B5EF4-FFF2-40B4-BE49-F238E27FC236}">
                <a16:creationId xmlns:a16="http://schemas.microsoft.com/office/drawing/2014/main" id="{17FCCCA0-48D4-10F4-85FA-05AAB172478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05000"/>
            <a:ext cx="1143000" cy="566738"/>
            <a:chOff x="1200" y="1248"/>
            <a:chExt cx="720" cy="357"/>
          </a:xfrm>
        </p:grpSpPr>
        <p:pic>
          <p:nvPicPr>
            <p:cNvPr id="83982" name="Picture 13">
              <a:extLst>
                <a:ext uri="{FF2B5EF4-FFF2-40B4-BE49-F238E27FC236}">
                  <a16:creationId xmlns:a16="http://schemas.microsoft.com/office/drawing/2014/main" id="{07A03BE5-8B1D-C4CE-CCD3-ED5173DCFA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983" name="Text Box 14">
              <a:extLst>
                <a:ext uri="{FF2B5EF4-FFF2-40B4-BE49-F238E27FC236}">
                  <a16:creationId xmlns:a16="http://schemas.microsoft.com/office/drawing/2014/main" id="{4B89066A-850D-6E31-1664-4500A5406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1">
            <a:extLst>
              <a:ext uri="{FF2B5EF4-FFF2-40B4-BE49-F238E27FC236}">
                <a16:creationId xmlns:a16="http://schemas.microsoft.com/office/drawing/2014/main" id="{7CD67DD6-3254-9ABF-BD31-10E77A05B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233D6DF7-D607-4B60-9311-3C98A6EE2D0E}" type="slidenum">
              <a:rPr lang="en-US" altLang="zh-CN" sz="2000">
                <a:solidFill>
                  <a:schemeClr val="bg2"/>
                </a:solidFill>
              </a:rPr>
              <a:pPr/>
              <a:t>41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019" name="Line 2">
            <a:extLst>
              <a:ext uri="{FF2B5EF4-FFF2-40B4-BE49-F238E27FC236}">
                <a16:creationId xmlns:a16="http://schemas.microsoft.com/office/drawing/2014/main" id="{11353AED-8081-2927-DEE2-C0318BA94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Line 3">
            <a:extLst>
              <a:ext uri="{FF2B5EF4-FFF2-40B4-BE49-F238E27FC236}">
                <a16:creationId xmlns:a16="http://schemas.microsoft.com/office/drawing/2014/main" id="{2122AB56-DF05-95ED-1E5D-8A740EF4F1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1" name="Text Box 4">
            <a:extLst>
              <a:ext uri="{FF2B5EF4-FFF2-40B4-BE49-F238E27FC236}">
                <a16:creationId xmlns:a16="http://schemas.microsoft.com/office/drawing/2014/main" id="{96A97EB3-DF19-DDCA-62A1-E423D17A9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616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6.22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帧指示位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Framing bits)</a:t>
            </a:r>
          </a:p>
        </p:txBody>
      </p:sp>
      <p:sp>
        <p:nvSpPr>
          <p:cNvPr id="86022" name="Line 5">
            <a:extLst>
              <a:ext uri="{FF2B5EF4-FFF2-40B4-BE49-F238E27FC236}">
                <a16:creationId xmlns:a16="http://schemas.microsoft.com/office/drawing/2014/main" id="{AF1E86B1-47C3-046E-1CC3-1D2BAF6E7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6023" name="Picture 6">
            <a:extLst>
              <a:ext uri="{FF2B5EF4-FFF2-40B4-BE49-F238E27FC236}">
                <a16:creationId xmlns:a16="http://schemas.microsoft.com/office/drawing/2014/main" id="{5A860D42-E1F5-BCB1-CE68-BA4977545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2438400"/>
            <a:ext cx="7578725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1E13E762-EF72-48AB-B570-AB53CA7DDCDE}"/>
              </a:ext>
            </a:extLst>
          </p:cNvPr>
          <p:cNvSpPr/>
          <p:nvPr/>
        </p:nvSpPr>
        <p:spPr bwMode="auto">
          <a:xfrm>
            <a:off x="6743700" y="192088"/>
            <a:ext cx="20955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帧同步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1">
            <a:extLst>
              <a:ext uri="{FF2B5EF4-FFF2-40B4-BE49-F238E27FC236}">
                <a16:creationId xmlns:a16="http://schemas.microsoft.com/office/drawing/2014/main" id="{B7EE2B06-EB9F-6EBE-B08F-C7D3B266D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CE701887-AE1E-49CF-9578-F4CB17E080B5}" type="slidenum">
              <a:rPr lang="en-US" altLang="zh-CN" sz="2000">
                <a:solidFill>
                  <a:schemeClr val="bg2"/>
                </a:solidFill>
              </a:rPr>
              <a:pPr/>
              <a:t>42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A5FA8BDA-D1A9-73B2-4EFB-EF62D6828B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59F957A6-15DF-5681-125D-746EF018CD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69" name="Rectangle 4">
            <a:extLst>
              <a:ext uri="{FF2B5EF4-FFF2-40B4-BE49-F238E27FC236}">
                <a16:creationId xmlns:a16="http://schemas.microsoft.com/office/drawing/2014/main" id="{052DF3EF-87DE-05D8-42AA-A8DB6F5F30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70" name="Rectangle 5">
            <a:extLst>
              <a:ext uri="{FF2B5EF4-FFF2-40B4-BE49-F238E27FC236}">
                <a16:creationId xmlns:a16="http://schemas.microsoft.com/office/drawing/2014/main" id="{1665CB5F-47EB-94BB-00EB-781F0BB827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71" name="Rectangle 6">
            <a:extLst>
              <a:ext uri="{FF2B5EF4-FFF2-40B4-BE49-F238E27FC236}">
                <a16:creationId xmlns:a16="http://schemas.microsoft.com/office/drawing/2014/main" id="{A1FDDF00-0A37-99E8-B87D-528ABB29BF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72" name="Rectangle 7">
            <a:extLst>
              <a:ext uri="{FF2B5EF4-FFF2-40B4-BE49-F238E27FC236}">
                <a16:creationId xmlns:a16="http://schemas.microsoft.com/office/drawing/2014/main" id="{6C61F043-B8DD-84FA-EFD3-58D302B2501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73" name="Rectangle 8">
            <a:extLst>
              <a:ext uri="{FF2B5EF4-FFF2-40B4-BE49-F238E27FC236}">
                <a16:creationId xmlns:a16="http://schemas.microsoft.com/office/drawing/2014/main" id="{6F9389C4-51AE-F4AE-E78D-F9E3835488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074" name="Rectangle 9">
            <a:extLst>
              <a:ext uri="{FF2B5EF4-FFF2-40B4-BE49-F238E27FC236}">
                <a16:creationId xmlns:a16="http://schemas.microsoft.com/office/drawing/2014/main" id="{DBE6F938-CA19-16D1-481F-FFFC941DF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个数据源，每个数据源每秒产生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250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个字符。如果交替的单元是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个字符，每帧增加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个同部位，试确定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每个数据源的数据速率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每个数据源中每个字符的持续时间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帧速率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每帧的持续时间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,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每帧的位数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链路的数据速率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8075" name="Rectangle 10">
            <a:extLst>
              <a:ext uri="{FF2B5EF4-FFF2-40B4-BE49-F238E27FC236}">
                <a16:creationId xmlns:a16="http://schemas.microsoft.com/office/drawing/2014/main" id="{AB202ADD-B55D-C1EB-D8B7-0CEE6F56C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2672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回答问题如下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2800" i="1">
                <a:solidFill>
                  <a:schemeClr val="hlink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每个数据源的数据速率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250 × 8 = 2000 bps = 2 kbps.</a:t>
            </a:r>
          </a:p>
        </p:txBody>
      </p:sp>
      <p:sp>
        <p:nvSpPr>
          <p:cNvPr id="88076" name="Rectangle 11">
            <a:extLst>
              <a:ext uri="{FF2B5EF4-FFF2-40B4-BE49-F238E27FC236}">
                <a16:creationId xmlns:a16="http://schemas.microsoft.com/office/drawing/2014/main" id="{FEAC98A2-04BE-878D-F4E7-3085A8548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755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6.10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1">
            <a:extLst>
              <a:ext uri="{FF2B5EF4-FFF2-40B4-BE49-F238E27FC236}">
                <a16:creationId xmlns:a16="http://schemas.microsoft.com/office/drawing/2014/main" id="{38817A2E-8E28-EC79-B5B4-A7EA2D285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D29223AD-B8F6-46F8-8AA8-85D49365899D}" type="slidenum">
              <a:rPr lang="en-US" altLang="zh-CN" sz="2000">
                <a:solidFill>
                  <a:schemeClr val="bg2"/>
                </a:solidFill>
              </a:rPr>
              <a:pPr/>
              <a:t>43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13B0E2E-75AE-75B2-E5E3-29FE172DD1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EFDBAC3-9ADB-4964-B38F-A395B21DC7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7" name="Rectangle 4">
            <a:extLst>
              <a:ext uri="{FF2B5EF4-FFF2-40B4-BE49-F238E27FC236}">
                <a16:creationId xmlns:a16="http://schemas.microsoft.com/office/drawing/2014/main" id="{C5C6E3CC-CC8C-DAB3-9055-E44B3135F4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8" name="Rectangle 5">
            <a:extLst>
              <a:ext uri="{FF2B5EF4-FFF2-40B4-BE49-F238E27FC236}">
                <a16:creationId xmlns:a16="http://schemas.microsoft.com/office/drawing/2014/main" id="{D1725145-4ED9-B28C-A065-147661D5E8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19" name="Rectangle 6">
            <a:extLst>
              <a:ext uri="{FF2B5EF4-FFF2-40B4-BE49-F238E27FC236}">
                <a16:creationId xmlns:a16="http://schemas.microsoft.com/office/drawing/2014/main" id="{2E0DB6ED-1D6A-21AF-5664-C570F7E4DD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20" name="Rectangle 7">
            <a:extLst>
              <a:ext uri="{FF2B5EF4-FFF2-40B4-BE49-F238E27FC236}">
                <a16:creationId xmlns:a16="http://schemas.microsoft.com/office/drawing/2014/main" id="{7219E289-2546-958D-CFD8-E04BB9D510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121" name="Rectangle 8">
            <a:extLst>
              <a:ext uri="{FF2B5EF4-FFF2-40B4-BE49-F238E27FC236}">
                <a16:creationId xmlns:a16="http://schemas.microsoft.com/office/drawing/2014/main" id="{8C75C7DC-9D17-D52A-6A2C-F13EFE36AD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8" name="Rectangle 11">
            <a:extLst>
              <a:ext uri="{FF2B5EF4-FFF2-40B4-BE49-F238E27FC236}">
                <a16:creationId xmlns:a16="http://schemas.microsoft.com/office/drawing/2014/main" id="{DF6BC9A4-0734-43C8-B624-DCC91AC6B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8686800" cy="4832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indent="-457200">
              <a:defRPr/>
            </a:pPr>
            <a:r>
              <a:rPr lang="en-US" altLang="zh-CN" sz="2800" i="1" dirty="0">
                <a:solidFill>
                  <a:schemeClr val="hlink"/>
                </a:solidFill>
                <a:latin typeface="Times" pitchFamily="18" charset="0"/>
                <a:ea typeface="宋体" pitchFamily="2" charset="-122"/>
              </a:rPr>
              <a:t>b.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每个数据源每秒发送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250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个字符，所以每个字符的持续时间是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1/250 s,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即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4 </a:t>
            </a:r>
            <a:r>
              <a:rPr lang="en-US" altLang="zh-CN" sz="2800" i="1" dirty="0" err="1">
                <a:latin typeface="Times" pitchFamily="18" charset="0"/>
                <a:ea typeface="宋体" pitchFamily="2" charset="-122"/>
              </a:rPr>
              <a:t>ms.</a:t>
            </a:r>
            <a:endParaRPr lang="en-US" altLang="zh-CN" sz="2800" i="1" dirty="0">
              <a:latin typeface="Times" pitchFamily="18" charset="0"/>
              <a:ea typeface="宋体" pitchFamily="2" charset="-122"/>
            </a:endParaRPr>
          </a:p>
          <a:p>
            <a:pPr marL="457200" indent="-457200">
              <a:defRPr/>
            </a:pPr>
            <a:r>
              <a:rPr lang="en-US" altLang="zh-CN" sz="2800" i="1" dirty="0">
                <a:solidFill>
                  <a:schemeClr val="hlink"/>
                </a:solidFill>
                <a:latin typeface="Times" pitchFamily="18" charset="0"/>
                <a:ea typeface="宋体" pitchFamily="2" charset="-122"/>
              </a:rPr>
              <a:t>c.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 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每帧含有每个数据源的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1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个字符，意味着链路需要每秒发送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250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帧，以保护每个数据源的传输率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 .</a:t>
            </a:r>
          </a:p>
          <a:p>
            <a:pPr marL="457200" indent="-457200">
              <a:defRPr/>
            </a:pPr>
            <a:r>
              <a:rPr lang="en-US" altLang="zh-CN" sz="2800" i="1" dirty="0">
                <a:solidFill>
                  <a:schemeClr val="hlink"/>
                </a:solidFill>
                <a:latin typeface="Times" pitchFamily="18" charset="0"/>
                <a:ea typeface="宋体" pitchFamily="2" charset="-122"/>
              </a:rPr>
              <a:t>d.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 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每帧的持续时间是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1/250 s,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即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4 </a:t>
            </a:r>
            <a:r>
              <a:rPr lang="en-US" altLang="zh-CN" sz="2800" i="1" dirty="0" err="1">
                <a:latin typeface="Times" pitchFamily="18" charset="0"/>
                <a:ea typeface="宋体" pitchFamily="2" charset="-122"/>
              </a:rPr>
              <a:t>ms.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注意每帧的持续时间与来自各个数据源的每个字符的持续时间相同。</a:t>
            </a:r>
            <a:endParaRPr lang="en-US" altLang="zh-CN" sz="2800" i="1" dirty="0">
              <a:latin typeface="Times" pitchFamily="18" charset="0"/>
              <a:ea typeface="宋体" pitchFamily="2" charset="-122"/>
            </a:endParaRPr>
          </a:p>
          <a:p>
            <a:pPr marL="514350" indent="-514350">
              <a:buFontTx/>
              <a:buAutoNum type="alphaLcPeriod" startAt="5"/>
              <a:defRPr/>
            </a:pP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每帧传送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4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个字符和 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1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个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 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附件的同步位，这表示每帧   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4 × 8 + 1 = 33 bits.</a:t>
            </a:r>
          </a:p>
          <a:p>
            <a:pPr marL="514350" indent="-514350">
              <a:buFontTx/>
              <a:buAutoNum type="alphaLcPeriod" startAt="5"/>
              <a:defRPr/>
            </a:pP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链路每秒钟发送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250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帧，每帧包含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33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位。这表示链路的数据速率是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250 ×33</a:t>
            </a:r>
            <a:r>
              <a:rPr lang="zh-CN" altLang="en-US" sz="2800" i="1" dirty="0">
                <a:latin typeface="Times" pitchFamily="18" charset="0"/>
                <a:ea typeface="宋体" pitchFamily="2" charset="-122"/>
              </a:rPr>
              <a:t>，即</a:t>
            </a:r>
            <a:r>
              <a:rPr lang="en-US" altLang="zh-CN" sz="2800" i="1" dirty="0">
                <a:latin typeface="Times" pitchFamily="18" charset="0"/>
                <a:ea typeface="宋体" pitchFamily="2" charset="-122"/>
              </a:rPr>
              <a:t>8250 bps.</a:t>
            </a:r>
          </a:p>
        </p:txBody>
      </p:sp>
      <p:sp>
        <p:nvSpPr>
          <p:cNvPr id="90123" name="Rectangle 12">
            <a:extLst>
              <a:ext uri="{FF2B5EF4-FFF2-40B4-BE49-F238E27FC236}">
                <a16:creationId xmlns:a16="http://schemas.microsoft.com/office/drawing/2014/main" id="{3D0B65D9-952B-FC47-8BBD-5970218FD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50752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6.10 (continued)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1">
            <a:extLst>
              <a:ext uri="{FF2B5EF4-FFF2-40B4-BE49-F238E27FC236}">
                <a16:creationId xmlns:a16="http://schemas.microsoft.com/office/drawing/2014/main" id="{D316262E-93AE-5108-506D-C6B58B4A1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778906EB-D8E0-4A93-96D7-56DBA975C83A}" type="slidenum">
              <a:rPr lang="en-US" altLang="zh-CN" sz="2000">
                <a:solidFill>
                  <a:schemeClr val="bg2"/>
                </a:solidFill>
              </a:rPr>
              <a:pPr/>
              <a:t>44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F21ECE8A-B73C-88B9-AA67-E0B123B02C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B66B8A36-E24D-9087-E41D-EF2E71BC61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5" name="Rectangle 4">
            <a:extLst>
              <a:ext uri="{FF2B5EF4-FFF2-40B4-BE49-F238E27FC236}">
                <a16:creationId xmlns:a16="http://schemas.microsoft.com/office/drawing/2014/main" id="{BBBFF3D7-7E0A-BBE7-3982-FA7DD0FDAF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6" name="Rectangle 5">
            <a:extLst>
              <a:ext uri="{FF2B5EF4-FFF2-40B4-BE49-F238E27FC236}">
                <a16:creationId xmlns:a16="http://schemas.microsoft.com/office/drawing/2014/main" id="{16313391-CCD0-57E0-9ECB-59D2FB6DFC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7" name="Rectangle 6">
            <a:extLst>
              <a:ext uri="{FF2B5EF4-FFF2-40B4-BE49-F238E27FC236}">
                <a16:creationId xmlns:a16="http://schemas.microsoft.com/office/drawing/2014/main" id="{08B13A2F-AB15-B674-8BB1-71584DA1F07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8" name="Rectangle 7">
            <a:extLst>
              <a:ext uri="{FF2B5EF4-FFF2-40B4-BE49-F238E27FC236}">
                <a16:creationId xmlns:a16="http://schemas.microsoft.com/office/drawing/2014/main" id="{259EFB7F-069E-5A96-65AD-A01FFFD089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69" name="Rectangle 8">
            <a:extLst>
              <a:ext uri="{FF2B5EF4-FFF2-40B4-BE49-F238E27FC236}">
                <a16:creationId xmlns:a16="http://schemas.microsoft.com/office/drawing/2014/main" id="{EBD74ABD-BFB1-7B7F-A64F-5914AC5E18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70" name="Rectangle 10">
            <a:extLst>
              <a:ext uri="{FF2B5EF4-FFF2-40B4-BE49-F238E27FC236}">
                <a16:creationId xmlns:a16="http://schemas.microsoft.com/office/drawing/2014/main" id="{CBDD8AC5-A410-57BF-16B4-3AE259B48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10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两个通道，一个通道的比特率是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 kbps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，而另一个通道的比特率是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200 kbps,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对它们实现多路复用。如何实现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?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帧速率是多少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?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每帧的持续时间是多少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?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链路的比特率是多少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?</a:t>
            </a:r>
          </a:p>
        </p:txBody>
      </p:sp>
      <p:sp>
        <p:nvSpPr>
          <p:cNvPr id="92171" name="Rectangle 11">
            <a:extLst>
              <a:ext uri="{FF2B5EF4-FFF2-40B4-BE49-F238E27FC236}">
                <a16:creationId xmlns:a16="http://schemas.microsoft.com/office/drawing/2014/main" id="{54616726-47E3-2E5C-7141-E62C91C63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79775"/>
            <a:ext cx="8686800" cy="3108325"/>
          </a:xfrm>
          <a:prstGeom prst="rect">
            <a:avLst/>
          </a:prstGeom>
          <a:noFill/>
          <a:ln w="9525">
            <a:solidFill>
              <a:srgbClr val="DDDDD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可以为第一个通道分配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个时隙而为第二个动刀分配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个时隙，每帧传送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3 bits.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由于它从第一个通道中传送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个位，所以帧速率是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100,000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帧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/s × 3  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即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300 kbps. 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注意：由于每帧从第一个通道中传送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个位，第一个通道的比特率得到保持。因为每帧从第二通道中传送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个位，所以第二个通道的比特率也得到保持。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72" name="Rectangle 12">
            <a:extLst>
              <a:ext uri="{FF2B5EF4-FFF2-40B4-BE49-F238E27FC236}">
                <a16:creationId xmlns:a16="http://schemas.microsoft.com/office/drawing/2014/main" id="{580F546B-135F-13A9-4706-F4B3EF2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2755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6.11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1">
            <a:extLst>
              <a:ext uri="{FF2B5EF4-FFF2-40B4-BE49-F238E27FC236}">
                <a16:creationId xmlns:a16="http://schemas.microsoft.com/office/drawing/2014/main" id="{ED0CF4C8-4BAF-1CB8-5282-AA9675431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2307E243-3221-4826-86E8-397089D5D7B3}" type="slidenum">
              <a:rPr lang="en-US" altLang="zh-CN" sz="2000">
                <a:solidFill>
                  <a:schemeClr val="bg2"/>
                </a:solidFill>
              </a:rPr>
              <a:pPr/>
              <a:t>45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4211" name="Line 2">
            <a:extLst>
              <a:ext uri="{FF2B5EF4-FFF2-40B4-BE49-F238E27FC236}">
                <a16:creationId xmlns:a16="http://schemas.microsoft.com/office/drawing/2014/main" id="{B665F185-D737-569B-64F4-6EA4C5D27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Line 3">
            <a:extLst>
              <a:ext uri="{FF2B5EF4-FFF2-40B4-BE49-F238E27FC236}">
                <a16:creationId xmlns:a16="http://schemas.microsoft.com/office/drawing/2014/main" id="{BC485A52-9E95-5257-5A57-623D1AA86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3" name="Text Box 4">
            <a:extLst>
              <a:ext uri="{FF2B5EF4-FFF2-40B4-BE49-F238E27FC236}">
                <a16:creationId xmlns:a16="http://schemas.microsoft.com/office/drawing/2014/main" id="{3F061A8E-A479-7B63-C550-CA2178D7E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057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6.23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数字体系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Digital hierarchy)</a:t>
            </a:r>
          </a:p>
        </p:txBody>
      </p:sp>
      <p:sp>
        <p:nvSpPr>
          <p:cNvPr id="94214" name="Line 5">
            <a:extLst>
              <a:ext uri="{FF2B5EF4-FFF2-40B4-BE49-F238E27FC236}">
                <a16:creationId xmlns:a16="http://schemas.microsoft.com/office/drawing/2014/main" id="{F230BC68-5B00-91BB-FCA6-2993E5254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4215" name="Picture 6">
            <a:extLst>
              <a:ext uri="{FF2B5EF4-FFF2-40B4-BE49-F238E27FC236}">
                <a16:creationId xmlns:a16="http://schemas.microsoft.com/office/drawing/2014/main" id="{DB1EDAA0-3167-071D-8FDE-DF843C921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1911350"/>
            <a:ext cx="8364537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6" name="Line 7">
            <a:extLst>
              <a:ext uri="{FF2B5EF4-FFF2-40B4-BE49-F238E27FC236}">
                <a16:creationId xmlns:a16="http://schemas.microsoft.com/office/drawing/2014/main" id="{402AA7EA-56AF-96F1-8148-DE5AF2F14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4217" name="Picture 8">
            <a:extLst>
              <a:ext uri="{FF2B5EF4-FFF2-40B4-BE49-F238E27FC236}">
                <a16:creationId xmlns:a16="http://schemas.microsoft.com/office/drawing/2014/main" id="{993ABE8C-D3BD-2857-6091-BEC1C1B20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1911350"/>
            <a:ext cx="8364537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9F10C1B-80AC-4B93-88A0-AA07EDA162BF}"/>
              </a:ext>
            </a:extLst>
          </p:cNvPr>
          <p:cNvSpPr/>
          <p:nvPr/>
        </p:nvSpPr>
        <p:spPr bwMode="auto">
          <a:xfrm>
            <a:off x="6743700" y="192088"/>
            <a:ext cx="20955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数字体系</a:t>
            </a:r>
          </a:p>
        </p:txBody>
      </p:sp>
      <p:sp>
        <p:nvSpPr>
          <p:cNvPr id="94219" name="圆角矩形标注 1">
            <a:extLst>
              <a:ext uri="{FF2B5EF4-FFF2-40B4-BE49-F238E27FC236}">
                <a16:creationId xmlns:a16="http://schemas.microsoft.com/office/drawing/2014/main" id="{5E11032D-28C5-7F69-81B1-15A874735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8" y="1492250"/>
            <a:ext cx="2819400" cy="838200"/>
          </a:xfrm>
          <a:prstGeom prst="wedgeRoundRectCallout">
            <a:avLst>
              <a:gd name="adj1" fmla="val -120519"/>
              <a:gd name="adj2" fmla="val -101977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是美国标准</a:t>
            </a:r>
          </a:p>
        </p:txBody>
      </p:sp>
      <p:sp>
        <p:nvSpPr>
          <p:cNvPr id="94220" name="TextBox 11">
            <a:extLst>
              <a:ext uri="{FF2B5EF4-FFF2-40B4-BE49-F238E27FC236}">
                <a16:creationId xmlns:a16="http://schemas.microsoft.com/office/drawing/2014/main" id="{35B53952-C362-4990-A55E-79B20F261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562600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1.544Mbps</a:t>
            </a:r>
            <a:r>
              <a:rPr lang="zh-CN" altLang="en-US" sz="2400">
                <a:ea typeface="宋体" panose="02010600030101010101" pitchFamily="2" charset="-122"/>
              </a:rPr>
              <a:t>是</a:t>
            </a:r>
            <a:r>
              <a:rPr lang="en-US" altLang="zh-CN" sz="2400">
                <a:ea typeface="宋体" panose="02010600030101010101" pitchFamily="2" charset="-122"/>
              </a:rPr>
              <a:t>24</a:t>
            </a:r>
            <a:r>
              <a:rPr lang="zh-CN" altLang="en-US" sz="2400">
                <a:ea typeface="宋体" panose="02010600030101010101" pitchFamily="2" charset="-122"/>
              </a:rPr>
              <a:t>*</a:t>
            </a:r>
            <a:r>
              <a:rPr lang="en-US" altLang="zh-CN" sz="2400">
                <a:ea typeface="宋体" panose="02010600030101010101" pitchFamily="2" charset="-122"/>
              </a:rPr>
              <a:t>64kbps</a:t>
            </a:r>
            <a:r>
              <a:rPr lang="zh-CN" altLang="en-US" sz="2400">
                <a:ea typeface="宋体" panose="02010600030101010101" pitchFamily="2" charset="-122"/>
              </a:rPr>
              <a:t>加上</a:t>
            </a:r>
            <a:r>
              <a:rPr lang="en-US" altLang="zh-CN" sz="2400">
                <a:ea typeface="宋体" panose="02010600030101010101" pitchFamily="2" charset="-122"/>
              </a:rPr>
              <a:t>8kbps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1">
            <a:extLst>
              <a:ext uri="{FF2B5EF4-FFF2-40B4-BE49-F238E27FC236}">
                <a16:creationId xmlns:a16="http://schemas.microsoft.com/office/drawing/2014/main" id="{FB0D8778-2C2D-5B43-446A-E8464A968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405E337D-C288-43BB-9148-48B8167E35B2}" type="slidenum">
              <a:rPr lang="en-US" altLang="zh-CN" sz="2000">
                <a:solidFill>
                  <a:schemeClr val="bg2"/>
                </a:solidFill>
              </a:rPr>
              <a:pPr/>
              <a:t>46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6259" name="Text Box 2">
            <a:extLst>
              <a:ext uri="{FF2B5EF4-FFF2-40B4-BE49-F238E27FC236}">
                <a16:creationId xmlns:a16="http://schemas.microsoft.com/office/drawing/2014/main" id="{565458E3-C4D0-1872-5312-BD886B6A7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2057400"/>
            <a:ext cx="3492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6.1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DS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T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线路速率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6260" name="Picture 4">
            <a:extLst>
              <a:ext uri="{FF2B5EF4-FFF2-40B4-BE49-F238E27FC236}">
                <a16:creationId xmlns:a16="http://schemas.microsoft.com/office/drawing/2014/main" id="{3A4724E6-6CDE-514B-8586-E9A1218F3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3" y="2571750"/>
            <a:ext cx="7742237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1" name="TextBox 4">
            <a:extLst>
              <a:ext uri="{FF2B5EF4-FFF2-40B4-BE49-F238E27FC236}">
                <a16:creationId xmlns:a16="http://schemas.microsoft.com/office/drawing/2014/main" id="{A249C6E6-5D7E-BB57-53FD-D08E744BC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62000"/>
            <a:ext cx="5334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DS-1</a:t>
            </a:r>
            <a:r>
              <a:rPr lang="zh-CN" altLang="en-US" sz="2400">
                <a:ea typeface="宋体" panose="02010600030101010101" pitchFamily="2" charset="-122"/>
              </a:rPr>
              <a:t>等是服务名称，</a:t>
            </a:r>
            <a:r>
              <a:rPr lang="en-US" altLang="zh-CN" sz="2400">
                <a:ea typeface="宋体" panose="02010600030101010101" pitchFamily="2" charset="-122"/>
              </a:rPr>
              <a:t>T</a:t>
            </a:r>
            <a:r>
              <a:rPr lang="zh-CN" altLang="en-US" sz="2400">
                <a:ea typeface="宋体" panose="02010600030101010101" pitchFamily="2" charset="-122"/>
              </a:rPr>
              <a:t>线路是电话公司实现这些服务的线路（美国标准）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1">
            <a:extLst>
              <a:ext uri="{FF2B5EF4-FFF2-40B4-BE49-F238E27FC236}">
                <a16:creationId xmlns:a16="http://schemas.microsoft.com/office/drawing/2014/main" id="{5A46CE3E-BDBB-12FE-377B-0D8DE5596E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69FE7B71-E1F5-48A6-8181-7AE92FA0E951}" type="slidenum">
              <a:rPr lang="en-US" altLang="zh-CN" sz="2000">
                <a:solidFill>
                  <a:schemeClr val="bg2"/>
                </a:solidFill>
              </a:rPr>
              <a:pPr/>
              <a:t>47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8307" name="Line 2">
            <a:extLst>
              <a:ext uri="{FF2B5EF4-FFF2-40B4-BE49-F238E27FC236}">
                <a16:creationId xmlns:a16="http://schemas.microsoft.com/office/drawing/2014/main" id="{5BC9AFC9-ACE0-3A03-082A-F5AE9D6BE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08" name="Line 3">
            <a:extLst>
              <a:ext uri="{FF2B5EF4-FFF2-40B4-BE49-F238E27FC236}">
                <a16:creationId xmlns:a16="http://schemas.microsoft.com/office/drawing/2014/main" id="{65CB9B6E-AD6A-95A5-DCBA-2C6FED7983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09" name="Text Box 4">
            <a:extLst>
              <a:ext uri="{FF2B5EF4-FFF2-40B4-BE49-F238E27FC236}">
                <a16:creationId xmlns:a16="http://schemas.microsoft.com/office/drawing/2014/main" id="{49E10D07-5C9D-4310-3644-21AD0EA93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084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6.24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用于电话线路多路复用的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T-1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线路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10" name="Line 5">
            <a:extLst>
              <a:ext uri="{FF2B5EF4-FFF2-40B4-BE49-F238E27FC236}">
                <a16:creationId xmlns:a16="http://schemas.microsoft.com/office/drawing/2014/main" id="{61F229B1-A99A-896F-EE95-44D9EBB0C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8311" name="Picture 10">
            <a:extLst>
              <a:ext uri="{FF2B5EF4-FFF2-40B4-BE49-F238E27FC236}">
                <a16:creationId xmlns:a16="http://schemas.microsoft.com/office/drawing/2014/main" id="{9275A81E-05FC-A131-5E23-CC965588C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1684338"/>
            <a:ext cx="8610600" cy="348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1">
            <a:extLst>
              <a:ext uri="{FF2B5EF4-FFF2-40B4-BE49-F238E27FC236}">
                <a16:creationId xmlns:a16="http://schemas.microsoft.com/office/drawing/2014/main" id="{577CA76D-F6AD-95C7-E5B9-4C5DCD005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73FB3D02-F917-413A-BD64-D96DDAEA125B}" type="slidenum">
              <a:rPr lang="en-US" altLang="zh-CN" sz="2000">
                <a:solidFill>
                  <a:schemeClr val="bg2"/>
                </a:solidFill>
              </a:rPr>
              <a:pPr/>
              <a:t>48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0355" name="Line 2">
            <a:extLst>
              <a:ext uri="{FF2B5EF4-FFF2-40B4-BE49-F238E27FC236}">
                <a16:creationId xmlns:a16="http://schemas.microsoft.com/office/drawing/2014/main" id="{81865A3F-212F-C559-17F6-D9333B6A1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6" name="Line 3">
            <a:extLst>
              <a:ext uri="{FF2B5EF4-FFF2-40B4-BE49-F238E27FC236}">
                <a16:creationId xmlns:a16="http://schemas.microsoft.com/office/drawing/2014/main" id="{C6B60096-D32C-C96B-5347-4A0B9152D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7" name="Text Box 4">
            <a:extLst>
              <a:ext uri="{FF2B5EF4-FFF2-40B4-BE49-F238E27FC236}">
                <a16:creationId xmlns:a16="http://schemas.microsoft.com/office/drawing/2014/main" id="{11D348A0-1F53-6CF3-8441-70ADA97B9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003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T-1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帧结构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8" name="Line 5">
            <a:extLst>
              <a:ext uri="{FF2B5EF4-FFF2-40B4-BE49-F238E27FC236}">
                <a16:creationId xmlns:a16="http://schemas.microsoft.com/office/drawing/2014/main" id="{5BAFBBF4-E406-7E15-1692-87E79500AA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0359" name="Picture 7">
            <a:extLst>
              <a:ext uri="{FF2B5EF4-FFF2-40B4-BE49-F238E27FC236}">
                <a16:creationId xmlns:a16="http://schemas.microsoft.com/office/drawing/2014/main" id="{531C0C7F-2F25-2FF3-3B2B-8E5F6BC3A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438275"/>
            <a:ext cx="70850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1">
            <a:extLst>
              <a:ext uri="{FF2B5EF4-FFF2-40B4-BE49-F238E27FC236}">
                <a16:creationId xmlns:a16="http://schemas.microsoft.com/office/drawing/2014/main" id="{00F2835D-BD36-77CD-1CFF-B7D534104A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2B457422-A53D-456C-89F8-E2626EEEE73F}" type="slidenum">
              <a:rPr lang="en-US" altLang="zh-CN" sz="2000">
                <a:solidFill>
                  <a:schemeClr val="bg2"/>
                </a:solidFill>
              </a:rPr>
              <a:pPr/>
              <a:t>49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03" name="Text Box 2">
            <a:extLst>
              <a:ext uri="{FF2B5EF4-FFF2-40B4-BE49-F238E27FC236}">
                <a16:creationId xmlns:a16="http://schemas.microsoft.com/office/drawing/2014/main" id="{36FAAEFD-C8E4-3298-8079-30A01A205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538" y="1676400"/>
            <a:ext cx="4598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6.2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线路的速率（欧洲标准）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404" name="Picture 4">
            <a:extLst>
              <a:ext uri="{FF2B5EF4-FFF2-40B4-BE49-F238E27FC236}">
                <a16:creationId xmlns:a16="http://schemas.microsoft.com/office/drawing/2014/main" id="{57FE1386-9785-FB53-FFBA-97EC52455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205038"/>
            <a:ext cx="5857875" cy="244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5" name="TextBox 5">
            <a:extLst>
              <a:ext uri="{FF2B5EF4-FFF2-40B4-BE49-F238E27FC236}">
                <a16:creationId xmlns:a16="http://schemas.microsoft.com/office/drawing/2014/main" id="{1A037682-0C49-FAFD-73DE-5CA4A1C8E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265738"/>
            <a:ext cx="5257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en-US" altLang="zh-CN" sz="2400" baseline="30000">
                <a:ea typeface="宋体" panose="02010600030101010101" pitchFamily="2" charset="-122"/>
              </a:rPr>
              <a:t>nd</a:t>
            </a:r>
            <a:r>
              <a:rPr lang="en-US" altLang="zh-CN" sz="2400">
                <a:ea typeface="宋体" panose="02010600030101010101" pitchFamily="2" charset="-122"/>
              </a:rPr>
              <a:t> generation GSM</a:t>
            </a:r>
            <a:r>
              <a:rPr lang="zh-CN" altLang="en-US" sz="2400">
                <a:ea typeface="宋体" panose="02010600030101010101" pitchFamily="2" charset="-122"/>
              </a:rPr>
              <a:t>在频分多路后的每个子信道也使用</a:t>
            </a:r>
            <a:r>
              <a:rPr lang="en-US" altLang="zh-CN" sz="2400">
                <a:ea typeface="宋体" panose="02010600030101010101" pitchFamily="2" charset="-122"/>
              </a:rPr>
              <a:t>TDM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1">
            <a:extLst>
              <a:ext uri="{FF2B5EF4-FFF2-40B4-BE49-F238E27FC236}">
                <a16:creationId xmlns:a16="http://schemas.microsoft.com/office/drawing/2014/main" id="{638E3F90-A575-0129-5CA7-F7D9927FB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590FD9F8-B60B-4B3E-8CFD-A63A3CB0F6C2}" type="slidenum">
              <a:rPr lang="en-US" altLang="zh-CN" sz="2000">
                <a:solidFill>
                  <a:schemeClr val="bg2"/>
                </a:solidFill>
              </a:rPr>
              <a:pPr/>
              <a:t>50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4451" name="Line 2">
            <a:extLst>
              <a:ext uri="{FF2B5EF4-FFF2-40B4-BE49-F238E27FC236}">
                <a16:creationId xmlns:a16="http://schemas.microsoft.com/office/drawing/2014/main" id="{44407BE7-0EC5-488E-8B45-9E48C8BED3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2" name="Line 3">
            <a:extLst>
              <a:ext uri="{FF2B5EF4-FFF2-40B4-BE49-F238E27FC236}">
                <a16:creationId xmlns:a16="http://schemas.microsoft.com/office/drawing/2014/main" id="{0E82F2F1-0861-1804-49FA-58A831BA5C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3" name="Text Box 4">
            <a:extLst>
              <a:ext uri="{FF2B5EF4-FFF2-40B4-BE49-F238E27FC236}">
                <a16:creationId xmlns:a16="http://schemas.microsoft.com/office/drawing/2014/main" id="{9B178951-5194-CACC-4C92-CA738B19F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486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TDM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时隙比较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4" name="Line 5">
            <a:extLst>
              <a:ext uri="{FF2B5EF4-FFF2-40B4-BE49-F238E27FC236}">
                <a16:creationId xmlns:a16="http://schemas.microsoft.com/office/drawing/2014/main" id="{17BB9037-44E7-DB86-37A4-8DE4125FD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4455" name="Picture 6">
            <a:extLst>
              <a:ext uri="{FF2B5EF4-FFF2-40B4-BE49-F238E27FC236}">
                <a16:creationId xmlns:a16="http://schemas.microsoft.com/office/drawing/2014/main" id="{89A4BDC8-4A4E-F667-9A06-11C3447D3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8625"/>
            <a:ext cx="6389688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8E89CC19-8F93-40D8-BF53-67DB0F935539}"/>
              </a:ext>
            </a:extLst>
          </p:cNvPr>
          <p:cNvSpPr/>
          <p:nvPr/>
        </p:nvSpPr>
        <p:spPr bwMode="auto">
          <a:xfrm>
            <a:off x="5943600" y="192088"/>
            <a:ext cx="28956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统计时分复用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1">
            <a:extLst>
              <a:ext uri="{FF2B5EF4-FFF2-40B4-BE49-F238E27FC236}">
                <a16:creationId xmlns:a16="http://schemas.microsoft.com/office/drawing/2014/main" id="{6C402AEC-C894-EE42-ED98-511EC56EA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EA74EB38-42F5-4254-AC32-60A3D7572AEC}" type="slidenum">
              <a:rPr lang="en-US" altLang="zh-CN" sz="2000">
                <a:solidFill>
                  <a:schemeClr val="bg2"/>
                </a:solidFill>
              </a:rPr>
              <a:pPr/>
              <a:t>51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97698" name="Rectangle 2">
            <a:extLst>
              <a:ext uri="{FF2B5EF4-FFF2-40B4-BE49-F238E27FC236}">
                <a16:creationId xmlns:a16="http://schemas.microsoft.com/office/drawing/2014/main" id="{9F6ED5F6-068C-4E86-93EF-2934F6390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97699" name="Text Box 3">
            <a:extLst>
              <a:ext uri="{FF2B5EF4-FFF2-40B4-BE49-F238E27FC236}">
                <a16:creationId xmlns:a16="http://schemas.microsoft.com/office/drawing/2014/main" id="{76A7904F-146F-4A40-ACDA-4CC7C690B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6183313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6-2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扩频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(SPREAD SPECTRUM)</a:t>
            </a:r>
          </a:p>
        </p:txBody>
      </p:sp>
      <p:sp>
        <p:nvSpPr>
          <p:cNvPr id="106501" name="Text Box 4">
            <a:extLst>
              <a:ext uri="{FF2B5EF4-FFF2-40B4-BE49-F238E27FC236}">
                <a16:creationId xmlns:a16="http://schemas.microsoft.com/office/drawing/2014/main" id="{A9B5EA91-C3AC-2979-2AD9-24046599B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7701" name="Rectangle 5">
            <a:extLst>
              <a:ext uri="{FF2B5EF4-FFF2-40B4-BE49-F238E27FC236}">
                <a16:creationId xmlns:a16="http://schemas.microsoft.com/office/drawing/2014/main" id="{02ED29E9-5F34-4AB2-88DF-B33510807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96975"/>
            <a:ext cx="8229600" cy="181451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在扩频系统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(SS) 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中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也把来自某些源端的信号组合在一起形成一个更宽的带宽，可是目的略有不同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. 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为达到此目的，扩频技术增加了冗余部分，扩展原始信号的频带满足每个站的需要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106503" name="Rectangle 6">
            <a:extLst>
              <a:ext uri="{FF2B5EF4-FFF2-40B4-BE49-F238E27FC236}">
                <a16:creationId xmlns:a16="http://schemas.microsoft.com/office/drawing/2014/main" id="{85611D3C-0E24-3751-A94B-1AE2E9D12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772025"/>
            <a:ext cx="891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跳频扩频（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Frequency Hopping Spread Spectrum (FHSS)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直接序列扩频（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Direct Sequence Spread Spectrum Synchronous (DSSS)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7703" name="Text Box 7">
            <a:extLst>
              <a:ext uri="{FF2B5EF4-FFF2-40B4-BE49-F238E27FC236}">
                <a16:creationId xmlns:a16="http://schemas.microsoft.com/office/drawing/2014/main" id="{C6B8074A-817E-4BE7-8891-CAACDAD0A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95775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1">
            <a:extLst>
              <a:ext uri="{FF2B5EF4-FFF2-40B4-BE49-F238E27FC236}">
                <a16:creationId xmlns:a16="http://schemas.microsoft.com/office/drawing/2014/main" id="{4D9D7816-C587-C737-1BFE-EAF21151B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8C13C1A8-A063-474B-82AD-83657BFB95EA}" type="slidenum">
              <a:rPr lang="en-US" altLang="zh-CN" sz="2000">
                <a:solidFill>
                  <a:schemeClr val="bg2"/>
                </a:solidFill>
              </a:rPr>
              <a:pPr/>
              <a:t>52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8547" name="Line 2">
            <a:extLst>
              <a:ext uri="{FF2B5EF4-FFF2-40B4-BE49-F238E27FC236}">
                <a16:creationId xmlns:a16="http://schemas.microsoft.com/office/drawing/2014/main" id="{A6C87885-1E77-0B54-D072-A7C723C43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8" name="Line 3">
            <a:extLst>
              <a:ext uri="{FF2B5EF4-FFF2-40B4-BE49-F238E27FC236}">
                <a16:creationId xmlns:a16="http://schemas.microsoft.com/office/drawing/2014/main" id="{9C88845C-D7B8-99FD-0636-A7FCD9AFE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9" name="Text Box 4">
            <a:extLst>
              <a:ext uri="{FF2B5EF4-FFF2-40B4-BE49-F238E27FC236}">
                <a16:creationId xmlns:a16="http://schemas.microsoft.com/office/drawing/2014/main" id="{00DB35EC-7A83-4B66-3848-6FBE49A57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97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6.27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扩频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Spread spectrum)</a:t>
            </a:r>
          </a:p>
        </p:txBody>
      </p:sp>
      <p:sp>
        <p:nvSpPr>
          <p:cNvPr id="108550" name="Line 5">
            <a:extLst>
              <a:ext uri="{FF2B5EF4-FFF2-40B4-BE49-F238E27FC236}">
                <a16:creationId xmlns:a16="http://schemas.microsoft.com/office/drawing/2014/main" id="{DFBA0402-BB46-C000-2BD4-F88C79110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8551" name="Picture 6">
            <a:extLst>
              <a:ext uri="{FF2B5EF4-FFF2-40B4-BE49-F238E27FC236}">
                <a16:creationId xmlns:a16="http://schemas.microsoft.com/office/drawing/2014/main" id="{E3DA57A6-1898-4644-F063-331ACBA20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1447800"/>
            <a:ext cx="7788275" cy="305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1B60D71B-A6BD-4F0A-B11C-435E2B36AE1A}"/>
              </a:ext>
            </a:extLst>
          </p:cNvPr>
          <p:cNvSpPr/>
          <p:nvPr/>
        </p:nvSpPr>
        <p:spPr bwMode="auto">
          <a:xfrm>
            <a:off x="304800" y="4724400"/>
            <a:ext cx="8458200" cy="13716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对每个站点需要分配的带宽显然要比它所需要的带宽更大</a:t>
            </a:r>
            <a:endParaRPr lang="en-US" altLang="zh-CN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原来的带宽</a:t>
            </a:r>
            <a:r>
              <a:rPr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扩大到</a:t>
            </a:r>
            <a:r>
              <a:rPr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B</a:t>
            </a:r>
            <a:r>
              <a:rPr lang="en-US" altLang="zh-CN" sz="2400" baseline="-25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SS</a:t>
            </a:r>
            <a:r>
              <a:rPr lang="zh-CN" altLang="en-US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必须由一个与原来的信号无关的过程来做。即，信号由源端生成后，扩频过程才发生。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1">
            <a:extLst>
              <a:ext uri="{FF2B5EF4-FFF2-40B4-BE49-F238E27FC236}">
                <a16:creationId xmlns:a16="http://schemas.microsoft.com/office/drawing/2014/main" id="{5FF3195C-46EB-528E-3988-DC5D3A1E9F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F1D51613-435A-4543-9C2C-6276F72121CE}" type="slidenum">
              <a:rPr lang="en-US" altLang="zh-CN" sz="2000">
                <a:solidFill>
                  <a:schemeClr val="bg2"/>
                </a:solidFill>
              </a:rPr>
              <a:pPr/>
              <a:t>53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0595" name="Line 2">
            <a:extLst>
              <a:ext uri="{FF2B5EF4-FFF2-40B4-BE49-F238E27FC236}">
                <a16:creationId xmlns:a16="http://schemas.microsoft.com/office/drawing/2014/main" id="{C488B5CB-63C1-072E-0DD1-637C2970C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6" name="Line 3">
            <a:extLst>
              <a:ext uri="{FF2B5EF4-FFF2-40B4-BE49-F238E27FC236}">
                <a16:creationId xmlns:a16="http://schemas.microsoft.com/office/drawing/2014/main" id="{D6CAE885-731D-EA63-7821-79795F07BD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7" name="Text Box 4">
            <a:extLst>
              <a:ext uri="{FF2B5EF4-FFF2-40B4-BE49-F238E27FC236}">
                <a16:creationId xmlns:a16="http://schemas.microsoft.com/office/drawing/2014/main" id="{11679613-FDE8-97AA-14EA-5A0274061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946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6.28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跳频扩频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(FHSS)</a:t>
            </a:r>
          </a:p>
        </p:txBody>
      </p:sp>
      <p:sp>
        <p:nvSpPr>
          <p:cNvPr id="110598" name="Line 5">
            <a:extLst>
              <a:ext uri="{FF2B5EF4-FFF2-40B4-BE49-F238E27FC236}">
                <a16:creationId xmlns:a16="http://schemas.microsoft.com/office/drawing/2014/main" id="{9E6D7450-F63E-5ADF-5436-7DCD668E8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0599" name="Picture 6">
            <a:extLst>
              <a:ext uri="{FF2B5EF4-FFF2-40B4-BE49-F238E27FC236}">
                <a16:creationId xmlns:a16="http://schemas.microsoft.com/office/drawing/2014/main" id="{63757AF2-D454-C4A7-031F-F730AD0FF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693863"/>
            <a:ext cx="7277100" cy="440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1">
            <a:extLst>
              <a:ext uri="{FF2B5EF4-FFF2-40B4-BE49-F238E27FC236}">
                <a16:creationId xmlns:a16="http://schemas.microsoft.com/office/drawing/2014/main" id="{BEF27F69-3584-8E26-C1A2-766C70F75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FDBBF964-8236-492F-9EC3-F4A4F64B2438}" type="slidenum">
              <a:rPr lang="en-US" altLang="zh-CN" sz="2000">
                <a:solidFill>
                  <a:schemeClr val="bg2"/>
                </a:solidFill>
              </a:rPr>
              <a:pPr/>
              <a:t>54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2643" name="Line 2">
            <a:extLst>
              <a:ext uri="{FF2B5EF4-FFF2-40B4-BE49-F238E27FC236}">
                <a16:creationId xmlns:a16="http://schemas.microsoft.com/office/drawing/2014/main" id="{A0F2E2A1-A146-6491-77FE-E94082CDE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4" name="Line 3">
            <a:extLst>
              <a:ext uri="{FF2B5EF4-FFF2-40B4-BE49-F238E27FC236}">
                <a16:creationId xmlns:a16="http://schemas.microsoft.com/office/drawing/2014/main" id="{4BE9EBBF-3237-31C6-A710-25B8634F2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5" name="Text Box 4">
            <a:extLst>
              <a:ext uri="{FF2B5EF4-FFF2-40B4-BE49-F238E27FC236}">
                <a16:creationId xmlns:a16="http://schemas.microsoft.com/office/drawing/2014/main" id="{A6CF1A2D-674E-F71C-8CD8-C2E5FEFB6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022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6.29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FHSS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中频率的选择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6" name="Line 5">
            <a:extLst>
              <a:ext uri="{FF2B5EF4-FFF2-40B4-BE49-F238E27FC236}">
                <a16:creationId xmlns:a16="http://schemas.microsoft.com/office/drawing/2014/main" id="{D57A523D-5EC2-2D23-A8EB-2D4F81D3F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647" name="Picture 6">
            <a:extLst>
              <a:ext uri="{FF2B5EF4-FFF2-40B4-BE49-F238E27FC236}">
                <a16:creationId xmlns:a16="http://schemas.microsoft.com/office/drawing/2014/main" id="{EF1A7E7E-F6F3-B48D-6AD8-C252237AD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32155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1">
            <a:extLst>
              <a:ext uri="{FF2B5EF4-FFF2-40B4-BE49-F238E27FC236}">
                <a16:creationId xmlns:a16="http://schemas.microsoft.com/office/drawing/2014/main" id="{FC5D5394-8C9F-8A82-F201-0C332E3F2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B4DC1091-4186-4078-8906-2434261FA077}" type="slidenum">
              <a:rPr lang="en-US" altLang="zh-CN" sz="2000">
                <a:solidFill>
                  <a:schemeClr val="bg2"/>
                </a:solidFill>
              </a:rPr>
              <a:pPr/>
              <a:t>55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4691" name="Line 2">
            <a:extLst>
              <a:ext uri="{FF2B5EF4-FFF2-40B4-BE49-F238E27FC236}">
                <a16:creationId xmlns:a16="http://schemas.microsoft.com/office/drawing/2014/main" id="{A36A209B-51B5-596A-2828-89ECE4785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2" name="Line 3">
            <a:extLst>
              <a:ext uri="{FF2B5EF4-FFF2-40B4-BE49-F238E27FC236}">
                <a16:creationId xmlns:a16="http://schemas.microsoft.com/office/drawing/2014/main" id="{8711969C-8F72-D7B7-F96A-9A5C102599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3" name="Text Box 4">
            <a:extLst>
              <a:ext uri="{FF2B5EF4-FFF2-40B4-BE49-F238E27FC236}">
                <a16:creationId xmlns:a16="http://schemas.microsoft.com/office/drawing/2014/main" id="{213BAFD0-0F6D-6B5D-3BEE-91A1D407A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05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6.30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FHSS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循环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4" name="Line 5">
            <a:extLst>
              <a:ext uri="{FF2B5EF4-FFF2-40B4-BE49-F238E27FC236}">
                <a16:creationId xmlns:a16="http://schemas.microsoft.com/office/drawing/2014/main" id="{099970F6-A8AB-85B6-4186-5B2C60A3D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4695" name="Picture 6">
            <a:extLst>
              <a:ext uri="{FF2B5EF4-FFF2-40B4-BE49-F238E27FC236}">
                <a16:creationId xmlns:a16="http://schemas.microsoft.com/office/drawing/2014/main" id="{2B924FBC-5C08-108F-FB7F-9F41CA6DB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88" y="1676400"/>
            <a:ext cx="6983412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1">
            <a:extLst>
              <a:ext uri="{FF2B5EF4-FFF2-40B4-BE49-F238E27FC236}">
                <a16:creationId xmlns:a16="http://schemas.microsoft.com/office/drawing/2014/main" id="{13F7C218-FF0A-621A-CC7E-0AF05FA3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5FE9A338-5D1E-41B1-9031-7CE560BBA878}" type="slidenum">
              <a:rPr lang="en-US" altLang="zh-CN" sz="2000">
                <a:solidFill>
                  <a:schemeClr val="bg2"/>
                </a:solidFill>
              </a:rPr>
              <a:pPr/>
              <a:t>56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6739" name="Line 2">
            <a:extLst>
              <a:ext uri="{FF2B5EF4-FFF2-40B4-BE49-F238E27FC236}">
                <a16:creationId xmlns:a16="http://schemas.microsoft.com/office/drawing/2014/main" id="{54D8F9A2-C450-9787-5724-BF64F130B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0" name="Line 3">
            <a:extLst>
              <a:ext uri="{FF2B5EF4-FFF2-40B4-BE49-F238E27FC236}">
                <a16:creationId xmlns:a16="http://schemas.microsoft.com/office/drawing/2014/main" id="{DEAD64D9-4411-6D29-B07E-9BE64BE7C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1" name="Text Box 4">
            <a:extLst>
              <a:ext uri="{FF2B5EF4-FFF2-40B4-BE49-F238E27FC236}">
                <a16:creationId xmlns:a16="http://schemas.microsoft.com/office/drawing/2014/main" id="{129E1D54-0CDA-9704-00E0-E72878632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273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6.31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带宽共享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Bandwidth sharing)</a:t>
            </a:r>
          </a:p>
        </p:txBody>
      </p:sp>
      <p:sp>
        <p:nvSpPr>
          <p:cNvPr id="116742" name="Line 5">
            <a:extLst>
              <a:ext uri="{FF2B5EF4-FFF2-40B4-BE49-F238E27FC236}">
                <a16:creationId xmlns:a16="http://schemas.microsoft.com/office/drawing/2014/main" id="{74F5492F-23D8-4B09-029D-32727DF2B4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6743" name="Picture 6">
            <a:extLst>
              <a:ext uri="{FF2B5EF4-FFF2-40B4-BE49-F238E27FC236}">
                <a16:creationId xmlns:a16="http://schemas.microsoft.com/office/drawing/2014/main" id="{7196B8B5-BFF0-9B79-413A-2298FCD52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01838"/>
            <a:ext cx="8656638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1">
            <a:extLst>
              <a:ext uri="{FF2B5EF4-FFF2-40B4-BE49-F238E27FC236}">
                <a16:creationId xmlns:a16="http://schemas.microsoft.com/office/drawing/2014/main" id="{0ADB23CE-8B4F-B8C2-172E-556760F08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08D29867-98B5-4E5B-BD87-25C3DC35BC35}" type="slidenum">
              <a:rPr lang="en-US" altLang="zh-CN" sz="2000">
                <a:solidFill>
                  <a:schemeClr val="bg2"/>
                </a:solidFill>
              </a:rPr>
              <a:pPr/>
              <a:t>57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8787" name="Line 2">
            <a:extLst>
              <a:ext uri="{FF2B5EF4-FFF2-40B4-BE49-F238E27FC236}">
                <a16:creationId xmlns:a16="http://schemas.microsoft.com/office/drawing/2014/main" id="{EF165425-12B8-E735-38AD-0CEBCC6FF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88" name="Line 3">
            <a:extLst>
              <a:ext uri="{FF2B5EF4-FFF2-40B4-BE49-F238E27FC236}">
                <a16:creationId xmlns:a16="http://schemas.microsoft.com/office/drawing/2014/main" id="{9C4A309D-1DC3-480E-B384-BE8C7A9CD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89" name="Text Box 4">
            <a:extLst>
              <a:ext uri="{FF2B5EF4-FFF2-40B4-BE49-F238E27FC236}">
                <a16:creationId xmlns:a16="http://schemas.microsoft.com/office/drawing/2014/main" id="{112C3A26-38B0-01B0-9C79-21635E1BC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76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6.32 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直接序列扩频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DSSS)</a:t>
            </a:r>
          </a:p>
        </p:txBody>
      </p:sp>
      <p:sp>
        <p:nvSpPr>
          <p:cNvPr id="118790" name="Line 5">
            <a:extLst>
              <a:ext uri="{FF2B5EF4-FFF2-40B4-BE49-F238E27FC236}">
                <a16:creationId xmlns:a16="http://schemas.microsoft.com/office/drawing/2014/main" id="{6541F3A7-9446-423C-A0C0-475BEF17E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8791" name="Picture 6">
            <a:extLst>
              <a:ext uri="{FF2B5EF4-FFF2-40B4-BE49-F238E27FC236}">
                <a16:creationId xmlns:a16="http://schemas.microsoft.com/office/drawing/2014/main" id="{F9625143-D4D0-9A67-3550-DACA021A5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2490788"/>
            <a:ext cx="8126412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1">
            <a:extLst>
              <a:ext uri="{FF2B5EF4-FFF2-40B4-BE49-F238E27FC236}">
                <a16:creationId xmlns:a16="http://schemas.microsoft.com/office/drawing/2014/main" id="{9337C539-1E99-8B1D-8FF8-4AF795BA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6.</a:t>
            </a:r>
            <a:fld id="{68CB2EB6-9EB3-4F7B-9FB5-3635935EDA7E}" type="slidenum">
              <a:rPr lang="en-US" altLang="zh-CN" sz="2000">
                <a:solidFill>
                  <a:schemeClr val="bg2"/>
                </a:solidFill>
              </a:rPr>
              <a:pPr/>
              <a:t>58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0835" name="Line 2">
            <a:extLst>
              <a:ext uri="{FF2B5EF4-FFF2-40B4-BE49-F238E27FC236}">
                <a16:creationId xmlns:a16="http://schemas.microsoft.com/office/drawing/2014/main" id="{272E1042-D6C7-2758-7503-0D72B5066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6" name="Line 3">
            <a:extLst>
              <a:ext uri="{FF2B5EF4-FFF2-40B4-BE49-F238E27FC236}">
                <a16:creationId xmlns:a16="http://schemas.microsoft.com/office/drawing/2014/main" id="{FFC3ED2F-C7CB-57FB-992E-302D313B6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7" name="Text Box 4">
            <a:extLst>
              <a:ext uri="{FF2B5EF4-FFF2-40B4-BE49-F238E27FC236}">
                <a16:creationId xmlns:a16="http://schemas.microsoft.com/office/drawing/2014/main" id="{5E147DB2-99BE-F6CF-8750-C290F0A7C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384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6.33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DSSS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的例子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8" name="Line 5">
            <a:extLst>
              <a:ext uri="{FF2B5EF4-FFF2-40B4-BE49-F238E27FC236}">
                <a16:creationId xmlns:a16="http://schemas.microsoft.com/office/drawing/2014/main" id="{E66997E8-4637-9F9E-73D9-BB1A80CA7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0839" name="Picture 6">
            <a:extLst>
              <a:ext uri="{FF2B5EF4-FFF2-40B4-BE49-F238E27FC236}">
                <a16:creationId xmlns:a16="http://schemas.microsoft.com/office/drawing/2014/main" id="{B6998181-E0A7-6050-CA57-E9160E50A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57400"/>
            <a:ext cx="8875713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3406</TotalTime>
  <Words>2626</Words>
  <Application>Microsoft Office PowerPoint</Application>
  <PresentationFormat>全屏显示(4:3)</PresentationFormat>
  <Paragraphs>238</Paragraphs>
  <Slides>58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6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218</cp:revision>
  <dcterms:created xsi:type="dcterms:W3CDTF">2000-01-15T04:50:39Z</dcterms:created>
  <dcterms:modified xsi:type="dcterms:W3CDTF">2026-06-02T07:11:59Z</dcterms:modified>
</cp:coreProperties>
</file>