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5"/>
  </p:notesMasterIdLst>
  <p:handoutMasterIdLst>
    <p:handoutMasterId r:id="rId26"/>
  </p:handoutMasterIdLst>
  <p:sldIdLst>
    <p:sldId id="764" r:id="rId2"/>
    <p:sldId id="765" r:id="rId3"/>
    <p:sldId id="766" r:id="rId4"/>
    <p:sldId id="783" r:id="rId5"/>
    <p:sldId id="767" r:id="rId6"/>
    <p:sldId id="768" r:id="rId7"/>
    <p:sldId id="784" r:id="rId8"/>
    <p:sldId id="785" r:id="rId9"/>
    <p:sldId id="769" r:id="rId10"/>
    <p:sldId id="770" r:id="rId11"/>
    <p:sldId id="771" r:id="rId12"/>
    <p:sldId id="772" r:id="rId13"/>
    <p:sldId id="773" r:id="rId14"/>
    <p:sldId id="774" r:id="rId15"/>
    <p:sldId id="775" r:id="rId16"/>
    <p:sldId id="786" r:id="rId17"/>
    <p:sldId id="776" r:id="rId18"/>
    <p:sldId id="777" r:id="rId19"/>
    <p:sldId id="787" r:id="rId20"/>
    <p:sldId id="778" r:id="rId21"/>
    <p:sldId id="779" r:id="rId22"/>
    <p:sldId id="780" r:id="rId23"/>
    <p:sldId id="781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99FF33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1" autoAdjust="0"/>
    <p:restoredTop sz="94746" autoAdjust="0"/>
  </p:normalViewPr>
  <p:slideViewPr>
    <p:cSldViewPr>
      <p:cViewPr varScale="1">
        <p:scale>
          <a:sx n="105" d="100"/>
          <a:sy n="105" d="100"/>
        </p:scale>
        <p:origin x="-107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Rectangle 2">
            <a:extLst>
              <a:ext uri="{FF2B5EF4-FFF2-40B4-BE49-F238E27FC236}">
                <a16:creationId xmlns:a16="http://schemas.microsoft.com/office/drawing/2014/main" id="{1300527E-DB69-E92F-0586-17AB1B6042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0099" name="Rectangle 3">
            <a:extLst>
              <a:ext uri="{FF2B5EF4-FFF2-40B4-BE49-F238E27FC236}">
                <a16:creationId xmlns:a16="http://schemas.microsoft.com/office/drawing/2014/main" id="{061E3BD1-4E0B-F8C4-C8A7-7500575560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00100" name="Rectangle 4">
            <a:extLst>
              <a:ext uri="{FF2B5EF4-FFF2-40B4-BE49-F238E27FC236}">
                <a16:creationId xmlns:a16="http://schemas.microsoft.com/office/drawing/2014/main" id="{467CF15A-C550-3A2D-E357-88844359FBB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1.#</a:t>
            </a:r>
          </a:p>
        </p:txBody>
      </p:sp>
      <p:sp>
        <p:nvSpPr>
          <p:cNvPr id="900101" name="Rectangle 5">
            <a:extLst>
              <a:ext uri="{FF2B5EF4-FFF2-40B4-BE49-F238E27FC236}">
                <a16:creationId xmlns:a16="http://schemas.microsoft.com/office/drawing/2014/main" id="{DEF00BF0-831C-5628-A0FC-5C9BE84C4EB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201CC394-2DD7-4D7A-A276-62E0075561B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>
            <a:extLst>
              <a:ext uri="{FF2B5EF4-FFF2-40B4-BE49-F238E27FC236}">
                <a16:creationId xmlns:a16="http://schemas.microsoft.com/office/drawing/2014/main" id="{B2607B75-A19B-8347-CB41-5722A50DB6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78595" name="Rectangle 3">
            <a:extLst>
              <a:ext uri="{FF2B5EF4-FFF2-40B4-BE49-F238E27FC236}">
                <a16:creationId xmlns:a16="http://schemas.microsoft.com/office/drawing/2014/main" id="{873838AA-A200-E215-756D-940144CAE49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4C2383FF-431C-01A8-D56A-69217749A991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8597" name="Rectangle 5">
            <a:extLst>
              <a:ext uri="{FF2B5EF4-FFF2-40B4-BE49-F238E27FC236}">
                <a16:creationId xmlns:a16="http://schemas.microsoft.com/office/drawing/2014/main" id="{D596FA95-E049-4F5D-A1CB-4698BFE89D9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878598" name="Rectangle 6">
            <a:extLst>
              <a:ext uri="{FF2B5EF4-FFF2-40B4-BE49-F238E27FC236}">
                <a16:creationId xmlns:a16="http://schemas.microsoft.com/office/drawing/2014/main" id="{1E8D7809-5071-38B6-F161-C50766C5AF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1.#</a:t>
            </a:r>
          </a:p>
        </p:txBody>
      </p:sp>
      <p:sp>
        <p:nvSpPr>
          <p:cNvPr id="878599" name="Rectangle 7">
            <a:extLst>
              <a:ext uri="{FF2B5EF4-FFF2-40B4-BE49-F238E27FC236}">
                <a16:creationId xmlns:a16="http://schemas.microsoft.com/office/drawing/2014/main" id="{8F959479-F122-0B23-2207-981413B3A7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6DFDE375-3BF7-44AD-91C5-4FE45C0C022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53EADC5D-FF8E-2C56-4F5B-4EB2D47078E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2FF06F3-E469-E708-28C3-CF6DD26A083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0438B47F-ABBF-6E34-1DA7-FA07C00CC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B8894A9B-9BAF-762A-DA49-A8B30921B6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2D9ABCD-A5C9-B51A-FD48-D7365E4F0F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CF662B9-F59F-BC49-5F50-A1CA4D70BD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65FB7A75-0122-97FD-561F-475CCF4881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92815594-FEDD-44F4-9A4C-BB60859ACC8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9599E0E2-3639-B4E0-006A-39BECC9DE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764D91E5-F7D5-B624-784C-6EA18382EB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BC28C8DE-0DF3-9FFA-B554-9BB24FEE55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8D3584A-C614-993F-AD67-9B5F33068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473F4E00-E5F8-A956-4A2B-39AC2D74157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97816A8F-A0B3-D904-6590-F47EF5F2D6B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AE8D7C42-2C54-92FD-AF84-6EDEE5460B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AEAB88F6-FB4C-690F-2427-0FDD1E7E5EF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2591B007-B0D6-507D-5876-C38E8F6A408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11EB23C2-5F40-BBF3-AD37-9916165D5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6">
            <a:extLst>
              <a:ext uri="{FF2B5EF4-FFF2-40B4-BE49-F238E27FC236}">
                <a16:creationId xmlns:a16="http://schemas.microsoft.com/office/drawing/2014/main" id="{2F20B335-DCE8-ECBD-0039-2B23C84184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AC1F91E-AF94-B1DF-14A9-4B0E06236B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E821B056-D0FF-729B-2245-E60B87417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>
            <a:extLst>
              <a:ext uri="{FF2B5EF4-FFF2-40B4-BE49-F238E27FC236}">
                <a16:creationId xmlns:a16="http://schemas.microsoft.com/office/drawing/2014/main" id="{60F1A741-E453-1E31-FD0D-E2AE88DFFD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011664F-F49F-3409-A97F-D90BAF07985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151DC7C1-021E-94E6-2E35-28EDAFA9A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7E9F3053-FDED-D98B-3F82-CC30012149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9E89DCE-2D48-C46F-37D8-E886CDCA136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76077B0-9214-29F8-110F-B437D0F9B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>
            <a:extLst>
              <a:ext uri="{FF2B5EF4-FFF2-40B4-BE49-F238E27FC236}">
                <a16:creationId xmlns:a16="http://schemas.microsoft.com/office/drawing/2014/main" id="{72F41BA6-765B-C43F-E73D-0558A6071C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C25F05B5-66B6-042C-7A2F-E27DD85A9AA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4544BAB-8015-CBDD-57A7-DB18E94EE0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>
            <a:extLst>
              <a:ext uri="{FF2B5EF4-FFF2-40B4-BE49-F238E27FC236}">
                <a16:creationId xmlns:a16="http://schemas.microsoft.com/office/drawing/2014/main" id="{04C1BD35-F712-C3A8-B72A-5A975BE0B5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24FBD79-DA68-23AC-A0A9-5C72482DBDF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42390DA8-5222-EAEC-4A68-E3FF9986FA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">
            <a:extLst>
              <a:ext uri="{FF2B5EF4-FFF2-40B4-BE49-F238E27FC236}">
                <a16:creationId xmlns:a16="http://schemas.microsoft.com/office/drawing/2014/main" id="{85171CF1-E01A-2D76-2A57-E017918920E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BAE8335-6568-34CC-8657-79160E781B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D42F8D7-BA81-913A-50F5-45CAFD7EF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>
            <a:extLst>
              <a:ext uri="{FF2B5EF4-FFF2-40B4-BE49-F238E27FC236}">
                <a16:creationId xmlns:a16="http://schemas.microsoft.com/office/drawing/2014/main" id="{701506A2-D1EA-2F54-417F-CDF5412D241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CD457EB2-FC1D-2465-F618-61990D2FF44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2C3F041C-452F-8AEA-8B39-CD36CCA823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>
            <a:extLst>
              <a:ext uri="{FF2B5EF4-FFF2-40B4-BE49-F238E27FC236}">
                <a16:creationId xmlns:a16="http://schemas.microsoft.com/office/drawing/2014/main" id="{D7D83C9A-0085-C80D-5DBB-F192220B66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058382B0-1EA2-9A89-7B9A-B8FB7457AEE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98BA90D-8086-F82C-6271-CC117C1D1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9A1C2A53-B5F8-F54F-413E-9AFEAFFA78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9A94723E-7ED3-D792-E5A4-C239DE6216F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3ADCAD6C-2092-9020-65F4-14F36CEA4E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53629401-DECF-CD09-877E-4BF1F53B250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580B3C8-2EE7-BCAB-CE73-F32A5C896CA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A065AAF3-B27A-87D3-B7BC-9D3FDBAF9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>
            <a:extLst>
              <a:ext uri="{FF2B5EF4-FFF2-40B4-BE49-F238E27FC236}">
                <a16:creationId xmlns:a16="http://schemas.microsoft.com/office/drawing/2014/main" id="{7167D18F-5F39-9EBA-8864-1E8DD9350ED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9FD0798-3FCE-2D35-43EF-BF612A5688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12F16535-3BDF-E251-C81F-36F5E33ED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>
            <a:extLst>
              <a:ext uri="{FF2B5EF4-FFF2-40B4-BE49-F238E27FC236}">
                <a16:creationId xmlns:a16="http://schemas.microsoft.com/office/drawing/2014/main" id="{26553B5F-3640-F8F3-A4BB-CA345A8434B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200" b="0">
                <a:latin typeface="Times New Roman" panose="02020603050405020304" pitchFamily="18" charset="0"/>
              </a:rPr>
              <a:t>1.#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B2E3B89-0E04-D5D3-1834-DE1E44265E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2CC3F63-D617-9E17-9BC9-FB9514C6D4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90FCDD-574D-0ED7-D5FB-1DCDF49B6FA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849DAFB-29C7-2F0C-19F2-504029FCAB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8E2D73CE-51B4-7A61-2EF0-B3FA981A7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D79E22EF-3D82-F248-C8E5-0DE43FC91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88769141-6F93-A902-BA92-0BB8236A08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D5AD4C-0FAC-5D08-AC33-1FCFD5661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8960EED-4D7D-42FB-DC5B-151F0B500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-122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DC92769-D93F-8906-91ED-72897A8CF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0E426806-DEF6-67FF-85AB-C492F99BF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6F5AF361-13D0-C473-777F-1FBF2D5EC1C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-122"/>
              </a:endParaRPr>
            </a:p>
          </p:txBody>
        </p:sp>
      </p:grpSp>
      <p:sp>
        <p:nvSpPr>
          <p:cNvPr id="12" name="Text Box 17">
            <a:extLst>
              <a:ext uri="{FF2B5EF4-FFF2-40B4-BE49-F238E27FC236}">
                <a16:creationId xmlns:a16="http://schemas.microsoft.com/office/drawing/2014/main" id="{257329FD-B075-5965-86D4-CE1DD212CB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ABDAB5D9-3B54-1086-D0CB-0DD9C6728D1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  <a:defRPr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34F4AC8F-DE51-22BF-B3CC-D92273C6E6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95BA4706-B8E0-5632-3B99-1366A15332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C7E6DF29-9FE5-C9E8-99D5-4577B8707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fld id="{3BF845FF-731B-4C15-BBAF-300F9EA5270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0550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2886DCC-7BEB-A826-9746-0F0B741B63B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BE64D29F-510A-463F-B806-1434EB58D3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055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7694F15-F4EC-A617-A3B2-AE9A4FEC0B2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14C7D59E-5008-4BF1-A984-9430CF60DD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96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090EA4F-543E-CA00-B4A6-B1CBE99DD21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DAEB12C1-171A-412A-B0E1-FB372259FF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146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E61A542-E1C7-EC96-A18D-AED65CF13CA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00DF5586-4FD9-40EE-B6FE-CD203735FD2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344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8C81A7DE-07BF-4483-DF26-AC4C22BFFA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2D08D62E-D7EE-42C7-B3C6-661565BA8C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777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A2D7D797-5D34-0D15-15E3-574B8CBA66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5E45406C-9382-4359-BAF5-D49B4DDBBC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4493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A3A60B1-289E-6B5D-2CB3-433102874B7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DD8E8B28-EE59-4F44-A9C5-476D906113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867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B100D697-3FF4-5233-1F90-8C1306B985C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80F659D3-3A09-4437-ADE7-9E59D2E4DA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10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4583C56-4920-715C-E0CD-E60B9DD7BC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9079B06A-109D-4519-A5E5-032219BAAC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5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39B7E6E-EB6D-D738-BF72-D28EB8F0AE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59236E61-BCDA-48FA-91E0-CB0A4AA098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5459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D1B9EF61-683B-C64B-5C7F-C07E3A0097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1.</a:t>
            </a:r>
            <a:fld id="{9B3BDF80-F139-4DDD-910E-02C2254FDF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652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3" name="Rectangle 13">
            <a:extLst>
              <a:ext uri="{FF2B5EF4-FFF2-40B4-BE49-F238E27FC236}">
                <a16:creationId xmlns:a16="http://schemas.microsoft.com/office/drawing/2014/main" id="{6F0159A2-245E-AF21-1F80-AFCD0E8E6F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1.</a:t>
            </a:r>
            <a:fld id="{342605C2-8023-4F89-B506-33C1774B456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2">
            <a:extLst>
              <a:ext uri="{FF2B5EF4-FFF2-40B4-BE49-F238E27FC236}">
                <a16:creationId xmlns:a16="http://schemas.microsoft.com/office/drawing/2014/main" id="{286FAFAC-64E4-90F0-E380-6DE194C7A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477B31E4-73A2-4473-A749-D5F665CBFC03}" type="slidenum">
              <a:rPr lang="en-US" altLang="zh-CN" sz="2000"/>
              <a:pPr/>
              <a:t>1</a:t>
            </a:fld>
            <a:endParaRPr lang="en-US" altLang="zh-CN" sz="2000"/>
          </a:p>
        </p:txBody>
      </p:sp>
      <p:pic>
        <p:nvPicPr>
          <p:cNvPr id="3075" name="Picture 2" descr="Forouzan4e07_banner">
            <a:extLst>
              <a:ext uri="{FF2B5EF4-FFF2-40B4-BE49-F238E27FC236}">
                <a16:creationId xmlns:a16="http://schemas.microsoft.com/office/drawing/2014/main" id="{E38CAC3A-BADB-73C3-BCE5-FE548602B299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Rectangle 3">
            <a:extLst>
              <a:ext uri="{FF2B5EF4-FFF2-40B4-BE49-F238E27FC236}">
                <a16:creationId xmlns:a16="http://schemas.microsoft.com/office/drawing/2014/main" id="{37F22BC6-588C-9020-A99C-2475B7DDC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第一章</a:t>
            </a:r>
            <a:endParaRPr lang="en-US" altLang="en-US" sz="4400">
              <a:solidFill>
                <a:schemeClr val="tx2"/>
              </a:solidFill>
            </a:endParaRP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绪论</a:t>
            </a:r>
          </a:p>
        </p:txBody>
      </p:sp>
      <p:sp>
        <p:nvSpPr>
          <p:cNvPr id="3077" name="Text Box 4">
            <a:extLst>
              <a:ext uri="{FF2B5EF4-FFF2-40B4-BE49-F238E27FC236}">
                <a16:creationId xmlns:a16="http://schemas.microsoft.com/office/drawing/2014/main" id="{98F21C3D-13B3-4EBC-14A3-11EE31AA8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1">
            <a:extLst>
              <a:ext uri="{FF2B5EF4-FFF2-40B4-BE49-F238E27FC236}">
                <a16:creationId xmlns:a16="http://schemas.microsoft.com/office/drawing/2014/main" id="{9466C257-8C24-A256-7ECB-9E3AA2B5FA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7756B0E8-1FC4-44D1-BB23-470AA043E791}" type="slidenum">
              <a:rPr lang="en-US" altLang="zh-CN" sz="2000"/>
              <a:pPr/>
              <a:t>2</a:t>
            </a:fld>
            <a:endParaRPr lang="en-US" altLang="zh-CN" sz="2000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9593AAC2-02B3-B604-6B26-E7F98EDF9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BAEB6C1C-971F-3184-A0C3-7190D1C59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5263"/>
            <a:ext cx="2789238" cy="107791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1-1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数据通信</a:t>
            </a:r>
            <a:b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</a:b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  <a:ea typeface="宋体" charset="-122"/>
            </a:endParaRP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6B198AFE-4CC3-BA62-B05E-8552CDF34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02" name="Rectangle 5">
            <a:extLst>
              <a:ext uri="{FF2B5EF4-FFF2-40B4-BE49-F238E27FC236}">
                <a16:creationId xmlns:a16="http://schemas.microsoft.com/office/drawing/2014/main" id="{FFE0C062-C602-A89D-FAB0-56E4FE4F6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327150"/>
            <a:ext cx="86106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电信</a:t>
            </a:r>
            <a:r>
              <a:rPr lang="en-US" altLang="zh-CN" sz="2800">
                <a:ea typeface="宋体" panose="02010600030101010101" pitchFamily="2" charset="-122"/>
              </a:rPr>
              <a:t>(telecommunication)</a:t>
            </a:r>
            <a:r>
              <a:rPr lang="zh-CN" altLang="en-US" sz="2800">
                <a:ea typeface="宋体" panose="02010600030101010101" pitchFamily="2" charset="-122"/>
              </a:rPr>
              <a:t>是指在一定距离上的通信</a:t>
            </a:r>
            <a:r>
              <a:rPr lang="en-US" altLang="zh-CN" sz="2800">
                <a:ea typeface="宋体" panose="02010600030101010101" pitchFamily="2" charset="-122"/>
              </a:rPr>
              <a:t>(tele</a:t>
            </a:r>
            <a:r>
              <a:rPr lang="zh-CN" altLang="en-US" sz="2800">
                <a:ea typeface="宋体" panose="02010600030101010101" pitchFamily="2" charset="-122"/>
              </a:rPr>
              <a:t>是希腊语，即</a:t>
            </a:r>
            <a:r>
              <a:rPr lang="en-US" altLang="zh-CN" sz="2800">
                <a:ea typeface="宋体" panose="02010600030101010101" pitchFamily="2" charset="-122"/>
              </a:rPr>
              <a:t>“</a:t>
            </a:r>
            <a:r>
              <a:rPr lang="zh-CN" altLang="en-US" sz="2800">
                <a:ea typeface="宋体" panose="02010600030101010101" pitchFamily="2" charset="-122"/>
              </a:rPr>
              <a:t>远程的</a:t>
            </a:r>
            <a:r>
              <a:rPr lang="en-US" altLang="zh-CN" sz="2800">
                <a:ea typeface="宋体" panose="02010600030101010101" pitchFamily="2" charset="-122"/>
              </a:rPr>
              <a:t>”)</a:t>
            </a:r>
            <a:r>
              <a:rPr lang="zh-CN" altLang="en-US" sz="2800">
                <a:ea typeface="宋体" panose="02010600030101010101" pitchFamily="2" charset="-122"/>
              </a:rPr>
              <a:t>；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数据</a:t>
            </a:r>
            <a:r>
              <a:rPr lang="en-US" altLang="zh-CN" sz="2800">
                <a:ea typeface="宋体" panose="02010600030101010101" pitchFamily="2" charset="-122"/>
              </a:rPr>
              <a:t>(data) </a:t>
            </a:r>
            <a:r>
              <a:rPr lang="zh-CN" altLang="en-US" sz="2800">
                <a:ea typeface="宋体" panose="02010600030101010101" pitchFamily="2" charset="-122"/>
              </a:rPr>
              <a:t>是指以任何格式表示的信息，该格式需要创建和使用数据的双方达成共识；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数据通信</a:t>
            </a:r>
            <a:r>
              <a:rPr lang="en-US" altLang="zh-CN" sz="2800">
                <a:ea typeface="宋体" panose="02010600030101010101" pitchFamily="2" charset="-122"/>
              </a:rPr>
              <a:t>(data  communication) </a:t>
            </a:r>
            <a:r>
              <a:rPr lang="zh-CN" altLang="en-US" sz="2800">
                <a:ea typeface="宋体" panose="02010600030101010101" pitchFamily="2" charset="-122"/>
              </a:rPr>
              <a:t>是在两台设备之间通过某种形式的传输介质进行的数据交换。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4103" name="Rectangle 31">
            <a:extLst>
              <a:ext uri="{FF2B5EF4-FFF2-40B4-BE49-F238E27FC236}">
                <a16:creationId xmlns:a16="http://schemas.microsoft.com/office/drawing/2014/main" id="{1FE1046A-BFDB-AB5F-94D0-8F6918F89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048250"/>
            <a:ext cx="5715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Pct val="117000"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组件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Pct val="117000"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数据表示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SzPct val="117000"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数据流</a:t>
            </a:r>
          </a:p>
        </p:txBody>
      </p:sp>
      <p:sp>
        <p:nvSpPr>
          <p:cNvPr id="565280" name="Text Box 32">
            <a:extLst>
              <a:ext uri="{FF2B5EF4-FFF2-40B4-BE49-F238E27FC236}">
                <a16:creationId xmlns:a16="http://schemas.microsoft.com/office/drawing/2014/main" id="{ED457307-BBB8-4391-2AAA-D3EF31D50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51363"/>
            <a:ext cx="2251075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本节要点</a:t>
            </a:r>
            <a:r>
              <a:rPr lang="en-US" altLang="zh-CN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1AFC50AC-BA62-0E92-90CA-B370B0C2F9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0F7A68BB-7AB5-45AD-9A33-9FA714EC1ADA}" type="slidenum">
              <a:rPr lang="en-US" altLang="zh-CN" sz="2000"/>
              <a:pPr/>
              <a:t>3</a:t>
            </a:fld>
            <a:endParaRPr lang="en-US" altLang="zh-CN" sz="2000"/>
          </a:p>
        </p:txBody>
      </p:sp>
      <p:sp>
        <p:nvSpPr>
          <p:cNvPr id="5123" name="Line 2">
            <a:extLst>
              <a:ext uri="{FF2B5EF4-FFF2-40B4-BE49-F238E27FC236}">
                <a16:creationId xmlns:a16="http://schemas.microsoft.com/office/drawing/2014/main" id="{56E0F73E-7BB6-DF40-70FE-4B55B1679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Line 3">
            <a:extLst>
              <a:ext uri="{FF2B5EF4-FFF2-40B4-BE49-F238E27FC236}">
                <a16:creationId xmlns:a16="http://schemas.microsoft.com/office/drawing/2014/main" id="{0C4A5FEC-7521-EF14-D82E-109FEE559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8285FE45-8D4D-40F7-CC78-0AE668B77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743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1.1   </a:t>
            </a:r>
            <a:r>
              <a:rPr lang="zh-CN" altLang="en-US" sz="2400">
                <a:ea typeface="宋体" panose="02010600030101010101" pitchFamily="2" charset="-122"/>
              </a:rPr>
              <a:t>数据通信系统的五个组件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6" name="Line 5">
            <a:extLst>
              <a:ext uri="{FF2B5EF4-FFF2-40B4-BE49-F238E27FC236}">
                <a16:creationId xmlns:a16="http://schemas.microsoft.com/office/drawing/2014/main" id="{95A17AF9-0007-3F15-172A-2037D1086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7" name="Picture 6">
            <a:extLst>
              <a:ext uri="{FF2B5EF4-FFF2-40B4-BE49-F238E27FC236}">
                <a16:creationId xmlns:a16="http://schemas.microsoft.com/office/drawing/2014/main" id="{930176D6-8ACF-F5C8-3E12-A36731B3A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2593975"/>
            <a:ext cx="7065962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8" name="TextBox 7">
            <a:extLst>
              <a:ext uri="{FF2B5EF4-FFF2-40B4-BE49-F238E27FC236}">
                <a16:creationId xmlns:a16="http://schemas.microsoft.com/office/drawing/2014/main" id="{71F84B3A-2F18-6B7E-EAA5-3DC36D273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371600"/>
            <a:ext cx="6781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ea typeface="宋体" panose="02010600030101010101" pitchFamily="2" charset="-122"/>
              </a:rPr>
              <a:t>message, sender, receiver, medium, protocol</a:t>
            </a:r>
            <a:endParaRPr lang="zh-CN" altLang="en-US" sz="24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7DE19628-0E03-D37B-4562-AACCBA737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9.</a:t>
            </a:r>
            <a:fld id="{4ACD6B13-6926-4C03-AEA9-0490300A0E14}" type="slidenum">
              <a:rPr lang="en-US" altLang="zh-CN" sz="2000"/>
              <a:pPr/>
              <a:t>4</a:t>
            </a:fld>
            <a:endParaRPr lang="en-US" altLang="zh-CN" sz="20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C0890078-9743-9790-3A10-A833C25EB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B70A83CD-2F9E-6662-209E-E9796017D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C2C2ABC2-A348-292B-1688-CB0AAE77B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0" name="Rectangle 5">
            <a:extLst>
              <a:ext uri="{FF2B5EF4-FFF2-40B4-BE49-F238E27FC236}">
                <a16:creationId xmlns:a16="http://schemas.microsoft.com/office/drawing/2014/main" id="{DC4C6F65-5274-9B3C-8518-E683A65E3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1" name="Rectangle 6">
            <a:extLst>
              <a:ext uri="{FF2B5EF4-FFF2-40B4-BE49-F238E27FC236}">
                <a16:creationId xmlns:a16="http://schemas.microsoft.com/office/drawing/2014/main" id="{F9F2FC39-49E0-1619-C4DB-22584C4CD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2" name="Rectangle 7">
            <a:extLst>
              <a:ext uri="{FF2B5EF4-FFF2-40B4-BE49-F238E27FC236}">
                <a16:creationId xmlns:a16="http://schemas.microsoft.com/office/drawing/2014/main" id="{7D3CC0BB-8D97-DD7C-6C25-4631A7717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3" name="Rectangle 8">
            <a:extLst>
              <a:ext uri="{FF2B5EF4-FFF2-40B4-BE49-F238E27FC236}">
                <a16:creationId xmlns:a16="http://schemas.microsoft.com/office/drawing/2014/main" id="{E1CED8C8-8BDD-B713-2ED9-613AD6CB0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4" name="Line 9">
            <a:extLst>
              <a:ext uri="{FF2B5EF4-FFF2-40B4-BE49-F238E27FC236}">
                <a16:creationId xmlns:a16="http://schemas.microsoft.com/office/drawing/2014/main" id="{23571AB2-29D4-DA53-5343-5FB52567DA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5" name="Line 10">
            <a:extLst>
              <a:ext uri="{FF2B5EF4-FFF2-40B4-BE49-F238E27FC236}">
                <a16:creationId xmlns:a16="http://schemas.microsoft.com/office/drawing/2014/main" id="{B280F58D-559D-C3F6-540A-5ACFA816E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6" name="Rectangle 11">
            <a:extLst>
              <a:ext uri="{FF2B5EF4-FFF2-40B4-BE49-F238E27FC236}">
                <a16:creationId xmlns:a16="http://schemas.microsoft.com/office/drawing/2014/main" id="{B07FF50B-5295-7015-44B5-03DDCB4F6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信息的数据表示：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文本、数字、图像、音频、视频</a:t>
            </a:r>
          </a:p>
        </p:txBody>
      </p:sp>
      <p:grpSp>
        <p:nvGrpSpPr>
          <p:cNvPr id="6157" name="Group 12">
            <a:extLst>
              <a:ext uri="{FF2B5EF4-FFF2-40B4-BE49-F238E27FC236}">
                <a16:creationId xmlns:a16="http://schemas.microsoft.com/office/drawing/2014/main" id="{A048ECE8-3C84-5AEF-D31C-CBE2252C2AA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6158" name="Picture 13">
              <a:extLst>
                <a:ext uri="{FF2B5EF4-FFF2-40B4-BE49-F238E27FC236}">
                  <a16:creationId xmlns:a16="http://schemas.microsoft.com/office/drawing/2014/main" id="{27F610C8-8329-273F-5579-D93FBECEAE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9" name="Text Box 14">
              <a:extLst>
                <a:ext uri="{FF2B5EF4-FFF2-40B4-BE49-F238E27FC236}">
                  <a16:creationId xmlns:a16="http://schemas.microsoft.com/office/drawing/2014/main" id="{926D2763-A194-4644-BB36-4168B97CD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7649B0F4-2B9C-869A-905E-187D7BBE10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F7BC0D38-2D5F-4F66-A0EC-08F1477A8B13}" type="slidenum">
              <a:rPr lang="en-US" altLang="zh-CN" sz="2000"/>
              <a:pPr/>
              <a:t>5</a:t>
            </a:fld>
            <a:endParaRPr lang="en-US" altLang="zh-CN" sz="2000"/>
          </a:p>
        </p:txBody>
      </p:sp>
      <p:sp>
        <p:nvSpPr>
          <p:cNvPr id="7171" name="Line 2">
            <a:extLst>
              <a:ext uri="{FF2B5EF4-FFF2-40B4-BE49-F238E27FC236}">
                <a16:creationId xmlns:a16="http://schemas.microsoft.com/office/drawing/2014/main" id="{DA323370-B4FC-2DF1-CF65-CCF8FADBA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Line 3">
            <a:extLst>
              <a:ext uri="{FF2B5EF4-FFF2-40B4-BE49-F238E27FC236}">
                <a16:creationId xmlns:a16="http://schemas.microsoft.com/office/drawing/2014/main" id="{BD201B6F-7A7E-0F14-8E12-EE0A39DC85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C37CA6AE-8D6A-808A-ED3D-8F77B507E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049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1.2 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数据流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(a.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单工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,   b.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半双工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,   c.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全双工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7174" name="Line 5">
            <a:extLst>
              <a:ext uri="{FF2B5EF4-FFF2-40B4-BE49-F238E27FC236}">
                <a16:creationId xmlns:a16="http://schemas.microsoft.com/office/drawing/2014/main" id="{F4D788C6-D9AE-5876-2F05-E62F3F0A3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5" name="Picture 6">
            <a:extLst>
              <a:ext uri="{FF2B5EF4-FFF2-40B4-BE49-F238E27FC236}">
                <a16:creationId xmlns:a16="http://schemas.microsoft.com/office/drawing/2014/main" id="{17C782AE-0C5F-DAC0-84AD-CE8FE27A1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171575"/>
            <a:ext cx="648970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BAAF3FA7-8813-39AE-540B-A9725ECD1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E9A14673-7A73-4399-884B-E4E043AAB5B4}" type="slidenum">
              <a:rPr lang="en-US" altLang="zh-CN" sz="2000"/>
              <a:pPr/>
              <a:t>6</a:t>
            </a:fld>
            <a:endParaRPr lang="en-US" altLang="zh-CN" sz="2000"/>
          </a:p>
        </p:txBody>
      </p:sp>
      <p:sp>
        <p:nvSpPr>
          <p:cNvPr id="858114" name="Rectangle 2">
            <a:extLst>
              <a:ext uri="{FF2B5EF4-FFF2-40B4-BE49-F238E27FC236}">
                <a16:creationId xmlns:a16="http://schemas.microsoft.com/office/drawing/2014/main" id="{C38F0196-0036-386C-39B9-7B7041D9D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58115" name="Text Box 3">
            <a:extLst>
              <a:ext uri="{FF2B5EF4-FFF2-40B4-BE49-F238E27FC236}">
                <a16:creationId xmlns:a16="http://schemas.microsoft.com/office/drawing/2014/main" id="{2A6193E3-BE81-A339-45FC-436779985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1965325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1-2    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网络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  <a:ea typeface="宋体" charset="-122"/>
            </a:endParaRP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7734B252-F01E-65C0-DB15-78A47DC62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21C56259-EF60-D7B3-403D-347AF1FA9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349375"/>
            <a:ext cx="8610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网络</a:t>
            </a:r>
            <a:r>
              <a:rPr lang="en-US" altLang="zh-CN" sz="2800">
                <a:ea typeface="宋体" panose="02010600030101010101" pitchFamily="2" charset="-122"/>
              </a:rPr>
              <a:t>(network) </a:t>
            </a:r>
            <a:r>
              <a:rPr lang="zh-CN" altLang="en-US" sz="2800">
                <a:ea typeface="宋体" panose="02010600030101010101" pitchFamily="2" charset="-122"/>
              </a:rPr>
              <a:t>是用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通信链路</a:t>
            </a:r>
            <a:r>
              <a:rPr lang="zh-CN" altLang="en-US" sz="2800">
                <a:ea typeface="宋体" panose="02010600030101010101" pitchFamily="2" charset="-122"/>
              </a:rPr>
              <a:t>连接起来的设备</a:t>
            </a:r>
            <a:r>
              <a:rPr lang="en-US" altLang="zh-CN" sz="2800">
                <a:ea typeface="宋体" panose="02010600030101010101" pitchFamily="2" charset="-122"/>
              </a:rPr>
              <a:t>(</a:t>
            </a:r>
            <a:r>
              <a:rPr lang="zh-CN" altLang="en-US" sz="2800">
                <a:ea typeface="宋体" panose="02010600030101010101" pitchFamily="2" charset="-122"/>
              </a:rPr>
              <a:t>通常称为</a:t>
            </a:r>
            <a:r>
              <a:rPr lang="zh-CN" altLang="en-US" sz="2800">
                <a:solidFill>
                  <a:srgbClr val="FF0000"/>
                </a:solidFill>
                <a:ea typeface="宋体" panose="02010600030101010101" pitchFamily="2" charset="-122"/>
              </a:rPr>
              <a:t>节点</a:t>
            </a:r>
            <a:r>
              <a:rPr lang="en-US" altLang="zh-CN" sz="2800">
                <a:ea typeface="宋体" panose="02010600030101010101" pitchFamily="2" charset="-122"/>
              </a:rPr>
              <a:t>)</a:t>
            </a:r>
            <a:r>
              <a:rPr lang="zh-CN" altLang="en-US" sz="2800">
                <a:ea typeface="宋体" panose="02010600030101010101" pitchFamily="2" charset="-122"/>
              </a:rPr>
              <a:t>的集合。一个节点可以是计算机，打印机，或者是其他任何能够发送、接收数据的设备。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6ED46C5B-8397-DD7C-152A-58232C9A3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057650"/>
            <a:ext cx="64770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分布式处理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网络标准   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物理结构    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网络模型    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网络分类    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互联网络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8120" name="Text Box 8">
            <a:extLst>
              <a:ext uri="{FF2B5EF4-FFF2-40B4-BE49-F238E27FC236}">
                <a16:creationId xmlns:a16="http://schemas.microsoft.com/office/drawing/2014/main" id="{757028D0-57A8-1EDC-C48F-A1F32C3FD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33775"/>
            <a:ext cx="17478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本节要点</a:t>
            </a:r>
            <a:r>
              <a:rPr lang="en-US" altLang="zh-CN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289F1D90-A735-8ECB-9355-CE6EDE5C6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9.</a:t>
            </a:r>
            <a:fld id="{4284BA18-D7C6-481C-9904-76379CD84FB2}" type="slidenum">
              <a:rPr lang="en-US" altLang="zh-CN" sz="2000"/>
              <a:pPr/>
              <a:t>7</a:t>
            </a:fld>
            <a:endParaRPr lang="en-US" altLang="zh-CN" sz="20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1693EDF-6FA8-7E7C-C140-A3D7E2F0F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7119A22E-3122-02CE-E216-835FCECD7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FD023E28-BAEB-2D85-FC7A-C75BB1194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B9B11200-79DF-5171-4C4B-287190F51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0B117E24-40A3-137E-270F-B738FE871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3BAF215E-579E-9D96-7490-EACFA2297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5" name="Rectangle 8">
            <a:extLst>
              <a:ext uri="{FF2B5EF4-FFF2-40B4-BE49-F238E27FC236}">
                <a16:creationId xmlns:a16="http://schemas.microsoft.com/office/drawing/2014/main" id="{0942499A-9094-6ABC-BD04-47231649C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6" name="Line 9">
            <a:extLst>
              <a:ext uri="{FF2B5EF4-FFF2-40B4-BE49-F238E27FC236}">
                <a16:creationId xmlns:a16="http://schemas.microsoft.com/office/drawing/2014/main" id="{C8C44451-751A-7B6C-6C53-AC87A359C4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7" name="Line 10">
            <a:extLst>
              <a:ext uri="{FF2B5EF4-FFF2-40B4-BE49-F238E27FC236}">
                <a16:creationId xmlns:a16="http://schemas.microsoft.com/office/drawing/2014/main" id="{C02DA8B2-C24D-3AF8-7989-E49437F47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BF24F7D3-3469-69AB-E8BB-69EA56F3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大多数网络采用分布式处理，将任务划分给多台计算机，各自处理一小部分。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9229" name="Group 12">
            <a:extLst>
              <a:ext uri="{FF2B5EF4-FFF2-40B4-BE49-F238E27FC236}">
                <a16:creationId xmlns:a16="http://schemas.microsoft.com/office/drawing/2014/main" id="{CECFE801-F257-572A-37D7-FF219CE40D3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9230" name="Picture 13">
              <a:extLst>
                <a:ext uri="{FF2B5EF4-FFF2-40B4-BE49-F238E27FC236}">
                  <a16:creationId xmlns:a16="http://schemas.microsoft.com/office/drawing/2014/main" id="{2DEF61F7-B914-C5DF-8D3D-7CEF92E779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1" name="Text Box 14">
              <a:extLst>
                <a:ext uri="{FF2B5EF4-FFF2-40B4-BE49-F238E27FC236}">
                  <a16:creationId xmlns:a16="http://schemas.microsoft.com/office/drawing/2014/main" id="{4770AD87-273A-7395-EA50-C0CA7306C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16721D8A-CC68-A28F-FA14-2781B0D15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9.</a:t>
            </a:r>
            <a:fld id="{71335BA5-9418-4DA2-9389-EB497818488F}" type="slidenum">
              <a:rPr lang="en-US" altLang="zh-CN" sz="2000"/>
              <a:pPr/>
              <a:t>8</a:t>
            </a:fld>
            <a:endParaRPr lang="en-US" altLang="zh-CN" sz="20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9F73FD0A-32F2-0BE6-6409-B9C6DFC77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7435ACB5-7A3A-1DAB-A719-F390D45A0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Rectangle 4">
            <a:extLst>
              <a:ext uri="{FF2B5EF4-FFF2-40B4-BE49-F238E27FC236}">
                <a16:creationId xmlns:a16="http://schemas.microsoft.com/office/drawing/2014/main" id="{F5745CB8-5462-8628-5EB4-B308BA82F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6534FC7F-7388-390A-230C-4E486AFA5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7" name="Rectangle 6">
            <a:extLst>
              <a:ext uri="{FF2B5EF4-FFF2-40B4-BE49-F238E27FC236}">
                <a16:creationId xmlns:a16="http://schemas.microsoft.com/office/drawing/2014/main" id="{0B544FA0-5852-FD39-C0D9-4D127AC34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8" name="Rectangle 7">
            <a:extLst>
              <a:ext uri="{FF2B5EF4-FFF2-40B4-BE49-F238E27FC236}">
                <a16:creationId xmlns:a16="http://schemas.microsoft.com/office/drawing/2014/main" id="{F57A2A4E-1D75-2E44-5848-40F72F321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49" name="Rectangle 8">
            <a:extLst>
              <a:ext uri="{FF2B5EF4-FFF2-40B4-BE49-F238E27FC236}">
                <a16:creationId xmlns:a16="http://schemas.microsoft.com/office/drawing/2014/main" id="{E3F37763-AC00-B2B6-BCEA-A34DF6CA9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50" name="Line 9">
            <a:extLst>
              <a:ext uri="{FF2B5EF4-FFF2-40B4-BE49-F238E27FC236}">
                <a16:creationId xmlns:a16="http://schemas.microsoft.com/office/drawing/2014/main" id="{D95BEBBC-8103-E031-721C-14BC786FCF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1" name="Line 10">
            <a:extLst>
              <a:ext uri="{FF2B5EF4-FFF2-40B4-BE49-F238E27FC236}">
                <a16:creationId xmlns:a16="http://schemas.microsoft.com/office/drawing/2014/main" id="{7A6428BE-81EF-6EAA-6ED0-CB9E4F8C5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953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2" name="Rectangle 11">
            <a:extLst>
              <a:ext uri="{FF2B5EF4-FFF2-40B4-BE49-F238E27FC236}">
                <a16:creationId xmlns:a16="http://schemas.microsoft.com/office/drawing/2014/main" id="{7FB7627C-3689-BFB2-1C63-2A6B52EC7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59075"/>
            <a:ext cx="8077200" cy="20621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网络准则：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1.</a:t>
            </a:r>
            <a:r>
              <a:rPr lang="zh-CN" altLang="en-US">
                <a:ea typeface="宋体" panose="02010600030101010101" pitchFamily="2" charset="-122"/>
              </a:rPr>
              <a:t>性能（吞吐量、延迟等）；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2.</a:t>
            </a:r>
            <a:r>
              <a:rPr lang="zh-CN" altLang="en-US">
                <a:ea typeface="宋体" panose="02010600030101010101" pitchFamily="2" charset="-122"/>
              </a:rPr>
              <a:t>可靠性；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3.</a:t>
            </a:r>
            <a:r>
              <a:rPr lang="zh-CN" altLang="en-US">
                <a:ea typeface="宋体" panose="02010600030101010101" pitchFamily="2" charset="-122"/>
              </a:rPr>
              <a:t>安全性。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0253" name="Group 12">
            <a:extLst>
              <a:ext uri="{FF2B5EF4-FFF2-40B4-BE49-F238E27FC236}">
                <a16:creationId xmlns:a16="http://schemas.microsoft.com/office/drawing/2014/main" id="{EC203A72-ACA1-60B6-6815-E2468364ABF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10254" name="Picture 13">
              <a:extLst>
                <a:ext uri="{FF2B5EF4-FFF2-40B4-BE49-F238E27FC236}">
                  <a16:creationId xmlns:a16="http://schemas.microsoft.com/office/drawing/2014/main" id="{A1C46392-A6FD-1CB8-2202-43BF9D2FAA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5" name="Text Box 14">
              <a:extLst>
                <a:ext uri="{FF2B5EF4-FFF2-40B4-BE49-F238E27FC236}">
                  <a16:creationId xmlns:a16="http://schemas.microsoft.com/office/drawing/2014/main" id="{0E163C9B-856D-C3F6-0A63-7B3810A60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F84E39DD-52AD-75B6-A6C9-02ADE7EF6E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37F1C6DF-6968-46FA-914F-AD732D130140}" type="slidenum">
              <a:rPr lang="en-US" altLang="zh-CN" sz="2000"/>
              <a:pPr/>
              <a:t>9</a:t>
            </a:fld>
            <a:endParaRPr lang="en-US" altLang="zh-CN" sz="2000"/>
          </a:p>
        </p:txBody>
      </p:sp>
      <p:sp>
        <p:nvSpPr>
          <p:cNvPr id="11267" name="Line 2">
            <a:extLst>
              <a:ext uri="{FF2B5EF4-FFF2-40B4-BE49-F238E27FC236}">
                <a16:creationId xmlns:a16="http://schemas.microsoft.com/office/drawing/2014/main" id="{056147E7-7EF3-299E-0156-50DAE92E1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9DD641A0-2366-18C4-39FF-57162D7F26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418C1717-192F-099C-91F5-46742772A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5919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1.3   </a:t>
            </a:r>
            <a:r>
              <a:rPr lang="zh-CN" altLang="en-US" sz="2400">
                <a:ea typeface="宋体" panose="02010600030101010101" pitchFamily="2" charset="-122"/>
              </a:rPr>
              <a:t>连接类型</a:t>
            </a:r>
            <a:r>
              <a:rPr lang="en-US" altLang="zh-CN" sz="2400">
                <a:ea typeface="宋体" panose="02010600030101010101" pitchFamily="2" charset="-122"/>
              </a:rPr>
              <a:t>:</a:t>
            </a:r>
            <a:r>
              <a:rPr lang="zh-CN" altLang="en-US" sz="2400">
                <a:ea typeface="宋体" panose="02010600030101010101" pitchFamily="2" charset="-122"/>
              </a:rPr>
              <a:t>   点到点连接与多点连接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0" name="Line 5">
            <a:extLst>
              <a:ext uri="{FF2B5EF4-FFF2-40B4-BE49-F238E27FC236}">
                <a16:creationId xmlns:a16="http://schemas.microsoft.com/office/drawing/2014/main" id="{95C04227-FE6F-9C93-8222-E4C7673F3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1" name="Picture 6">
            <a:extLst>
              <a:ext uri="{FF2B5EF4-FFF2-40B4-BE49-F238E27FC236}">
                <a16:creationId xmlns:a16="http://schemas.microsoft.com/office/drawing/2014/main" id="{2B6D5481-E887-5404-9E84-035801046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63" y="1717675"/>
            <a:ext cx="6827837" cy="399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AF0102F3-B64C-5302-97BB-3BBDBBB703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3F1B05E8-F024-403E-A588-65E26034C093}" type="slidenum">
              <a:rPr lang="en-US" altLang="zh-CN" sz="2000"/>
              <a:pPr/>
              <a:t>10</a:t>
            </a:fld>
            <a:endParaRPr lang="en-US" altLang="zh-CN" sz="2000"/>
          </a:p>
        </p:txBody>
      </p:sp>
      <p:sp>
        <p:nvSpPr>
          <p:cNvPr id="12291" name="Line 2">
            <a:extLst>
              <a:ext uri="{FF2B5EF4-FFF2-40B4-BE49-F238E27FC236}">
                <a16:creationId xmlns:a16="http://schemas.microsoft.com/office/drawing/2014/main" id="{09EA64CA-9373-3D37-F39A-BC1D43D7B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Line 3">
            <a:extLst>
              <a:ext uri="{FF2B5EF4-FFF2-40B4-BE49-F238E27FC236}">
                <a16:creationId xmlns:a16="http://schemas.microsoft.com/office/drawing/2014/main" id="{BFFF223A-4FAA-B976-6C09-90509E724B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B5CE3301-4BC6-B605-78F8-754D1556F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03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1.4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拓扑结构分类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4" name="Line 5">
            <a:extLst>
              <a:ext uri="{FF2B5EF4-FFF2-40B4-BE49-F238E27FC236}">
                <a16:creationId xmlns:a16="http://schemas.microsoft.com/office/drawing/2014/main" id="{D5350933-ADD0-2666-B00E-A9F6C986A6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295" name="Picture 6">
            <a:extLst>
              <a:ext uri="{FF2B5EF4-FFF2-40B4-BE49-F238E27FC236}">
                <a16:creationId xmlns:a16="http://schemas.microsoft.com/office/drawing/2014/main" id="{6E1AD4BD-E915-2702-BC07-3D0149931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13" y="2317750"/>
            <a:ext cx="6389687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9B988CC2-D928-2436-A523-7D5C567FC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60F63979-27EE-415E-98C3-AE3EF0D55A05}" type="slidenum">
              <a:rPr lang="en-US" altLang="zh-CN" sz="2000"/>
              <a:pPr/>
              <a:t>11</a:t>
            </a:fld>
            <a:endParaRPr lang="en-US" altLang="zh-CN" sz="2000"/>
          </a:p>
        </p:txBody>
      </p:sp>
      <p:sp>
        <p:nvSpPr>
          <p:cNvPr id="13315" name="Line 2">
            <a:extLst>
              <a:ext uri="{FF2B5EF4-FFF2-40B4-BE49-F238E27FC236}">
                <a16:creationId xmlns:a16="http://schemas.microsoft.com/office/drawing/2014/main" id="{8DBB2794-F379-875D-A252-70137CE27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15D79CC8-E5D3-F582-5158-633EED2CC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F75FADE9-700E-2A53-3CB8-26279EF89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341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1.5   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全</a:t>
            </a:r>
            <a:r>
              <a:rPr lang="zh-CN" altLang="en-US" sz="2400">
                <a:ea typeface="宋体" panose="02010600030101010101" pitchFamily="2" charset="-122"/>
              </a:rPr>
              <a:t>连接网状拓扑结构</a:t>
            </a:r>
            <a:r>
              <a:rPr lang="en-US" altLang="zh-CN" sz="2400">
                <a:ea typeface="宋体" panose="02010600030101010101" pitchFamily="2" charset="-122"/>
              </a:rPr>
              <a:t>(5 </a:t>
            </a:r>
            <a:r>
              <a:rPr lang="zh-CN" altLang="en-US" sz="2400">
                <a:ea typeface="宋体" panose="02010600030101010101" pitchFamily="2" charset="-122"/>
              </a:rPr>
              <a:t>台设备</a:t>
            </a:r>
            <a:r>
              <a:rPr lang="en-US" altLang="zh-CN" sz="2400">
                <a:ea typeface="宋体" panose="02010600030101010101" pitchFamily="2" charset="-122"/>
              </a:rPr>
              <a:t>)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972CF48D-98D1-AE6F-F775-93EC7F4359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9" name="Picture 6">
            <a:extLst>
              <a:ext uri="{FF2B5EF4-FFF2-40B4-BE49-F238E27FC236}">
                <a16:creationId xmlns:a16="http://schemas.microsoft.com/office/drawing/2014/main" id="{EE2821BE-8F7D-2DB1-0A2B-C7781E1E6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295400"/>
            <a:ext cx="4854575" cy="360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TextBox 7">
            <a:extLst>
              <a:ext uri="{FF2B5EF4-FFF2-40B4-BE49-F238E27FC236}">
                <a16:creationId xmlns:a16="http://schemas.microsoft.com/office/drawing/2014/main" id="{2374E823-6402-744E-0592-542DE42DE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181600"/>
            <a:ext cx="3124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ea typeface="宋体" panose="02010600030101010101" pitchFamily="2" charset="-122"/>
              </a:rPr>
              <a:t>n×(n-1)</a:t>
            </a:r>
            <a:r>
              <a:rPr lang="zh-CN" altLang="en-US" sz="2000">
                <a:ea typeface="宋体" panose="02010600030101010101" pitchFamily="2" charset="-122"/>
              </a:rPr>
              <a:t>条单工链路</a:t>
            </a:r>
            <a:endParaRPr lang="en-US" altLang="zh-CN" sz="2000">
              <a:ea typeface="宋体" panose="02010600030101010101" pitchFamily="2" charset="-122"/>
            </a:endParaRPr>
          </a:p>
          <a:p>
            <a:r>
              <a:rPr lang="en-US" altLang="zh-CN" sz="2000">
                <a:ea typeface="宋体" panose="02010600030101010101" pitchFamily="2" charset="-122"/>
              </a:rPr>
              <a:t>n×(n-1)/2</a:t>
            </a:r>
            <a:r>
              <a:rPr lang="zh-CN" altLang="en-US" sz="2000">
                <a:ea typeface="宋体" panose="02010600030101010101" pitchFamily="2" charset="-122"/>
              </a:rPr>
              <a:t>条双工链路</a:t>
            </a:r>
            <a:endParaRPr lang="en-US" altLang="zh-CN" sz="2000">
              <a:ea typeface="宋体" panose="02010600030101010101" pitchFamily="2" charset="-122"/>
            </a:endParaRPr>
          </a:p>
          <a:p>
            <a:r>
              <a:rPr lang="zh-CN" altLang="en-US" sz="2000">
                <a:ea typeface="宋体" panose="02010600030101010101" pitchFamily="2" charset="-122"/>
              </a:rPr>
              <a:t>优点？缺点？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CFA1C0B8-12D1-891E-6F87-5236CE24A6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CA3C7EF7-9ACF-4C1C-B078-9524959B0EE2}" type="slidenum">
              <a:rPr lang="en-US" altLang="zh-CN" sz="2000"/>
              <a:pPr/>
              <a:t>12</a:t>
            </a:fld>
            <a:endParaRPr lang="en-US" altLang="zh-CN" sz="2000"/>
          </a:p>
        </p:txBody>
      </p:sp>
      <p:sp>
        <p:nvSpPr>
          <p:cNvPr id="14339" name="Line 2">
            <a:extLst>
              <a:ext uri="{FF2B5EF4-FFF2-40B4-BE49-F238E27FC236}">
                <a16:creationId xmlns:a16="http://schemas.microsoft.com/office/drawing/2014/main" id="{E23D2CB4-7057-A861-5D1C-D2F830A73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Line 3">
            <a:extLst>
              <a:ext uri="{FF2B5EF4-FFF2-40B4-BE49-F238E27FC236}">
                <a16:creationId xmlns:a16="http://schemas.microsoft.com/office/drawing/2014/main" id="{EDA2D828-46AA-1F92-3B22-7394BDFC7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74592A07-1298-96A5-9EEE-7BD95D1C5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511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1.6   </a:t>
            </a:r>
            <a:r>
              <a:rPr lang="zh-CN" altLang="en-US" sz="2400">
                <a:ea typeface="宋体" panose="02010600030101010101" pitchFamily="2" charset="-122"/>
              </a:rPr>
              <a:t>连接</a:t>
            </a:r>
            <a:r>
              <a:rPr lang="en-US" altLang="zh-CN" sz="2400">
                <a:ea typeface="宋体" panose="02010600030101010101" pitchFamily="2" charset="-122"/>
              </a:rPr>
              <a:t>4</a:t>
            </a:r>
            <a:r>
              <a:rPr lang="zh-CN" altLang="en-US" sz="2400">
                <a:ea typeface="宋体" panose="02010600030101010101" pitchFamily="2" charset="-122"/>
              </a:rPr>
              <a:t>个工作站的星型拓扑结构</a:t>
            </a:r>
            <a:endParaRPr lang="en-US" altLang="zh-CN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2" name="Line 5">
            <a:extLst>
              <a:ext uri="{FF2B5EF4-FFF2-40B4-BE49-F238E27FC236}">
                <a16:creationId xmlns:a16="http://schemas.microsoft.com/office/drawing/2014/main" id="{E8461E9F-07B8-9E62-DA29-F49EC3FD9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3" name="Picture 6">
            <a:extLst>
              <a:ext uri="{FF2B5EF4-FFF2-40B4-BE49-F238E27FC236}">
                <a16:creationId xmlns:a16="http://schemas.microsoft.com/office/drawing/2014/main" id="{FF057344-3091-1C37-973B-40F67D3C9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881188"/>
            <a:ext cx="5905500" cy="314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C9A54BB8-3D1E-9781-4C06-3D0A55FDF6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5F1C09BC-EA06-44C8-97F1-357F3267DE2C}" type="slidenum">
              <a:rPr lang="en-US" altLang="zh-CN" sz="2000"/>
              <a:pPr/>
              <a:t>13</a:t>
            </a:fld>
            <a:endParaRPr lang="en-US" altLang="zh-CN" sz="2000"/>
          </a:p>
        </p:txBody>
      </p:sp>
      <p:sp>
        <p:nvSpPr>
          <p:cNvPr id="15363" name="Line 2">
            <a:extLst>
              <a:ext uri="{FF2B5EF4-FFF2-40B4-BE49-F238E27FC236}">
                <a16:creationId xmlns:a16="http://schemas.microsoft.com/office/drawing/2014/main" id="{30ECFD4B-ECEB-B4EE-996A-0E8DCEB10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Line 3">
            <a:extLst>
              <a:ext uri="{FF2B5EF4-FFF2-40B4-BE49-F238E27FC236}">
                <a16:creationId xmlns:a16="http://schemas.microsoft.com/office/drawing/2014/main" id="{5F9D3F19-377F-BA4F-E96F-3489D75A06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5" name="Text Box 4">
            <a:extLst>
              <a:ext uri="{FF2B5EF4-FFF2-40B4-BE49-F238E27FC236}">
                <a16:creationId xmlns:a16="http://schemas.microsoft.com/office/drawing/2014/main" id="{F1A16EED-6291-57FA-5227-E88630302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5281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1.7   </a:t>
            </a:r>
            <a:r>
              <a:rPr lang="zh-CN" altLang="en-US" sz="2400">
                <a:ea typeface="宋体" panose="02010600030101010101" pitchFamily="2" charset="-122"/>
              </a:rPr>
              <a:t>连接</a:t>
            </a:r>
            <a:r>
              <a:rPr lang="en-US" altLang="zh-CN" sz="2400">
                <a:ea typeface="宋体" panose="02010600030101010101" pitchFamily="2" charset="-122"/>
              </a:rPr>
              <a:t>3</a:t>
            </a:r>
            <a:r>
              <a:rPr lang="zh-CN" altLang="en-US" sz="2400">
                <a:ea typeface="宋体" panose="02010600030101010101" pitchFamily="2" charset="-122"/>
              </a:rPr>
              <a:t>个工作站的总线拓扑结构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6" name="Line 5">
            <a:extLst>
              <a:ext uri="{FF2B5EF4-FFF2-40B4-BE49-F238E27FC236}">
                <a16:creationId xmlns:a16="http://schemas.microsoft.com/office/drawing/2014/main" id="{3E2094D7-A507-641A-CE4A-B094E8831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7" name="Picture 6">
            <a:extLst>
              <a:ext uri="{FF2B5EF4-FFF2-40B4-BE49-F238E27FC236}">
                <a16:creationId xmlns:a16="http://schemas.microsoft.com/office/drawing/2014/main" id="{E3B6859C-0900-717E-4383-B4037A967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2362200"/>
            <a:ext cx="7888287" cy="166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F096A8AE-F8E5-5E3D-95E2-DF261F0C09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67E90DA5-CEDC-443C-A78B-B079CC468E36}" type="slidenum">
              <a:rPr lang="en-US" altLang="zh-CN" sz="2000"/>
              <a:pPr/>
              <a:t>14</a:t>
            </a:fld>
            <a:endParaRPr lang="en-US" altLang="zh-CN" sz="2000"/>
          </a:p>
        </p:txBody>
      </p:sp>
      <p:sp>
        <p:nvSpPr>
          <p:cNvPr id="16387" name="Line 2">
            <a:extLst>
              <a:ext uri="{FF2B5EF4-FFF2-40B4-BE49-F238E27FC236}">
                <a16:creationId xmlns:a16="http://schemas.microsoft.com/office/drawing/2014/main" id="{B160BB9A-5611-DD9C-8D02-7E978090B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Line 3">
            <a:extLst>
              <a:ext uri="{FF2B5EF4-FFF2-40B4-BE49-F238E27FC236}">
                <a16:creationId xmlns:a16="http://schemas.microsoft.com/office/drawing/2014/main" id="{8B51B66D-101F-4AF4-0F83-0A78CF56C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2F77E369-0ECD-41D6-3527-1121DB61E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5359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1. 8   </a:t>
            </a:r>
            <a:r>
              <a:rPr lang="zh-CN" altLang="en-US" sz="2400">
                <a:ea typeface="宋体" panose="02010600030101010101" pitchFamily="2" charset="-122"/>
              </a:rPr>
              <a:t>连接</a:t>
            </a:r>
            <a:r>
              <a:rPr lang="en-US" altLang="zh-CN" sz="2400">
                <a:ea typeface="宋体" panose="02010600030101010101" pitchFamily="2" charset="-122"/>
              </a:rPr>
              <a:t>6</a:t>
            </a:r>
            <a:r>
              <a:rPr lang="zh-CN" altLang="en-US" sz="2400">
                <a:ea typeface="宋体" panose="02010600030101010101" pitchFamily="2" charset="-122"/>
              </a:rPr>
              <a:t>个工作站的环状拓扑结构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90" name="Line 5">
            <a:extLst>
              <a:ext uri="{FF2B5EF4-FFF2-40B4-BE49-F238E27FC236}">
                <a16:creationId xmlns:a16="http://schemas.microsoft.com/office/drawing/2014/main" id="{B8EC74D9-1E43-6270-776B-5D176FC17D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391" name="Picture 7">
            <a:extLst>
              <a:ext uri="{FF2B5EF4-FFF2-40B4-BE49-F238E27FC236}">
                <a16:creationId xmlns:a16="http://schemas.microsoft.com/office/drawing/2014/main" id="{0940DCD4-8A65-D532-1039-7F30A6B05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922463"/>
            <a:ext cx="8593137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8146C73D-CCE2-BF33-1535-19F020D5B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0A8E42A5-D43C-4098-96E3-107E4AC7C34F}" type="slidenum">
              <a:rPr lang="en-US" altLang="zh-CN" sz="2000"/>
              <a:pPr/>
              <a:t>15</a:t>
            </a:fld>
            <a:endParaRPr lang="en-US" altLang="zh-CN" sz="2000"/>
          </a:p>
        </p:txBody>
      </p:sp>
      <p:sp>
        <p:nvSpPr>
          <p:cNvPr id="17411" name="Line 2">
            <a:extLst>
              <a:ext uri="{FF2B5EF4-FFF2-40B4-BE49-F238E27FC236}">
                <a16:creationId xmlns:a16="http://schemas.microsoft.com/office/drawing/2014/main" id="{7FD1560A-7120-B262-8101-C41955A86E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2" name="Line 3">
            <a:extLst>
              <a:ext uri="{FF2B5EF4-FFF2-40B4-BE49-F238E27FC236}">
                <a16:creationId xmlns:a16="http://schemas.microsoft.com/office/drawing/2014/main" id="{5D96B1A2-F9B4-F815-CFB9-1746277B04A8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714B016E-2E5D-23FB-B01C-C036B0834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77825"/>
            <a:ext cx="83439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b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1.9  </a:t>
            </a:r>
            <a:r>
              <a:rPr lang="zh-CN" altLang="en-US" sz="2000">
                <a:ea typeface="宋体" panose="02010600030101010101" pitchFamily="2" charset="-122"/>
              </a:rPr>
              <a:t>混合型拓扑结构</a:t>
            </a:r>
            <a:r>
              <a:rPr lang="en-US" altLang="zh-CN" sz="2000">
                <a:ea typeface="宋体" panose="02010600030101010101" pitchFamily="2" charset="-122"/>
              </a:rPr>
              <a:t>:</a:t>
            </a:r>
            <a:r>
              <a:rPr lang="zh-CN" altLang="en-US" sz="2000">
                <a:ea typeface="宋体" panose="02010600030101010101" pitchFamily="2" charset="-122"/>
              </a:rPr>
              <a:t>一个星型结构为主干并具有三个总线结构的网络</a:t>
            </a:r>
            <a:endParaRPr lang="en-US" altLang="zh-CN" sz="1800" i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17414" name="Line 5">
            <a:extLst>
              <a:ext uri="{FF2B5EF4-FFF2-40B4-BE49-F238E27FC236}">
                <a16:creationId xmlns:a16="http://schemas.microsoft.com/office/drawing/2014/main" id="{A53F3AF9-3390-A95B-277E-B855DAB60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7415" name="Picture 6">
            <a:extLst>
              <a:ext uri="{FF2B5EF4-FFF2-40B4-BE49-F238E27FC236}">
                <a16:creationId xmlns:a16="http://schemas.microsoft.com/office/drawing/2014/main" id="{B4825126-0620-1F54-7FCE-60A84C0D3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1490663"/>
            <a:ext cx="6883400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E45DADE7-2C93-6802-99BC-7644B0D05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9.</a:t>
            </a:r>
            <a:fld id="{D1216124-A0EC-4BE5-A130-615F56645811}" type="slidenum">
              <a:rPr lang="en-US" altLang="zh-CN" sz="2000"/>
              <a:pPr/>
              <a:t>16</a:t>
            </a:fld>
            <a:endParaRPr lang="en-US" altLang="zh-CN" sz="20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236D5B7-2515-8071-97FA-387EC9A78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EF60943-4581-56D9-72C4-C8C316B3B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15217319-D836-C987-FA4F-AA490342A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70BF8177-C63F-4650-357D-DE7680CB9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636CBCD9-14A9-A643-2209-7ACE9AB8A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0" name="Rectangle 7">
            <a:extLst>
              <a:ext uri="{FF2B5EF4-FFF2-40B4-BE49-F238E27FC236}">
                <a16:creationId xmlns:a16="http://schemas.microsoft.com/office/drawing/2014/main" id="{D12B7AAD-7FF3-765A-84D2-D8EBD91B0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1" name="Rectangle 8">
            <a:extLst>
              <a:ext uri="{FF2B5EF4-FFF2-40B4-BE49-F238E27FC236}">
                <a16:creationId xmlns:a16="http://schemas.microsoft.com/office/drawing/2014/main" id="{48EF422D-0498-F828-5AD1-77C9A1D6A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2" name="Line 9">
            <a:extLst>
              <a:ext uri="{FF2B5EF4-FFF2-40B4-BE49-F238E27FC236}">
                <a16:creationId xmlns:a16="http://schemas.microsoft.com/office/drawing/2014/main" id="{7F702682-12D0-0328-B288-34F43EBE62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3" name="Line 10">
            <a:extLst>
              <a:ext uri="{FF2B5EF4-FFF2-40B4-BE49-F238E27FC236}">
                <a16:creationId xmlns:a16="http://schemas.microsoft.com/office/drawing/2014/main" id="{970271CC-DF0A-FC23-F8A2-8110E40A9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4" name="Rectangle 11">
            <a:extLst>
              <a:ext uri="{FF2B5EF4-FFF2-40B4-BE49-F238E27FC236}">
                <a16:creationId xmlns:a16="http://schemas.microsoft.com/office/drawing/2014/main" id="{7CEECD70-CA01-EF2E-3558-3D73345FD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590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网络分类：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网络归类取决于它的规模，主要包括局域网和广域网，以及介于两者之间的城域网。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8445" name="Group 12">
            <a:extLst>
              <a:ext uri="{FF2B5EF4-FFF2-40B4-BE49-F238E27FC236}">
                <a16:creationId xmlns:a16="http://schemas.microsoft.com/office/drawing/2014/main" id="{7AD43949-13D5-C45F-E737-E094427194A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18446" name="Picture 13">
              <a:extLst>
                <a:ext uri="{FF2B5EF4-FFF2-40B4-BE49-F238E27FC236}">
                  <a16:creationId xmlns:a16="http://schemas.microsoft.com/office/drawing/2014/main" id="{A936DB6B-E829-98B4-7117-F706196DA6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7" name="Text Box 14">
              <a:extLst>
                <a:ext uri="{FF2B5EF4-FFF2-40B4-BE49-F238E27FC236}">
                  <a16:creationId xmlns:a16="http://schemas.microsoft.com/office/drawing/2014/main" id="{BF00DE7B-0CDB-DCF8-A0EF-8E0F919EA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52B09CF8-F8DC-3510-8C95-1130070540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4E4F6270-AB8E-4E6E-AB01-55532B0C0D6B}" type="slidenum">
              <a:rPr lang="en-US" altLang="zh-CN" sz="2000"/>
              <a:pPr/>
              <a:t>17</a:t>
            </a:fld>
            <a:endParaRPr lang="en-US" altLang="zh-CN" sz="2000"/>
          </a:p>
        </p:txBody>
      </p:sp>
      <p:sp>
        <p:nvSpPr>
          <p:cNvPr id="19459" name="Line 2">
            <a:extLst>
              <a:ext uri="{FF2B5EF4-FFF2-40B4-BE49-F238E27FC236}">
                <a16:creationId xmlns:a16="http://schemas.microsoft.com/office/drawing/2014/main" id="{C3C8E8A3-0386-336B-048E-64DF5EAA71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Line 3">
            <a:extLst>
              <a:ext uri="{FF2B5EF4-FFF2-40B4-BE49-F238E27FC236}">
                <a16:creationId xmlns:a16="http://schemas.microsoft.com/office/drawing/2014/main" id="{A46B4BB2-686A-3EB3-B7DD-DAF961172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64DE7602-9306-4814-3CEF-11ED5C59F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485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1. 10   </a:t>
            </a:r>
            <a:r>
              <a:rPr lang="en-US" altLang="zh-CN" sz="2400">
                <a:ea typeface="宋体" panose="02010600030101010101" pitchFamily="2" charset="-122"/>
              </a:rPr>
              <a:t>12 </a:t>
            </a:r>
            <a:r>
              <a:rPr lang="zh-CN" altLang="en-US" sz="2400">
                <a:ea typeface="宋体" panose="02010600030101010101" pitchFamily="2" charset="-122"/>
              </a:rPr>
              <a:t>台计算机连接到一个集线器的独立局域网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19462" name="Line 5">
            <a:extLst>
              <a:ext uri="{FF2B5EF4-FFF2-40B4-BE49-F238E27FC236}">
                <a16:creationId xmlns:a16="http://schemas.microsoft.com/office/drawing/2014/main" id="{CB9CBE66-E551-5A04-0F87-ED0DB342EC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463" name="Picture 6">
            <a:extLst>
              <a:ext uri="{FF2B5EF4-FFF2-40B4-BE49-F238E27FC236}">
                <a16:creationId xmlns:a16="http://schemas.microsoft.com/office/drawing/2014/main" id="{6B15B751-9933-346E-6518-786A46861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38" y="1622425"/>
            <a:ext cx="6151562" cy="386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C48EF9E9-D2F2-0249-ECB6-26B386AF3E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13FE3B14-54C1-46A9-9BBE-C492DE16897F}" type="slidenum">
              <a:rPr lang="en-US" altLang="zh-CN" sz="2000"/>
              <a:pPr/>
              <a:t>18</a:t>
            </a:fld>
            <a:endParaRPr lang="en-US" altLang="zh-CN" sz="2000"/>
          </a:p>
        </p:txBody>
      </p:sp>
      <p:sp>
        <p:nvSpPr>
          <p:cNvPr id="20483" name="Line 2">
            <a:extLst>
              <a:ext uri="{FF2B5EF4-FFF2-40B4-BE49-F238E27FC236}">
                <a16:creationId xmlns:a16="http://schemas.microsoft.com/office/drawing/2014/main" id="{B7854922-A5ED-04FD-71AF-FB4F7ABDB5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Line 3">
            <a:extLst>
              <a:ext uri="{FF2B5EF4-FFF2-40B4-BE49-F238E27FC236}">
                <a16:creationId xmlns:a16="http://schemas.microsoft.com/office/drawing/2014/main" id="{032A3E8E-1392-834F-2C6B-6C3C4E09E6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C0DAA616-634C-863C-9601-C12F1A6A1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159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1. 11  </a:t>
            </a:r>
            <a:r>
              <a:rPr lang="zh-CN" altLang="en-US" sz="2400">
                <a:ea typeface="宋体" panose="02010600030101010101" pitchFamily="2" charset="-122"/>
              </a:rPr>
              <a:t>广域网</a:t>
            </a:r>
            <a:r>
              <a:rPr lang="en-US" altLang="zh-CN" sz="2400">
                <a:ea typeface="宋体" panose="02010600030101010101" pitchFamily="2" charset="-122"/>
              </a:rPr>
              <a:t>: </a:t>
            </a:r>
            <a:r>
              <a:rPr lang="zh-CN" altLang="en-US" sz="2400">
                <a:ea typeface="宋体" panose="02010600030101010101" pitchFamily="2" charset="-122"/>
              </a:rPr>
              <a:t>交换广域网和点到点广域网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8C4F6B27-4989-3CDD-6DA9-F4C435F2C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7" name="Picture 6">
            <a:extLst>
              <a:ext uri="{FF2B5EF4-FFF2-40B4-BE49-F238E27FC236}">
                <a16:creationId xmlns:a16="http://schemas.microsoft.com/office/drawing/2014/main" id="{EAA6A723-43C9-C0B7-8648-3CCAC3F97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116013"/>
            <a:ext cx="7112000" cy="505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BC349F0F-FC1F-A36C-0738-0C529008A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9.</a:t>
            </a:r>
            <a:fld id="{F1D48CF3-4914-4214-9A18-8D4634D7A8AB}" type="slidenum">
              <a:rPr lang="en-US" altLang="zh-CN" sz="2000"/>
              <a:pPr/>
              <a:t>19</a:t>
            </a:fld>
            <a:endParaRPr lang="en-US" altLang="zh-CN" sz="20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60D017D-6C96-B1C1-56DE-57A525EB4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95CC7A63-821F-73BB-0357-AA93F02D5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0C85F142-810B-E112-2B73-D16161DA8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8E8E3033-8F40-AA9D-CA3F-A366A720F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354A4C48-605D-35FF-E86B-C3ACDA8D6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5EF08CE1-C4AA-2408-664C-C9B1436C9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3" name="Rectangle 8">
            <a:extLst>
              <a:ext uri="{FF2B5EF4-FFF2-40B4-BE49-F238E27FC236}">
                <a16:creationId xmlns:a16="http://schemas.microsoft.com/office/drawing/2014/main" id="{EF377387-EA07-E0D2-B8E6-304131B08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14" name="Line 9">
            <a:extLst>
              <a:ext uri="{FF2B5EF4-FFF2-40B4-BE49-F238E27FC236}">
                <a16:creationId xmlns:a16="http://schemas.microsoft.com/office/drawing/2014/main" id="{A8E7062C-6B1B-7A21-109F-15AA40829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Line 10">
            <a:extLst>
              <a:ext uri="{FF2B5EF4-FFF2-40B4-BE49-F238E27FC236}">
                <a16:creationId xmlns:a16="http://schemas.microsoft.com/office/drawing/2014/main" id="{F9A00536-687C-E30A-BD8E-4DDCC42C6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Rectangle 11">
            <a:extLst>
              <a:ext uri="{FF2B5EF4-FFF2-40B4-BE49-F238E27FC236}">
                <a16:creationId xmlns:a16="http://schemas.microsoft.com/office/drawing/2014/main" id="{B5C6AADA-7C05-47FB-42DC-6158345F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590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当两个或者多个网络彼此连接，它们称为互联网络</a:t>
            </a:r>
            <a:r>
              <a:rPr lang="en-US" altLang="zh-CN">
                <a:ea typeface="宋体" panose="02010600030101010101" pitchFamily="2" charset="-122"/>
              </a:rPr>
              <a:t>(internetwork)</a:t>
            </a:r>
            <a:r>
              <a:rPr lang="zh-CN" altLang="en-US">
                <a:ea typeface="宋体" panose="02010600030101010101" pitchFamily="2" charset="-122"/>
              </a:rPr>
              <a:t>，即互联网</a:t>
            </a:r>
            <a:r>
              <a:rPr lang="en-US" altLang="zh-CN">
                <a:ea typeface="宋体" panose="02010600030101010101" pitchFamily="2" charset="-122"/>
              </a:rPr>
              <a:t>(internet)</a:t>
            </a:r>
            <a:r>
              <a:rPr lang="zh-CN" altLang="en-US">
                <a:ea typeface="宋体" panose="02010600030101010101" pitchFamily="2" charset="-122"/>
              </a:rPr>
              <a:t>，最为著名的互联网称为因特网</a:t>
            </a:r>
            <a:r>
              <a:rPr lang="en-US" altLang="zh-CN">
                <a:ea typeface="宋体" panose="02010600030101010101" pitchFamily="2" charset="-122"/>
              </a:rPr>
              <a:t>(Internet)</a:t>
            </a:r>
          </a:p>
        </p:txBody>
      </p:sp>
      <p:grpSp>
        <p:nvGrpSpPr>
          <p:cNvPr id="21517" name="Group 12">
            <a:extLst>
              <a:ext uri="{FF2B5EF4-FFF2-40B4-BE49-F238E27FC236}">
                <a16:creationId xmlns:a16="http://schemas.microsoft.com/office/drawing/2014/main" id="{19BF9B49-84DA-6510-DD79-828BC62C2C4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21518" name="Picture 13">
              <a:extLst>
                <a:ext uri="{FF2B5EF4-FFF2-40B4-BE49-F238E27FC236}">
                  <a16:creationId xmlns:a16="http://schemas.microsoft.com/office/drawing/2014/main" id="{BD80C36F-A639-D32F-BAF2-77FFB12A5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9" name="Text Box 14">
              <a:extLst>
                <a:ext uri="{FF2B5EF4-FFF2-40B4-BE49-F238E27FC236}">
                  <a16:creationId xmlns:a16="http://schemas.microsoft.com/office/drawing/2014/main" id="{8078B72D-B5CD-9A53-F3BD-B35141CC33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7A766B8E-6E1C-7418-6E84-5F3E9568FE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62AC1AAF-56EA-4566-8846-59668154182E}" type="slidenum">
              <a:rPr lang="en-US" altLang="zh-CN" sz="2000"/>
              <a:pPr/>
              <a:t>20</a:t>
            </a:fld>
            <a:endParaRPr lang="en-US" altLang="zh-CN" sz="2000"/>
          </a:p>
        </p:txBody>
      </p:sp>
      <p:sp>
        <p:nvSpPr>
          <p:cNvPr id="22531" name="Line 2">
            <a:extLst>
              <a:ext uri="{FF2B5EF4-FFF2-40B4-BE49-F238E27FC236}">
                <a16:creationId xmlns:a16="http://schemas.microsoft.com/office/drawing/2014/main" id="{0D0AB952-3900-BB66-A7E7-A2FD85426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Line 3">
            <a:extLst>
              <a:ext uri="{FF2B5EF4-FFF2-40B4-BE49-F238E27FC236}">
                <a16:creationId xmlns:a16="http://schemas.microsoft.com/office/drawing/2014/main" id="{B6BDE23B-D237-FBC4-836C-A284FD7B6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40DBA69D-2DAA-1348-DEC0-7B2B18003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7188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1. 12   </a:t>
            </a:r>
            <a:r>
              <a:rPr lang="zh-CN" altLang="en-US" sz="2400">
                <a:ea typeface="宋体" panose="02010600030101010101" pitchFamily="2" charset="-122"/>
              </a:rPr>
              <a:t>由四个广域网和两个局域网组成的混合网络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4" name="Line 5">
            <a:extLst>
              <a:ext uri="{FF2B5EF4-FFF2-40B4-BE49-F238E27FC236}">
                <a16:creationId xmlns:a16="http://schemas.microsoft.com/office/drawing/2014/main" id="{82CD7DC6-63B2-5A62-0B10-FD09756E2D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35" name="Picture 6">
            <a:extLst>
              <a:ext uri="{FF2B5EF4-FFF2-40B4-BE49-F238E27FC236}">
                <a16:creationId xmlns:a16="http://schemas.microsoft.com/office/drawing/2014/main" id="{8F742649-E60F-B07E-D97C-AB9A62C13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8" y="990600"/>
            <a:ext cx="5740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1A88E98B-4520-A2F6-5F7B-55BFA4743B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9484A49A-0AED-48DA-B5D4-9183E82B78E0}" type="slidenum">
              <a:rPr lang="en-US" altLang="zh-CN" sz="2000"/>
              <a:pPr/>
              <a:t>21</a:t>
            </a:fld>
            <a:endParaRPr lang="en-US" altLang="zh-CN" sz="2000"/>
          </a:p>
        </p:txBody>
      </p:sp>
      <p:sp>
        <p:nvSpPr>
          <p:cNvPr id="859142" name="Rectangle 6">
            <a:extLst>
              <a:ext uri="{FF2B5EF4-FFF2-40B4-BE49-F238E27FC236}">
                <a16:creationId xmlns:a16="http://schemas.microsoft.com/office/drawing/2014/main" id="{49B12CE7-0E38-C6FD-1D49-2CB0307A0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59139" name="Text Box 3">
            <a:extLst>
              <a:ext uri="{FF2B5EF4-FFF2-40B4-BE49-F238E27FC236}">
                <a16:creationId xmlns:a16="http://schemas.microsoft.com/office/drawing/2014/main" id="{8DE9DED5-524E-0B31-21A4-96FAA13FC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2479675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1-3     </a:t>
            </a:r>
            <a:r>
              <a:rPr lang="zh-CN" altLang="en-US" dirty="0">
                <a:latin typeface="Arial" charset="0"/>
                <a:ea typeface="宋体" charset="-122"/>
              </a:rPr>
              <a:t>因特网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  <a:ea typeface="宋体" charset="-122"/>
            </a:endParaRPr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066622D2-2BC9-47C8-ECEB-C6863DB43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8" name="Rectangle 7">
            <a:extLst>
              <a:ext uri="{FF2B5EF4-FFF2-40B4-BE49-F238E27FC236}">
                <a16:creationId xmlns:a16="http://schemas.microsoft.com/office/drawing/2014/main" id="{E790E5CA-9B97-C313-86B6-D55980EA3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219200"/>
            <a:ext cx="86868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zh-CN" altLang="en-US" sz="2800">
                <a:ea typeface="宋体" panose="02010600030101010101" pitchFamily="2" charset="-122"/>
              </a:rPr>
              <a:t>因特网使我们日常生活的许多方面发生了革命性的变化，它不仅影响着我们商务活动的方式，还影响着我们生活娱乐的方式。 因特网是一个通信系统，它把信息财富带到我们的指尖之上，将这些信息组织起来为我们所用。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23559" name="Rectangle 8">
            <a:extLst>
              <a:ext uri="{FF2B5EF4-FFF2-40B4-BE49-F238E27FC236}">
                <a16:creationId xmlns:a16="http://schemas.microsoft.com/office/drawing/2014/main" id="{7B0CBC2A-65DC-B3C2-532E-021DC2439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5045075"/>
            <a:ext cx="7467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历史简介</a:t>
            </a:r>
            <a:endParaRPr lang="fr-FR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folHlink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因特网现状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因特网服务提供商</a:t>
            </a: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fr-FR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59145" name="Text Box 9">
            <a:extLst>
              <a:ext uri="{FF2B5EF4-FFF2-40B4-BE49-F238E27FC236}">
                <a16:creationId xmlns:a16="http://schemas.microsoft.com/office/drawing/2014/main" id="{E6A49C32-083B-FB12-7076-D6FBEBEA1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11675"/>
            <a:ext cx="17478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本节要点</a:t>
            </a:r>
            <a:r>
              <a:rPr lang="en-US" altLang="zh-CN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B894CE41-7313-F034-FD6D-F50E0FF356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051A6837-3411-4836-9D41-60DBF9227557}" type="slidenum">
              <a:rPr lang="en-US" altLang="zh-CN" sz="2000"/>
              <a:pPr/>
              <a:t>22</a:t>
            </a:fld>
            <a:endParaRPr lang="en-US" altLang="zh-CN" sz="2000"/>
          </a:p>
        </p:txBody>
      </p:sp>
      <p:sp>
        <p:nvSpPr>
          <p:cNvPr id="24579" name="Line 2">
            <a:extLst>
              <a:ext uri="{FF2B5EF4-FFF2-40B4-BE49-F238E27FC236}">
                <a16:creationId xmlns:a16="http://schemas.microsoft.com/office/drawing/2014/main" id="{27D80E8E-D094-023D-E7D5-49655E76E7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Line 3">
            <a:extLst>
              <a:ext uri="{FF2B5EF4-FFF2-40B4-BE49-F238E27FC236}">
                <a16:creationId xmlns:a16="http://schemas.microsoft.com/office/drawing/2014/main" id="{BC3F87FD-C936-3CBB-8C37-BB570BF589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144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E8DAE261-1F59-B6D2-BAA2-EFBB4F6DE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4033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1.13   </a:t>
            </a:r>
            <a:r>
              <a:rPr lang="zh-CN" altLang="en-US" sz="2400">
                <a:ea typeface="宋体" panose="02010600030101010101" pitchFamily="2" charset="-122"/>
              </a:rPr>
              <a:t>因特网层次结构组织</a:t>
            </a:r>
            <a:endParaRPr lang="en-US" altLang="zh-CN" sz="20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2" name="Line 5">
            <a:extLst>
              <a:ext uri="{FF2B5EF4-FFF2-40B4-BE49-F238E27FC236}">
                <a16:creationId xmlns:a16="http://schemas.microsoft.com/office/drawing/2014/main" id="{0524A4BF-B3D7-B7B6-9716-9A01D4B99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4583" name="Picture 6">
            <a:extLst>
              <a:ext uri="{FF2B5EF4-FFF2-40B4-BE49-F238E27FC236}">
                <a16:creationId xmlns:a16="http://schemas.microsoft.com/office/drawing/2014/main" id="{621301A4-24AF-9987-4D71-AAE689EA2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463" y="1095375"/>
            <a:ext cx="5494337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6E28D24C-638E-1DDF-E0F4-FA8296BD2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1.</a:t>
            </a:r>
            <a:fld id="{179DF3A6-F097-4242-B38C-F67E62203577}" type="slidenum">
              <a:rPr lang="en-US" altLang="zh-CN" sz="2000"/>
              <a:pPr/>
              <a:t>23</a:t>
            </a:fld>
            <a:endParaRPr lang="en-US" altLang="zh-CN" sz="2000"/>
          </a:p>
        </p:txBody>
      </p:sp>
      <p:sp>
        <p:nvSpPr>
          <p:cNvPr id="877570" name="Rectangle 2">
            <a:extLst>
              <a:ext uri="{FF2B5EF4-FFF2-40B4-BE49-F238E27FC236}">
                <a16:creationId xmlns:a16="http://schemas.microsoft.com/office/drawing/2014/main" id="{3C96B5CB-4BC1-3AB7-373D-D94736745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charset="-122"/>
            </a:endParaRPr>
          </a:p>
        </p:txBody>
      </p:sp>
      <p:sp>
        <p:nvSpPr>
          <p:cNvPr id="877571" name="Text Box 3">
            <a:extLst>
              <a:ext uri="{FF2B5EF4-FFF2-40B4-BE49-F238E27FC236}">
                <a16:creationId xmlns:a16="http://schemas.microsoft.com/office/drawing/2014/main" id="{02DD9C2E-9361-6B41-F978-1E3796162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52400"/>
            <a:ext cx="320198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  <a:ea typeface="宋体" charset="-122"/>
              </a:rPr>
              <a:t>1-4    </a:t>
            </a:r>
            <a:r>
              <a:rPr lang="zh-CN" altLang="en-US" dirty="0">
                <a:latin typeface="Arial" charset="0"/>
                <a:ea typeface="宋体" charset="-122"/>
              </a:rPr>
              <a:t>协议和标准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Times" pitchFamily="18" charset="0"/>
              <a:ea typeface="宋体" charset="-122"/>
            </a:endParaRP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2A41777E-C19B-BEAC-B6A0-4D2FA3EE6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zh-CN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6" name="Rectangle 5">
            <a:extLst>
              <a:ext uri="{FF2B5EF4-FFF2-40B4-BE49-F238E27FC236}">
                <a16:creationId xmlns:a16="http://schemas.microsoft.com/office/drawing/2014/main" id="{DC6B6215-EE3A-90D5-F8ED-6A87406CC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03363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zh-CN" altLang="en-US" sz="2800">
                <a:ea typeface="宋体" panose="02010600030101010101" pitchFamily="2" charset="-122"/>
              </a:rPr>
              <a:t>在本节中，定义两个广泛使用的词</a:t>
            </a:r>
            <a:r>
              <a:rPr lang="en-US" altLang="zh-CN" sz="2800">
                <a:ea typeface="宋体" panose="02010600030101010101" pitchFamily="2" charset="-122"/>
              </a:rPr>
              <a:t>:</a:t>
            </a:r>
            <a:r>
              <a:rPr lang="zh-CN" altLang="en-US" sz="2800">
                <a:ea typeface="宋体" panose="02010600030101010101" pitchFamily="2" charset="-122"/>
              </a:rPr>
              <a:t>协议和标准。首先定义协议，它是规则的同义词，然后讨论标准，它是经过协商达成一致的规则。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25607" name="Rectangle 6">
            <a:extLst>
              <a:ext uri="{FF2B5EF4-FFF2-40B4-BE49-F238E27FC236}">
                <a16:creationId xmlns:a16="http://schemas.microsoft.com/office/drawing/2014/main" id="{9CE35C5C-2B6A-8886-629F-D5CD1717C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495800"/>
            <a:ext cx="7467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协议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标准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标准化组织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互联网标准</a:t>
            </a:r>
            <a:endParaRPr lang="fr-FR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77575" name="Text Box 7">
            <a:extLst>
              <a:ext uri="{FF2B5EF4-FFF2-40B4-BE49-F238E27FC236}">
                <a16:creationId xmlns:a16="http://schemas.microsoft.com/office/drawing/2014/main" id="{0A77EA55-DE54-E9F4-F415-F7ED5E3C95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962400"/>
            <a:ext cx="1747838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本节要点</a:t>
            </a:r>
            <a:r>
              <a:rPr lang="en-US" altLang="zh-CN" sz="2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rPr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2711</TotalTime>
  <Words>629</Words>
  <Application>Microsoft Office PowerPoint</Application>
  <PresentationFormat>全屏显示(4:3)</PresentationFormat>
  <Paragraphs>104</Paragraphs>
  <Slides>23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Tahoma</vt:lpstr>
      <vt:lpstr>Wingdings</vt:lpstr>
      <vt:lpstr>Times New Roman</vt:lpstr>
      <vt:lpstr>宋体</vt:lpstr>
      <vt:lpstr>McGrawHill-Italic</vt:lpstr>
      <vt:lpstr>Times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浩嘉 申</cp:lastModifiedBy>
  <cp:revision>176</cp:revision>
  <dcterms:created xsi:type="dcterms:W3CDTF">2000-01-15T04:50:39Z</dcterms:created>
  <dcterms:modified xsi:type="dcterms:W3CDTF">2026-06-02T07:11:54Z</dcterms:modified>
</cp:coreProperties>
</file>