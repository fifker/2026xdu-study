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7"/>
  </p:notesMasterIdLst>
  <p:handoutMasterIdLst>
    <p:handoutMasterId r:id="rId38"/>
  </p:handoutMasterIdLst>
  <p:sldIdLst>
    <p:sldId id="722" r:id="rId2"/>
    <p:sldId id="535" r:id="rId3"/>
    <p:sldId id="688" r:id="rId4"/>
    <p:sldId id="689" r:id="rId5"/>
    <p:sldId id="708" r:id="rId6"/>
    <p:sldId id="713" r:id="rId7"/>
    <p:sldId id="714" r:id="rId8"/>
    <p:sldId id="690" r:id="rId9"/>
    <p:sldId id="691" r:id="rId10"/>
    <p:sldId id="715" r:id="rId11"/>
    <p:sldId id="716" r:id="rId12"/>
    <p:sldId id="693" r:id="rId13"/>
    <p:sldId id="717" r:id="rId14"/>
    <p:sldId id="694" r:id="rId15"/>
    <p:sldId id="718" r:id="rId16"/>
    <p:sldId id="695" r:id="rId17"/>
    <p:sldId id="696" r:id="rId18"/>
    <p:sldId id="697" r:id="rId19"/>
    <p:sldId id="698" r:id="rId20"/>
    <p:sldId id="719" r:id="rId21"/>
    <p:sldId id="699" r:id="rId22"/>
    <p:sldId id="720" r:id="rId23"/>
    <p:sldId id="709" r:id="rId24"/>
    <p:sldId id="701" r:id="rId25"/>
    <p:sldId id="687" r:id="rId26"/>
    <p:sldId id="702" r:id="rId27"/>
    <p:sldId id="703" r:id="rId28"/>
    <p:sldId id="710" r:id="rId29"/>
    <p:sldId id="704" r:id="rId30"/>
    <p:sldId id="721" r:id="rId31"/>
    <p:sldId id="705" r:id="rId32"/>
    <p:sldId id="706" r:id="rId33"/>
    <p:sldId id="707" r:id="rId34"/>
    <p:sldId id="712" r:id="rId35"/>
    <p:sldId id="723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00"/>
    <a:srgbClr val="996633"/>
    <a:srgbClr val="6666FF"/>
    <a:srgbClr val="3366FF"/>
    <a:srgbClr val="CCFF99"/>
    <a:srgbClr val="99FF33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95" autoAdjust="0"/>
    <p:restoredTop sz="94680" autoAdjust="0"/>
  </p:normalViewPr>
  <p:slideViewPr>
    <p:cSldViewPr>
      <p:cViewPr>
        <p:scale>
          <a:sx n="60" d="100"/>
          <a:sy n="60" d="100"/>
        </p:scale>
        <p:origin x="-696" y="-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Rectangle 2">
            <a:extLst>
              <a:ext uri="{FF2B5EF4-FFF2-40B4-BE49-F238E27FC236}">
                <a16:creationId xmlns:a16="http://schemas.microsoft.com/office/drawing/2014/main" id="{A3991040-6B79-E38B-5382-80B49CC385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75523" name="Rectangle 3">
            <a:extLst>
              <a:ext uri="{FF2B5EF4-FFF2-40B4-BE49-F238E27FC236}">
                <a16:creationId xmlns:a16="http://schemas.microsoft.com/office/drawing/2014/main" id="{9CEF22C5-812A-A1D0-45DD-81AE5710EAE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75524" name="Rectangle 4">
            <a:extLst>
              <a:ext uri="{FF2B5EF4-FFF2-40B4-BE49-F238E27FC236}">
                <a16:creationId xmlns:a16="http://schemas.microsoft.com/office/drawing/2014/main" id="{D55A5600-8611-A0D3-4567-B5B144172AC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75525" name="Rectangle 5">
            <a:extLst>
              <a:ext uri="{FF2B5EF4-FFF2-40B4-BE49-F238E27FC236}">
                <a16:creationId xmlns:a16="http://schemas.microsoft.com/office/drawing/2014/main" id="{2230BAD0-AD50-3D3A-64C6-528C7F74960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7D38F633-3F5B-4AEE-902C-1B99CD2A331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514" name="Rectangle 2">
            <a:extLst>
              <a:ext uri="{FF2B5EF4-FFF2-40B4-BE49-F238E27FC236}">
                <a16:creationId xmlns:a16="http://schemas.microsoft.com/office/drawing/2014/main" id="{7A309485-C91D-A60A-D0DB-35B2A8F82C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2515" name="Rectangle 3">
            <a:extLst>
              <a:ext uri="{FF2B5EF4-FFF2-40B4-BE49-F238E27FC236}">
                <a16:creationId xmlns:a16="http://schemas.microsoft.com/office/drawing/2014/main" id="{148A7C65-9A06-5CED-FAEB-D446695E1D1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4F8632B4-D187-53F2-1E58-6D35EEDBDBEB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2517" name="Rectangle 5">
            <a:extLst>
              <a:ext uri="{FF2B5EF4-FFF2-40B4-BE49-F238E27FC236}">
                <a16:creationId xmlns:a16="http://schemas.microsoft.com/office/drawing/2014/main" id="{5581FDE1-09A7-30B5-5ECE-94EAB52791A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832518" name="Rectangle 6">
            <a:extLst>
              <a:ext uri="{FF2B5EF4-FFF2-40B4-BE49-F238E27FC236}">
                <a16:creationId xmlns:a16="http://schemas.microsoft.com/office/drawing/2014/main" id="{E362F689-2CE1-E2F5-9A79-5158F0D3A00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2519" name="Rectangle 7">
            <a:extLst>
              <a:ext uri="{FF2B5EF4-FFF2-40B4-BE49-F238E27FC236}">
                <a16:creationId xmlns:a16="http://schemas.microsoft.com/office/drawing/2014/main" id="{99B0D453-1272-6723-3031-1D0739681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3F8EF470-E8B6-4365-A337-EF2875145E8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9DF87F1-64F5-0D89-9471-07FE192114F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9B7EA772-93EF-4E99-F091-5A2C2A7A2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C615519-A8BE-0F62-0349-E397410E06A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23C48A2-0A9D-3AD8-1512-1EACF12387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FC5B280-B302-0439-236B-6A444909B58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0B35061-68C6-EA6A-4B11-F69647A34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B5540745-4F6E-9075-60E2-369FB795906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B722167-A453-49D8-4373-79A2974172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09D37C6-C584-9BB9-4F79-92B0C4A7756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D9B1A0A7-7AA8-37A1-EBC8-862B9B0ECF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57742F1-CEED-41F7-2FE7-F6D78B80348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F7682EAC-DDEC-6940-E450-2F30AA31A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998095D-531A-AEED-ED40-D30ADF7A9B1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D60B9E6-ED07-CBE5-6C99-B22358722E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F48FF1F1-4020-DD60-9958-5AC938B8058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445BF66-A64C-8CEF-E05E-8E5F7654A5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203851E-2EF4-91A5-4126-F95BAFA85F7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AF5D5EBA-9F7F-A89A-4979-C05C802D8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B6B07F64-1F9F-62DB-50F6-D7356F4F413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6AD5DB1-4F8A-405B-8267-921BAF083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9BDF370-6EA6-1F12-1398-D98B77BA9E0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4AC16DDB-0CA1-16A6-6301-3111E12418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4D3D2747-3F6D-BBEE-4B3F-61D125A1BEB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1DEDB17-5C0D-511F-B3F1-5EF6E5018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71F5CA5-1F64-6F11-DA11-9658BB143C9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3385F421-B7E2-D42A-7AB1-9F4D04E7E1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27104FFB-0FBE-2411-7C82-4CE45FA1584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0E4AB1C5-C138-51F6-224F-34925E578A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C15AE856-EB3E-1ED8-8E81-D2B32AEA542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4BF8D765-91AB-05F4-B284-980478ADA8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8C65A42C-7CEA-2147-9847-C6CD63957EB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BECCFA99-78FF-1BB5-8A17-B58FE7B3E0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F474A156-342C-E4D6-6708-A1D0B8B2FFA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69F78DE4-C644-46C0-048A-E585EC95F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31805F9A-AE8E-3363-25D7-E9BCFAA5945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B4AB8E1A-FB11-C78F-981E-14C6A7E250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65CDECA1-1098-A517-6F3F-83FA09E1E92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E3620A93-42C3-397B-D596-717A913608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1004D536-ED10-1BF8-8485-CF313158EF7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7C0D7A85-EE28-7F48-9DE6-C4C760045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3CDB9FF9-808A-4AF6-F006-C671630802E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CBEB031-15C4-3AFC-0890-59CE406EF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ACF5F5D5-F911-DD02-543C-96632311484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493F0D81-45C4-C328-A136-43CE6B265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63F8B8BB-D2F6-DC3E-16C8-FE2DD8AA869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2EA7B32-AFB4-D46B-9A78-7C7E20F65D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4CEE272F-131C-7A3B-701D-120D45BDAF6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73642574-C1C5-A02E-73E9-5BD2BCBD5C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3081BA4-9A9B-A706-B90C-F8164CF2035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1C50DA72-DED1-A743-A83A-800C751C7D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0001D37F-4E64-C03C-5271-599FC39A860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78845F24-B7A2-4E35-14A1-2CB56FB98D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E4A8EA72-76F1-2CF3-91DA-EA8A8DBAB58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AB0E9AC0-49C7-CA3A-3813-59BAE9B3A2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09E55D48-8D06-3DCE-F45D-AC4D5BE2CFF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05E089EA-8F10-2EBA-14D4-1649CC1632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AFF30EF1-9266-6C11-F492-30251B2E46D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BF996BBC-149E-7224-C85F-2AD5FB1A6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6AC5F757-5166-8DE7-393B-FC0FD72A77A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3B572BB3-30B0-C0BC-C225-9EF80C770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09224C01-6A70-8939-75F6-88B58B91FA9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AF64E08F-EDAD-C31A-9F1F-1343FA1CAE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1FFDF8D2-D5FF-B339-9B0A-A40CB1ED934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62A5443A-2A54-63B1-9C82-D882C5DF7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8B5EE55C-9362-887B-6944-CD6C4CA5D49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67859FED-D399-C5FE-A232-8967BBCA8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90C4647F-E02E-8B4D-0B79-0F34031C7A0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275E467B-7DC0-0084-678A-1DD8D645E3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8BAF842-9716-E569-BEE2-BAE9B12F9D7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D713473D-0A21-CF6F-BC49-AC7DF1DE10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40ABEE6F-38F9-A79F-AC97-FD9E0361EB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23172F66-5149-5B6E-5C5A-56314A9F2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pitchFamily="2" charset="-122"/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140AAA3-D8C8-B507-F7BE-B6BD9EA4FD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E36F562-8E6B-B2D6-77CA-A9E9F59DC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224708C-ECE0-C4C2-DF7B-F9DCE035E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pitchFamily="2" charset="-122"/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C300D8AC-05AD-5D56-ADCB-651C09569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CD999EE4-1782-E019-78FC-E0AC1A0A0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BCB52565-E1DD-D955-F0FE-9D7A6BD900F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2" name="Text Box 17">
            <a:extLst>
              <a:ext uri="{FF2B5EF4-FFF2-40B4-BE49-F238E27FC236}">
                <a16:creationId xmlns:a16="http://schemas.microsoft.com/office/drawing/2014/main" id="{57111BED-8AB6-984C-9605-18EE4A1CCC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F2C485DB-F660-3127-F607-6EE080D614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E3D27989-AF81-CFD5-39EF-91A039ED6D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D3F3CDAC-3BCE-C11D-6E02-E98F950AA7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64E22235-763E-B96B-5A80-7AE21D7248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Tahoma" panose="020B0604030504040204" pitchFamily="34" charset="0"/>
              </a:defRPr>
            </a:lvl1pPr>
          </a:lstStyle>
          <a:p>
            <a:fld id="{292015BA-C03A-4F01-8757-28334C6604B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9175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B882B525-0FDC-F490-B254-B4C0979E921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5.</a:t>
            </a:r>
            <a:fld id="{59F76467-3C14-47B5-80C0-823251519D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6898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FF727ED-5BC9-2627-3503-2B9ABE1F07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5.</a:t>
            </a:r>
            <a:fld id="{2C338854-FEE4-43FF-8D60-BE9A725018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668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74062880-FB71-0579-6342-E0F5CACD843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5.</a:t>
            </a:r>
            <a:fld id="{8EFFACF9-B361-4CD2-930E-1799B41A80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7830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2DBB930F-FEB8-23A0-31E1-A2B6A1B78CC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5.</a:t>
            </a:r>
            <a:fld id="{3950012E-80D4-4F68-8371-54688E878F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0551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D0658C1E-86F0-06AB-0333-81CF3E56CFC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5.</a:t>
            </a:r>
            <a:fld id="{C4FC687F-8E30-4FBF-8339-4C9B7E5A569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9570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5E7EAB1E-C0D7-FC97-DC0D-07D30993A15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5.</a:t>
            </a:r>
            <a:fld id="{CE65186B-70BA-42EA-9FCC-887FA3D39A4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621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11F51A5-00D7-A81E-05B7-BED016DFD7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5.</a:t>
            </a:r>
            <a:fld id="{F744AAF4-7FBE-4817-A949-88948AD23A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6670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523C66FE-5200-6411-2760-97EBA511692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5.</a:t>
            </a:r>
            <a:fld id="{17FCD450-EC1F-498C-B21C-CB146E9D1B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1257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D6F51175-61E4-54D6-C6FC-9B61BA79671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5.</a:t>
            </a:r>
            <a:fld id="{67859ABF-6CE3-484D-9D12-115226A68C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340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CD35EA48-CD44-5E3C-FB8A-4C0C6EE1A4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5.</a:t>
            </a:r>
            <a:fld id="{E52D8752-517E-44E3-9BC9-DE78A9C0F3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2719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E555306B-C275-AB7B-A992-6C7CA956C12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5.</a:t>
            </a:r>
            <a:fld id="{BC998A53-D3DA-45F6-8A39-9C70BD6B01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514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AE209B51-8F12-A02B-D771-F25778CFBC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76200" y="64770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5.</a:t>
            </a:r>
            <a:fld id="{ACDBDE98-A605-45F7-806C-C1B6D5C2F4E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2">
            <a:extLst>
              <a:ext uri="{FF2B5EF4-FFF2-40B4-BE49-F238E27FC236}">
                <a16:creationId xmlns:a16="http://schemas.microsoft.com/office/drawing/2014/main" id="{AC989C40-45DB-F1CA-F4A1-B91A7D8EA3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37FE70DF-D3B8-4A28-A2C3-BD85B13D7EBA}" type="slidenum">
              <a:rPr lang="en-US" altLang="zh-CN" sz="2000">
                <a:solidFill>
                  <a:schemeClr val="bg2"/>
                </a:solidFill>
              </a:rPr>
              <a:pPr/>
              <a:t>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pic>
        <p:nvPicPr>
          <p:cNvPr id="5123" name="Picture 2" descr="Forouzan4e07_banner">
            <a:extLst>
              <a:ext uri="{FF2B5EF4-FFF2-40B4-BE49-F238E27FC236}">
                <a16:creationId xmlns:a16="http://schemas.microsoft.com/office/drawing/2014/main" id="{491EEC94-39BF-36DF-09FB-7F5431E52E3A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Rectangle 3">
            <a:extLst>
              <a:ext uri="{FF2B5EF4-FFF2-40B4-BE49-F238E27FC236}">
                <a16:creationId xmlns:a16="http://schemas.microsoft.com/office/drawing/2014/main" id="{184268B5-0C2B-3F1C-8635-0622AE232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400">
                <a:solidFill>
                  <a:schemeClr val="tx2"/>
                </a:solidFill>
              </a:rPr>
              <a:t>Chapter 5</a:t>
            </a:r>
          </a:p>
          <a:p>
            <a:pPr algn="ctr"/>
            <a:endParaRPr lang="en-US" altLang="en-US" sz="2000">
              <a:solidFill>
                <a:schemeClr val="tx2"/>
              </a:solidFill>
            </a:endParaRPr>
          </a:p>
          <a:p>
            <a:pPr algn="ctr"/>
            <a:r>
              <a:rPr lang="zh-CN" altLang="en-US" sz="4400">
                <a:ea typeface="宋体" panose="02010600030101010101" pitchFamily="2" charset="-122"/>
              </a:rPr>
              <a:t>模拟传输</a:t>
            </a:r>
            <a:endParaRPr lang="en-US" altLang="zh-CN" sz="4400">
              <a:ea typeface="宋体" panose="02010600030101010101" pitchFamily="2" charset="-122"/>
            </a:endParaRPr>
          </a:p>
          <a:p>
            <a:pPr algn="ctr"/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zh-CN">
                <a:ea typeface="宋体" panose="02010600030101010101" pitchFamily="2" charset="-122"/>
              </a:rPr>
              <a:t>Analog Transmission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125" name="Text Box 4">
            <a:extLst>
              <a:ext uri="{FF2B5EF4-FFF2-40B4-BE49-F238E27FC236}">
                <a16:creationId xmlns:a16="http://schemas.microsoft.com/office/drawing/2014/main" id="{C4C2EA1E-BE44-1AE5-80F0-C1474E553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>
            <a:extLst>
              <a:ext uri="{FF2B5EF4-FFF2-40B4-BE49-F238E27FC236}">
                <a16:creationId xmlns:a16="http://schemas.microsoft.com/office/drawing/2014/main" id="{C72AAB8D-2D1D-5447-DD5C-C76544F918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2D17A7BC-4423-43EE-80A3-C448B8BE4748}" type="slidenum">
              <a:rPr lang="en-US" altLang="zh-CN" sz="2000">
                <a:solidFill>
                  <a:schemeClr val="bg2"/>
                </a:solidFill>
              </a:rPr>
              <a:pPr/>
              <a:t>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2E67E2FF-202D-30D5-E906-BA229E171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25FC343F-2292-0773-86B8-B17D5B2EA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82931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pitchFamily="2" charset="-122"/>
              </a:rPr>
              <a:t>5-1   DIGITAL-TO-ANALOG CONVERSION</a:t>
            </a:r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ADEC0BB8-CCA3-D92D-9BA2-78EBA150A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D66E6923-476A-558C-0830-B4C94641C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93850"/>
            <a:ext cx="8229600" cy="138588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将数字数据转换为帯通模拟信号传统上称为数字到模拟转换。将低通模拟信号转换为帯通信号传统上被称为模拟到模拟转换。</a:t>
            </a:r>
            <a:r>
              <a:rPr lang="en-US" altLang="zh-CN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6151" name="Rectangle 29">
            <a:extLst>
              <a:ext uri="{FF2B5EF4-FFF2-40B4-BE49-F238E27FC236}">
                <a16:creationId xmlns:a16="http://schemas.microsoft.com/office/drawing/2014/main" id="{9CA4827B-D407-E725-39D1-F514832F6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286250"/>
            <a:ext cx="87630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数字到模拟转换的概念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(Aspects of Digital-to-Analog Conversion)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幅移键控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Amplitude Shift Keying)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频移键控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(Frequency Shift Keying)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相移键控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(Phase Shift Keying)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正交振幅调制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(Quadrature Amplitude Modulation)</a:t>
            </a:r>
          </a:p>
        </p:txBody>
      </p:sp>
      <p:sp>
        <p:nvSpPr>
          <p:cNvPr id="565278" name="Text Box 30">
            <a:extLst>
              <a:ext uri="{FF2B5EF4-FFF2-40B4-BE49-F238E27FC236}">
                <a16:creationId xmlns:a16="http://schemas.microsoft.com/office/drawing/2014/main" id="{C15116F3-04C5-3CE9-E0CB-DB79BC996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3810000"/>
            <a:ext cx="48625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>
            <a:extLst>
              <a:ext uri="{FF2B5EF4-FFF2-40B4-BE49-F238E27FC236}">
                <a16:creationId xmlns:a16="http://schemas.microsoft.com/office/drawing/2014/main" id="{8035C658-D345-AFE1-A127-939DAB45A3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DC1EE519-C786-49D6-B366-6034AB2D2539}" type="slidenum">
              <a:rPr lang="en-US" altLang="zh-CN" sz="2000">
                <a:solidFill>
                  <a:schemeClr val="bg2"/>
                </a:solidFill>
              </a:rPr>
              <a:pPr/>
              <a:t>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171" name="Line 2">
            <a:extLst>
              <a:ext uri="{FF2B5EF4-FFF2-40B4-BE49-F238E27FC236}">
                <a16:creationId xmlns:a16="http://schemas.microsoft.com/office/drawing/2014/main" id="{42EF916C-1CAD-97E1-3614-3E2C3B407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" name="Line 3">
            <a:extLst>
              <a:ext uri="{FF2B5EF4-FFF2-40B4-BE49-F238E27FC236}">
                <a16:creationId xmlns:a16="http://schemas.microsoft.com/office/drawing/2014/main" id="{BCE83E6C-0802-F1DD-24AF-8284CDA00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71C64F4D-D5DB-9543-02D6-E43A1F250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4662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5.1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Digital-to-analog conversion</a:t>
            </a:r>
          </a:p>
        </p:txBody>
      </p:sp>
      <p:sp>
        <p:nvSpPr>
          <p:cNvPr id="7174" name="Line 5">
            <a:extLst>
              <a:ext uri="{FF2B5EF4-FFF2-40B4-BE49-F238E27FC236}">
                <a16:creationId xmlns:a16="http://schemas.microsoft.com/office/drawing/2014/main" id="{02F8E6C6-F209-5155-7BD6-7DB1DF6A70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75" name="Picture 10">
            <a:extLst>
              <a:ext uri="{FF2B5EF4-FFF2-40B4-BE49-F238E27FC236}">
                <a16:creationId xmlns:a16="http://schemas.microsoft.com/office/drawing/2014/main" id="{E1848BC2-8D8D-AB98-D804-DA71292D0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27250"/>
            <a:ext cx="8885238" cy="259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>
            <a:extLst>
              <a:ext uri="{FF2B5EF4-FFF2-40B4-BE49-F238E27FC236}">
                <a16:creationId xmlns:a16="http://schemas.microsoft.com/office/drawing/2014/main" id="{935F851D-1390-1107-A9DE-596E5C6FDB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6D6D2AC7-F465-4DBF-9F89-3E3927781084}" type="slidenum">
              <a:rPr lang="en-US" altLang="zh-CN" sz="2000">
                <a:solidFill>
                  <a:schemeClr val="bg2"/>
                </a:solidFill>
              </a:rPr>
              <a:pPr/>
              <a:t>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195" name="Line 2">
            <a:extLst>
              <a:ext uri="{FF2B5EF4-FFF2-40B4-BE49-F238E27FC236}">
                <a16:creationId xmlns:a16="http://schemas.microsoft.com/office/drawing/2014/main" id="{20B35AA4-9542-7BF0-1D10-BFF84DC94F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Line 3">
            <a:extLst>
              <a:ext uri="{FF2B5EF4-FFF2-40B4-BE49-F238E27FC236}">
                <a16:creationId xmlns:a16="http://schemas.microsoft.com/office/drawing/2014/main" id="{030030AE-F092-24DD-AFB0-E096E3F42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5A658F8C-6D2D-3E9A-E521-C65F7509E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54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5.2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Types of digital-to-analog conversion</a:t>
            </a:r>
          </a:p>
        </p:txBody>
      </p:sp>
      <p:sp>
        <p:nvSpPr>
          <p:cNvPr id="8198" name="Line 5">
            <a:extLst>
              <a:ext uri="{FF2B5EF4-FFF2-40B4-BE49-F238E27FC236}">
                <a16:creationId xmlns:a16="http://schemas.microsoft.com/office/drawing/2014/main" id="{629584FC-B016-1C2C-DB86-7FF4DC233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199" name="Picture 6">
            <a:extLst>
              <a:ext uri="{FF2B5EF4-FFF2-40B4-BE49-F238E27FC236}">
                <a16:creationId xmlns:a16="http://schemas.microsoft.com/office/drawing/2014/main" id="{C601F00F-CDAF-1ABE-7994-54DD485C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1905000"/>
            <a:ext cx="8401050" cy="288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灯片编号占位符 1">
            <a:extLst>
              <a:ext uri="{FF2B5EF4-FFF2-40B4-BE49-F238E27FC236}">
                <a16:creationId xmlns:a16="http://schemas.microsoft.com/office/drawing/2014/main" id="{8A7C57F1-1924-2D19-5C4E-36605C931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B91B2610-D996-4D1F-AFE9-AB1F5F194D69}" type="slidenum">
              <a:rPr lang="en-US" altLang="zh-CN" sz="2000">
                <a:solidFill>
                  <a:schemeClr val="bg2"/>
                </a:solidFill>
              </a:rPr>
              <a:pPr/>
              <a:t>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28" name="Rectangle 2">
            <a:extLst>
              <a:ext uri="{FF2B5EF4-FFF2-40B4-BE49-F238E27FC236}">
                <a16:creationId xmlns:a16="http://schemas.microsoft.com/office/drawing/2014/main" id="{688B84B3-C874-786F-8DC8-89FCA9E56A6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BDDA826E-BE5B-D8CC-F37C-3DC7289C28B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Rectangle 4">
            <a:extLst>
              <a:ext uri="{FF2B5EF4-FFF2-40B4-BE49-F238E27FC236}">
                <a16:creationId xmlns:a16="http://schemas.microsoft.com/office/drawing/2014/main" id="{67AA4F4D-A6B2-8819-655A-6881B56DB68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Rectangle 5">
            <a:extLst>
              <a:ext uri="{FF2B5EF4-FFF2-40B4-BE49-F238E27FC236}">
                <a16:creationId xmlns:a16="http://schemas.microsoft.com/office/drawing/2014/main" id="{D7601926-D3C8-D426-A2D9-0711E02F04A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Rectangle 6">
            <a:extLst>
              <a:ext uri="{FF2B5EF4-FFF2-40B4-BE49-F238E27FC236}">
                <a16:creationId xmlns:a16="http://schemas.microsoft.com/office/drawing/2014/main" id="{25ADA63A-A4F0-E9E4-5B94-9618D9BD25C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3" name="Rectangle 7">
            <a:extLst>
              <a:ext uri="{FF2B5EF4-FFF2-40B4-BE49-F238E27FC236}">
                <a16:creationId xmlns:a16="http://schemas.microsoft.com/office/drawing/2014/main" id="{F92F4D06-CF48-BFEB-5534-207FE4EF12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Rectangle 8">
            <a:extLst>
              <a:ext uri="{FF2B5EF4-FFF2-40B4-BE49-F238E27FC236}">
                <a16:creationId xmlns:a16="http://schemas.microsoft.com/office/drawing/2014/main" id="{D8662104-4FC9-2497-BAA0-16EFD929420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5" name="Line 9">
            <a:extLst>
              <a:ext uri="{FF2B5EF4-FFF2-40B4-BE49-F238E27FC236}">
                <a16:creationId xmlns:a16="http://schemas.microsoft.com/office/drawing/2014/main" id="{4FBF3B96-226D-7D1C-16AB-B43247E41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752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" name="Line 10">
            <a:extLst>
              <a:ext uri="{FF2B5EF4-FFF2-40B4-BE49-F238E27FC236}">
                <a16:creationId xmlns:a16="http://schemas.microsoft.com/office/drawing/2014/main" id="{4991F3B2-24F5-C68C-3B57-4085CA58C0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581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" name="Rectangle 11">
            <a:extLst>
              <a:ext uri="{FF2B5EF4-FFF2-40B4-BE49-F238E27FC236}">
                <a16:creationId xmlns:a16="http://schemas.microsoft.com/office/drawing/2014/main" id="{FDB6FBE0-DFBF-4824-B4A4-7B2966E91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844675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比特率是每秒发送的位数，波特率是每秒发送的信号元素数。在数字数据模拟传输中，波特率小于等于比特率</a:t>
            </a:r>
            <a:r>
              <a:rPr lang="en-US" altLang="zh-CN">
                <a:ea typeface="宋体" panose="02010600030101010101" pitchFamily="2" charset="-122"/>
              </a:rPr>
              <a:t>. </a:t>
            </a:r>
          </a:p>
        </p:txBody>
      </p:sp>
      <p:grpSp>
        <p:nvGrpSpPr>
          <p:cNvPr id="1038" name="Group 12">
            <a:extLst>
              <a:ext uri="{FF2B5EF4-FFF2-40B4-BE49-F238E27FC236}">
                <a16:creationId xmlns:a16="http://schemas.microsoft.com/office/drawing/2014/main" id="{D09BA37B-BF02-26C5-858E-295965A6AAD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143000"/>
            <a:ext cx="1143000" cy="566738"/>
            <a:chOff x="1200" y="1248"/>
            <a:chExt cx="720" cy="357"/>
          </a:xfrm>
        </p:grpSpPr>
        <p:pic>
          <p:nvPicPr>
            <p:cNvPr id="1039" name="Picture 13">
              <a:extLst>
                <a:ext uri="{FF2B5EF4-FFF2-40B4-BE49-F238E27FC236}">
                  <a16:creationId xmlns:a16="http://schemas.microsoft.com/office/drawing/2014/main" id="{2F058C00-DFFD-06FF-A471-577C3A05AC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40" name="Text Box 14">
              <a:extLst>
                <a:ext uri="{FF2B5EF4-FFF2-40B4-BE49-F238E27FC236}">
                  <a16:creationId xmlns:a16="http://schemas.microsoft.com/office/drawing/2014/main" id="{24B39CD2-1DFA-05CC-5A07-02C54A5CF2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  <p:graphicFrame>
        <p:nvGraphicFramePr>
          <p:cNvPr id="1026" name="对象 1">
            <a:extLst>
              <a:ext uri="{FF2B5EF4-FFF2-40B4-BE49-F238E27FC236}">
                <a16:creationId xmlns:a16="http://schemas.microsoft.com/office/drawing/2014/main" id="{B309FCC5-4B91-EDE4-29EB-04414B3553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810000"/>
          <a:ext cx="8429625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46160" imgH="1117440" progId="Equation.DSMT4">
                  <p:embed/>
                </p:oleObj>
              </mc:Choice>
              <mc:Fallback>
                <p:oleObj name="Equation" r:id="rId4" imgW="3746160" imgH="11174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810000"/>
                        <a:ext cx="8429625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>
            <a:extLst>
              <a:ext uri="{FF2B5EF4-FFF2-40B4-BE49-F238E27FC236}">
                <a16:creationId xmlns:a16="http://schemas.microsoft.com/office/drawing/2014/main" id="{EE2E077A-5976-50B8-9581-7DCBB58817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B5E90F27-E79E-4909-A502-69B867779585}" type="slidenum">
              <a:rPr lang="en-US" altLang="zh-CN" sz="2000">
                <a:solidFill>
                  <a:schemeClr val="bg2"/>
                </a:solidFill>
              </a:rPr>
              <a:pPr/>
              <a:t>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F8322EC-9F7C-F212-B2B3-813A79DE7B2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4CEFE0A3-39E6-7389-0DD8-76F48306507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5B69458E-E8A1-489B-0C66-46EF3544DDA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810833AF-EFB9-ED44-6F29-407AB432C8E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16D5005F-9CBD-463E-02D7-D345B013DD9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4" name="Rectangle 7">
            <a:extLst>
              <a:ext uri="{FF2B5EF4-FFF2-40B4-BE49-F238E27FC236}">
                <a16:creationId xmlns:a16="http://schemas.microsoft.com/office/drawing/2014/main" id="{56734E03-DD68-F78E-2EC4-414254F4DED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5" name="Rectangle 8">
            <a:extLst>
              <a:ext uri="{FF2B5EF4-FFF2-40B4-BE49-F238E27FC236}">
                <a16:creationId xmlns:a16="http://schemas.microsoft.com/office/drawing/2014/main" id="{30E345F1-4C58-C976-FD58-C09ED9DD11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34DEA2DD-0F29-E692-6E57-0D08295B2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229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模拟信号的每个信号单元运送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位，如果每秒发送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1000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个信号单元，试求比特率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9DC888FA-432A-6104-24E4-9AFABAAAF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048000"/>
            <a:ext cx="8686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这里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r = 4, S = 1000, N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未知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利用公式可以求得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N </a:t>
            </a:r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D0D5FCBC-444A-7C49-F80D-8ACB66613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5.1</a:t>
            </a:r>
          </a:p>
        </p:txBody>
      </p:sp>
      <p:pic>
        <p:nvPicPr>
          <p:cNvPr id="9229" name="Picture 13">
            <a:extLst>
              <a:ext uri="{FF2B5EF4-FFF2-40B4-BE49-F238E27FC236}">
                <a16:creationId xmlns:a16="http://schemas.microsoft.com/office/drawing/2014/main" id="{6B599F83-76EB-5FBC-6DAD-E9F0A0F92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4572000"/>
            <a:ext cx="8164512" cy="719138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>
            <a:extLst>
              <a:ext uri="{FF2B5EF4-FFF2-40B4-BE49-F238E27FC236}">
                <a16:creationId xmlns:a16="http://schemas.microsoft.com/office/drawing/2014/main" id="{8981BFB8-4E2F-4DF6-0144-89CFD1847F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C315C091-955E-40D0-94EF-85481E0B72DC}" type="slidenum">
              <a:rPr lang="en-US" altLang="zh-CN" sz="2000">
                <a:solidFill>
                  <a:schemeClr val="bg2"/>
                </a:solidFill>
              </a:rPr>
              <a:pPr/>
              <a:t>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7BCCF8D0-4643-F759-50CF-C6947665E58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C8B328C2-7ADD-4306-6EC1-D79C3440C98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5" name="Rectangle 4">
            <a:extLst>
              <a:ext uri="{FF2B5EF4-FFF2-40B4-BE49-F238E27FC236}">
                <a16:creationId xmlns:a16="http://schemas.microsoft.com/office/drawing/2014/main" id="{AF7B66EE-E8B4-1840-767B-2BFDC535B6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id="{5292811B-B431-4B2E-9EFE-6B98E24A88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7" name="Rectangle 6">
            <a:extLst>
              <a:ext uri="{FF2B5EF4-FFF2-40B4-BE49-F238E27FC236}">
                <a16:creationId xmlns:a16="http://schemas.microsoft.com/office/drawing/2014/main" id="{D52CB7E9-94D2-5ABC-E013-7D37CAB4FDE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8" name="Rectangle 7">
            <a:extLst>
              <a:ext uri="{FF2B5EF4-FFF2-40B4-BE49-F238E27FC236}">
                <a16:creationId xmlns:a16="http://schemas.microsoft.com/office/drawing/2014/main" id="{5675B1D8-B5ED-429C-0A23-FDEE806CD62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9" name="Rectangle 8">
            <a:extLst>
              <a:ext uri="{FF2B5EF4-FFF2-40B4-BE49-F238E27FC236}">
                <a16:creationId xmlns:a16="http://schemas.microsoft.com/office/drawing/2014/main" id="{C6BA6300-5EAC-FE48-7C0A-CA2D8E79B2E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50" name="Rectangle 12">
            <a:extLst>
              <a:ext uri="{FF2B5EF4-FFF2-40B4-BE49-F238E27FC236}">
                <a16:creationId xmlns:a16="http://schemas.microsoft.com/office/drawing/2014/main" id="{A9383B4A-FED9-6DF9-F86E-5CA939217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5.2</a:t>
            </a:r>
          </a:p>
        </p:txBody>
      </p:sp>
      <p:sp>
        <p:nvSpPr>
          <p:cNvPr id="10251" name="Rectangle 13">
            <a:extLst>
              <a:ext uri="{FF2B5EF4-FFF2-40B4-BE49-F238E27FC236}">
                <a16:creationId xmlns:a16="http://schemas.microsoft.com/office/drawing/2014/main" id="{0EDCE608-9894-A559-C495-EB6CD1CE4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2296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一个信号的比特率为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8000 bps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，波特率为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1000 baud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，问每个信号元素携带多少个数据元素？需要多少个信号元素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10252" name="Rectangle 14">
            <a:extLst>
              <a:ext uri="{FF2B5EF4-FFF2-40B4-BE49-F238E27FC236}">
                <a16:creationId xmlns:a16="http://schemas.microsoft.com/office/drawing/2014/main" id="{B367FB99-F43C-D48C-2525-EF4EAA43F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00375"/>
            <a:ext cx="8686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在这个例子中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, S = 1000, N = 8000, r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L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位置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先得到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r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，再得到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L.</a:t>
            </a:r>
          </a:p>
        </p:txBody>
      </p:sp>
      <p:pic>
        <p:nvPicPr>
          <p:cNvPr id="10253" name="Picture 15">
            <a:extLst>
              <a:ext uri="{FF2B5EF4-FFF2-40B4-BE49-F238E27FC236}">
                <a16:creationId xmlns:a16="http://schemas.microsoft.com/office/drawing/2014/main" id="{95C79F55-18E2-BC3E-9F75-E94049712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850" y="4870450"/>
            <a:ext cx="6616700" cy="12731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>
            <a:extLst>
              <a:ext uri="{FF2B5EF4-FFF2-40B4-BE49-F238E27FC236}">
                <a16:creationId xmlns:a16="http://schemas.microsoft.com/office/drawing/2014/main" id="{ED067220-15C0-51A9-7F77-DB32657A1B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69333AFD-2B6D-4046-8DBA-45D60E79DB26}" type="slidenum">
              <a:rPr lang="en-US" altLang="zh-CN" sz="2000">
                <a:solidFill>
                  <a:schemeClr val="bg2"/>
                </a:solidFill>
              </a:rPr>
              <a:pPr/>
              <a:t>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267" name="Line 2">
            <a:extLst>
              <a:ext uri="{FF2B5EF4-FFF2-40B4-BE49-F238E27FC236}">
                <a16:creationId xmlns:a16="http://schemas.microsoft.com/office/drawing/2014/main" id="{EE8FB1C1-3970-1115-D346-33A1AD22BE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8" name="Line 3">
            <a:extLst>
              <a:ext uri="{FF2B5EF4-FFF2-40B4-BE49-F238E27FC236}">
                <a16:creationId xmlns:a16="http://schemas.microsoft.com/office/drawing/2014/main" id="{094AD0F0-73C8-2C9C-C22A-5CD47A3353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E886BD3C-E713-90F3-A660-609399F93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760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5.3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Binary amplitude shift keying</a:t>
            </a:r>
          </a:p>
        </p:txBody>
      </p:sp>
      <p:sp>
        <p:nvSpPr>
          <p:cNvPr id="11270" name="Line 5">
            <a:extLst>
              <a:ext uri="{FF2B5EF4-FFF2-40B4-BE49-F238E27FC236}">
                <a16:creationId xmlns:a16="http://schemas.microsoft.com/office/drawing/2014/main" id="{54BF3670-7673-71B1-B246-6BA6A371AF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271" name="Picture 8">
            <a:extLst>
              <a:ext uri="{FF2B5EF4-FFF2-40B4-BE49-F238E27FC236}">
                <a16:creationId xmlns:a16="http://schemas.microsoft.com/office/drawing/2014/main" id="{625B23D6-EF46-A5FF-8077-B457B0418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1752600"/>
            <a:ext cx="8629650" cy="235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D6A3451-8566-E10A-AD37-883201C7A23A}"/>
              </a:ext>
            </a:extLst>
          </p:cNvPr>
          <p:cNvSpPr/>
          <p:nvPr/>
        </p:nvSpPr>
        <p:spPr bwMode="auto">
          <a:xfrm>
            <a:off x="381000" y="4518546"/>
            <a:ext cx="8382000" cy="150125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sz="2800">
                <a:solidFill>
                  <a:schemeClr val="tx1"/>
                </a:solidFill>
                <a:latin typeface="Arial" charset="0"/>
                <a:ea typeface="宋体" pitchFamily="2" charset="-122"/>
              </a:rPr>
              <a:t>载波信号：在模拟传输中，发送设备产生一个高频率信号作为基波来承载信息，被称为载波信号</a:t>
            </a:r>
            <a:r>
              <a:rPr lang="en-US" altLang="zh-CN" sz="2800">
                <a:solidFill>
                  <a:schemeClr val="tx1"/>
                </a:solidFill>
                <a:latin typeface="Arial" charset="0"/>
                <a:ea typeface="宋体" pitchFamily="2" charset="-122"/>
              </a:rPr>
              <a:t>(carrier signal)</a:t>
            </a:r>
            <a:r>
              <a:rPr lang="zh-CN" altLang="en-US" sz="2800">
                <a:solidFill>
                  <a:schemeClr val="tx1"/>
                </a:solidFill>
                <a:latin typeface="Arial" charset="0"/>
                <a:ea typeface="宋体" pitchFamily="2" charset="-122"/>
              </a:rPr>
              <a:t>或者载波频率。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A2B1B42A-5C9E-7E92-69BF-303FA2D70660}"/>
              </a:ext>
            </a:extLst>
          </p:cNvPr>
          <p:cNvSpPr/>
          <p:nvPr/>
        </p:nvSpPr>
        <p:spPr bwMode="auto">
          <a:xfrm>
            <a:off x="322263" y="79375"/>
            <a:ext cx="2173287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>
                <a:solidFill>
                  <a:schemeClr val="tx1"/>
                </a:solidFill>
                <a:latin typeface="Arial" charset="0"/>
                <a:ea typeface="宋体" pitchFamily="2" charset="-122"/>
              </a:rPr>
              <a:t>幅移键控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FA6D0286-0405-9A36-8A93-BDA4B3E309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BBE5F81C-AF98-4D8B-BA7E-A22A5FDCB767}" type="slidenum">
              <a:rPr lang="en-US" altLang="zh-CN" sz="2000">
                <a:solidFill>
                  <a:schemeClr val="bg2"/>
                </a:solidFill>
              </a:rPr>
              <a:pPr/>
              <a:t>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2291" name="Line 2">
            <a:extLst>
              <a:ext uri="{FF2B5EF4-FFF2-40B4-BE49-F238E27FC236}">
                <a16:creationId xmlns:a16="http://schemas.microsoft.com/office/drawing/2014/main" id="{3D9BD84E-2F76-C96C-A624-C39CDF086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" name="Line 3">
            <a:extLst>
              <a:ext uri="{FF2B5EF4-FFF2-40B4-BE49-F238E27FC236}">
                <a16:creationId xmlns:a16="http://schemas.microsoft.com/office/drawing/2014/main" id="{7D8E3C2B-9322-86D0-E996-C231E6B26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728EA0F2-BCAB-9D49-D1EE-BBA0B82C0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87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5.4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Implementation of binary ASK</a:t>
            </a:r>
          </a:p>
        </p:txBody>
      </p:sp>
      <p:sp>
        <p:nvSpPr>
          <p:cNvPr id="12294" name="Line 5">
            <a:extLst>
              <a:ext uri="{FF2B5EF4-FFF2-40B4-BE49-F238E27FC236}">
                <a16:creationId xmlns:a16="http://schemas.microsoft.com/office/drawing/2014/main" id="{27BB84FF-2187-018E-0A9A-097DE0FB11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295" name="Picture 10">
            <a:extLst>
              <a:ext uri="{FF2B5EF4-FFF2-40B4-BE49-F238E27FC236}">
                <a16:creationId xmlns:a16="http://schemas.microsoft.com/office/drawing/2014/main" id="{F7A9F20B-5EC9-CB9B-53AE-9A174605F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752600"/>
            <a:ext cx="8255000" cy="239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6" name="TextBox 8">
            <a:extLst>
              <a:ext uri="{FF2B5EF4-FFF2-40B4-BE49-F238E27FC236}">
                <a16:creationId xmlns:a16="http://schemas.microsoft.com/office/drawing/2014/main" id="{A387EA60-589C-AC3A-4505-D79CF8098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419600"/>
            <a:ext cx="7391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ASK</a:t>
            </a:r>
            <a:r>
              <a:rPr lang="zh-CN" altLang="en-US">
                <a:ea typeface="宋体" panose="02010600030101010101" pitchFamily="2" charset="-122"/>
              </a:rPr>
              <a:t>带宽：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B=</a:t>
            </a:r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zh-CN">
                <a:ea typeface="宋体" panose="02010600030101010101" pitchFamily="2" charset="-122"/>
              </a:rPr>
              <a:t>1+d</a:t>
            </a:r>
            <a:r>
              <a:rPr lang="zh-CN" altLang="en-US">
                <a:ea typeface="宋体" panose="02010600030101010101" pitchFamily="2" charset="-122"/>
              </a:rPr>
              <a:t>）*</a:t>
            </a:r>
            <a:r>
              <a:rPr lang="en-US" altLang="zh-CN">
                <a:ea typeface="宋体" panose="02010600030101010101" pitchFamily="2" charset="-122"/>
              </a:rPr>
              <a:t>S</a:t>
            </a:r>
          </a:p>
          <a:p>
            <a:r>
              <a:rPr lang="en-US" altLang="zh-CN">
                <a:ea typeface="宋体" panose="02010600030101010101" pitchFamily="2" charset="-122"/>
              </a:rPr>
              <a:t>S</a:t>
            </a:r>
            <a:r>
              <a:rPr lang="zh-CN" altLang="en-US">
                <a:ea typeface="宋体" panose="02010600030101010101" pitchFamily="2" charset="-122"/>
              </a:rPr>
              <a:t>是信号速率，</a:t>
            </a:r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zh-CN" altLang="en-US">
                <a:ea typeface="宋体" panose="02010600030101010101" pitchFamily="2" charset="-122"/>
              </a:rPr>
              <a:t>是带宽，</a:t>
            </a:r>
            <a:r>
              <a:rPr lang="en-US" altLang="zh-CN">
                <a:ea typeface="宋体" panose="02010600030101010101" pitchFamily="2" charset="-122"/>
              </a:rPr>
              <a:t>d</a:t>
            </a:r>
            <a:r>
              <a:rPr lang="zh-CN" altLang="en-US">
                <a:ea typeface="宋体" panose="02010600030101010101" pitchFamily="2" charset="-122"/>
              </a:rPr>
              <a:t>是</a:t>
            </a:r>
            <a:r>
              <a:rPr lang="en-US" altLang="zh-CN">
                <a:ea typeface="宋体" panose="02010600030101010101" pitchFamily="2" charset="-122"/>
              </a:rPr>
              <a:t>0-1</a:t>
            </a:r>
            <a:r>
              <a:rPr lang="zh-CN" altLang="en-US">
                <a:ea typeface="宋体" panose="02010600030101010101" pitchFamily="2" charset="-122"/>
              </a:rPr>
              <a:t>因子。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>
            <a:extLst>
              <a:ext uri="{FF2B5EF4-FFF2-40B4-BE49-F238E27FC236}">
                <a16:creationId xmlns:a16="http://schemas.microsoft.com/office/drawing/2014/main" id="{6962B233-4340-4E2B-E064-BC8208AF1C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6BD94B35-429A-4F83-AF6F-204A055AA0D6}" type="slidenum">
              <a:rPr lang="en-US" altLang="zh-CN" sz="2000">
                <a:solidFill>
                  <a:schemeClr val="bg2"/>
                </a:solidFill>
              </a:rPr>
              <a:pPr/>
              <a:t>10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8C8D07DA-1224-897B-ED6C-D94A4678C38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512DAB42-80E0-2687-BE39-7C2F495E8F1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6C772463-97D3-2FB3-0E8B-D41546805F5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8" name="Rectangle 5">
            <a:extLst>
              <a:ext uri="{FF2B5EF4-FFF2-40B4-BE49-F238E27FC236}">
                <a16:creationId xmlns:a16="http://schemas.microsoft.com/office/drawing/2014/main" id="{29506C8F-BC6D-3035-7982-81251F5E0C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19" name="Rectangle 6">
            <a:extLst>
              <a:ext uri="{FF2B5EF4-FFF2-40B4-BE49-F238E27FC236}">
                <a16:creationId xmlns:a16="http://schemas.microsoft.com/office/drawing/2014/main" id="{B17D3187-40DD-D157-5851-8B9C131F881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20" name="Rectangle 7">
            <a:extLst>
              <a:ext uri="{FF2B5EF4-FFF2-40B4-BE49-F238E27FC236}">
                <a16:creationId xmlns:a16="http://schemas.microsoft.com/office/drawing/2014/main" id="{C5C3B994-48B5-6332-4A91-FDBF613FA6D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21" name="Rectangle 8">
            <a:extLst>
              <a:ext uri="{FF2B5EF4-FFF2-40B4-BE49-F238E27FC236}">
                <a16:creationId xmlns:a16="http://schemas.microsoft.com/office/drawing/2014/main" id="{C9158660-F0C1-3D21-085B-8E8EEA7C512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22" name="Rectangle 12">
            <a:extLst>
              <a:ext uri="{FF2B5EF4-FFF2-40B4-BE49-F238E27FC236}">
                <a16:creationId xmlns:a16="http://schemas.microsoft.com/office/drawing/2014/main" id="{D04C08F5-4D57-8A3C-0A65-57BA4BD92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5.3</a:t>
            </a:r>
          </a:p>
        </p:txBody>
      </p:sp>
      <p:sp>
        <p:nvSpPr>
          <p:cNvPr id="13323" name="Rectangle 13">
            <a:extLst>
              <a:ext uri="{FF2B5EF4-FFF2-40B4-BE49-F238E27FC236}">
                <a16:creationId xmlns:a16="http://schemas.microsoft.com/office/drawing/2014/main" id="{3A865340-4CE6-E8CB-6BAC-B497DCC78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01738"/>
            <a:ext cx="82296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100 kHz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的可用带宽，范围从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200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300 kHz.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如果通过使用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d = 1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ASK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调制数据，那么载波频率和比特率是多少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13324" name="Rectangle 14">
            <a:extLst>
              <a:ext uri="{FF2B5EF4-FFF2-40B4-BE49-F238E27FC236}">
                <a16:creationId xmlns:a16="http://schemas.microsoft.com/office/drawing/2014/main" id="{AE8CB951-1872-64C4-56CE-6B2D6A07C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030538"/>
            <a:ext cx="8686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pPr algn="just"/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带宽中点是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250 kHz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，这意味着载波频率可以是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f</a:t>
            </a:r>
            <a:r>
              <a:rPr lang="en-US" altLang="zh-CN" sz="2800" i="1" baseline="-25000">
                <a:latin typeface="Times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= 250 kHz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，可以使用带宽的公式得到比特率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( d = 1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r = 1).</a:t>
            </a:r>
          </a:p>
        </p:txBody>
      </p:sp>
      <p:pic>
        <p:nvPicPr>
          <p:cNvPr id="13325" name="Picture 15">
            <a:extLst>
              <a:ext uri="{FF2B5EF4-FFF2-40B4-BE49-F238E27FC236}">
                <a16:creationId xmlns:a16="http://schemas.microsoft.com/office/drawing/2014/main" id="{ACA222F4-13CB-CA9B-3CA8-BEAF7ED58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" y="5562600"/>
            <a:ext cx="7766050" cy="576263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>
            <a:extLst>
              <a:ext uri="{FF2B5EF4-FFF2-40B4-BE49-F238E27FC236}">
                <a16:creationId xmlns:a16="http://schemas.microsoft.com/office/drawing/2014/main" id="{D736F385-386D-F399-13BA-F9DD41ED4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00E0B483-5B72-4F70-8C13-9508DAAABB90}" type="slidenum">
              <a:rPr lang="en-US" altLang="zh-CN" sz="2000">
                <a:solidFill>
                  <a:schemeClr val="bg2"/>
                </a:solidFill>
              </a:rPr>
              <a:pPr/>
              <a:t>11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BE67C09A-22B5-6D62-BD65-40F12FF6FAC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DF2F14DB-F709-05D2-CD02-321AAFD3521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CA0DF5C7-3214-F63B-00FC-64B39B4E4F9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2" name="Rectangle 5">
            <a:extLst>
              <a:ext uri="{FF2B5EF4-FFF2-40B4-BE49-F238E27FC236}">
                <a16:creationId xmlns:a16="http://schemas.microsoft.com/office/drawing/2014/main" id="{99BCCBCE-E6AC-E820-12F0-3585708CA27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3" name="Rectangle 6">
            <a:extLst>
              <a:ext uri="{FF2B5EF4-FFF2-40B4-BE49-F238E27FC236}">
                <a16:creationId xmlns:a16="http://schemas.microsoft.com/office/drawing/2014/main" id="{60180FCF-1083-F5BD-2816-F929CFE5CF7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4" name="Rectangle 7">
            <a:extLst>
              <a:ext uri="{FF2B5EF4-FFF2-40B4-BE49-F238E27FC236}">
                <a16:creationId xmlns:a16="http://schemas.microsoft.com/office/drawing/2014/main" id="{3ED13079-A6C2-1CD8-C1CE-BDD60E641AD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5" name="Rectangle 8">
            <a:extLst>
              <a:ext uri="{FF2B5EF4-FFF2-40B4-BE49-F238E27FC236}">
                <a16:creationId xmlns:a16="http://schemas.microsoft.com/office/drawing/2014/main" id="{1B2E2214-F16E-8CD1-ED68-889DCD04DA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6" name="Rectangle 12">
            <a:extLst>
              <a:ext uri="{FF2B5EF4-FFF2-40B4-BE49-F238E27FC236}">
                <a16:creationId xmlns:a16="http://schemas.microsoft.com/office/drawing/2014/main" id="{CBAC240A-E499-C48F-5B0D-75B5D9DDB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5.4</a:t>
            </a:r>
          </a:p>
        </p:txBody>
      </p:sp>
      <p:sp>
        <p:nvSpPr>
          <p:cNvPr id="14347" name="Rectangle 13">
            <a:extLst>
              <a:ext uri="{FF2B5EF4-FFF2-40B4-BE49-F238E27FC236}">
                <a16:creationId xmlns:a16="http://schemas.microsoft.com/office/drawing/2014/main" id="{6F9CF477-A2D3-F6F2-68E0-3FE9E1AC4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2296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在数据通信中，通常使用双向通信的全双工链路，需要把带宽分成两部分，每部分个有一个载波频率，如图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5.5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所示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图中给出了两个载波频率和带宽的位置。每个方向可用带宽现在是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50 kHz, 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因此每个方向的数据速率为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25 kbps.</a:t>
            </a:r>
          </a:p>
        </p:txBody>
      </p:sp>
      <p:sp>
        <p:nvSpPr>
          <p:cNvPr id="14348" name="Line 2">
            <a:extLst>
              <a:ext uri="{FF2B5EF4-FFF2-40B4-BE49-F238E27FC236}">
                <a16:creationId xmlns:a16="http://schemas.microsoft.com/office/drawing/2014/main" id="{AA1C8F76-3D7D-2149-BD32-E112B74B29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3657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9" name="Line 3">
            <a:extLst>
              <a:ext uri="{FF2B5EF4-FFF2-40B4-BE49-F238E27FC236}">
                <a16:creationId xmlns:a16="http://schemas.microsoft.com/office/drawing/2014/main" id="{A1A4438A-65B6-4689-1A6F-1065AA1F37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3657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0" name="Text Box 4">
            <a:extLst>
              <a:ext uri="{FF2B5EF4-FFF2-40B4-BE49-F238E27FC236}">
                <a16:creationId xmlns:a16="http://schemas.microsoft.com/office/drawing/2014/main" id="{9E8284C2-670A-35E8-671E-834E8DA41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943600"/>
            <a:ext cx="7027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5.5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Bandwidth of full-duplex ASK used in Example 5.4</a:t>
            </a:r>
          </a:p>
        </p:txBody>
      </p:sp>
      <p:sp>
        <p:nvSpPr>
          <p:cNvPr id="14351" name="Line 5">
            <a:extLst>
              <a:ext uri="{FF2B5EF4-FFF2-40B4-BE49-F238E27FC236}">
                <a16:creationId xmlns:a16="http://schemas.microsoft.com/office/drawing/2014/main" id="{F4E54E90-41E2-2DFA-6943-611A1F334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553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352" name="Picture 6">
            <a:extLst>
              <a:ext uri="{FF2B5EF4-FFF2-40B4-BE49-F238E27FC236}">
                <a16:creationId xmlns:a16="http://schemas.microsoft.com/office/drawing/2014/main" id="{78841E03-FAB2-9D9D-F6A7-9CBF016CE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838" y="3886200"/>
            <a:ext cx="6240462" cy="212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灯片编号占位符 1">
            <a:extLst>
              <a:ext uri="{FF2B5EF4-FFF2-40B4-BE49-F238E27FC236}">
                <a16:creationId xmlns:a16="http://schemas.microsoft.com/office/drawing/2014/main" id="{C3B42326-5296-D432-DCD5-1D7000D648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1E51917F-1AEC-40EA-85A6-C6D5409C1019}" type="slidenum">
              <a:rPr lang="en-US" altLang="zh-CN" sz="2000">
                <a:solidFill>
                  <a:schemeClr val="bg2"/>
                </a:solidFill>
              </a:rPr>
              <a:pPr/>
              <a:t>12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052" name="Line 2">
            <a:extLst>
              <a:ext uri="{FF2B5EF4-FFF2-40B4-BE49-F238E27FC236}">
                <a16:creationId xmlns:a16="http://schemas.microsoft.com/office/drawing/2014/main" id="{D85432B0-F8E3-B545-CC9F-EC9B88210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" name="Line 3">
            <a:extLst>
              <a:ext uri="{FF2B5EF4-FFF2-40B4-BE49-F238E27FC236}">
                <a16:creationId xmlns:a16="http://schemas.microsoft.com/office/drawing/2014/main" id="{D109F4C1-B725-28D5-920B-DF71E8B635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4" name="Text Box 4">
            <a:extLst>
              <a:ext uri="{FF2B5EF4-FFF2-40B4-BE49-F238E27FC236}">
                <a16:creationId xmlns:a16="http://schemas.microsoft.com/office/drawing/2014/main" id="{7C823E74-00BF-3140-C820-32899BE6C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762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5.6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Binary frequency shift keying</a:t>
            </a:r>
          </a:p>
        </p:txBody>
      </p:sp>
      <p:sp>
        <p:nvSpPr>
          <p:cNvPr id="2055" name="Line 5">
            <a:extLst>
              <a:ext uri="{FF2B5EF4-FFF2-40B4-BE49-F238E27FC236}">
                <a16:creationId xmlns:a16="http://schemas.microsoft.com/office/drawing/2014/main" id="{B8F3FC17-B9A0-9EFB-DFA9-D8B58AA66B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56" name="Picture 7">
            <a:extLst>
              <a:ext uri="{FF2B5EF4-FFF2-40B4-BE49-F238E27FC236}">
                <a16:creationId xmlns:a16="http://schemas.microsoft.com/office/drawing/2014/main" id="{76F2D1F9-D023-3613-AE0E-1397C4D61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3" y="1524000"/>
            <a:ext cx="8637587" cy="266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42AA1C33-6274-3D95-ACB3-34784C41EF76}"/>
              </a:ext>
            </a:extLst>
          </p:cNvPr>
          <p:cNvSpPr/>
          <p:nvPr/>
        </p:nvSpPr>
        <p:spPr bwMode="auto">
          <a:xfrm>
            <a:off x="322263" y="79375"/>
            <a:ext cx="2173287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>
                <a:solidFill>
                  <a:schemeClr val="tx1"/>
                </a:solidFill>
                <a:latin typeface="Arial" charset="0"/>
                <a:ea typeface="宋体" pitchFamily="2" charset="-122"/>
              </a:rPr>
              <a:t>频移键控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D5E444D-1463-4387-F392-B91A4320C19C}"/>
              </a:ext>
            </a:extLst>
          </p:cNvPr>
          <p:cNvSpPr/>
          <p:nvPr/>
        </p:nvSpPr>
        <p:spPr bwMode="auto">
          <a:xfrm>
            <a:off x="381000" y="4343400"/>
            <a:ext cx="8382000" cy="16764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 sz="28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如果两个频率的差是</a:t>
            </a:r>
            <a:r>
              <a:rPr lang="en-US" altLang="zh-CN" sz="28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2△</a:t>
            </a:r>
            <a:r>
              <a:rPr lang="en-US" altLang="zh-CN" sz="2800" i="1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 ,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那么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BFSK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要求的带宽是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</a:t>
            </a:r>
            <a:endParaRPr lang="zh-CN" altLang="en-US" sz="28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2050" name="对象 1">
            <a:extLst>
              <a:ext uri="{FF2B5EF4-FFF2-40B4-BE49-F238E27FC236}">
                <a16:creationId xmlns:a16="http://schemas.microsoft.com/office/drawing/2014/main" id="{A8E36CB6-7746-C5E3-C763-2F6AC41039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3675" y="5029200"/>
          <a:ext cx="6400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680" imgH="203040" progId="Equation.DSMT4">
                  <p:embed/>
                </p:oleObj>
              </mc:Choice>
              <mc:Fallback>
                <p:oleObj name="Equation" r:id="rId4" imgW="1282680" imgH="2030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675" y="5029200"/>
                        <a:ext cx="6400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>
            <a:extLst>
              <a:ext uri="{FF2B5EF4-FFF2-40B4-BE49-F238E27FC236}">
                <a16:creationId xmlns:a16="http://schemas.microsoft.com/office/drawing/2014/main" id="{336D4119-A701-1504-08CB-7E1E647729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995334E6-517B-4B20-BA4C-65B73CB4B5F4}" type="slidenum">
              <a:rPr lang="en-US" altLang="zh-CN" sz="2000">
                <a:solidFill>
                  <a:schemeClr val="bg2"/>
                </a:solidFill>
              </a:rPr>
              <a:pPr/>
              <a:t>13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78219E9-2ACE-529C-51EA-AD2A9614C3D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AA87365-DAF3-65C7-4336-34621A01CB6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5E17E0FB-E803-CDA7-3824-2E5EACDF256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6" name="Rectangle 5">
            <a:extLst>
              <a:ext uri="{FF2B5EF4-FFF2-40B4-BE49-F238E27FC236}">
                <a16:creationId xmlns:a16="http://schemas.microsoft.com/office/drawing/2014/main" id="{5400B526-39B0-78E4-6E7B-CC8CA1103F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7" name="Rectangle 6">
            <a:extLst>
              <a:ext uri="{FF2B5EF4-FFF2-40B4-BE49-F238E27FC236}">
                <a16:creationId xmlns:a16="http://schemas.microsoft.com/office/drawing/2014/main" id="{AA87CEC4-275E-15F1-8029-C98FC76B61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8" name="Rectangle 7">
            <a:extLst>
              <a:ext uri="{FF2B5EF4-FFF2-40B4-BE49-F238E27FC236}">
                <a16:creationId xmlns:a16="http://schemas.microsoft.com/office/drawing/2014/main" id="{97E0AC4A-CC60-B918-DBE7-9C133C952B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9" name="Rectangle 8">
            <a:extLst>
              <a:ext uri="{FF2B5EF4-FFF2-40B4-BE49-F238E27FC236}">
                <a16:creationId xmlns:a16="http://schemas.microsoft.com/office/drawing/2014/main" id="{BBE9FF51-5595-2604-09E1-74CE118863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70" name="Rectangle 12">
            <a:extLst>
              <a:ext uri="{FF2B5EF4-FFF2-40B4-BE49-F238E27FC236}">
                <a16:creationId xmlns:a16="http://schemas.microsoft.com/office/drawing/2014/main" id="{EF2FD32D-3207-5EFC-E684-B0BE2DD84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5.5</a:t>
            </a:r>
          </a:p>
        </p:txBody>
      </p:sp>
      <p:sp>
        <p:nvSpPr>
          <p:cNvPr id="15371" name="Rectangle 13">
            <a:extLst>
              <a:ext uri="{FF2B5EF4-FFF2-40B4-BE49-F238E27FC236}">
                <a16:creationId xmlns:a16="http://schemas.microsoft.com/office/drawing/2014/main" id="{40045D84-3307-CD3E-ACFC-A34D7A4FA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2296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有一个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100 kHz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的可用带宽，范围从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200 to 300 kHz.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如果使用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d = 1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FSK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调制数据，那么载波频率和比特率应该是多少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15372" name="Rectangle 14">
            <a:extLst>
              <a:ext uri="{FF2B5EF4-FFF2-40B4-BE49-F238E27FC236}">
                <a16:creationId xmlns:a16="http://schemas.microsoft.com/office/drawing/2014/main" id="{2735755B-D4C9-48B3-B064-6FCCBD280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048000"/>
            <a:ext cx="8686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这个问题类似于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5.3,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FSK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进行调制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频带的中点是在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250 kHz.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选择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2Δf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为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50 kHz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 这以为着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pic>
        <p:nvPicPr>
          <p:cNvPr id="15373" name="Picture 15">
            <a:extLst>
              <a:ext uri="{FF2B5EF4-FFF2-40B4-BE49-F238E27FC236}">
                <a16:creationId xmlns:a16="http://schemas.microsoft.com/office/drawing/2014/main" id="{F27C7900-0BEF-ADD3-FD9A-34FA5D6B3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5105400"/>
            <a:ext cx="8193087" cy="350838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>
            <a:extLst>
              <a:ext uri="{FF2B5EF4-FFF2-40B4-BE49-F238E27FC236}">
                <a16:creationId xmlns:a16="http://schemas.microsoft.com/office/drawing/2014/main" id="{CEA5EDEC-E140-44D6-D674-6BC0AD2D69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361DB484-8DCB-4B3D-B1D8-46107ABD60B7}" type="slidenum">
              <a:rPr lang="en-US" altLang="zh-CN" sz="2000">
                <a:solidFill>
                  <a:schemeClr val="bg2"/>
                </a:solidFill>
              </a:rPr>
              <a:pPr/>
              <a:t>14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6387" name="Line 2">
            <a:extLst>
              <a:ext uri="{FF2B5EF4-FFF2-40B4-BE49-F238E27FC236}">
                <a16:creationId xmlns:a16="http://schemas.microsoft.com/office/drawing/2014/main" id="{B1A867AF-C39E-0E97-2152-5DFEA68043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Line 3">
            <a:extLst>
              <a:ext uri="{FF2B5EF4-FFF2-40B4-BE49-F238E27FC236}">
                <a16:creationId xmlns:a16="http://schemas.microsoft.com/office/drawing/2014/main" id="{9C757448-F638-8CE3-4FEB-81EC8D4FB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6F63764C-98F1-C4D4-2A4F-6FE9B54C8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"/>
            <a:ext cx="603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5.7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Bandwidth of MFSK used in Example 5.6</a:t>
            </a:r>
          </a:p>
        </p:txBody>
      </p:sp>
      <p:sp>
        <p:nvSpPr>
          <p:cNvPr id="16390" name="Line 5">
            <a:extLst>
              <a:ext uri="{FF2B5EF4-FFF2-40B4-BE49-F238E27FC236}">
                <a16:creationId xmlns:a16="http://schemas.microsoft.com/office/drawing/2014/main" id="{254A78F8-126A-A1A1-24DC-A43EF4927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6391" name="Picture 6">
            <a:extLst>
              <a:ext uri="{FF2B5EF4-FFF2-40B4-BE49-F238E27FC236}">
                <a16:creationId xmlns:a16="http://schemas.microsoft.com/office/drawing/2014/main" id="{39011A1F-9EC4-65BF-133F-12F34A965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677863"/>
            <a:ext cx="8226425" cy="244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F72C0824-434B-FECB-B431-98D30C0F21C0}"/>
              </a:ext>
            </a:extLst>
          </p:cNvPr>
          <p:cNvSpPr/>
          <p:nvPr/>
        </p:nvSpPr>
        <p:spPr bwMode="auto">
          <a:xfrm>
            <a:off x="152400" y="3200400"/>
            <a:ext cx="8763000" cy="2743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BFSK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有两种实现方法：非相干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(noncoherent)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和相干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(coherent)</a:t>
            </a: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在非相干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BFSK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中，当一个信号元素结束下一个信号元素开始时相位不连续。</a:t>
            </a:r>
            <a:endParaRPr lang="en-US" altLang="zh-CN" sz="240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在相干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BFSK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中，两个信号元素的边界处的相位是连续的。</a:t>
            </a:r>
            <a:endParaRPr lang="en-US" altLang="zh-CN" sz="240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相干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BFSK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中可以使用一个压控振荡器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(VCO),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根据输入电平改变频率。</a:t>
            </a:r>
            <a:endParaRPr lang="en-US" altLang="zh-CN" sz="240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endParaRPr lang="zh-CN" altLang="en-US" sz="240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>
            <a:extLst>
              <a:ext uri="{FF2B5EF4-FFF2-40B4-BE49-F238E27FC236}">
                <a16:creationId xmlns:a16="http://schemas.microsoft.com/office/drawing/2014/main" id="{64B9A275-0B5B-D8B6-5C8B-1DEDF28464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01ADA502-A7F1-4B7C-95F4-486E24747CAC}" type="slidenum">
              <a:rPr lang="en-US" altLang="zh-CN" sz="2000">
                <a:solidFill>
                  <a:schemeClr val="bg2"/>
                </a:solidFill>
              </a:rPr>
              <a:pPr/>
              <a:t>15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508BCA2F-B70D-638A-68C3-2248DDDACD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C6BC6906-23CD-151D-B14C-CF6C301485C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98C0238F-E4C1-CA78-F44D-28070E80B52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4" name="Rectangle 5">
            <a:extLst>
              <a:ext uri="{FF2B5EF4-FFF2-40B4-BE49-F238E27FC236}">
                <a16:creationId xmlns:a16="http://schemas.microsoft.com/office/drawing/2014/main" id="{E6CEF062-3FA9-34AB-852E-7E94EAC4841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0CFFE082-FAAE-6B79-0BB3-20A6BF3C647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6" name="Rectangle 7">
            <a:extLst>
              <a:ext uri="{FF2B5EF4-FFF2-40B4-BE49-F238E27FC236}">
                <a16:creationId xmlns:a16="http://schemas.microsoft.com/office/drawing/2014/main" id="{2947B8E8-4633-A31B-D5FF-75A857AF35E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7" name="Rectangle 8">
            <a:extLst>
              <a:ext uri="{FF2B5EF4-FFF2-40B4-BE49-F238E27FC236}">
                <a16:creationId xmlns:a16="http://schemas.microsoft.com/office/drawing/2014/main" id="{FF9B14B9-DA0A-9FE8-C780-AE2DA6282C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8" name="Rectangle 12">
            <a:extLst>
              <a:ext uri="{FF2B5EF4-FFF2-40B4-BE49-F238E27FC236}">
                <a16:creationId xmlns:a16="http://schemas.microsoft.com/office/drawing/2014/main" id="{6FD4FE7A-D65B-D375-7303-5E2EA60AB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5.6</a:t>
            </a:r>
          </a:p>
        </p:txBody>
      </p:sp>
      <p:sp>
        <p:nvSpPr>
          <p:cNvPr id="17419" name="Rectangle 13">
            <a:extLst>
              <a:ext uri="{FF2B5EF4-FFF2-40B4-BE49-F238E27FC236}">
                <a16:creationId xmlns:a16="http://schemas.microsoft.com/office/drawing/2014/main" id="{0FDA8B95-B75F-15FE-3CE6-B52849024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19200"/>
            <a:ext cx="82296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我们需要用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3Mbps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的比特率每次发送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位，载波频率是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10 MHz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，计算使用不同频率的个数、波特率和带宽。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20" name="Rectangle 14">
            <a:extLst>
              <a:ext uri="{FF2B5EF4-FFF2-40B4-BE49-F238E27FC236}">
                <a16:creationId xmlns:a16="http://schemas.microsoft.com/office/drawing/2014/main" id="{8F0CA13C-3B5B-00A3-CF8A-A06335C5E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819400"/>
            <a:ext cx="86868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pPr algn="just"/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使用不同频率的个数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L = 2</a:t>
            </a:r>
            <a:r>
              <a:rPr lang="en-US" altLang="zh-CN" sz="2800" i="1" baseline="30000">
                <a:latin typeface="Times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= 8.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波特率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S = 3 MHz/3 = 1000 Mbaud.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这意味着载波频率必须是相隔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1 MHz (2Δf = 1 MHz).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带宽是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B = 8 × 1000 = 8000 MHz. 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5.8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给出了频率和带宽的分配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>
            <a:extLst>
              <a:ext uri="{FF2B5EF4-FFF2-40B4-BE49-F238E27FC236}">
                <a16:creationId xmlns:a16="http://schemas.microsoft.com/office/drawing/2014/main" id="{4E752B5E-5CD5-2465-24CA-2B32563445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62B99C3C-C3B5-448D-9DAC-36C1DE64ACBD}" type="slidenum">
              <a:rPr lang="en-US" altLang="zh-CN" sz="2000">
                <a:solidFill>
                  <a:schemeClr val="bg2"/>
                </a:solidFill>
              </a:rPr>
              <a:pPr/>
              <a:t>16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8435" name="Line 2">
            <a:extLst>
              <a:ext uri="{FF2B5EF4-FFF2-40B4-BE49-F238E27FC236}">
                <a16:creationId xmlns:a16="http://schemas.microsoft.com/office/drawing/2014/main" id="{04326F52-495F-7444-C55E-3F1535A6CD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Line 3">
            <a:extLst>
              <a:ext uri="{FF2B5EF4-FFF2-40B4-BE49-F238E27FC236}">
                <a16:creationId xmlns:a16="http://schemas.microsoft.com/office/drawing/2014/main" id="{D22BCAFA-3367-E702-9D8E-6024232D94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2340F801-3F14-A0FA-B752-949BFA2EF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603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5.8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Bandwidth of MFSK used in Example 5.6</a:t>
            </a:r>
          </a:p>
        </p:txBody>
      </p:sp>
      <p:sp>
        <p:nvSpPr>
          <p:cNvPr id="18438" name="Line 5">
            <a:extLst>
              <a:ext uri="{FF2B5EF4-FFF2-40B4-BE49-F238E27FC236}">
                <a16:creationId xmlns:a16="http://schemas.microsoft.com/office/drawing/2014/main" id="{902461FE-8266-5F82-A378-A66758D412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8439" name="Picture 6">
            <a:extLst>
              <a:ext uri="{FF2B5EF4-FFF2-40B4-BE49-F238E27FC236}">
                <a16:creationId xmlns:a16="http://schemas.microsoft.com/office/drawing/2014/main" id="{EF161534-0396-8CDF-88F5-98D0EFC9D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2844800"/>
            <a:ext cx="83820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>
            <a:extLst>
              <a:ext uri="{FF2B5EF4-FFF2-40B4-BE49-F238E27FC236}">
                <a16:creationId xmlns:a16="http://schemas.microsoft.com/office/drawing/2014/main" id="{C3E18D43-38D6-A31F-7388-4C85BEF3EB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BB90B988-E8E0-4B96-90E9-0914F0D18C98}" type="slidenum">
              <a:rPr lang="en-US" altLang="zh-CN" sz="2000">
                <a:solidFill>
                  <a:schemeClr val="bg2"/>
                </a:solidFill>
              </a:rPr>
              <a:pPr/>
              <a:t>17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9459" name="Line 2">
            <a:extLst>
              <a:ext uri="{FF2B5EF4-FFF2-40B4-BE49-F238E27FC236}">
                <a16:creationId xmlns:a16="http://schemas.microsoft.com/office/drawing/2014/main" id="{841C8F59-287F-49F7-F5A9-F951330BE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Line 3">
            <a:extLst>
              <a:ext uri="{FF2B5EF4-FFF2-40B4-BE49-F238E27FC236}">
                <a16:creationId xmlns:a16="http://schemas.microsoft.com/office/drawing/2014/main" id="{F80A69B1-5277-5EA8-D5B9-88AE02469E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1" name="Text Box 4">
            <a:extLst>
              <a:ext uri="{FF2B5EF4-FFF2-40B4-BE49-F238E27FC236}">
                <a16:creationId xmlns:a16="http://schemas.microsoft.com/office/drawing/2014/main" id="{4DA205BC-5625-C439-CE85-0599DEBCB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325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5.9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Binary phase shift keying</a:t>
            </a:r>
          </a:p>
        </p:txBody>
      </p:sp>
      <p:sp>
        <p:nvSpPr>
          <p:cNvPr id="19462" name="Line 5">
            <a:extLst>
              <a:ext uri="{FF2B5EF4-FFF2-40B4-BE49-F238E27FC236}">
                <a16:creationId xmlns:a16="http://schemas.microsoft.com/office/drawing/2014/main" id="{94222575-9CED-DFC5-815B-E88B1FCAB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9463" name="Picture 6">
            <a:extLst>
              <a:ext uri="{FF2B5EF4-FFF2-40B4-BE49-F238E27FC236}">
                <a16:creationId xmlns:a16="http://schemas.microsoft.com/office/drawing/2014/main" id="{E9B09E21-1B50-DF23-DD44-C3A9737DA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90663"/>
            <a:ext cx="8629650" cy="231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E73D04DB-872F-C0B7-41B1-6D4AAE5CEDCE}"/>
              </a:ext>
            </a:extLst>
          </p:cNvPr>
          <p:cNvSpPr/>
          <p:nvPr/>
        </p:nvSpPr>
        <p:spPr bwMode="auto">
          <a:xfrm>
            <a:off x="322263" y="79375"/>
            <a:ext cx="4440237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>
                <a:solidFill>
                  <a:schemeClr val="tx1"/>
                </a:solidFill>
                <a:latin typeface="Arial" charset="0"/>
                <a:ea typeface="宋体" pitchFamily="2" charset="-122"/>
              </a:rPr>
              <a:t>二进制</a:t>
            </a:r>
            <a:r>
              <a:rPr lang="en-US" altLang="zh-CN">
                <a:solidFill>
                  <a:schemeClr val="tx1"/>
                </a:solidFill>
                <a:latin typeface="Arial" charset="0"/>
                <a:ea typeface="宋体" pitchFamily="2" charset="-122"/>
              </a:rPr>
              <a:t>PSK(BPSK)</a:t>
            </a:r>
            <a:endParaRPr lang="zh-CN" altLang="en-US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EC576961-EF26-97A5-5D16-3752695CB478}"/>
              </a:ext>
            </a:extLst>
          </p:cNvPr>
          <p:cNvSpPr/>
          <p:nvPr/>
        </p:nvSpPr>
        <p:spPr bwMode="auto">
          <a:xfrm>
            <a:off x="530224" y="4419600"/>
            <a:ext cx="8080376" cy="15240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BPSK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只用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个信号元素，一个相位是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lang="en-US" altLang="zh-CN" sz="2400" baseline="30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°  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，另外一个相位是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180</a:t>
            </a:r>
            <a:r>
              <a:rPr lang="en-US" altLang="zh-CN" sz="2400" baseline="30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°  </a:t>
            </a:r>
            <a:endParaRPr lang="en-US" altLang="zh-CN" sz="240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BPSK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和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BASK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一样简单，但比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BASK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不易受噪声影响。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>
            <a:extLst>
              <a:ext uri="{FF2B5EF4-FFF2-40B4-BE49-F238E27FC236}">
                <a16:creationId xmlns:a16="http://schemas.microsoft.com/office/drawing/2014/main" id="{8A81279D-4F76-46F0-F977-745592328A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85941E45-249C-43E0-A255-D7450E205A27}" type="slidenum">
              <a:rPr lang="en-US" altLang="zh-CN" sz="2000">
                <a:solidFill>
                  <a:schemeClr val="bg2"/>
                </a:solidFill>
              </a:rPr>
              <a:pPr/>
              <a:t>18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0483" name="Line 2">
            <a:extLst>
              <a:ext uri="{FF2B5EF4-FFF2-40B4-BE49-F238E27FC236}">
                <a16:creationId xmlns:a16="http://schemas.microsoft.com/office/drawing/2014/main" id="{9CEC76B8-8182-490D-525E-B6F29B96F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Line 3">
            <a:extLst>
              <a:ext uri="{FF2B5EF4-FFF2-40B4-BE49-F238E27FC236}">
                <a16:creationId xmlns:a16="http://schemas.microsoft.com/office/drawing/2014/main" id="{EC858CFA-950E-CA70-B46D-FC45F317FE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0B312E6B-A649-B366-81B1-E5CA7AFE2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45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5.10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Implementation of BASK</a:t>
            </a:r>
          </a:p>
        </p:txBody>
      </p:sp>
      <p:sp>
        <p:nvSpPr>
          <p:cNvPr id="20486" name="Line 5">
            <a:extLst>
              <a:ext uri="{FF2B5EF4-FFF2-40B4-BE49-F238E27FC236}">
                <a16:creationId xmlns:a16="http://schemas.microsoft.com/office/drawing/2014/main" id="{6AF32A02-A283-B803-BD27-BC59AA3996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487" name="Picture 7">
            <a:extLst>
              <a:ext uri="{FF2B5EF4-FFF2-40B4-BE49-F238E27FC236}">
                <a16:creationId xmlns:a16="http://schemas.microsoft.com/office/drawing/2014/main" id="{7413382E-CF6B-C052-5C87-2AD77AE8E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2438400"/>
            <a:ext cx="808037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1">
            <a:extLst>
              <a:ext uri="{FF2B5EF4-FFF2-40B4-BE49-F238E27FC236}">
                <a16:creationId xmlns:a16="http://schemas.microsoft.com/office/drawing/2014/main" id="{0BE6CF18-8BBC-D205-9F4B-4CF3E6AB0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202A73D0-A6BA-452E-91A0-0EE5F9D37568}" type="slidenum">
              <a:rPr lang="en-US" altLang="zh-CN" sz="2000">
                <a:solidFill>
                  <a:schemeClr val="bg2"/>
                </a:solidFill>
              </a:rPr>
              <a:pPr/>
              <a:t>19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1507" name="Line 2">
            <a:extLst>
              <a:ext uri="{FF2B5EF4-FFF2-40B4-BE49-F238E27FC236}">
                <a16:creationId xmlns:a16="http://schemas.microsoft.com/office/drawing/2014/main" id="{4F56C2EC-B1F1-537E-98F5-4BE084AE90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Line 3">
            <a:extLst>
              <a:ext uri="{FF2B5EF4-FFF2-40B4-BE49-F238E27FC236}">
                <a16:creationId xmlns:a16="http://schemas.microsoft.com/office/drawing/2014/main" id="{A44CB2FF-646F-D2F7-5DAB-335E4C67D4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id="{56DD91CC-05B8-FE1D-F06A-7A1C627BC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491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5.11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QPSK and its implementation</a:t>
            </a:r>
          </a:p>
        </p:txBody>
      </p:sp>
      <p:sp>
        <p:nvSpPr>
          <p:cNvPr id="21510" name="Line 5">
            <a:extLst>
              <a:ext uri="{FF2B5EF4-FFF2-40B4-BE49-F238E27FC236}">
                <a16:creationId xmlns:a16="http://schemas.microsoft.com/office/drawing/2014/main" id="{37BE0E6B-E42C-C93A-BBA2-975B6037CF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1511" name="Picture 7">
            <a:extLst>
              <a:ext uri="{FF2B5EF4-FFF2-40B4-BE49-F238E27FC236}">
                <a16:creationId xmlns:a16="http://schemas.microsoft.com/office/drawing/2014/main" id="{EAD9E9F7-219B-7384-BFCD-ABE9F21E4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25" y="1143000"/>
            <a:ext cx="7258050" cy="491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30B77A83-2397-6580-94DC-2576351E96E6}"/>
              </a:ext>
            </a:extLst>
          </p:cNvPr>
          <p:cNvSpPr/>
          <p:nvPr/>
        </p:nvSpPr>
        <p:spPr bwMode="auto">
          <a:xfrm>
            <a:off x="5486400" y="192088"/>
            <a:ext cx="3352800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>
                <a:solidFill>
                  <a:schemeClr val="tx1"/>
                </a:solidFill>
                <a:latin typeface="Arial" charset="0"/>
                <a:ea typeface="宋体" pitchFamily="2" charset="-122"/>
              </a:rPr>
              <a:t>正交</a:t>
            </a:r>
            <a:r>
              <a:rPr lang="en-US" altLang="zh-CN">
                <a:solidFill>
                  <a:schemeClr val="tx1"/>
                </a:solidFill>
                <a:latin typeface="Arial" charset="0"/>
                <a:ea typeface="宋体" pitchFamily="2" charset="-122"/>
              </a:rPr>
              <a:t>PSK(QPSK)</a:t>
            </a:r>
            <a:endParaRPr lang="zh-CN" altLang="en-US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EFC2D66-FC66-876B-5C0A-39432999FB98}"/>
              </a:ext>
            </a:extLst>
          </p:cNvPr>
          <p:cNvSpPr/>
          <p:nvPr/>
        </p:nvSpPr>
        <p:spPr bwMode="auto">
          <a:xfrm>
            <a:off x="3657600" y="5754687"/>
            <a:ext cx="5397610" cy="87471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buClr>
                <a:srgbClr val="FF0000"/>
              </a:buClr>
              <a:buFont typeface="Wingdings" pitchFamily="2" charset="2"/>
              <a:buChar char="l"/>
              <a:defRPr/>
            </a:pP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使用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个独立的</a:t>
            </a:r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BPSK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，一个是同相的，另外一个是正交的（异相）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>
            <a:extLst>
              <a:ext uri="{FF2B5EF4-FFF2-40B4-BE49-F238E27FC236}">
                <a16:creationId xmlns:a16="http://schemas.microsoft.com/office/drawing/2014/main" id="{D732086D-D785-95CB-FA0B-0508923645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35D72C60-3985-45C2-99D0-E44A9E20C8FE}" type="slidenum">
              <a:rPr lang="en-US" altLang="zh-CN" sz="2000">
                <a:solidFill>
                  <a:schemeClr val="bg2"/>
                </a:solidFill>
              </a:rPr>
              <a:pPr/>
              <a:t>20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5820E630-FE7A-0D72-5E62-F694DCE39AB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0DF5E06-8C58-226D-12AE-E8D146CFF58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3" name="Rectangle 4">
            <a:extLst>
              <a:ext uri="{FF2B5EF4-FFF2-40B4-BE49-F238E27FC236}">
                <a16:creationId xmlns:a16="http://schemas.microsoft.com/office/drawing/2014/main" id="{204F7CC7-24E8-DAC6-A7B1-AF928D3D9DC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4" name="Rectangle 5">
            <a:extLst>
              <a:ext uri="{FF2B5EF4-FFF2-40B4-BE49-F238E27FC236}">
                <a16:creationId xmlns:a16="http://schemas.microsoft.com/office/drawing/2014/main" id="{37A1EAEF-0D1D-3D78-0D00-D06771DC18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5" name="Rectangle 6">
            <a:extLst>
              <a:ext uri="{FF2B5EF4-FFF2-40B4-BE49-F238E27FC236}">
                <a16:creationId xmlns:a16="http://schemas.microsoft.com/office/drawing/2014/main" id="{8F25EB21-5429-FF44-17BB-71FD45F7CC6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6" name="Rectangle 7">
            <a:extLst>
              <a:ext uri="{FF2B5EF4-FFF2-40B4-BE49-F238E27FC236}">
                <a16:creationId xmlns:a16="http://schemas.microsoft.com/office/drawing/2014/main" id="{72A83DCE-D638-6281-3D26-BDBDCAA6763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7" name="Rectangle 8">
            <a:extLst>
              <a:ext uri="{FF2B5EF4-FFF2-40B4-BE49-F238E27FC236}">
                <a16:creationId xmlns:a16="http://schemas.microsoft.com/office/drawing/2014/main" id="{13A69C80-282D-3737-5AD1-E50336FF4A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8" name="Rectangle 12">
            <a:extLst>
              <a:ext uri="{FF2B5EF4-FFF2-40B4-BE49-F238E27FC236}">
                <a16:creationId xmlns:a16="http://schemas.microsoft.com/office/drawing/2014/main" id="{93D38CC4-A848-B6F2-3A5D-19EDD0A0D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5.7</a:t>
            </a:r>
          </a:p>
        </p:txBody>
      </p:sp>
      <p:sp>
        <p:nvSpPr>
          <p:cNvPr id="22539" name="Rectangle 13">
            <a:extLst>
              <a:ext uri="{FF2B5EF4-FFF2-40B4-BE49-F238E27FC236}">
                <a16:creationId xmlns:a16="http://schemas.microsoft.com/office/drawing/2014/main" id="{AC1FF3A0-04AE-0D0D-092E-8599F7643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19200"/>
            <a:ext cx="822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试求使用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QPSK 12 Mbps for. d = 0.</a:t>
            </a:r>
          </a:p>
        </p:txBody>
      </p:sp>
      <p:sp>
        <p:nvSpPr>
          <p:cNvPr id="22540" name="Rectangle 14">
            <a:extLst>
              <a:ext uri="{FF2B5EF4-FFF2-40B4-BE49-F238E27FC236}">
                <a16:creationId xmlns:a16="http://schemas.microsoft.com/office/drawing/2014/main" id="{22107B33-E985-12D2-2BCB-5274EB641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76600"/>
            <a:ext cx="8686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QPSK,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每个信号元素携带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2 bits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，即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r = 2.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因此，信号速率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波特率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是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S = N × (1/r) = 6 M baud.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已知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d = 0,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B = S = 6 MHz.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>
            <a:extLst>
              <a:ext uri="{FF2B5EF4-FFF2-40B4-BE49-F238E27FC236}">
                <a16:creationId xmlns:a16="http://schemas.microsoft.com/office/drawing/2014/main" id="{D731A984-73E3-2453-A91F-163AFCC9E9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E4A0D678-660C-4D8D-AC42-6720439E2886}" type="slidenum">
              <a:rPr lang="en-US" altLang="zh-CN" sz="2000">
                <a:solidFill>
                  <a:schemeClr val="bg2"/>
                </a:solidFill>
              </a:rPr>
              <a:pPr/>
              <a:t>21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3555" name="Line 2">
            <a:extLst>
              <a:ext uri="{FF2B5EF4-FFF2-40B4-BE49-F238E27FC236}">
                <a16:creationId xmlns:a16="http://schemas.microsoft.com/office/drawing/2014/main" id="{844D4A86-6B58-AC02-4BC3-7A320F6228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Line 3">
            <a:extLst>
              <a:ext uri="{FF2B5EF4-FFF2-40B4-BE49-F238E27FC236}">
                <a16:creationId xmlns:a16="http://schemas.microsoft.com/office/drawing/2014/main" id="{3D384644-FBE3-1F7D-64EA-497B849BB4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7" name="Text Box 4">
            <a:extLst>
              <a:ext uri="{FF2B5EF4-FFF2-40B4-BE49-F238E27FC236}">
                <a16:creationId xmlns:a16="http://schemas.microsoft.com/office/drawing/2014/main" id="{3BFC76B4-592F-B143-BCDD-460992977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470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5.12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Concept of a constellation diagram</a:t>
            </a:r>
          </a:p>
        </p:txBody>
      </p:sp>
      <p:sp>
        <p:nvSpPr>
          <p:cNvPr id="23558" name="Line 5">
            <a:extLst>
              <a:ext uri="{FF2B5EF4-FFF2-40B4-BE49-F238E27FC236}">
                <a16:creationId xmlns:a16="http://schemas.microsoft.com/office/drawing/2014/main" id="{430E327A-58B8-80C9-07FA-0A4C067FDB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3559" name="Picture 6">
            <a:extLst>
              <a:ext uri="{FF2B5EF4-FFF2-40B4-BE49-F238E27FC236}">
                <a16:creationId xmlns:a16="http://schemas.microsoft.com/office/drawing/2014/main" id="{0BF6B892-5AA4-37F6-6AC2-BC0128E9F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525" y="1989138"/>
            <a:ext cx="5603875" cy="364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7A2852FA-087B-425F-CF5F-21DD34B1D25A}"/>
              </a:ext>
            </a:extLst>
          </p:cNvPr>
          <p:cNvSpPr/>
          <p:nvPr/>
        </p:nvSpPr>
        <p:spPr bwMode="auto">
          <a:xfrm>
            <a:off x="6705600" y="192088"/>
            <a:ext cx="2133600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>
                <a:solidFill>
                  <a:schemeClr val="tx1"/>
                </a:solidFill>
                <a:latin typeface="Arial" charset="0"/>
                <a:ea typeface="宋体" pitchFamily="2" charset="-122"/>
              </a:rPr>
              <a:t>星座图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>
            <a:extLst>
              <a:ext uri="{FF2B5EF4-FFF2-40B4-BE49-F238E27FC236}">
                <a16:creationId xmlns:a16="http://schemas.microsoft.com/office/drawing/2014/main" id="{416B50A2-55EC-BE87-2D0C-67EBA0D7E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84EA1F2A-ED3A-4003-8135-79DB11B7F36F}" type="slidenum">
              <a:rPr lang="en-US" altLang="zh-CN" sz="2000">
                <a:solidFill>
                  <a:schemeClr val="bg2"/>
                </a:solidFill>
              </a:rPr>
              <a:pPr/>
              <a:t>22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91163F4-EB2D-AE03-A393-AC78DAC218F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C700FE69-F404-20E8-CBC3-ECC79413E16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27A7506F-3463-0468-6EC8-A978C97C680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2" name="Rectangle 5">
            <a:extLst>
              <a:ext uri="{FF2B5EF4-FFF2-40B4-BE49-F238E27FC236}">
                <a16:creationId xmlns:a16="http://schemas.microsoft.com/office/drawing/2014/main" id="{A0B4CBE3-33BD-B695-4FB9-295D757BC8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3" name="Rectangle 6">
            <a:extLst>
              <a:ext uri="{FF2B5EF4-FFF2-40B4-BE49-F238E27FC236}">
                <a16:creationId xmlns:a16="http://schemas.microsoft.com/office/drawing/2014/main" id="{48A06AE4-2DF4-C825-3A52-5A842E94853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4" name="Rectangle 7">
            <a:extLst>
              <a:ext uri="{FF2B5EF4-FFF2-40B4-BE49-F238E27FC236}">
                <a16:creationId xmlns:a16="http://schemas.microsoft.com/office/drawing/2014/main" id="{F792499A-B3B9-6730-06BE-48BEDCBFB76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5" name="Rectangle 8">
            <a:extLst>
              <a:ext uri="{FF2B5EF4-FFF2-40B4-BE49-F238E27FC236}">
                <a16:creationId xmlns:a16="http://schemas.microsoft.com/office/drawing/2014/main" id="{885F7799-90AA-B3C8-198B-8FD133C538C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6" name="Rectangle 12">
            <a:extLst>
              <a:ext uri="{FF2B5EF4-FFF2-40B4-BE49-F238E27FC236}">
                <a16:creationId xmlns:a16="http://schemas.microsoft.com/office/drawing/2014/main" id="{9E5D9B46-B1FF-60D8-41B1-AC76B0308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0"/>
            <a:ext cx="2530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ea typeface="宋体" panose="02010600030101010101" pitchFamily="2" charset="-122"/>
              </a:rPr>
              <a:t>Example 5.8</a:t>
            </a:r>
          </a:p>
        </p:txBody>
      </p:sp>
      <p:sp>
        <p:nvSpPr>
          <p:cNvPr id="24587" name="Rectangle 13">
            <a:extLst>
              <a:ext uri="{FF2B5EF4-FFF2-40B4-BE49-F238E27FC236}">
                <a16:creationId xmlns:a16="http://schemas.microsoft.com/office/drawing/2014/main" id="{5FF0EB33-1B4C-9CAE-C99E-DB1243EDF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47800"/>
            <a:ext cx="822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试分别画出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ASK (OOK), BPSK,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QPSK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的星座图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4588" name="Rectangle 14">
            <a:extLst>
              <a:ext uri="{FF2B5EF4-FFF2-40B4-BE49-F238E27FC236}">
                <a16:creationId xmlns:a16="http://schemas.microsoft.com/office/drawing/2014/main" id="{7C24D462-AEF6-D4B3-DD39-EAAD33666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133600"/>
            <a:ext cx="8686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Solution</a:t>
            </a:r>
          </a:p>
          <a:p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5.13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分别是这三个星座图。</a:t>
            </a:r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9" name="Line 2">
            <a:extLst>
              <a:ext uri="{FF2B5EF4-FFF2-40B4-BE49-F238E27FC236}">
                <a16:creationId xmlns:a16="http://schemas.microsoft.com/office/drawing/2014/main" id="{992100E5-A2DA-9B54-09FD-EDE4EB0F77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338" y="3205163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0" name="Line 3">
            <a:extLst>
              <a:ext uri="{FF2B5EF4-FFF2-40B4-BE49-F238E27FC236}">
                <a16:creationId xmlns:a16="http://schemas.microsoft.com/office/drawing/2014/main" id="{F60EC41D-9680-CDA4-01DA-2B4D0054F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338" y="3240088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1" name="Text Box 4">
            <a:extLst>
              <a:ext uri="{FF2B5EF4-FFF2-40B4-BE49-F238E27FC236}">
                <a16:creationId xmlns:a16="http://schemas.microsoft.com/office/drawing/2014/main" id="{1606606E-2A4A-90EE-06B7-139501939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907088"/>
            <a:ext cx="4864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5.13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Three constellation diagrams</a:t>
            </a:r>
          </a:p>
        </p:txBody>
      </p:sp>
      <p:sp>
        <p:nvSpPr>
          <p:cNvPr id="24592" name="Line 5">
            <a:extLst>
              <a:ext uri="{FF2B5EF4-FFF2-40B4-BE49-F238E27FC236}">
                <a16:creationId xmlns:a16="http://schemas.microsoft.com/office/drawing/2014/main" id="{A08D581C-2C13-AD67-CFB9-B5F526A2A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338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4593" name="Picture 6">
            <a:extLst>
              <a:ext uri="{FF2B5EF4-FFF2-40B4-BE49-F238E27FC236}">
                <a16:creationId xmlns:a16="http://schemas.microsoft.com/office/drawing/2014/main" id="{4DEBDDAF-0FFA-03B5-AF86-CB5B01FA2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3" y="3582988"/>
            <a:ext cx="8135937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D887A037-36E2-FE2D-B218-776532DF48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F9DE417C-F319-49B5-82CD-D2018A414B28}" type="slidenum">
              <a:rPr lang="en-US" altLang="zh-CN" sz="2000">
                <a:solidFill>
                  <a:schemeClr val="bg2"/>
                </a:solidFill>
              </a:rPr>
              <a:pPr/>
              <a:t>23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45CBE7F-2B26-3438-4079-3A2EB7142F8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CC5AEFA-EEC6-17B6-244C-8EA3C6B0F62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5" name="Rectangle 4">
            <a:extLst>
              <a:ext uri="{FF2B5EF4-FFF2-40B4-BE49-F238E27FC236}">
                <a16:creationId xmlns:a16="http://schemas.microsoft.com/office/drawing/2014/main" id="{6D56C7C5-674F-7645-BF15-A90D11294FD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6" name="Rectangle 5">
            <a:extLst>
              <a:ext uri="{FF2B5EF4-FFF2-40B4-BE49-F238E27FC236}">
                <a16:creationId xmlns:a16="http://schemas.microsoft.com/office/drawing/2014/main" id="{E667AA5A-53D3-522C-4B0F-41D799FA698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7" name="Rectangle 6">
            <a:extLst>
              <a:ext uri="{FF2B5EF4-FFF2-40B4-BE49-F238E27FC236}">
                <a16:creationId xmlns:a16="http://schemas.microsoft.com/office/drawing/2014/main" id="{602CB7A2-E4D8-52D3-E9DA-32254B2C21B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8" name="Rectangle 7">
            <a:extLst>
              <a:ext uri="{FF2B5EF4-FFF2-40B4-BE49-F238E27FC236}">
                <a16:creationId xmlns:a16="http://schemas.microsoft.com/office/drawing/2014/main" id="{3CDFE5FA-1568-F9C0-3AAA-C8622E24534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9" name="Rectangle 8">
            <a:extLst>
              <a:ext uri="{FF2B5EF4-FFF2-40B4-BE49-F238E27FC236}">
                <a16:creationId xmlns:a16="http://schemas.microsoft.com/office/drawing/2014/main" id="{7E97C5B8-90AF-AB70-89B7-A32D5C77BD7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10" name="Line 9">
            <a:extLst>
              <a:ext uri="{FF2B5EF4-FFF2-40B4-BE49-F238E27FC236}">
                <a16:creationId xmlns:a16="http://schemas.microsoft.com/office/drawing/2014/main" id="{09FD5A5D-76E9-C80A-014E-A6FE91EAD9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1" name="Line 10">
            <a:extLst>
              <a:ext uri="{FF2B5EF4-FFF2-40B4-BE49-F238E27FC236}">
                <a16:creationId xmlns:a16="http://schemas.microsoft.com/office/drawing/2014/main" id="{E4F824EB-5144-DBAD-BD44-071DBB7D07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191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2" name="Rectangle 11">
            <a:extLst>
              <a:ext uri="{FF2B5EF4-FFF2-40B4-BE49-F238E27FC236}">
                <a16:creationId xmlns:a16="http://schemas.microsoft.com/office/drawing/2014/main" id="{65B9A48A-66FB-7C47-F1E0-F620AE63E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5842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正交振幅调制是</a:t>
            </a:r>
            <a:r>
              <a:rPr lang="en-US" altLang="zh-CN">
                <a:ea typeface="宋体" panose="02010600030101010101" pitchFamily="2" charset="-122"/>
              </a:rPr>
              <a:t> ASK 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zh-CN">
                <a:ea typeface="宋体" panose="02010600030101010101" pitchFamily="2" charset="-122"/>
              </a:rPr>
              <a:t>PSK</a:t>
            </a:r>
            <a:r>
              <a:rPr lang="zh-CN" altLang="en-US">
                <a:ea typeface="宋体" panose="02010600030101010101" pitchFamily="2" charset="-122"/>
              </a:rPr>
              <a:t>的结合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25613" name="Group 15">
            <a:extLst>
              <a:ext uri="{FF2B5EF4-FFF2-40B4-BE49-F238E27FC236}">
                <a16:creationId xmlns:a16="http://schemas.microsoft.com/office/drawing/2014/main" id="{7056347A-AF1C-FC66-FDAA-4C42442CC02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362200"/>
            <a:ext cx="1143000" cy="566738"/>
            <a:chOff x="1200" y="1248"/>
            <a:chExt cx="720" cy="357"/>
          </a:xfrm>
        </p:grpSpPr>
        <p:pic>
          <p:nvPicPr>
            <p:cNvPr id="25615" name="Picture 16">
              <a:extLst>
                <a:ext uri="{FF2B5EF4-FFF2-40B4-BE49-F238E27FC236}">
                  <a16:creationId xmlns:a16="http://schemas.microsoft.com/office/drawing/2014/main" id="{893CB931-E372-F700-A6E6-C50B56E51C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6" name="Text Box 17">
              <a:extLst>
                <a:ext uri="{FF2B5EF4-FFF2-40B4-BE49-F238E27FC236}">
                  <a16:creationId xmlns:a16="http://schemas.microsoft.com/office/drawing/2014/main" id="{6BC724B7-F005-6587-D0D1-7D290A039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4FC93BAD-9BCC-604A-2976-7FD9A24FD37E}"/>
              </a:ext>
            </a:extLst>
          </p:cNvPr>
          <p:cNvSpPr/>
          <p:nvPr/>
        </p:nvSpPr>
        <p:spPr bwMode="auto">
          <a:xfrm>
            <a:off x="357188" y="1071563"/>
            <a:ext cx="3833812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>
                <a:solidFill>
                  <a:schemeClr val="tx1"/>
                </a:solidFill>
                <a:latin typeface="Arial" charset="0"/>
                <a:ea typeface="宋体" pitchFamily="2" charset="-122"/>
              </a:rPr>
              <a:t>正交振幅调制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>
            <a:extLst>
              <a:ext uri="{FF2B5EF4-FFF2-40B4-BE49-F238E27FC236}">
                <a16:creationId xmlns:a16="http://schemas.microsoft.com/office/drawing/2014/main" id="{C1837FB0-9450-01EE-25C7-27CD3CD3AE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F51C0DAB-38AB-4595-8772-ECD4C601C27A}" type="slidenum">
              <a:rPr lang="en-US" altLang="zh-CN" sz="2000">
                <a:solidFill>
                  <a:schemeClr val="bg2"/>
                </a:solidFill>
              </a:rPr>
              <a:pPr/>
              <a:t>24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6627" name="Line 2">
            <a:extLst>
              <a:ext uri="{FF2B5EF4-FFF2-40B4-BE49-F238E27FC236}">
                <a16:creationId xmlns:a16="http://schemas.microsoft.com/office/drawing/2014/main" id="{BABFA4A6-CAAD-9FDE-DB28-69AE9D7BF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Line 3">
            <a:extLst>
              <a:ext uri="{FF2B5EF4-FFF2-40B4-BE49-F238E27FC236}">
                <a16:creationId xmlns:a16="http://schemas.microsoft.com/office/drawing/2014/main" id="{21A13F53-C630-D858-D772-E7BCBC695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C47ECE31-3C8A-F538-719C-C286B3068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94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5.14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Constellation diagrams for some QAMs</a:t>
            </a:r>
          </a:p>
        </p:txBody>
      </p:sp>
      <p:sp>
        <p:nvSpPr>
          <p:cNvPr id="26630" name="Line 5">
            <a:extLst>
              <a:ext uri="{FF2B5EF4-FFF2-40B4-BE49-F238E27FC236}">
                <a16:creationId xmlns:a16="http://schemas.microsoft.com/office/drawing/2014/main" id="{75DE71EF-E324-5E40-6043-55F9967EE3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6631" name="Picture 6">
            <a:extLst>
              <a:ext uri="{FF2B5EF4-FFF2-40B4-BE49-F238E27FC236}">
                <a16:creationId xmlns:a16="http://schemas.microsoft.com/office/drawing/2014/main" id="{CDE438CE-9010-DEFB-9F07-261892E5F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14625"/>
            <a:ext cx="8610600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>
            <a:extLst>
              <a:ext uri="{FF2B5EF4-FFF2-40B4-BE49-F238E27FC236}">
                <a16:creationId xmlns:a16="http://schemas.microsoft.com/office/drawing/2014/main" id="{E5C6E6B4-EA77-352A-C2A2-AFCB286C2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2E6BD9B0-DF14-40FE-A4CD-E20506B24823}" type="slidenum">
              <a:rPr lang="en-US" altLang="zh-CN" sz="2000">
                <a:solidFill>
                  <a:schemeClr val="bg2"/>
                </a:solidFill>
              </a:rPr>
              <a:pPr/>
              <a:t>25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97698" name="Rectangle 2">
            <a:extLst>
              <a:ext uri="{FF2B5EF4-FFF2-40B4-BE49-F238E27FC236}">
                <a16:creationId xmlns:a16="http://schemas.microsoft.com/office/drawing/2014/main" id="{83B0BD05-3D87-EB3A-1967-6642A2A21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97699" name="Text Box 3">
            <a:extLst>
              <a:ext uri="{FF2B5EF4-FFF2-40B4-BE49-F238E27FC236}">
                <a16:creationId xmlns:a16="http://schemas.microsoft.com/office/drawing/2014/main" id="{E6DE5C29-E403-8F6C-7833-D748BD34B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8407400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pitchFamily="2" charset="-122"/>
              </a:rPr>
              <a:t>5-2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pitchFamily="2" charset="-122"/>
              </a:rPr>
              <a:t>模拟信号调制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pitchFamily="2" charset="-122"/>
              </a:rPr>
              <a:t>(ANALOG AND DIGITAL)</a:t>
            </a:r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id="{52C94ECE-BF23-2EB0-BAB6-EF8729DE2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7701" name="Rectangle 5">
            <a:extLst>
              <a:ext uri="{FF2B5EF4-FFF2-40B4-BE49-F238E27FC236}">
                <a16:creationId xmlns:a16="http://schemas.microsoft.com/office/drawing/2014/main" id="{2F715A9D-46DF-16EB-2B83-AE9A6D6AA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803400"/>
            <a:ext cx="8229600" cy="18161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模拟信号调控是通过模拟信号来表示模拟信息的</a:t>
            </a:r>
            <a:r>
              <a:rPr lang="en-US" altLang="zh-CN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. 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人们可能会问，既然信号已经是模拟了，为什么还要调制模拟信号呢？</a:t>
            </a:r>
            <a:r>
              <a:rPr lang="en-US" altLang="zh-CN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; 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答案是，如果介质具有帯通特性或者只有帯通带宽可用，则模拟信号就需要调制。</a:t>
            </a:r>
            <a:r>
              <a:rPr lang="en-US" altLang="zh-CN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E861CBD4-BFED-39D1-89E3-DB0BD395F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调幅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(Amplitude Modulation)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调频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Frequency Modulation)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调相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Phase Modulation)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7703" name="Text Box 7">
            <a:extLst>
              <a:ext uri="{FF2B5EF4-FFF2-40B4-BE49-F238E27FC236}">
                <a16:creationId xmlns:a16="http://schemas.microsoft.com/office/drawing/2014/main" id="{B8F99243-736F-2A7E-B0D6-78027BAA3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03700"/>
            <a:ext cx="486251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>
            <a:extLst>
              <a:ext uri="{FF2B5EF4-FFF2-40B4-BE49-F238E27FC236}">
                <a16:creationId xmlns:a16="http://schemas.microsoft.com/office/drawing/2014/main" id="{55A79296-1CA7-45F0-DC0C-437AB87714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7D2FBDC5-E27B-4765-9F26-C45E25E9B0BA}" type="slidenum">
              <a:rPr lang="en-US" altLang="zh-CN" sz="2000">
                <a:solidFill>
                  <a:schemeClr val="bg2"/>
                </a:solidFill>
              </a:rPr>
              <a:pPr/>
              <a:t>26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8675" name="Line 2">
            <a:extLst>
              <a:ext uri="{FF2B5EF4-FFF2-40B4-BE49-F238E27FC236}">
                <a16:creationId xmlns:a16="http://schemas.microsoft.com/office/drawing/2014/main" id="{87A095B1-D24D-BF16-9051-7DC6A37CBE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6" name="Line 3">
            <a:extLst>
              <a:ext uri="{FF2B5EF4-FFF2-40B4-BE49-F238E27FC236}">
                <a16:creationId xmlns:a16="http://schemas.microsoft.com/office/drawing/2014/main" id="{ECDC0E00-2151-5B52-8837-878B2B7B2B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20EEA46B-CC69-8F9C-86C5-741570E7F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81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5.15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Types of analog-to-analog modulation</a:t>
            </a:r>
          </a:p>
        </p:txBody>
      </p:sp>
      <p:sp>
        <p:nvSpPr>
          <p:cNvPr id="28678" name="Line 5">
            <a:extLst>
              <a:ext uri="{FF2B5EF4-FFF2-40B4-BE49-F238E27FC236}">
                <a16:creationId xmlns:a16="http://schemas.microsoft.com/office/drawing/2014/main" id="{C5037467-888D-38E7-454C-F98096F95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8679" name="Picture 6">
            <a:extLst>
              <a:ext uri="{FF2B5EF4-FFF2-40B4-BE49-F238E27FC236}">
                <a16:creationId xmlns:a16="http://schemas.microsoft.com/office/drawing/2014/main" id="{22163D47-511B-4DFF-3B73-F47542419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2486025"/>
            <a:ext cx="839152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>
            <a:extLst>
              <a:ext uri="{FF2B5EF4-FFF2-40B4-BE49-F238E27FC236}">
                <a16:creationId xmlns:a16="http://schemas.microsoft.com/office/drawing/2014/main" id="{9880B853-AF30-6148-DD50-728A3A4785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240A9776-CCC4-4AE8-8CB9-451D8C1F1067}" type="slidenum">
              <a:rPr lang="en-US" altLang="zh-CN" sz="2000">
                <a:solidFill>
                  <a:schemeClr val="bg2"/>
                </a:solidFill>
              </a:rPr>
              <a:pPr/>
              <a:t>27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9699" name="Line 2">
            <a:extLst>
              <a:ext uri="{FF2B5EF4-FFF2-40B4-BE49-F238E27FC236}">
                <a16:creationId xmlns:a16="http://schemas.microsoft.com/office/drawing/2014/main" id="{9CF40B6A-6436-E751-9C9D-5CBF2D1639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Line 3">
            <a:extLst>
              <a:ext uri="{FF2B5EF4-FFF2-40B4-BE49-F238E27FC236}">
                <a16:creationId xmlns:a16="http://schemas.microsoft.com/office/drawing/2014/main" id="{847A64F8-B8DB-52F0-D699-83EF9BA68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1" name="Text Box 4">
            <a:extLst>
              <a:ext uri="{FF2B5EF4-FFF2-40B4-BE49-F238E27FC236}">
                <a16:creationId xmlns:a16="http://schemas.microsoft.com/office/drawing/2014/main" id="{A6DE729D-DB94-0238-73E0-B3222489B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15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5.16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Amplitude modulation</a:t>
            </a:r>
          </a:p>
        </p:txBody>
      </p:sp>
      <p:sp>
        <p:nvSpPr>
          <p:cNvPr id="29702" name="Line 5">
            <a:extLst>
              <a:ext uri="{FF2B5EF4-FFF2-40B4-BE49-F238E27FC236}">
                <a16:creationId xmlns:a16="http://schemas.microsoft.com/office/drawing/2014/main" id="{AA84A475-3167-8300-2C07-6FADA5D95E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9703" name="Picture 6">
            <a:extLst>
              <a:ext uri="{FF2B5EF4-FFF2-40B4-BE49-F238E27FC236}">
                <a16:creationId xmlns:a16="http://schemas.microsoft.com/office/drawing/2014/main" id="{EFD4DD9D-D872-37B8-5624-BA31E6B48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1763713"/>
            <a:ext cx="8821737" cy="395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736E6521-C6B8-5403-A9C4-3993DB24022A}"/>
              </a:ext>
            </a:extLst>
          </p:cNvPr>
          <p:cNvSpPr/>
          <p:nvPr/>
        </p:nvSpPr>
        <p:spPr bwMode="auto">
          <a:xfrm>
            <a:off x="7315200" y="192088"/>
            <a:ext cx="1524000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>
                <a:solidFill>
                  <a:schemeClr val="tx1"/>
                </a:solidFill>
                <a:latin typeface="Arial" charset="0"/>
                <a:ea typeface="宋体" pitchFamily="2" charset="-122"/>
              </a:rPr>
              <a:t>调幅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>
            <a:extLst>
              <a:ext uri="{FF2B5EF4-FFF2-40B4-BE49-F238E27FC236}">
                <a16:creationId xmlns:a16="http://schemas.microsoft.com/office/drawing/2014/main" id="{69411673-DC27-0C27-EE4D-76B96F66C1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8E0FCF6B-9D56-4DE4-BBA6-C72D5AEE7773}" type="slidenum">
              <a:rPr lang="en-US" altLang="zh-CN" sz="2000">
                <a:solidFill>
                  <a:schemeClr val="bg2"/>
                </a:solidFill>
              </a:rPr>
              <a:pPr/>
              <a:t>28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318ACFD-15E3-29F0-5984-25FD5403593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16DEFE90-DC5D-8039-AA3C-51D91E0640D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1A0C2243-1479-C885-B611-29A1D33B73A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6" name="Rectangle 5">
            <a:extLst>
              <a:ext uri="{FF2B5EF4-FFF2-40B4-BE49-F238E27FC236}">
                <a16:creationId xmlns:a16="http://schemas.microsoft.com/office/drawing/2014/main" id="{353C008E-A4B1-BDAB-DDBE-8FDE92E2177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7" name="Rectangle 6">
            <a:extLst>
              <a:ext uri="{FF2B5EF4-FFF2-40B4-BE49-F238E27FC236}">
                <a16:creationId xmlns:a16="http://schemas.microsoft.com/office/drawing/2014/main" id="{F0C2B1FC-85D8-BB6F-DCDE-CF27F0B95CD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8" name="Rectangle 7">
            <a:extLst>
              <a:ext uri="{FF2B5EF4-FFF2-40B4-BE49-F238E27FC236}">
                <a16:creationId xmlns:a16="http://schemas.microsoft.com/office/drawing/2014/main" id="{41D4258B-45D2-E25C-EA5E-E36C56EDE3F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9" name="Rectangle 8">
            <a:extLst>
              <a:ext uri="{FF2B5EF4-FFF2-40B4-BE49-F238E27FC236}">
                <a16:creationId xmlns:a16="http://schemas.microsoft.com/office/drawing/2014/main" id="{60996853-BDCE-FC36-96C7-BD450C4ECF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30" name="Line 9">
            <a:extLst>
              <a:ext uri="{FF2B5EF4-FFF2-40B4-BE49-F238E27FC236}">
                <a16:creationId xmlns:a16="http://schemas.microsoft.com/office/drawing/2014/main" id="{FF3A00F2-4E89-0F3B-E554-4E3591F534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547938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1" name="Line 10">
            <a:extLst>
              <a:ext uri="{FF2B5EF4-FFF2-40B4-BE49-F238E27FC236}">
                <a16:creationId xmlns:a16="http://schemas.microsoft.com/office/drawing/2014/main" id="{1EEFEF31-B781-0506-AC37-47FBB3664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291138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2" name="Rectangle 11">
            <a:extLst>
              <a:ext uri="{FF2B5EF4-FFF2-40B4-BE49-F238E27FC236}">
                <a16:creationId xmlns:a16="http://schemas.microsoft.com/office/drawing/2014/main" id="{FF9865A8-38BA-9128-8A41-66E99400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686050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AM</a:t>
            </a:r>
            <a:r>
              <a:rPr lang="zh-CN" altLang="en-US">
                <a:ea typeface="宋体" panose="02010600030101010101" pitchFamily="2" charset="-122"/>
              </a:rPr>
              <a:t>所需的总带宽可以由音频信号的带宽确定</a:t>
            </a:r>
            <a:r>
              <a:rPr lang="en-US" altLang="zh-CN">
                <a:ea typeface="宋体" panose="02010600030101010101" pitchFamily="2" charset="-122"/>
              </a:rPr>
              <a:t>: B</a:t>
            </a:r>
            <a:r>
              <a:rPr lang="en-US" altLang="zh-CN" baseline="-25000">
                <a:ea typeface="宋体" panose="02010600030101010101" pitchFamily="2" charset="-122"/>
              </a:rPr>
              <a:t>AM</a:t>
            </a:r>
            <a:r>
              <a:rPr lang="en-US" altLang="zh-CN">
                <a:ea typeface="宋体" panose="02010600030101010101" pitchFamily="2" charset="-122"/>
              </a:rPr>
              <a:t> = 2B.</a:t>
            </a:r>
          </a:p>
        </p:txBody>
      </p:sp>
      <p:grpSp>
        <p:nvGrpSpPr>
          <p:cNvPr id="30733" name="Group 15">
            <a:extLst>
              <a:ext uri="{FF2B5EF4-FFF2-40B4-BE49-F238E27FC236}">
                <a16:creationId xmlns:a16="http://schemas.microsoft.com/office/drawing/2014/main" id="{DD61C053-3A51-2399-9BF7-3A402EFF974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05000"/>
            <a:ext cx="1143000" cy="566738"/>
            <a:chOff x="1200" y="1248"/>
            <a:chExt cx="720" cy="357"/>
          </a:xfrm>
        </p:grpSpPr>
        <p:pic>
          <p:nvPicPr>
            <p:cNvPr id="30734" name="Picture 16">
              <a:extLst>
                <a:ext uri="{FF2B5EF4-FFF2-40B4-BE49-F238E27FC236}">
                  <a16:creationId xmlns:a16="http://schemas.microsoft.com/office/drawing/2014/main" id="{E3F96122-8624-6D11-AE30-EE25E80E26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35" name="Text Box 17">
              <a:extLst>
                <a:ext uri="{FF2B5EF4-FFF2-40B4-BE49-F238E27FC236}">
                  <a16:creationId xmlns:a16="http://schemas.microsoft.com/office/drawing/2014/main" id="{D0D5AA98-479A-0DCA-F7C9-EB1973272D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>
            <a:extLst>
              <a:ext uri="{FF2B5EF4-FFF2-40B4-BE49-F238E27FC236}">
                <a16:creationId xmlns:a16="http://schemas.microsoft.com/office/drawing/2014/main" id="{147C78A0-A87D-E879-6AA0-AD163D10A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6FD503AD-0723-4CAC-8C44-85B37D004ACA}" type="slidenum">
              <a:rPr lang="en-US" altLang="zh-CN" sz="2000">
                <a:solidFill>
                  <a:schemeClr val="bg2"/>
                </a:solidFill>
              </a:rPr>
              <a:pPr/>
              <a:t>29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1747" name="Line 2">
            <a:extLst>
              <a:ext uri="{FF2B5EF4-FFF2-40B4-BE49-F238E27FC236}">
                <a16:creationId xmlns:a16="http://schemas.microsoft.com/office/drawing/2014/main" id="{AA370D65-21BB-9C7D-B5CB-694B865348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Line 3">
            <a:extLst>
              <a:ext uri="{FF2B5EF4-FFF2-40B4-BE49-F238E27FC236}">
                <a16:creationId xmlns:a16="http://schemas.microsoft.com/office/drawing/2014/main" id="{A5D660FB-D4FA-6D52-C277-46F499E220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9" name="Text Box 4">
            <a:extLst>
              <a:ext uri="{FF2B5EF4-FFF2-40B4-BE49-F238E27FC236}">
                <a16:creationId xmlns:a16="http://schemas.microsoft.com/office/drawing/2014/main" id="{1096C202-F619-2E3F-429D-19356A7F7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894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5.17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AM band allocation</a:t>
            </a:r>
          </a:p>
        </p:txBody>
      </p:sp>
      <p:sp>
        <p:nvSpPr>
          <p:cNvPr id="31750" name="Line 5">
            <a:extLst>
              <a:ext uri="{FF2B5EF4-FFF2-40B4-BE49-F238E27FC236}">
                <a16:creationId xmlns:a16="http://schemas.microsoft.com/office/drawing/2014/main" id="{AA627961-3CE7-7AC3-BF3B-C8401B4A7C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1751" name="Picture 6">
            <a:extLst>
              <a:ext uri="{FF2B5EF4-FFF2-40B4-BE49-F238E27FC236}">
                <a16:creationId xmlns:a16="http://schemas.microsoft.com/office/drawing/2014/main" id="{761459C2-F695-D4A3-76BB-61CDE4B26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246438"/>
            <a:ext cx="7881938" cy="124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>
            <a:extLst>
              <a:ext uri="{FF2B5EF4-FFF2-40B4-BE49-F238E27FC236}">
                <a16:creationId xmlns:a16="http://schemas.microsoft.com/office/drawing/2014/main" id="{B6CADD62-0C81-7ADA-FB10-F198BBEE5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C032FDE9-8606-4C42-863B-2DEA698D0072}" type="slidenum">
              <a:rPr lang="en-US" altLang="zh-CN" sz="2000">
                <a:solidFill>
                  <a:schemeClr val="bg2"/>
                </a:solidFill>
              </a:rPr>
              <a:pPr/>
              <a:t>30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2B861B04-3DDF-32B7-2EEA-86F97C3129E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A23E76D4-CE19-76F2-B4D1-D1205E143CA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3" name="Rectangle 4">
            <a:extLst>
              <a:ext uri="{FF2B5EF4-FFF2-40B4-BE49-F238E27FC236}">
                <a16:creationId xmlns:a16="http://schemas.microsoft.com/office/drawing/2014/main" id="{4CAD4944-0F54-7094-0161-F814C1A7570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4" name="Rectangle 5">
            <a:extLst>
              <a:ext uri="{FF2B5EF4-FFF2-40B4-BE49-F238E27FC236}">
                <a16:creationId xmlns:a16="http://schemas.microsoft.com/office/drawing/2014/main" id="{991894C0-D488-2595-013C-24004B3D68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5" name="Rectangle 6">
            <a:extLst>
              <a:ext uri="{FF2B5EF4-FFF2-40B4-BE49-F238E27FC236}">
                <a16:creationId xmlns:a16="http://schemas.microsoft.com/office/drawing/2014/main" id="{5B67DF88-4457-EEE4-EBEE-64E618E6B3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6" name="Rectangle 7">
            <a:extLst>
              <a:ext uri="{FF2B5EF4-FFF2-40B4-BE49-F238E27FC236}">
                <a16:creationId xmlns:a16="http://schemas.microsoft.com/office/drawing/2014/main" id="{74995C04-B4FD-1DFB-2735-5AAA5CE690E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7" name="Rectangle 8">
            <a:extLst>
              <a:ext uri="{FF2B5EF4-FFF2-40B4-BE49-F238E27FC236}">
                <a16:creationId xmlns:a16="http://schemas.microsoft.com/office/drawing/2014/main" id="{AAB47FDF-31C4-5A57-3ACD-C81F74FC1EF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8" name="Line 9">
            <a:extLst>
              <a:ext uri="{FF2B5EF4-FFF2-40B4-BE49-F238E27FC236}">
                <a16:creationId xmlns:a16="http://schemas.microsoft.com/office/drawing/2014/main" id="{19756CA3-6AE6-DBDC-C568-266CD3536C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971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9" name="Line 10">
            <a:extLst>
              <a:ext uri="{FF2B5EF4-FFF2-40B4-BE49-F238E27FC236}">
                <a16:creationId xmlns:a16="http://schemas.microsoft.com/office/drawing/2014/main" id="{5FE2776E-1F18-CAB7-B8B7-D260668C4E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724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0" name="Rectangle 11">
            <a:extLst>
              <a:ext uri="{FF2B5EF4-FFF2-40B4-BE49-F238E27FC236}">
                <a16:creationId xmlns:a16="http://schemas.microsoft.com/office/drawing/2014/main" id="{022D2B27-EC3A-8C77-6A3C-142A47DD6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638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FM </a:t>
            </a:r>
            <a:r>
              <a:rPr lang="zh-CN" altLang="en-US">
                <a:ea typeface="宋体" panose="02010600030101010101" pitchFamily="2" charset="-122"/>
              </a:rPr>
              <a:t>所需的总带宽可以有音频信号的带宽确定</a:t>
            </a:r>
            <a:r>
              <a:rPr lang="en-US" altLang="zh-CN">
                <a:ea typeface="宋体" panose="02010600030101010101" pitchFamily="2" charset="-122"/>
              </a:rPr>
              <a:t>: B</a:t>
            </a:r>
            <a:r>
              <a:rPr lang="en-US" altLang="zh-CN" baseline="-25000">
                <a:ea typeface="宋体" panose="02010600030101010101" pitchFamily="2" charset="-122"/>
              </a:rPr>
              <a:t>FM</a:t>
            </a:r>
            <a:r>
              <a:rPr lang="en-US" altLang="zh-CN">
                <a:ea typeface="宋体" panose="02010600030101010101" pitchFamily="2" charset="-122"/>
              </a:rPr>
              <a:t> = 2(1 + β)B.</a:t>
            </a:r>
          </a:p>
        </p:txBody>
      </p:sp>
      <p:grpSp>
        <p:nvGrpSpPr>
          <p:cNvPr id="32781" name="Group 12">
            <a:extLst>
              <a:ext uri="{FF2B5EF4-FFF2-40B4-BE49-F238E27FC236}">
                <a16:creationId xmlns:a16="http://schemas.microsoft.com/office/drawing/2014/main" id="{56C31CCE-09EA-50A7-F04D-F5CD77E90F3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362200"/>
            <a:ext cx="1143000" cy="566738"/>
            <a:chOff x="1200" y="1248"/>
            <a:chExt cx="720" cy="357"/>
          </a:xfrm>
        </p:grpSpPr>
        <p:pic>
          <p:nvPicPr>
            <p:cNvPr id="32782" name="Picture 13">
              <a:extLst>
                <a:ext uri="{FF2B5EF4-FFF2-40B4-BE49-F238E27FC236}">
                  <a16:creationId xmlns:a16="http://schemas.microsoft.com/office/drawing/2014/main" id="{65B17036-7344-4A57-251C-1ED70EB4CE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83" name="Text Box 14">
              <a:extLst>
                <a:ext uri="{FF2B5EF4-FFF2-40B4-BE49-F238E27FC236}">
                  <a16:creationId xmlns:a16="http://schemas.microsoft.com/office/drawing/2014/main" id="{5F396898-3B69-3537-DD29-84278F476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>
            <a:extLst>
              <a:ext uri="{FF2B5EF4-FFF2-40B4-BE49-F238E27FC236}">
                <a16:creationId xmlns:a16="http://schemas.microsoft.com/office/drawing/2014/main" id="{7740EDBB-51C2-D251-B8AD-E2D3A5EED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07A4AE24-87D0-4A14-95CA-348604B52AD3}" type="slidenum">
              <a:rPr lang="en-US" altLang="zh-CN" sz="2000">
                <a:solidFill>
                  <a:schemeClr val="bg2"/>
                </a:solidFill>
              </a:rPr>
              <a:pPr/>
              <a:t>31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3795" name="Line 2">
            <a:extLst>
              <a:ext uri="{FF2B5EF4-FFF2-40B4-BE49-F238E27FC236}">
                <a16:creationId xmlns:a16="http://schemas.microsoft.com/office/drawing/2014/main" id="{332864D0-BD63-EBB8-790A-7EC7B55C52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Line 3">
            <a:extLst>
              <a:ext uri="{FF2B5EF4-FFF2-40B4-BE49-F238E27FC236}">
                <a16:creationId xmlns:a16="http://schemas.microsoft.com/office/drawing/2014/main" id="{0CBF3F09-E1BD-1E53-FE8B-4EE571566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7" name="Text Box 4">
            <a:extLst>
              <a:ext uri="{FF2B5EF4-FFF2-40B4-BE49-F238E27FC236}">
                <a16:creationId xmlns:a16="http://schemas.microsoft.com/office/drawing/2014/main" id="{98E5BAC4-950C-9D03-FC44-7649E99D7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19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5.18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Frequency modulation</a:t>
            </a:r>
          </a:p>
        </p:txBody>
      </p:sp>
      <p:sp>
        <p:nvSpPr>
          <p:cNvPr id="33798" name="Line 5">
            <a:extLst>
              <a:ext uri="{FF2B5EF4-FFF2-40B4-BE49-F238E27FC236}">
                <a16:creationId xmlns:a16="http://schemas.microsoft.com/office/drawing/2014/main" id="{92FB32EA-39D3-328A-7313-B0D0F1D6CF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3799" name="Picture 6">
            <a:extLst>
              <a:ext uri="{FF2B5EF4-FFF2-40B4-BE49-F238E27FC236}">
                <a16:creationId xmlns:a16="http://schemas.microsoft.com/office/drawing/2014/main" id="{D993550F-CB84-6503-2032-7ED459B0C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6400"/>
            <a:ext cx="8839200" cy="433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27DAFBCF-D7CD-3177-4785-8468028135D0}"/>
              </a:ext>
            </a:extLst>
          </p:cNvPr>
          <p:cNvSpPr/>
          <p:nvPr/>
        </p:nvSpPr>
        <p:spPr bwMode="auto">
          <a:xfrm>
            <a:off x="7315200" y="192088"/>
            <a:ext cx="1524000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>
                <a:solidFill>
                  <a:schemeClr val="tx1"/>
                </a:solidFill>
                <a:latin typeface="Arial" charset="0"/>
                <a:ea typeface="宋体" pitchFamily="2" charset="-122"/>
              </a:rPr>
              <a:t>调频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>
            <a:extLst>
              <a:ext uri="{FF2B5EF4-FFF2-40B4-BE49-F238E27FC236}">
                <a16:creationId xmlns:a16="http://schemas.microsoft.com/office/drawing/2014/main" id="{8844645B-E6D4-25DB-7817-DC40F467CB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65A8735E-76F3-40B3-9B31-E77A6BC901EC}" type="slidenum">
              <a:rPr lang="en-US" altLang="zh-CN" sz="2000">
                <a:solidFill>
                  <a:schemeClr val="bg2"/>
                </a:solidFill>
              </a:rPr>
              <a:pPr/>
              <a:t>32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4819" name="Line 2">
            <a:extLst>
              <a:ext uri="{FF2B5EF4-FFF2-40B4-BE49-F238E27FC236}">
                <a16:creationId xmlns:a16="http://schemas.microsoft.com/office/drawing/2014/main" id="{2199F076-F414-E0A0-F24F-34F2C14AAF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0" name="Line 3">
            <a:extLst>
              <a:ext uri="{FF2B5EF4-FFF2-40B4-BE49-F238E27FC236}">
                <a16:creationId xmlns:a16="http://schemas.microsoft.com/office/drawing/2014/main" id="{971A05BB-8D56-5E60-18D6-4ECF80C718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1" name="Text Box 4">
            <a:extLst>
              <a:ext uri="{FF2B5EF4-FFF2-40B4-BE49-F238E27FC236}">
                <a16:creationId xmlns:a16="http://schemas.microsoft.com/office/drawing/2014/main" id="{C38DCEA0-7F86-AC01-898B-696B827BE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894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5.19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FM band allocation</a:t>
            </a:r>
          </a:p>
        </p:txBody>
      </p:sp>
      <p:sp>
        <p:nvSpPr>
          <p:cNvPr id="34822" name="Line 5">
            <a:extLst>
              <a:ext uri="{FF2B5EF4-FFF2-40B4-BE49-F238E27FC236}">
                <a16:creationId xmlns:a16="http://schemas.microsoft.com/office/drawing/2014/main" id="{21208B33-7D67-A151-BCA2-EDAF055744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4823" name="Picture 6">
            <a:extLst>
              <a:ext uri="{FF2B5EF4-FFF2-40B4-BE49-F238E27FC236}">
                <a16:creationId xmlns:a16="http://schemas.microsoft.com/office/drawing/2014/main" id="{81DF551C-D352-FE27-D6A7-0793085AC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089275"/>
            <a:ext cx="823912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>
            <a:extLst>
              <a:ext uri="{FF2B5EF4-FFF2-40B4-BE49-F238E27FC236}">
                <a16:creationId xmlns:a16="http://schemas.microsoft.com/office/drawing/2014/main" id="{17C0FC45-6410-0677-AEE0-282C1B31A7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712ADC0F-62CD-4F59-AC11-C2A91B487EF9}" type="slidenum">
              <a:rPr lang="en-US" altLang="zh-CN" sz="2000">
                <a:solidFill>
                  <a:schemeClr val="bg2"/>
                </a:solidFill>
              </a:rPr>
              <a:pPr/>
              <a:t>33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5843" name="Line 2">
            <a:extLst>
              <a:ext uri="{FF2B5EF4-FFF2-40B4-BE49-F238E27FC236}">
                <a16:creationId xmlns:a16="http://schemas.microsoft.com/office/drawing/2014/main" id="{04205248-A762-4E1D-7689-5B96FFFD4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4" name="Line 3">
            <a:extLst>
              <a:ext uri="{FF2B5EF4-FFF2-40B4-BE49-F238E27FC236}">
                <a16:creationId xmlns:a16="http://schemas.microsoft.com/office/drawing/2014/main" id="{125654C5-6855-79C9-2FE6-A56FE837A3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5" name="Text Box 4">
            <a:extLst>
              <a:ext uri="{FF2B5EF4-FFF2-40B4-BE49-F238E27FC236}">
                <a16:creationId xmlns:a16="http://schemas.microsoft.com/office/drawing/2014/main" id="{60E6EC4C-76C6-032D-EE01-6C98B43CA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703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5.20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Phase modulation</a:t>
            </a:r>
          </a:p>
        </p:txBody>
      </p:sp>
      <p:sp>
        <p:nvSpPr>
          <p:cNvPr id="35846" name="Line 5">
            <a:extLst>
              <a:ext uri="{FF2B5EF4-FFF2-40B4-BE49-F238E27FC236}">
                <a16:creationId xmlns:a16="http://schemas.microsoft.com/office/drawing/2014/main" id="{5067FA06-B749-8C5A-B9F5-66FBA3B1A5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5847" name="Picture 6">
            <a:extLst>
              <a:ext uri="{FF2B5EF4-FFF2-40B4-BE49-F238E27FC236}">
                <a16:creationId xmlns:a16="http://schemas.microsoft.com/office/drawing/2014/main" id="{91C7B3B9-D19E-5328-BF39-516D7405F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1600200"/>
            <a:ext cx="87757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7FE5BD9D-D110-6D1E-420B-410E6D18009C}"/>
              </a:ext>
            </a:extLst>
          </p:cNvPr>
          <p:cNvSpPr/>
          <p:nvPr/>
        </p:nvSpPr>
        <p:spPr bwMode="auto">
          <a:xfrm>
            <a:off x="7315200" y="192088"/>
            <a:ext cx="1524000" cy="6826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CN" altLang="en-US">
                <a:solidFill>
                  <a:schemeClr val="tx1"/>
                </a:solidFill>
                <a:latin typeface="Arial" charset="0"/>
                <a:ea typeface="宋体" pitchFamily="2" charset="-122"/>
              </a:rPr>
              <a:t>调相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>
            <a:extLst>
              <a:ext uri="{FF2B5EF4-FFF2-40B4-BE49-F238E27FC236}">
                <a16:creationId xmlns:a16="http://schemas.microsoft.com/office/drawing/2014/main" id="{757B5A88-0E91-86EF-CA19-F3A847297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EE61631E-7961-48B1-B15F-1EFE79CDAC28}" type="slidenum">
              <a:rPr lang="en-US" altLang="zh-CN" sz="2000">
                <a:solidFill>
                  <a:schemeClr val="bg2"/>
                </a:solidFill>
              </a:rPr>
              <a:pPr/>
              <a:t>34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B3A2C176-5E1C-24B9-40AC-CD145F29D28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80E8EEA5-C423-D9B8-A2DE-8D5339A671C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6779DDF8-5600-37BC-C427-68A55C1BD97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0" name="Rectangle 5">
            <a:extLst>
              <a:ext uri="{FF2B5EF4-FFF2-40B4-BE49-F238E27FC236}">
                <a16:creationId xmlns:a16="http://schemas.microsoft.com/office/drawing/2014/main" id="{D4CB2AFB-A91E-2864-1CDE-3716DD7AF7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1" name="Rectangle 6">
            <a:extLst>
              <a:ext uri="{FF2B5EF4-FFF2-40B4-BE49-F238E27FC236}">
                <a16:creationId xmlns:a16="http://schemas.microsoft.com/office/drawing/2014/main" id="{E37C4CFA-3230-842E-4708-6A141C57B79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2" name="Rectangle 7">
            <a:extLst>
              <a:ext uri="{FF2B5EF4-FFF2-40B4-BE49-F238E27FC236}">
                <a16:creationId xmlns:a16="http://schemas.microsoft.com/office/drawing/2014/main" id="{A0BCFB12-10E7-12FE-C0F0-2D6C68633F3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3" name="Rectangle 8">
            <a:extLst>
              <a:ext uri="{FF2B5EF4-FFF2-40B4-BE49-F238E27FC236}">
                <a16:creationId xmlns:a16="http://schemas.microsoft.com/office/drawing/2014/main" id="{1C9D84D5-280F-57C7-931B-139EE7C2881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4" name="Line 9">
            <a:extLst>
              <a:ext uri="{FF2B5EF4-FFF2-40B4-BE49-F238E27FC236}">
                <a16:creationId xmlns:a16="http://schemas.microsoft.com/office/drawing/2014/main" id="{5AF88F5A-2F17-103A-CA9D-A6DB06001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362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5" name="Line 10">
            <a:extLst>
              <a:ext uri="{FF2B5EF4-FFF2-40B4-BE49-F238E27FC236}">
                <a16:creationId xmlns:a16="http://schemas.microsoft.com/office/drawing/2014/main" id="{FD5993C3-7C2F-7C56-DA8C-292900299E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029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6" name="Rectangle 11">
            <a:extLst>
              <a:ext uri="{FF2B5EF4-FFF2-40B4-BE49-F238E27FC236}">
                <a16:creationId xmlns:a16="http://schemas.microsoft.com/office/drawing/2014/main" id="{BD4D2ACC-9185-EE33-FE5E-A297C3945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73363"/>
            <a:ext cx="8077200" cy="1570037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PM </a:t>
            </a:r>
            <a:r>
              <a:rPr lang="zh-CN" altLang="en-US">
                <a:ea typeface="宋体" panose="02010600030101010101" pitchFamily="2" charset="-122"/>
              </a:rPr>
              <a:t>所需的总带宽可以由调制信号的带宽和最大振幅确定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en-US" altLang="zh-CN" baseline="-25000">
                <a:ea typeface="宋体" panose="02010600030101010101" pitchFamily="2" charset="-122"/>
              </a:rPr>
              <a:t>PM</a:t>
            </a:r>
            <a:r>
              <a:rPr lang="en-US" altLang="zh-CN">
                <a:ea typeface="宋体" panose="02010600030101010101" pitchFamily="2" charset="-122"/>
              </a:rPr>
              <a:t> = 2(1 + β)B.</a:t>
            </a:r>
          </a:p>
        </p:txBody>
      </p:sp>
      <p:grpSp>
        <p:nvGrpSpPr>
          <p:cNvPr id="36877" name="Group 12">
            <a:extLst>
              <a:ext uri="{FF2B5EF4-FFF2-40B4-BE49-F238E27FC236}">
                <a16:creationId xmlns:a16="http://schemas.microsoft.com/office/drawing/2014/main" id="{CBF7A3CC-7793-8B5C-A6F9-FE27C7B59E6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752600"/>
            <a:ext cx="1143000" cy="566738"/>
            <a:chOff x="1200" y="1248"/>
            <a:chExt cx="720" cy="357"/>
          </a:xfrm>
        </p:grpSpPr>
        <p:pic>
          <p:nvPicPr>
            <p:cNvPr id="36878" name="Picture 13">
              <a:extLst>
                <a:ext uri="{FF2B5EF4-FFF2-40B4-BE49-F238E27FC236}">
                  <a16:creationId xmlns:a16="http://schemas.microsoft.com/office/drawing/2014/main" id="{07E288DA-3147-7201-56D1-0D9BCBCBF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9" name="Text Box 14">
              <a:extLst>
                <a:ext uri="{FF2B5EF4-FFF2-40B4-BE49-F238E27FC236}">
                  <a16:creationId xmlns:a16="http://schemas.microsoft.com/office/drawing/2014/main" id="{2B740DCC-8A8B-060E-7D14-D2E1B1571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>
            <a:extLst>
              <a:ext uri="{FF2B5EF4-FFF2-40B4-BE49-F238E27FC236}">
                <a16:creationId xmlns:a16="http://schemas.microsoft.com/office/drawing/2014/main" id="{1A330E1F-9D63-700D-0C6A-0BE4E2589DD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作业：</a:t>
            </a:r>
          </a:p>
        </p:txBody>
      </p:sp>
      <p:sp>
        <p:nvSpPr>
          <p:cNvPr id="37891" name="内容占位符 2">
            <a:extLst>
              <a:ext uri="{FF2B5EF4-FFF2-40B4-BE49-F238E27FC236}">
                <a16:creationId xmlns:a16="http://schemas.microsoft.com/office/drawing/2014/main" id="{AEBBDC47-57C4-6F90-4C76-4937AC1BDC2B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P103</a:t>
            </a:r>
            <a:r>
              <a:rPr lang="zh-CN" altLang="en-US">
                <a:ea typeface="宋体" panose="02010600030101010101" pitchFamily="2" charset="-122"/>
              </a:rPr>
              <a:t>页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11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13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17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18</a:t>
            </a: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892" name="灯片编号占位符 3">
            <a:extLst>
              <a:ext uri="{FF2B5EF4-FFF2-40B4-BE49-F238E27FC236}">
                <a16:creationId xmlns:a16="http://schemas.microsoft.com/office/drawing/2014/main" id="{237D3556-0B54-C794-5A18-97E92D560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5.</a:t>
            </a:r>
            <a:fld id="{34D2FF2E-39DD-41A3-BC2B-3DF9227D78A0}" type="slidenum">
              <a:rPr lang="en-US" altLang="zh-CN" sz="2000">
                <a:solidFill>
                  <a:schemeClr val="bg2"/>
                </a:solidFill>
              </a:rPr>
              <a:pPr/>
              <a:t>35</a:t>
            </a:fld>
            <a:endParaRPr lang="en-US" altLang="zh-CN" sz="200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2619</TotalTime>
  <Words>1163</Words>
  <Application>Microsoft Office PowerPoint</Application>
  <PresentationFormat>全屏显示(4:3)</PresentationFormat>
  <Paragraphs>134</Paragraphs>
  <Slides>35</Slides>
  <Notes>34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Arial</vt:lpstr>
      <vt:lpstr>Tahoma</vt:lpstr>
      <vt:lpstr>Wingdings</vt:lpstr>
      <vt:lpstr>Times New Roman</vt:lpstr>
      <vt:lpstr>宋体</vt:lpstr>
      <vt:lpstr>McGrawHill-Italic</vt:lpstr>
      <vt:lpstr>Times</vt:lpstr>
      <vt:lpstr>Blends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浩嘉 申</cp:lastModifiedBy>
  <cp:revision>173</cp:revision>
  <dcterms:created xsi:type="dcterms:W3CDTF">2000-01-15T04:50:39Z</dcterms:created>
  <dcterms:modified xsi:type="dcterms:W3CDTF">2026-06-02T07:11:59Z</dcterms:modified>
</cp:coreProperties>
</file>