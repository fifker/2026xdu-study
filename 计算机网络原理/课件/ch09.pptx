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39"/>
  </p:notesMasterIdLst>
  <p:sldIdLst>
    <p:sldId id="782" r:id="rId2"/>
    <p:sldId id="535" r:id="rId3"/>
    <p:sldId id="781" r:id="rId4"/>
    <p:sldId id="768" r:id="rId5"/>
    <p:sldId id="751" r:id="rId6"/>
    <p:sldId id="752" r:id="rId7"/>
    <p:sldId id="769" r:id="rId8"/>
    <p:sldId id="753" r:id="rId9"/>
    <p:sldId id="754" r:id="rId10"/>
    <p:sldId id="746" r:id="rId11"/>
    <p:sldId id="755" r:id="rId12"/>
    <p:sldId id="770" r:id="rId13"/>
    <p:sldId id="756" r:id="rId14"/>
    <p:sldId id="757" r:id="rId15"/>
    <p:sldId id="758" r:id="rId16"/>
    <p:sldId id="747" r:id="rId17"/>
    <p:sldId id="771" r:id="rId18"/>
    <p:sldId id="772" r:id="rId19"/>
    <p:sldId id="773" r:id="rId20"/>
    <p:sldId id="759" r:id="rId21"/>
    <p:sldId id="760" r:id="rId22"/>
    <p:sldId id="761" r:id="rId23"/>
    <p:sldId id="762" r:id="rId24"/>
    <p:sldId id="780" r:id="rId25"/>
    <p:sldId id="748" r:id="rId26"/>
    <p:sldId id="763" r:id="rId27"/>
    <p:sldId id="774" r:id="rId28"/>
    <p:sldId id="764" r:id="rId29"/>
    <p:sldId id="775" r:id="rId30"/>
    <p:sldId id="749" r:id="rId31"/>
    <p:sldId id="765" r:id="rId32"/>
    <p:sldId id="776" r:id="rId33"/>
    <p:sldId id="777" r:id="rId34"/>
    <p:sldId id="778" r:id="rId35"/>
    <p:sldId id="779" r:id="rId36"/>
    <p:sldId id="766" r:id="rId37"/>
    <p:sldId id="767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CCFFFF"/>
    <a:srgbClr val="66CCFF"/>
    <a:srgbClr val="66FF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A615D01-C747-B9C4-8BC8-47FB2401CB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733478A-671A-3DB5-7451-A5653E6B53E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652FF9E5-5B03-7EB6-AE0C-73B95A68CFEE}"/>
              </a:ext>
            </a:extLst>
          </p:cNvPr>
          <p:cNvSpPr>
            <a:spLocks noGrp="1" noRo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A8B1A01C-4434-F269-5B47-EF165C16087A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5E32FAE-AEC3-4D22-2E1D-95248B29D10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437A87D-B636-195F-34E0-15120B3BE4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CC90E6C3-973C-4BD3-BDEE-51782A450CE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0ABC64-4939-4D65-E362-EEBEA39B14E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A183EE0-9E83-E4C2-F0DD-5364F781F2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68"/>
              <a:ext cx="449" cy="299"/>
              <a:chOff x="0" y="0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8CBD12C-AA2C-4522-51B8-704BF2C36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7B2BD59D-6642-68DE-FEC9-A78364858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26B078F-6688-85D1-72D1-95CCEBAE6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334"/>
              <a:ext cx="466" cy="299"/>
              <a:chOff x="0" y="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59BCECE-ADBC-ED30-F682-4EEEC3598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D43F1F3-5592-CD53-013C-846AC803F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5B5E9FF-1DBD-6E5A-FFFD-0D394AA47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ECBDD594-F970-D09B-D7DE-033C9A2B7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CBE2E896-75B2-E3DE-F8C9-B53D05E9F4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706CE21D-0F87-9506-B16B-F667DAF777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b="0">
                <a:latin typeface="McGrawHill-Italic" pitchFamily="2" charset="0"/>
                <a:ea typeface="宋体" panose="02010600030101010101" pitchFamily="2" charset="-122"/>
              </a:rPr>
              <a:t>McGraw-Hill</a:t>
            </a:r>
            <a:endParaRPr lang="en-US" altLang="zh-CN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D7D28018-9E0F-2384-3F6C-9A3A7CB216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 typeface="Arial" panose="020B0604020202020204" pitchFamily="34" charset="0"/>
              <a:buChar char="©"/>
            </a:pPr>
            <a:r>
              <a:rPr lang="en-US" altLang="zh-CN" sz="1400" b="0">
                <a:latin typeface="McGrawHill-Italic" pitchFamily="2" charset="0"/>
                <a:ea typeface="宋体" panose="02010600030101010101" pitchFamily="2" charset="-122"/>
              </a:rPr>
              <a:t>The McGraw-Hill Companies, Inc., 2000</a:t>
            </a:r>
            <a:endParaRPr lang="en-US" altLang="zh-CN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3C643AA3-8913-D80F-7769-D7366DB7CD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smtClean="0">
                <a:solidFill>
                  <a:schemeClr val="bg2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FB4A304E-73DA-E432-47DA-7F0D61FD2C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smtClean="0">
                <a:solidFill>
                  <a:schemeClr val="bg2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DCF411-7A63-892E-3A9A-D443FB26C0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F75583AE-D257-4059-A659-9720B03CA4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174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49B5E0E-C082-F17C-3DF2-83EA738D55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EE8045A4-CE5E-457A-9190-DCBE83D046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005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3ADA021-9BAF-ACC4-9536-BFE8770848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FABAF3F8-C717-4D40-B75F-49C33DE308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3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037E82-4F2B-1C24-F5A0-91508AA95EA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930A2B15-25B7-4644-95D8-CAE49B4F14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498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DD21053-B5DA-3861-2D57-26C9BB7D38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3766F34B-1E0F-41C9-8A91-176F54F3F6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00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33B3D6-BE6F-D6F1-7A53-6CA038A3AA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59CE585B-06A0-479E-B39B-CA5CAB4C29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4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D575323-BBE5-FC88-984C-C288CE15F4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7A1CB61F-B015-496E-A844-FB1DEF8981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139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2F3CD5-40FC-8C5D-C79B-7B6B0C4260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A34CDCD7-8394-4AA5-9004-97424B4432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979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1280FD-8E14-36C3-D7E0-7D64028DFB5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E96CACAC-D4D3-4DAC-9BDF-591F311E96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69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3358A01-67FC-82B7-6B18-27DCC77E2E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7004984C-2E16-4DBD-B634-99488A48FC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2103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D276FF-0691-0F21-23AC-1E4C11831E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7901F18E-5962-47BA-AFD3-A776508FC9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184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3B15D2-C05D-F505-064F-F02DC46F1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9.</a:t>
            </a:r>
            <a:fld id="{90E765AE-1347-4B2A-9F7F-919F1C2849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895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38EECDD-0E17-D8F6-F92E-601EF935F8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9.</a:t>
            </a:r>
            <a:fld id="{C649DD76-607D-4E2F-889D-7EB1EFF543C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2">
            <a:extLst>
              <a:ext uri="{FF2B5EF4-FFF2-40B4-BE49-F238E27FC236}">
                <a16:creationId xmlns:a16="http://schemas.microsoft.com/office/drawing/2014/main" id="{9BABCC4E-3F56-B27F-DAA7-BE3DAF507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59CA9278-99DF-48A8-8FB3-6E58DF7849A0}" type="slidenum">
              <a:rPr lang="en-US" altLang="zh-CN" sz="2000">
                <a:solidFill>
                  <a:schemeClr val="bg2"/>
                </a:solidFill>
              </a:rPr>
              <a:pPr/>
              <a:t>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pic>
        <p:nvPicPr>
          <p:cNvPr id="3075" name="Picture 2" descr="Forouzan4e07_banner">
            <a:extLst>
              <a:ext uri="{FF2B5EF4-FFF2-40B4-BE49-F238E27FC236}">
                <a16:creationId xmlns:a16="http://schemas.microsoft.com/office/drawing/2014/main" id="{7782C310-8E53-829D-84F9-F30AA477076E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3">
            <a:extLst>
              <a:ext uri="{FF2B5EF4-FFF2-40B4-BE49-F238E27FC236}">
                <a16:creationId xmlns:a16="http://schemas.microsoft.com/office/drawing/2014/main" id="{6A38E113-C22C-B4D7-9D9C-330BB46FE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4400">
                <a:solidFill>
                  <a:schemeClr val="tx2"/>
                </a:solidFill>
                <a:ea typeface="宋体" panose="02010600030101010101" pitchFamily="2" charset="-122"/>
              </a:rPr>
              <a:t>9</a:t>
            </a:r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章</a:t>
            </a:r>
          </a:p>
          <a:p>
            <a:pPr algn="ctr"/>
            <a:endParaRPr lang="zh-CN" altLang="en-US" sz="200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使用电话网和有线电视网进行数据传输</a:t>
            </a:r>
          </a:p>
        </p:txBody>
      </p:sp>
      <p:sp>
        <p:nvSpPr>
          <p:cNvPr id="3077" name="Text Box 4">
            <a:extLst>
              <a:ext uri="{FF2B5EF4-FFF2-40B4-BE49-F238E27FC236}">
                <a16:creationId xmlns:a16="http://schemas.microsoft.com/office/drawing/2014/main" id="{8FF442C0-26EB-72AD-5EC3-64892BED8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>
            <a:extLst>
              <a:ext uri="{FF2B5EF4-FFF2-40B4-BE49-F238E27FC236}">
                <a16:creationId xmlns:a16="http://schemas.microsoft.com/office/drawing/2014/main" id="{65B28D5D-CF1C-8BD1-39D0-E079C8E9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E254FBDD-9FCC-4010-A4DB-A51E4EB49187}" type="slidenum">
              <a:rPr lang="en-US" altLang="zh-CN" sz="2000">
                <a:solidFill>
                  <a:schemeClr val="bg2"/>
                </a:solidFill>
              </a:rPr>
              <a:pPr/>
              <a:t>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6AE0ED81-2B94-5A83-5BA5-129220815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A32200A6-0A96-E8B0-A502-1B6F3A210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8308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9-1   TELEPHONE NETWORK</a:t>
            </a: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974EFD6E-5F4F-0F9A-EE0E-784C5C66C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D10EE408-0B04-ECFF-0F2B-81EB27D58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58938"/>
            <a:ext cx="8229600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Telephone networks use circuit switching. The telephone network had its beginnings in the late 1800s. The entire network, which is referred to as the </a:t>
            </a:r>
            <a:r>
              <a:rPr lang="en-US" altLang="zh-CN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plain old telephone system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POTS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), was originally an analog system using analog signals to transmit voice.</a:t>
            </a:r>
          </a:p>
        </p:txBody>
      </p:sp>
      <p:sp>
        <p:nvSpPr>
          <p:cNvPr id="4103" name="Rectangle 6">
            <a:extLst>
              <a:ext uri="{FF2B5EF4-FFF2-40B4-BE49-F238E27FC236}">
                <a16:creationId xmlns:a16="http://schemas.microsoft.com/office/drawing/2014/main" id="{1F2890C3-4FA3-FD83-D317-C60E1080B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Major Components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LATAs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Signaling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Services Provided by Telephone Networks</a:t>
            </a:r>
          </a:p>
        </p:txBody>
      </p:sp>
      <p:sp>
        <p:nvSpPr>
          <p:cNvPr id="5127" name="Text Box 7">
            <a:extLst>
              <a:ext uri="{FF2B5EF4-FFF2-40B4-BE49-F238E27FC236}">
                <a16:creationId xmlns:a16="http://schemas.microsoft.com/office/drawing/2014/main" id="{CDEB07CB-90B2-8F05-0828-BC18BF544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D7305C4D-1CEC-6519-307A-526518BD6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E1A43C0E-5C25-4E3A-A08B-EB3433509097}" type="slidenum">
              <a:rPr lang="en-US" altLang="zh-CN" sz="2000">
                <a:solidFill>
                  <a:schemeClr val="bg2"/>
                </a:solidFill>
              </a:rPr>
              <a:pPr/>
              <a:t>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123" name="Line 2">
            <a:extLst>
              <a:ext uri="{FF2B5EF4-FFF2-40B4-BE49-F238E27FC236}">
                <a16:creationId xmlns:a16="http://schemas.microsoft.com/office/drawing/2014/main" id="{F2E37E34-5E40-3A83-1811-98D866994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Line 3">
            <a:extLst>
              <a:ext uri="{FF2B5EF4-FFF2-40B4-BE49-F238E27FC236}">
                <a16:creationId xmlns:a16="http://schemas.microsoft.com/office/drawing/2014/main" id="{3D77E1F4-5F6A-51A4-F7D8-15753C0755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D136CC68-D078-D502-A97C-701665E7E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65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 telephone system</a:t>
            </a:r>
          </a:p>
        </p:txBody>
      </p:sp>
      <p:sp>
        <p:nvSpPr>
          <p:cNvPr id="5126" name="Line 5">
            <a:extLst>
              <a:ext uri="{FF2B5EF4-FFF2-40B4-BE49-F238E27FC236}">
                <a16:creationId xmlns:a16="http://schemas.microsoft.com/office/drawing/2014/main" id="{EE82BCB7-4613-27E9-4135-F9EA26381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7" name="Picture 6">
            <a:extLst>
              <a:ext uri="{FF2B5EF4-FFF2-40B4-BE49-F238E27FC236}">
                <a16:creationId xmlns:a16="http://schemas.microsoft.com/office/drawing/2014/main" id="{748E9023-5376-BD50-7D82-CDA3CE580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941513"/>
            <a:ext cx="8766175" cy="263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57DA3340-8CB8-BD4F-F475-F32A0175C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1408EB8E-E925-429A-9F97-D2FCE411ECD1}" type="slidenum">
              <a:rPr lang="en-US" altLang="zh-CN" sz="2000">
                <a:solidFill>
                  <a:schemeClr val="bg2"/>
                </a:solidFill>
              </a:rPr>
              <a:pPr/>
              <a:t>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147" name="Line 2">
            <a:extLst>
              <a:ext uri="{FF2B5EF4-FFF2-40B4-BE49-F238E27FC236}">
                <a16:creationId xmlns:a16="http://schemas.microsoft.com/office/drawing/2014/main" id="{DAB232DA-54AB-CCAC-EA7C-BA1A98CFF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90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3">
            <a:extLst>
              <a:ext uri="{FF2B5EF4-FFF2-40B4-BE49-F238E27FC236}">
                <a16:creationId xmlns:a16="http://schemas.microsoft.com/office/drawing/2014/main" id="{60E56DD6-EFB8-6CF2-7206-056114CFE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105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45C97667-69E0-4EFB-ACE8-A31C3AB7E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982788"/>
            <a:ext cx="8077200" cy="30162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Intra-LATA services are provided by local exchange carriers.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Since 1996, there are two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types of LECs: incumbent local exchange carriers and competitive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local exchange carriers.</a:t>
            </a:r>
          </a:p>
        </p:txBody>
      </p:sp>
      <p:grpSp>
        <p:nvGrpSpPr>
          <p:cNvPr id="6150" name="Group 5">
            <a:extLst>
              <a:ext uri="{FF2B5EF4-FFF2-40B4-BE49-F238E27FC236}">
                <a16:creationId xmlns:a16="http://schemas.microsoft.com/office/drawing/2014/main" id="{F2531EA7-2AED-0F8D-FEBB-56280DEE176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204913"/>
            <a:ext cx="1143000" cy="566737"/>
            <a:chOff x="0" y="0"/>
            <a:chExt cx="720" cy="357"/>
          </a:xfrm>
        </p:grpSpPr>
        <p:pic>
          <p:nvPicPr>
            <p:cNvPr id="6158" name="Picture 6">
              <a:extLst>
                <a:ext uri="{FF2B5EF4-FFF2-40B4-BE49-F238E27FC236}">
                  <a16:creationId xmlns:a16="http://schemas.microsoft.com/office/drawing/2014/main" id="{2EF1E485-5E69-837D-87C0-E750ACE07B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9" name="Text Box 7">
              <a:extLst>
                <a:ext uri="{FF2B5EF4-FFF2-40B4-BE49-F238E27FC236}">
                  <a16:creationId xmlns:a16="http://schemas.microsoft.com/office/drawing/2014/main" id="{4D252EC7-3685-A518-D55A-22FCAD2AD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  <p:sp>
        <p:nvSpPr>
          <p:cNvPr id="6151" name="Rectangle 8">
            <a:extLst>
              <a:ext uri="{FF2B5EF4-FFF2-40B4-BE49-F238E27FC236}">
                <a16:creationId xmlns:a16="http://schemas.microsoft.com/office/drawing/2014/main" id="{8EF2B451-E334-C23E-9B30-CDCB29599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Rectangle 9">
            <a:extLst>
              <a:ext uri="{FF2B5EF4-FFF2-40B4-BE49-F238E27FC236}">
                <a16:creationId xmlns:a16="http://schemas.microsoft.com/office/drawing/2014/main" id="{8763387F-B89B-0D05-52FF-FDD0A2AAB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Rectangle 10">
            <a:extLst>
              <a:ext uri="{FF2B5EF4-FFF2-40B4-BE49-F238E27FC236}">
                <a16:creationId xmlns:a16="http://schemas.microsoft.com/office/drawing/2014/main" id="{014482BD-D51D-5565-2395-2F6E4DF26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4" name="Rectangle 11">
            <a:extLst>
              <a:ext uri="{FF2B5EF4-FFF2-40B4-BE49-F238E27FC236}">
                <a16:creationId xmlns:a16="http://schemas.microsoft.com/office/drawing/2014/main" id="{613AFB67-CCA5-FFEA-4482-7CF195002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5" name="Rectangle 12">
            <a:extLst>
              <a:ext uri="{FF2B5EF4-FFF2-40B4-BE49-F238E27FC236}">
                <a16:creationId xmlns:a16="http://schemas.microsoft.com/office/drawing/2014/main" id="{4B5BD3F0-16D2-2AB1-03DB-1336B28A1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6" name="Rectangle 13">
            <a:extLst>
              <a:ext uri="{FF2B5EF4-FFF2-40B4-BE49-F238E27FC236}">
                <a16:creationId xmlns:a16="http://schemas.microsoft.com/office/drawing/2014/main" id="{CFF80D9A-FE79-D897-0C2E-20F7B3E6C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7" name="Rectangle 14">
            <a:extLst>
              <a:ext uri="{FF2B5EF4-FFF2-40B4-BE49-F238E27FC236}">
                <a16:creationId xmlns:a16="http://schemas.microsoft.com/office/drawing/2014/main" id="{8EFF916B-5512-5B4F-0995-CE496290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A4722411-90EF-B891-5516-04F931A6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CE16E2AA-2662-45AF-B6B0-38DBEDEE56CE}" type="slidenum">
              <a:rPr lang="en-US" altLang="zh-CN" sz="2000">
                <a:solidFill>
                  <a:schemeClr val="bg2"/>
                </a:solidFill>
              </a:rPr>
              <a:pPr/>
              <a:t>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7F0ABBFA-B255-64F8-AD9C-760196EDF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551CA90C-04BD-37A5-353B-6BB002F19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A7B80A76-D3A4-6CB1-7275-60D287BAC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630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Switching offices in a LATA</a:t>
            </a: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2005377A-F6C2-8E87-BA6E-FB1F71DAA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6">
            <a:extLst>
              <a:ext uri="{FF2B5EF4-FFF2-40B4-BE49-F238E27FC236}">
                <a16:creationId xmlns:a16="http://schemas.microsoft.com/office/drawing/2014/main" id="{01ADC92C-8F49-F680-48A8-C8F228600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2135188"/>
            <a:ext cx="8593137" cy="283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C612F21D-FAB9-6D0B-D3B9-B3CF4314F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B71256DC-0122-4F02-8C08-05EBF51341D6}" type="slidenum">
              <a:rPr lang="en-US" altLang="zh-CN" sz="2000">
                <a:solidFill>
                  <a:schemeClr val="bg2"/>
                </a:solidFill>
              </a:rPr>
              <a:pPr/>
              <a:t>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3610B734-31A6-C759-D6E9-45EC14431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6E4ACD38-D7DB-CA27-7F6F-2FB73767C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94A27320-9496-9CC6-48E8-D2D02AC48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97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Point of presences (POPs)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348F8B2E-6EAF-B41C-E12F-5F8760AFD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9" name="Picture 6">
            <a:extLst>
              <a:ext uri="{FF2B5EF4-FFF2-40B4-BE49-F238E27FC236}">
                <a16:creationId xmlns:a16="http://schemas.microsoft.com/office/drawing/2014/main" id="{6F00B8EB-D3F6-720A-298E-DE4F3E2F8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1752600"/>
            <a:ext cx="6846887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750C4C74-1FD4-D114-B358-41BF5D5E2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3E68D7C2-981C-414F-A16B-D6F5E30AC261}" type="slidenum">
              <a:rPr lang="en-US" altLang="zh-CN" sz="2000">
                <a:solidFill>
                  <a:schemeClr val="bg2"/>
                </a:solidFill>
              </a:rPr>
              <a:pPr/>
              <a:t>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E30759D-C94E-C983-D392-312A2BDD4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0B3C768-6890-0552-D5E7-9EC4290D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7A7F6D43-D617-9EBA-9604-9F450F3B7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A6B8BCD4-D271-5C3C-B905-363808F61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327F54EB-134C-47F4-59D0-69CCCCA5A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5DB1EF33-7740-C14E-F151-7DA91CCF6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8BA3CEDB-882B-0752-59FC-D8C598467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6" name="Line 9">
            <a:extLst>
              <a:ext uri="{FF2B5EF4-FFF2-40B4-BE49-F238E27FC236}">
                <a16:creationId xmlns:a16="http://schemas.microsoft.com/office/drawing/2014/main" id="{C3D07087-AC41-53BE-E244-E9ACA0492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209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10">
            <a:extLst>
              <a:ext uri="{FF2B5EF4-FFF2-40B4-BE49-F238E27FC236}">
                <a16:creationId xmlns:a16="http://schemas.microsoft.com/office/drawing/2014/main" id="{1C6B0961-EC38-7692-1E42-5B3D53CBA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71667A08-EE15-3C53-FDCD-EAD1E1A9C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3018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The tasks of data transfer and signaling are separated in modern telephone networks: data transfer is done by one network, signaling by another.</a:t>
            </a:r>
          </a:p>
        </p:txBody>
      </p:sp>
      <p:grpSp>
        <p:nvGrpSpPr>
          <p:cNvPr id="9229" name="Group 12">
            <a:extLst>
              <a:ext uri="{FF2B5EF4-FFF2-40B4-BE49-F238E27FC236}">
                <a16:creationId xmlns:a16="http://schemas.microsoft.com/office/drawing/2014/main" id="{C3B42443-F8DE-48F1-60C9-524C59DDEC7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566863"/>
            <a:ext cx="1143000" cy="566737"/>
            <a:chOff x="0" y="0"/>
            <a:chExt cx="720" cy="357"/>
          </a:xfrm>
        </p:grpSpPr>
        <p:pic>
          <p:nvPicPr>
            <p:cNvPr id="9230" name="Picture 13">
              <a:extLst>
                <a:ext uri="{FF2B5EF4-FFF2-40B4-BE49-F238E27FC236}">
                  <a16:creationId xmlns:a16="http://schemas.microsoft.com/office/drawing/2014/main" id="{1512823F-F974-018B-E84A-188604215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 Box 14">
              <a:extLst>
                <a:ext uri="{FF2B5EF4-FFF2-40B4-BE49-F238E27FC236}">
                  <a16:creationId xmlns:a16="http://schemas.microsoft.com/office/drawing/2014/main" id="{88F9B760-8927-FBF6-C417-FE31C8212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61FD548F-79BA-1C04-F552-859B42A778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4C5F0493-E344-40BD-8CE2-8DDAF08014C8}" type="slidenum">
              <a:rPr lang="en-US" altLang="zh-CN" sz="2000">
                <a:solidFill>
                  <a:schemeClr val="bg2"/>
                </a:solidFill>
              </a:rPr>
              <a:pPr/>
              <a:t>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0289A8BC-5AAB-0AA1-D9AF-3CDD8AA8A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32CBE69D-A9B8-A0DC-6619-66F23C737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A79ECA78-EBEB-CCA4-B790-87312958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55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Data transfer and signaling networks</a:t>
            </a: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DE975870-4F64-5DE1-6F47-0AA2F30A0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F4F4BF03-E29A-600B-0718-A9EF48523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744663"/>
            <a:ext cx="8089900" cy="389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C38E8614-225F-2425-9879-9C326A4C3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AC864725-BAEE-40CA-B198-3193E64B8BD8}" type="slidenum">
              <a:rPr lang="en-US" altLang="zh-CN" sz="2000">
                <a:solidFill>
                  <a:schemeClr val="bg2"/>
                </a:solidFill>
              </a:rPr>
              <a:pPr/>
              <a:t>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7E305E5F-8454-CE0C-39F9-F522CDDF2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D8C98293-6EFD-EBCB-E131-D536A4CEB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ED254959-0F1D-B562-77A0-61EB84E7E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0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Layers in SS7</a:t>
            </a: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A372552C-2FE8-F7C3-9C6F-2A2F5841D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6">
            <a:extLst>
              <a:ext uri="{FF2B5EF4-FFF2-40B4-BE49-F238E27FC236}">
                <a16:creationId xmlns:a16="http://schemas.microsoft.com/office/drawing/2014/main" id="{5EC6811B-1EBE-0A67-EA31-A18F19DE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2001838"/>
            <a:ext cx="8547100" cy="363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3673264A-F4E6-B330-2D52-9C7163CA3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46E9A762-8B36-4767-B541-78206F639D7D}" type="slidenum">
              <a:rPr lang="en-US" altLang="zh-CN" sz="2000">
                <a:solidFill>
                  <a:schemeClr val="bg2"/>
                </a:solidFill>
              </a:rPr>
              <a:pPr/>
              <a:t>10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42E35680-76FB-09FE-B682-8A36AB353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78BB7C47-3384-B620-3511-C1303CEA1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873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</a:rPr>
              <a:t>9-2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电话调制解调器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004B7DE3-F827-ED63-8375-DFCB1E9E6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4478B2C5-A83A-73FC-C360-773540073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44650"/>
            <a:ext cx="8229600" cy="179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   传统的电话线路可以传送频率范围是300~3300Hz的信号，提供给信号的带宽是3000Hz。整个频率范围用于传输语音，在不丢失可识别性的情况下，有一些干扰和失真是可以接受的。</a:t>
            </a: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3D3B06B2-2760-5386-D8B3-B45D6C83D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006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调制解调器标准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1D63857C-8C11-74FE-63D0-67911732F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91000"/>
            <a:ext cx="2790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本节讨论的主题</a:t>
            </a: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32988676-CE59-8203-7ACA-12666DDEB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C7B78B5D-A8AF-4BD7-93CC-BF46ABDEEBC7}" type="slidenum">
              <a:rPr lang="en-US" altLang="zh-CN" sz="2000">
                <a:solidFill>
                  <a:schemeClr val="bg2"/>
                </a:solidFill>
              </a:rPr>
              <a:pPr/>
              <a:t>11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002E2993-6AD0-8BA8-9F0F-058A78CB8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189BD262-0717-E3B3-5835-57F1C6BF0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C88C80C8-644C-171D-917C-AC0BA153A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620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9.6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电话线路带宽</a:t>
            </a: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CF171898-8D3F-1639-6972-3BDA33A1A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96C4AE90-CD4C-691F-B1CB-646B0F44C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2376488"/>
            <a:ext cx="8116887" cy="272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8E11E115-B72D-016E-E95B-1A54E46420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11980B75-B7EA-483A-9036-15B880732695}" type="slidenum">
              <a:rPr lang="en-US" altLang="zh-CN" sz="2000">
                <a:solidFill>
                  <a:schemeClr val="bg2"/>
                </a:solidFill>
              </a:rPr>
              <a:pPr/>
              <a:t>12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EBDB1D1-BFFE-4B6F-6BB3-6EA5B58B6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1369765-96DB-82D6-700E-B7BEE855A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B947BB4E-D9AE-2B9D-A385-1417BF7FC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BBD3DB24-CDD2-9B02-97F0-BEC0ADB66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2D1C5196-3539-4C71-1A7F-3BE5CB0C0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49DE6DFD-66EF-FAF2-F985-B136C98B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5" name="Rectangle 8">
            <a:extLst>
              <a:ext uri="{FF2B5EF4-FFF2-40B4-BE49-F238E27FC236}">
                <a16:creationId xmlns:a16="http://schemas.microsoft.com/office/drawing/2014/main" id="{06E4B6B9-1725-A9AE-0A69-0DE830BDF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6" name="Line 9">
            <a:extLst>
              <a:ext uri="{FF2B5EF4-FFF2-40B4-BE49-F238E27FC236}">
                <a16:creationId xmlns:a16="http://schemas.microsoft.com/office/drawing/2014/main" id="{41495502-26DF-B9DD-D20F-B723BF2FEE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0">
            <a:extLst>
              <a:ext uri="{FF2B5EF4-FFF2-40B4-BE49-F238E27FC236}">
                <a16:creationId xmlns:a16="http://schemas.microsoft.com/office/drawing/2014/main" id="{1BBB6127-6C90-3EEE-7FED-C26932E23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8" name="Rectangle 11">
            <a:extLst>
              <a:ext uri="{FF2B5EF4-FFF2-40B4-BE49-F238E27FC236}">
                <a16:creationId xmlns:a16="http://schemas.microsoft.com/office/drawing/2014/main" id="{01C43FFF-6582-80E3-D572-2B790B94E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solidFill>
                  <a:schemeClr val="hlink"/>
                </a:solidFill>
                <a:ea typeface="宋体" panose="02010600030101010101" pitchFamily="2" charset="-122"/>
              </a:rPr>
              <a:t>调制解调器</a:t>
            </a: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代表调制器/解调器。</a:t>
            </a:r>
          </a:p>
        </p:txBody>
      </p:sp>
      <p:grpSp>
        <p:nvGrpSpPr>
          <p:cNvPr id="14349" name="Group 12">
            <a:extLst>
              <a:ext uri="{FF2B5EF4-FFF2-40B4-BE49-F238E27FC236}">
                <a16:creationId xmlns:a16="http://schemas.microsoft.com/office/drawing/2014/main" id="{03D08BFD-C7F1-E211-51DA-20B5BA07FAB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14350" name="Picture 13">
              <a:extLst>
                <a:ext uri="{FF2B5EF4-FFF2-40B4-BE49-F238E27FC236}">
                  <a16:creationId xmlns:a16="http://schemas.microsoft.com/office/drawing/2014/main" id="{48EE2009-B79E-1179-5A93-2B1779D38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1" name="Text Box 14">
              <a:extLst>
                <a:ext uri="{FF2B5EF4-FFF2-40B4-BE49-F238E27FC236}">
                  <a16:creationId xmlns:a16="http://schemas.microsoft.com/office/drawing/2014/main" id="{04626964-2E86-8364-108B-7CACBE402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A559E88C-D0F0-EFE7-8902-0A4F3BBFF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9AE69472-306F-4CFC-B910-FAE9E9DA640C}" type="slidenum">
              <a:rPr lang="en-US" altLang="zh-CN" sz="2000">
                <a:solidFill>
                  <a:schemeClr val="bg2"/>
                </a:solidFill>
              </a:rPr>
              <a:pPr/>
              <a:t>13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363" name="Line 2">
            <a:extLst>
              <a:ext uri="{FF2B5EF4-FFF2-40B4-BE49-F238E27FC236}">
                <a16:creationId xmlns:a16="http://schemas.microsoft.com/office/drawing/2014/main" id="{B6187113-B153-6077-F3FF-A843EACDC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Line 3">
            <a:extLst>
              <a:ext uri="{FF2B5EF4-FFF2-40B4-BE49-F238E27FC236}">
                <a16:creationId xmlns:a16="http://schemas.microsoft.com/office/drawing/2014/main" id="{C4FD1E78-B644-6DFF-78CE-AD01EAC89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211EA23B-DE9C-034E-F386-91562C1B9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690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9.7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调制器/解调器</a:t>
            </a:r>
          </a:p>
        </p:txBody>
      </p:sp>
      <p:sp>
        <p:nvSpPr>
          <p:cNvPr id="15366" name="Line 5">
            <a:extLst>
              <a:ext uri="{FF2B5EF4-FFF2-40B4-BE49-F238E27FC236}">
                <a16:creationId xmlns:a16="http://schemas.microsoft.com/office/drawing/2014/main" id="{4E35B6CC-DC2C-5156-E419-814D197B3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7" name="Picture 6">
            <a:extLst>
              <a:ext uri="{FF2B5EF4-FFF2-40B4-BE49-F238E27FC236}">
                <a16:creationId xmlns:a16="http://schemas.microsoft.com/office/drawing/2014/main" id="{CB0365A0-92CE-5E3F-4DFB-662B2747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00338"/>
            <a:ext cx="8418513" cy="171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8" name="Text Box 7">
            <a:extLst>
              <a:ext uri="{FF2B5EF4-FFF2-40B4-BE49-F238E27FC236}">
                <a16:creationId xmlns:a16="http://schemas.microsoft.com/office/drawing/2014/main" id="{FE59D172-C174-4387-5580-E17E7ED09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2859088"/>
            <a:ext cx="2181225" cy="334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600">
                <a:ea typeface="宋体" panose="02010600030101010101" pitchFamily="2" charset="-122"/>
              </a:rPr>
              <a:t>TELCO：电话公司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04E27E57-AA0C-E9AB-96CB-4355DFC57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4DE6EAB2-DD83-4D09-BC0C-70B2BD56EDC2}" type="slidenum">
              <a:rPr lang="en-US" altLang="zh-CN" sz="2000">
                <a:solidFill>
                  <a:schemeClr val="bg2"/>
                </a:solidFill>
              </a:rPr>
              <a:pPr/>
              <a:t>14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6387" name="Line 2">
            <a:extLst>
              <a:ext uri="{FF2B5EF4-FFF2-40B4-BE49-F238E27FC236}">
                <a16:creationId xmlns:a16="http://schemas.microsoft.com/office/drawing/2014/main" id="{B83ECD38-5C04-1B7F-13A7-426925F80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0EA20C37-3E1C-0EFB-7B81-3EBA06E23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323AB7FE-287D-C8FE-1DAD-FD5D591CC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44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9.8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V.32和V.32bis星座图和带宽</a:t>
            </a:r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6B76EA48-AF45-1F05-C337-A14E44BA3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391" name="Picture 6">
            <a:extLst>
              <a:ext uri="{FF2B5EF4-FFF2-40B4-BE49-F238E27FC236}">
                <a16:creationId xmlns:a16="http://schemas.microsoft.com/office/drawing/2014/main" id="{A9082951-FADD-8CCE-339F-06528BE9A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47800"/>
            <a:ext cx="4662488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 Box 7">
            <a:extLst>
              <a:ext uri="{FF2B5EF4-FFF2-40B4-BE49-F238E27FC236}">
                <a16:creationId xmlns:a16="http://schemas.microsoft.com/office/drawing/2014/main" id="{DC2B3145-5C7D-B5C3-9EED-47484D122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3397250"/>
            <a:ext cx="2152650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200">
                <a:ea typeface="宋体" panose="02010600030101010101" pitchFamily="2" charset="-122"/>
              </a:rPr>
              <a:t>a.V.32星座图和带宽</a:t>
            </a:r>
          </a:p>
        </p:txBody>
      </p:sp>
      <p:sp>
        <p:nvSpPr>
          <p:cNvPr id="16393" name="Text Box 8">
            <a:extLst>
              <a:ext uri="{FF2B5EF4-FFF2-40B4-BE49-F238E27FC236}">
                <a16:creationId xmlns:a16="http://schemas.microsoft.com/office/drawing/2014/main" id="{853C8C1E-DC83-3971-5781-8DD694862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2362200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200">
                <a:ea typeface="宋体" panose="02010600030101010101" pitchFamily="2" charset="-122"/>
              </a:rPr>
              <a:t>b.V.32bis星座图和带宽</a:t>
            </a:r>
          </a:p>
        </p:txBody>
      </p:sp>
      <p:sp>
        <p:nvSpPr>
          <p:cNvPr id="16394" name="Text Box 9">
            <a:extLst>
              <a:ext uri="{FF2B5EF4-FFF2-40B4-BE49-F238E27FC236}">
                <a16:creationId xmlns:a16="http://schemas.microsoft.com/office/drawing/2014/main" id="{ACDA5B02-06AA-8EC0-5D0D-934D7F77E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524000"/>
            <a:ext cx="1447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全双工2400波特9600bps两路</a:t>
            </a:r>
          </a:p>
        </p:txBody>
      </p:sp>
      <p:sp>
        <p:nvSpPr>
          <p:cNvPr id="16395" name="Text Box 10">
            <a:extLst>
              <a:ext uri="{FF2B5EF4-FFF2-40B4-BE49-F238E27FC236}">
                <a16:creationId xmlns:a16="http://schemas.microsoft.com/office/drawing/2014/main" id="{C2DA7095-8AA0-2A4C-1D22-267957118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733800"/>
            <a:ext cx="15240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全双工2400波特14400bps四路</a:t>
            </a:r>
          </a:p>
        </p:txBody>
      </p:sp>
      <p:sp>
        <p:nvSpPr>
          <p:cNvPr id="16396" name="TextBox 11">
            <a:extLst>
              <a:ext uri="{FF2B5EF4-FFF2-40B4-BE49-F238E27FC236}">
                <a16:creationId xmlns:a16="http://schemas.microsoft.com/office/drawing/2014/main" id="{00BF6A39-6609-0B45-FFB1-7A4C22CFD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981200"/>
            <a:ext cx="2057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Log</a:t>
            </a:r>
            <a:r>
              <a:rPr lang="en-US" altLang="zh-CN" sz="1600" baseline="-25000">
                <a:ea typeface="宋体" panose="02010600030101010101" pitchFamily="2" charset="-122"/>
              </a:rPr>
              <a:t>2</a:t>
            </a:r>
            <a:r>
              <a:rPr lang="en-US" altLang="zh-CN" sz="1600">
                <a:ea typeface="宋体" panose="02010600030101010101" pitchFamily="2" charset="-122"/>
              </a:rPr>
              <a:t>32 = 5</a:t>
            </a:r>
          </a:p>
          <a:p>
            <a:r>
              <a:rPr lang="zh-CN" altLang="en-US" sz="1600">
                <a:ea typeface="宋体" panose="02010600030101010101" pitchFamily="2" charset="-122"/>
              </a:rPr>
              <a:t>其中</a:t>
            </a:r>
            <a:r>
              <a:rPr lang="en-US" altLang="zh-CN" sz="1600">
                <a:ea typeface="宋体" panose="02010600030101010101" pitchFamily="2" charset="-122"/>
              </a:rPr>
              <a:t>4bit</a:t>
            </a:r>
            <a:r>
              <a:rPr lang="zh-CN" altLang="en-US" sz="1600">
                <a:ea typeface="宋体" panose="02010600030101010101" pitchFamily="2" charset="-122"/>
              </a:rPr>
              <a:t>数据，</a:t>
            </a:r>
            <a:r>
              <a:rPr lang="en-US" altLang="zh-CN" sz="1600">
                <a:ea typeface="宋体" panose="02010600030101010101" pitchFamily="2" charset="-122"/>
              </a:rPr>
              <a:t>1bit</a:t>
            </a:r>
            <a:r>
              <a:rPr lang="zh-CN" altLang="en-US" sz="1600">
                <a:ea typeface="宋体" panose="02010600030101010101" pitchFamily="2" charset="-122"/>
              </a:rPr>
              <a:t>冗余校验位。</a:t>
            </a:r>
            <a:endParaRPr lang="en-US" altLang="zh-CN" sz="1600">
              <a:ea typeface="宋体" panose="02010600030101010101" pitchFamily="2" charset="-122"/>
            </a:endParaRPr>
          </a:p>
          <a:p>
            <a:r>
              <a:rPr lang="en-US" altLang="zh-CN" sz="1600">
                <a:ea typeface="宋体" panose="02010600030101010101" pitchFamily="2" charset="-122"/>
              </a:rPr>
              <a:t>2400*4=9600bps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6397" name="TextBox 12">
            <a:extLst>
              <a:ext uri="{FF2B5EF4-FFF2-40B4-BE49-F238E27FC236}">
                <a16:creationId xmlns:a16="http://schemas.microsoft.com/office/drawing/2014/main" id="{027A8848-8476-329F-8E1A-DD726546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191000"/>
            <a:ext cx="2057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Log</a:t>
            </a:r>
            <a:r>
              <a:rPr lang="en-US" altLang="zh-CN" sz="1600" baseline="-25000">
                <a:ea typeface="宋体" panose="02010600030101010101" pitchFamily="2" charset="-122"/>
              </a:rPr>
              <a:t>2</a:t>
            </a:r>
            <a:r>
              <a:rPr lang="en-US" altLang="zh-CN" sz="1600">
                <a:ea typeface="宋体" panose="02010600030101010101" pitchFamily="2" charset="-122"/>
              </a:rPr>
              <a:t>64 = 6</a:t>
            </a:r>
          </a:p>
          <a:p>
            <a:r>
              <a:rPr lang="en-US" altLang="zh-CN" sz="1600">
                <a:ea typeface="宋体" panose="02010600030101010101" pitchFamily="2" charset="-122"/>
              </a:rPr>
              <a:t>2400*6=14400bps</a:t>
            </a:r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2F629E90-C666-3866-5BF5-0B91CD00A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43251F90-04FE-4469-A80A-564BF852664E}" type="slidenum">
              <a:rPr lang="en-US" altLang="zh-CN" sz="2000">
                <a:solidFill>
                  <a:schemeClr val="bg2"/>
                </a:solidFill>
              </a:rPr>
              <a:pPr/>
              <a:t>15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7411" name="Line 2">
            <a:extLst>
              <a:ext uri="{FF2B5EF4-FFF2-40B4-BE49-F238E27FC236}">
                <a16:creationId xmlns:a16="http://schemas.microsoft.com/office/drawing/2014/main" id="{F1A79C7D-6A98-0374-6108-146CD3D71F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Line 3">
            <a:extLst>
              <a:ext uri="{FF2B5EF4-FFF2-40B4-BE49-F238E27FC236}">
                <a16:creationId xmlns:a16="http://schemas.microsoft.com/office/drawing/2014/main" id="{6419CDD1-4A7C-C084-BA69-E4A982D55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8896302D-8E26-27C1-FD7C-1EB5A9086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279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9.9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56K调制解调器</a:t>
            </a:r>
          </a:p>
        </p:txBody>
      </p:sp>
      <p:sp>
        <p:nvSpPr>
          <p:cNvPr id="17414" name="Line 5">
            <a:extLst>
              <a:ext uri="{FF2B5EF4-FFF2-40B4-BE49-F238E27FC236}">
                <a16:creationId xmlns:a16="http://schemas.microsoft.com/office/drawing/2014/main" id="{3534E35C-62A4-8D75-94C9-FE5F4C6FEC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7415" name="Picture 6">
            <a:extLst>
              <a:ext uri="{FF2B5EF4-FFF2-40B4-BE49-F238E27FC236}">
                <a16:creationId xmlns:a16="http://schemas.microsoft.com/office/drawing/2014/main" id="{B608CC11-0C14-C1C9-CE14-FAD1338C0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990600"/>
            <a:ext cx="489902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Text Box 7">
            <a:extLst>
              <a:ext uri="{FF2B5EF4-FFF2-40B4-BE49-F238E27FC236}">
                <a16:creationId xmlns:a16="http://schemas.microsoft.com/office/drawing/2014/main" id="{95274164-0140-720B-90C5-0C0F4127A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60438"/>
            <a:ext cx="2286000" cy="334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600">
                <a:ea typeface="宋体" panose="02010600030101010101" pitchFamily="2" charset="-122"/>
              </a:rPr>
              <a:t>采样噪声限制数据速率</a:t>
            </a:r>
          </a:p>
        </p:txBody>
      </p:sp>
      <p:sp>
        <p:nvSpPr>
          <p:cNvPr id="17417" name="Text Box 8">
            <a:extLst>
              <a:ext uri="{FF2B5EF4-FFF2-40B4-BE49-F238E27FC236}">
                <a16:creationId xmlns:a16="http://schemas.microsoft.com/office/drawing/2014/main" id="{ABF490D2-F8D0-6740-10A5-84D48DE26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114800"/>
            <a:ext cx="827088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200">
                <a:ea typeface="宋体" panose="02010600030101010101" pitchFamily="2" charset="-122"/>
              </a:rPr>
              <a:t>反向PCM</a:t>
            </a:r>
          </a:p>
        </p:txBody>
      </p:sp>
      <p:sp>
        <p:nvSpPr>
          <p:cNvPr id="17418" name="Text Box 9">
            <a:extLst>
              <a:ext uri="{FF2B5EF4-FFF2-40B4-BE49-F238E27FC236}">
                <a16:creationId xmlns:a16="http://schemas.microsoft.com/office/drawing/2014/main" id="{1680786D-9CA3-B8A7-6D92-13AAB6339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152650"/>
            <a:ext cx="1524000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200">
                <a:ea typeface="宋体" panose="02010600030101010101" pitchFamily="2" charset="-122"/>
              </a:rPr>
              <a:t>上传，量化噪声</a:t>
            </a:r>
          </a:p>
        </p:txBody>
      </p:sp>
      <p:sp>
        <p:nvSpPr>
          <p:cNvPr id="17419" name="Text Box 10">
            <a:extLst>
              <a:ext uri="{FF2B5EF4-FFF2-40B4-BE49-F238E27FC236}">
                <a16:creationId xmlns:a16="http://schemas.microsoft.com/office/drawing/2014/main" id="{D8270CEC-971E-F5B8-910E-8FF32FB85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876800"/>
            <a:ext cx="1524000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200">
                <a:ea typeface="宋体" panose="02010600030101010101" pitchFamily="2" charset="-122"/>
              </a:rPr>
              <a:t>下载，无量化噪声</a:t>
            </a:r>
          </a:p>
        </p:txBody>
      </p:sp>
      <p:sp>
        <p:nvSpPr>
          <p:cNvPr id="17420" name="TextBox 11">
            <a:extLst>
              <a:ext uri="{FF2B5EF4-FFF2-40B4-BE49-F238E27FC236}">
                <a16:creationId xmlns:a16="http://schemas.microsoft.com/office/drawing/2014/main" id="{E744B202-2566-E31B-51E2-5A940C087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905000"/>
            <a:ext cx="1905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600">
                <a:ea typeface="宋体" panose="02010600030101010101" pitchFamily="2" charset="-122"/>
              </a:rPr>
              <a:t>上传受香农公式约束，</a:t>
            </a:r>
            <a:r>
              <a:rPr lang="en-US" altLang="zh-CN" sz="1600">
                <a:ea typeface="宋体" panose="02010600030101010101" pitchFamily="2" charset="-122"/>
              </a:rPr>
              <a:t>33.6kbps;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7421" name="TextBox 12">
            <a:extLst>
              <a:ext uri="{FF2B5EF4-FFF2-40B4-BE49-F238E27FC236}">
                <a16:creationId xmlns:a16="http://schemas.microsoft.com/office/drawing/2014/main" id="{B190BBD2-87B5-26BD-1809-6AF3D7A1F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343400"/>
            <a:ext cx="1905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600">
                <a:ea typeface="宋体" panose="02010600030101010101" pitchFamily="2" charset="-122"/>
              </a:rPr>
              <a:t>下载不受噪声影响，可达</a:t>
            </a:r>
            <a:r>
              <a:rPr lang="en-US" altLang="zh-CN" sz="1600">
                <a:ea typeface="宋体" panose="02010600030101010101" pitchFamily="2" charset="-122"/>
              </a:rPr>
              <a:t>56kbps;</a:t>
            </a:r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EEA45250-CD9D-4FEF-E1BA-75E544660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6306603B-ACD0-4FF9-9C0F-DB2714BF6DC8}" type="slidenum">
              <a:rPr lang="en-US" altLang="zh-CN" sz="2000">
                <a:solidFill>
                  <a:schemeClr val="bg2"/>
                </a:solidFill>
              </a:rPr>
              <a:pPr/>
              <a:t>16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4C192F0D-34C5-DA5C-14DB-21B670E51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CD38A7A5-E474-6FB0-5DC1-4A355B9E2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4671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</a:rPr>
              <a:t>9-3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数字用户线路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E87FBE83-2C26-229D-3F51-4494C04F0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D92F16DA-2403-EF96-0397-8DB0C7C9C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62113"/>
            <a:ext cx="822960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   在传统调制解调器到达其最高数据速率以后，电话公司开发出了另一种技术——数字用户线路(digital subscriber line，DSL)技术来提供对因特网的高速访问。DSL技术是在现有本地回路上支持高速数字通信的最有前途的技术之一。 </a:t>
            </a: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C37495F0-CCDF-BD38-1123-E0681DAB0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4572000"/>
            <a:ext cx="6627812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非对称数字用户线路(ADSL)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通用的ADSL(</a:t>
            </a: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ADSL Lite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fr-FR" altLang="en-US" sz="240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高速数字用户线路(</a:t>
            </a: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HDSL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fr-FR" altLang="en-US" sz="240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对称数字用户线路(SDSL)</a:t>
            </a:r>
            <a:b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甚高速数字用户线路(VDSL)</a:t>
            </a:r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30D2C383-DECD-4EDF-2067-B08BD0118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114800"/>
            <a:ext cx="2790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本节讨论的主题</a:t>
            </a: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BB828048-2688-3E89-4F39-91A504BFD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4270EA92-50A9-4DCA-BED0-B847658BE7AE}" type="slidenum">
              <a:rPr lang="en-US" altLang="zh-CN" sz="2000">
                <a:solidFill>
                  <a:schemeClr val="bg2"/>
                </a:solidFill>
              </a:rPr>
              <a:pPr/>
              <a:t>17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F7D41CA-DF27-3EC8-C7F6-95F3BA310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BB73DE50-58D6-A4B0-1F63-3C735A2FE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4B96F419-BEAF-8A51-DB8E-D75D0099B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3C0CDCAD-15E2-B029-BAA1-4D774F7DA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D0A2B1BF-4C91-47C0-D2A1-BEA36B69E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1E1A3CA9-ED2F-5959-0DF1-3C21D77F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6E5B254E-B90E-C7A8-A2C2-EAF8EAEF5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Line 9">
            <a:extLst>
              <a:ext uri="{FF2B5EF4-FFF2-40B4-BE49-F238E27FC236}">
                <a16:creationId xmlns:a16="http://schemas.microsoft.com/office/drawing/2014/main" id="{96E77EC7-136A-1935-4385-22E78EC4C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895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0">
            <a:extLst>
              <a:ext uri="{FF2B5EF4-FFF2-40B4-BE49-F238E27FC236}">
                <a16:creationId xmlns:a16="http://schemas.microsoft.com/office/drawing/2014/main" id="{6426B33D-9F31-8881-A50C-3BDAA3741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648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Rectangle 11">
            <a:extLst>
              <a:ext uri="{FF2B5EF4-FFF2-40B4-BE49-F238E27FC236}">
                <a16:creationId xmlns:a16="http://schemas.microsoft.com/office/drawing/2014/main" id="{99ABBB09-FF88-9B31-F561-7684CA5DB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876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ADSL下行速率比上行速率高，所以称为“非对称”，是专门针对住宅用户而设计的，它不适合于商业应用。</a:t>
            </a:r>
          </a:p>
        </p:txBody>
      </p:sp>
      <p:grpSp>
        <p:nvGrpSpPr>
          <p:cNvPr id="19469" name="Group 12">
            <a:extLst>
              <a:ext uri="{FF2B5EF4-FFF2-40B4-BE49-F238E27FC236}">
                <a16:creationId xmlns:a16="http://schemas.microsoft.com/office/drawing/2014/main" id="{5404B69D-1D96-244B-C5CD-A3CF369C848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52663"/>
            <a:ext cx="1143000" cy="566737"/>
            <a:chOff x="0" y="0"/>
            <a:chExt cx="720" cy="357"/>
          </a:xfrm>
        </p:grpSpPr>
        <p:pic>
          <p:nvPicPr>
            <p:cNvPr id="19470" name="Picture 13">
              <a:extLst>
                <a:ext uri="{FF2B5EF4-FFF2-40B4-BE49-F238E27FC236}">
                  <a16:creationId xmlns:a16="http://schemas.microsoft.com/office/drawing/2014/main" id="{2FCE2C5B-494C-1629-6720-106738C04A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1" name="Text Box 14">
              <a:extLst>
                <a:ext uri="{FF2B5EF4-FFF2-40B4-BE49-F238E27FC236}">
                  <a16:creationId xmlns:a16="http://schemas.microsoft.com/office/drawing/2014/main" id="{BC139C45-64F0-FB7B-A956-EE185DB6F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43137C94-39F1-7CEE-9144-AB66FCEE8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B43B2D5D-0890-4015-B4C5-8BE140381BFF}" type="slidenum">
              <a:rPr lang="en-US" altLang="zh-CN" sz="2000">
                <a:solidFill>
                  <a:schemeClr val="bg2"/>
                </a:solidFill>
              </a:rPr>
              <a:pPr/>
              <a:t>18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4B53484-F8AD-5B5D-67AF-A811B712F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E497B53-C4EF-F954-7E00-70A85447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7B800E25-0701-79B8-881A-F70E93BA9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E57F55A8-8CF0-AFAE-C099-B7FBE82F7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45BA4FF4-29DB-25F7-7307-3B5659BC0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BC3C1854-0CC1-EBC6-2912-2B222A6B2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9" name="Rectangle 8">
            <a:extLst>
              <a:ext uri="{FF2B5EF4-FFF2-40B4-BE49-F238E27FC236}">
                <a16:creationId xmlns:a16="http://schemas.microsoft.com/office/drawing/2014/main" id="{5BFD43B7-A55E-DCA7-435C-7B32750E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90" name="Line 9">
            <a:extLst>
              <a:ext uri="{FF2B5EF4-FFF2-40B4-BE49-F238E27FC236}">
                <a16:creationId xmlns:a16="http://schemas.microsoft.com/office/drawing/2014/main" id="{95C7721A-7AF4-438F-6563-7624C7A2A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Line 10">
            <a:extLst>
              <a:ext uri="{FF2B5EF4-FFF2-40B4-BE49-F238E27FC236}">
                <a16:creationId xmlns:a16="http://schemas.microsoft.com/office/drawing/2014/main" id="{36A41B01-3FB3-E049-63CC-995DBD732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2" name="Rectangle 11">
            <a:extLst>
              <a:ext uri="{FF2B5EF4-FFF2-40B4-BE49-F238E27FC236}">
                <a16:creationId xmlns:a16="http://schemas.microsoft.com/office/drawing/2014/main" id="{2BA7A4AE-F05C-2CA1-C316-F47686D5E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55428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现有的本地回路的双绞线能够处理的带宽可以高达1.1 MHz，但是电话公司安装在本地交换局的滤波器将带宽限制在</a:t>
            </a:r>
            <a:r>
              <a:rPr lang="en-US" altLang="zh-CN">
                <a:ea typeface="宋体" panose="02010600030101010101" pitchFamily="2" charset="-122"/>
              </a:rPr>
              <a:t>4kHz</a:t>
            </a:r>
            <a:r>
              <a:rPr lang="zh-CN" altLang="en-US">
                <a:ea typeface="宋体" panose="02010600030101010101" pitchFamily="2" charset="-122"/>
              </a:rPr>
              <a:t>（对于语音电话够用了，而且容易多路复用），如果拆除掉滤波器，则全部</a:t>
            </a:r>
            <a:r>
              <a:rPr lang="en-US" altLang="zh-CN">
                <a:ea typeface="宋体" panose="02010600030101010101" pitchFamily="2" charset="-122"/>
              </a:rPr>
              <a:t>1.1MHz</a:t>
            </a:r>
            <a:r>
              <a:rPr lang="zh-CN" altLang="en-US">
                <a:ea typeface="宋体" panose="02010600030101010101" pitchFamily="2" charset="-122"/>
              </a:rPr>
              <a:t>带宽可用。</a:t>
            </a:r>
          </a:p>
        </p:txBody>
      </p:sp>
      <p:grpSp>
        <p:nvGrpSpPr>
          <p:cNvPr id="20493" name="Group 12">
            <a:extLst>
              <a:ext uri="{FF2B5EF4-FFF2-40B4-BE49-F238E27FC236}">
                <a16:creationId xmlns:a16="http://schemas.microsoft.com/office/drawing/2014/main" id="{E20367AD-1C11-E5CF-94A1-AD9D1EBB773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20494" name="Picture 13">
              <a:extLst>
                <a:ext uri="{FF2B5EF4-FFF2-40B4-BE49-F238E27FC236}">
                  <a16:creationId xmlns:a16="http://schemas.microsoft.com/office/drawing/2014/main" id="{4E04659A-17AB-6960-88F9-7911C39C06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5" name="Text Box 14">
              <a:extLst>
                <a:ext uri="{FF2B5EF4-FFF2-40B4-BE49-F238E27FC236}">
                  <a16:creationId xmlns:a16="http://schemas.microsoft.com/office/drawing/2014/main" id="{5700055E-0BF1-F2A5-0C94-073CF0198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C2CABE0A-AA9D-A0FB-0BB0-740788E693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61CB7DEC-69EB-47B2-B767-998EB311E9E3}" type="slidenum">
              <a:rPr lang="en-US" altLang="zh-CN" sz="2000">
                <a:solidFill>
                  <a:schemeClr val="bg2"/>
                </a:solidFill>
              </a:rPr>
              <a:pPr/>
              <a:t>19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5F27F49-4A04-B663-2B1C-7040125CB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D3B0D3A-A3B6-A37D-AE8F-2A0CAABB8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A92165AE-6D1D-B12D-90B9-4126D63B1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9C703FBA-61AE-433E-DA7D-56B43C654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8D5264D0-A507-5BCE-653E-E3ED19667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ECD9BD1C-37A5-CFE0-A8E5-D0717E5B3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7DAE3895-F9DD-9610-0080-1208E8463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4" name="Line 9">
            <a:extLst>
              <a:ext uri="{FF2B5EF4-FFF2-40B4-BE49-F238E27FC236}">
                <a16:creationId xmlns:a16="http://schemas.microsoft.com/office/drawing/2014/main" id="{E519C3E7-3E7D-0C74-9E7C-384620AF8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0">
            <a:extLst>
              <a:ext uri="{FF2B5EF4-FFF2-40B4-BE49-F238E27FC236}">
                <a16:creationId xmlns:a16="http://schemas.microsoft.com/office/drawing/2014/main" id="{61FC17BC-9AFB-6A1B-0B94-8084CA837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Rectangle 11">
            <a:extLst>
              <a:ext uri="{FF2B5EF4-FFF2-40B4-BE49-F238E27FC236}">
                <a16:creationId xmlns:a16="http://schemas.microsoft.com/office/drawing/2014/main" id="{9BBF7572-2EFE-EF9C-0BEC-C79AD093B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54275"/>
            <a:ext cx="8077200" cy="2062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1.1MHz</a:t>
            </a:r>
            <a:r>
              <a:rPr lang="zh-CN" altLang="en-US">
                <a:ea typeface="宋体" panose="02010600030101010101" pitchFamily="2" charset="-122"/>
              </a:rPr>
              <a:t>是理论带宽，诸多因素会影响信号质量，所以ADSL被设计为一种自适应技术，系统使用的数据速率依据本地回路的线路状况而定。</a:t>
            </a:r>
          </a:p>
        </p:txBody>
      </p:sp>
      <p:grpSp>
        <p:nvGrpSpPr>
          <p:cNvPr id="21517" name="Group 12">
            <a:extLst>
              <a:ext uri="{FF2B5EF4-FFF2-40B4-BE49-F238E27FC236}">
                <a16:creationId xmlns:a16="http://schemas.microsoft.com/office/drawing/2014/main" id="{25E2C314-E7A8-436E-6B02-2D2A505F843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19263"/>
            <a:ext cx="1143000" cy="566737"/>
            <a:chOff x="0" y="0"/>
            <a:chExt cx="720" cy="357"/>
          </a:xfrm>
        </p:grpSpPr>
        <p:pic>
          <p:nvPicPr>
            <p:cNvPr id="21518" name="Picture 13">
              <a:extLst>
                <a:ext uri="{FF2B5EF4-FFF2-40B4-BE49-F238E27FC236}">
                  <a16:creationId xmlns:a16="http://schemas.microsoft.com/office/drawing/2014/main" id="{48C0292B-A026-41AD-F0E6-33E144F291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9" name="Text Box 14">
              <a:extLst>
                <a:ext uri="{FF2B5EF4-FFF2-40B4-BE49-F238E27FC236}">
                  <a16:creationId xmlns:a16="http://schemas.microsoft.com/office/drawing/2014/main" id="{944841F7-E0F6-F20B-DE28-68E7BB151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3F5E9989-F730-DE21-2BF6-6037E7CB8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A8EB0034-26CE-4E1E-9B97-C8A6E516B07E}" type="slidenum">
              <a:rPr lang="en-US" altLang="zh-CN" sz="2000">
                <a:solidFill>
                  <a:schemeClr val="bg2"/>
                </a:solidFill>
              </a:rPr>
              <a:pPr/>
              <a:t>20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2531" name="Line 2">
            <a:extLst>
              <a:ext uri="{FF2B5EF4-FFF2-40B4-BE49-F238E27FC236}">
                <a16:creationId xmlns:a16="http://schemas.microsoft.com/office/drawing/2014/main" id="{177EB9D1-10D8-7EC4-FC13-25552C036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3">
            <a:extLst>
              <a:ext uri="{FF2B5EF4-FFF2-40B4-BE49-F238E27FC236}">
                <a16:creationId xmlns:a16="http://schemas.microsoft.com/office/drawing/2014/main" id="{7B00389C-F2BB-D93C-1577-769A58F71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AB3F05A7-D44C-21AB-35B2-ADB740D90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57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9.10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离散多音频技术（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DMT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70E9D054-585E-2F3A-5E3D-2FB1C2651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5" name="Picture 6">
            <a:extLst>
              <a:ext uri="{FF2B5EF4-FFF2-40B4-BE49-F238E27FC236}">
                <a16:creationId xmlns:a16="http://schemas.microsoft.com/office/drawing/2014/main" id="{DEA58B44-321E-0CDB-5042-2AD7D00F2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8447088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Text Box 9">
            <a:extLst>
              <a:ext uri="{FF2B5EF4-FFF2-40B4-BE49-F238E27FC236}">
                <a16:creationId xmlns:a16="http://schemas.microsoft.com/office/drawing/2014/main" id="{EF07CD1D-8999-C7BA-AC2F-2C62EDED0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2501900"/>
            <a:ext cx="9144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上行位</a:t>
            </a:r>
          </a:p>
        </p:txBody>
      </p:sp>
      <p:sp>
        <p:nvSpPr>
          <p:cNvPr id="22537" name="Text Box 10">
            <a:extLst>
              <a:ext uri="{FF2B5EF4-FFF2-40B4-BE49-F238E27FC236}">
                <a16:creationId xmlns:a16="http://schemas.microsoft.com/office/drawing/2014/main" id="{4BCEB2CB-9AA8-626B-ACBE-0FBE1BE03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330700"/>
            <a:ext cx="9906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下行位</a:t>
            </a:r>
          </a:p>
        </p:txBody>
      </p:sp>
      <p:sp>
        <p:nvSpPr>
          <p:cNvPr id="22538" name="Text Box 11">
            <a:extLst>
              <a:ext uri="{FF2B5EF4-FFF2-40B4-BE49-F238E27FC236}">
                <a16:creationId xmlns:a16="http://schemas.microsoft.com/office/drawing/2014/main" id="{23BAAF40-68E8-6C1D-C2A0-8164843FC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1447800"/>
            <a:ext cx="685800" cy="517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语音通道</a:t>
            </a:r>
          </a:p>
        </p:txBody>
      </p:sp>
      <p:sp>
        <p:nvSpPr>
          <p:cNvPr id="22539" name="TextBox 12">
            <a:extLst>
              <a:ext uri="{FF2B5EF4-FFF2-40B4-BE49-F238E27FC236}">
                <a16:creationId xmlns:a16="http://schemas.microsoft.com/office/drawing/2014/main" id="{9FDE8927-3BC6-09E2-CF04-0624C9E4E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562600"/>
            <a:ext cx="8839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ea typeface="宋体" panose="02010600030101010101" pitchFamily="2" charset="-122"/>
              </a:rPr>
              <a:t>将</a:t>
            </a:r>
            <a:r>
              <a:rPr lang="en-US" altLang="zh-CN" sz="2000">
                <a:ea typeface="宋体" panose="02010600030101010101" pitchFamily="2" charset="-122"/>
              </a:rPr>
              <a:t>QAM</a:t>
            </a:r>
            <a:r>
              <a:rPr lang="zh-CN" altLang="en-US" sz="2000">
                <a:ea typeface="宋体" panose="02010600030101010101" pitchFamily="2" charset="-122"/>
              </a:rPr>
              <a:t>和</a:t>
            </a:r>
            <a:r>
              <a:rPr lang="en-US" altLang="zh-CN" sz="2000">
                <a:ea typeface="宋体" panose="02010600030101010101" pitchFamily="2" charset="-122"/>
              </a:rPr>
              <a:t>FDM</a:t>
            </a:r>
            <a:r>
              <a:rPr lang="zh-CN" altLang="en-US" sz="2000">
                <a:ea typeface="宋体" panose="02010600030101010101" pitchFamily="2" charset="-122"/>
              </a:rPr>
              <a:t>结合在一起。</a:t>
            </a:r>
            <a:endParaRPr lang="en-US" altLang="zh-CN" sz="2000">
              <a:ea typeface="宋体" panose="02010600030101010101" pitchFamily="2" charset="-122"/>
            </a:endParaRPr>
          </a:p>
          <a:p>
            <a:r>
              <a:rPr lang="zh-CN" altLang="en-US" sz="2000">
                <a:ea typeface="宋体" panose="02010600030101010101" pitchFamily="2" charset="-122"/>
              </a:rPr>
              <a:t>下行共</a:t>
            </a:r>
            <a:r>
              <a:rPr lang="en-US" altLang="zh-CN" sz="2000">
                <a:ea typeface="宋体" panose="02010600030101010101" pitchFamily="2" charset="-122"/>
              </a:rPr>
              <a:t>224</a:t>
            </a:r>
            <a:r>
              <a:rPr lang="zh-CN" altLang="en-US" sz="2000">
                <a:ea typeface="宋体" panose="02010600030101010101" pitchFamily="2" charset="-122"/>
              </a:rPr>
              <a:t>个通道，理论可达</a:t>
            </a:r>
            <a:r>
              <a:rPr lang="en-US" altLang="zh-CN" sz="2000">
                <a:ea typeface="宋体" panose="02010600030101010101" pitchFamily="2" charset="-122"/>
              </a:rPr>
              <a:t>224</a:t>
            </a:r>
            <a:r>
              <a:rPr lang="zh-CN" altLang="en-US" sz="2000">
                <a:ea typeface="宋体" panose="02010600030101010101" pitchFamily="2" charset="-122"/>
              </a:rPr>
              <a:t>*</a:t>
            </a:r>
            <a:r>
              <a:rPr lang="en-US" altLang="zh-CN" sz="2000">
                <a:ea typeface="宋体" panose="02010600030101010101" pitchFamily="2" charset="-122"/>
              </a:rPr>
              <a:t>4000(</a:t>
            </a:r>
            <a:r>
              <a:rPr lang="zh-CN" altLang="en-US" sz="2000">
                <a:ea typeface="宋体" panose="02010600030101010101" pitchFamily="2" charset="-122"/>
              </a:rPr>
              <a:t>每个通道带宽</a:t>
            </a:r>
            <a:r>
              <a:rPr lang="en-US" altLang="zh-CN" sz="2000">
                <a:ea typeface="宋体" panose="02010600030101010101" pitchFamily="2" charset="-122"/>
              </a:rPr>
              <a:t>)</a:t>
            </a:r>
            <a:r>
              <a:rPr lang="zh-CN" altLang="en-US" sz="2000">
                <a:ea typeface="宋体" panose="02010600030101010101" pitchFamily="2" charset="-122"/>
              </a:rPr>
              <a:t>*</a:t>
            </a:r>
            <a:r>
              <a:rPr lang="en-US" altLang="zh-CN" sz="2000">
                <a:ea typeface="宋体" panose="02010600030101010101" pitchFamily="2" charset="-122"/>
              </a:rPr>
              <a:t>15(QAM)=13.4Mbps</a:t>
            </a:r>
            <a:r>
              <a:rPr lang="zh-CN" altLang="en-US" sz="2000">
                <a:ea typeface="宋体" panose="02010600030101010101" pitchFamily="2" charset="-122"/>
              </a:rPr>
              <a:t>，但实际在</a:t>
            </a:r>
            <a:r>
              <a:rPr lang="en-US" altLang="zh-CN" sz="2000">
                <a:ea typeface="宋体" panose="02010600030101010101" pitchFamily="2" charset="-122"/>
              </a:rPr>
              <a:t>8Mbps</a:t>
            </a:r>
            <a:r>
              <a:rPr lang="zh-CN" altLang="en-US" sz="2000">
                <a:ea typeface="宋体" panose="02010600030101010101" pitchFamily="2" charset="-122"/>
              </a:rPr>
              <a:t>以下。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C7E0A04F-4AC0-F240-3899-2EC783EC9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5971DB14-DCEF-4B32-AEE7-3B1A48F8D618}" type="slidenum">
              <a:rPr lang="en-US" altLang="zh-CN" sz="2000">
                <a:solidFill>
                  <a:schemeClr val="bg2"/>
                </a:solidFill>
              </a:rPr>
              <a:pPr/>
              <a:t>21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3555" name="Line 2">
            <a:extLst>
              <a:ext uri="{FF2B5EF4-FFF2-40B4-BE49-F238E27FC236}">
                <a16:creationId xmlns:a16="http://schemas.microsoft.com/office/drawing/2014/main" id="{8CBEF4AB-1D9C-4D57-FD57-6595D52BC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Line 3">
            <a:extLst>
              <a:ext uri="{FF2B5EF4-FFF2-40B4-BE49-F238E27FC236}">
                <a16:creationId xmlns:a16="http://schemas.microsoft.com/office/drawing/2014/main" id="{02FEC6A5-8C8C-BA2B-8FEE-217F465C7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15EB40F3-2B9F-4D2E-3EC9-22B5277F2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3170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9.11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ADSL中带宽划分</a:t>
            </a:r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3DEA0C63-D6FD-BD09-14DB-013F26999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9" name="Picture 6">
            <a:extLst>
              <a:ext uri="{FF2B5EF4-FFF2-40B4-BE49-F238E27FC236}">
                <a16:creationId xmlns:a16="http://schemas.microsoft.com/office/drawing/2014/main" id="{AA8512FF-C93C-EDB8-2F75-00D7AA3D2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2181225"/>
            <a:ext cx="8255000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Text Box 7">
            <a:extLst>
              <a:ext uri="{FF2B5EF4-FFF2-40B4-BE49-F238E27FC236}">
                <a16:creationId xmlns:a16="http://schemas.microsoft.com/office/drawing/2014/main" id="{E5B4C641-512B-1A70-7603-4A435927D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425" y="2563813"/>
            <a:ext cx="1095375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上行数据流</a:t>
            </a:r>
          </a:p>
        </p:txBody>
      </p:sp>
      <p:sp>
        <p:nvSpPr>
          <p:cNvPr id="23561" name="Text Box 8">
            <a:extLst>
              <a:ext uri="{FF2B5EF4-FFF2-40B4-BE49-F238E27FC236}">
                <a16:creationId xmlns:a16="http://schemas.microsoft.com/office/drawing/2014/main" id="{B8328748-D2E8-13AF-85AA-911B08C41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90800"/>
            <a:ext cx="1219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400">
                <a:ea typeface="宋体" panose="02010600030101010101" pitchFamily="2" charset="-122"/>
              </a:rPr>
              <a:t>下行数据流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16552617-0EC7-FA4F-9B3E-1A2347A00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9D92C866-A9F6-410B-81A5-CE38BC9D8E1F}" type="slidenum">
              <a:rPr lang="en-US" altLang="zh-CN" sz="2000">
                <a:solidFill>
                  <a:schemeClr val="bg2"/>
                </a:solidFill>
              </a:rPr>
              <a:pPr/>
              <a:t>22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4579" name="Line 2">
            <a:extLst>
              <a:ext uri="{FF2B5EF4-FFF2-40B4-BE49-F238E27FC236}">
                <a16:creationId xmlns:a16="http://schemas.microsoft.com/office/drawing/2014/main" id="{65B3EACE-F4FE-0750-0087-CEFD7493D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Line 3">
            <a:extLst>
              <a:ext uri="{FF2B5EF4-FFF2-40B4-BE49-F238E27FC236}">
                <a16:creationId xmlns:a16="http://schemas.microsoft.com/office/drawing/2014/main" id="{17E82473-4867-2AFE-C172-A35E5553E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F1F45FF4-E674-8F91-0237-67DE41A6B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70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9.12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ADSL调制解调器</a:t>
            </a:r>
          </a:p>
        </p:txBody>
      </p:sp>
      <p:sp>
        <p:nvSpPr>
          <p:cNvPr id="24582" name="Line 5">
            <a:extLst>
              <a:ext uri="{FF2B5EF4-FFF2-40B4-BE49-F238E27FC236}">
                <a16:creationId xmlns:a16="http://schemas.microsoft.com/office/drawing/2014/main" id="{3D0012D1-9670-910A-441A-7C259CC5C8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83" name="Picture 6">
            <a:extLst>
              <a:ext uri="{FF2B5EF4-FFF2-40B4-BE49-F238E27FC236}">
                <a16:creationId xmlns:a16="http://schemas.microsoft.com/office/drawing/2014/main" id="{34794CDB-39BE-BA5E-50D0-B6BAEDF03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98725"/>
            <a:ext cx="8199438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4" name="Text Box 7">
            <a:extLst>
              <a:ext uri="{FF2B5EF4-FFF2-40B4-BE49-F238E27FC236}">
                <a16:creationId xmlns:a16="http://schemas.microsoft.com/office/drawing/2014/main" id="{EE983B88-C7B6-649C-A3B0-669805FB9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3481388"/>
            <a:ext cx="1206500" cy="334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600">
                <a:ea typeface="宋体" panose="02010600030101010101" pitchFamily="2" charset="-122"/>
              </a:rPr>
              <a:t>本地回路</a:t>
            </a:r>
          </a:p>
        </p:txBody>
      </p:sp>
      <p:sp>
        <p:nvSpPr>
          <p:cNvPr id="24585" name="Text Box 8">
            <a:extLst>
              <a:ext uri="{FF2B5EF4-FFF2-40B4-BE49-F238E27FC236}">
                <a16:creationId xmlns:a16="http://schemas.microsoft.com/office/drawing/2014/main" id="{4E4AD7D3-0444-B7F3-E424-572E918F9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2438400"/>
            <a:ext cx="8509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400">
                <a:ea typeface="宋体" panose="02010600030101010101" pitchFamily="2" charset="-122"/>
              </a:rPr>
              <a:t>分配器</a:t>
            </a:r>
          </a:p>
        </p:txBody>
      </p:sp>
      <p:sp>
        <p:nvSpPr>
          <p:cNvPr id="24586" name="Text Box 9">
            <a:extLst>
              <a:ext uri="{FF2B5EF4-FFF2-40B4-BE49-F238E27FC236}">
                <a16:creationId xmlns:a16="http://schemas.microsoft.com/office/drawing/2014/main" id="{8965889E-1FF2-F7A2-4777-13ED1DE2B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060700"/>
            <a:ext cx="990600" cy="51752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400">
                <a:ea typeface="宋体" panose="02010600030101010101" pitchFamily="2" charset="-122"/>
              </a:rPr>
              <a:t>低通      滤波器</a:t>
            </a:r>
          </a:p>
        </p:txBody>
      </p:sp>
      <p:sp>
        <p:nvSpPr>
          <p:cNvPr id="24587" name="Text Box 10">
            <a:extLst>
              <a:ext uri="{FF2B5EF4-FFF2-40B4-BE49-F238E27FC236}">
                <a16:creationId xmlns:a16="http://schemas.microsoft.com/office/drawing/2014/main" id="{1B2426FD-B281-BD86-2EAF-4DD478126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114800"/>
            <a:ext cx="990600" cy="51911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400">
                <a:ea typeface="宋体" panose="02010600030101010101" pitchFamily="2" charset="-122"/>
              </a:rPr>
              <a:t>高通      滤波器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21E43CF0-AB05-6258-3677-D45C0E27B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B7D7623B-6972-4A57-9D7F-AD4299698866}" type="slidenum">
              <a:rPr lang="en-US" altLang="zh-CN" sz="2000">
                <a:solidFill>
                  <a:schemeClr val="bg2"/>
                </a:solidFill>
              </a:rPr>
              <a:pPr/>
              <a:t>23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5603" name="Line 2">
            <a:extLst>
              <a:ext uri="{FF2B5EF4-FFF2-40B4-BE49-F238E27FC236}">
                <a16:creationId xmlns:a16="http://schemas.microsoft.com/office/drawing/2014/main" id="{61773EF9-DAAB-FBB2-B47B-2B767FD67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Line 3">
            <a:extLst>
              <a:ext uri="{FF2B5EF4-FFF2-40B4-BE49-F238E27FC236}">
                <a16:creationId xmlns:a16="http://schemas.microsoft.com/office/drawing/2014/main" id="{CA56FED1-2A26-F80B-D9A1-0ABA2D06D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F8CF4749-EF4F-BE6E-A667-2D4E072E8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125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9.13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DSLAM</a:t>
            </a:r>
          </a:p>
        </p:txBody>
      </p:sp>
      <p:sp>
        <p:nvSpPr>
          <p:cNvPr id="25606" name="Line 5">
            <a:extLst>
              <a:ext uri="{FF2B5EF4-FFF2-40B4-BE49-F238E27FC236}">
                <a16:creationId xmlns:a16="http://schemas.microsoft.com/office/drawing/2014/main" id="{4BFC566C-0268-6399-4151-27978FC40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07" name="Picture 6">
            <a:extLst>
              <a:ext uri="{FF2B5EF4-FFF2-40B4-BE49-F238E27FC236}">
                <a16:creationId xmlns:a16="http://schemas.microsoft.com/office/drawing/2014/main" id="{0C9DA4BA-B76B-8952-CD2F-EC46B4F31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09850"/>
            <a:ext cx="816292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Text Box 7">
            <a:extLst>
              <a:ext uri="{FF2B5EF4-FFF2-40B4-BE49-F238E27FC236}">
                <a16:creationId xmlns:a16="http://schemas.microsoft.com/office/drawing/2014/main" id="{4958F9C1-9241-0149-D490-4F7D7980D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092450"/>
            <a:ext cx="1196975" cy="517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zh-CN" altLang="en-US" sz="1400">
                <a:ea typeface="宋体" panose="02010600030101010101" pitchFamily="2" charset="-122"/>
              </a:rPr>
              <a:t>到电话网络</a:t>
            </a:r>
          </a:p>
          <a:p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5609" name="Text Box 8">
            <a:extLst>
              <a:ext uri="{FF2B5EF4-FFF2-40B4-BE49-F238E27FC236}">
                <a16:creationId xmlns:a16="http://schemas.microsoft.com/office/drawing/2014/main" id="{911A914D-549D-015F-6941-55DEF00D2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38600"/>
            <a:ext cx="119697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zh-CN" altLang="en-US" sz="1400">
                <a:ea typeface="宋体" panose="02010600030101010101" pitchFamily="2" charset="-122"/>
              </a:rPr>
              <a:t>到因特网</a:t>
            </a:r>
          </a:p>
          <a:p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5610" name="Text Box 9">
            <a:extLst>
              <a:ext uri="{FF2B5EF4-FFF2-40B4-BE49-F238E27FC236}">
                <a16:creationId xmlns:a16="http://schemas.microsoft.com/office/drawing/2014/main" id="{47CFC77A-F714-9EAC-EB6C-E851F5FBE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657600"/>
            <a:ext cx="1162050" cy="579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600">
                <a:ea typeface="宋体" panose="02010600030101010101" pitchFamily="2" charset="-122"/>
              </a:rPr>
              <a:t>分组的   数据</a:t>
            </a:r>
          </a:p>
        </p:txBody>
      </p:sp>
      <p:sp>
        <p:nvSpPr>
          <p:cNvPr id="25611" name="Text Box 10">
            <a:extLst>
              <a:ext uri="{FF2B5EF4-FFF2-40B4-BE49-F238E27FC236}">
                <a16:creationId xmlns:a16="http://schemas.microsoft.com/office/drawing/2014/main" id="{20866C84-B3CD-80BA-DB06-6D417E5C1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124200"/>
            <a:ext cx="838200" cy="457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200">
                <a:ea typeface="宋体" panose="02010600030101010101" pitchFamily="2" charset="-122"/>
              </a:rPr>
              <a:t>低通滤波器</a:t>
            </a:r>
          </a:p>
        </p:txBody>
      </p:sp>
      <p:sp>
        <p:nvSpPr>
          <p:cNvPr id="25612" name="Text Box 11">
            <a:extLst>
              <a:ext uri="{FF2B5EF4-FFF2-40B4-BE49-F238E27FC236}">
                <a16:creationId xmlns:a16="http://schemas.microsoft.com/office/drawing/2014/main" id="{18009A64-EBDF-B55D-D8BF-26AF3D730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038600"/>
            <a:ext cx="838200" cy="457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200">
                <a:ea typeface="宋体" panose="02010600030101010101" pitchFamily="2" charset="-122"/>
              </a:rPr>
              <a:t>高通滤波器</a:t>
            </a:r>
          </a:p>
        </p:txBody>
      </p:sp>
      <p:sp>
        <p:nvSpPr>
          <p:cNvPr id="25613" name="Text Box 12">
            <a:extLst>
              <a:ext uri="{FF2B5EF4-FFF2-40B4-BE49-F238E27FC236}">
                <a16:creationId xmlns:a16="http://schemas.microsoft.com/office/drawing/2014/main" id="{75426E17-E59A-B16F-7477-79C2BBF72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429000"/>
            <a:ext cx="944563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本地回路</a:t>
            </a:r>
          </a:p>
        </p:txBody>
      </p:sp>
      <p:sp>
        <p:nvSpPr>
          <p:cNvPr id="25614" name="Text Box 13">
            <a:extLst>
              <a:ext uri="{FF2B5EF4-FFF2-40B4-BE49-F238E27FC236}">
                <a16:creationId xmlns:a16="http://schemas.microsoft.com/office/drawing/2014/main" id="{77CDD460-6A61-B99E-977F-0DB467E9C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25" y="2563813"/>
            <a:ext cx="739775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分配器</a:t>
            </a:r>
          </a:p>
        </p:txBody>
      </p:sp>
      <p:sp>
        <p:nvSpPr>
          <p:cNvPr id="25615" name="TextBox 14">
            <a:extLst>
              <a:ext uri="{FF2B5EF4-FFF2-40B4-BE49-F238E27FC236}">
                <a16:creationId xmlns:a16="http://schemas.microsoft.com/office/drawing/2014/main" id="{6C7E6DCF-8E1D-6033-A3BA-D7BFC94A8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334000"/>
            <a:ext cx="510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DSLAM</a:t>
            </a:r>
            <a:r>
              <a:rPr lang="zh-CN" altLang="en-US" sz="2400">
                <a:ea typeface="宋体" panose="02010600030101010101" pitchFamily="2" charset="-122"/>
              </a:rPr>
              <a:t>数字用户线路接入复用器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2B2F2F2D-0249-CD59-E0C5-79388CE08B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F42BD98A-AD2C-4D10-8B42-05CCD6A89617}" type="slidenum">
              <a:rPr lang="en-US" altLang="zh-CN" sz="2000">
                <a:solidFill>
                  <a:schemeClr val="bg2"/>
                </a:solidFill>
              </a:rPr>
              <a:pPr/>
              <a:t>24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256B2D14-94C2-9A29-3CAC-AA8A09FDF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981200"/>
            <a:ext cx="2593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 9.1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DSL技术总结</a:t>
            </a:r>
          </a:p>
        </p:txBody>
      </p:sp>
      <p:graphicFrame>
        <p:nvGraphicFramePr>
          <p:cNvPr id="27651" name="Group 3">
            <a:extLst>
              <a:ext uri="{FF2B5EF4-FFF2-40B4-BE49-F238E27FC236}">
                <a16:creationId xmlns:a16="http://schemas.microsoft.com/office/drawing/2014/main" id="{23DEE661-CB9D-5199-8742-A8F7FD807EE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590800"/>
          <a:ext cx="8305800" cy="2478088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92140781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28537404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671419468"/>
                    </a:ext>
                  </a:extLst>
                </a:gridCol>
                <a:gridCol w="1808163">
                  <a:extLst>
                    <a:ext uri="{9D8B030D-6E8A-4147-A177-3AD203B41FA5}">
                      <a16:colId xmlns:a16="http://schemas.microsoft.com/office/drawing/2014/main" val="2307316275"/>
                    </a:ext>
                  </a:extLst>
                </a:gridCol>
                <a:gridCol w="1103312">
                  <a:extLst>
                    <a:ext uri="{9D8B030D-6E8A-4147-A177-3AD203B41FA5}">
                      <a16:colId xmlns:a16="http://schemas.microsoft.com/office/drawing/2014/main" val="821826104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203519721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技术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下行速率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上行速率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距离（ft）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双绞线对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线路代码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208579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ADSL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1.5~6.1Mbps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16~640kbps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024232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ADSL Lite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1.5Mbps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500kbps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902616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HDSL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1.5~2.0Mbps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1.5~2.0Mbps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2B1Q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386706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SDSL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768kbps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768kbps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2B1Q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431761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VDSL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25~55Mbps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3.2Mbps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3000~10000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143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6B8EDBC6-1594-2A29-9BBF-2B0DF2972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2EB7940C-BC9E-49E4-971D-ECB2EB23D130}" type="slidenum">
              <a:rPr lang="en-US" altLang="zh-CN" sz="2000">
                <a:solidFill>
                  <a:schemeClr val="bg2"/>
                </a:solidFill>
              </a:rPr>
              <a:pPr/>
              <a:t>25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DC00CEEB-CDAE-A6C6-3E32-8973AF5BA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050328AD-2157-A1EB-6B6E-E1A917CF9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5943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9-4   CABLE TV NETWORKS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5426A95B-7221-E5C5-E9B9-B3C4AEF47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66449A18-76A1-A6EA-782C-91416C3E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06538"/>
            <a:ext cx="8229600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The </a:t>
            </a:r>
            <a:r>
              <a:rPr lang="en-US" altLang="zh-CN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cable TV network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started as a video service provider, but it has moved to the business of Internet access. In this section, we discuss cable TV networks per se; in Section 9.5 we discuss how this network can be used to provide high-speed access to the Internet.</a:t>
            </a: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76DCFB08-5966-9C04-94DD-E0392D2A2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Traditional Cable Networks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Hybrid Fiber-Coaxial (HFC) Network</a:t>
            </a:r>
            <a:endParaRPr lang="zh-CN" altLang="en-US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9" name="Text Box 7">
            <a:extLst>
              <a:ext uri="{FF2B5EF4-FFF2-40B4-BE49-F238E27FC236}">
                <a16:creationId xmlns:a16="http://schemas.microsoft.com/office/drawing/2014/main" id="{A2406C5D-1D3F-845A-688F-69E5FF4C3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C49A323F-68D6-A783-268A-49DA2AFDF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B56710CB-8644-4B35-8595-86DF9716E73A}" type="slidenum">
              <a:rPr lang="en-US" altLang="zh-CN" sz="2000">
                <a:solidFill>
                  <a:schemeClr val="bg2"/>
                </a:solidFill>
              </a:rPr>
              <a:pPr/>
              <a:t>26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8675" name="Line 2">
            <a:extLst>
              <a:ext uri="{FF2B5EF4-FFF2-40B4-BE49-F238E27FC236}">
                <a16:creationId xmlns:a16="http://schemas.microsoft.com/office/drawing/2014/main" id="{DCC45D1D-95D9-7707-C21A-9E7B88B4E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Line 3">
            <a:extLst>
              <a:ext uri="{FF2B5EF4-FFF2-40B4-BE49-F238E27FC236}">
                <a16:creationId xmlns:a16="http://schemas.microsoft.com/office/drawing/2014/main" id="{BAD14F28-EEB4-A81D-55A0-D0556D470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32B0DC09-AA36-3973-AAE4-F4E3A7C7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90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9.14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Traditional cable TV network</a:t>
            </a:r>
          </a:p>
        </p:txBody>
      </p:sp>
      <p:sp>
        <p:nvSpPr>
          <p:cNvPr id="28678" name="Line 5">
            <a:extLst>
              <a:ext uri="{FF2B5EF4-FFF2-40B4-BE49-F238E27FC236}">
                <a16:creationId xmlns:a16="http://schemas.microsoft.com/office/drawing/2014/main" id="{14C8467D-8272-1400-A296-D699187F4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8679" name="Picture 6">
            <a:extLst>
              <a:ext uri="{FF2B5EF4-FFF2-40B4-BE49-F238E27FC236}">
                <a16:creationId xmlns:a16="http://schemas.microsoft.com/office/drawing/2014/main" id="{742E511A-4AE4-6A67-A39A-33A30C139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941513"/>
            <a:ext cx="8593137" cy="354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EE3D76C4-0277-13FA-EE06-749378CA8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E516B5D9-B16E-4D05-989F-7B13A59D6E04}" type="slidenum">
              <a:rPr lang="en-US" altLang="zh-CN" sz="2000">
                <a:solidFill>
                  <a:schemeClr val="bg2"/>
                </a:solidFill>
              </a:rPr>
              <a:pPr/>
              <a:t>27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09CA6D2-0A8D-3F7C-A92D-C961CA8F0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51F3B2B-5E71-8CAE-B616-4D7EB17BD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B9E94CA1-154C-CD4C-17A3-0F15263AE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7EE6596E-94A2-6C09-6195-24F19BD43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0D7AC40A-3746-4B42-64CF-6F0152D94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AE17C22E-B82E-E524-2637-DE8E023B5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Rectangle 8">
            <a:extLst>
              <a:ext uri="{FF2B5EF4-FFF2-40B4-BE49-F238E27FC236}">
                <a16:creationId xmlns:a16="http://schemas.microsoft.com/office/drawing/2014/main" id="{F354BC56-72C8-63EA-7FD7-61828133E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6" name="Line 9">
            <a:extLst>
              <a:ext uri="{FF2B5EF4-FFF2-40B4-BE49-F238E27FC236}">
                <a16:creationId xmlns:a16="http://schemas.microsoft.com/office/drawing/2014/main" id="{7CE29E5E-1E1D-D9B9-3376-4B09E8F8B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7" name="Line 10">
            <a:extLst>
              <a:ext uri="{FF2B5EF4-FFF2-40B4-BE49-F238E27FC236}">
                <a16:creationId xmlns:a16="http://schemas.microsoft.com/office/drawing/2014/main" id="{7340B345-0A62-723B-1CFC-88D3B3E4B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8" name="Rectangle 11">
            <a:extLst>
              <a:ext uri="{FF2B5EF4-FFF2-40B4-BE49-F238E27FC236}">
                <a16:creationId xmlns:a16="http://schemas.microsoft.com/office/drawing/2014/main" id="{87F1E3A1-0168-5327-DAF0-5B1B316BC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Communication in the traditional cable TV network is unidirectional.</a:t>
            </a:r>
          </a:p>
        </p:txBody>
      </p:sp>
      <p:grpSp>
        <p:nvGrpSpPr>
          <p:cNvPr id="29709" name="Group 12">
            <a:extLst>
              <a:ext uri="{FF2B5EF4-FFF2-40B4-BE49-F238E27FC236}">
                <a16:creationId xmlns:a16="http://schemas.microsoft.com/office/drawing/2014/main" id="{69C45AC2-B7C5-1237-AEE8-D8E384B5AC8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29710" name="Picture 13">
              <a:extLst>
                <a:ext uri="{FF2B5EF4-FFF2-40B4-BE49-F238E27FC236}">
                  <a16:creationId xmlns:a16="http://schemas.microsoft.com/office/drawing/2014/main" id="{F24ED40E-9B0A-0804-54FC-01B0B27359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11" name="Text Box 14">
              <a:extLst>
                <a:ext uri="{FF2B5EF4-FFF2-40B4-BE49-F238E27FC236}">
                  <a16:creationId xmlns:a16="http://schemas.microsoft.com/office/drawing/2014/main" id="{4730AE1D-1A97-7461-BB3A-26B8668FC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F9BAEA96-4F93-C462-6C70-F3B3057B2A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9081F94F-312E-43CD-AB5B-7C15F2605C33}" type="slidenum">
              <a:rPr lang="en-US" altLang="zh-CN" sz="2000">
                <a:solidFill>
                  <a:schemeClr val="bg2"/>
                </a:solidFill>
              </a:rPr>
              <a:pPr/>
              <a:t>28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0723" name="Line 2">
            <a:extLst>
              <a:ext uri="{FF2B5EF4-FFF2-40B4-BE49-F238E27FC236}">
                <a16:creationId xmlns:a16="http://schemas.microsoft.com/office/drawing/2014/main" id="{A06D0DF2-F4BD-4928-C065-F12E03336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B8430492-9C68-08EF-731F-F24D64F2A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91F84F61-E37C-7985-BE24-028DAEA24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18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9.15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Hybrid fiber-coaxial (HFC) network</a:t>
            </a:r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C9955101-C4AB-6A39-64EE-35DC46C4A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6">
            <a:extLst>
              <a:ext uri="{FF2B5EF4-FFF2-40B4-BE49-F238E27FC236}">
                <a16:creationId xmlns:a16="http://schemas.microsoft.com/office/drawing/2014/main" id="{3E4175AC-4C4B-FA23-B9F9-C9B339E86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1714500"/>
            <a:ext cx="8885237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60BE6ECB-580E-26CC-02F6-65936FF6E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A60910F9-EAE5-4559-A914-77B4B0C7E52F}" type="slidenum">
              <a:rPr lang="en-US" altLang="zh-CN" sz="2000">
                <a:solidFill>
                  <a:schemeClr val="bg2"/>
                </a:solidFill>
              </a:rPr>
              <a:pPr/>
              <a:t>29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6F9A3A8-0EAB-2A98-FBF9-D54CB588C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C6DCA9B-4D1A-25CC-58C5-70ACDBA8D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562DD3B4-F6B3-D2ED-43CD-D2BBF6C5B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0" name="Rectangle 5">
            <a:extLst>
              <a:ext uri="{FF2B5EF4-FFF2-40B4-BE49-F238E27FC236}">
                <a16:creationId xmlns:a16="http://schemas.microsoft.com/office/drawing/2014/main" id="{8583EE8F-E313-E6E8-AD61-FEB79CCC5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15AEBFBE-CCBC-2E0F-4F85-843E2DBFE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2" name="Rectangle 7">
            <a:extLst>
              <a:ext uri="{FF2B5EF4-FFF2-40B4-BE49-F238E27FC236}">
                <a16:creationId xmlns:a16="http://schemas.microsoft.com/office/drawing/2014/main" id="{18ABC70B-8081-3652-DE38-578A6ADDB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3" name="Rectangle 8">
            <a:extLst>
              <a:ext uri="{FF2B5EF4-FFF2-40B4-BE49-F238E27FC236}">
                <a16:creationId xmlns:a16="http://schemas.microsoft.com/office/drawing/2014/main" id="{D92CE43B-3C7D-A6ED-9345-13A0DA0CD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4" name="Line 9">
            <a:extLst>
              <a:ext uri="{FF2B5EF4-FFF2-40B4-BE49-F238E27FC236}">
                <a16:creationId xmlns:a16="http://schemas.microsoft.com/office/drawing/2014/main" id="{00DEF842-4339-EF69-2966-BB4CFB6F8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5" name="Line 10">
            <a:extLst>
              <a:ext uri="{FF2B5EF4-FFF2-40B4-BE49-F238E27FC236}">
                <a16:creationId xmlns:a16="http://schemas.microsoft.com/office/drawing/2014/main" id="{CB9B8B8E-7645-528C-1904-058BC6EBA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6" name="Rectangle 11">
            <a:extLst>
              <a:ext uri="{FF2B5EF4-FFF2-40B4-BE49-F238E27FC236}">
                <a16:creationId xmlns:a16="http://schemas.microsoft.com/office/drawing/2014/main" id="{CC425A31-F726-4E33-EE3F-D7648736E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Communication in an HFC cable TV network can be bidirectional.</a:t>
            </a:r>
          </a:p>
        </p:txBody>
      </p:sp>
      <p:grpSp>
        <p:nvGrpSpPr>
          <p:cNvPr id="31757" name="Group 12">
            <a:extLst>
              <a:ext uri="{FF2B5EF4-FFF2-40B4-BE49-F238E27FC236}">
                <a16:creationId xmlns:a16="http://schemas.microsoft.com/office/drawing/2014/main" id="{1308D105-2E01-3E64-6D46-E593D73D6C6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0" y="0"/>
            <a:chExt cx="720" cy="357"/>
          </a:xfrm>
        </p:grpSpPr>
        <p:pic>
          <p:nvPicPr>
            <p:cNvPr id="31758" name="Picture 13">
              <a:extLst>
                <a:ext uri="{FF2B5EF4-FFF2-40B4-BE49-F238E27FC236}">
                  <a16:creationId xmlns:a16="http://schemas.microsoft.com/office/drawing/2014/main" id="{F36B151C-FBC8-EBBE-C161-B000D266D0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9" name="Text Box 14">
              <a:extLst>
                <a:ext uri="{FF2B5EF4-FFF2-40B4-BE49-F238E27FC236}">
                  <a16:creationId xmlns:a16="http://schemas.microsoft.com/office/drawing/2014/main" id="{463D7C2F-4A22-EA0A-F322-94B28F167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697DF73E-8256-381E-D3AE-A9375807B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D27B839A-1188-4186-9A0D-0892E79A4043}" type="slidenum">
              <a:rPr lang="en-US" altLang="zh-CN" sz="2000">
                <a:solidFill>
                  <a:schemeClr val="bg2"/>
                </a:solidFill>
              </a:rPr>
              <a:pPr/>
              <a:t>30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913C1CD3-4A59-054F-CC01-201A88F0B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5758FD1A-5ECB-E83C-5097-C4D2C583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76041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9-5   CABLE TV FOR DATA TRANSFER</a:t>
            </a:r>
          </a:p>
        </p:txBody>
      </p:sp>
      <p:sp>
        <p:nvSpPr>
          <p:cNvPr id="32773" name="Text Box 4">
            <a:extLst>
              <a:ext uri="{FF2B5EF4-FFF2-40B4-BE49-F238E27FC236}">
                <a16:creationId xmlns:a16="http://schemas.microsoft.com/office/drawing/2014/main" id="{13A074E0-06CD-3AA5-8DA3-103D712F1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C5A8AA7F-2BAE-43F7-776C-F72A6DC54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2296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Cable companies are now competing with telephone companies for the residential customer who wants high-speed data transfer. In this section, we briefly discuss this technology.</a:t>
            </a: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A413D223-E1F4-1E51-CC80-2DD3B820E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743450"/>
            <a:ext cx="67056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Bandwidth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Sharing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CM and CMTS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Data Transmission Schemes: DOCSIS</a:t>
            </a:r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CFCF6EDA-88C0-AF81-F00F-885F54487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67200"/>
            <a:ext cx="4862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A97B3A55-DBF7-294D-1B60-1B3A2A01B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3D4411F4-224B-4FA7-B981-45097AE7EADE}" type="slidenum">
              <a:rPr lang="en-US" altLang="zh-CN" sz="2000">
                <a:solidFill>
                  <a:schemeClr val="bg2"/>
                </a:solidFill>
              </a:rPr>
              <a:pPr/>
              <a:t>31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3795" name="Line 2">
            <a:extLst>
              <a:ext uri="{FF2B5EF4-FFF2-40B4-BE49-F238E27FC236}">
                <a16:creationId xmlns:a16="http://schemas.microsoft.com/office/drawing/2014/main" id="{71A3E23C-C3D6-5B5A-615F-6AC9610D3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Line 3">
            <a:extLst>
              <a:ext uri="{FF2B5EF4-FFF2-40B4-BE49-F238E27FC236}">
                <a16:creationId xmlns:a16="http://schemas.microsoft.com/office/drawing/2014/main" id="{5B66B80F-FB57-6050-E3F3-5DDFE89E1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76933A0B-D09A-2795-E5B2-9E4693420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01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9.16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Division of coaxial cable band by CATV</a:t>
            </a:r>
          </a:p>
        </p:txBody>
      </p:sp>
      <p:sp>
        <p:nvSpPr>
          <p:cNvPr id="33798" name="Line 5">
            <a:extLst>
              <a:ext uri="{FF2B5EF4-FFF2-40B4-BE49-F238E27FC236}">
                <a16:creationId xmlns:a16="http://schemas.microsoft.com/office/drawing/2014/main" id="{A932071E-817F-4F19-D9F4-2B3D7E23AD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799" name="Picture 6">
            <a:extLst>
              <a:ext uri="{FF2B5EF4-FFF2-40B4-BE49-F238E27FC236}">
                <a16:creationId xmlns:a16="http://schemas.microsoft.com/office/drawing/2014/main" id="{8FEEA6E8-7F07-AF63-26AF-028EEAF72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3043238"/>
            <a:ext cx="7550150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C1FFF0EC-972C-ACDC-A90F-ACC8857C7F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38BCB2A0-266F-4F3C-AADB-AECF757ABB9C}" type="slidenum">
              <a:rPr lang="en-US" altLang="zh-CN" sz="2000">
                <a:solidFill>
                  <a:schemeClr val="bg2"/>
                </a:solidFill>
              </a:rPr>
              <a:pPr/>
              <a:t>32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9B795CA-0506-749D-29B3-93269CD8B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8962EA9-4987-D42E-24EB-A61F58154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381E6A88-0F6A-63FF-D396-AD43E046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F34B3BA2-B5BB-FDD0-FA7B-62029085F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C9C00262-9FF3-5AC8-30CF-DDDBC209E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2BDE5ECD-0686-20CE-C5C0-62C7B3F83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5" name="Rectangle 8">
            <a:extLst>
              <a:ext uri="{FF2B5EF4-FFF2-40B4-BE49-F238E27FC236}">
                <a16:creationId xmlns:a16="http://schemas.microsoft.com/office/drawing/2014/main" id="{3F5B45DB-4FD5-8F49-B89F-5956AE92B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6" name="Line 9">
            <a:extLst>
              <a:ext uri="{FF2B5EF4-FFF2-40B4-BE49-F238E27FC236}">
                <a16:creationId xmlns:a16="http://schemas.microsoft.com/office/drawing/2014/main" id="{CEB6D869-788B-5D81-1FD5-F054D593D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7" name="Line 10">
            <a:extLst>
              <a:ext uri="{FF2B5EF4-FFF2-40B4-BE49-F238E27FC236}">
                <a16:creationId xmlns:a16="http://schemas.microsoft.com/office/drawing/2014/main" id="{2382F9AF-04C0-FEBB-D2AE-B93B4522A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8" name="Rectangle 11">
            <a:extLst>
              <a:ext uri="{FF2B5EF4-FFF2-40B4-BE49-F238E27FC236}">
                <a16:creationId xmlns:a16="http://schemas.microsoft.com/office/drawing/2014/main" id="{CEF05427-45FF-E5AF-835A-E49400226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Downstream data are modulated using the 64-QAM modulation technique.</a:t>
            </a:r>
            <a:endParaRPr lang="en-US" altLang="zh-CN" b="0">
              <a:ea typeface="宋体" panose="02010600030101010101" pitchFamily="2" charset="-122"/>
            </a:endParaRPr>
          </a:p>
          <a:p>
            <a:pPr algn="ctr"/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4829" name="Group 12">
            <a:extLst>
              <a:ext uri="{FF2B5EF4-FFF2-40B4-BE49-F238E27FC236}">
                <a16:creationId xmlns:a16="http://schemas.microsoft.com/office/drawing/2014/main" id="{83AF20A7-3CE3-B430-1700-8D0C86AB9D0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47863"/>
            <a:ext cx="1143000" cy="566737"/>
            <a:chOff x="0" y="0"/>
            <a:chExt cx="720" cy="357"/>
          </a:xfrm>
        </p:grpSpPr>
        <p:pic>
          <p:nvPicPr>
            <p:cNvPr id="34830" name="Picture 13">
              <a:extLst>
                <a:ext uri="{FF2B5EF4-FFF2-40B4-BE49-F238E27FC236}">
                  <a16:creationId xmlns:a16="http://schemas.microsoft.com/office/drawing/2014/main" id="{B441AE8A-3BA6-9BB9-A6C5-6299800DAD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31" name="Text Box 14">
              <a:extLst>
                <a:ext uri="{FF2B5EF4-FFF2-40B4-BE49-F238E27FC236}">
                  <a16:creationId xmlns:a16="http://schemas.microsoft.com/office/drawing/2014/main" id="{F3BC4733-897F-6103-209E-3D25FCA90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C9BE1594-9000-14C0-2EC3-903918828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1CC263CF-93CF-4790-8845-3C171056A09B}" type="slidenum">
              <a:rPr lang="en-US" altLang="zh-CN" sz="2000">
                <a:solidFill>
                  <a:schemeClr val="bg2"/>
                </a:solidFill>
              </a:rPr>
              <a:pPr/>
              <a:t>33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710AF47-33D8-6E7B-69DF-2F6144A26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3EE8C09-EAFE-D21F-3E7A-A4C375495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71778773-C7E7-1680-BE99-3C9D54FCC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DFE70937-B024-B158-9039-0C12F7125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5FAE8E5B-4442-CE57-55B5-7CD5FB52B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ECEE73D6-6995-5B32-7FEB-DB31F425F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9" name="Rectangle 8">
            <a:extLst>
              <a:ext uri="{FF2B5EF4-FFF2-40B4-BE49-F238E27FC236}">
                <a16:creationId xmlns:a16="http://schemas.microsoft.com/office/drawing/2014/main" id="{AB92F6A5-E20C-F477-6619-A8C63C3CB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50" name="Line 9">
            <a:extLst>
              <a:ext uri="{FF2B5EF4-FFF2-40B4-BE49-F238E27FC236}">
                <a16:creationId xmlns:a16="http://schemas.microsoft.com/office/drawing/2014/main" id="{7105F449-B6FB-5AE0-2E64-4D5077159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1" name="Line 10">
            <a:extLst>
              <a:ext uri="{FF2B5EF4-FFF2-40B4-BE49-F238E27FC236}">
                <a16:creationId xmlns:a16="http://schemas.microsoft.com/office/drawing/2014/main" id="{C4032900-F214-6514-0E7B-60D62CCE6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2" name="Rectangle 11">
            <a:extLst>
              <a:ext uri="{FF2B5EF4-FFF2-40B4-BE49-F238E27FC236}">
                <a16:creationId xmlns:a16="http://schemas.microsoft.com/office/drawing/2014/main" id="{6B40CA13-43C5-16AD-955C-1CD20B1A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The theoretical downstream data rate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is 30 Mbps.</a:t>
            </a:r>
          </a:p>
        </p:txBody>
      </p:sp>
      <p:grpSp>
        <p:nvGrpSpPr>
          <p:cNvPr id="35853" name="Group 12">
            <a:extLst>
              <a:ext uri="{FF2B5EF4-FFF2-40B4-BE49-F238E27FC236}">
                <a16:creationId xmlns:a16="http://schemas.microsoft.com/office/drawing/2014/main" id="{FB5F2B57-DE99-F15D-2676-C3546BE061F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0" y="0"/>
            <a:chExt cx="720" cy="357"/>
          </a:xfrm>
        </p:grpSpPr>
        <p:pic>
          <p:nvPicPr>
            <p:cNvPr id="35854" name="Picture 13">
              <a:extLst>
                <a:ext uri="{FF2B5EF4-FFF2-40B4-BE49-F238E27FC236}">
                  <a16:creationId xmlns:a16="http://schemas.microsoft.com/office/drawing/2014/main" id="{1F129A2E-88AC-7257-0BB1-6874666595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5" name="Text Box 14">
              <a:extLst>
                <a:ext uri="{FF2B5EF4-FFF2-40B4-BE49-F238E27FC236}">
                  <a16:creationId xmlns:a16="http://schemas.microsoft.com/office/drawing/2014/main" id="{76C9FD9D-77ED-528B-5E73-63B4BCEC8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D8CC5662-202B-E62B-37BD-F3E0EFEA2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DB2BC988-0C41-4286-AC36-CD996430BF5A}" type="slidenum">
              <a:rPr lang="en-US" altLang="zh-CN" sz="2000">
                <a:solidFill>
                  <a:schemeClr val="bg2"/>
                </a:solidFill>
              </a:rPr>
              <a:pPr/>
              <a:t>34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35CA649-3E57-FF08-05F7-AD83BC9A3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8BCC59F-D0C9-75A9-5BC7-F10162A4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8DE316D1-C222-9939-2195-F5889D66E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Rectangle 5">
            <a:extLst>
              <a:ext uri="{FF2B5EF4-FFF2-40B4-BE49-F238E27FC236}">
                <a16:creationId xmlns:a16="http://schemas.microsoft.com/office/drawing/2014/main" id="{58F0800E-FA0E-890D-6F4D-EBF3DC305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CB041C19-B2EE-6443-0576-893A4A1F9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8CB9376C-7FF8-74A2-C112-C31F95E54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3" name="Rectangle 8">
            <a:extLst>
              <a:ext uri="{FF2B5EF4-FFF2-40B4-BE49-F238E27FC236}">
                <a16:creationId xmlns:a16="http://schemas.microsoft.com/office/drawing/2014/main" id="{A3598818-BED6-117B-8471-D137C2496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5800FF28-F056-6697-4F33-E815B73A8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5" name="Line 10">
            <a:extLst>
              <a:ext uri="{FF2B5EF4-FFF2-40B4-BE49-F238E27FC236}">
                <a16:creationId xmlns:a16="http://schemas.microsoft.com/office/drawing/2014/main" id="{A945AD3E-91DA-CBFC-12B7-9D783E817A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6" name="Rectangle 11">
            <a:extLst>
              <a:ext uri="{FF2B5EF4-FFF2-40B4-BE49-F238E27FC236}">
                <a16:creationId xmlns:a16="http://schemas.microsoft.com/office/drawing/2014/main" id="{33D64B13-C504-9870-8700-A774D6A17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Upstream data are modulated using the QPSK modulation technique.</a:t>
            </a:r>
          </a:p>
        </p:txBody>
      </p:sp>
      <p:grpSp>
        <p:nvGrpSpPr>
          <p:cNvPr id="36877" name="Group 12">
            <a:extLst>
              <a:ext uri="{FF2B5EF4-FFF2-40B4-BE49-F238E27FC236}">
                <a16:creationId xmlns:a16="http://schemas.microsoft.com/office/drawing/2014/main" id="{20453455-9938-229B-FE6C-2E27AE254EF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0" y="0"/>
            <a:chExt cx="720" cy="357"/>
          </a:xfrm>
        </p:grpSpPr>
        <p:pic>
          <p:nvPicPr>
            <p:cNvPr id="36878" name="Picture 13">
              <a:extLst>
                <a:ext uri="{FF2B5EF4-FFF2-40B4-BE49-F238E27FC236}">
                  <a16:creationId xmlns:a16="http://schemas.microsoft.com/office/drawing/2014/main" id="{19082B19-2E18-4C8C-2CE9-C479FEEB5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9" name="Text Box 14">
              <a:extLst>
                <a:ext uri="{FF2B5EF4-FFF2-40B4-BE49-F238E27FC236}">
                  <a16:creationId xmlns:a16="http://schemas.microsoft.com/office/drawing/2014/main" id="{44FEFF03-9BF8-D1FB-736D-C9E89802C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5ED93200-C002-F951-987B-D52E59B086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77AC86FA-B72A-4CA4-8C84-62356AE30543}" type="slidenum">
              <a:rPr lang="en-US" altLang="zh-CN" sz="2000">
                <a:solidFill>
                  <a:schemeClr val="bg2"/>
                </a:solidFill>
              </a:rPr>
              <a:pPr/>
              <a:t>35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5EF84345-41E3-D8EB-08EC-23C19B246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0A5BCDF-5C15-1AFA-9507-52BD50185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C46981D3-4B7B-EF27-E2AF-CB2D76AED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C79A2ABA-D9F0-D60F-AE94-247977C1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Rectangle 6">
            <a:extLst>
              <a:ext uri="{FF2B5EF4-FFF2-40B4-BE49-F238E27FC236}">
                <a16:creationId xmlns:a16="http://schemas.microsoft.com/office/drawing/2014/main" id="{A09617CB-65F3-8461-7DFA-6DAA49CF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Rectangle 7">
            <a:extLst>
              <a:ext uri="{FF2B5EF4-FFF2-40B4-BE49-F238E27FC236}">
                <a16:creationId xmlns:a16="http://schemas.microsoft.com/office/drawing/2014/main" id="{DB797AAC-8294-2B37-A18F-91343BAD5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7" name="Rectangle 8">
            <a:extLst>
              <a:ext uri="{FF2B5EF4-FFF2-40B4-BE49-F238E27FC236}">
                <a16:creationId xmlns:a16="http://schemas.microsoft.com/office/drawing/2014/main" id="{7265CBE2-2ED2-1A47-D229-E1DD0F1F0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8" name="Line 9">
            <a:extLst>
              <a:ext uri="{FF2B5EF4-FFF2-40B4-BE49-F238E27FC236}">
                <a16:creationId xmlns:a16="http://schemas.microsoft.com/office/drawing/2014/main" id="{82B25EA9-905F-0CF1-A14B-7ADAA4F7F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9" name="Line 10">
            <a:extLst>
              <a:ext uri="{FF2B5EF4-FFF2-40B4-BE49-F238E27FC236}">
                <a16:creationId xmlns:a16="http://schemas.microsoft.com/office/drawing/2014/main" id="{AA2030BF-4E58-6D17-5A9E-3E8B11734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0" name="Rectangle 11">
            <a:extLst>
              <a:ext uri="{FF2B5EF4-FFF2-40B4-BE49-F238E27FC236}">
                <a16:creationId xmlns:a16="http://schemas.microsoft.com/office/drawing/2014/main" id="{24456733-DD37-CA88-0C66-DD6D74EF1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The theoretical upstream data rate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is 12 Mbps.</a:t>
            </a:r>
          </a:p>
        </p:txBody>
      </p:sp>
      <p:grpSp>
        <p:nvGrpSpPr>
          <p:cNvPr id="37901" name="Group 12">
            <a:extLst>
              <a:ext uri="{FF2B5EF4-FFF2-40B4-BE49-F238E27FC236}">
                <a16:creationId xmlns:a16="http://schemas.microsoft.com/office/drawing/2014/main" id="{5BBDF1FD-17C7-A409-37F7-87E41B1F556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0" y="0"/>
            <a:chExt cx="720" cy="357"/>
          </a:xfrm>
        </p:grpSpPr>
        <p:pic>
          <p:nvPicPr>
            <p:cNvPr id="37902" name="Picture 13">
              <a:extLst>
                <a:ext uri="{FF2B5EF4-FFF2-40B4-BE49-F238E27FC236}">
                  <a16:creationId xmlns:a16="http://schemas.microsoft.com/office/drawing/2014/main" id="{29D20DA1-6484-0A4C-58E0-D9FB959365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3" name="Text Box 14">
              <a:extLst>
                <a:ext uri="{FF2B5EF4-FFF2-40B4-BE49-F238E27FC236}">
                  <a16:creationId xmlns:a16="http://schemas.microsoft.com/office/drawing/2014/main" id="{68710019-49DC-2E6A-78FB-9974F07CF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AC104BFC-0859-668C-7357-29405BAB5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20B3DA37-938B-494E-9096-F641AC79E9BC}" type="slidenum">
              <a:rPr lang="en-US" altLang="zh-CN" sz="2000">
                <a:solidFill>
                  <a:schemeClr val="bg2"/>
                </a:solidFill>
              </a:rPr>
              <a:pPr/>
              <a:t>36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8915" name="Line 2">
            <a:extLst>
              <a:ext uri="{FF2B5EF4-FFF2-40B4-BE49-F238E27FC236}">
                <a16:creationId xmlns:a16="http://schemas.microsoft.com/office/drawing/2014/main" id="{43E2633A-9F0E-55BD-9BAB-D137A0342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Line 3">
            <a:extLst>
              <a:ext uri="{FF2B5EF4-FFF2-40B4-BE49-F238E27FC236}">
                <a16:creationId xmlns:a16="http://schemas.microsoft.com/office/drawing/2014/main" id="{8F4FD4D9-7081-75CF-E5DC-E4FA57D0B6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D20C9870-5465-BF4E-F585-63BE6B050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65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9.17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Cable modem (CM)</a:t>
            </a:r>
          </a:p>
        </p:txBody>
      </p:sp>
      <p:sp>
        <p:nvSpPr>
          <p:cNvPr id="38918" name="Line 5">
            <a:extLst>
              <a:ext uri="{FF2B5EF4-FFF2-40B4-BE49-F238E27FC236}">
                <a16:creationId xmlns:a16="http://schemas.microsoft.com/office/drawing/2014/main" id="{D8E0C10E-E7A3-546A-13BD-F250110C2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919" name="Picture 6">
            <a:extLst>
              <a:ext uri="{FF2B5EF4-FFF2-40B4-BE49-F238E27FC236}">
                <a16:creationId xmlns:a16="http://schemas.microsoft.com/office/drawing/2014/main" id="{2A762F99-E5BB-B41D-744A-BD5560BDD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6700"/>
            <a:ext cx="6754813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F8315828-1F53-713E-5D48-0D1F1D7AE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9.</a:t>
            </a:r>
            <a:fld id="{CAB77132-671F-47BC-B696-50B355E904C7}" type="slidenum">
              <a:rPr lang="en-US" altLang="zh-CN" sz="2000">
                <a:solidFill>
                  <a:schemeClr val="bg2"/>
                </a:solidFill>
              </a:rPr>
              <a:pPr/>
              <a:t>37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9939" name="Line 2">
            <a:extLst>
              <a:ext uri="{FF2B5EF4-FFF2-40B4-BE49-F238E27FC236}">
                <a16:creationId xmlns:a16="http://schemas.microsoft.com/office/drawing/2014/main" id="{24BE3FCB-FA91-4CF5-7213-682F30817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Line 3">
            <a:extLst>
              <a:ext uri="{FF2B5EF4-FFF2-40B4-BE49-F238E27FC236}">
                <a16:creationId xmlns:a16="http://schemas.microsoft.com/office/drawing/2014/main" id="{5B6D93AA-3A98-0E84-4313-7A0F3A19AF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1" name="Text Box 4">
            <a:extLst>
              <a:ext uri="{FF2B5EF4-FFF2-40B4-BE49-F238E27FC236}">
                <a16:creationId xmlns:a16="http://schemas.microsoft.com/office/drawing/2014/main" id="{AB7038BC-C6D5-C1EF-A8B7-B5C9FA647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315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9.18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Cable modem transmission system (CMTS)</a:t>
            </a:r>
          </a:p>
        </p:txBody>
      </p:sp>
      <p:sp>
        <p:nvSpPr>
          <p:cNvPr id="39942" name="Line 5">
            <a:extLst>
              <a:ext uri="{FF2B5EF4-FFF2-40B4-BE49-F238E27FC236}">
                <a16:creationId xmlns:a16="http://schemas.microsoft.com/office/drawing/2014/main" id="{21F13AD4-E972-9271-B1EF-BB5E1E4EC4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9943" name="Picture 6">
            <a:extLst>
              <a:ext uri="{FF2B5EF4-FFF2-40B4-BE49-F238E27FC236}">
                <a16:creationId xmlns:a16="http://schemas.microsoft.com/office/drawing/2014/main" id="{0816DF24-B893-7F41-892B-E5D8AE9AB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8501063" cy="322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Pages>0</Pages>
  <Words>1070</Words>
  <Characters>0</Characters>
  <Application>Microsoft Office PowerPoint</Application>
  <DocSecurity>0</DocSecurity>
  <PresentationFormat>全屏显示(4:3)</PresentationFormat>
  <Lines>0</Lines>
  <Paragraphs>185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Valued Gateway Client</dc:creator>
  <cp:keywords/>
  <dc:description/>
  <cp:lastModifiedBy>浩嘉 申</cp:lastModifiedBy>
  <cp:revision>168</cp:revision>
  <dcterms:created xsi:type="dcterms:W3CDTF">2000-01-15T04:50:39Z</dcterms:created>
  <dcterms:modified xsi:type="dcterms:W3CDTF">2026-06-02T07:12:00Z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2052-9.1.0.4764</vt:lpwstr>
  </property>
</Properties>
</file>