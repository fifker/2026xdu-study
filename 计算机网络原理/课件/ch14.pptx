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sldIdLst>
    <p:sldId id="777" r:id="rId2"/>
    <p:sldId id="535" r:id="rId3"/>
    <p:sldId id="776" r:id="rId4"/>
    <p:sldId id="746" r:id="rId5"/>
    <p:sldId id="747" r:id="rId6"/>
    <p:sldId id="748" r:id="rId7"/>
    <p:sldId id="749" r:id="rId8"/>
    <p:sldId id="750" r:id="rId9"/>
    <p:sldId id="778" r:id="rId10"/>
    <p:sldId id="779" r:id="rId11"/>
    <p:sldId id="751" r:id="rId12"/>
    <p:sldId id="752" r:id="rId13"/>
    <p:sldId id="771" r:id="rId14"/>
    <p:sldId id="753" r:id="rId15"/>
    <p:sldId id="772" r:id="rId16"/>
    <p:sldId id="773" r:id="rId17"/>
    <p:sldId id="754" r:id="rId18"/>
    <p:sldId id="755" r:id="rId19"/>
    <p:sldId id="775" r:id="rId20"/>
    <p:sldId id="756" r:id="rId21"/>
    <p:sldId id="757" r:id="rId22"/>
    <p:sldId id="758" r:id="rId23"/>
    <p:sldId id="774" r:id="rId24"/>
    <p:sldId id="759" r:id="rId25"/>
    <p:sldId id="760" r:id="rId26"/>
    <p:sldId id="761" r:id="rId27"/>
    <p:sldId id="762" r:id="rId28"/>
    <p:sldId id="763" r:id="rId29"/>
    <p:sldId id="780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CC00"/>
    <a:srgbClr val="996633"/>
    <a:srgbClr val="6666FF"/>
    <a:srgbClr val="33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48" autoAdjust="0"/>
    <p:restoredTop sz="94680" autoAdjust="0"/>
  </p:normalViewPr>
  <p:slideViewPr>
    <p:cSldViewPr>
      <p:cViewPr varScale="1">
        <p:scale>
          <a:sx n="68" d="100"/>
          <a:sy n="68" d="100"/>
        </p:scale>
        <p:origin x="-4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>
            <a:extLst>
              <a:ext uri="{FF2B5EF4-FFF2-40B4-BE49-F238E27FC236}">
                <a16:creationId xmlns:a16="http://schemas.microsoft.com/office/drawing/2014/main" id="{4B51303F-6802-B0F5-D025-CE3A884ABA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89859" name="Rectangle 3">
            <a:extLst>
              <a:ext uri="{FF2B5EF4-FFF2-40B4-BE49-F238E27FC236}">
                <a16:creationId xmlns:a16="http://schemas.microsoft.com/office/drawing/2014/main" id="{16FDD904-8D55-2A19-FB47-092B00288D2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2107609E-D186-86E9-EE3E-C5878A8E53B7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9861" name="Rectangle 5">
            <a:extLst>
              <a:ext uri="{FF2B5EF4-FFF2-40B4-BE49-F238E27FC236}">
                <a16:creationId xmlns:a16="http://schemas.microsoft.com/office/drawing/2014/main" id="{161B7CE5-4BF9-D376-A628-2C82BCE9180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889862" name="Rectangle 6">
            <a:extLst>
              <a:ext uri="{FF2B5EF4-FFF2-40B4-BE49-F238E27FC236}">
                <a16:creationId xmlns:a16="http://schemas.microsoft.com/office/drawing/2014/main" id="{CE19D100-40F0-D4CD-14FC-7186E01DE24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89863" name="Rectangle 7">
            <a:extLst>
              <a:ext uri="{FF2B5EF4-FFF2-40B4-BE49-F238E27FC236}">
                <a16:creationId xmlns:a16="http://schemas.microsoft.com/office/drawing/2014/main" id="{2FE610A9-7F65-0B4B-50BA-60C038D475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EB99413A-9F46-4E0E-8B19-C553E27A530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E967D2EB-AC20-8600-2726-FC9BD510F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B8F6F8-3937-40E4-999D-3B6D3E8E754D}" type="slidenum">
              <a:rPr lang="en-US" altLang="zh-CN" sz="1200" b="0">
                <a:latin typeface="Times New Roman" panose="02020603050405020304" pitchFamily="18" charset="0"/>
              </a:rPr>
              <a:pPr/>
              <a:t>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587B852-B270-8D25-ED9F-CC8168A2E05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4A6BA1F-7571-B5CC-F4E2-ECA54D4F2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7AAC0131-D9D2-0A72-16AE-2FC5848588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FCFB20-EDB2-4C3D-AE11-D8DFDE56616F}" type="slidenum">
              <a:rPr lang="en-US" altLang="zh-CN" sz="1200" b="0">
                <a:latin typeface="Times New Roman" panose="02020603050405020304" pitchFamily="18" charset="0"/>
              </a:rPr>
              <a:pPr/>
              <a:t>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3AF51E2-9F80-961A-6D04-A1B33701111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8D2860D-95F2-20B0-80E0-58F8B510E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AD3D7406-E4DF-D297-E474-B547E9612A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2795D1-64BB-4421-BD8F-C16FF04ED5D5}" type="slidenum">
              <a:rPr lang="en-US" altLang="zh-CN" sz="1200" b="0">
                <a:latin typeface="Times New Roman" panose="02020603050405020304" pitchFamily="18" charset="0"/>
              </a:rPr>
              <a:pPr/>
              <a:t>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34BECB4-3342-D3B9-F5B0-6F93865F0E1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CB79F50-283A-788C-778B-263FFE66C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E4AA8A18-3F0E-AB87-826B-58239EB635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5606FB-F300-46A3-B892-6E213174D901}" type="slidenum">
              <a:rPr lang="en-US" altLang="zh-CN" sz="1200" b="0">
                <a:latin typeface="Times New Roman" panose="02020603050405020304" pitchFamily="18" charset="0"/>
              </a:rPr>
              <a:pPr/>
              <a:t>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A0181B80-DB2F-C76B-8107-326C3E94EB0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283A0BB3-0058-453A-2340-838487894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46E247ED-48B8-F29F-8904-314CA1F0FC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C6D3A0-7878-4F10-8BF2-8DBDF32FFE6F}" type="slidenum">
              <a:rPr lang="en-US" altLang="zh-CN" sz="1200" b="0">
                <a:latin typeface="Times New Roman" panose="02020603050405020304" pitchFamily="18" charset="0"/>
              </a:rPr>
              <a:pPr/>
              <a:t>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CBA6188-C3DC-EE0A-057A-5BD78EF1E8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1826D78-1A87-3203-D47E-B10752CD7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59234189-ADD2-0B6F-0461-717204C10A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3EE234-337D-4327-A717-A4E1F1626684}" type="slidenum">
              <a:rPr lang="en-US" altLang="zh-CN" sz="1200" b="0">
                <a:latin typeface="Times New Roman" panose="02020603050405020304" pitchFamily="18" charset="0"/>
              </a:rPr>
              <a:pPr/>
              <a:t>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7971CB2-1289-AF8D-265C-445C063DFD1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B3ABB7F-F69F-69A4-FD19-F5239AA52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9672AB1-B73B-BC75-592C-FFF3AC6823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6414EC-83CC-4A87-A689-5D5AB0437624}" type="slidenum">
              <a:rPr lang="en-US" altLang="zh-CN" sz="1200" b="0">
                <a:latin typeface="Times New Roman" panose="02020603050405020304" pitchFamily="18" charset="0"/>
              </a:rPr>
              <a:pPr/>
              <a:t>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882DF1A2-E095-43D0-3697-0DE2D0CADF9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C1F149E0-B35B-583E-83DB-49BA8DE84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17B0E51C-975F-5E86-83E1-DC7F605D6C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AA5A20-1B58-4837-8639-43C39E39558D}" type="slidenum">
              <a:rPr lang="en-US" altLang="zh-CN" sz="1200" b="0">
                <a:latin typeface="Times New Roman" panose="02020603050405020304" pitchFamily="18" charset="0"/>
              </a:rPr>
              <a:pPr/>
              <a:t>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B17F197-E85D-B35F-2F89-2365131AA6B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09AB83F-48A5-C9B6-70BB-D588EF60F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EB328702-602A-4344-6390-6C39D73B75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5BEB19-DDC8-489C-B487-031D56635294}" type="slidenum">
              <a:rPr lang="en-US" altLang="zh-CN" sz="1200" b="0">
                <a:latin typeface="Times New Roman" panose="02020603050405020304" pitchFamily="18" charset="0"/>
              </a:rPr>
              <a:pPr/>
              <a:t>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487EA7D-C4CB-3B04-7533-DBE59BFEC26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4D57215-1C5E-D510-6AE3-816C6505E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B733A4CB-F8F9-3FF4-3F3E-18BCE8C09F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F2B408-5E4F-462A-9686-D175EC777A4C}" type="slidenum">
              <a:rPr lang="en-US" altLang="zh-CN" sz="1200" b="0">
                <a:latin typeface="Times New Roman" panose="02020603050405020304" pitchFamily="18" charset="0"/>
              </a:rPr>
              <a:pPr/>
              <a:t>10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7E3D8ACC-B2B4-0C9F-3C5D-8DF86A139FE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0F4F699-03BA-E124-C997-86BBA058B3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69A610E-042A-5754-6DE9-0A7DA12856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33F99E-F219-43DB-8DAB-C0C709E3F465}" type="slidenum">
              <a:rPr lang="en-US" altLang="zh-CN" sz="1200" b="0">
                <a:latin typeface="Times New Roman" panose="02020603050405020304" pitchFamily="18" charset="0"/>
              </a:rPr>
              <a:pPr/>
              <a:t>11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7A897C2-2B6C-5560-81A0-4014778105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437A7349-2CFC-324E-881A-88E1CA02E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01FE0106-CB75-0F4D-5A6C-C89916A118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1F48D0-39ED-4DC8-ABE2-0FA1114F89C7}" type="slidenum">
              <a:rPr lang="en-US" altLang="zh-CN" sz="1200" b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4FD94EF-6DC4-B82E-DCFF-5D5B8A2EC5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BE84CF5-AA9E-BE8A-6B17-7217C218B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785216F3-5D0A-B515-094F-B1E8AED13E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DDADB2-2F77-46F4-AE0E-246472A060B6}" type="slidenum">
              <a:rPr lang="en-US" altLang="zh-CN" sz="1200" b="0">
                <a:latin typeface="Times New Roman" panose="02020603050405020304" pitchFamily="18" charset="0"/>
              </a:rPr>
              <a:pPr/>
              <a:t>13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27E050B-4F7E-079F-522B-907EF0CA9D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39BDAB4-4E36-79B9-9BE3-01220A21F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F18A91E8-3870-33E5-8BA7-E7F7F24AE0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B4A03B-9EAE-4670-B8A8-941D1A10F69F}" type="slidenum">
              <a:rPr lang="en-US" altLang="zh-CN" sz="1200" b="0">
                <a:latin typeface="Times New Roman" panose="02020603050405020304" pitchFamily="18" charset="0"/>
              </a:rPr>
              <a:pPr/>
              <a:t>14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A4A51B78-DA57-6A74-58BE-F13BB55186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33F7FC0D-CCF7-8E76-FE72-A06CA3D7B9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4647CE38-6089-9B54-E369-60F8695F5B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851A2B-3687-4AA8-BB21-BED2D39B1EB7}" type="slidenum">
              <a:rPr lang="en-US" altLang="zh-CN" sz="1200" b="0">
                <a:latin typeface="Times New Roman" panose="02020603050405020304" pitchFamily="18" charset="0"/>
              </a:rPr>
              <a:pPr/>
              <a:t>15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BD555DE8-BFDC-5B65-ACAE-DB68FB1EC9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5A88DFA9-6F5C-A188-47B0-CC5EF7556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5A8EA5BB-171B-677A-544D-3F187F7570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A18DC3-13F2-4AFD-967C-12C5E06B7224}" type="slidenum">
              <a:rPr lang="en-US" altLang="zh-CN" sz="1200" b="0">
                <a:latin typeface="Times New Roman" panose="02020603050405020304" pitchFamily="18" charset="0"/>
              </a:rPr>
              <a:pPr/>
              <a:t>16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1D95382-7B6C-0F1F-BEA3-6818C260FF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518FDB13-BA40-1BA0-50AE-3EF791DAD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45F80094-7D31-7AA1-B7DC-C613D097C2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B8122D-3026-45BE-BAF0-E99F0DEC9203}" type="slidenum">
              <a:rPr lang="en-US" altLang="zh-CN" sz="1200" b="0">
                <a:latin typeface="Times New Roman" panose="02020603050405020304" pitchFamily="18" charset="0"/>
              </a:rPr>
              <a:pPr/>
              <a:t>17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13835DD9-F3C8-400E-1641-27513890A1D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30AEF7E6-4B8D-2706-4D46-30313D51C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81A65799-8AD2-80E1-8EA9-EEBFDC0599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095A78-BB17-4BB2-B7B3-9CBB51D48746}" type="slidenum">
              <a:rPr lang="en-US" altLang="zh-CN" sz="1200" b="0">
                <a:latin typeface="Times New Roman" panose="02020603050405020304" pitchFamily="18" charset="0"/>
              </a:rPr>
              <a:pPr/>
              <a:t>18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09E78DDA-7A50-F872-AC94-7DB912976FC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DEF3ABF2-072B-C39F-6CD2-54F982E130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5BB9FF3-6D83-D8FE-71B1-5B142FBE2D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785F58-5858-4902-91E4-174B3E30D538}" type="slidenum">
              <a:rPr lang="en-US" altLang="zh-CN" sz="1200" b="0">
                <a:latin typeface="Times New Roman" panose="02020603050405020304" pitchFamily="18" charset="0"/>
              </a:rPr>
              <a:pPr/>
              <a:t>19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65EA82D-42DF-BE8D-E0BE-D2AA6B2CB75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11D4C111-E600-1645-2DD7-43C32A7CB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4822394-B1C8-9957-256D-CAD579305A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27E905-0B90-4D8B-B3B6-377A033C9CCD}" type="slidenum">
              <a:rPr lang="en-US" altLang="zh-CN" sz="1200" b="0">
                <a:latin typeface="Times New Roman" panose="02020603050405020304" pitchFamily="18" charset="0"/>
              </a:rPr>
              <a:pPr/>
              <a:t>20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8493AEE2-655A-5039-39B8-B0F0FED0D5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5ECBAD39-B23A-EA11-2274-33C85F516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D09E8F49-4276-C114-E003-BE70238F1D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4A845C-1A32-413E-9144-8D2C2F6DC05C}" type="slidenum">
              <a:rPr lang="en-US" altLang="zh-CN" sz="1200" b="0">
                <a:latin typeface="Times New Roman" panose="02020603050405020304" pitchFamily="18" charset="0"/>
              </a:rPr>
              <a:pPr/>
              <a:t>21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074480FC-490A-B117-9657-08172B1266B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10BFF070-31BD-83F2-B8F0-BFD22E3ADC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5421E4CF-95A4-4620-778F-377854E6FF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787EA0-A27B-4B25-A9E4-57C1E4234EDC}" type="slidenum">
              <a:rPr lang="en-US" altLang="zh-CN" sz="1200" b="0">
                <a:latin typeface="Times New Roman" panose="02020603050405020304" pitchFamily="18" charset="0"/>
              </a:rPr>
              <a:pPr/>
              <a:t>22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E7B3F6B-9BEB-D77F-1071-1739556B3ED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793ED7AA-4C65-B110-D9E8-3B7880C44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1643C466-9E0E-5B3F-4904-C570EED77B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45AAF9-E892-44E9-AF6E-D709ADAE158E}" type="slidenum">
              <a:rPr lang="en-US" altLang="zh-CN" sz="1200" b="0">
                <a:latin typeface="Times New Roman" panose="02020603050405020304" pitchFamily="18" charset="0"/>
              </a:rPr>
              <a:pPr/>
              <a:t>23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62A65593-98AD-FE95-732F-8A3EEAB9E36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44386154-45A9-D3ED-46E8-D3F5ECEBD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DDF08ADF-EECB-3D0F-6442-E3508C7D00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B6B1FC-B893-4ACD-B637-9AD36380709C}" type="slidenum">
              <a:rPr lang="en-US" altLang="zh-CN" sz="1200" b="0">
                <a:latin typeface="Times New Roman" panose="02020603050405020304" pitchFamily="18" charset="0"/>
              </a:rPr>
              <a:pPr/>
              <a:t>24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7B6FB7CA-BD82-57AD-E777-2D4BD5C3EB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A5701FD9-E6C7-89E8-D4F4-B3EEF4FB58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AE49C969-D2D2-7F4D-F7A6-6B85BC51C8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B836CC-E6A4-448A-A140-51572F687C3D}" type="slidenum">
              <a:rPr lang="en-US" altLang="zh-CN" sz="1200" b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C8A14904-A21F-5D19-77CE-0A88060C3BB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10813A53-2581-8A0F-A330-F78B67281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ECD2BD85-4C3B-1E41-0F7F-4DD1E795F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10EA0E-0D94-491C-809A-99D28F412B89}" type="slidenum">
              <a:rPr lang="en-US" altLang="zh-CN" sz="1200" b="0">
                <a:latin typeface="Times New Roman" panose="02020603050405020304" pitchFamily="18" charset="0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23C0A265-C5CD-2414-BE92-5C37B8724B9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EFB5F744-F730-28BE-E7BA-015042EAD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A5A17499-DACD-3AF5-48B2-2811BC89EB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5AA86B-8235-4F75-B587-A90E8E5D3F94}" type="slidenum">
              <a:rPr lang="en-US" altLang="zh-CN" sz="1200" b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54388A14-191E-A39B-916F-F15159E5BF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B86610E-75F7-BA78-F058-93291E638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4B77E5F5-9527-3ECA-B3CC-BAFADF081B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7F52CC-6A79-4C7A-B3D1-4F107259B6A9}" type="slidenum">
              <a:rPr lang="en-US" altLang="zh-CN" sz="1200" b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CC5645DC-523D-7FD9-772F-339486DE685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484376CF-C6FC-3BA0-0C2D-982EAA007D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F8A8479F-0DE9-60DF-E5A6-DD55FF8241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89DB3D-838F-4241-95E2-813A421D7091}" type="slidenum">
              <a:rPr lang="en-US" altLang="zh-CN" sz="1200" b="0">
                <a:latin typeface="Times New Roman" panose="02020603050405020304" pitchFamily="18" charset="0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815C859B-A4C7-8A31-10F8-A69752D553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B0E69C86-04C8-03E5-0461-D8EBB3165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0CFA8D1-ABA9-D3C5-747F-0C50498D2B0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6232E1B-4924-C3AE-91FE-7035AA2E3B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3ECEE185-E7CF-D7F2-C16F-60788C52D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8A3A3909-3C84-538A-D043-5B9704E70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FCB4AD7-1FFB-0F3C-F8C0-F4AEC5C59E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F8FE682-F521-867A-2BA9-AE855AAE3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D62D92C-9E5B-A9B6-3843-004350A815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C4F07FC-147A-86EE-020C-D8F77A5F7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4338BE7-1601-0644-4FF6-27FACF0FA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005DB2C9-4A8C-E821-E7A8-2E9EA7F667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6AFBA84C-8283-BA4D-8B38-5BD738A352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7B4789B0-FF06-6411-97D5-D9152C3A37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62E451F-B1D0-D3EF-4A1A-96E98A9926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C454F3F-9CC3-19F0-74B1-CAF2AB558D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7B0199CD-BD4D-4F09-AC09-3F23AEC6FB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ED045926-1483-4506-BA9E-7A4F32B41B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679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0E65426E-5E39-8051-0BDD-0F558AFCF1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F3026252-3C72-4122-B1FA-87D405206A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86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BF7BB9F-B765-91BE-6575-43AB206B005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B8184332-7CEB-4EAD-949E-2075C8698F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623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BB90E884-92A4-1411-01DF-31CD21FFD6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4A7FE7F7-6EA3-40A3-8011-4E055F5218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38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D63BAB9A-C995-3CAC-CACE-DA009C1F2BF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0D6B81DF-EEEA-45AA-90FE-FC86F08633B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692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DD34AE9A-E8B8-AEA4-F249-6DBDEA9684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F32FFE68-B9AD-4C0D-94FA-3E20CD9AB3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168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6FBFEC2C-178D-6B98-0123-8A7E6F92FB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59798354-D954-42B4-A2F2-726C126D3E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9744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186A27C9-6208-B313-5B60-2EACDD94AD5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6E55622B-2C4D-4CDC-BAB4-6E2BA773BC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9956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EDA9E57B-EB8F-407F-D69D-FD8BCE46B61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9F502DD5-7FA3-42F2-B1F7-59655586BA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387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D10E362-82FF-B6CE-7F7C-B934DE767DF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19525CE8-2618-4F76-8B89-090DC8A51F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137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6656466B-FF3D-9FC1-2781-1F951297DF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F4F54C64-F9D9-42A2-BF04-F9A9726EF1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019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E117ACAC-0412-F75D-978C-250A17A8A98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14.</a:t>
            </a:r>
            <a:fld id="{05320647-3AE7-448D-9599-FBCF9ECD5A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1953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4FD569A3-CEF9-1105-031F-7AFDFCFB24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14.</a:t>
            </a:r>
            <a:fld id="{78F9489B-8990-4800-8A80-D666D01F9CD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2">
            <a:extLst>
              <a:ext uri="{FF2B5EF4-FFF2-40B4-BE49-F238E27FC236}">
                <a16:creationId xmlns:a16="http://schemas.microsoft.com/office/drawing/2014/main" id="{6CA6AA53-680C-95B2-BA6C-D2099CA83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8E3502CA-C491-4457-A63E-591C48CF4B25}" type="slidenum">
              <a:rPr lang="en-US" altLang="zh-CN" sz="2000">
                <a:solidFill>
                  <a:schemeClr val="bg2"/>
                </a:solidFill>
              </a:rPr>
              <a:pPr/>
              <a:t>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pic>
        <p:nvPicPr>
          <p:cNvPr id="3075" name="Picture 2" descr="Forouzan4e07_banner">
            <a:extLst>
              <a:ext uri="{FF2B5EF4-FFF2-40B4-BE49-F238E27FC236}">
                <a16:creationId xmlns:a16="http://schemas.microsoft.com/office/drawing/2014/main" id="{F143BB9D-7AC8-45A9-C3B5-94A0838ADCE6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3">
            <a:extLst>
              <a:ext uri="{FF2B5EF4-FFF2-40B4-BE49-F238E27FC236}">
                <a16:creationId xmlns:a16="http://schemas.microsoft.com/office/drawing/2014/main" id="{4267F8DE-97FC-88BF-BF61-A1903F011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en-US" sz="4400">
                <a:solidFill>
                  <a:schemeClr val="tx2"/>
                </a:solidFill>
              </a:rPr>
              <a:t>14</a:t>
            </a:r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章</a:t>
            </a:r>
            <a:endParaRPr lang="en-US" altLang="en-US" sz="4400">
              <a:solidFill>
                <a:schemeClr val="tx2"/>
              </a:solidFill>
            </a:endParaRP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zh-CN" altLang="en-US">
                <a:solidFill>
                  <a:srgbClr val="FF0066"/>
                </a:solidFill>
                <a:ea typeface="宋体" panose="02010600030101010101" pitchFamily="2" charset="-122"/>
              </a:rPr>
              <a:t>无线局域网</a:t>
            </a:r>
            <a:endParaRPr lang="en-US" altLang="zh-CN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077" name="Text Box 4">
            <a:extLst>
              <a:ext uri="{FF2B5EF4-FFF2-40B4-BE49-F238E27FC236}">
                <a16:creationId xmlns:a16="http://schemas.microsoft.com/office/drawing/2014/main" id="{FCFFA3BF-25F0-8755-CD4D-BEC1DB14E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>
            <a:extLst>
              <a:ext uri="{FF2B5EF4-FFF2-40B4-BE49-F238E27FC236}">
                <a16:creationId xmlns:a16="http://schemas.microsoft.com/office/drawing/2014/main" id="{814DD59C-6A4F-4B63-E531-742598ADA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988DDB2B-FFD8-47BE-A6C3-98AA68CBE715}" type="slidenum">
              <a:rPr lang="en-US" altLang="zh-CN" sz="2000">
                <a:solidFill>
                  <a:schemeClr val="bg2"/>
                </a:solidFill>
              </a:rPr>
              <a:pPr/>
              <a:t>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5081A5AD-0FEF-5D25-35C4-1C7D71C3C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EE8F11CA-D9D2-0307-F535-1A5013D63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425825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14-1   IEEE 802.11</a:t>
            </a: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A809FD23-45A5-42C9-5229-8CE8DA59C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F721FBA2-2344-885D-C37B-08D438571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808163"/>
            <a:ext cx="8229600" cy="95408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定义的无线局域网规范称做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IEEE 802.11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，该规范涵盖了物理层和数据链路层。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3" name="Rectangle 29">
            <a:extLst>
              <a:ext uri="{FF2B5EF4-FFF2-40B4-BE49-F238E27FC236}">
                <a16:creationId xmlns:a16="http://schemas.microsoft.com/office/drawing/2014/main" id="{31411611-80CF-E9DC-F353-8213FA159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体系结构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子层</a:t>
            </a:r>
            <a:endParaRPr lang="fr-FR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物理层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1412CE8F-2980-DCD7-EE24-CEF3C9309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4203700"/>
            <a:ext cx="37909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本节重点讨论的话题：</a:t>
            </a:r>
            <a:endParaRPr lang="en-US" altLang="zh-CN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FCDD9449-29A0-8D58-7392-114C55BD7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87FEC1BB-D2DA-4502-BEDF-522A3AB2B1F4}" type="slidenum">
              <a:rPr lang="en-US" altLang="zh-CN" sz="2000">
                <a:solidFill>
                  <a:schemeClr val="bg2"/>
                </a:solidFill>
              </a:rPr>
              <a:pPr/>
              <a:t>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7121407-E27B-1666-FE1F-EF4B23A02D2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A99A6CED-F787-AA8C-6AFB-1B2919ED31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24A026BF-4E2F-C29A-E43A-20AE1E112DF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6" name="Rectangle 5">
            <a:extLst>
              <a:ext uri="{FF2B5EF4-FFF2-40B4-BE49-F238E27FC236}">
                <a16:creationId xmlns:a16="http://schemas.microsoft.com/office/drawing/2014/main" id="{0202FFCB-CDC8-23CF-C6BB-7F5F763A72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7" name="Rectangle 6">
            <a:extLst>
              <a:ext uri="{FF2B5EF4-FFF2-40B4-BE49-F238E27FC236}">
                <a16:creationId xmlns:a16="http://schemas.microsoft.com/office/drawing/2014/main" id="{227550EF-AEA2-8A08-7D21-8A61E1B890E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8" name="Rectangle 7">
            <a:extLst>
              <a:ext uri="{FF2B5EF4-FFF2-40B4-BE49-F238E27FC236}">
                <a16:creationId xmlns:a16="http://schemas.microsoft.com/office/drawing/2014/main" id="{26EC71F1-E1DA-4E69-17A3-7162BB82D2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9" name="Rectangle 8">
            <a:extLst>
              <a:ext uri="{FF2B5EF4-FFF2-40B4-BE49-F238E27FC236}">
                <a16:creationId xmlns:a16="http://schemas.microsoft.com/office/drawing/2014/main" id="{C92E78E1-54B8-22FD-EEF8-C70E1289C0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30" name="Line 9">
            <a:extLst>
              <a:ext uri="{FF2B5EF4-FFF2-40B4-BE49-F238E27FC236}">
                <a16:creationId xmlns:a16="http://schemas.microsoft.com/office/drawing/2014/main" id="{D8941B1C-29BD-BA3D-BA19-29E6B313E1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1" name="Line 10">
            <a:extLst>
              <a:ext uri="{FF2B5EF4-FFF2-40B4-BE49-F238E27FC236}">
                <a16:creationId xmlns:a16="http://schemas.microsoft.com/office/drawing/2014/main" id="{CB82F428-143E-95B2-2E6C-49A15F694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867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2" name="Rectangle 11">
            <a:extLst>
              <a:ext uri="{FF2B5EF4-FFF2-40B4-BE49-F238E27FC236}">
                <a16:creationId xmlns:a16="http://schemas.microsoft.com/office/drawing/2014/main" id="{0BA173DD-AE84-5DC2-4C44-DFB8C173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30464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不带</a:t>
            </a:r>
            <a:r>
              <a:rPr lang="en-US" altLang="zh-CN">
                <a:ea typeface="宋体" panose="02010600030101010101" pitchFamily="2" charset="-122"/>
              </a:rPr>
              <a:t>AP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BSS</a:t>
            </a:r>
            <a:r>
              <a:rPr lang="zh-CN" altLang="en-US">
                <a:ea typeface="宋体" panose="02010600030101010101" pitchFamily="2" charset="-122"/>
              </a:rPr>
              <a:t>称为</a:t>
            </a:r>
            <a:r>
              <a:rPr lang="en-US" altLang="zh-CN">
                <a:ea typeface="宋体" panose="02010600030101010101" pitchFamily="2" charset="-122"/>
              </a:rPr>
              <a:t>ad hoc</a:t>
            </a:r>
            <a:r>
              <a:rPr lang="zh-CN" altLang="en-US">
                <a:ea typeface="宋体" panose="02010600030101010101" pitchFamily="2" charset="-122"/>
              </a:rPr>
              <a:t>网络；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带</a:t>
            </a:r>
            <a:r>
              <a:rPr lang="en-US" altLang="zh-CN">
                <a:ea typeface="宋体" panose="02010600030101010101" pitchFamily="2" charset="-122"/>
              </a:rPr>
              <a:t>AP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BSS</a:t>
            </a:r>
            <a:r>
              <a:rPr lang="zh-CN" altLang="en-US">
                <a:ea typeface="宋体" panose="02010600030101010101" pitchFamily="2" charset="-122"/>
              </a:rPr>
              <a:t>称为基础网络。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AP:Access Point</a:t>
            </a:r>
            <a:r>
              <a:rPr lang="zh-CN" altLang="en-US">
                <a:ea typeface="宋体" panose="02010600030101010101" pitchFamily="2" charset="-122"/>
              </a:rPr>
              <a:t>访问点、热点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BSS:Basic Service Set</a:t>
            </a:r>
            <a:r>
              <a:rPr lang="zh-CN" altLang="en-US">
                <a:ea typeface="宋体" panose="02010600030101010101" pitchFamily="2" charset="-122"/>
              </a:rPr>
              <a:t>基本服务集定义为无线局域网的积木块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5133" name="Group 12">
            <a:extLst>
              <a:ext uri="{FF2B5EF4-FFF2-40B4-BE49-F238E27FC236}">
                <a16:creationId xmlns:a16="http://schemas.microsoft.com/office/drawing/2014/main" id="{A01A245A-4F72-7E7E-0FCC-9DC34F58F95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5134" name="Picture 13">
              <a:extLst>
                <a:ext uri="{FF2B5EF4-FFF2-40B4-BE49-F238E27FC236}">
                  <a16:creationId xmlns:a16="http://schemas.microsoft.com/office/drawing/2014/main" id="{D9CD5A49-2E5C-0D26-60E7-B17CE4230D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5" name="Text Box 14">
              <a:extLst>
                <a:ext uri="{FF2B5EF4-FFF2-40B4-BE49-F238E27FC236}">
                  <a16:creationId xmlns:a16="http://schemas.microsoft.com/office/drawing/2014/main" id="{43C46006-2864-4B61-217C-7881307BC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FC0DBCD4-C940-F8E9-1B91-61676108A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5CAAE4F9-95D5-44F5-9865-1239DD8AD7AD}" type="slidenum">
              <a:rPr lang="en-US" altLang="zh-CN" sz="2000">
                <a:solidFill>
                  <a:schemeClr val="bg2"/>
                </a:solidFill>
              </a:rPr>
              <a:pPr/>
              <a:t>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147" name="Line 2">
            <a:extLst>
              <a:ext uri="{FF2B5EF4-FFF2-40B4-BE49-F238E27FC236}">
                <a16:creationId xmlns:a16="http://schemas.microsoft.com/office/drawing/2014/main" id="{DD8B31A6-D5EA-2A52-91E8-4737102C98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Line 3">
            <a:extLst>
              <a:ext uri="{FF2B5EF4-FFF2-40B4-BE49-F238E27FC236}">
                <a16:creationId xmlns:a16="http://schemas.microsoft.com/office/drawing/2014/main" id="{C20DC425-E41E-C0BF-AFB5-FAC06B1C09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E82BD373-C799-02CB-D21A-9C4211D68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203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基本服务集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(BSS)</a:t>
            </a:r>
          </a:p>
        </p:txBody>
      </p:sp>
      <p:sp>
        <p:nvSpPr>
          <p:cNvPr id="6150" name="Line 5">
            <a:extLst>
              <a:ext uri="{FF2B5EF4-FFF2-40B4-BE49-F238E27FC236}">
                <a16:creationId xmlns:a16="http://schemas.microsoft.com/office/drawing/2014/main" id="{489EB334-196D-0A50-C896-5119AD131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51" name="Picture 7">
            <a:extLst>
              <a:ext uri="{FF2B5EF4-FFF2-40B4-BE49-F238E27FC236}">
                <a16:creationId xmlns:a16="http://schemas.microsoft.com/office/drawing/2014/main" id="{714076A2-506E-8805-730E-FBA68F070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1731963"/>
            <a:ext cx="8491537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Box 7">
            <a:extLst>
              <a:ext uri="{FF2B5EF4-FFF2-40B4-BE49-F238E27FC236}">
                <a16:creationId xmlns:a16="http://schemas.microsoft.com/office/drawing/2014/main" id="{20D70106-8614-E925-DCFA-3B8000BBF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86400"/>
            <a:ext cx="411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ea typeface="宋体" panose="02010600030101010101" pitchFamily="2" charset="-122"/>
              </a:rPr>
              <a:t>Ad hoc</a:t>
            </a:r>
            <a:r>
              <a:rPr lang="zh-CN" altLang="en-US" sz="2000">
                <a:ea typeface="宋体" panose="02010600030101010101" pitchFamily="2" charset="-122"/>
              </a:rPr>
              <a:t>特别的体系结构，独立不能向其他</a:t>
            </a:r>
            <a:r>
              <a:rPr lang="en-US" altLang="zh-CN" sz="2000">
                <a:ea typeface="宋体" panose="02010600030101010101" pitchFamily="2" charset="-122"/>
              </a:rPr>
              <a:t>BSS</a:t>
            </a:r>
            <a:r>
              <a:rPr lang="zh-CN" altLang="en-US" sz="2000">
                <a:ea typeface="宋体" panose="02010600030101010101" pitchFamily="2" charset="-122"/>
              </a:rPr>
              <a:t>发送数据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3C113424-AAC6-95F6-7051-E11CCCD5E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FF1FDF33-1AFB-4D93-A318-78382D5E19B9}" type="slidenum">
              <a:rPr lang="en-US" altLang="zh-CN" sz="2000">
                <a:solidFill>
                  <a:schemeClr val="bg2"/>
                </a:solidFill>
              </a:rPr>
              <a:pPr/>
              <a:t>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9F435F70-0A2A-9698-1DE6-A5AE73EDD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3">
            <a:extLst>
              <a:ext uri="{FF2B5EF4-FFF2-40B4-BE49-F238E27FC236}">
                <a16:creationId xmlns:a16="http://schemas.microsoft.com/office/drawing/2014/main" id="{8D6C3929-600A-D776-63AF-D0F1ED739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3B2E5F93-42C5-8EC8-100A-B3B72915C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203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14.2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扩展服务集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(ESS)</a:t>
            </a:r>
          </a:p>
        </p:txBody>
      </p:sp>
      <p:sp>
        <p:nvSpPr>
          <p:cNvPr id="7174" name="Line 5">
            <a:extLst>
              <a:ext uri="{FF2B5EF4-FFF2-40B4-BE49-F238E27FC236}">
                <a16:creationId xmlns:a16="http://schemas.microsoft.com/office/drawing/2014/main" id="{419EBB1E-F6E7-138F-C21E-20F2F2B5E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5" name="Picture 6">
            <a:extLst>
              <a:ext uri="{FF2B5EF4-FFF2-40B4-BE49-F238E27FC236}">
                <a16:creationId xmlns:a16="http://schemas.microsoft.com/office/drawing/2014/main" id="{55CE1D75-2140-CFB9-50DA-E97AEE0F6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87500"/>
            <a:ext cx="60325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Box 7">
            <a:extLst>
              <a:ext uri="{FF2B5EF4-FFF2-40B4-BE49-F238E27FC236}">
                <a16:creationId xmlns:a16="http://schemas.microsoft.com/office/drawing/2014/main" id="{128C34C6-827F-F211-5541-22952F9DF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133600"/>
            <a:ext cx="23622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ea typeface="宋体" panose="02010600030101010101" pitchFamily="2" charset="-122"/>
              </a:rPr>
              <a:t>由</a:t>
            </a:r>
            <a:r>
              <a:rPr lang="en-US" altLang="zh-CN" sz="2000">
                <a:ea typeface="宋体" panose="02010600030101010101" pitchFamily="2" charset="-122"/>
              </a:rPr>
              <a:t>2</a:t>
            </a:r>
            <a:r>
              <a:rPr lang="zh-CN" altLang="en-US" sz="2000">
                <a:ea typeface="宋体" panose="02010600030101010101" pitchFamily="2" charset="-122"/>
              </a:rPr>
              <a:t>个或更多个带有</a:t>
            </a:r>
            <a:r>
              <a:rPr lang="en-US" altLang="zh-CN" sz="2000">
                <a:ea typeface="宋体" panose="02010600030101010101" pitchFamily="2" charset="-122"/>
              </a:rPr>
              <a:t>AP</a:t>
            </a:r>
            <a:r>
              <a:rPr lang="zh-CN" altLang="en-US" sz="2000">
                <a:ea typeface="宋体" panose="02010600030101010101" pitchFamily="2" charset="-122"/>
              </a:rPr>
              <a:t>的</a:t>
            </a:r>
            <a:r>
              <a:rPr lang="en-US" altLang="zh-CN" sz="2000">
                <a:ea typeface="宋体" panose="02010600030101010101" pitchFamily="2" charset="-122"/>
              </a:rPr>
              <a:t>BSS</a:t>
            </a:r>
            <a:r>
              <a:rPr lang="zh-CN" altLang="en-US" sz="2000">
                <a:ea typeface="宋体" panose="02010600030101010101" pitchFamily="2" charset="-122"/>
              </a:rPr>
              <a:t>的组成</a:t>
            </a:r>
            <a:endParaRPr lang="en-US" altLang="zh-CN" sz="2000"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r>
              <a:rPr lang="zh-CN" altLang="en-US" sz="2000">
                <a:ea typeface="宋体" panose="02010600030101010101" pitchFamily="2" charset="-122"/>
              </a:rPr>
              <a:t>切换和漫游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240C8C77-8535-900D-21C3-08509D1566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22D21D11-373F-45C0-B0DD-779F650AB2D6}" type="slidenum">
              <a:rPr lang="en-US" altLang="zh-CN" sz="2000">
                <a:solidFill>
                  <a:schemeClr val="bg2"/>
                </a:solidFill>
              </a:rPr>
              <a:pPr/>
              <a:t>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195" name="Line 2">
            <a:extLst>
              <a:ext uri="{FF2B5EF4-FFF2-40B4-BE49-F238E27FC236}">
                <a16:creationId xmlns:a16="http://schemas.microsoft.com/office/drawing/2014/main" id="{8FA8A8F2-165E-774F-C355-06B000A5D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3">
            <a:extLst>
              <a:ext uri="{FF2B5EF4-FFF2-40B4-BE49-F238E27FC236}">
                <a16:creationId xmlns:a16="http://schemas.microsoft.com/office/drawing/2014/main" id="{4B878AB3-98E5-CDA6-5A6B-14062666C8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D5DC423C-5BDB-6667-FF72-F95ADC127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60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14.3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802.11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标准中的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层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8169D6C6-3023-7DB5-E861-A0518D876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9" name="Picture 6">
            <a:extLst>
              <a:ext uri="{FF2B5EF4-FFF2-40B4-BE49-F238E27FC236}">
                <a16:creationId xmlns:a16="http://schemas.microsoft.com/office/drawing/2014/main" id="{916A359C-082E-3ACF-4F13-09AF7981C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751013"/>
            <a:ext cx="8556625" cy="350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TextBox 7">
            <a:extLst>
              <a:ext uri="{FF2B5EF4-FFF2-40B4-BE49-F238E27FC236}">
                <a16:creationId xmlns:a16="http://schemas.microsoft.com/office/drawing/2014/main" id="{B5CA8544-B936-7D4F-AC27-2F2F984AD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638800"/>
            <a:ext cx="647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ea typeface="宋体" panose="02010600030101010101" pitchFamily="2" charset="-122"/>
              </a:rPr>
              <a:t>DCF</a:t>
            </a:r>
            <a:r>
              <a:rPr lang="zh-CN" altLang="en-US" sz="2000">
                <a:ea typeface="宋体" panose="02010600030101010101" pitchFamily="2" charset="-122"/>
              </a:rPr>
              <a:t>使用</a:t>
            </a:r>
            <a:r>
              <a:rPr lang="en-US" altLang="zh-CN" sz="2000">
                <a:ea typeface="宋体" panose="02010600030101010101" pitchFamily="2" charset="-122"/>
              </a:rPr>
              <a:t>CSMA/CA</a:t>
            </a:r>
            <a:r>
              <a:rPr lang="zh-CN" altLang="en-US" sz="2000">
                <a:ea typeface="宋体" panose="02010600030101010101" pitchFamily="2" charset="-122"/>
              </a:rPr>
              <a:t>协议；</a:t>
            </a:r>
            <a:r>
              <a:rPr lang="en-US" altLang="zh-CN" sz="2000">
                <a:ea typeface="宋体" panose="02010600030101010101" pitchFamily="2" charset="-122"/>
              </a:rPr>
              <a:t>PCF</a:t>
            </a:r>
            <a:r>
              <a:rPr lang="zh-CN" altLang="en-US" sz="2000">
                <a:ea typeface="宋体" panose="02010600030101010101" pitchFamily="2" charset="-122"/>
              </a:rPr>
              <a:t>使用轮询协议。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18C86AB0-3287-3836-5B66-07611E822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24E0EB2A-D794-4C68-9125-3EAFC175F20C}" type="slidenum">
              <a:rPr lang="en-US" altLang="zh-CN" sz="2000">
                <a:solidFill>
                  <a:schemeClr val="bg2"/>
                </a:solidFill>
              </a:rPr>
              <a:pPr/>
              <a:t>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219" name="Line 2">
            <a:extLst>
              <a:ext uri="{FF2B5EF4-FFF2-40B4-BE49-F238E27FC236}">
                <a16:creationId xmlns:a16="http://schemas.microsoft.com/office/drawing/2014/main" id="{D3F7A428-CC80-D235-8652-6A18D6F09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Line 3">
            <a:extLst>
              <a:ext uri="{FF2B5EF4-FFF2-40B4-BE49-F238E27FC236}">
                <a16:creationId xmlns:a16="http://schemas.microsoft.com/office/drawing/2014/main" id="{4AE5343B-BAAB-EE47-E846-6F4D74B41E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85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F11E0D4B-1B0F-2C2F-ABAE-BCCEA8113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3159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14.4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CSMA/CA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流程图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2" name="Line 5">
            <a:extLst>
              <a:ext uri="{FF2B5EF4-FFF2-40B4-BE49-F238E27FC236}">
                <a16:creationId xmlns:a16="http://schemas.microsoft.com/office/drawing/2014/main" id="{BFF3D69A-BA46-1895-F6AE-C6BC3884C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223" name="Picture 7">
            <a:extLst>
              <a:ext uri="{FF2B5EF4-FFF2-40B4-BE49-F238E27FC236}">
                <a16:creationId xmlns:a16="http://schemas.microsoft.com/office/drawing/2014/main" id="{A479B317-4977-0C3C-45FF-7DEE4AC5D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00113"/>
            <a:ext cx="4268788" cy="527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TextBox 7">
            <a:extLst>
              <a:ext uri="{FF2B5EF4-FFF2-40B4-BE49-F238E27FC236}">
                <a16:creationId xmlns:a16="http://schemas.microsoft.com/office/drawing/2014/main" id="{8388C1D8-67AF-3C32-8BA7-94BC7D55D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90600"/>
            <a:ext cx="2286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ea typeface="宋体" panose="02010600030101010101" pitchFamily="2" charset="-122"/>
              </a:rPr>
              <a:t>见</a:t>
            </a:r>
            <a:r>
              <a:rPr lang="en-US" altLang="zh-CN" sz="2000">
                <a:ea typeface="宋体" panose="02010600030101010101" pitchFamily="2" charset="-122"/>
              </a:rPr>
              <a:t>P282</a:t>
            </a:r>
            <a:r>
              <a:rPr lang="zh-CN" altLang="en-US" sz="2000">
                <a:ea typeface="宋体" panose="02010600030101010101" pitchFamily="2" charset="-122"/>
              </a:rPr>
              <a:t>详细步骤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72C4F8FC-E539-7F84-5FEF-C20A296113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D7B0D937-C543-4ACD-8ADE-2D32A431512C}" type="slidenum">
              <a:rPr lang="en-US" altLang="zh-CN" sz="2000">
                <a:solidFill>
                  <a:schemeClr val="bg2"/>
                </a:solidFill>
              </a:rPr>
              <a:pPr/>
              <a:t>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243" name="Line 2">
            <a:extLst>
              <a:ext uri="{FF2B5EF4-FFF2-40B4-BE49-F238E27FC236}">
                <a16:creationId xmlns:a16="http://schemas.microsoft.com/office/drawing/2014/main" id="{0636C2BD-5D15-C3EA-5DE4-59F78D482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2705C6B1-7A19-7784-72EE-D78DEDB4F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275A7BA4-A3D4-85A8-3543-8ECCF3567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3168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14.5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CSMA/CA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NAV</a:t>
            </a:r>
          </a:p>
        </p:txBody>
      </p:sp>
      <p:sp>
        <p:nvSpPr>
          <p:cNvPr id="10246" name="Line 5">
            <a:extLst>
              <a:ext uri="{FF2B5EF4-FFF2-40B4-BE49-F238E27FC236}">
                <a16:creationId xmlns:a16="http://schemas.microsoft.com/office/drawing/2014/main" id="{0FFC99C4-1DC9-399F-596F-368FC662C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47" name="Picture 6">
            <a:extLst>
              <a:ext uri="{FF2B5EF4-FFF2-40B4-BE49-F238E27FC236}">
                <a16:creationId xmlns:a16="http://schemas.microsoft.com/office/drawing/2014/main" id="{A0D58525-8335-C98B-EDC7-586ED9F41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838200"/>
            <a:ext cx="8328025" cy="423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TextBox 7">
            <a:extLst>
              <a:ext uri="{FF2B5EF4-FFF2-40B4-BE49-F238E27FC236}">
                <a16:creationId xmlns:a16="http://schemas.microsoft.com/office/drawing/2014/main" id="{A7BCCDD7-F9E6-ECE7-A579-D1BFCAE13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953000"/>
            <a:ext cx="6477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ea typeface="宋体" panose="02010600030101010101" pitchFamily="2" charset="-122"/>
              </a:rPr>
              <a:t>当一个站点发送</a:t>
            </a:r>
            <a:r>
              <a:rPr lang="en-US" altLang="zh-CN" sz="2000">
                <a:ea typeface="宋体" panose="02010600030101010101" pitchFamily="2" charset="-122"/>
              </a:rPr>
              <a:t>RTS</a:t>
            </a:r>
            <a:r>
              <a:rPr lang="zh-CN" altLang="en-US" sz="2000">
                <a:ea typeface="宋体" panose="02010600030101010101" pitchFamily="2" charset="-122"/>
              </a:rPr>
              <a:t>帧，其包含了需要占据通道的时间，其他站点建立一个网络分配矢量</a:t>
            </a:r>
            <a:r>
              <a:rPr lang="en-US" altLang="zh-CN" sz="2000">
                <a:ea typeface="宋体" panose="02010600030101010101" pitchFamily="2" charset="-122"/>
              </a:rPr>
              <a:t>(network allocation vector, NAV)</a:t>
            </a:r>
            <a:r>
              <a:rPr lang="zh-CN" altLang="en-US" sz="2000">
                <a:ea typeface="宋体" panose="02010600030101010101" pitchFamily="2" charset="-122"/>
              </a:rPr>
              <a:t>定时器，其指出允许这些站点检测通道是否空闲之前还必须经过多长时间。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405EDBCD-8E89-1CB1-21E3-C7B34C412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16B5620D-BE3C-41F5-861E-9947399071C4}" type="slidenum">
              <a:rPr lang="en-US" altLang="zh-CN" sz="2000">
                <a:solidFill>
                  <a:schemeClr val="bg2"/>
                </a:solidFill>
              </a:rPr>
              <a:pPr/>
              <a:t>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E24A43E-E903-D98D-8328-8F8F5D3EC1D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09D95A3D-F4D0-939E-9293-522BB1D18C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17BD37BA-2B5B-39A5-701C-F557C99229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0D849F04-EEF6-25E2-EBFF-267F65E9962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E598C40A-1EC5-2017-53FC-A4E17DF559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2" name="Rectangle 7">
            <a:extLst>
              <a:ext uri="{FF2B5EF4-FFF2-40B4-BE49-F238E27FC236}">
                <a16:creationId xmlns:a16="http://schemas.microsoft.com/office/drawing/2014/main" id="{F0BC706C-D9E1-B313-DFD2-034267E0D1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3" name="Rectangle 8">
            <a:extLst>
              <a:ext uri="{FF2B5EF4-FFF2-40B4-BE49-F238E27FC236}">
                <a16:creationId xmlns:a16="http://schemas.microsoft.com/office/drawing/2014/main" id="{B91B0976-0AFF-96B0-C50B-BA5EF012045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4" name="Line 9">
            <a:extLst>
              <a:ext uri="{FF2B5EF4-FFF2-40B4-BE49-F238E27FC236}">
                <a16:creationId xmlns:a16="http://schemas.microsoft.com/office/drawing/2014/main" id="{B48A46EE-5531-3E0D-40E5-16B889BFB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5" name="Line 10">
            <a:extLst>
              <a:ext uri="{FF2B5EF4-FFF2-40B4-BE49-F238E27FC236}">
                <a16:creationId xmlns:a16="http://schemas.microsoft.com/office/drawing/2014/main" id="{9DFDA0F3-7FF7-5916-DF6C-B6DBB5041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6" name="Rectangle 11">
            <a:extLst>
              <a:ext uri="{FF2B5EF4-FFF2-40B4-BE49-F238E27FC236}">
                <a16:creationId xmlns:a16="http://schemas.microsoft.com/office/drawing/2014/main" id="{EDFBDD68-6A4A-0B2E-7BDD-6F84B3FE4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PCF</a:t>
            </a:r>
            <a:r>
              <a:rPr lang="zh-CN" altLang="en-US">
                <a:ea typeface="宋体" panose="02010600030101010101" pitchFamily="2" charset="-122"/>
              </a:rPr>
              <a:t>只用在基础设施网络中使用，是集中式、无竞争的轮询访问方式（</a:t>
            </a:r>
            <a:r>
              <a:rPr lang="en-US" altLang="zh-CN">
                <a:ea typeface="宋体" panose="02010600030101010101" pitchFamily="2" charset="-122"/>
              </a:rPr>
              <a:t>AP</a:t>
            </a:r>
            <a:r>
              <a:rPr lang="zh-CN" altLang="en-US">
                <a:ea typeface="宋体" panose="02010600030101010101" pitchFamily="2" charset="-122"/>
              </a:rPr>
              <a:t>轮询），在</a:t>
            </a:r>
            <a:r>
              <a:rPr lang="en-US" altLang="zh-CN">
                <a:ea typeface="宋体" panose="02010600030101010101" pitchFamily="2" charset="-122"/>
              </a:rPr>
              <a:t>DCF</a:t>
            </a:r>
            <a:r>
              <a:rPr lang="zh-CN" altLang="en-US">
                <a:ea typeface="宋体" panose="02010600030101010101" pitchFamily="2" charset="-122"/>
              </a:rPr>
              <a:t>上实现，用于对时间敏感的传输；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1277" name="Group 12">
            <a:extLst>
              <a:ext uri="{FF2B5EF4-FFF2-40B4-BE49-F238E27FC236}">
                <a16:creationId xmlns:a16="http://schemas.microsoft.com/office/drawing/2014/main" id="{14DD59EA-A928-FA82-E469-539C8839A4C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278" name="Picture 13">
              <a:extLst>
                <a:ext uri="{FF2B5EF4-FFF2-40B4-BE49-F238E27FC236}">
                  <a16:creationId xmlns:a16="http://schemas.microsoft.com/office/drawing/2014/main" id="{BA72700C-D53D-1229-5835-905C330667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9" name="Text Box 14">
              <a:extLst>
                <a:ext uri="{FF2B5EF4-FFF2-40B4-BE49-F238E27FC236}">
                  <a16:creationId xmlns:a16="http://schemas.microsoft.com/office/drawing/2014/main" id="{16F94721-8F38-F43E-813B-20D80179B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BE778F6A-FDCD-4B1C-5B24-3553C0129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1C231FD1-C820-45C5-8EEB-B328C3CA7E25}" type="slidenum">
              <a:rPr lang="en-US" altLang="zh-CN" sz="2000">
                <a:solidFill>
                  <a:schemeClr val="bg2"/>
                </a:solidFill>
              </a:rPr>
              <a:pPr/>
              <a:t>10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944B5ED0-0C5C-BED9-B7CA-A2F1FAA5C2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D17262D1-ED6A-C233-976D-C99258B50C4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0E845B7D-6288-D679-BD29-66966BD193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10AFF763-FA44-938F-BC7F-8A5456490F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277F0943-9ED6-EC77-7F43-09D07F8F509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6" name="Rectangle 7">
            <a:extLst>
              <a:ext uri="{FF2B5EF4-FFF2-40B4-BE49-F238E27FC236}">
                <a16:creationId xmlns:a16="http://schemas.microsoft.com/office/drawing/2014/main" id="{775D4097-8867-55F0-ED5C-61DC849649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7" name="Rectangle 8">
            <a:extLst>
              <a:ext uri="{FF2B5EF4-FFF2-40B4-BE49-F238E27FC236}">
                <a16:creationId xmlns:a16="http://schemas.microsoft.com/office/drawing/2014/main" id="{A953AD1F-A9E8-B090-27F1-0AEE91FDB7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8" name="Line 9">
            <a:extLst>
              <a:ext uri="{FF2B5EF4-FFF2-40B4-BE49-F238E27FC236}">
                <a16:creationId xmlns:a16="http://schemas.microsoft.com/office/drawing/2014/main" id="{7269500B-E4DD-FD68-A30E-D0A69338E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75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9" name="Line 10">
            <a:extLst>
              <a:ext uri="{FF2B5EF4-FFF2-40B4-BE49-F238E27FC236}">
                <a16:creationId xmlns:a16="http://schemas.microsoft.com/office/drawing/2014/main" id="{B5046245-FC8E-FFB2-1FBC-D7F9970D0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943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0" name="Rectangle 11">
            <a:extLst>
              <a:ext uri="{FF2B5EF4-FFF2-40B4-BE49-F238E27FC236}">
                <a16:creationId xmlns:a16="http://schemas.microsoft.com/office/drawing/2014/main" id="{3B17AA41-6AF8-5965-D861-76633E9B8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844675"/>
            <a:ext cx="8077200" cy="40322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PCF</a:t>
            </a:r>
            <a:r>
              <a:rPr lang="zh-CN" altLang="en-US">
                <a:ea typeface="宋体" panose="02010600030101010101" pitchFamily="2" charset="-122"/>
              </a:rPr>
              <a:t>高于</a:t>
            </a:r>
            <a:r>
              <a:rPr lang="en-US" altLang="zh-CN">
                <a:ea typeface="宋体" panose="02010600030101010101" pitchFamily="2" charset="-122"/>
              </a:rPr>
              <a:t>DCF</a:t>
            </a:r>
            <a:r>
              <a:rPr lang="zh-CN" altLang="en-US">
                <a:ea typeface="宋体" panose="02010600030101010101" pitchFamily="2" charset="-122"/>
              </a:rPr>
              <a:t>的优先级，定义了另一套帧间间隔：</a:t>
            </a:r>
            <a:r>
              <a:rPr lang="en-US" altLang="zh-CN">
                <a:ea typeface="宋体" panose="02010600030101010101" pitchFamily="2" charset="-122"/>
              </a:rPr>
              <a:t>PIFS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SIFS</a:t>
            </a:r>
            <a:r>
              <a:rPr lang="zh-CN" altLang="en-US">
                <a:ea typeface="宋体" panose="02010600030101010101" pitchFamily="2" charset="-122"/>
              </a:rPr>
              <a:t>；</a:t>
            </a:r>
            <a:r>
              <a:rPr lang="en-US" altLang="zh-CN">
                <a:ea typeface="宋体" panose="02010600030101010101" pitchFamily="2" charset="-122"/>
              </a:rPr>
              <a:t>SIFS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DCF</a:t>
            </a:r>
            <a:r>
              <a:rPr lang="zh-CN" altLang="en-US">
                <a:ea typeface="宋体" panose="02010600030101010101" pitchFamily="2" charset="-122"/>
              </a:rPr>
              <a:t>的一样，</a:t>
            </a:r>
            <a:r>
              <a:rPr lang="en-US" altLang="zh-CN">
                <a:ea typeface="宋体" panose="02010600030101010101" pitchFamily="2" charset="-122"/>
              </a:rPr>
              <a:t>PIFS</a:t>
            </a:r>
            <a:r>
              <a:rPr lang="zh-CN" altLang="en-US">
                <a:ea typeface="宋体" panose="02010600030101010101" pitchFamily="2" charset="-122"/>
              </a:rPr>
              <a:t>比</a:t>
            </a:r>
            <a:r>
              <a:rPr lang="en-US" altLang="zh-CN">
                <a:ea typeface="宋体" panose="02010600030101010101" pitchFamily="2" charset="-122"/>
              </a:rPr>
              <a:t>DIFS</a:t>
            </a:r>
            <a:r>
              <a:rPr lang="zh-CN" altLang="en-US">
                <a:ea typeface="宋体" panose="02010600030101010101" pitchFamily="2" charset="-122"/>
              </a:rPr>
              <a:t>短，这意味着想使用</a:t>
            </a:r>
            <a:r>
              <a:rPr lang="en-US" altLang="zh-CN">
                <a:ea typeface="宋体" panose="02010600030101010101" pitchFamily="2" charset="-122"/>
              </a:rPr>
              <a:t>PCF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AP</a:t>
            </a:r>
            <a:r>
              <a:rPr lang="zh-CN" altLang="en-US">
                <a:ea typeface="宋体" panose="02010600030101010101" pitchFamily="2" charset="-122"/>
              </a:rPr>
              <a:t>会比其他站点以更高的优先级抢到信道。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为了避免</a:t>
            </a:r>
            <a:r>
              <a:rPr lang="en-US" altLang="zh-CN">
                <a:ea typeface="宋体" panose="02010600030101010101" pitchFamily="2" charset="-122"/>
              </a:rPr>
              <a:t>DCF</a:t>
            </a:r>
            <a:r>
              <a:rPr lang="zh-CN" altLang="en-US">
                <a:ea typeface="宋体" panose="02010600030101010101" pitchFamily="2" charset="-122"/>
              </a:rPr>
              <a:t>的站点总是不能抢到信道，设计了重复间隔，其会不停的重复无竞争和有竞争的时间，由信号帧</a:t>
            </a:r>
            <a:r>
              <a:rPr lang="en-US" altLang="zh-CN">
                <a:ea typeface="宋体" panose="02010600030101010101" pitchFamily="2" charset="-122"/>
              </a:rPr>
              <a:t>(beacon)</a:t>
            </a:r>
            <a:r>
              <a:rPr lang="zh-CN" altLang="en-US">
                <a:ea typeface="宋体" panose="02010600030101010101" pitchFamily="2" charset="-122"/>
              </a:rPr>
              <a:t>说明；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2301" name="Group 12">
            <a:extLst>
              <a:ext uri="{FF2B5EF4-FFF2-40B4-BE49-F238E27FC236}">
                <a16:creationId xmlns:a16="http://schemas.microsoft.com/office/drawing/2014/main" id="{3015287A-CF52-8AE3-8D61-4EF71D7A9CA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066800"/>
            <a:ext cx="1143000" cy="566738"/>
            <a:chOff x="1200" y="1248"/>
            <a:chExt cx="720" cy="357"/>
          </a:xfrm>
        </p:grpSpPr>
        <p:pic>
          <p:nvPicPr>
            <p:cNvPr id="12302" name="Picture 13">
              <a:extLst>
                <a:ext uri="{FF2B5EF4-FFF2-40B4-BE49-F238E27FC236}">
                  <a16:creationId xmlns:a16="http://schemas.microsoft.com/office/drawing/2014/main" id="{0AAA8FAB-8776-2D62-BE32-619D96E000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03" name="Text Box 14">
              <a:extLst>
                <a:ext uri="{FF2B5EF4-FFF2-40B4-BE49-F238E27FC236}">
                  <a16:creationId xmlns:a16="http://schemas.microsoft.com/office/drawing/2014/main" id="{5BDFFF2C-A247-6248-6E81-FAD505B45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95E94915-F59E-9FD3-1E70-741BB8EF9D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AC76B69A-96CF-4747-BA56-680232F9C7A0}" type="slidenum">
              <a:rPr lang="en-US" altLang="zh-CN" sz="2000">
                <a:solidFill>
                  <a:schemeClr val="bg2"/>
                </a:solidFill>
              </a:rPr>
              <a:pPr/>
              <a:t>11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1040659F-9714-CB15-E4BA-52E6514D7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4CDBA390-F998-DC92-A5DE-37C2FD4F5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2A1409E1-0392-2DD9-5807-2EB8B8E12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2992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14.6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重复间隔的例子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F4EC423D-0B9A-9307-6D79-B8CF87565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6">
            <a:extLst>
              <a:ext uri="{FF2B5EF4-FFF2-40B4-BE49-F238E27FC236}">
                <a16:creationId xmlns:a16="http://schemas.microsoft.com/office/drawing/2014/main" id="{52C21228-65D9-9A67-89AC-80D945130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1447800"/>
            <a:ext cx="7202487" cy="451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BB51D61F-F1B6-890E-0684-2BBC2C480E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82492715-52DA-4BB1-B888-5ACA381CAE28}" type="slidenum">
              <a:rPr lang="en-US" altLang="zh-CN" sz="2000">
                <a:solidFill>
                  <a:schemeClr val="bg2"/>
                </a:solidFill>
              </a:rPr>
              <a:pPr/>
              <a:t>12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339" name="Line 2">
            <a:extLst>
              <a:ext uri="{FF2B5EF4-FFF2-40B4-BE49-F238E27FC236}">
                <a16:creationId xmlns:a16="http://schemas.microsoft.com/office/drawing/2014/main" id="{DF204FB9-8936-D98A-CB3E-0204FC31B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87B0A457-04A8-FE9A-9BF6-F9A3D86B3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BE728F55-8618-B504-16D6-FC2F28151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1960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14.7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帧格式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2" name="Line 5">
            <a:extLst>
              <a:ext uri="{FF2B5EF4-FFF2-40B4-BE49-F238E27FC236}">
                <a16:creationId xmlns:a16="http://schemas.microsoft.com/office/drawing/2014/main" id="{0DA6D5AB-C888-CDDC-7410-471CAD75D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3" name="Picture 6">
            <a:extLst>
              <a:ext uri="{FF2B5EF4-FFF2-40B4-BE49-F238E27FC236}">
                <a16:creationId xmlns:a16="http://schemas.microsoft.com/office/drawing/2014/main" id="{8530CC2A-F1FC-A06F-526A-10002CFB2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2860675"/>
            <a:ext cx="8593137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4" name="TextBox 7">
            <a:extLst>
              <a:ext uri="{FF2B5EF4-FFF2-40B4-BE49-F238E27FC236}">
                <a16:creationId xmlns:a16="http://schemas.microsoft.com/office/drawing/2014/main" id="{C3A0927F-370B-0455-EB48-DA68BD668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334000"/>
            <a:ext cx="533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详见</a:t>
            </a:r>
            <a:r>
              <a:rPr lang="en-US" altLang="zh-CN" sz="2400">
                <a:ea typeface="宋体" panose="02010600030101010101" pitchFamily="2" charset="-122"/>
              </a:rPr>
              <a:t>P285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5706E78F-55E2-4F88-82B1-E640E86FDC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0A648C5D-DA20-4073-9033-3F55897A9966}" type="slidenum">
              <a:rPr lang="en-US" altLang="zh-CN" sz="2000">
                <a:solidFill>
                  <a:schemeClr val="bg2"/>
                </a:solidFill>
              </a:rPr>
              <a:pPr/>
              <a:t>13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E8B7C169-752A-F40A-C843-6171D0CE2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57200"/>
            <a:ext cx="3336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FC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字段中的子字段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0E862B56-6E00-13B7-929A-E56FB068D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1054100"/>
            <a:ext cx="8675687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B9F83027-8985-45B5-A769-C37C82174E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CDDB4C69-0192-4874-964A-6C4A76F45D5F}" type="slidenum">
              <a:rPr lang="en-US" altLang="zh-CN" sz="2000">
                <a:solidFill>
                  <a:schemeClr val="bg2"/>
                </a:solidFill>
              </a:rPr>
              <a:pPr/>
              <a:t>14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6387" name="Line 2">
            <a:extLst>
              <a:ext uri="{FF2B5EF4-FFF2-40B4-BE49-F238E27FC236}">
                <a16:creationId xmlns:a16="http://schemas.microsoft.com/office/drawing/2014/main" id="{2671C069-DFDA-D245-F753-5D165E2D4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3">
            <a:extLst>
              <a:ext uri="{FF2B5EF4-FFF2-40B4-BE49-F238E27FC236}">
                <a16:creationId xmlns:a16="http://schemas.microsoft.com/office/drawing/2014/main" id="{808D469C-8528-30F8-5741-CEED33E34F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E5FB7BC1-FB3F-EFFE-C533-606FE16C9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1960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14.8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控制帧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948FF9F9-07A6-6DC7-FCC2-04CD0782B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391" name="Picture 6">
            <a:extLst>
              <a:ext uri="{FF2B5EF4-FFF2-40B4-BE49-F238E27FC236}">
                <a16:creationId xmlns:a16="http://schemas.microsoft.com/office/drawing/2014/main" id="{B6A22CF1-A3D2-0267-9B7C-6BE41E870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338513"/>
            <a:ext cx="8328025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Box 7">
            <a:extLst>
              <a:ext uri="{FF2B5EF4-FFF2-40B4-BE49-F238E27FC236}">
                <a16:creationId xmlns:a16="http://schemas.microsoft.com/office/drawing/2014/main" id="{222942C7-6576-4DFC-FC7C-79BE14666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00200"/>
            <a:ext cx="7162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WLAN</a:t>
            </a:r>
            <a:r>
              <a:rPr lang="zh-CN" altLang="en-US" sz="2400">
                <a:ea typeface="宋体" panose="02010600030101010101" pitchFamily="2" charset="-122"/>
              </a:rPr>
              <a:t>定义了</a:t>
            </a:r>
            <a:r>
              <a:rPr lang="en-US" altLang="zh-CN" sz="2400">
                <a:ea typeface="宋体" panose="02010600030101010101" pitchFamily="2" charset="-122"/>
              </a:rPr>
              <a:t>3</a:t>
            </a:r>
            <a:r>
              <a:rPr lang="zh-CN" altLang="en-US" sz="2400">
                <a:ea typeface="宋体" panose="02010600030101010101" pitchFamily="2" charset="-122"/>
              </a:rPr>
              <a:t>种帧：管理帧、控制帧、数据帧。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管理帧：用于站点和</a:t>
            </a:r>
            <a:r>
              <a:rPr lang="en-US" altLang="zh-CN" sz="2400">
                <a:ea typeface="宋体" panose="02010600030101010101" pitchFamily="2" charset="-122"/>
              </a:rPr>
              <a:t>AP</a:t>
            </a:r>
            <a:r>
              <a:rPr lang="zh-CN" altLang="en-US" sz="2400">
                <a:ea typeface="宋体" panose="02010600030101010101" pitchFamily="2" charset="-122"/>
              </a:rPr>
              <a:t>之间初始化信道；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控制帧：用于访问通道和对帧的确认。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DB016B04-F6A8-20A7-2001-283ABC03C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5591F268-14AE-43A5-857A-DDD1C4622E3A}" type="slidenum">
              <a:rPr lang="en-US" altLang="zh-CN" sz="2000">
                <a:solidFill>
                  <a:schemeClr val="bg2"/>
                </a:solidFill>
              </a:rPr>
              <a:pPr/>
              <a:t>15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1031BE99-0A33-BC31-DB2B-5CBEB92AD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407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14.2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控制帧中子类型字段的值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43AAA134-4DF0-A6FD-E7A6-9C685D2A7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2447925"/>
            <a:ext cx="762952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D0CDE99C-C8B8-9F9E-9F13-D0714C863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97D1F4EE-6A41-4404-8A9B-852D9B698E44}" type="slidenum">
              <a:rPr lang="en-US" altLang="zh-CN" sz="2000">
                <a:solidFill>
                  <a:schemeClr val="bg2"/>
                </a:solidFill>
              </a:rPr>
              <a:pPr/>
              <a:t>16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69E3573F-1109-B7FC-B689-3FDD4894D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828800"/>
            <a:ext cx="169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14.3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2F2E5870-162F-152E-E0A5-8BAF5A1CF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54263"/>
            <a:ext cx="870267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3EA7E450-1B51-427D-FF4A-932A20653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2C2B9E60-ECC7-46ED-A26D-A6B2D620DDBF}" type="slidenum">
              <a:rPr lang="en-US" altLang="zh-CN" sz="2000">
                <a:solidFill>
                  <a:schemeClr val="bg2"/>
                </a:solidFill>
              </a:rPr>
              <a:pPr/>
              <a:t>17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9459" name="Line 2">
            <a:extLst>
              <a:ext uri="{FF2B5EF4-FFF2-40B4-BE49-F238E27FC236}">
                <a16:creationId xmlns:a16="http://schemas.microsoft.com/office/drawing/2014/main" id="{6455B21F-90FF-97FC-1B16-D6A9BC646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Line 3">
            <a:extLst>
              <a:ext uri="{FF2B5EF4-FFF2-40B4-BE49-F238E27FC236}">
                <a16:creationId xmlns:a16="http://schemas.microsoft.com/office/drawing/2014/main" id="{9C89E399-BC9E-2BFF-EBBF-3D7506F070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34F8F632-7C80-BB7D-421E-AD948D734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2219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14.9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寻址机制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2" name="Line 5">
            <a:extLst>
              <a:ext uri="{FF2B5EF4-FFF2-40B4-BE49-F238E27FC236}">
                <a16:creationId xmlns:a16="http://schemas.microsoft.com/office/drawing/2014/main" id="{0C94BB74-1BBE-81BD-D60F-E5CCA1B7D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463" name="Picture 6">
            <a:extLst>
              <a:ext uri="{FF2B5EF4-FFF2-40B4-BE49-F238E27FC236}">
                <a16:creationId xmlns:a16="http://schemas.microsoft.com/office/drawing/2014/main" id="{B3428DEF-95A1-E060-1A92-276D8998C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171575"/>
            <a:ext cx="8620125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4" name="TextBox 7">
            <a:extLst>
              <a:ext uri="{FF2B5EF4-FFF2-40B4-BE49-F238E27FC236}">
                <a16:creationId xmlns:a16="http://schemas.microsoft.com/office/drawing/2014/main" id="{5BF3EBA7-9EEE-E6FB-6DE7-D6455987F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715000"/>
            <a:ext cx="533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详见</a:t>
            </a:r>
            <a:r>
              <a:rPr lang="en-US" altLang="zh-CN" sz="2400">
                <a:ea typeface="宋体" panose="02010600030101010101" pitchFamily="2" charset="-122"/>
              </a:rPr>
              <a:t>P286</a:t>
            </a:r>
            <a:r>
              <a:rPr lang="zh-CN" altLang="en-US" sz="2400">
                <a:ea typeface="宋体" panose="02010600030101010101" pitchFamily="2" charset="-122"/>
              </a:rPr>
              <a:t>的四种典型情况说明。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D2F05D6A-5F36-FDA8-B93B-0538ED74B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0FA13C4B-B8F1-41A9-A8B4-270050ED5295}" type="slidenum">
              <a:rPr lang="en-US" altLang="zh-CN" sz="2000">
                <a:solidFill>
                  <a:schemeClr val="bg2"/>
                </a:solidFill>
              </a:rPr>
              <a:pPr/>
              <a:t>18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0483" name="Line 2">
            <a:extLst>
              <a:ext uri="{FF2B5EF4-FFF2-40B4-BE49-F238E27FC236}">
                <a16:creationId xmlns:a16="http://schemas.microsoft.com/office/drawing/2014/main" id="{C6E4E482-526A-B87F-40AF-7E4B0D8359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271E390A-C4C2-43E2-544D-6058564BD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05EB5AD9-2BFF-92E7-8888-75F7E812D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41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14.10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隐藏站点问题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3F246B16-C486-FFB4-F243-37CE0DA92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7" name="Picture 7">
            <a:extLst>
              <a:ext uri="{FF2B5EF4-FFF2-40B4-BE49-F238E27FC236}">
                <a16:creationId xmlns:a16="http://schemas.microsoft.com/office/drawing/2014/main" id="{D06AA51E-D74E-CA0E-348B-F3DB88BD8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1447800"/>
            <a:ext cx="7294562" cy="303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8" name="TextBox 7">
            <a:extLst>
              <a:ext uri="{FF2B5EF4-FFF2-40B4-BE49-F238E27FC236}">
                <a16:creationId xmlns:a16="http://schemas.microsoft.com/office/drawing/2014/main" id="{CED197AC-C43D-B0F7-E373-71172BFE7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572000"/>
            <a:ext cx="7162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假定站点</a:t>
            </a:r>
            <a:r>
              <a:rPr lang="en-US" altLang="zh-CN" sz="2400">
                <a:ea typeface="宋体" panose="02010600030101010101" pitchFamily="2" charset="-122"/>
              </a:rPr>
              <a:t>B</a:t>
            </a:r>
            <a:r>
              <a:rPr lang="zh-CN" altLang="en-US" sz="2400">
                <a:ea typeface="宋体" panose="02010600030101010101" pitchFamily="2" charset="-122"/>
              </a:rPr>
              <a:t>发送数据给</a:t>
            </a:r>
            <a:r>
              <a:rPr lang="en-US" altLang="zh-CN" sz="2400">
                <a:ea typeface="宋体" panose="02010600030101010101" pitchFamily="2" charset="-122"/>
              </a:rPr>
              <a:t>A</a:t>
            </a:r>
            <a:r>
              <a:rPr lang="zh-CN" altLang="en-US" sz="2400">
                <a:ea typeface="宋体" panose="02010600030101010101" pitchFamily="2" charset="-122"/>
              </a:rPr>
              <a:t>，同时站点</a:t>
            </a:r>
            <a:r>
              <a:rPr lang="en-US" altLang="zh-CN" sz="2400">
                <a:ea typeface="宋体" panose="02010600030101010101" pitchFamily="2" charset="-122"/>
              </a:rPr>
              <a:t>C</a:t>
            </a:r>
            <a:r>
              <a:rPr lang="zh-CN" altLang="en-US" sz="2400">
                <a:ea typeface="宋体" panose="02010600030101010101" pitchFamily="2" charset="-122"/>
              </a:rPr>
              <a:t>也有数据发送给站点</a:t>
            </a:r>
            <a:r>
              <a:rPr lang="en-US" altLang="zh-CN" sz="2400">
                <a:ea typeface="宋体" panose="02010600030101010101" pitchFamily="2" charset="-122"/>
              </a:rPr>
              <a:t>A</a:t>
            </a:r>
            <a:r>
              <a:rPr lang="zh-CN" altLang="en-US" sz="2400">
                <a:ea typeface="宋体" panose="02010600030101010101" pitchFamily="2" charset="-122"/>
              </a:rPr>
              <a:t>，由于站点</a:t>
            </a:r>
            <a:r>
              <a:rPr lang="en-US" altLang="zh-CN" sz="2400">
                <a:ea typeface="宋体" panose="02010600030101010101" pitchFamily="2" charset="-122"/>
              </a:rPr>
              <a:t>B</a:t>
            </a:r>
            <a:r>
              <a:rPr lang="zh-CN" altLang="en-US" sz="2400">
                <a:ea typeface="宋体" panose="02010600030101010101" pitchFamily="2" charset="-122"/>
              </a:rPr>
              <a:t>的传输不能到达站点</a:t>
            </a:r>
            <a:r>
              <a:rPr lang="en-US" altLang="zh-CN" sz="2400">
                <a:ea typeface="宋体" panose="02010600030101010101" pitchFamily="2" charset="-122"/>
              </a:rPr>
              <a:t>C</a:t>
            </a:r>
            <a:r>
              <a:rPr lang="zh-CN" altLang="en-US" sz="2400">
                <a:ea typeface="宋体" panose="02010600030101010101" pitchFamily="2" charset="-122"/>
              </a:rPr>
              <a:t>，所以站点</a:t>
            </a:r>
            <a:r>
              <a:rPr lang="en-US" altLang="zh-CN" sz="2400">
                <a:ea typeface="宋体" panose="02010600030101010101" pitchFamily="2" charset="-122"/>
              </a:rPr>
              <a:t>C</a:t>
            </a:r>
            <a:r>
              <a:rPr lang="zh-CN" altLang="en-US" sz="2400">
                <a:ea typeface="宋体" panose="02010600030101010101" pitchFamily="2" charset="-122"/>
              </a:rPr>
              <a:t>认为介质是空闲的从而发送数据，但这样就会导致冲突；这种冲突的可能性降低了网络的能力。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352ECAA7-6C96-4BA1-77AD-D9010D86A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A7A0CEB1-FEAB-4C56-AB20-424D007A9C03}" type="slidenum">
              <a:rPr lang="en-US" altLang="zh-CN" sz="2000">
                <a:solidFill>
                  <a:schemeClr val="bg2"/>
                </a:solidFill>
              </a:rPr>
              <a:pPr/>
              <a:t>19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46465435-3133-7CD0-C23C-65CC7D0C59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1891BD5-E14E-38C3-2F46-2F6BAD980A3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1D1AC638-2395-B807-FE4B-989E665858B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2297D9FE-CA89-2CD4-E2A4-E40183A3A0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FC9BBF14-8F24-8A70-B561-3FB7AFB4E2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4F87DE54-70F6-C5FE-9035-615221C06D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F2BD9531-BF8F-04E1-AC33-11B7CDA40A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4" name="Line 9">
            <a:extLst>
              <a:ext uri="{FF2B5EF4-FFF2-40B4-BE49-F238E27FC236}">
                <a16:creationId xmlns:a16="http://schemas.microsoft.com/office/drawing/2014/main" id="{4F74801B-2850-DDEF-12B1-28FFCCA49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895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0">
            <a:extLst>
              <a:ext uri="{FF2B5EF4-FFF2-40B4-BE49-F238E27FC236}">
                <a16:creationId xmlns:a16="http://schemas.microsoft.com/office/drawing/2014/main" id="{0A4F3BE4-3171-E932-57C0-7365F8798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191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Rectangle 11">
            <a:extLst>
              <a:ext uri="{FF2B5EF4-FFF2-40B4-BE49-F238E27FC236}">
                <a16:creationId xmlns:a16="http://schemas.microsoft.com/office/drawing/2014/main" id="{CADDD816-E563-8D1A-CE88-22C2D03D3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003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CSMA/CA</a:t>
            </a:r>
            <a:r>
              <a:rPr lang="zh-CN" altLang="en-US">
                <a:ea typeface="宋体" panose="02010600030101010101" pitchFamily="2" charset="-122"/>
              </a:rPr>
              <a:t>握手中的</a:t>
            </a:r>
            <a:r>
              <a:rPr lang="en-US" altLang="zh-CN">
                <a:ea typeface="宋体" panose="02010600030101010101" pitchFamily="2" charset="-122"/>
              </a:rPr>
              <a:t>CTS</a:t>
            </a:r>
            <a:r>
              <a:rPr lang="zh-CN" altLang="en-US">
                <a:ea typeface="宋体" panose="02010600030101010101" pitchFamily="2" charset="-122"/>
              </a:rPr>
              <a:t>帧可以避免来自隐藏站点的冲突。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21517" name="Group 12">
            <a:extLst>
              <a:ext uri="{FF2B5EF4-FFF2-40B4-BE49-F238E27FC236}">
                <a16:creationId xmlns:a16="http://schemas.microsoft.com/office/drawing/2014/main" id="{BE9333A4-C308-8F5E-1C27-566F80E7A2E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09800"/>
            <a:ext cx="1143000" cy="566738"/>
            <a:chOff x="1200" y="1248"/>
            <a:chExt cx="720" cy="357"/>
          </a:xfrm>
        </p:grpSpPr>
        <p:pic>
          <p:nvPicPr>
            <p:cNvPr id="21518" name="Picture 13">
              <a:extLst>
                <a:ext uri="{FF2B5EF4-FFF2-40B4-BE49-F238E27FC236}">
                  <a16:creationId xmlns:a16="http://schemas.microsoft.com/office/drawing/2014/main" id="{0E7A9BCE-500F-1646-9D9B-2FCE8DA08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9" name="Text Box 14">
              <a:extLst>
                <a:ext uri="{FF2B5EF4-FFF2-40B4-BE49-F238E27FC236}">
                  <a16:creationId xmlns:a16="http://schemas.microsoft.com/office/drawing/2014/main" id="{D7738C00-D459-1520-5A7A-04D86B2D3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991CF6AC-677D-8075-7A3D-FDBB071B86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86AEBE10-DB56-434D-BBE7-59F7374C808C}" type="slidenum">
              <a:rPr lang="en-US" altLang="zh-CN" sz="2000">
                <a:solidFill>
                  <a:schemeClr val="bg2"/>
                </a:solidFill>
              </a:rPr>
              <a:pPr/>
              <a:t>20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2531" name="Line 2">
            <a:extLst>
              <a:ext uri="{FF2B5EF4-FFF2-40B4-BE49-F238E27FC236}">
                <a16:creationId xmlns:a16="http://schemas.microsoft.com/office/drawing/2014/main" id="{ECB5D237-C696-0118-FE35-0127E356C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Line 3">
            <a:extLst>
              <a:ext uri="{FF2B5EF4-FFF2-40B4-BE49-F238E27FC236}">
                <a16:creationId xmlns:a16="http://schemas.microsoft.com/office/drawing/2014/main" id="{A4A90D73-BCFD-D68C-24A3-12E3FAFED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D823E74B-C1A2-AE04-8589-A81F84A82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989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14.11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握手的使用来避免隐藏站点问题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4" name="Line 5">
            <a:extLst>
              <a:ext uri="{FF2B5EF4-FFF2-40B4-BE49-F238E27FC236}">
                <a16:creationId xmlns:a16="http://schemas.microsoft.com/office/drawing/2014/main" id="{B287E3F9-2A12-95D0-DFC4-5C67BDC63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5" name="Picture 6">
            <a:extLst>
              <a:ext uri="{FF2B5EF4-FFF2-40B4-BE49-F238E27FC236}">
                <a16:creationId xmlns:a16="http://schemas.microsoft.com/office/drawing/2014/main" id="{483BA8DE-7CC7-931B-5815-1F56F02B1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63738"/>
            <a:ext cx="8062913" cy="359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F4A4652E-4FBA-E9FA-C18F-B142F4D44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EFE0BBA9-5415-4430-A9D1-9635A0B5FEC0}" type="slidenum">
              <a:rPr lang="en-US" altLang="zh-CN" sz="2000">
                <a:solidFill>
                  <a:schemeClr val="bg2"/>
                </a:solidFill>
              </a:rPr>
              <a:pPr/>
              <a:t>21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3555" name="Line 2">
            <a:extLst>
              <a:ext uri="{FF2B5EF4-FFF2-40B4-BE49-F238E27FC236}">
                <a16:creationId xmlns:a16="http://schemas.microsoft.com/office/drawing/2014/main" id="{AD95BB47-6FF8-1EAF-F74E-E7E7D6F17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Line 3">
            <a:extLst>
              <a:ext uri="{FF2B5EF4-FFF2-40B4-BE49-F238E27FC236}">
                <a16:creationId xmlns:a16="http://schemas.microsoft.com/office/drawing/2014/main" id="{E4C03450-4FD6-AFFE-4C85-E4753E762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9C8B8CDF-B1D7-C494-C281-50333A17C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41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14.12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暴露站点问题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8" name="Line 5">
            <a:extLst>
              <a:ext uri="{FF2B5EF4-FFF2-40B4-BE49-F238E27FC236}">
                <a16:creationId xmlns:a16="http://schemas.microsoft.com/office/drawing/2014/main" id="{C2EF4D22-F027-26E7-DC30-0584930E0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59" name="Picture 6">
            <a:extLst>
              <a:ext uri="{FF2B5EF4-FFF2-40B4-BE49-F238E27FC236}">
                <a16:creationId xmlns:a16="http://schemas.microsoft.com/office/drawing/2014/main" id="{9EF22A87-5BC0-0E85-151E-0C3DDA8B1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88" y="1447800"/>
            <a:ext cx="662781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TextBox 7">
            <a:extLst>
              <a:ext uri="{FF2B5EF4-FFF2-40B4-BE49-F238E27FC236}">
                <a16:creationId xmlns:a16="http://schemas.microsoft.com/office/drawing/2014/main" id="{F6F1A214-E11D-D0EA-61AE-428941E1C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884738"/>
            <a:ext cx="71628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与“隐藏站点问题”相反，“暴露站点问题”中，站点被限制使用通道，而这个通道是可用的。站点</a:t>
            </a:r>
            <a:r>
              <a:rPr lang="en-US" altLang="zh-CN" sz="1800">
                <a:ea typeface="宋体" panose="02010600030101010101" pitchFamily="2" charset="-122"/>
              </a:rPr>
              <a:t>A</a:t>
            </a:r>
            <a:r>
              <a:rPr lang="zh-CN" altLang="en-US" sz="1800">
                <a:ea typeface="宋体" panose="02010600030101010101" pitchFamily="2" charset="-122"/>
              </a:rPr>
              <a:t>给站点</a:t>
            </a:r>
            <a:r>
              <a:rPr lang="en-US" altLang="zh-CN" sz="1800">
                <a:ea typeface="宋体" panose="02010600030101010101" pitchFamily="2" charset="-122"/>
              </a:rPr>
              <a:t>B</a:t>
            </a:r>
            <a:r>
              <a:rPr lang="zh-CN" altLang="en-US" sz="1800">
                <a:ea typeface="宋体" panose="02010600030101010101" pitchFamily="2" charset="-122"/>
              </a:rPr>
              <a:t>传送数据，站点</a:t>
            </a:r>
            <a:r>
              <a:rPr lang="en-US" altLang="zh-CN" sz="1800">
                <a:ea typeface="宋体" panose="02010600030101010101" pitchFamily="2" charset="-122"/>
              </a:rPr>
              <a:t>C</a:t>
            </a:r>
            <a:r>
              <a:rPr lang="zh-CN" altLang="en-US" sz="1800">
                <a:ea typeface="宋体" panose="02010600030101010101" pitchFamily="2" charset="-122"/>
              </a:rPr>
              <a:t>有一些数据要发送给</a:t>
            </a:r>
            <a:r>
              <a:rPr lang="en-US" altLang="zh-CN" sz="1800">
                <a:ea typeface="宋体" panose="02010600030101010101" pitchFamily="2" charset="-122"/>
              </a:rPr>
              <a:t>D</a:t>
            </a:r>
            <a:r>
              <a:rPr lang="zh-CN" altLang="en-US" sz="1800">
                <a:ea typeface="宋体" panose="02010600030101010101" pitchFamily="2" charset="-122"/>
              </a:rPr>
              <a:t>，这应该可以发送而不会干扰到从</a:t>
            </a:r>
            <a:r>
              <a:rPr lang="en-US" altLang="zh-CN" sz="1800">
                <a:ea typeface="宋体" panose="02010600030101010101" pitchFamily="2" charset="-122"/>
              </a:rPr>
              <a:t>A</a:t>
            </a:r>
            <a:r>
              <a:rPr lang="zh-CN" altLang="en-US" sz="1800">
                <a:ea typeface="宋体" panose="02010600030101010101" pitchFamily="2" charset="-122"/>
              </a:rPr>
              <a:t>到</a:t>
            </a:r>
            <a:r>
              <a:rPr lang="en-US" altLang="zh-CN" sz="1800">
                <a:ea typeface="宋体" panose="02010600030101010101" pitchFamily="2" charset="-122"/>
              </a:rPr>
              <a:t>B</a:t>
            </a:r>
            <a:r>
              <a:rPr lang="zh-CN" altLang="en-US" sz="1800">
                <a:ea typeface="宋体" panose="02010600030101010101" pitchFamily="2" charset="-122"/>
              </a:rPr>
              <a:t>的传输，但站点</a:t>
            </a:r>
            <a:r>
              <a:rPr lang="en-US" altLang="zh-CN" sz="1800">
                <a:ea typeface="宋体" panose="02010600030101010101" pitchFamily="2" charset="-122"/>
              </a:rPr>
              <a:t>C</a:t>
            </a:r>
            <a:r>
              <a:rPr lang="zh-CN" altLang="en-US" sz="1800">
                <a:ea typeface="宋体" panose="02010600030101010101" pitchFamily="2" charset="-122"/>
              </a:rPr>
              <a:t>暴露给了站点</a:t>
            </a:r>
            <a:r>
              <a:rPr lang="en-US" altLang="zh-CN" sz="1800">
                <a:ea typeface="宋体" panose="02010600030101010101" pitchFamily="2" charset="-122"/>
              </a:rPr>
              <a:t>A</a:t>
            </a:r>
            <a:r>
              <a:rPr lang="zh-CN" altLang="en-US" sz="1800">
                <a:ea typeface="宋体" panose="02010600030101010101" pitchFamily="2" charset="-122"/>
              </a:rPr>
              <a:t>，即</a:t>
            </a:r>
            <a:r>
              <a:rPr lang="en-US" altLang="zh-CN" sz="1800">
                <a:ea typeface="宋体" panose="02010600030101010101" pitchFamily="2" charset="-122"/>
              </a:rPr>
              <a:t>C</a:t>
            </a:r>
            <a:r>
              <a:rPr lang="zh-CN" altLang="en-US" sz="1800">
                <a:ea typeface="宋体" panose="02010600030101010101" pitchFamily="2" charset="-122"/>
              </a:rPr>
              <a:t>听到了</a:t>
            </a:r>
            <a:r>
              <a:rPr lang="en-US" altLang="zh-CN" sz="1800">
                <a:ea typeface="宋体" panose="02010600030101010101" pitchFamily="2" charset="-122"/>
              </a:rPr>
              <a:t>A</a:t>
            </a:r>
            <a:r>
              <a:rPr lang="zh-CN" altLang="en-US" sz="1800">
                <a:ea typeface="宋体" panose="02010600030101010101" pitchFamily="2" charset="-122"/>
              </a:rPr>
              <a:t>的发送，限制了它的信道使用，浪费了通道 的能力。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3F24FBEA-32BB-6604-6F9D-C06E891C67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E045B55B-C59C-488C-96DD-E87DDCFF0FBC}" type="slidenum">
              <a:rPr lang="en-US" altLang="zh-CN" sz="2000">
                <a:solidFill>
                  <a:schemeClr val="bg2"/>
                </a:solidFill>
              </a:rPr>
              <a:pPr/>
              <a:t>22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4579" name="Line 2">
            <a:extLst>
              <a:ext uri="{FF2B5EF4-FFF2-40B4-BE49-F238E27FC236}">
                <a16:creationId xmlns:a16="http://schemas.microsoft.com/office/drawing/2014/main" id="{6DF04DCB-92B3-0ABF-A517-465314941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Line 3">
            <a:extLst>
              <a:ext uri="{FF2B5EF4-FFF2-40B4-BE49-F238E27FC236}">
                <a16:creationId xmlns:a16="http://schemas.microsoft.com/office/drawing/2014/main" id="{6D62A645-236B-748D-8493-17670F36C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C92D1642-1F75-9C2E-B897-9F48B8176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37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14.13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暴露站点问题中握手的使用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2" name="Line 5">
            <a:extLst>
              <a:ext uri="{FF2B5EF4-FFF2-40B4-BE49-F238E27FC236}">
                <a16:creationId xmlns:a16="http://schemas.microsoft.com/office/drawing/2014/main" id="{F96C49A1-70C9-705D-0118-987EBCADCD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83" name="Picture 6">
            <a:extLst>
              <a:ext uri="{FF2B5EF4-FFF2-40B4-BE49-F238E27FC236}">
                <a16:creationId xmlns:a16="http://schemas.microsoft.com/office/drawing/2014/main" id="{0EFB6A1A-18B0-40A9-1D59-EF8FC8456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676400"/>
            <a:ext cx="5219700" cy="433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4" name="TextBox 7">
            <a:extLst>
              <a:ext uri="{FF2B5EF4-FFF2-40B4-BE49-F238E27FC236}">
                <a16:creationId xmlns:a16="http://schemas.microsoft.com/office/drawing/2014/main" id="{55BA339F-143F-1EB3-F0BE-DB9DB3BA1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443163"/>
            <a:ext cx="31242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这种情况下，</a:t>
            </a:r>
            <a:r>
              <a:rPr lang="en-US" altLang="zh-CN" sz="1800">
                <a:ea typeface="宋体" panose="02010600030101010101" pitchFamily="2" charset="-122"/>
              </a:rPr>
              <a:t>RTS</a:t>
            </a:r>
            <a:r>
              <a:rPr lang="zh-CN" altLang="en-US" sz="1800">
                <a:ea typeface="宋体" panose="02010600030101010101" pitchFamily="2" charset="-122"/>
              </a:rPr>
              <a:t>和</a:t>
            </a:r>
            <a:r>
              <a:rPr lang="en-US" altLang="zh-CN" sz="1800">
                <a:ea typeface="宋体" panose="02010600030101010101" pitchFamily="2" charset="-122"/>
              </a:rPr>
              <a:t>CTS</a:t>
            </a:r>
            <a:r>
              <a:rPr lang="zh-CN" altLang="en-US" sz="1800">
                <a:ea typeface="宋体" panose="02010600030101010101" pitchFamily="2" charset="-122"/>
              </a:rPr>
              <a:t>也帮不上忙，即站点</a:t>
            </a:r>
            <a:r>
              <a:rPr lang="en-US" altLang="zh-CN" sz="1800">
                <a:ea typeface="宋体" panose="02010600030101010101" pitchFamily="2" charset="-122"/>
              </a:rPr>
              <a:t>C</a:t>
            </a:r>
            <a:r>
              <a:rPr lang="zh-CN" altLang="en-US" sz="1800">
                <a:ea typeface="宋体" panose="02010600030101010101" pitchFamily="2" charset="-122"/>
              </a:rPr>
              <a:t>听到来自</a:t>
            </a:r>
            <a:r>
              <a:rPr lang="en-US" altLang="zh-CN" sz="1800">
                <a:ea typeface="宋体" panose="02010600030101010101" pitchFamily="2" charset="-122"/>
              </a:rPr>
              <a:t>A</a:t>
            </a:r>
            <a:r>
              <a:rPr lang="zh-CN" altLang="en-US" sz="1800">
                <a:ea typeface="宋体" panose="02010600030101010101" pitchFamily="2" charset="-122"/>
              </a:rPr>
              <a:t>的</a:t>
            </a:r>
            <a:r>
              <a:rPr lang="en-US" altLang="zh-CN" sz="1800">
                <a:ea typeface="宋体" panose="02010600030101010101" pitchFamily="2" charset="-122"/>
              </a:rPr>
              <a:t>RTS</a:t>
            </a:r>
            <a:r>
              <a:rPr lang="zh-CN" altLang="en-US" sz="1800">
                <a:ea typeface="宋体" panose="02010600030101010101" pitchFamily="2" charset="-122"/>
              </a:rPr>
              <a:t>，却不能听到来自</a:t>
            </a:r>
            <a:r>
              <a:rPr lang="en-US" altLang="zh-CN" sz="1800">
                <a:ea typeface="宋体" panose="02010600030101010101" pitchFamily="2" charset="-122"/>
              </a:rPr>
              <a:t>B</a:t>
            </a:r>
            <a:r>
              <a:rPr lang="zh-CN" altLang="en-US" sz="1800">
                <a:ea typeface="宋体" panose="02010600030101010101" pitchFamily="2" charset="-122"/>
              </a:rPr>
              <a:t>的</a:t>
            </a:r>
            <a:r>
              <a:rPr lang="en-US" altLang="zh-CN" sz="1800">
                <a:ea typeface="宋体" panose="02010600030101010101" pitchFamily="2" charset="-122"/>
              </a:rPr>
              <a:t>CTS</a:t>
            </a:r>
            <a:r>
              <a:rPr lang="zh-CN" altLang="en-US" sz="1800">
                <a:ea typeface="宋体" panose="02010600030101010101" pitchFamily="2" charset="-122"/>
              </a:rPr>
              <a:t>，所以站点</a:t>
            </a:r>
            <a:r>
              <a:rPr lang="en-US" altLang="zh-CN" sz="1800">
                <a:ea typeface="宋体" panose="02010600030101010101" pitchFamily="2" charset="-122"/>
              </a:rPr>
              <a:t>C</a:t>
            </a:r>
            <a:r>
              <a:rPr lang="zh-CN" altLang="en-US" sz="1800">
                <a:ea typeface="宋体" panose="02010600030101010101" pitchFamily="2" charset="-122"/>
              </a:rPr>
              <a:t>认为信道可用则发送</a:t>
            </a:r>
            <a:r>
              <a:rPr lang="en-US" altLang="zh-CN" sz="1800">
                <a:ea typeface="宋体" panose="02010600030101010101" pitchFamily="2" charset="-122"/>
              </a:rPr>
              <a:t>RTS</a:t>
            </a:r>
            <a:r>
              <a:rPr lang="zh-CN" altLang="en-US" sz="1800">
                <a:ea typeface="宋体" panose="02010600030101010101" pitchFamily="2" charset="-122"/>
              </a:rPr>
              <a:t>，而站点</a:t>
            </a:r>
            <a:r>
              <a:rPr lang="en-US" altLang="zh-CN" sz="1800">
                <a:ea typeface="宋体" panose="02010600030101010101" pitchFamily="2" charset="-122"/>
              </a:rPr>
              <a:t>A</a:t>
            </a:r>
            <a:r>
              <a:rPr lang="zh-CN" altLang="en-US" sz="1800">
                <a:ea typeface="宋体" panose="02010600030101010101" pitchFamily="2" charset="-122"/>
              </a:rPr>
              <a:t>已经在发送状态了，这样，站点</a:t>
            </a:r>
            <a:r>
              <a:rPr lang="en-US" altLang="zh-CN" sz="1800">
                <a:ea typeface="宋体" panose="02010600030101010101" pitchFamily="2" charset="-122"/>
              </a:rPr>
              <a:t>A</a:t>
            </a:r>
            <a:r>
              <a:rPr lang="zh-CN" altLang="en-US" sz="1800">
                <a:ea typeface="宋体" panose="02010600030101010101" pitchFamily="2" charset="-122"/>
              </a:rPr>
              <a:t>发送的数据会与站点</a:t>
            </a:r>
            <a:r>
              <a:rPr lang="en-US" altLang="zh-CN" sz="1800">
                <a:ea typeface="宋体" panose="02010600030101010101" pitchFamily="2" charset="-122"/>
              </a:rPr>
              <a:t>D</a:t>
            </a:r>
            <a:r>
              <a:rPr lang="zh-CN" altLang="en-US" sz="1800">
                <a:ea typeface="宋体" panose="02010600030101010101" pitchFamily="2" charset="-122"/>
              </a:rPr>
              <a:t>的</a:t>
            </a:r>
            <a:r>
              <a:rPr lang="en-US" altLang="zh-CN" sz="1800">
                <a:ea typeface="宋体" panose="02010600030101010101" pitchFamily="2" charset="-122"/>
              </a:rPr>
              <a:t>CTS</a:t>
            </a:r>
            <a:r>
              <a:rPr lang="zh-CN" altLang="en-US" sz="1800">
                <a:ea typeface="宋体" panose="02010600030101010101" pitchFamily="2" charset="-122"/>
              </a:rPr>
              <a:t>冲突，从而限制站点</a:t>
            </a:r>
            <a:r>
              <a:rPr lang="en-US" altLang="zh-CN" sz="1800">
                <a:ea typeface="宋体" panose="02010600030101010101" pitchFamily="2" charset="-122"/>
              </a:rPr>
              <a:t>C</a:t>
            </a:r>
            <a:r>
              <a:rPr lang="zh-CN" altLang="en-US" sz="1800">
                <a:ea typeface="宋体" panose="02010600030101010101" pitchFamily="2" charset="-122"/>
              </a:rPr>
              <a:t>进一步的使用信道。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D26DDE0A-1B70-0145-7A6F-3D80BEDD1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F451FC5D-8957-4829-9007-077ACCB59AA8}" type="slidenum">
              <a:rPr lang="en-US" altLang="zh-CN" sz="2000">
                <a:solidFill>
                  <a:schemeClr val="bg2"/>
                </a:solidFill>
              </a:rPr>
              <a:pPr/>
              <a:t>23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5603" name="Text Box 2">
            <a:extLst>
              <a:ext uri="{FF2B5EF4-FFF2-40B4-BE49-F238E27FC236}">
                <a16:creationId xmlns:a16="http://schemas.microsoft.com/office/drawing/2014/main" id="{DA432361-11E4-1C5F-0EEF-7F2E9600F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752600"/>
            <a:ext cx="1960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14.4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物理层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AC60F9E9-B1B7-E3C3-1E94-EDEEBBA56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2284413"/>
            <a:ext cx="8520112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2D8250AF-EE43-2E55-AFA1-BEE0344D7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4C049F05-A04F-42CA-BB27-4E101FEFEC71}" type="slidenum">
              <a:rPr lang="en-US" altLang="zh-CN" sz="2000">
                <a:solidFill>
                  <a:schemeClr val="bg2"/>
                </a:solidFill>
              </a:rPr>
              <a:pPr/>
              <a:t>24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6627" name="Line 2">
            <a:extLst>
              <a:ext uri="{FF2B5EF4-FFF2-40B4-BE49-F238E27FC236}">
                <a16:creationId xmlns:a16="http://schemas.microsoft.com/office/drawing/2014/main" id="{91FD60BA-571F-05A6-3B96-B599D97E6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Line 3">
            <a:extLst>
              <a:ext uri="{FF2B5EF4-FFF2-40B4-BE49-F238E27FC236}">
                <a16:creationId xmlns:a16="http://schemas.microsoft.com/office/drawing/2014/main" id="{787BBD97-E1A8-CC45-EDFD-97DFF8512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F14943D6-0B86-E987-4C94-929A8A0CE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848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14.14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工业的、科学的和医学的频带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0" name="Line 5">
            <a:extLst>
              <a:ext uri="{FF2B5EF4-FFF2-40B4-BE49-F238E27FC236}">
                <a16:creationId xmlns:a16="http://schemas.microsoft.com/office/drawing/2014/main" id="{78C49DB9-20D2-83D6-4A03-C6CC8AA84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31" name="Picture 6">
            <a:extLst>
              <a:ext uri="{FF2B5EF4-FFF2-40B4-BE49-F238E27FC236}">
                <a16:creationId xmlns:a16="http://schemas.microsoft.com/office/drawing/2014/main" id="{B5257AC6-ADC2-5158-784D-861A73DE2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2659063"/>
            <a:ext cx="8593137" cy="191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57241BF0-FBB0-FA05-6C40-F7CC21E84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50D8D5D7-01BB-4993-A193-C2A32051BFBA}" type="slidenum">
              <a:rPr lang="en-US" altLang="zh-CN" sz="2000">
                <a:solidFill>
                  <a:schemeClr val="bg2"/>
                </a:solidFill>
              </a:rPr>
              <a:pPr/>
              <a:t>25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7651" name="Line 2">
            <a:extLst>
              <a:ext uri="{FF2B5EF4-FFF2-40B4-BE49-F238E27FC236}">
                <a16:creationId xmlns:a16="http://schemas.microsoft.com/office/drawing/2014/main" id="{8EA4812D-AB54-D506-E99B-635E56E50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2" name="Line 3">
            <a:extLst>
              <a:ext uri="{FF2B5EF4-FFF2-40B4-BE49-F238E27FC236}">
                <a16:creationId xmlns:a16="http://schemas.microsoft.com/office/drawing/2014/main" id="{AE48C1F1-088C-80F6-E47A-374888550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8958BFFD-7A3F-EA22-C07F-E3489D196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624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14.15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IEEE 802.11 FHSS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的物理层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4" name="Line 5">
            <a:extLst>
              <a:ext uri="{FF2B5EF4-FFF2-40B4-BE49-F238E27FC236}">
                <a16:creationId xmlns:a16="http://schemas.microsoft.com/office/drawing/2014/main" id="{61BEC689-FDAD-01E4-CE46-00BDC8E2F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655" name="Picture 6">
            <a:extLst>
              <a:ext uri="{FF2B5EF4-FFF2-40B4-BE49-F238E27FC236}">
                <a16:creationId xmlns:a16="http://schemas.microsoft.com/office/drawing/2014/main" id="{0E5D6F59-6C8C-8D26-580A-6B94E702D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8080375" cy="380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TextBox 7">
            <a:extLst>
              <a:ext uri="{FF2B5EF4-FFF2-40B4-BE49-F238E27FC236}">
                <a16:creationId xmlns:a16="http://schemas.microsoft.com/office/drawing/2014/main" id="{28D300E4-E613-51B2-53F4-324C3B07F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533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79</a:t>
            </a:r>
            <a:r>
              <a:rPr lang="zh-CN" altLang="en-US" sz="2400">
                <a:ea typeface="宋体" panose="02010600030101010101" pitchFamily="2" charset="-122"/>
              </a:rPr>
              <a:t>个</a:t>
            </a:r>
            <a:r>
              <a:rPr lang="en-US" altLang="zh-CN" sz="2400">
                <a:ea typeface="宋体" panose="02010600030101010101" pitchFamily="2" charset="-122"/>
              </a:rPr>
              <a:t>1MHz</a:t>
            </a:r>
            <a:r>
              <a:rPr lang="zh-CN" altLang="en-US" sz="2400">
                <a:ea typeface="宋体" panose="02010600030101010101" pitchFamily="2" charset="-122"/>
              </a:rPr>
              <a:t>的子频带、</a:t>
            </a:r>
            <a:r>
              <a:rPr lang="en-US" altLang="zh-CN" sz="2400">
                <a:ea typeface="宋体" panose="02010600030101010101" pitchFamily="2" charset="-122"/>
              </a:rPr>
              <a:t>FSK</a:t>
            </a:r>
            <a:r>
              <a:rPr lang="zh-CN" altLang="en-US" sz="2400">
                <a:ea typeface="宋体" panose="02010600030101010101" pitchFamily="2" charset="-122"/>
              </a:rPr>
              <a:t>调制方法。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1D989C63-D80A-E0F1-66FD-398E1C27A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34F21783-BC85-420E-BC74-D160A772D797}" type="slidenum">
              <a:rPr lang="en-US" altLang="zh-CN" sz="2000">
                <a:solidFill>
                  <a:schemeClr val="bg2"/>
                </a:solidFill>
              </a:rPr>
              <a:pPr/>
              <a:t>26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8675" name="Line 2">
            <a:extLst>
              <a:ext uri="{FF2B5EF4-FFF2-40B4-BE49-F238E27FC236}">
                <a16:creationId xmlns:a16="http://schemas.microsoft.com/office/drawing/2014/main" id="{73AE8EC3-3DC4-AC13-E0ED-C253F5781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Line 3">
            <a:extLst>
              <a:ext uri="{FF2B5EF4-FFF2-40B4-BE49-F238E27FC236}">
                <a16:creationId xmlns:a16="http://schemas.microsoft.com/office/drawing/2014/main" id="{6677B8FD-7C71-DBA6-23EE-7666DC13A0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D5D1CA0F-7C9D-EA9A-E09C-27194C82E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1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14.16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IEEE 802.11 DSSS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的物理层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8" name="Line 5">
            <a:extLst>
              <a:ext uri="{FF2B5EF4-FFF2-40B4-BE49-F238E27FC236}">
                <a16:creationId xmlns:a16="http://schemas.microsoft.com/office/drawing/2014/main" id="{EA6CFBC5-A8F8-C652-120C-01EB29E4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8679" name="Picture 6">
            <a:extLst>
              <a:ext uri="{FF2B5EF4-FFF2-40B4-BE49-F238E27FC236}">
                <a16:creationId xmlns:a16="http://schemas.microsoft.com/office/drawing/2014/main" id="{684A9BE7-A533-5B8F-5422-625158A7D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95600"/>
            <a:ext cx="859313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TextBox 7">
            <a:extLst>
              <a:ext uri="{FF2B5EF4-FFF2-40B4-BE49-F238E27FC236}">
                <a16:creationId xmlns:a16="http://schemas.microsoft.com/office/drawing/2014/main" id="{6473DE09-6BF2-C953-E399-FBE9E621C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533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DSSS</a:t>
            </a:r>
            <a:r>
              <a:rPr lang="zh-CN" altLang="en-US" sz="2400">
                <a:ea typeface="宋体" panose="02010600030101010101" pitchFamily="2" charset="-122"/>
              </a:rPr>
              <a:t>扩频、</a:t>
            </a:r>
            <a:r>
              <a:rPr lang="en-US" altLang="zh-CN" sz="2400">
                <a:ea typeface="宋体" panose="02010600030101010101" pitchFamily="2" charset="-122"/>
              </a:rPr>
              <a:t>PSK</a:t>
            </a:r>
            <a:r>
              <a:rPr lang="zh-CN" altLang="en-US" sz="2400">
                <a:ea typeface="宋体" panose="02010600030101010101" pitchFamily="2" charset="-122"/>
              </a:rPr>
              <a:t>调制方法。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C2DE98D0-3396-5916-CC00-4FEAFF5122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7B2D89ED-EA38-4D33-9917-69FF437DCD68}" type="slidenum">
              <a:rPr lang="en-US" altLang="zh-CN" sz="2000">
                <a:solidFill>
                  <a:schemeClr val="bg2"/>
                </a:solidFill>
              </a:rPr>
              <a:pPr/>
              <a:t>27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9699" name="Line 2">
            <a:extLst>
              <a:ext uri="{FF2B5EF4-FFF2-40B4-BE49-F238E27FC236}">
                <a16:creationId xmlns:a16="http://schemas.microsoft.com/office/drawing/2014/main" id="{ABEAAE08-B3ED-7D6B-0F0B-C8C582C97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Line 3">
            <a:extLst>
              <a:ext uri="{FF2B5EF4-FFF2-40B4-BE49-F238E27FC236}">
                <a16:creationId xmlns:a16="http://schemas.microsoft.com/office/drawing/2014/main" id="{FA418A59-BF3F-3808-017E-855E69A5A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E53C4C51-5326-DFAD-DB59-D976D33D0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516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14.17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IEEE 802.11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红外线的物理层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2" name="Line 5">
            <a:extLst>
              <a:ext uri="{FF2B5EF4-FFF2-40B4-BE49-F238E27FC236}">
                <a16:creationId xmlns:a16="http://schemas.microsoft.com/office/drawing/2014/main" id="{AA8CF7E0-47F3-24FA-7D8D-3C3541BE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3" name="Picture 6">
            <a:extLst>
              <a:ext uri="{FF2B5EF4-FFF2-40B4-BE49-F238E27FC236}">
                <a16:creationId xmlns:a16="http://schemas.microsoft.com/office/drawing/2014/main" id="{025EE8C6-8FF5-B4A5-C2FC-0B7D8104C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2819400"/>
            <a:ext cx="7596187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TextBox 7">
            <a:extLst>
              <a:ext uri="{FF2B5EF4-FFF2-40B4-BE49-F238E27FC236}">
                <a16:creationId xmlns:a16="http://schemas.microsoft.com/office/drawing/2014/main" id="{4520932B-BB33-2580-8259-97B8924B4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533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编码、脉冲位置调制</a:t>
            </a:r>
            <a:r>
              <a:rPr lang="en-US" altLang="zh-CN" sz="2400">
                <a:ea typeface="宋体" panose="02010600030101010101" pitchFamily="2" charset="-122"/>
              </a:rPr>
              <a:t>PPM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658CFE8E-D8E0-E12C-0C31-F7283032D4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82760CB4-6607-417E-98EB-6E02AB4DE43D}" type="slidenum">
              <a:rPr lang="en-US" altLang="zh-CN" sz="2000">
                <a:solidFill>
                  <a:schemeClr val="bg2"/>
                </a:solidFill>
              </a:rPr>
              <a:pPr/>
              <a:t>28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0723" name="Line 2">
            <a:extLst>
              <a:ext uri="{FF2B5EF4-FFF2-40B4-BE49-F238E27FC236}">
                <a16:creationId xmlns:a16="http://schemas.microsoft.com/office/drawing/2014/main" id="{87099DB7-95D6-CDB3-B7B1-C43290D30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FC5795AD-7D96-1A72-EF5D-C6EC89080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1F2BDDBE-1B74-EDC9-0B69-D4CF9FAA1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70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14.18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IEEE 802.11b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的物理层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44E23F7A-35C6-2BCE-37C1-EC3B4B183A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7" name="Picture 6">
            <a:extLst>
              <a:ext uri="{FF2B5EF4-FFF2-40B4-BE49-F238E27FC236}">
                <a16:creationId xmlns:a16="http://schemas.microsoft.com/office/drawing/2014/main" id="{6C1D9AD4-A029-CB78-E133-EAD91F453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362200"/>
            <a:ext cx="8007350" cy="25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Box 7">
            <a:extLst>
              <a:ext uri="{FF2B5EF4-FFF2-40B4-BE49-F238E27FC236}">
                <a16:creationId xmlns:a16="http://schemas.microsoft.com/office/drawing/2014/main" id="{2F9D78DF-86CC-B48F-EBDE-5B9E69330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533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DSSS</a:t>
            </a:r>
            <a:r>
              <a:rPr lang="zh-CN" altLang="en-US" sz="2400">
                <a:ea typeface="宋体" panose="02010600030101010101" pitchFamily="2" charset="-122"/>
              </a:rPr>
              <a:t>编码后、</a:t>
            </a:r>
            <a:r>
              <a:rPr lang="en-US" altLang="zh-CN" sz="2400">
                <a:ea typeface="宋体" panose="02010600030101010101" pitchFamily="2" charset="-122"/>
              </a:rPr>
              <a:t>PSK</a:t>
            </a:r>
            <a:r>
              <a:rPr lang="zh-CN" altLang="en-US" sz="2400">
                <a:ea typeface="宋体" panose="02010600030101010101" pitchFamily="2" charset="-122"/>
              </a:rPr>
              <a:t>调制方法。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23A61709-D43D-125B-37F2-0BBA11DA47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14.</a:t>
            </a:r>
            <a:fld id="{0DA4E796-B7E8-4C3F-8E97-DFE9C52CF4BD}" type="slidenum">
              <a:rPr lang="en-US" altLang="zh-CN" sz="2000">
                <a:solidFill>
                  <a:schemeClr val="bg2"/>
                </a:solidFill>
              </a:rPr>
              <a:pPr/>
              <a:t>29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1747" name="Line 2">
            <a:extLst>
              <a:ext uri="{FF2B5EF4-FFF2-40B4-BE49-F238E27FC236}">
                <a16:creationId xmlns:a16="http://schemas.microsoft.com/office/drawing/2014/main" id="{0265CFA9-35E7-08EE-07F9-A7E25278B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Line 3">
            <a:extLst>
              <a:ext uri="{FF2B5EF4-FFF2-40B4-BE49-F238E27FC236}">
                <a16:creationId xmlns:a16="http://schemas.microsoft.com/office/drawing/2014/main" id="{A383EAC0-88E5-3978-E177-75F58AA00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7D491AD8-43DE-4268-46EF-3CDDEB8B6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70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14.18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IEEE 802.11a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的物理层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50" name="Line 5">
            <a:extLst>
              <a:ext uri="{FF2B5EF4-FFF2-40B4-BE49-F238E27FC236}">
                <a16:creationId xmlns:a16="http://schemas.microsoft.com/office/drawing/2014/main" id="{6B5ABDCC-407A-02E6-7348-0A40291B36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1" name="TextBox 7">
            <a:extLst>
              <a:ext uri="{FF2B5EF4-FFF2-40B4-BE49-F238E27FC236}">
                <a16:creationId xmlns:a16="http://schemas.microsoft.com/office/drawing/2014/main" id="{FA2AEA9F-E2A9-2EE7-A99B-8B8EC9809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71800"/>
            <a:ext cx="77724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IEEE 802.11a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的物理层：</a:t>
            </a:r>
            <a:r>
              <a:rPr lang="en-US" altLang="zh-CN" sz="2400">
                <a:ea typeface="宋体" panose="02010600030101010101" pitchFamily="2" charset="-122"/>
              </a:rPr>
              <a:t>OFDM</a:t>
            </a:r>
            <a:r>
              <a:rPr lang="zh-CN" altLang="en-US" sz="2400">
                <a:ea typeface="宋体" panose="02010600030101010101" pitchFamily="2" charset="-122"/>
              </a:rPr>
              <a:t>正交频分多路复用、</a:t>
            </a:r>
            <a:r>
              <a:rPr lang="en-US" altLang="zh-CN" sz="2400">
                <a:ea typeface="宋体" panose="02010600030101010101" pitchFamily="2" charset="-122"/>
              </a:rPr>
              <a:t>PSK</a:t>
            </a:r>
            <a:r>
              <a:rPr lang="zh-CN" altLang="en-US" sz="2400">
                <a:ea typeface="宋体" panose="02010600030101010101" pitchFamily="2" charset="-122"/>
              </a:rPr>
              <a:t>或</a:t>
            </a:r>
            <a:r>
              <a:rPr lang="en-US" altLang="zh-CN" sz="2400">
                <a:ea typeface="宋体" panose="02010600030101010101" pitchFamily="2" charset="-122"/>
              </a:rPr>
              <a:t>QAM</a:t>
            </a:r>
            <a:r>
              <a:rPr lang="zh-CN" altLang="en-US" sz="2400">
                <a:ea typeface="宋体" panose="02010600030101010101" pitchFamily="2" charset="-122"/>
              </a:rPr>
              <a:t>调制方法。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IEEE 802.11g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的物理层：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2.4GHz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OFDM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，向前兼容。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2751</TotalTime>
  <Words>863</Words>
  <Application>Microsoft Office PowerPoint</Application>
  <PresentationFormat>全屏显示(4:3)</PresentationFormat>
  <Paragraphs>127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183</cp:revision>
  <dcterms:created xsi:type="dcterms:W3CDTF">2000-01-15T04:50:39Z</dcterms:created>
  <dcterms:modified xsi:type="dcterms:W3CDTF">2026-06-02T07:12:07Z</dcterms:modified>
</cp:coreProperties>
</file>