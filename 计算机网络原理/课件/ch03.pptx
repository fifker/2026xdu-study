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129"/>
  </p:notesMasterIdLst>
  <p:sldIdLst>
    <p:sldId id="807" r:id="rId2"/>
    <p:sldId id="657" r:id="rId3"/>
    <p:sldId id="735" r:id="rId4"/>
    <p:sldId id="803" r:id="rId5"/>
    <p:sldId id="658" r:id="rId6"/>
    <p:sldId id="624" r:id="rId7"/>
    <p:sldId id="660" r:id="rId8"/>
    <p:sldId id="808" r:id="rId9"/>
    <p:sldId id="737" r:id="rId10"/>
    <p:sldId id="625" r:id="rId11"/>
    <p:sldId id="661" r:id="rId12"/>
    <p:sldId id="742" r:id="rId13"/>
    <p:sldId id="626" r:id="rId14"/>
    <p:sldId id="743" r:id="rId15"/>
    <p:sldId id="662" r:id="rId16"/>
    <p:sldId id="627" r:id="rId17"/>
    <p:sldId id="685" r:id="rId18"/>
    <p:sldId id="744" r:id="rId19"/>
    <p:sldId id="745" r:id="rId20"/>
    <p:sldId id="746" r:id="rId21"/>
    <p:sldId id="663" r:id="rId22"/>
    <p:sldId id="664" r:id="rId23"/>
    <p:sldId id="665" r:id="rId24"/>
    <p:sldId id="628" r:id="rId25"/>
    <p:sldId id="747" r:id="rId26"/>
    <p:sldId id="809" r:id="rId27"/>
    <p:sldId id="629" r:id="rId28"/>
    <p:sldId id="810" r:id="rId29"/>
    <p:sldId id="630" r:id="rId30"/>
    <p:sldId id="666" r:id="rId31"/>
    <p:sldId id="631" r:id="rId32"/>
    <p:sldId id="667" r:id="rId33"/>
    <p:sldId id="668" r:id="rId34"/>
    <p:sldId id="669" r:id="rId35"/>
    <p:sldId id="632" r:id="rId36"/>
    <p:sldId id="633" r:id="rId37"/>
    <p:sldId id="811" r:id="rId38"/>
    <p:sldId id="750" r:id="rId39"/>
    <p:sldId id="634" r:id="rId40"/>
    <p:sldId id="670" r:id="rId41"/>
    <p:sldId id="635" r:id="rId42"/>
    <p:sldId id="751" r:id="rId43"/>
    <p:sldId id="804" r:id="rId44"/>
    <p:sldId id="752" r:id="rId45"/>
    <p:sldId id="805" r:id="rId46"/>
    <p:sldId id="753" r:id="rId47"/>
    <p:sldId id="806" r:id="rId48"/>
    <p:sldId id="754" r:id="rId49"/>
    <p:sldId id="755" r:id="rId50"/>
    <p:sldId id="793" r:id="rId51"/>
    <p:sldId id="738" r:id="rId52"/>
    <p:sldId id="639" r:id="rId53"/>
    <p:sldId id="671" r:id="rId54"/>
    <p:sldId id="757" r:id="rId55"/>
    <p:sldId id="758" r:id="rId56"/>
    <p:sldId id="812" r:id="rId57"/>
    <p:sldId id="759" r:id="rId58"/>
    <p:sldId id="760" r:id="rId59"/>
    <p:sldId id="795" r:id="rId60"/>
    <p:sldId id="813" r:id="rId61"/>
    <p:sldId id="640" r:id="rId62"/>
    <p:sldId id="814" r:id="rId63"/>
    <p:sldId id="641" r:id="rId64"/>
    <p:sldId id="672" r:id="rId65"/>
    <p:sldId id="642" r:id="rId66"/>
    <p:sldId id="815" r:id="rId67"/>
    <p:sldId id="643" r:id="rId68"/>
    <p:sldId id="674" r:id="rId69"/>
    <p:sldId id="761" r:id="rId70"/>
    <p:sldId id="816" r:id="rId71"/>
    <p:sldId id="644" r:id="rId72"/>
    <p:sldId id="675" r:id="rId73"/>
    <p:sldId id="678" r:id="rId74"/>
    <p:sldId id="733" r:id="rId75"/>
    <p:sldId id="796" r:id="rId76"/>
    <p:sldId id="797" r:id="rId77"/>
    <p:sldId id="645" r:id="rId78"/>
    <p:sldId id="679" r:id="rId79"/>
    <p:sldId id="646" r:id="rId80"/>
    <p:sldId id="764" r:id="rId81"/>
    <p:sldId id="765" r:id="rId82"/>
    <p:sldId id="739" r:id="rId83"/>
    <p:sldId id="648" r:id="rId84"/>
    <p:sldId id="649" r:id="rId85"/>
    <p:sldId id="766" r:id="rId86"/>
    <p:sldId id="767" r:id="rId87"/>
    <p:sldId id="768" r:id="rId88"/>
    <p:sldId id="799" r:id="rId89"/>
    <p:sldId id="769" r:id="rId90"/>
    <p:sldId id="798" r:id="rId91"/>
    <p:sldId id="651" r:id="rId92"/>
    <p:sldId id="652" r:id="rId93"/>
    <p:sldId id="771" r:id="rId94"/>
    <p:sldId id="772" r:id="rId95"/>
    <p:sldId id="653" r:id="rId96"/>
    <p:sldId id="740" r:id="rId97"/>
    <p:sldId id="817" r:id="rId98"/>
    <p:sldId id="680" r:id="rId99"/>
    <p:sldId id="773" r:id="rId100"/>
    <p:sldId id="774" r:id="rId101"/>
    <p:sldId id="775" r:id="rId102"/>
    <p:sldId id="776" r:id="rId103"/>
    <p:sldId id="818" r:id="rId104"/>
    <p:sldId id="777" r:id="rId105"/>
    <p:sldId id="778" r:id="rId106"/>
    <p:sldId id="779" r:id="rId107"/>
    <p:sldId id="780" r:id="rId108"/>
    <p:sldId id="781" r:id="rId109"/>
    <p:sldId id="800" r:id="rId110"/>
    <p:sldId id="682" r:id="rId111"/>
    <p:sldId id="741" r:id="rId112"/>
    <p:sldId id="791" r:id="rId113"/>
    <p:sldId id="782" r:id="rId114"/>
    <p:sldId id="783" r:id="rId115"/>
    <p:sldId id="819" r:id="rId116"/>
    <p:sldId id="784" r:id="rId117"/>
    <p:sldId id="820" r:id="rId118"/>
    <p:sldId id="785" r:id="rId119"/>
    <p:sldId id="786" r:id="rId120"/>
    <p:sldId id="801" r:id="rId121"/>
    <p:sldId id="787" r:id="rId122"/>
    <p:sldId id="802" r:id="rId123"/>
    <p:sldId id="821" r:id="rId124"/>
    <p:sldId id="654" r:id="rId125"/>
    <p:sldId id="789" r:id="rId126"/>
    <p:sldId id="655" r:id="rId127"/>
    <p:sldId id="656" r:id="rId128"/>
  </p:sldIdLst>
  <p:sldSz cx="9144000" cy="6858000" type="screen4x3"/>
  <p:notesSz cx="6858000" cy="9144000"/>
  <p:defaultTextStyle>
    <a:defPPr>
      <a:defRPr lang="en-US"/>
    </a:defPPr>
    <a:lvl1pPr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5pPr>
    <a:lvl6pPr marL="2286000" algn="l" defTabSz="914400" rtl="0" eaLnBrk="1" latinLnBrk="0" hangingPunct="1">
      <a:defRPr sz="2800" b="1" i="1" kern="1200" baseline="-18000">
        <a:solidFill>
          <a:schemeClr val="tx1"/>
        </a:solidFill>
        <a:latin typeface="Times New Roman" panose="02020603050405020304" pitchFamily="18" charset="0"/>
        <a:ea typeface="+mn-ea"/>
        <a:cs typeface="+mn-cs"/>
      </a:defRPr>
    </a:lvl6pPr>
    <a:lvl7pPr marL="2743200" algn="l" defTabSz="914400" rtl="0" eaLnBrk="1" latinLnBrk="0" hangingPunct="1">
      <a:defRPr sz="2800" b="1" i="1" kern="1200" baseline="-18000">
        <a:solidFill>
          <a:schemeClr val="tx1"/>
        </a:solidFill>
        <a:latin typeface="Times New Roman" panose="02020603050405020304" pitchFamily="18" charset="0"/>
        <a:ea typeface="+mn-ea"/>
        <a:cs typeface="+mn-cs"/>
      </a:defRPr>
    </a:lvl7pPr>
    <a:lvl8pPr marL="3200400" algn="l" defTabSz="914400" rtl="0" eaLnBrk="1" latinLnBrk="0" hangingPunct="1">
      <a:defRPr sz="2800" b="1" i="1" kern="1200" baseline="-18000">
        <a:solidFill>
          <a:schemeClr val="tx1"/>
        </a:solidFill>
        <a:latin typeface="Times New Roman" panose="02020603050405020304" pitchFamily="18" charset="0"/>
        <a:ea typeface="+mn-ea"/>
        <a:cs typeface="+mn-cs"/>
      </a:defRPr>
    </a:lvl8pPr>
    <a:lvl9pPr marL="3657600" algn="l" defTabSz="914400" rtl="0" eaLnBrk="1" latinLnBrk="0" hangingPunct="1">
      <a:defRPr sz="2800" b="1" i="1" kern="1200" baseline="-180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049">
          <p15:clr>
            <a:srgbClr val="A4A3A4"/>
          </p15:clr>
        </p15:guide>
        <p15:guide id="2" pos="29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00CC00"/>
    <a:srgbClr val="996633"/>
    <a:srgbClr val="6666FF"/>
    <a:srgbClr val="3366FF"/>
    <a:srgbClr val="CCFF99"/>
    <a:srgbClr val="99FF3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1113" y="30"/>
      </p:cViewPr>
      <p:guideLst>
        <p:guide orient="horz" pos="2049"/>
        <p:guide pos="2928"/>
      </p:guideLst>
    </p:cSldViewPr>
  </p:slideViewPr>
  <p:notesTextViewPr>
    <p:cViewPr>
      <p:scale>
        <a:sx n="100" d="100"/>
        <a:sy n="100" d="100"/>
      </p:scale>
      <p:origin x="0" y="0"/>
    </p:cViewPr>
  </p:notesTextViewPr>
  <p:gridSpacing cx="76198" cy="7619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86D047E7-EFF2-E9F2-D83C-362C308B069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200" b="0" i="0" baseline="0"/>
            </a:lvl1pPr>
          </a:lstStyle>
          <a:p>
            <a:pPr>
              <a:defRPr/>
            </a:pPr>
            <a:endParaRPr lang="en-US" altLang="zh-CN"/>
          </a:p>
        </p:txBody>
      </p:sp>
      <p:sp>
        <p:nvSpPr>
          <p:cNvPr id="3075" name="Rectangle 3">
            <a:extLst>
              <a:ext uri="{FF2B5EF4-FFF2-40B4-BE49-F238E27FC236}">
                <a16:creationId xmlns:a16="http://schemas.microsoft.com/office/drawing/2014/main" id="{DCC54331-91A6-BCB9-E323-FB044F0830A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b="0" i="0" baseline="0"/>
            </a:lvl1pPr>
          </a:lstStyle>
          <a:p>
            <a:pPr>
              <a:defRPr/>
            </a:pPr>
            <a:endParaRPr lang="en-US" altLang="zh-CN"/>
          </a:p>
        </p:txBody>
      </p:sp>
      <p:sp>
        <p:nvSpPr>
          <p:cNvPr id="3076" name="Rectangle 4">
            <a:extLst>
              <a:ext uri="{FF2B5EF4-FFF2-40B4-BE49-F238E27FC236}">
                <a16:creationId xmlns:a16="http://schemas.microsoft.com/office/drawing/2014/main" id="{D6EC6FD5-D69D-51F8-C973-8140191331FF}"/>
              </a:ext>
            </a:extLst>
          </p:cNvPr>
          <p:cNvSpPr>
            <a:spLocks noGrp="1" noRo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a:extLst>
              <a:ext uri="{FF2B5EF4-FFF2-40B4-BE49-F238E27FC236}">
                <a16:creationId xmlns:a16="http://schemas.microsoft.com/office/drawing/2014/main" id="{ADE7B26F-C535-F80C-F54F-7E67529DB564}"/>
              </a:ext>
            </a:extLst>
          </p:cNvPr>
          <p:cNvSpPr>
            <a:spLocks noGrp="1" noRot="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078" name="Rectangle 6">
            <a:extLst>
              <a:ext uri="{FF2B5EF4-FFF2-40B4-BE49-F238E27FC236}">
                <a16:creationId xmlns:a16="http://schemas.microsoft.com/office/drawing/2014/main" id="{306A927C-28C4-8738-B7B8-A48D6E0D1D4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buFont typeface="Arial" panose="020B0604020202020204" pitchFamily="34" charset="0"/>
              <a:buNone/>
              <a:defRPr sz="1200" b="0" i="0" baseline="0"/>
            </a:lvl1pPr>
          </a:lstStyle>
          <a:p>
            <a:pPr>
              <a:defRPr/>
            </a:pPr>
            <a:endParaRPr lang="en-US" altLang="zh-CN"/>
          </a:p>
        </p:txBody>
      </p:sp>
      <p:sp>
        <p:nvSpPr>
          <p:cNvPr id="3079" name="Rectangle 7">
            <a:extLst>
              <a:ext uri="{FF2B5EF4-FFF2-40B4-BE49-F238E27FC236}">
                <a16:creationId xmlns:a16="http://schemas.microsoft.com/office/drawing/2014/main" id="{661DDE2C-A43D-8AF9-0954-F54554673E64}"/>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b="0" i="0" baseline="0" smtClean="0"/>
            </a:lvl1pPr>
          </a:lstStyle>
          <a:p>
            <a:pPr>
              <a:defRPr/>
            </a:pPr>
            <a:fld id="{02545993-F1E9-4A2A-9FD9-CCB16E2D0E4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9A730E68-B9BF-61E7-2C3B-7ED74A390515}"/>
              </a:ext>
            </a:extLst>
          </p:cNvPr>
          <p:cNvGrpSpPr>
            <a:grpSpLocks/>
          </p:cNvGrpSpPr>
          <p:nvPr/>
        </p:nvGrpSpPr>
        <p:grpSpPr bwMode="auto">
          <a:xfrm>
            <a:off x="0" y="2438400"/>
            <a:ext cx="9009063" cy="1052513"/>
            <a:chOff x="0" y="0"/>
            <a:chExt cx="5675" cy="663"/>
          </a:xfrm>
        </p:grpSpPr>
        <p:grpSp>
          <p:nvGrpSpPr>
            <p:cNvPr id="3" name="Group 3">
              <a:extLst>
                <a:ext uri="{FF2B5EF4-FFF2-40B4-BE49-F238E27FC236}">
                  <a16:creationId xmlns:a16="http://schemas.microsoft.com/office/drawing/2014/main" id="{1C41BD43-1BF5-7CF2-84B2-D88505225096}"/>
                </a:ext>
              </a:extLst>
            </p:cNvPr>
            <p:cNvGrpSpPr>
              <a:grpSpLocks/>
            </p:cNvGrpSpPr>
            <p:nvPr/>
          </p:nvGrpSpPr>
          <p:grpSpPr bwMode="auto">
            <a:xfrm>
              <a:off x="183" y="68"/>
              <a:ext cx="449" cy="299"/>
              <a:chOff x="0" y="0"/>
              <a:chExt cx="624" cy="432"/>
            </a:xfrm>
          </p:grpSpPr>
          <p:sp>
            <p:nvSpPr>
              <p:cNvPr id="10" name="Rectangle 4">
                <a:extLst>
                  <a:ext uri="{FF2B5EF4-FFF2-40B4-BE49-F238E27FC236}">
                    <a16:creationId xmlns:a16="http://schemas.microsoft.com/office/drawing/2014/main" id="{7162AAC4-818B-0065-9465-7AE176316921}"/>
                  </a:ext>
                </a:extLst>
              </p:cNvPr>
              <p:cNvSpPr>
                <a:spLocks noChangeArrowheads="1"/>
              </p:cNvSpPr>
              <p:nvPr/>
            </p:nvSpPr>
            <p:spPr bwMode="auto">
              <a:xfrm>
                <a:off x="0" y="0"/>
                <a:ext cx="384" cy="432"/>
              </a:xfrm>
              <a:prstGeom prst="rect">
                <a:avLst/>
              </a:prstGeom>
              <a:solidFill>
                <a:schemeClr val="folHlink"/>
              </a:solidFill>
              <a:ln>
                <a:noFill/>
              </a:ln>
            </p:spPr>
            <p:txBody>
              <a:bodyPr wrap="none" anchor="ctr"/>
              <a:lstStyle>
                <a:lvl1pPr>
                  <a:buFont typeface="Arial" panose="020B0604020202020204" pitchFamily="34" charset="0"/>
                  <a:defRPr sz="2800" b="1" i="1" baseline="-18000">
                    <a:solidFill>
                      <a:schemeClr val="tx1"/>
                    </a:solidFill>
                    <a:latin typeface="Times New Roman" panose="02020603050405020304" pitchFamily="18" charset="0"/>
                  </a:defRPr>
                </a:lvl1pPr>
                <a:lvl2pPr marL="742950" indent="-285750">
                  <a:buFont typeface="Arial" panose="020B0604020202020204" pitchFamily="34" charset="0"/>
                  <a:defRPr sz="2800" b="1" i="1" baseline="-18000">
                    <a:solidFill>
                      <a:schemeClr val="tx1"/>
                    </a:solidFill>
                    <a:latin typeface="Times New Roman" panose="02020603050405020304" pitchFamily="18" charset="0"/>
                  </a:defRPr>
                </a:lvl2pPr>
                <a:lvl3pPr marL="1143000" indent="-228600">
                  <a:buFont typeface="Arial" panose="020B0604020202020204" pitchFamily="34" charset="0"/>
                  <a:defRPr sz="2800" b="1" i="1" baseline="-18000">
                    <a:solidFill>
                      <a:schemeClr val="tx1"/>
                    </a:solidFill>
                    <a:latin typeface="Times New Roman" panose="02020603050405020304" pitchFamily="18" charset="0"/>
                  </a:defRPr>
                </a:lvl3pPr>
                <a:lvl4pPr marL="1600200" indent="-228600">
                  <a:buFont typeface="Arial" panose="020B0604020202020204" pitchFamily="34" charset="0"/>
                  <a:defRPr sz="2800" b="1" i="1" baseline="-18000">
                    <a:solidFill>
                      <a:schemeClr val="tx1"/>
                    </a:solidFill>
                    <a:latin typeface="Times New Roman" panose="02020603050405020304" pitchFamily="18" charset="0"/>
                  </a:defRPr>
                </a:lvl4pPr>
                <a:lvl5pPr marL="2057400" indent="-228600">
                  <a:buFont typeface="Arial" panose="020B0604020202020204" pitchFamily="34" charset="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sp>
            <p:nvSpPr>
              <p:cNvPr id="11" name="Rectangle 5">
                <a:extLst>
                  <a:ext uri="{FF2B5EF4-FFF2-40B4-BE49-F238E27FC236}">
                    <a16:creationId xmlns:a16="http://schemas.microsoft.com/office/drawing/2014/main" id="{AE947689-65FA-7111-6881-A1326F77C952}"/>
                  </a:ext>
                </a:extLst>
              </p:cNvPr>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p:spPr>
            <p:txBody>
              <a:bodyPr wrap="none" anchor="ctr"/>
              <a:lstStyle>
                <a:lvl1pPr>
                  <a:buFont typeface="Arial" panose="020B0604020202020204" pitchFamily="34" charset="0"/>
                  <a:defRPr sz="2800" b="1" i="1" baseline="-18000">
                    <a:solidFill>
                      <a:schemeClr val="tx1"/>
                    </a:solidFill>
                    <a:latin typeface="Times New Roman" panose="02020603050405020304" pitchFamily="18" charset="0"/>
                  </a:defRPr>
                </a:lvl1pPr>
                <a:lvl2pPr marL="742950" indent="-285750">
                  <a:buFont typeface="Arial" panose="020B0604020202020204" pitchFamily="34" charset="0"/>
                  <a:defRPr sz="2800" b="1" i="1" baseline="-18000">
                    <a:solidFill>
                      <a:schemeClr val="tx1"/>
                    </a:solidFill>
                    <a:latin typeface="Times New Roman" panose="02020603050405020304" pitchFamily="18" charset="0"/>
                  </a:defRPr>
                </a:lvl2pPr>
                <a:lvl3pPr marL="1143000" indent="-228600">
                  <a:buFont typeface="Arial" panose="020B0604020202020204" pitchFamily="34" charset="0"/>
                  <a:defRPr sz="2800" b="1" i="1" baseline="-18000">
                    <a:solidFill>
                      <a:schemeClr val="tx1"/>
                    </a:solidFill>
                    <a:latin typeface="Times New Roman" panose="02020603050405020304" pitchFamily="18" charset="0"/>
                  </a:defRPr>
                </a:lvl3pPr>
                <a:lvl4pPr marL="1600200" indent="-228600">
                  <a:buFont typeface="Arial" panose="020B0604020202020204" pitchFamily="34" charset="0"/>
                  <a:defRPr sz="2800" b="1" i="1" baseline="-18000">
                    <a:solidFill>
                      <a:schemeClr val="tx1"/>
                    </a:solidFill>
                    <a:latin typeface="Times New Roman" panose="02020603050405020304" pitchFamily="18" charset="0"/>
                  </a:defRPr>
                </a:lvl4pPr>
                <a:lvl5pPr marL="2057400" indent="-228600">
                  <a:buFont typeface="Arial" panose="020B0604020202020204" pitchFamily="34" charset="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grpSp>
        <p:grpSp>
          <p:nvGrpSpPr>
            <p:cNvPr id="4" name="Group 6">
              <a:extLst>
                <a:ext uri="{FF2B5EF4-FFF2-40B4-BE49-F238E27FC236}">
                  <a16:creationId xmlns:a16="http://schemas.microsoft.com/office/drawing/2014/main" id="{93B2D8D9-035C-611A-11F9-EDD4872E5498}"/>
                </a:ext>
              </a:extLst>
            </p:cNvPr>
            <p:cNvGrpSpPr>
              <a:grpSpLocks/>
            </p:cNvGrpSpPr>
            <p:nvPr/>
          </p:nvGrpSpPr>
          <p:grpSpPr bwMode="auto">
            <a:xfrm>
              <a:off x="261" y="334"/>
              <a:ext cx="466" cy="299"/>
              <a:chOff x="0" y="0"/>
              <a:chExt cx="672" cy="432"/>
            </a:xfrm>
          </p:grpSpPr>
          <p:sp>
            <p:nvSpPr>
              <p:cNvPr id="8" name="Rectangle 7">
                <a:extLst>
                  <a:ext uri="{FF2B5EF4-FFF2-40B4-BE49-F238E27FC236}">
                    <a16:creationId xmlns:a16="http://schemas.microsoft.com/office/drawing/2014/main" id="{E4C2F26B-9C71-C541-667B-93AF56B95769}"/>
                  </a:ext>
                </a:extLst>
              </p:cNvPr>
              <p:cNvSpPr>
                <a:spLocks noChangeArrowheads="1"/>
              </p:cNvSpPr>
              <p:nvPr/>
            </p:nvSpPr>
            <p:spPr bwMode="auto">
              <a:xfrm>
                <a:off x="0" y="0"/>
                <a:ext cx="384" cy="432"/>
              </a:xfrm>
              <a:prstGeom prst="rect">
                <a:avLst/>
              </a:prstGeom>
              <a:solidFill>
                <a:schemeClr val="accent2"/>
              </a:solidFill>
              <a:ln>
                <a:noFill/>
              </a:ln>
            </p:spPr>
            <p:txBody>
              <a:bodyPr wrap="none" anchor="ctr"/>
              <a:lstStyle>
                <a:lvl1pPr>
                  <a:buFont typeface="Arial" panose="020B0604020202020204" pitchFamily="34" charset="0"/>
                  <a:defRPr sz="2800" b="1" i="1" baseline="-18000">
                    <a:solidFill>
                      <a:schemeClr val="tx1"/>
                    </a:solidFill>
                    <a:latin typeface="Times New Roman" panose="02020603050405020304" pitchFamily="18" charset="0"/>
                  </a:defRPr>
                </a:lvl1pPr>
                <a:lvl2pPr marL="742950" indent="-285750">
                  <a:buFont typeface="Arial" panose="020B0604020202020204" pitchFamily="34" charset="0"/>
                  <a:defRPr sz="2800" b="1" i="1" baseline="-18000">
                    <a:solidFill>
                      <a:schemeClr val="tx1"/>
                    </a:solidFill>
                    <a:latin typeface="Times New Roman" panose="02020603050405020304" pitchFamily="18" charset="0"/>
                  </a:defRPr>
                </a:lvl2pPr>
                <a:lvl3pPr marL="1143000" indent="-228600">
                  <a:buFont typeface="Arial" panose="020B0604020202020204" pitchFamily="34" charset="0"/>
                  <a:defRPr sz="2800" b="1" i="1" baseline="-18000">
                    <a:solidFill>
                      <a:schemeClr val="tx1"/>
                    </a:solidFill>
                    <a:latin typeface="Times New Roman" panose="02020603050405020304" pitchFamily="18" charset="0"/>
                  </a:defRPr>
                </a:lvl3pPr>
                <a:lvl4pPr marL="1600200" indent="-228600">
                  <a:buFont typeface="Arial" panose="020B0604020202020204" pitchFamily="34" charset="0"/>
                  <a:defRPr sz="2800" b="1" i="1" baseline="-18000">
                    <a:solidFill>
                      <a:schemeClr val="tx1"/>
                    </a:solidFill>
                    <a:latin typeface="Times New Roman" panose="02020603050405020304" pitchFamily="18" charset="0"/>
                  </a:defRPr>
                </a:lvl4pPr>
                <a:lvl5pPr marL="2057400" indent="-228600">
                  <a:buFont typeface="Arial" panose="020B0604020202020204" pitchFamily="34" charset="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sp>
            <p:nvSpPr>
              <p:cNvPr id="9" name="Rectangle 8">
                <a:extLst>
                  <a:ext uri="{FF2B5EF4-FFF2-40B4-BE49-F238E27FC236}">
                    <a16:creationId xmlns:a16="http://schemas.microsoft.com/office/drawing/2014/main" id="{141406BD-F3EE-F382-47AC-7523EEE8E071}"/>
                  </a:ext>
                </a:extLst>
              </p:cNvPr>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p:spPr>
            <p:txBody>
              <a:bodyPr wrap="none" anchor="ctr"/>
              <a:lstStyle>
                <a:lvl1pPr>
                  <a:buFont typeface="Arial" panose="020B0604020202020204" pitchFamily="34" charset="0"/>
                  <a:defRPr sz="2800" b="1" i="1" baseline="-18000">
                    <a:solidFill>
                      <a:schemeClr val="tx1"/>
                    </a:solidFill>
                    <a:latin typeface="Times New Roman" panose="02020603050405020304" pitchFamily="18" charset="0"/>
                  </a:defRPr>
                </a:lvl1pPr>
                <a:lvl2pPr marL="742950" indent="-285750">
                  <a:buFont typeface="Arial" panose="020B0604020202020204" pitchFamily="34" charset="0"/>
                  <a:defRPr sz="2800" b="1" i="1" baseline="-18000">
                    <a:solidFill>
                      <a:schemeClr val="tx1"/>
                    </a:solidFill>
                    <a:latin typeface="Times New Roman" panose="02020603050405020304" pitchFamily="18" charset="0"/>
                  </a:defRPr>
                </a:lvl2pPr>
                <a:lvl3pPr marL="1143000" indent="-228600">
                  <a:buFont typeface="Arial" panose="020B0604020202020204" pitchFamily="34" charset="0"/>
                  <a:defRPr sz="2800" b="1" i="1" baseline="-18000">
                    <a:solidFill>
                      <a:schemeClr val="tx1"/>
                    </a:solidFill>
                    <a:latin typeface="Times New Roman" panose="02020603050405020304" pitchFamily="18" charset="0"/>
                  </a:defRPr>
                </a:lvl3pPr>
                <a:lvl4pPr marL="1600200" indent="-228600">
                  <a:buFont typeface="Arial" panose="020B0604020202020204" pitchFamily="34" charset="0"/>
                  <a:defRPr sz="2800" b="1" i="1" baseline="-18000">
                    <a:solidFill>
                      <a:schemeClr val="tx1"/>
                    </a:solidFill>
                    <a:latin typeface="Times New Roman" panose="02020603050405020304" pitchFamily="18" charset="0"/>
                  </a:defRPr>
                </a:lvl4pPr>
                <a:lvl5pPr marL="2057400" indent="-228600">
                  <a:buFont typeface="Arial" panose="020B0604020202020204" pitchFamily="34" charset="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grpSp>
        <p:sp>
          <p:nvSpPr>
            <p:cNvPr id="5" name="Rectangle 9">
              <a:extLst>
                <a:ext uri="{FF2B5EF4-FFF2-40B4-BE49-F238E27FC236}">
                  <a16:creationId xmlns:a16="http://schemas.microsoft.com/office/drawing/2014/main" id="{91D2012A-A701-AF5E-EB8D-059F243A0866}"/>
                </a:ext>
              </a:extLst>
            </p:cNvPr>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p:spPr>
          <p:txBody>
            <a:bodyPr wrap="none" anchor="ctr"/>
            <a:lstStyle>
              <a:lvl1pPr>
                <a:buFont typeface="Arial" panose="020B0604020202020204" pitchFamily="34" charset="0"/>
                <a:defRPr sz="2800" b="1" i="1" baseline="-18000">
                  <a:solidFill>
                    <a:schemeClr val="tx1"/>
                  </a:solidFill>
                  <a:latin typeface="Times New Roman" panose="02020603050405020304" pitchFamily="18" charset="0"/>
                </a:defRPr>
              </a:lvl1pPr>
              <a:lvl2pPr marL="742950" indent="-285750">
                <a:buFont typeface="Arial" panose="020B0604020202020204" pitchFamily="34" charset="0"/>
                <a:defRPr sz="2800" b="1" i="1" baseline="-18000">
                  <a:solidFill>
                    <a:schemeClr val="tx1"/>
                  </a:solidFill>
                  <a:latin typeface="Times New Roman" panose="02020603050405020304" pitchFamily="18" charset="0"/>
                </a:defRPr>
              </a:lvl2pPr>
              <a:lvl3pPr marL="1143000" indent="-228600">
                <a:buFont typeface="Arial" panose="020B0604020202020204" pitchFamily="34" charset="0"/>
                <a:defRPr sz="2800" b="1" i="1" baseline="-18000">
                  <a:solidFill>
                    <a:schemeClr val="tx1"/>
                  </a:solidFill>
                  <a:latin typeface="Times New Roman" panose="02020603050405020304" pitchFamily="18" charset="0"/>
                </a:defRPr>
              </a:lvl3pPr>
              <a:lvl4pPr marL="1600200" indent="-228600">
                <a:buFont typeface="Arial" panose="020B0604020202020204" pitchFamily="34" charset="0"/>
                <a:defRPr sz="2800" b="1" i="1" baseline="-18000">
                  <a:solidFill>
                    <a:schemeClr val="tx1"/>
                  </a:solidFill>
                  <a:latin typeface="Times New Roman" panose="02020603050405020304" pitchFamily="18" charset="0"/>
                </a:defRPr>
              </a:lvl4pPr>
              <a:lvl5pPr marL="2057400" indent="-228600">
                <a:buFont typeface="Arial" panose="020B0604020202020204" pitchFamily="34" charset="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sp>
          <p:nvSpPr>
            <p:cNvPr id="6" name="Rectangle 10">
              <a:extLst>
                <a:ext uri="{FF2B5EF4-FFF2-40B4-BE49-F238E27FC236}">
                  <a16:creationId xmlns:a16="http://schemas.microsoft.com/office/drawing/2014/main" id="{33156C7E-6AE6-A9B9-A3FE-9DF04A3222DF}"/>
                </a:ext>
              </a:extLst>
            </p:cNvPr>
            <p:cNvSpPr>
              <a:spLocks noChangeArrowheads="1"/>
            </p:cNvSpPr>
            <p:nvPr/>
          </p:nvSpPr>
          <p:spPr bwMode="auto">
            <a:xfrm>
              <a:off x="400" y="0"/>
              <a:ext cx="20" cy="663"/>
            </a:xfrm>
            <a:prstGeom prst="rect">
              <a:avLst/>
            </a:prstGeom>
            <a:solidFill>
              <a:schemeClr val="bg2"/>
            </a:solidFill>
            <a:ln>
              <a:noFill/>
            </a:ln>
          </p:spPr>
          <p:txBody>
            <a:bodyPr wrap="none" anchor="ctr"/>
            <a:lstStyle>
              <a:lvl1pPr>
                <a:buFont typeface="Arial" panose="020B0604020202020204" pitchFamily="34" charset="0"/>
                <a:defRPr sz="2800" b="1" i="1" baseline="-18000">
                  <a:solidFill>
                    <a:schemeClr val="tx1"/>
                  </a:solidFill>
                  <a:latin typeface="Times New Roman" panose="02020603050405020304" pitchFamily="18" charset="0"/>
                </a:defRPr>
              </a:lvl1pPr>
              <a:lvl2pPr marL="742950" indent="-285750">
                <a:buFont typeface="Arial" panose="020B0604020202020204" pitchFamily="34" charset="0"/>
                <a:defRPr sz="2800" b="1" i="1" baseline="-18000">
                  <a:solidFill>
                    <a:schemeClr val="tx1"/>
                  </a:solidFill>
                  <a:latin typeface="Times New Roman" panose="02020603050405020304" pitchFamily="18" charset="0"/>
                </a:defRPr>
              </a:lvl2pPr>
              <a:lvl3pPr marL="1143000" indent="-228600">
                <a:buFont typeface="Arial" panose="020B0604020202020204" pitchFamily="34" charset="0"/>
                <a:defRPr sz="2800" b="1" i="1" baseline="-18000">
                  <a:solidFill>
                    <a:schemeClr val="tx1"/>
                  </a:solidFill>
                  <a:latin typeface="Times New Roman" panose="02020603050405020304" pitchFamily="18" charset="0"/>
                </a:defRPr>
              </a:lvl3pPr>
              <a:lvl4pPr marL="1600200" indent="-228600">
                <a:buFont typeface="Arial" panose="020B0604020202020204" pitchFamily="34" charset="0"/>
                <a:defRPr sz="2800" b="1" i="1" baseline="-18000">
                  <a:solidFill>
                    <a:schemeClr val="tx1"/>
                  </a:solidFill>
                  <a:latin typeface="Times New Roman" panose="02020603050405020304" pitchFamily="18" charset="0"/>
                </a:defRPr>
              </a:lvl4pPr>
              <a:lvl5pPr marL="2057400" indent="-228600">
                <a:buFont typeface="Arial" panose="020B0604020202020204" pitchFamily="34" charset="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sp>
          <p:nvSpPr>
            <p:cNvPr id="7" name="Rectangle 11">
              <a:extLst>
                <a:ext uri="{FF2B5EF4-FFF2-40B4-BE49-F238E27FC236}">
                  <a16:creationId xmlns:a16="http://schemas.microsoft.com/office/drawing/2014/main" id="{B3ED97DA-F2D2-FC61-5737-4B0427EC0B17}"/>
                </a:ext>
              </a:extLst>
            </p:cNvPr>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p:spPr>
          <p:txBody>
            <a:bodyPr wrap="none" anchor="ctr"/>
            <a:lstStyle>
              <a:lvl1pPr>
                <a:buFont typeface="Arial" panose="020B0604020202020204" pitchFamily="34" charset="0"/>
                <a:defRPr sz="2800" b="1" i="1" baseline="-18000">
                  <a:solidFill>
                    <a:schemeClr val="tx1"/>
                  </a:solidFill>
                  <a:latin typeface="Times New Roman" panose="02020603050405020304" pitchFamily="18" charset="0"/>
                </a:defRPr>
              </a:lvl1pPr>
              <a:lvl2pPr marL="742950" indent="-285750">
                <a:buFont typeface="Arial" panose="020B0604020202020204" pitchFamily="34" charset="0"/>
                <a:defRPr sz="2800" b="1" i="1" baseline="-18000">
                  <a:solidFill>
                    <a:schemeClr val="tx1"/>
                  </a:solidFill>
                  <a:latin typeface="Times New Roman" panose="02020603050405020304" pitchFamily="18" charset="0"/>
                </a:defRPr>
              </a:lvl2pPr>
              <a:lvl3pPr marL="1143000" indent="-228600">
                <a:buFont typeface="Arial" panose="020B0604020202020204" pitchFamily="34" charset="0"/>
                <a:defRPr sz="2800" b="1" i="1" baseline="-18000">
                  <a:solidFill>
                    <a:schemeClr val="tx1"/>
                  </a:solidFill>
                  <a:latin typeface="Times New Roman" panose="02020603050405020304" pitchFamily="18" charset="0"/>
                </a:defRPr>
              </a:lvl3pPr>
              <a:lvl4pPr marL="1600200" indent="-228600">
                <a:buFont typeface="Arial" panose="020B0604020202020204" pitchFamily="34" charset="0"/>
                <a:defRPr sz="2800" b="1" i="1" baseline="-18000">
                  <a:solidFill>
                    <a:schemeClr val="tx1"/>
                  </a:solidFill>
                  <a:latin typeface="Times New Roman" panose="02020603050405020304" pitchFamily="18" charset="0"/>
                </a:defRPr>
              </a:lvl4pPr>
              <a:lvl5pPr marL="2057400" indent="-228600">
                <a:buFont typeface="Arial" panose="020B0604020202020204" pitchFamily="34" charset="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9pPr>
            </a:lstStyle>
            <a:p>
              <a:pPr>
                <a:defRPr/>
              </a:pPr>
              <a:endParaRPr lang="zh-CN" altLang="en-US">
                <a:ea typeface="宋体" panose="02010600030101010101" pitchFamily="2" charset="-122"/>
              </a:endParaRPr>
            </a:p>
          </p:txBody>
        </p:sp>
      </p:grpSp>
      <p:sp>
        <p:nvSpPr>
          <p:cNvPr id="12" name="Text Box 17">
            <a:extLst>
              <a:ext uri="{FF2B5EF4-FFF2-40B4-BE49-F238E27FC236}">
                <a16:creationId xmlns:a16="http://schemas.microsoft.com/office/drawing/2014/main" id="{24C6E063-B316-7DB0-2373-BAF3DB643671}"/>
              </a:ext>
            </a:extLst>
          </p:cNvPr>
          <p:cNvSpPr txBox="1">
            <a:spLocks noChangeArrowheads="1"/>
          </p:cNvSpPr>
          <p:nvPr userDrawn="1"/>
        </p:nvSpPr>
        <p:spPr bwMode="auto">
          <a:xfrm>
            <a:off x="0" y="6553200"/>
            <a:ext cx="2209800" cy="304800"/>
          </a:xfrm>
          <a:prstGeom prst="rect">
            <a:avLst/>
          </a:prstGeom>
          <a:noFill/>
          <a:ln>
            <a:noFill/>
          </a:ln>
        </p:spPr>
        <p:txBody>
          <a:bodyPr>
            <a:spAutoFit/>
          </a:bodyPr>
          <a:lstStyle>
            <a:lvl1pPr>
              <a:buFont typeface="Arial" panose="020B0604020202020204" pitchFamily="34" charset="0"/>
              <a:defRPr sz="2800" b="1" i="1" baseline="-18000">
                <a:solidFill>
                  <a:schemeClr val="tx1"/>
                </a:solidFill>
                <a:latin typeface="Times New Roman" panose="02020603050405020304" pitchFamily="18" charset="0"/>
              </a:defRPr>
            </a:lvl1pPr>
            <a:lvl2pPr marL="742950" indent="-285750">
              <a:buFont typeface="Arial" panose="020B0604020202020204" pitchFamily="34" charset="0"/>
              <a:defRPr sz="2800" b="1" i="1" baseline="-18000">
                <a:solidFill>
                  <a:schemeClr val="tx1"/>
                </a:solidFill>
                <a:latin typeface="Times New Roman" panose="02020603050405020304" pitchFamily="18" charset="0"/>
              </a:defRPr>
            </a:lvl2pPr>
            <a:lvl3pPr marL="1143000" indent="-228600">
              <a:buFont typeface="Arial" panose="020B0604020202020204" pitchFamily="34" charset="0"/>
              <a:defRPr sz="2800" b="1" i="1" baseline="-18000">
                <a:solidFill>
                  <a:schemeClr val="tx1"/>
                </a:solidFill>
                <a:latin typeface="Times New Roman" panose="02020603050405020304" pitchFamily="18" charset="0"/>
              </a:defRPr>
            </a:lvl3pPr>
            <a:lvl4pPr marL="1600200" indent="-228600">
              <a:buFont typeface="Arial" panose="020B0604020202020204" pitchFamily="34" charset="0"/>
              <a:defRPr sz="2800" b="1" i="1" baseline="-18000">
                <a:solidFill>
                  <a:schemeClr val="tx1"/>
                </a:solidFill>
                <a:latin typeface="Times New Roman" panose="02020603050405020304" pitchFamily="18" charset="0"/>
              </a:defRPr>
            </a:lvl4pPr>
            <a:lvl5pPr marL="2057400" indent="-228600">
              <a:buFont typeface="Arial" panose="020B0604020202020204" pitchFamily="34" charset="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9pPr>
          </a:lstStyle>
          <a:p>
            <a:pPr eaLnBrk="1" hangingPunct="1">
              <a:spcBef>
                <a:spcPct val="50000"/>
              </a:spcBef>
              <a:defRPr/>
            </a:pPr>
            <a:r>
              <a:rPr lang="en-US" altLang="zh-CN" sz="1400" b="0" i="0" baseline="0">
                <a:latin typeface="McGrawHill-Italic" pitchFamily="2" charset="0"/>
                <a:ea typeface="宋体" panose="02010600030101010101" pitchFamily="2" charset="-122"/>
              </a:rPr>
              <a:t>McGraw-Hill</a:t>
            </a:r>
            <a:endParaRPr lang="en-US" altLang="zh-CN" sz="2400" b="0" i="0" baseline="0">
              <a:ea typeface="宋体" panose="02010600030101010101" pitchFamily="2" charset="-122"/>
            </a:endParaRPr>
          </a:p>
        </p:txBody>
      </p:sp>
      <p:sp>
        <p:nvSpPr>
          <p:cNvPr id="13" name="Text Box 18">
            <a:extLst>
              <a:ext uri="{FF2B5EF4-FFF2-40B4-BE49-F238E27FC236}">
                <a16:creationId xmlns:a16="http://schemas.microsoft.com/office/drawing/2014/main" id="{3587C4E0-7A3F-E8B7-9131-0807306EDDDC}"/>
              </a:ext>
            </a:extLst>
          </p:cNvPr>
          <p:cNvSpPr txBox="1">
            <a:spLocks noChangeArrowheads="1"/>
          </p:cNvSpPr>
          <p:nvPr userDrawn="1"/>
        </p:nvSpPr>
        <p:spPr bwMode="auto">
          <a:xfrm>
            <a:off x="4572000" y="6553200"/>
            <a:ext cx="4572000" cy="304800"/>
          </a:xfrm>
          <a:prstGeom prst="rect">
            <a:avLst/>
          </a:prstGeom>
          <a:noFill/>
          <a:ln>
            <a:noFill/>
          </a:ln>
        </p:spPr>
        <p:txBody>
          <a:bodyPr>
            <a:spAutoFit/>
          </a:bodyPr>
          <a:lstStyle>
            <a:lvl1pPr>
              <a:buFont typeface="Arial" panose="020B0604020202020204" pitchFamily="34" charset="0"/>
              <a:defRPr sz="2800" b="1" i="1" baseline="-18000">
                <a:solidFill>
                  <a:schemeClr val="tx1"/>
                </a:solidFill>
                <a:latin typeface="Times New Roman" panose="02020603050405020304" pitchFamily="18" charset="0"/>
              </a:defRPr>
            </a:lvl1pPr>
            <a:lvl2pPr marL="742950" indent="-285750">
              <a:buFont typeface="Arial" panose="020B0604020202020204" pitchFamily="34" charset="0"/>
              <a:defRPr sz="2800" b="1" i="1" baseline="-18000">
                <a:solidFill>
                  <a:schemeClr val="tx1"/>
                </a:solidFill>
                <a:latin typeface="Times New Roman" panose="02020603050405020304" pitchFamily="18" charset="0"/>
              </a:defRPr>
            </a:lvl2pPr>
            <a:lvl3pPr marL="1143000" indent="-228600">
              <a:buFont typeface="Arial" panose="020B0604020202020204" pitchFamily="34" charset="0"/>
              <a:defRPr sz="2800" b="1" i="1" baseline="-18000">
                <a:solidFill>
                  <a:schemeClr val="tx1"/>
                </a:solidFill>
                <a:latin typeface="Times New Roman" panose="02020603050405020304" pitchFamily="18" charset="0"/>
              </a:defRPr>
            </a:lvl3pPr>
            <a:lvl4pPr marL="1600200" indent="-228600">
              <a:buFont typeface="Arial" panose="020B0604020202020204" pitchFamily="34" charset="0"/>
              <a:defRPr sz="2800" b="1" i="1" baseline="-18000">
                <a:solidFill>
                  <a:schemeClr val="tx1"/>
                </a:solidFill>
                <a:latin typeface="Times New Roman" panose="02020603050405020304" pitchFamily="18" charset="0"/>
              </a:defRPr>
            </a:lvl4pPr>
            <a:lvl5pPr marL="2057400" indent="-228600">
              <a:buFont typeface="Arial" panose="020B0604020202020204" pitchFamily="34" charset="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9pPr>
          </a:lstStyle>
          <a:p>
            <a:pPr algn="r" eaLnBrk="1" hangingPunct="1">
              <a:spcBef>
                <a:spcPct val="50000"/>
              </a:spcBef>
              <a:buFont typeface="Arial" panose="020B0604020202020204" pitchFamily="34" charset="0"/>
              <a:buChar char="©"/>
              <a:defRPr/>
            </a:pPr>
            <a:r>
              <a:rPr lang="en-US" altLang="zh-CN" sz="1400" b="0" i="0" baseline="0">
                <a:latin typeface="McGrawHill-Italic" pitchFamily="2" charset="0"/>
                <a:ea typeface="宋体" panose="02010600030101010101" pitchFamily="2" charset="-122"/>
              </a:rPr>
              <a:t>The McGraw-Hill Companies, Inc., 2000</a:t>
            </a:r>
            <a:endParaRPr lang="en-US" altLang="zh-CN" sz="2400" b="0" i="0" baseline="0">
              <a:ea typeface="宋体" panose="02010600030101010101" pitchFamily="2" charset="-122"/>
            </a:endParaRPr>
          </a:p>
        </p:txBody>
      </p:sp>
      <p:sp>
        <p:nvSpPr>
          <p:cNvPr id="2060" name="Rectangle 12"/>
          <p:cNvSpPr>
            <a:spLocks noGrp="1" noChangeArrowheads="1"/>
          </p:cNvSpPr>
          <p:nvPr>
            <p:ph type="ctrTitle"/>
          </p:nvPr>
        </p:nvSpPr>
        <p:spPr bwMode="auto">
          <a:xfrm>
            <a:off x="990600" y="1676400"/>
            <a:ext cx="7772400" cy="1462088"/>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defRPr/>
            </a:lvl1pPr>
          </a:lstStyle>
          <a:p>
            <a:r>
              <a:rPr lang="en-US" altLang="zh-CN"/>
              <a:t>Click to edit Master title style</a:t>
            </a:r>
          </a:p>
        </p:txBody>
      </p:sp>
      <p:sp>
        <p:nvSpPr>
          <p:cNvPr id="2061" name="Rectangle 13"/>
          <p:cNvSpPr>
            <a:spLocks noGrp="1" noChangeArrowheads="1"/>
          </p:cNvSpPr>
          <p:nvPr>
            <p:ph type="subTitle" idx="1"/>
          </p:nvPr>
        </p:nvSpPr>
        <p:spPr bwMode="auto">
          <a:xfrm>
            <a:off x="1371600" y="3886200"/>
            <a:ext cx="6400800" cy="17526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r>
              <a:rPr lang="en-US" altLang="zh-CN"/>
              <a:t>Click to edit Master subtitle style</a:t>
            </a:r>
          </a:p>
        </p:txBody>
      </p:sp>
      <p:sp>
        <p:nvSpPr>
          <p:cNvPr id="14" name="Rectangle 14">
            <a:extLst>
              <a:ext uri="{FF2B5EF4-FFF2-40B4-BE49-F238E27FC236}">
                <a16:creationId xmlns:a16="http://schemas.microsoft.com/office/drawing/2014/main" id="{900625B9-7B3D-F723-0847-2FCC5CE6A7E7}"/>
              </a:ext>
            </a:extLst>
          </p:cNvPr>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buFont typeface="Arial" panose="020B0604020202020204" pitchFamily="34" charset="0"/>
              <a:buNone/>
              <a:defRPr sz="1400" b="0" i="0" baseline="0">
                <a:solidFill>
                  <a:schemeClr val="bg2"/>
                </a:solidFill>
                <a:latin typeface="+mn-lt"/>
                <a:ea typeface="宋体" pitchFamily="2" charset="-122"/>
              </a:defRPr>
            </a:lvl1pPr>
          </a:lstStyle>
          <a:p>
            <a:pPr>
              <a:defRPr/>
            </a:pPr>
            <a:endParaRPr lang="en-US" altLang="zh-CN"/>
          </a:p>
        </p:txBody>
      </p:sp>
      <p:sp>
        <p:nvSpPr>
          <p:cNvPr id="15" name="Rectangle 15">
            <a:extLst>
              <a:ext uri="{FF2B5EF4-FFF2-40B4-BE49-F238E27FC236}">
                <a16:creationId xmlns:a16="http://schemas.microsoft.com/office/drawing/2014/main" id="{5A8D2DDF-2764-8891-E0AD-49CCE380D03F}"/>
              </a:ext>
            </a:extLst>
          </p:cNvPr>
          <p:cNvSpPr>
            <a:spLocks noGrp="1" noChangeArrowheads="1"/>
          </p:cNvSpPr>
          <p:nvPr>
            <p:ph type="ftr" sz="quarter" idx="11"/>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eaLnBrk="1" hangingPunct="1">
              <a:buFont typeface="Arial" panose="020B0604020202020204" pitchFamily="34" charset="0"/>
              <a:buNone/>
              <a:defRPr sz="1400" b="0" i="0" baseline="0">
                <a:solidFill>
                  <a:schemeClr val="bg2"/>
                </a:solidFill>
                <a:latin typeface="+mn-lt"/>
                <a:ea typeface="宋体" pitchFamily="2" charset="-122"/>
              </a:defRPr>
            </a:lvl1pPr>
          </a:lstStyle>
          <a:p>
            <a:pPr>
              <a:defRPr/>
            </a:pPr>
            <a:r>
              <a:rPr lang="en-US" altLang="zh-CN"/>
              <a:t>3.#</a:t>
            </a:r>
          </a:p>
        </p:txBody>
      </p:sp>
      <p:sp>
        <p:nvSpPr>
          <p:cNvPr id="16" name="Rectangle 16">
            <a:extLst>
              <a:ext uri="{FF2B5EF4-FFF2-40B4-BE49-F238E27FC236}">
                <a16:creationId xmlns:a16="http://schemas.microsoft.com/office/drawing/2014/main" id="{D6F7DFAF-243F-3707-614D-7828441ED3D2}"/>
              </a:ext>
            </a:extLst>
          </p:cNvPr>
          <p:cNvSpPr>
            <a:spLocks noGrp="1" noChangeArrowheads="1"/>
          </p:cNvSpPr>
          <p:nvPr>
            <p:ph type="sldNum" sz="quarter" idx="12"/>
          </p:nvPr>
        </p:nvSpPr>
        <p:spPr>
          <a:xfrm>
            <a:off x="6858000" y="6248400"/>
            <a:ext cx="1905000" cy="457200"/>
          </a:xfrm>
        </p:spPr>
        <p:txBody>
          <a:bodyPr/>
          <a:lstStyle>
            <a:lvl1pPr algn="r">
              <a:defRPr sz="1400" b="0" smtClean="0">
                <a:solidFill>
                  <a:schemeClr val="bg2"/>
                </a:solidFill>
                <a:latin typeface="Tahoma" panose="020B0604030504040204" pitchFamily="34" charset="0"/>
              </a:defRPr>
            </a:lvl1pPr>
          </a:lstStyle>
          <a:p>
            <a:pPr>
              <a:defRPr/>
            </a:pPr>
            <a:fld id="{3FF839A1-56D3-4DF4-A619-16B405B3CC56}" type="slidenum">
              <a:rPr lang="en-US" altLang="zh-CN"/>
              <a:pPr>
                <a:defRPr/>
              </a:pPr>
              <a:t>‹#›</a:t>
            </a:fld>
            <a:endParaRPr lang="en-US" altLang="zh-CN"/>
          </a:p>
        </p:txBody>
      </p:sp>
    </p:spTree>
    <p:extLst>
      <p:ext uri="{BB962C8B-B14F-4D97-AF65-F5344CB8AC3E}">
        <p14:creationId xmlns:p14="http://schemas.microsoft.com/office/powerpoint/2010/main" val="2695523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16:creationId xmlns:a16="http://schemas.microsoft.com/office/drawing/2014/main" id="{069B0441-014D-F343-D319-9908EA8A06CC}"/>
              </a:ext>
            </a:extLst>
          </p:cNvPr>
          <p:cNvSpPr>
            <a:spLocks noGrp="1" noChangeArrowheads="1"/>
          </p:cNvSpPr>
          <p:nvPr>
            <p:ph type="sldNum" sz="quarter" idx="10"/>
          </p:nvPr>
        </p:nvSpPr>
        <p:spPr>
          <a:ln/>
        </p:spPr>
        <p:txBody>
          <a:bodyPr/>
          <a:lstStyle>
            <a:lvl1pPr>
              <a:defRPr/>
            </a:lvl1pPr>
          </a:lstStyle>
          <a:p>
            <a:pPr>
              <a:defRPr/>
            </a:pPr>
            <a:r>
              <a:rPr lang="en-US" altLang="zh-CN"/>
              <a:t>3.</a:t>
            </a:r>
            <a:fld id="{5C037F09-3034-4F6C-B3E1-8C4FD1D1A6E9}" type="slidenum">
              <a:rPr lang="en-US" altLang="zh-CN" smtClean="0"/>
              <a:pPr>
                <a:defRPr/>
              </a:pPr>
              <a:t>‹#›</a:t>
            </a:fld>
            <a:endParaRPr lang="en-US" altLang="zh-CN"/>
          </a:p>
        </p:txBody>
      </p:sp>
    </p:spTree>
    <p:extLst>
      <p:ext uri="{BB962C8B-B14F-4D97-AF65-F5344CB8AC3E}">
        <p14:creationId xmlns:p14="http://schemas.microsoft.com/office/powerpoint/2010/main" val="2876008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a:extLst>
              <a:ext uri="{FF2B5EF4-FFF2-40B4-BE49-F238E27FC236}">
                <a16:creationId xmlns:a16="http://schemas.microsoft.com/office/drawing/2014/main" id="{A8D3FC9A-0A4C-EE31-55D0-C19772AEE995}"/>
              </a:ext>
            </a:extLst>
          </p:cNvPr>
          <p:cNvSpPr>
            <a:spLocks noGrp="1" noChangeArrowheads="1"/>
          </p:cNvSpPr>
          <p:nvPr>
            <p:ph type="sldNum" sz="quarter" idx="10"/>
          </p:nvPr>
        </p:nvSpPr>
        <p:spPr>
          <a:ln/>
        </p:spPr>
        <p:txBody>
          <a:bodyPr/>
          <a:lstStyle>
            <a:lvl1pPr>
              <a:defRPr/>
            </a:lvl1pPr>
          </a:lstStyle>
          <a:p>
            <a:pPr>
              <a:defRPr/>
            </a:pPr>
            <a:r>
              <a:rPr lang="en-US" altLang="zh-CN"/>
              <a:t>3.</a:t>
            </a:r>
            <a:fld id="{99A5F285-09B1-40BE-898F-491214CD59DE}" type="slidenum">
              <a:rPr lang="en-US" altLang="zh-CN" smtClean="0"/>
              <a:pPr>
                <a:defRPr/>
              </a:pPr>
              <a:t>‹#›</a:t>
            </a:fld>
            <a:endParaRPr lang="en-US" altLang="zh-CN"/>
          </a:p>
        </p:txBody>
      </p:sp>
    </p:spTree>
    <p:extLst>
      <p:ext uri="{BB962C8B-B14F-4D97-AF65-F5344CB8AC3E}">
        <p14:creationId xmlns:p14="http://schemas.microsoft.com/office/powerpoint/2010/main" val="838757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a:extLst>
              <a:ext uri="{FF2B5EF4-FFF2-40B4-BE49-F238E27FC236}">
                <a16:creationId xmlns:a16="http://schemas.microsoft.com/office/drawing/2014/main" id="{F50B014C-46E3-F782-957C-D5F06A11203B}"/>
              </a:ext>
            </a:extLst>
          </p:cNvPr>
          <p:cNvSpPr>
            <a:spLocks noGrp="1" noChangeArrowheads="1"/>
          </p:cNvSpPr>
          <p:nvPr>
            <p:ph type="sldNum" sz="quarter" idx="10"/>
          </p:nvPr>
        </p:nvSpPr>
        <p:spPr>
          <a:ln/>
        </p:spPr>
        <p:txBody>
          <a:bodyPr/>
          <a:lstStyle>
            <a:lvl1pPr>
              <a:defRPr/>
            </a:lvl1pPr>
          </a:lstStyle>
          <a:p>
            <a:pPr>
              <a:defRPr/>
            </a:pPr>
            <a:r>
              <a:rPr lang="en-US" altLang="zh-CN"/>
              <a:t>3.</a:t>
            </a:r>
            <a:fld id="{DD5CDE78-8202-49B8-94EB-2CD44836062D}" type="slidenum">
              <a:rPr lang="en-US" altLang="zh-CN" smtClean="0"/>
              <a:pPr>
                <a:defRPr/>
              </a:pPr>
              <a:t>‹#›</a:t>
            </a:fld>
            <a:endParaRPr lang="en-US" altLang="zh-CN"/>
          </a:p>
        </p:txBody>
      </p:sp>
    </p:spTree>
    <p:extLst>
      <p:ext uri="{BB962C8B-B14F-4D97-AF65-F5344CB8AC3E}">
        <p14:creationId xmlns:p14="http://schemas.microsoft.com/office/powerpoint/2010/main" val="2323002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a:extLst>
              <a:ext uri="{FF2B5EF4-FFF2-40B4-BE49-F238E27FC236}">
                <a16:creationId xmlns:a16="http://schemas.microsoft.com/office/drawing/2014/main" id="{94BBD712-4307-945B-35CF-CB100065DE4E}"/>
              </a:ext>
            </a:extLst>
          </p:cNvPr>
          <p:cNvSpPr>
            <a:spLocks noGrp="1" noChangeArrowheads="1"/>
          </p:cNvSpPr>
          <p:nvPr>
            <p:ph type="sldNum" sz="quarter" idx="10"/>
          </p:nvPr>
        </p:nvSpPr>
        <p:spPr>
          <a:ln/>
        </p:spPr>
        <p:txBody>
          <a:bodyPr/>
          <a:lstStyle>
            <a:lvl1pPr>
              <a:defRPr/>
            </a:lvl1pPr>
          </a:lstStyle>
          <a:p>
            <a:pPr>
              <a:defRPr/>
            </a:pPr>
            <a:r>
              <a:rPr lang="en-US" altLang="zh-CN"/>
              <a:t>3.</a:t>
            </a:r>
            <a:fld id="{7E7F37E4-2FE2-4175-9902-22675F94F67C}" type="slidenum">
              <a:rPr lang="en-US" altLang="zh-CN" smtClean="0"/>
              <a:pPr>
                <a:defRPr/>
              </a:pPr>
              <a:t>‹#›</a:t>
            </a:fld>
            <a:endParaRPr lang="en-US" altLang="zh-CN"/>
          </a:p>
        </p:txBody>
      </p:sp>
    </p:spTree>
    <p:extLst>
      <p:ext uri="{BB962C8B-B14F-4D97-AF65-F5344CB8AC3E}">
        <p14:creationId xmlns:p14="http://schemas.microsoft.com/office/powerpoint/2010/main" val="2988570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Rectangle 2">
            <a:extLst>
              <a:ext uri="{FF2B5EF4-FFF2-40B4-BE49-F238E27FC236}">
                <a16:creationId xmlns:a16="http://schemas.microsoft.com/office/drawing/2014/main" id="{E6726EFB-71A4-EAAF-6724-3FCA0031DC87}"/>
              </a:ext>
            </a:extLst>
          </p:cNvPr>
          <p:cNvSpPr>
            <a:spLocks noGrp="1" noChangeArrowheads="1"/>
          </p:cNvSpPr>
          <p:nvPr>
            <p:ph type="sldNum" sz="quarter" idx="10"/>
          </p:nvPr>
        </p:nvSpPr>
        <p:spPr>
          <a:ln/>
        </p:spPr>
        <p:txBody>
          <a:bodyPr/>
          <a:lstStyle>
            <a:lvl1pPr>
              <a:defRPr/>
            </a:lvl1pPr>
          </a:lstStyle>
          <a:p>
            <a:pPr>
              <a:defRPr/>
            </a:pPr>
            <a:r>
              <a:rPr lang="en-US" altLang="zh-CN"/>
              <a:t>3.</a:t>
            </a:r>
            <a:fld id="{0124E7F5-7A21-4C0A-B937-01BDA249B401}" type="slidenum">
              <a:rPr lang="en-US" altLang="zh-CN" smtClean="0"/>
              <a:pPr>
                <a:defRPr/>
              </a:pPr>
              <a:t>‹#›</a:t>
            </a:fld>
            <a:endParaRPr lang="en-US" altLang="zh-CN"/>
          </a:p>
        </p:txBody>
      </p:sp>
    </p:spTree>
    <p:extLst>
      <p:ext uri="{BB962C8B-B14F-4D97-AF65-F5344CB8AC3E}">
        <p14:creationId xmlns:p14="http://schemas.microsoft.com/office/powerpoint/2010/main" val="279254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9786A85-AA27-8ADF-FCC3-6627719C9E6E}"/>
              </a:ext>
            </a:extLst>
          </p:cNvPr>
          <p:cNvSpPr>
            <a:spLocks noGrp="1" noChangeArrowheads="1"/>
          </p:cNvSpPr>
          <p:nvPr>
            <p:ph type="sldNum" sz="quarter" idx="10"/>
          </p:nvPr>
        </p:nvSpPr>
        <p:spPr>
          <a:ln/>
        </p:spPr>
        <p:txBody>
          <a:bodyPr/>
          <a:lstStyle>
            <a:lvl1pPr>
              <a:defRPr/>
            </a:lvl1pPr>
          </a:lstStyle>
          <a:p>
            <a:pPr>
              <a:defRPr/>
            </a:pPr>
            <a:r>
              <a:rPr lang="en-US" altLang="zh-CN"/>
              <a:t>3.</a:t>
            </a:r>
            <a:fld id="{A6AC8054-ACA7-4985-8723-9E345BC81EE8}" type="slidenum">
              <a:rPr lang="en-US" altLang="zh-CN" smtClean="0"/>
              <a:pPr>
                <a:defRPr/>
              </a:pPr>
              <a:t>‹#›</a:t>
            </a:fld>
            <a:endParaRPr lang="en-US" altLang="zh-CN"/>
          </a:p>
        </p:txBody>
      </p:sp>
    </p:spTree>
    <p:extLst>
      <p:ext uri="{BB962C8B-B14F-4D97-AF65-F5344CB8AC3E}">
        <p14:creationId xmlns:p14="http://schemas.microsoft.com/office/powerpoint/2010/main" val="3206721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a:extLst>
              <a:ext uri="{FF2B5EF4-FFF2-40B4-BE49-F238E27FC236}">
                <a16:creationId xmlns:a16="http://schemas.microsoft.com/office/drawing/2014/main" id="{A93CD534-F7EB-74B2-343A-AF55688CFF68}"/>
              </a:ext>
            </a:extLst>
          </p:cNvPr>
          <p:cNvSpPr>
            <a:spLocks noGrp="1" noChangeArrowheads="1"/>
          </p:cNvSpPr>
          <p:nvPr>
            <p:ph type="sldNum" sz="quarter" idx="10"/>
          </p:nvPr>
        </p:nvSpPr>
        <p:spPr>
          <a:ln/>
        </p:spPr>
        <p:txBody>
          <a:bodyPr/>
          <a:lstStyle>
            <a:lvl1pPr>
              <a:defRPr/>
            </a:lvl1pPr>
          </a:lstStyle>
          <a:p>
            <a:pPr>
              <a:defRPr/>
            </a:pPr>
            <a:r>
              <a:rPr lang="en-US" altLang="zh-CN"/>
              <a:t>3.</a:t>
            </a:r>
            <a:fld id="{807D2067-0B63-4CD1-BEFD-44ED2C94F15E}" type="slidenum">
              <a:rPr lang="en-US" altLang="zh-CN" smtClean="0"/>
              <a:pPr>
                <a:defRPr/>
              </a:pPr>
              <a:t>‹#›</a:t>
            </a:fld>
            <a:endParaRPr lang="en-US" altLang="zh-CN"/>
          </a:p>
        </p:txBody>
      </p:sp>
    </p:spTree>
    <p:extLst>
      <p:ext uri="{BB962C8B-B14F-4D97-AF65-F5344CB8AC3E}">
        <p14:creationId xmlns:p14="http://schemas.microsoft.com/office/powerpoint/2010/main" val="3097555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a:extLst>
              <a:ext uri="{FF2B5EF4-FFF2-40B4-BE49-F238E27FC236}">
                <a16:creationId xmlns:a16="http://schemas.microsoft.com/office/drawing/2014/main" id="{2BB1B6F2-7323-2CA1-9BEB-3D0DF3E49F74}"/>
              </a:ext>
            </a:extLst>
          </p:cNvPr>
          <p:cNvSpPr>
            <a:spLocks noGrp="1" noChangeArrowheads="1"/>
          </p:cNvSpPr>
          <p:nvPr>
            <p:ph type="sldNum" sz="quarter" idx="10"/>
          </p:nvPr>
        </p:nvSpPr>
        <p:spPr>
          <a:ln/>
        </p:spPr>
        <p:txBody>
          <a:bodyPr/>
          <a:lstStyle>
            <a:lvl1pPr>
              <a:defRPr/>
            </a:lvl1pPr>
          </a:lstStyle>
          <a:p>
            <a:pPr>
              <a:defRPr/>
            </a:pPr>
            <a:r>
              <a:rPr lang="en-US" altLang="zh-CN"/>
              <a:t>3.</a:t>
            </a:r>
            <a:fld id="{6F90D023-7B16-48F4-92BD-C5AAA74D27AE}" type="slidenum">
              <a:rPr lang="en-US" altLang="zh-CN" smtClean="0"/>
              <a:pPr>
                <a:defRPr/>
              </a:pPr>
              <a:t>‹#›</a:t>
            </a:fld>
            <a:endParaRPr lang="en-US" altLang="zh-CN"/>
          </a:p>
        </p:txBody>
      </p:sp>
    </p:spTree>
    <p:extLst>
      <p:ext uri="{BB962C8B-B14F-4D97-AF65-F5344CB8AC3E}">
        <p14:creationId xmlns:p14="http://schemas.microsoft.com/office/powerpoint/2010/main" val="22425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16:creationId xmlns:a16="http://schemas.microsoft.com/office/drawing/2014/main" id="{33FDDB65-7005-677E-4AC5-69F304C6863C}"/>
              </a:ext>
            </a:extLst>
          </p:cNvPr>
          <p:cNvSpPr>
            <a:spLocks noGrp="1" noChangeArrowheads="1"/>
          </p:cNvSpPr>
          <p:nvPr>
            <p:ph type="sldNum" sz="quarter" idx="10"/>
          </p:nvPr>
        </p:nvSpPr>
        <p:spPr>
          <a:ln/>
        </p:spPr>
        <p:txBody>
          <a:bodyPr/>
          <a:lstStyle>
            <a:lvl1pPr>
              <a:defRPr/>
            </a:lvl1pPr>
          </a:lstStyle>
          <a:p>
            <a:pPr>
              <a:defRPr/>
            </a:pPr>
            <a:r>
              <a:rPr lang="en-US" altLang="zh-CN"/>
              <a:t>3.</a:t>
            </a:r>
            <a:fld id="{7A02B579-9143-4FF6-93E9-8990D49B97BA}" type="slidenum">
              <a:rPr lang="en-US" altLang="zh-CN" smtClean="0"/>
              <a:pPr>
                <a:defRPr/>
              </a:pPr>
              <a:t>‹#›</a:t>
            </a:fld>
            <a:endParaRPr lang="en-US" altLang="zh-CN"/>
          </a:p>
        </p:txBody>
      </p:sp>
    </p:spTree>
    <p:extLst>
      <p:ext uri="{BB962C8B-B14F-4D97-AF65-F5344CB8AC3E}">
        <p14:creationId xmlns:p14="http://schemas.microsoft.com/office/powerpoint/2010/main" val="2738979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16:creationId xmlns:a16="http://schemas.microsoft.com/office/drawing/2014/main" id="{1DF7EBF7-8390-BB49-51C6-471C8DC90D6E}"/>
              </a:ext>
            </a:extLst>
          </p:cNvPr>
          <p:cNvSpPr>
            <a:spLocks noGrp="1" noChangeArrowheads="1"/>
          </p:cNvSpPr>
          <p:nvPr>
            <p:ph type="sldNum" sz="quarter" idx="10"/>
          </p:nvPr>
        </p:nvSpPr>
        <p:spPr>
          <a:ln/>
        </p:spPr>
        <p:txBody>
          <a:bodyPr/>
          <a:lstStyle>
            <a:lvl1pPr>
              <a:defRPr/>
            </a:lvl1pPr>
          </a:lstStyle>
          <a:p>
            <a:pPr>
              <a:defRPr/>
            </a:pPr>
            <a:r>
              <a:rPr lang="en-US" altLang="zh-CN"/>
              <a:t>3.</a:t>
            </a:r>
            <a:fld id="{8A124E93-6F98-4C61-8244-6CFD3CA56B92}" type="slidenum">
              <a:rPr lang="en-US" altLang="zh-CN" smtClean="0"/>
              <a:pPr>
                <a:defRPr/>
              </a:pPr>
              <a:t>‹#›</a:t>
            </a:fld>
            <a:endParaRPr lang="en-US" altLang="zh-CN"/>
          </a:p>
        </p:txBody>
      </p:sp>
    </p:spTree>
    <p:extLst>
      <p:ext uri="{BB962C8B-B14F-4D97-AF65-F5344CB8AC3E}">
        <p14:creationId xmlns:p14="http://schemas.microsoft.com/office/powerpoint/2010/main" val="33092741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2">
            <a:extLst>
              <a:ext uri="{FF2B5EF4-FFF2-40B4-BE49-F238E27FC236}">
                <a16:creationId xmlns:a16="http://schemas.microsoft.com/office/drawing/2014/main" id="{7801C224-C8F9-AFD4-53FD-912C05D5C312}"/>
              </a:ext>
            </a:extLst>
          </p:cNvPr>
          <p:cNvSpPr>
            <a:spLocks noGrp="1" noChangeArrowheads="1"/>
          </p:cNvSpPr>
          <p:nvPr>
            <p:ph type="sldNum" sz="quarter" idx="10"/>
          </p:nvPr>
        </p:nvSpPr>
        <p:spPr>
          <a:ln/>
        </p:spPr>
        <p:txBody>
          <a:bodyPr/>
          <a:lstStyle>
            <a:lvl1pPr>
              <a:defRPr/>
            </a:lvl1pPr>
          </a:lstStyle>
          <a:p>
            <a:pPr>
              <a:defRPr/>
            </a:pPr>
            <a:r>
              <a:rPr lang="en-US" altLang="zh-CN"/>
              <a:t>3.</a:t>
            </a:r>
            <a:fld id="{673E653F-AB3C-4164-B60F-2F209DFB2D0B}" type="slidenum">
              <a:rPr lang="en-US" altLang="zh-CN" smtClean="0"/>
              <a:pPr>
                <a:defRPr/>
              </a:pPr>
              <a:t>‹#›</a:t>
            </a:fld>
            <a:endParaRPr lang="en-US" altLang="zh-CN"/>
          </a:p>
        </p:txBody>
      </p:sp>
    </p:spTree>
    <p:extLst>
      <p:ext uri="{BB962C8B-B14F-4D97-AF65-F5344CB8AC3E}">
        <p14:creationId xmlns:p14="http://schemas.microsoft.com/office/powerpoint/2010/main" val="3510596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D0CBBD4-DE6E-E9F3-FE1F-82B50D067160}"/>
              </a:ext>
            </a:extLst>
          </p:cNvPr>
          <p:cNvSpPr>
            <a:spLocks noGrp="1" noChangeArrowheads="1"/>
          </p:cNvSpPr>
          <p:nvPr>
            <p:ph type="sldNum" sz="quarter" idx="4"/>
          </p:nvPr>
        </p:nvSpPr>
        <p:spPr bwMode="auto">
          <a:xfrm>
            <a:off x="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buFont typeface="Arial" panose="020B0604020202020204" pitchFamily="34" charset="0"/>
              <a:buNone/>
              <a:defRPr sz="2000" i="0" baseline="0">
                <a:latin typeface="Arial" panose="020B0604020202020204" pitchFamily="34" charset="0"/>
                <a:ea typeface="宋体" panose="02010600030101010101" pitchFamily="2" charset="-122"/>
              </a:defRPr>
            </a:lvl1pPr>
          </a:lstStyle>
          <a:p>
            <a:pPr>
              <a:defRPr/>
            </a:pPr>
            <a:r>
              <a:rPr lang="en-US" altLang="zh-CN"/>
              <a:t>3.</a:t>
            </a:r>
            <a:fld id="{AF097F37-6222-46DD-A004-84EE4923077F}" type="slidenum">
              <a:rPr lang="en-US" altLang="zh-CN" smtClean="0"/>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13"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3.wmf"/><Relationship Id="rId18" Type="http://schemas.openxmlformats.org/officeDocument/2006/relationships/oleObject" Target="../embeddings/oleObject9.bin"/><Relationship Id="rId3" Type="http://schemas.openxmlformats.org/officeDocument/2006/relationships/image" Target="../media/image8.wmf"/><Relationship Id="rId21" Type="http://schemas.openxmlformats.org/officeDocument/2006/relationships/image" Target="../media/image17.wmf"/><Relationship Id="rId7" Type="http://schemas.openxmlformats.org/officeDocument/2006/relationships/image" Target="../media/image10.wmf"/><Relationship Id="rId12" Type="http://schemas.openxmlformats.org/officeDocument/2006/relationships/oleObject" Target="../embeddings/oleObject6.bin"/><Relationship Id="rId17" Type="http://schemas.openxmlformats.org/officeDocument/2006/relationships/image" Target="../media/image15.w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12.wmf"/><Relationship Id="rId5" Type="http://schemas.openxmlformats.org/officeDocument/2006/relationships/image" Target="../media/image9.wmf"/><Relationship Id="rId15" Type="http://schemas.openxmlformats.org/officeDocument/2006/relationships/image" Target="../media/image14.wmf"/><Relationship Id="rId10" Type="http://schemas.openxmlformats.org/officeDocument/2006/relationships/oleObject" Target="../embeddings/oleObject5.bin"/><Relationship Id="rId19" Type="http://schemas.openxmlformats.org/officeDocument/2006/relationships/image" Target="../media/image16.wmf"/><Relationship Id="rId4" Type="http://schemas.openxmlformats.org/officeDocument/2006/relationships/oleObject" Target="../embeddings/oleObject2.bin"/><Relationship Id="rId9" Type="http://schemas.openxmlformats.org/officeDocument/2006/relationships/image" Target="../media/image11.wmf"/><Relationship Id="rId14" Type="http://schemas.openxmlformats.org/officeDocument/2006/relationships/oleObject" Target="../embeddings/oleObject7.bin"/></Relationships>
</file>

<file path=ppt/slides/_rels/slide18.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7.emf"/></Relationships>
</file>

<file path=ppt/slides/_rels/slide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72.wmf"/><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77.wmf"/><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2">
            <a:extLst>
              <a:ext uri="{FF2B5EF4-FFF2-40B4-BE49-F238E27FC236}">
                <a16:creationId xmlns:a16="http://schemas.microsoft.com/office/drawing/2014/main" id="{3BA70762-8B3B-825F-96C8-81D563268E6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7F6611B2-1D44-48ED-9EEB-B69AE9B85869}" type="slidenum">
              <a:rPr lang="en-US" altLang="zh-CN" sz="2000" i="0" baseline="0" smtClean="0">
                <a:latin typeface="Arial" panose="020B0604020202020204" pitchFamily="34" charset="0"/>
              </a:rPr>
              <a:pPr/>
              <a:t>1</a:t>
            </a:fld>
            <a:endParaRPr lang="en-US" altLang="zh-CN" sz="2000" i="0" baseline="0">
              <a:latin typeface="Arial" panose="020B0604020202020204" pitchFamily="34" charset="0"/>
            </a:endParaRPr>
          </a:p>
        </p:txBody>
      </p:sp>
      <p:pic>
        <p:nvPicPr>
          <p:cNvPr id="4099" name="Picture 2" descr="Forouzan4e07_banner">
            <a:extLst>
              <a:ext uri="{FF2B5EF4-FFF2-40B4-BE49-F238E27FC236}">
                <a16:creationId xmlns:a16="http://schemas.microsoft.com/office/drawing/2014/main" id="{D621CF6B-FBD3-C1C5-8B33-8BDF405DD18A}"/>
              </a:ext>
            </a:extLst>
          </p:cNvPr>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1096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Rectangle 3">
            <a:extLst>
              <a:ext uri="{FF2B5EF4-FFF2-40B4-BE49-F238E27FC236}">
                <a16:creationId xmlns:a16="http://schemas.microsoft.com/office/drawing/2014/main" id="{CBCB82DC-68C8-DD07-17DA-9F091F811188}"/>
              </a:ext>
            </a:extLst>
          </p:cNvPr>
          <p:cNvSpPr>
            <a:spLocks noChangeArrowheads="1"/>
          </p:cNvSpPr>
          <p:nvPr/>
        </p:nvSpPr>
        <p:spPr bwMode="auto">
          <a:xfrm>
            <a:off x="1143000" y="2514600"/>
            <a:ext cx="6858000"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4400" i="0" baseline="0">
                <a:solidFill>
                  <a:schemeClr val="tx2"/>
                </a:solidFill>
                <a:latin typeface="Arial" panose="020B0604020202020204" pitchFamily="34" charset="0"/>
                <a:ea typeface="宋体" panose="02010600030101010101" pitchFamily="2" charset="-122"/>
              </a:rPr>
              <a:t>第</a:t>
            </a:r>
            <a:r>
              <a:rPr lang="en-US" altLang="zh-CN" sz="4400" i="0" baseline="0">
                <a:solidFill>
                  <a:schemeClr val="tx2"/>
                </a:solidFill>
                <a:latin typeface="Arial" panose="020B0604020202020204" pitchFamily="34" charset="0"/>
                <a:ea typeface="宋体" panose="02010600030101010101" pitchFamily="2" charset="-122"/>
              </a:rPr>
              <a:t>3</a:t>
            </a:r>
            <a:r>
              <a:rPr lang="zh-CN" altLang="en-US" sz="4400" i="0" baseline="0">
                <a:solidFill>
                  <a:schemeClr val="tx2"/>
                </a:solidFill>
                <a:latin typeface="Arial" panose="020B0604020202020204" pitchFamily="34" charset="0"/>
                <a:ea typeface="宋体" panose="02010600030101010101" pitchFamily="2" charset="-122"/>
              </a:rPr>
              <a:t>章</a:t>
            </a:r>
          </a:p>
          <a:p>
            <a:pPr algn="ctr">
              <a:buFont typeface="Arial" panose="020B0604020202020204" pitchFamily="34" charset="0"/>
              <a:buNone/>
            </a:pPr>
            <a:endParaRPr lang="en-US" altLang="zh-CN" sz="2000" i="0" baseline="0">
              <a:solidFill>
                <a:schemeClr val="tx2"/>
              </a:solidFill>
              <a:latin typeface="Arial" panose="020B0604020202020204" pitchFamily="34" charset="0"/>
              <a:ea typeface="宋体" panose="02010600030101010101" pitchFamily="2" charset="-122"/>
            </a:endParaRPr>
          </a:p>
          <a:p>
            <a:pPr algn="ctr">
              <a:buFont typeface="Arial" panose="020B0604020202020204" pitchFamily="34" charset="0"/>
              <a:buNone/>
            </a:pPr>
            <a:r>
              <a:rPr lang="zh-CN" altLang="en-US" sz="4400" i="0" baseline="0">
                <a:latin typeface="Arial" panose="020B0604020202020204" pitchFamily="34" charset="0"/>
                <a:ea typeface="宋体" panose="02010600030101010101" pitchFamily="2" charset="-122"/>
              </a:rPr>
              <a:t>数据和信号</a:t>
            </a:r>
          </a:p>
        </p:txBody>
      </p:sp>
      <p:sp>
        <p:nvSpPr>
          <p:cNvPr id="4101" name="Text Box 4">
            <a:extLst>
              <a:ext uri="{FF2B5EF4-FFF2-40B4-BE49-F238E27FC236}">
                <a16:creationId xmlns:a16="http://schemas.microsoft.com/office/drawing/2014/main" id="{CC742919-CEBB-6AF1-3A8C-7882C7671DDF}"/>
              </a:ext>
            </a:extLst>
          </p:cNvPr>
          <p:cNvSpPr txBox="1">
            <a:spLocks noChangeArrowheads="1"/>
          </p:cNvSpPr>
          <p:nvPr/>
        </p:nvSpPr>
        <p:spPr bwMode="auto">
          <a:xfrm>
            <a:off x="0" y="6507163"/>
            <a:ext cx="9144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r>
              <a:rPr lang="en-US" altLang="zh-CN" sz="1200" b="0" i="0" baseline="0">
                <a:ea typeface="宋体" panose="02010600030101010101" pitchFamily="2" charset="-122"/>
              </a:rPr>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1">
            <a:extLst>
              <a:ext uri="{FF2B5EF4-FFF2-40B4-BE49-F238E27FC236}">
                <a16:creationId xmlns:a16="http://schemas.microsoft.com/office/drawing/2014/main" id="{96D5A8EE-ED0C-9BF1-F2CB-EF4010AA2FA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F9778B7D-5CE8-4A01-84C1-B6856560D188}" type="slidenum">
              <a:rPr lang="en-US" altLang="zh-CN" sz="2000" i="0" baseline="0" smtClean="0">
                <a:latin typeface="Arial" panose="020B0604020202020204" pitchFamily="34" charset="0"/>
              </a:rPr>
              <a:pPr/>
              <a:t>2</a:t>
            </a:fld>
            <a:endParaRPr lang="en-US" altLang="zh-CN" sz="2000" i="0" baseline="0">
              <a:latin typeface="Arial" panose="020B0604020202020204" pitchFamily="34" charset="0"/>
            </a:endParaRPr>
          </a:p>
        </p:txBody>
      </p:sp>
      <p:sp>
        <p:nvSpPr>
          <p:cNvPr id="5123" name="Rectangle 2">
            <a:extLst>
              <a:ext uri="{FF2B5EF4-FFF2-40B4-BE49-F238E27FC236}">
                <a16:creationId xmlns:a16="http://schemas.microsoft.com/office/drawing/2014/main" id="{05F79EB1-865B-CA4A-96ED-E38D36F9ED66}"/>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124" name="Rectangle 3">
            <a:extLst>
              <a:ext uri="{FF2B5EF4-FFF2-40B4-BE49-F238E27FC236}">
                <a16:creationId xmlns:a16="http://schemas.microsoft.com/office/drawing/2014/main" id="{E58F961B-6B5C-3D8D-02BB-F921E5586692}"/>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125" name="Rectangle 4">
            <a:extLst>
              <a:ext uri="{FF2B5EF4-FFF2-40B4-BE49-F238E27FC236}">
                <a16:creationId xmlns:a16="http://schemas.microsoft.com/office/drawing/2014/main" id="{41D00168-8C2E-A0A5-964F-29AA0D21F575}"/>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126" name="Rectangle 5">
            <a:extLst>
              <a:ext uri="{FF2B5EF4-FFF2-40B4-BE49-F238E27FC236}">
                <a16:creationId xmlns:a16="http://schemas.microsoft.com/office/drawing/2014/main" id="{07B3EB1A-B611-AC0A-127A-1F98048C2762}"/>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127" name="Rectangle 6">
            <a:extLst>
              <a:ext uri="{FF2B5EF4-FFF2-40B4-BE49-F238E27FC236}">
                <a16:creationId xmlns:a16="http://schemas.microsoft.com/office/drawing/2014/main" id="{5696AEBB-9FCE-4846-C6D9-DAAFD8C16B0E}"/>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128" name="Rectangle 7">
            <a:extLst>
              <a:ext uri="{FF2B5EF4-FFF2-40B4-BE49-F238E27FC236}">
                <a16:creationId xmlns:a16="http://schemas.microsoft.com/office/drawing/2014/main" id="{420E0555-5CCF-074E-8F09-8BC98AF21881}"/>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129" name="Rectangle 8">
            <a:extLst>
              <a:ext uri="{FF2B5EF4-FFF2-40B4-BE49-F238E27FC236}">
                <a16:creationId xmlns:a16="http://schemas.microsoft.com/office/drawing/2014/main" id="{260631D8-D1CF-BBA7-E5A4-37B05EF5C5F8}"/>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130" name="Line 9">
            <a:extLst>
              <a:ext uri="{FF2B5EF4-FFF2-40B4-BE49-F238E27FC236}">
                <a16:creationId xmlns:a16="http://schemas.microsoft.com/office/drawing/2014/main" id="{B729B148-B1DD-12D5-5C2A-3C2429482EF0}"/>
              </a:ext>
            </a:extLst>
          </p:cNvPr>
          <p:cNvSpPr>
            <a:spLocks noChangeShapeType="1"/>
          </p:cNvSpPr>
          <p:nvPr/>
        </p:nvSpPr>
        <p:spPr bwMode="auto">
          <a:xfrm>
            <a:off x="457200" y="3048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31" name="Line 10">
            <a:extLst>
              <a:ext uri="{FF2B5EF4-FFF2-40B4-BE49-F238E27FC236}">
                <a16:creationId xmlns:a16="http://schemas.microsoft.com/office/drawing/2014/main" id="{492CFD15-3877-2121-D438-A9CFF4DA2ABD}"/>
              </a:ext>
            </a:extLst>
          </p:cNvPr>
          <p:cNvSpPr>
            <a:spLocks noChangeShapeType="1"/>
          </p:cNvSpPr>
          <p:nvPr/>
        </p:nvSpPr>
        <p:spPr bwMode="auto">
          <a:xfrm>
            <a:off x="458788" y="4267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32" name="Rectangle 11">
            <a:extLst>
              <a:ext uri="{FF2B5EF4-FFF2-40B4-BE49-F238E27FC236}">
                <a16:creationId xmlns:a16="http://schemas.microsoft.com/office/drawing/2014/main" id="{58713AD8-1377-E9ED-8696-53F07419D3F0}"/>
              </a:ext>
            </a:extLst>
          </p:cNvPr>
          <p:cNvSpPr>
            <a:spLocks noChangeArrowheads="1"/>
          </p:cNvSpPr>
          <p:nvPr/>
        </p:nvSpPr>
        <p:spPr bwMode="auto">
          <a:xfrm>
            <a:off x="495300" y="3124200"/>
            <a:ext cx="8077200" cy="1077913"/>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 数据要进行传输，必须被转换成电磁信号。</a:t>
            </a:r>
            <a:endParaRPr lang="en-US" altLang="zh-CN" sz="3200" i="0" baseline="0">
              <a:latin typeface="Arial" panose="020B0604020202020204" pitchFamily="34" charset="0"/>
              <a:ea typeface="宋体" panose="02010600030101010101" pitchFamily="2" charset="-122"/>
            </a:endParaRPr>
          </a:p>
          <a:p>
            <a:pPr algn="ctr">
              <a:buFont typeface="Arial" panose="020B0604020202020204" pitchFamily="34" charset="0"/>
              <a:buNone/>
            </a:pPr>
            <a:r>
              <a:rPr lang="en-US" altLang="zh-CN" sz="3200" i="0" baseline="0">
                <a:latin typeface="Arial" panose="020B0604020202020204" pitchFamily="34" charset="0"/>
                <a:ea typeface="宋体" panose="02010600030101010101" pitchFamily="2" charset="-122"/>
              </a:rPr>
              <a:t>(</a:t>
            </a:r>
            <a:r>
              <a:rPr lang="zh-CN" altLang="en-US" sz="3200" i="0" baseline="0">
                <a:latin typeface="Arial" panose="020B0604020202020204" pitchFamily="34" charset="0"/>
                <a:ea typeface="宋体" panose="02010600030101010101" pitchFamily="2" charset="-122"/>
              </a:rPr>
              <a:t>物理传输介质</a:t>
            </a:r>
            <a:r>
              <a:rPr lang="en-US" altLang="zh-CN" sz="3200" i="0" baseline="0">
                <a:latin typeface="Arial" panose="020B0604020202020204" pitchFamily="34" charset="0"/>
                <a:ea typeface="宋体" panose="02010600030101010101" pitchFamily="2" charset="-122"/>
              </a:rPr>
              <a:t>)</a:t>
            </a:r>
            <a:endParaRPr lang="zh-CN" altLang="en-US" sz="3200" i="0" baseline="0">
              <a:latin typeface="Arial" panose="020B0604020202020204" pitchFamily="34" charset="0"/>
              <a:ea typeface="宋体" panose="02010600030101010101" pitchFamily="2" charset="-122"/>
            </a:endParaRPr>
          </a:p>
        </p:txBody>
      </p:sp>
      <p:grpSp>
        <p:nvGrpSpPr>
          <p:cNvPr id="5133" name="Group 12">
            <a:extLst>
              <a:ext uri="{FF2B5EF4-FFF2-40B4-BE49-F238E27FC236}">
                <a16:creationId xmlns:a16="http://schemas.microsoft.com/office/drawing/2014/main" id="{D523AE1E-0FB8-4510-2324-75845F0E5C03}"/>
              </a:ext>
            </a:extLst>
          </p:cNvPr>
          <p:cNvGrpSpPr>
            <a:grpSpLocks/>
          </p:cNvGrpSpPr>
          <p:nvPr/>
        </p:nvGrpSpPr>
        <p:grpSpPr bwMode="auto">
          <a:xfrm>
            <a:off x="457200" y="2362200"/>
            <a:ext cx="1143000" cy="566738"/>
            <a:chOff x="0" y="0"/>
            <a:chExt cx="720" cy="357"/>
          </a:xfrm>
        </p:grpSpPr>
        <p:pic>
          <p:nvPicPr>
            <p:cNvPr id="5134" name="Picture 13">
              <a:extLst>
                <a:ext uri="{FF2B5EF4-FFF2-40B4-BE49-F238E27FC236}">
                  <a16:creationId xmlns:a16="http://schemas.microsoft.com/office/drawing/2014/main" id="{78DA351A-10CC-EDAB-AFEA-6CFB2969A3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5" name="Text Box 14">
              <a:extLst>
                <a:ext uri="{FF2B5EF4-FFF2-40B4-BE49-F238E27FC236}">
                  <a16:creationId xmlns:a16="http://schemas.microsoft.com/office/drawing/2014/main" id="{187E7A4B-70F1-3E29-521F-18B1E9BC9905}"/>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1">
            <a:extLst>
              <a:ext uri="{FF2B5EF4-FFF2-40B4-BE49-F238E27FC236}">
                <a16:creationId xmlns:a16="http://schemas.microsoft.com/office/drawing/2014/main" id="{ACD8110E-5776-B274-1576-0628480D678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9721A283-3BBC-42BE-88BE-A0F84888F185}" type="slidenum">
              <a:rPr lang="en-US" altLang="zh-CN" sz="2000" i="0" baseline="0" smtClean="0">
                <a:latin typeface="Arial" panose="020B0604020202020204" pitchFamily="34" charset="0"/>
              </a:rPr>
              <a:pPr/>
              <a:t>3</a:t>
            </a:fld>
            <a:endParaRPr lang="en-US" altLang="zh-CN" sz="2000" i="0" baseline="0">
              <a:latin typeface="Arial" panose="020B0604020202020204" pitchFamily="34" charset="0"/>
            </a:endParaRPr>
          </a:p>
        </p:txBody>
      </p:sp>
      <p:sp>
        <p:nvSpPr>
          <p:cNvPr id="2" name="Rectangle 2">
            <a:extLst>
              <a:ext uri="{FF2B5EF4-FFF2-40B4-BE49-F238E27FC236}">
                <a16:creationId xmlns:a16="http://schemas.microsoft.com/office/drawing/2014/main" id="{60DF1736-540E-EE42-C07E-7FA6029A6CD0}"/>
              </a:ext>
            </a:extLst>
          </p:cNvPr>
          <p:cNvSpPr>
            <a:spLocks noChangeArrowheads="1"/>
          </p:cNvSpPr>
          <p:nvPr/>
        </p:nvSpPr>
        <p:spPr bwMode="auto">
          <a:xfrm>
            <a:off x="0" y="0"/>
            <a:ext cx="9144000" cy="838200"/>
          </a:xfrm>
          <a:prstGeom prst="rect">
            <a:avLst/>
          </a:prstGeom>
          <a:solidFill>
            <a:srgbClr val="33CCFF"/>
          </a:solidFill>
          <a:ln w="9525" cmpd="sng">
            <a:solidFill>
              <a:schemeClr val="tx1"/>
            </a:solidFill>
            <a:miter lim="800000"/>
            <a:headEnd/>
            <a:tailEnd/>
          </a:ln>
          <a:effectLst/>
        </p:spPr>
        <p:txBody>
          <a:bodyPr wrap="none" anchor="ctr"/>
          <a:lstStyle/>
          <a:p>
            <a:pPr algn="ctr">
              <a:buFont typeface="Arial" panose="020B0604020202020204" pitchFamily="34" charset="0"/>
              <a:buNone/>
              <a:defRPr/>
            </a:pPr>
            <a:endParaRPr lang="zh-CN" altLang="zh-CN" sz="3200" i="0" baseline="0">
              <a:effectLst>
                <a:outerShdw blurRad="38100" dist="38100" dir="2700000" algn="tl">
                  <a:srgbClr val="FFFFFF"/>
                </a:outerShdw>
              </a:effectLst>
              <a:ea typeface="宋体" pitchFamily="2" charset="-122"/>
            </a:endParaRPr>
          </a:p>
        </p:txBody>
      </p:sp>
      <p:sp>
        <p:nvSpPr>
          <p:cNvPr id="6147" name="Text Box 3">
            <a:extLst>
              <a:ext uri="{FF2B5EF4-FFF2-40B4-BE49-F238E27FC236}">
                <a16:creationId xmlns:a16="http://schemas.microsoft.com/office/drawing/2014/main" id="{A3FCAED4-94E2-42E7-1B0E-3874528D256F}"/>
              </a:ext>
            </a:extLst>
          </p:cNvPr>
          <p:cNvSpPr txBox="1">
            <a:spLocks noChangeArrowheads="1"/>
          </p:cNvSpPr>
          <p:nvPr/>
        </p:nvSpPr>
        <p:spPr bwMode="auto">
          <a:xfrm>
            <a:off x="228600" y="76200"/>
            <a:ext cx="3162300" cy="579438"/>
          </a:xfrm>
          <a:prstGeom prst="rect">
            <a:avLst/>
          </a:prstGeom>
          <a:noFill/>
          <a:ln w="9525">
            <a:noFill/>
            <a:miter lim="800000"/>
            <a:headEnd/>
            <a:tailEnd/>
          </a:ln>
          <a:effectLst/>
        </p:spPr>
        <p:txBody>
          <a:bodyPr wrap="none">
            <a:spAutoFit/>
          </a:bodyPr>
          <a:lstStyle/>
          <a:p>
            <a:pPr>
              <a:buFont typeface="Arial" panose="020B0604020202020204" pitchFamily="34" charset="0"/>
              <a:buNone/>
              <a:defRPr/>
            </a:pPr>
            <a:r>
              <a:rPr lang="zh-CN" altLang="en-US" sz="3200" i="0" baseline="0">
                <a:effectLst>
                  <a:outerShdw blurRad="38100" dist="38100" dir="2700000" algn="tl">
                    <a:srgbClr val="C0C0C0"/>
                  </a:outerShdw>
                </a:effectLst>
                <a:latin typeface="Times" pitchFamily="2" charset="0"/>
                <a:ea typeface="宋体" pitchFamily="2" charset="-122"/>
              </a:rPr>
              <a:t>3-1   模拟与数字 </a:t>
            </a:r>
          </a:p>
        </p:txBody>
      </p:sp>
      <p:sp>
        <p:nvSpPr>
          <p:cNvPr id="6149" name="Text Box 4">
            <a:extLst>
              <a:ext uri="{FF2B5EF4-FFF2-40B4-BE49-F238E27FC236}">
                <a16:creationId xmlns:a16="http://schemas.microsoft.com/office/drawing/2014/main" id="{AAA099B3-A0F8-1E2F-A474-3E3F3435F859}"/>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zh-CN" sz="1800" i="0" baseline="0">
              <a:ea typeface="宋体" panose="02010600030101010101" pitchFamily="2" charset="-122"/>
            </a:endParaRPr>
          </a:p>
        </p:txBody>
      </p:sp>
      <p:sp>
        <p:nvSpPr>
          <p:cNvPr id="3" name="Rectangle 5">
            <a:extLst>
              <a:ext uri="{FF2B5EF4-FFF2-40B4-BE49-F238E27FC236}">
                <a16:creationId xmlns:a16="http://schemas.microsoft.com/office/drawing/2014/main" id="{BFFD50CA-6091-85AA-139B-F5C0A7319D35}"/>
              </a:ext>
            </a:extLst>
          </p:cNvPr>
          <p:cNvSpPr>
            <a:spLocks noChangeArrowheads="1"/>
          </p:cNvSpPr>
          <p:nvPr/>
        </p:nvSpPr>
        <p:spPr bwMode="auto">
          <a:xfrm>
            <a:off x="76200" y="1204913"/>
            <a:ext cx="8915400" cy="1371600"/>
          </a:xfrm>
          <a:prstGeom prst="rect">
            <a:avLst/>
          </a:prstGeom>
          <a:noFill/>
          <a:ln w="9525">
            <a:noFill/>
            <a:miter lim="800000"/>
            <a:headEnd/>
            <a:tailEnd/>
          </a:ln>
          <a:effectLst/>
        </p:spPr>
        <p:txBody>
          <a:bodyPr anchor="ctr">
            <a:spAutoFit/>
          </a:bodyPr>
          <a:lstStyle/>
          <a:p>
            <a:pPr algn="just" eaLnBrk="1" hangingPunct="1">
              <a:buFont typeface="Arial" panose="020B0604020202020204" pitchFamily="34" charset="0"/>
              <a:buNone/>
              <a:defRPr/>
            </a:pPr>
            <a:r>
              <a:rPr lang="zh-CN" altLang="en-US" baseline="0">
                <a:effectLst>
                  <a:outerShdw blurRad="38100" dist="38100" dir="2700000" algn="tl">
                    <a:srgbClr val="C0C0C0"/>
                  </a:outerShdw>
                </a:effectLst>
                <a:ea typeface="宋体" pitchFamily="2" charset="-122"/>
              </a:rPr>
              <a:t>数据可以是模拟的也可以是数字的。模拟数据指的是连续状态的信息；而数字数据指的是离散状态的信息。模拟数据采用连续值。数字数据采用离散值。</a:t>
            </a:r>
          </a:p>
        </p:txBody>
      </p:sp>
      <p:sp>
        <p:nvSpPr>
          <p:cNvPr id="6151" name="Rectangle 6">
            <a:extLst>
              <a:ext uri="{FF2B5EF4-FFF2-40B4-BE49-F238E27FC236}">
                <a16:creationId xmlns:a16="http://schemas.microsoft.com/office/drawing/2014/main" id="{F6AB27BA-CBF4-B165-DB8A-4862C357D80C}"/>
              </a:ext>
            </a:extLst>
          </p:cNvPr>
          <p:cNvSpPr>
            <a:spLocks noChangeArrowheads="1"/>
          </p:cNvSpPr>
          <p:nvPr/>
        </p:nvSpPr>
        <p:spPr bwMode="auto">
          <a:xfrm>
            <a:off x="228600" y="4724400"/>
            <a:ext cx="66294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fr-FR" altLang="en-US" sz="2400" i="0" baseline="0">
                <a:solidFill>
                  <a:srgbClr val="0033CC"/>
                </a:solidFill>
              </a:rPr>
              <a:t>模拟数据和数字数据</a:t>
            </a:r>
          </a:p>
          <a:p>
            <a:pPr>
              <a:buClr>
                <a:schemeClr val="tx1"/>
              </a:buClr>
              <a:buSzPct val="117000"/>
              <a:buFont typeface="Wingdings" panose="05000000000000000000" pitchFamily="2" charset="2"/>
              <a:buNone/>
            </a:pPr>
            <a:r>
              <a:rPr lang="zh-CN" altLang="en-US" sz="2400" i="0" baseline="0">
                <a:solidFill>
                  <a:srgbClr val="0033CC"/>
                </a:solidFill>
                <a:ea typeface="宋体" panose="02010600030101010101" pitchFamily="2" charset="-122"/>
              </a:rPr>
              <a:t>模拟信号和数字信号</a:t>
            </a:r>
          </a:p>
          <a:p>
            <a:pPr>
              <a:buClr>
                <a:schemeClr val="tx1"/>
              </a:buClr>
              <a:buSzPct val="117000"/>
              <a:buFont typeface="Wingdings" panose="05000000000000000000" pitchFamily="2" charset="2"/>
              <a:buNone/>
            </a:pPr>
            <a:r>
              <a:rPr lang="zh-CN" altLang="en-US" sz="2400" i="0" baseline="0">
                <a:solidFill>
                  <a:srgbClr val="0033CC"/>
                </a:solidFill>
                <a:ea typeface="宋体" panose="02010600030101010101" pitchFamily="2" charset="-122"/>
              </a:rPr>
              <a:t>周期信号和非周期信号</a:t>
            </a:r>
          </a:p>
        </p:txBody>
      </p:sp>
      <p:sp>
        <p:nvSpPr>
          <p:cNvPr id="4" name="Text Box 7">
            <a:extLst>
              <a:ext uri="{FF2B5EF4-FFF2-40B4-BE49-F238E27FC236}">
                <a16:creationId xmlns:a16="http://schemas.microsoft.com/office/drawing/2014/main" id="{8D63B3A7-7367-B3E0-564B-69D580B67A28}"/>
              </a:ext>
            </a:extLst>
          </p:cNvPr>
          <p:cNvSpPr txBox="1">
            <a:spLocks noChangeArrowheads="1"/>
          </p:cNvSpPr>
          <p:nvPr/>
        </p:nvSpPr>
        <p:spPr bwMode="auto">
          <a:xfrm>
            <a:off x="304800" y="4191000"/>
            <a:ext cx="2790825" cy="519113"/>
          </a:xfrm>
          <a:prstGeom prst="rect">
            <a:avLst/>
          </a:prstGeom>
          <a:noFill/>
          <a:ln w="9525">
            <a:noFill/>
            <a:miter lim="800000"/>
            <a:headEnd/>
            <a:tailEnd/>
          </a:ln>
          <a:effectLst/>
        </p:spPr>
        <p:txBody>
          <a:bodyPr wrap="none">
            <a:spAutoFit/>
          </a:bodyPr>
          <a:lstStyle/>
          <a:p>
            <a:pPr algn="ctr">
              <a:buFont typeface="Arial" panose="020B0604020202020204" pitchFamily="34" charset="0"/>
              <a:buNone/>
              <a:defRPr/>
            </a:pPr>
            <a:r>
              <a:rPr lang="zh-CN" altLang="en-US" u="sng" baseline="0">
                <a:solidFill>
                  <a:schemeClr val="hlink"/>
                </a:solidFill>
                <a:effectLst>
                  <a:outerShdw blurRad="38100" dist="38100" dir="2700000" algn="tl">
                    <a:srgbClr val="C0C0C0"/>
                  </a:outerShdw>
                </a:effectLst>
                <a:ea typeface="宋体" pitchFamily="2" charset="-122"/>
              </a:rPr>
              <a:t>本节讨论的主题</a:t>
            </a:r>
            <a:r>
              <a:rPr lang="en-US" altLang="zh-CN" u="sng" baseline="0">
                <a:solidFill>
                  <a:schemeClr val="hlink"/>
                </a:solidFill>
                <a:effectLst>
                  <a:outerShdw blurRad="38100" dist="38100" dir="2700000" algn="tl">
                    <a:srgbClr val="C0C0C0"/>
                  </a:outerShdw>
                </a:effectLst>
                <a:ea typeface="宋体" pitchFamily="2" charset="-122"/>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1">
            <a:extLst>
              <a:ext uri="{FF2B5EF4-FFF2-40B4-BE49-F238E27FC236}">
                <a16:creationId xmlns:a16="http://schemas.microsoft.com/office/drawing/2014/main" id="{1F2AAB6E-1CF8-4AA0-84C5-DF52A13AD89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CAF6FABF-96FF-4469-B04A-A79D17673D1B}" type="slidenum">
              <a:rPr lang="en-US" altLang="zh-CN" sz="2000" i="0" baseline="0" smtClean="0">
                <a:latin typeface="Arial" panose="020B0604020202020204" pitchFamily="34" charset="0"/>
              </a:rPr>
              <a:pPr/>
              <a:t>4</a:t>
            </a:fld>
            <a:endParaRPr lang="en-US" altLang="zh-CN" sz="2000" i="0" baseline="0">
              <a:latin typeface="Arial" panose="020B0604020202020204" pitchFamily="34" charset="0"/>
            </a:endParaRPr>
          </a:p>
        </p:txBody>
      </p:sp>
      <p:sp>
        <p:nvSpPr>
          <p:cNvPr id="7171" name="Rectangle 2">
            <a:extLst>
              <a:ext uri="{FF2B5EF4-FFF2-40B4-BE49-F238E27FC236}">
                <a16:creationId xmlns:a16="http://schemas.microsoft.com/office/drawing/2014/main" id="{2DC04568-3B8C-FC33-9D7B-BA05ECC660B5}"/>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172" name="Rectangle 3">
            <a:extLst>
              <a:ext uri="{FF2B5EF4-FFF2-40B4-BE49-F238E27FC236}">
                <a16:creationId xmlns:a16="http://schemas.microsoft.com/office/drawing/2014/main" id="{B2CD08DE-8153-8CA8-3A75-0C173B448DD2}"/>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173" name="Rectangle 4">
            <a:extLst>
              <a:ext uri="{FF2B5EF4-FFF2-40B4-BE49-F238E27FC236}">
                <a16:creationId xmlns:a16="http://schemas.microsoft.com/office/drawing/2014/main" id="{3A45210A-5B88-A10C-B744-700DB059527E}"/>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174" name="Rectangle 5">
            <a:extLst>
              <a:ext uri="{FF2B5EF4-FFF2-40B4-BE49-F238E27FC236}">
                <a16:creationId xmlns:a16="http://schemas.microsoft.com/office/drawing/2014/main" id="{65E04C31-CDA1-68A2-E580-F3A1E84C0F08}"/>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175" name="Rectangle 6">
            <a:extLst>
              <a:ext uri="{FF2B5EF4-FFF2-40B4-BE49-F238E27FC236}">
                <a16:creationId xmlns:a16="http://schemas.microsoft.com/office/drawing/2014/main" id="{3D791647-7918-9C63-6FF7-D3B6165686BE}"/>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176" name="Rectangle 7">
            <a:extLst>
              <a:ext uri="{FF2B5EF4-FFF2-40B4-BE49-F238E27FC236}">
                <a16:creationId xmlns:a16="http://schemas.microsoft.com/office/drawing/2014/main" id="{12B831AA-5891-9168-E71F-FEEF5B0F05D6}"/>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177" name="Rectangle 8">
            <a:extLst>
              <a:ext uri="{FF2B5EF4-FFF2-40B4-BE49-F238E27FC236}">
                <a16:creationId xmlns:a16="http://schemas.microsoft.com/office/drawing/2014/main" id="{5595847A-B0E8-08B4-DE44-80543A0860BE}"/>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178" name="Line 9">
            <a:extLst>
              <a:ext uri="{FF2B5EF4-FFF2-40B4-BE49-F238E27FC236}">
                <a16:creationId xmlns:a16="http://schemas.microsoft.com/office/drawing/2014/main" id="{94690815-12AC-E834-CC73-66180CF57105}"/>
              </a:ext>
            </a:extLst>
          </p:cNvPr>
          <p:cNvSpPr>
            <a:spLocks noChangeShapeType="1"/>
          </p:cNvSpPr>
          <p:nvPr/>
        </p:nvSpPr>
        <p:spPr bwMode="auto">
          <a:xfrm>
            <a:off x="457200" y="2547938"/>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9" name="Line 10">
            <a:extLst>
              <a:ext uri="{FF2B5EF4-FFF2-40B4-BE49-F238E27FC236}">
                <a16:creationId xmlns:a16="http://schemas.microsoft.com/office/drawing/2014/main" id="{BE2E9425-B008-163F-CF06-FB637378C2E3}"/>
              </a:ext>
            </a:extLst>
          </p:cNvPr>
          <p:cNvSpPr>
            <a:spLocks noChangeShapeType="1"/>
          </p:cNvSpPr>
          <p:nvPr/>
        </p:nvSpPr>
        <p:spPr bwMode="auto">
          <a:xfrm>
            <a:off x="457200" y="4267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180" name="Group 11">
            <a:extLst>
              <a:ext uri="{FF2B5EF4-FFF2-40B4-BE49-F238E27FC236}">
                <a16:creationId xmlns:a16="http://schemas.microsoft.com/office/drawing/2014/main" id="{D9B67F7E-B447-AE1F-D75C-2CDD872B171E}"/>
              </a:ext>
            </a:extLst>
          </p:cNvPr>
          <p:cNvGrpSpPr>
            <a:grpSpLocks/>
          </p:cNvGrpSpPr>
          <p:nvPr/>
        </p:nvGrpSpPr>
        <p:grpSpPr bwMode="auto">
          <a:xfrm>
            <a:off x="457200" y="1905000"/>
            <a:ext cx="1143000" cy="566738"/>
            <a:chOff x="0" y="0"/>
            <a:chExt cx="720" cy="357"/>
          </a:xfrm>
        </p:grpSpPr>
        <p:pic>
          <p:nvPicPr>
            <p:cNvPr id="7182" name="Picture 12">
              <a:extLst>
                <a:ext uri="{FF2B5EF4-FFF2-40B4-BE49-F238E27FC236}">
                  <a16:creationId xmlns:a16="http://schemas.microsoft.com/office/drawing/2014/main" id="{8C5111DE-CF41-499E-9FD6-78AEF4060B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3" name="Text Box 13">
              <a:extLst>
                <a:ext uri="{FF2B5EF4-FFF2-40B4-BE49-F238E27FC236}">
                  <a16:creationId xmlns:a16="http://schemas.microsoft.com/office/drawing/2014/main" id="{547B1374-236E-0AA8-691F-C6D40DC4FDDF}"/>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
        <p:nvSpPr>
          <p:cNvPr id="7181" name="Rectangle 14">
            <a:extLst>
              <a:ext uri="{FF2B5EF4-FFF2-40B4-BE49-F238E27FC236}">
                <a16:creationId xmlns:a16="http://schemas.microsoft.com/office/drawing/2014/main" id="{24A55509-A779-0499-13DE-541179E3D675}"/>
              </a:ext>
            </a:extLst>
          </p:cNvPr>
          <p:cNvSpPr>
            <a:spLocks noChangeArrowheads="1"/>
          </p:cNvSpPr>
          <p:nvPr/>
        </p:nvSpPr>
        <p:spPr bwMode="auto">
          <a:xfrm>
            <a:off x="495300" y="2624138"/>
            <a:ext cx="8077200" cy="2062162"/>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数据可以是模拟的也可以是离散的。</a:t>
            </a:r>
          </a:p>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模拟数据是连续的，它采用连续值。</a:t>
            </a:r>
          </a:p>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数字数据有离散状态，它采用离散值。</a:t>
            </a:r>
            <a:endParaRPr lang="en-US" altLang="zh-CN" sz="3200" i="0" baseline="0">
              <a:latin typeface="Arial" panose="020B0604020202020204" pitchFamily="34" charset="0"/>
              <a:ea typeface="宋体" panose="02010600030101010101" pitchFamily="2" charset="-122"/>
            </a:endParaRPr>
          </a:p>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（文本数据、语音数据）</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1">
            <a:extLst>
              <a:ext uri="{FF2B5EF4-FFF2-40B4-BE49-F238E27FC236}">
                <a16:creationId xmlns:a16="http://schemas.microsoft.com/office/drawing/2014/main" id="{61001299-FBC7-A622-C104-045AC76C101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B13E9DA0-6535-47A9-A014-055D4FACD42E}" type="slidenum">
              <a:rPr lang="en-US" altLang="zh-CN" sz="2000" i="0" baseline="0" smtClean="0">
                <a:latin typeface="Arial" panose="020B0604020202020204" pitchFamily="34" charset="0"/>
              </a:rPr>
              <a:pPr/>
              <a:t>5</a:t>
            </a:fld>
            <a:endParaRPr lang="en-US" altLang="zh-CN" sz="2000" i="0" baseline="0">
              <a:latin typeface="Arial" panose="020B0604020202020204" pitchFamily="34" charset="0"/>
            </a:endParaRPr>
          </a:p>
        </p:txBody>
      </p:sp>
      <p:sp>
        <p:nvSpPr>
          <p:cNvPr id="8195" name="Rectangle 2">
            <a:extLst>
              <a:ext uri="{FF2B5EF4-FFF2-40B4-BE49-F238E27FC236}">
                <a16:creationId xmlns:a16="http://schemas.microsoft.com/office/drawing/2014/main" id="{76E98EF9-5FE6-FFDD-8349-7DC54AF7AB84}"/>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196" name="Rectangle 3">
            <a:extLst>
              <a:ext uri="{FF2B5EF4-FFF2-40B4-BE49-F238E27FC236}">
                <a16:creationId xmlns:a16="http://schemas.microsoft.com/office/drawing/2014/main" id="{0DF62898-2C25-DEBA-DF45-E625B2622717}"/>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197" name="Rectangle 4">
            <a:extLst>
              <a:ext uri="{FF2B5EF4-FFF2-40B4-BE49-F238E27FC236}">
                <a16:creationId xmlns:a16="http://schemas.microsoft.com/office/drawing/2014/main" id="{B333B6F6-4900-7A72-BEDE-F8ECE501CF37}"/>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198" name="Rectangle 5">
            <a:extLst>
              <a:ext uri="{FF2B5EF4-FFF2-40B4-BE49-F238E27FC236}">
                <a16:creationId xmlns:a16="http://schemas.microsoft.com/office/drawing/2014/main" id="{B7D664F3-EF62-8B8D-0F8C-D28D5ACED23D}"/>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199" name="Rectangle 6">
            <a:extLst>
              <a:ext uri="{FF2B5EF4-FFF2-40B4-BE49-F238E27FC236}">
                <a16:creationId xmlns:a16="http://schemas.microsoft.com/office/drawing/2014/main" id="{98C4EC57-F1EE-2090-2F5B-33DE4ED6FA9D}"/>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200" name="Rectangle 7">
            <a:extLst>
              <a:ext uri="{FF2B5EF4-FFF2-40B4-BE49-F238E27FC236}">
                <a16:creationId xmlns:a16="http://schemas.microsoft.com/office/drawing/2014/main" id="{B36C5937-0363-931A-7185-EA4C96ECF87D}"/>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201" name="Rectangle 8">
            <a:extLst>
              <a:ext uri="{FF2B5EF4-FFF2-40B4-BE49-F238E27FC236}">
                <a16:creationId xmlns:a16="http://schemas.microsoft.com/office/drawing/2014/main" id="{288F8439-150B-1383-80ED-AA49A69C0402}"/>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202" name="Line 9">
            <a:extLst>
              <a:ext uri="{FF2B5EF4-FFF2-40B4-BE49-F238E27FC236}">
                <a16:creationId xmlns:a16="http://schemas.microsoft.com/office/drawing/2014/main" id="{FBDDECC1-BA45-D880-D67C-34A963299F7F}"/>
              </a:ext>
            </a:extLst>
          </p:cNvPr>
          <p:cNvSpPr>
            <a:spLocks noChangeShapeType="1"/>
          </p:cNvSpPr>
          <p:nvPr/>
        </p:nvSpPr>
        <p:spPr bwMode="auto">
          <a:xfrm>
            <a:off x="457200" y="2547938"/>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 name="Line 10">
            <a:extLst>
              <a:ext uri="{FF2B5EF4-FFF2-40B4-BE49-F238E27FC236}">
                <a16:creationId xmlns:a16="http://schemas.microsoft.com/office/drawing/2014/main" id="{0B2B3FCB-1D6A-6812-84CD-5276965233C0}"/>
              </a:ext>
            </a:extLst>
          </p:cNvPr>
          <p:cNvSpPr>
            <a:spLocks noChangeShapeType="1"/>
          </p:cNvSpPr>
          <p:nvPr/>
        </p:nvSpPr>
        <p:spPr bwMode="auto">
          <a:xfrm>
            <a:off x="457200" y="4267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 name="Rectangle 11">
            <a:extLst>
              <a:ext uri="{FF2B5EF4-FFF2-40B4-BE49-F238E27FC236}">
                <a16:creationId xmlns:a16="http://schemas.microsoft.com/office/drawing/2014/main" id="{7C7E3C83-657A-E326-878D-2D447B1C9AE2}"/>
              </a:ext>
            </a:extLst>
          </p:cNvPr>
          <p:cNvSpPr>
            <a:spLocks noChangeArrowheads="1"/>
          </p:cNvSpPr>
          <p:nvPr/>
        </p:nvSpPr>
        <p:spPr bwMode="auto">
          <a:xfrm>
            <a:off x="495300" y="2624138"/>
            <a:ext cx="8077200" cy="1570037"/>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信号可以是模拟的也可以是数字的。</a:t>
            </a:r>
          </a:p>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     模拟信号在一个范围内可以有无穷多个取值；而数字信号只能有有限个数值。</a:t>
            </a:r>
            <a:endParaRPr lang="en-US" altLang="zh-CN" sz="3200" i="0" baseline="0">
              <a:latin typeface="Arial" panose="020B0604020202020204" pitchFamily="34" charset="0"/>
              <a:ea typeface="宋体" panose="02010600030101010101" pitchFamily="2" charset="-122"/>
            </a:endParaRPr>
          </a:p>
        </p:txBody>
      </p:sp>
      <p:grpSp>
        <p:nvGrpSpPr>
          <p:cNvPr id="8205" name="Group 12">
            <a:extLst>
              <a:ext uri="{FF2B5EF4-FFF2-40B4-BE49-F238E27FC236}">
                <a16:creationId xmlns:a16="http://schemas.microsoft.com/office/drawing/2014/main" id="{CE86AD54-8A94-C301-FAC7-5F0E716D45CE}"/>
              </a:ext>
            </a:extLst>
          </p:cNvPr>
          <p:cNvGrpSpPr>
            <a:grpSpLocks/>
          </p:cNvGrpSpPr>
          <p:nvPr/>
        </p:nvGrpSpPr>
        <p:grpSpPr bwMode="auto">
          <a:xfrm>
            <a:off x="457200" y="1905000"/>
            <a:ext cx="1143000" cy="566738"/>
            <a:chOff x="0" y="0"/>
            <a:chExt cx="720" cy="357"/>
          </a:xfrm>
        </p:grpSpPr>
        <p:pic>
          <p:nvPicPr>
            <p:cNvPr id="8206" name="Picture 13">
              <a:extLst>
                <a:ext uri="{FF2B5EF4-FFF2-40B4-BE49-F238E27FC236}">
                  <a16:creationId xmlns:a16="http://schemas.microsoft.com/office/drawing/2014/main" id="{7A017FC3-B158-11A1-1233-115253152A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7" name="Text Box 14">
              <a:extLst>
                <a:ext uri="{FF2B5EF4-FFF2-40B4-BE49-F238E27FC236}">
                  <a16:creationId xmlns:a16="http://schemas.microsoft.com/office/drawing/2014/main" id="{3153034F-438A-04DF-3461-6B82470E30C0}"/>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1">
            <a:extLst>
              <a:ext uri="{FF2B5EF4-FFF2-40B4-BE49-F238E27FC236}">
                <a16:creationId xmlns:a16="http://schemas.microsoft.com/office/drawing/2014/main" id="{23C42269-3EC2-05C6-33D2-F4987CBCACB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5EDCD2D3-08C3-43DA-A177-2B8D695AD37A}" type="slidenum">
              <a:rPr lang="en-US" altLang="zh-CN" sz="2000" i="0" baseline="0" smtClean="0">
                <a:latin typeface="Arial" panose="020B0604020202020204" pitchFamily="34" charset="0"/>
              </a:rPr>
              <a:pPr/>
              <a:t>6</a:t>
            </a:fld>
            <a:endParaRPr lang="en-US" altLang="zh-CN" sz="2000" i="0" baseline="0">
              <a:latin typeface="Arial" panose="020B0604020202020204" pitchFamily="34" charset="0"/>
            </a:endParaRPr>
          </a:p>
        </p:txBody>
      </p:sp>
      <p:sp>
        <p:nvSpPr>
          <p:cNvPr id="9219" name="Line 2">
            <a:extLst>
              <a:ext uri="{FF2B5EF4-FFF2-40B4-BE49-F238E27FC236}">
                <a16:creationId xmlns:a16="http://schemas.microsoft.com/office/drawing/2014/main" id="{F2F900DD-221A-2FED-280B-04254180221E}"/>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 name="Line 3">
            <a:extLst>
              <a:ext uri="{FF2B5EF4-FFF2-40B4-BE49-F238E27FC236}">
                <a16:creationId xmlns:a16="http://schemas.microsoft.com/office/drawing/2014/main" id="{FA3F7602-6875-8518-D419-ADC711574D5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1" name="Text Box 4">
            <a:extLst>
              <a:ext uri="{FF2B5EF4-FFF2-40B4-BE49-F238E27FC236}">
                <a16:creationId xmlns:a16="http://schemas.microsoft.com/office/drawing/2014/main" id="{351699B4-5494-E67F-9B99-DE4E000ECB98}"/>
              </a:ext>
            </a:extLst>
          </p:cNvPr>
          <p:cNvSpPr txBox="1">
            <a:spLocks noChangeArrowheads="1"/>
          </p:cNvSpPr>
          <p:nvPr/>
        </p:nvSpPr>
        <p:spPr bwMode="auto">
          <a:xfrm>
            <a:off x="304800" y="762000"/>
            <a:ext cx="4144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图3.1   </a:t>
            </a:r>
            <a:r>
              <a:rPr lang="zh-CN" altLang="en-US" sz="2000" baseline="0">
                <a:ea typeface="宋体" panose="02010600030101010101" pitchFamily="2" charset="-122"/>
              </a:rPr>
              <a:t>模拟信号和数字信号的比较</a:t>
            </a:r>
          </a:p>
        </p:txBody>
      </p:sp>
      <p:sp>
        <p:nvSpPr>
          <p:cNvPr id="9222" name="Line 5">
            <a:extLst>
              <a:ext uri="{FF2B5EF4-FFF2-40B4-BE49-F238E27FC236}">
                <a16:creationId xmlns:a16="http://schemas.microsoft.com/office/drawing/2014/main" id="{DAEA7C1B-98FE-5B4D-701C-37017D6FD57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223" name="Picture 6">
            <a:extLst>
              <a:ext uri="{FF2B5EF4-FFF2-40B4-BE49-F238E27FC236}">
                <a16:creationId xmlns:a16="http://schemas.microsoft.com/office/drawing/2014/main" id="{57FEAB28-9D52-12DA-D481-2F1A160C2C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950" y="2389188"/>
            <a:ext cx="8528050" cy="286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矩形 7">
            <a:extLst>
              <a:ext uri="{FF2B5EF4-FFF2-40B4-BE49-F238E27FC236}">
                <a16:creationId xmlns:a16="http://schemas.microsoft.com/office/drawing/2014/main" id="{3177779E-626C-AD3F-305C-8B52B957966A}"/>
              </a:ext>
            </a:extLst>
          </p:cNvPr>
          <p:cNvSpPr>
            <a:spLocks noChangeArrowheads="1"/>
          </p:cNvSpPr>
          <p:nvPr/>
        </p:nvSpPr>
        <p:spPr bwMode="auto">
          <a:xfrm>
            <a:off x="1219200" y="5562600"/>
            <a:ext cx="6934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2400" i="0" baseline="0">
                <a:latin typeface="Arial" panose="020B0604020202020204" pitchFamily="34" charset="0"/>
                <a:ea typeface="宋体" panose="02010600030101010101" pitchFamily="2" charset="-122"/>
              </a:rPr>
              <a:t>纵坐标表示信号强度，横坐标表示时间</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1">
            <a:extLst>
              <a:ext uri="{FF2B5EF4-FFF2-40B4-BE49-F238E27FC236}">
                <a16:creationId xmlns:a16="http://schemas.microsoft.com/office/drawing/2014/main" id="{58766DE9-CDD5-C0BA-33E0-FC9809A867C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2B1FAFB6-C210-48FB-B873-ABED69AD1D10}" type="slidenum">
              <a:rPr lang="en-US" altLang="zh-CN" sz="2000" i="0" baseline="0" smtClean="0">
                <a:latin typeface="Arial" panose="020B0604020202020204" pitchFamily="34" charset="0"/>
              </a:rPr>
              <a:pPr/>
              <a:t>7</a:t>
            </a:fld>
            <a:endParaRPr lang="en-US" altLang="zh-CN" sz="2000" i="0" baseline="0">
              <a:latin typeface="Arial" panose="020B0604020202020204" pitchFamily="34" charset="0"/>
            </a:endParaRPr>
          </a:p>
        </p:txBody>
      </p:sp>
      <p:sp>
        <p:nvSpPr>
          <p:cNvPr id="10243" name="Rectangle 2">
            <a:extLst>
              <a:ext uri="{FF2B5EF4-FFF2-40B4-BE49-F238E27FC236}">
                <a16:creationId xmlns:a16="http://schemas.microsoft.com/office/drawing/2014/main" id="{9F89184D-15DD-B36F-17E5-EFC20D79F3AE}"/>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44" name="Rectangle 3">
            <a:extLst>
              <a:ext uri="{FF2B5EF4-FFF2-40B4-BE49-F238E27FC236}">
                <a16:creationId xmlns:a16="http://schemas.microsoft.com/office/drawing/2014/main" id="{68F32B95-2C18-7454-DDED-F49D253EA9CD}"/>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45" name="Rectangle 4">
            <a:extLst>
              <a:ext uri="{FF2B5EF4-FFF2-40B4-BE49-F238E27FC236}">
                <a16:creationId xmlns:a16="http://schemas.microsoft.com/office/drawing/2014/main" id="{4BF42A45-F08A-F6B1-DE15-7C13B4DD6BA0}"/>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46" name="Rectangle 5">
            <a:extLst>
              <a:ext uri="{FF2B5EF4-FFF2-40B4-BE49-F238E27FC236}">
                <a16:creationId xmlns:a16="http://schemas.microsoft.com/office/drawing/2014/main" id="{27F66393-54A7-CC4F-D90B-1F3D9811482A}"/>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47" name="Rectangle 6">
            <a:extLst>
              <a:ext uri="{FF2B5EF4-FFF2-40B4-BE49-F238E27FC236}">
                <a16:creationId xmlns:a16="http://schemas.microsoft.com/office/drawing/2014/main" id="{2723AA1D-0AF9-BA9C-1DED-60EB2BC832BC}"/>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48" name="Rectangle 7">
            <a:extLst>
              <a:ext uri="{FF2B5EF4-FFF2-40B4-BE49-F238E27FC236}">
                <a16:creationId xmlns:a16="http://schemas.microsoft.com/office/drawing/2014/main" id="{C383929B-A9DD-D7A1-50BE-42E77EFBA1B1}"/>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49" name="Rectangle 8">
            <a:extLst>
              <a:ext uri="{FF2B5EF4-FFF2-40B4-BE49-F238E27FC236}">
                <a16:creationId xmlns:a16="http://schemas.microsoft.com/office/drawing/2014/main" id="{775E40E1-3FCA-5D13-1F8A-F346ED31BC4C}"/>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50" name="Line 9">
            <a:extLst>
              <a:ext uri="{FF2B5EF4-FFF2-40B4-BE49-F238E27FC236}">
                <a16:creationId xmlns:a16="http://schemas.microsoft.com/office/drawing/2014/main" id="{A7FAFAAD-D062-25E7-C390-99FC46DC277C}"/>
              </a:ext>
            </a:extLst>
          </p:cNvPr>
          <p:cNvSpPr>
            <a:spLocks noChangeShapeType="1"/>
          </p:cNvSpPr>
          <p:nvPr/>
        </p:nvSpPr>
        <p:spPr bwMode="auto">
          <a:xfrm>
            <a:off x="457200" y="2438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1" name="Line 10">
            <a:extLst>
              <a:ext uri="{FF2B5EF4-FFF2-40B4-BE49-F238E27FC236}">
                <a16:creationId xmlns:a16="http://schemas.microsoft.com/office/drawing/2014/main" id="{50C5B431-050E-338F-5DE4-5303C831C704}"/>
              </a:ext>
            </a:extLst>
          </p:cNvPr>
          <p:cNvSpPr>
            <a:spLocks noChangeShapeType="1"/>
          </p:cNvSpPr>
          <p:nvPr/>
        </p:nvSpPr>
        <p:spPr bwMode="auto">
          <a:xfrm>
            <a:off x="457200" y="4191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 name="Rectangle 11">
            <a:extLst>
              <a:ext uri="{FF2B5EF4-FFF2-40B4-BE49-F238E27FC236}">
                <a16:creationId xmlns:a16="http://schemas.microsoft.com/office/drawing/2014/main" id="{FD638525-299A-02C9-D3A6-52AB5431537E}"/>
              </a:ext>
            </a:extLst>
          </p:cNvPr>
          <p:cNvSpPr>
            <a:spLocks noChangeArrowheads="1"/>
          </p:cNvSpPr>
          <p:nvPr/>
        </p:nvSpPr>
        <p:spPr bwMode="auto">
          <a:xfrm>
            <a:off x="533400" y="2530475"/>
            <a:ext cx="8077200" cy="15700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周期信号：在一个时间范围内完成一种模式，并且在后续的相同时间范围内重复模式。</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非周期信号：不随时间出现重复的模式。</a:t>
            </a:r>
          </a:p>
        </p:txBody>
      </p:sp>
      <p:grpSp>
        <p:nvGrpSpPr>
          <p:cNvPr id="10253" name="Group 12">
            <a:extLst>
              <a:ext uri="{FF2B5EF4-FFF2-40B4-BE49-F238E27FC236}">
                <a16:creationId xmlns:a16="http://schemas.microsoft.com/office/drawing/2014/main" id="{6845094C-825A-085E-6C9F-EAD10D310144}"/>
              </a:ext>
            </a:extLst>
          </p:cNvPr>
          <p:cNvGrpSpPr>
            <a:grpSpLocks/>
          </p:cNvGrpSpPr>
          <p:nvPr/>
        </p:nvGrpSpPr>
        <p:grpSpPr bwMode="auto">
          <a:xfrm>
            <a:off x="457200" y="1828800"/>
            <a:ext cx="1143000" cy="566738"/>
            <a:chOff x="0" y="0"/>
            <a:chExt cx="720" cy="357"/>
          </a:xfrm>
        </p:grpSpPr>
        <p:pic>
          <p:nvPicPr>
            <p:cNvPr id="10254" name="Picture 13">
              <a:extLst>
                <a:ext uri="{FF2B5EF4-FFF2-40B4-BE49-F238E27FC236}">
                  <a16:creationId xmlns:a16="http://schemas.microsoft.com/office/drawing/2014/main" id="{59ED028B-D03D-3ECE-C86A-1994226A9E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5" name="Text Box 14">
              <a:extLst>
                <a:ext uri="{FF2B5EF4-FFF2-40B4-BE49-F238E27FC236}">
                  <a16:creationId xmlns:a16="http://schemas.microsoft.com/office/drawing/2014/main" id="{DEE8D0BA-5DC1-DA0B-A7D5-8AAF7CD5487E}"/>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1">
            <a:extLst>
              <a:ext uri="{FF2B5EF4-FFF2-40B4-BE49-F238E27FC236}">
                <a16:creationId xmlns:a16="http://schemas.microsoft.com/office/drawing/2014/main" id="{2E6B5E12-55C3-D241-4A33-AE065BDFFA1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986E0D8A-8416-4129-80F9-2A168F42CF7C}" type="slidenum">
              <a:rPr lang="en-US" altLang="zh-CN" sz="2000" i="0" baseline="0" smtClean="0">
                <a:latin typeface="Arial" panose="020B0604020202020204" pitchFamily="34" charset="0"/>
              </a:rPr>
              <a:pPr/>
              <a:t>8</a:t>
            </a:fld>
            <a:endParaRPr lang="en-US" altLang="zh-CN" sz="2000" i="0" baseline="0">
              <a:latin typeface="Arial" panose="020B0604020202020204" pitchFamily="34" charset="0"/>
            </a:endParaRPr>
          </a:p>
        </p:txBody>
      </p:sp>
      <p:sp>
        <p:nvSpPr>
          <p:cNvPr id="11267" name="Rectangle 2">
            <a:extLst>
              <a:ext uri="{FF2B5EF4-FFF2-40B4-BE49-F238E27FC236}">
                <a16:creationId xmlns:a16="http://schemas.microsoft.com/office/drawing/2014/main" id="{D5999529-0D75-4459-B82B-8433F71572DB}"/>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268" name="Rectangle 3">
            <a:extLst>
              <a:ext uri="{FF2B5EF4-FFF2-40B4-BE49-F238E27FC236}">
                <a16:creationId xmlns:a16="http://schemas.microsoft.com/office/drawing/2014/main" id="{814E1F9C-7785-3CCF-5721-EA2F17FE9080}"/>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269" name="Rectangle 4">
            <a:extLst>
              <a:ext uri="{FF2B5EF4-FFF2-40B4-BE49-F238E27FC236}">
                <a16:creationId xmlns:a16="http://schemas.microsoft.com/office/drawing/2014/main" id="{82732CA3-C66A-201E-8AFF-6BED1D9A0152}"/>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270" name="Rectangle 5">
            <a:extLst>
              <a:ext uri="{FF2B5EF4-FFF2-40B4-BE49-F238E27FC236}">
                <a16:creationId xmlns:a16="http://schemas.microsoft.com/office/drawing/2014/main" id="{16F2F105-BD11-08DA-0886-51E2FAF884B4}"/>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271" name="Rectangle 6">
            <a:extLst>
              <a:ext uri="{FF2B5EF4-FFF2-40B4-BE49-F238E27FC236}">
                <a16:creationId xmlns:a16="http://schemas.microsoft.com/office/drawing/2014/main" id="{56DCA4D0-9E59-1E5E-8F2E-60E4EA3C3AD9}"/>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272" name="Rectangle 7">
            <a:extLst>
              <a:ext uri="{FF2B5EF4-FFF2-40B4-BE49-F238E27FC236}">
                <a16:creationId xmlns:a16="http://schemas.microsoft.com/office/drawing/2014/main" id="{DF957F39-6429-9086-EEFA-56F7C8096940}"/>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273" name="Rectangle 8">
            <a:extLst>
              <a:ext uri="{FF2B5EF4-FFF2-40B4-BE49-F238E27FC236}">
                <a16:creationId xmlns:a16="http://schemas.microsoft.com/office/drawing/2014/main" id="{6A682E39-A7DF-1E55-4A37-F693DDF6AD8B}"/>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274" name="Line 9">
            <a:extLst>
              <a:ext uri="{FF2B5EF4-FFF2-40B4-BE49-F238E27FC236}">
                <a16:creationId xmlns:a16="http://schemas.microsoft.com/office/drawing/2014/main" id="{57E50384-2C63-B805-354C-CA906C73EEF7}"/>
              </a:ext>
            </a:extLst>
          </p:cNvPr>
          <p:cNvSpPr>
            <a:spLocks noChangeShapeType="1"/>
          </p:cNvSpPr>
          <p:nvPr/>
        </p:nvSpPr>
        <p:spPr bwMode="auto">
          <a:xfrm>
            <a:off x="457200" y="2438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5" name="Line 10">
            <a:extLst>
              <a:ext uri="{FF2B5EF4-FFF2-40B4-BE49-F238E27FC236}">
                <a16:creationId xmlns:a16="http://schemas.microsoft.com/office/drawing/2014/main" id="{65F49E67-A47A-838B-13DA-5B5713B4AF7E}"/>
              </a:ext>
            </a:extLst>
          </p:cNvPr>
          <p:cNvSpPr>
            <a:spLocks noChangeShapeType="1"/>
          </p:cNvSpPr>
          <p:nvPr/>
        </p:nvSpPr>
        <p:spPr bwMode="auto">
          <a:xfrm>
            <a:off x="457200" y="4648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6" name="Rectangle 11">
            <a:extLst>
              <a:ext uri="{FF2B5EF4-FFF2-40B4-BE49-F238E27FC236}">
                <a16:creationId xmlns:a16="http://schemas.microsoft.com/office/drawing/2014/main" id="{57C2DFFE-4604-785A-3294-A2AFD99783DB}"/>
              </a:ext>
            </a:extLst>
          </p:cNvPr>
          <p:cNvSpPr>
            <a:spLocks noChangeArrowheads="1"/>
          </p:cNvSpPr>
          <p:nvPr/>
        </p:nvSpPr>
        <p:spPr bwMode="auto">
          <a:xfrm>
            <a:off x="533400" y="2530475"/>
            <a:ext cx="8077200" cy="2062163"/>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在数据通信中，通常使用周期模拟信号和非周期数字信号。</a:t>
            </a:r>
            <a:endParaRPr lang="en-US" altLang="zh-CN" sz="3200" i="0" baseline="0">
              <a:latin typeface="Arial" panose="020B0604020202020204" pitchFamily="34" charset="0"/>
              <a:ea typeface="宋体" panose="02010600030101010101" pitchFamily="2" charset="-122"/>
            </a:endParaRPr>
          </a:p>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（周期模拟信号需要更少的带宽，而非周期数字信号可以表示数据的变化）</a:t>
            </a:r>
          </a:p>
        </p:txBody>
      </p:sp>
      <p:grpSp>
        <p:nvGrpSpPr>
          <p:cNvPr id="11277" name="Group 12">
            <a:extLst>
              <a:ext uri="{FF2B5EF4-FFF2-40B4-BE49-F238E27FC236}">
                <a16:creationId xmlns:a16="http://schemas.microsoft.com/office/drawing/2014/main" id="{F1CBCE03-F6C5-0EED-6F3A-B8D163041802}"/>
              </a:ext>
            </a:extLst>
          </p:cNvPr>
          <p:cNvGrpSpPr>
            <a:grpSpLocks/>
          </p:cNvGrpSpPr>
          <p:nvPr/>
        </p:nvGrpSpPr>
        <p:grpSpPr bwMode="auto">
          <a:xfrm>
            <a:off x="457200" y="1828800"/>
            <a:ext cx="1143000" cy="566738"/>
            <a:chOff x="0" y="0"/>
            <a:chExt cx="720" cy="357"/>
          </a:xfrm>
        </p:grpSpPr>
        <p:pic>
          <p:nvPicPr>
            <p:cNvPr id="11278" name="Picture 13">
              <a:extLst>
                <a:ext uri="{FF2B5EF4-FFF2-40B4-BE49-F238E27FC236}">
                  <a16:creationId xmlns:a16="http://schemas.microsoft.com/office/drawing/2014/main" id="{1C8376C7-3E94-9014-D1E9-5D3D804F4D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9" name="Text Box 14">
              <a:extLst>
                <a:ext uri="{FF2B5EF4-FFF2-40B4-BE49-F238E27FC236}">
                  <a16:creationId xmlns:a16="http://schemas.microsoft.com/office/drawing/2014/main" id="{25F2ACA5-7C08-1898-8E56-310440D60DFC}"/>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灯片编号占位符 1">
            <a:extLst>
              <a:ext uri="{FF2B5EF4-FFF2-40B4-BE49-F238E27FC236}">
                <a16:creationId xmlns:a16="http://schemas.microsoft.com/office/drawing/2014/main" id="{F2C794AE-FBF0-9392-1CD5-33B0687B0A9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389D7528-BC16-4111-B83B-C8E74C7BDAC9}" type="slidenum">
              <a:rPr lang="en-US" altLang="zh-CN" sz="2000" i="0" baseline="0" smtClean="0">
                <a:latin typeface="Arial" panose="020B0604020202020204" pitchFamily="34" charset="0"/>
              </a:rPr>
              <a:pPr/>
              <a:t>9</a:t>
            </a:fld>
            <a:endParaRPr lang="en-US" altLang="zh-CN" sz="2000" i="0" baseline="0">
              <a:latin typeface="Arial" panose="020B0604020202020204" pitchFamily="34" charset="0"/>
            </a:endParaRPr>
          </a:p>
        </p:txBody>
      </p:sp>
      <p:sp>
        <p:nvSpPr>
          <p:cNvPr id="11266" name="Rectangle 2">
            <a:extLst>
              <a:ext uri="{FF2B5EF4-FFF2-40B4-BE49-F238E27FC236}">
                <a16:creationId xmlns:a16="http://schemas.microsoft.com/office/drawing/2014/main" id="{744BA231-E75B-9A38-B020-445AB4EFF15B}"/>
              </a:ext>
            </a:extLst>
          </p:cNvPr>
          <p:cNvSpPr>
            <a:spLocks noChangeArrowheads="1"/>
          </p:cNvSpPr>
          <p:nvPr/>
        </p:nvSpPr>
        <p:spPr bwMode="auto">
          <a:xfrm>
            <a:off x="0" y="0"/>
            <a:ext cx="9144000" cy="838200"/>
          </a:xfrm>
          <a:prstGeom prst="rect">
            <a:avLst/>
          </a:prstGeom>
          <a:solidFill>
            <a:srgbClr val="33CCFF"/>
          </a:solidFill>
          <a:ln w="9525" cmpd="sng">
            <a:solidFill>
              <a:schemeClr val="tx1"/>
            </a:solidFill>
            <a:miter lim="800000"/>
            <a:headEnd/>
            <a:tailEnd/>
          </a:ln>
          <a:effectLst/>
        </p:spPr>
        <p:txBody>
          <a:bodyPr wrap="none" anchor="ctr"/>
          <a:lstStyle/>
          <a:p>
            <a:pPr algn="ctr">
              <a:buFont typeface="Arial" panose="020B0604020202020204" pitchFamily="34" charset="0"/>
              <a:buNone/>
              <a:defRPr/>
            </a:pPr>
            <a:endParaRPr lang="zh-CN" altLang="zh-CN" sz="3200" i="0" baseline="0">
              <a:effectLst>
                <a:outerShdw blurRad="38100" dist="38100" dir="2700000" algn="tl">
                  <a:srgbClr val="FFFFFF"/>
                </a:outerShdw>
              </a:effectLst>
              <a:ea typeface="宋体" pitchFamily="2" charset="-122"/>
            </a:endParaRPr>
          </a:p>
        </p:txBody>
      </p:sp>
      <p:sp>
        <p:nvSpPr>
          <p:cNvPr id="11267" name="Text Box 3">
            <a:extLst>
              <a:ext uri="{FF2B5EF4-FFF2-40B4-BE49-F238E27FC236}">
                <a16:creationId xmlns:a16="http://schemas.microsoft.com/office/drawing/2014/main" id="{A5D02EF6-B0CD-0F9F-A59E-F2B4D807297F}"/>
              </a:ext>
            </a:extLst>
          </p:cNvPr>
          <p:cNvSpPr txBox="1">
            <a:spLocks noChangeArrowheads="1"/>
          </p:cNvSpPr>
          <p:nvPr/>
        </p:nvSpPr>
        <p:spPr bwMode="auto">
          <a:xfrm>
            <a:off x="228600" y="76200"/>
            <a:ext cx="3467100" cy="579438"/>
          </a:xfrm>
          <a:prstGeom prst="rect">
            <a:avLst/>
          </a:prstGeom>
          <a:noFill/>
          <a:ln w="9525">
            <a:noFill/>
            <a:miter lim="800000"/>
            <a:headEnd/>
            <a:tailEnd/>
          </a:ln>
          <a:effectLst/>
        </p:spPr>
        <p:txBody>
          <a:bodyPr wrap="none">
            <a:spAutoFit/>
          </a:bodyPr>
          <a:lstStyle/>
          <a:p>
            <a:pPr>
              <a:buFont typeface="Arial" panose="020B0604020202020204" pitchFamily="34" charset="0"/>
              <a:buNone/>
              <a:defRPr/>
            </a:pPr>
            <a:r>
              <a:rPr lang="zh-CN" altLang="en-US" sz="3200" i="0" baseline="0">
                <a:effectLst>
                  <a:outerShdw blurRad="38100" dist="38100" dir="2700000" algn="tl">
                    <a:srgbClr val="C0C0C0"/>
                  </a:outerShdw>
                </a:effectLst>
                <a:latin typeface="Times" pitchFamily="2" charset="0"/>
                <a:ea typeface="宋体" pitchFamily="2" charset="-122"/>
              </a:rPr>
              <a:t>3-2   周期模拟信号</a:t>
            </a:r>
          </a:p>
        </p:txBody>
      </p:sp>
      <p:sp>
        <p:nvSpPr>
          <p:cNvPr id="12293" name="Text Box 4">
            <a:extLst>
              <a:ext uri="{FF2B5EF4-FFF2-40B4-BE49-F238E27FC236}">
                <a16:creationId xmlns:a16="http://schemas.microsoft.com/office/drawing/2014/main" id="{FA3551D8-0B11-0D77-6B45-BDD3CE14B563}"/>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zh-CN" sz="1800" i="0" baseline="0">
              <a:ea typeface="宋体" panose="02010600030101010101" pitchFamily="2" charset="-122"/>
            </a:endParaRPr>
          </a:p>
        </p:txBody>
      </p:sp>
      <p:sp>
        <p:nvSpPr>
          <p:cNvPr id="11269" name="Rectangle 5">
            <a:extLst>
              <a:ext uri="{FF2B5EF4-FFF2-40B4-BE49-F238E27FC236}">
                <a16:creationId xmlns:a16="http://schemas.microsoft.com/office/drawing/2014/main" id="{672B8DFD-F7DE-0AB1-706F-D20E6A996949}"/>
              </a:ext>
            </a:extLst>
          </p:cNvPr>
          <p:cNvSpPr>
            <a:spLocks noChangeArrowheads="1"/>
          </p:cNvSpPr>
          <p:nvPr/>
        </p:nvSpPr>
        <p:spPr bwMode="auto">
          <a:xfrm>
            <a:off x="76200" y="1204913"/>
            <a:ext cx="8610600" cy="1798637"/>
          </a:xfrm>
          <a:prstGeom prst="rect">
            <a:avLst/>
          </a:prstGeom>
          <a:noFill/>
          <a:ln w="9525">
            <a:noFill/>
            <a:miter lim="800000"/>
            <a:headEnd/>
            <a:tailEnd/>
          </a:ln>
          <a:effectLst/>
        </p:spPr>
        <p:txBody>
          <a:bodyPr anchor="ctr">
            <a:spAutoFit/>
          </a:bodyPr>
          <a:lstStyle/>
          <a:p>
            <a:pPr algn="just" eaLnBrk="1" hangingPunct="1">
              <a:buFont typeface="Arial" panose="020B0604020202020204" pitchFamily="34" charset="0"/>
              <a:buNone/>
              <a:defRPr/>
            </a:pPr>
            <a:r>
              <a:rPr lang="zh-CN" altLang="en-US" baseline="0">
                <a:effectLst>
                  <a:outerShdw blurRad="38100" dist="38100" dir="2700000" algn="tl">
                    <a:srgbClr val="C0C0C0"/>
                  </a:outerShdw>
                </a:effectLst>
                <a:ea typeface="宋体" pitchFamily="2" charset="-122"/>
              </a:rPr>
              <a:t>周期模拟信号可以分为简单类型或复合类型两种。简单类型模拟信号，即正弦波</a:t>
            </a:r>
            <a:r>
              <a:rPr lang="en-US" altLang="zh-CN" baseline="0">
                <a:effectLst>
                  <a:outerShdw blurRad="38100" dist="38100" dir="2700000" algn="tl">
                    <a:srgbClr val="C0C0C0"/>
                  </a:outerShdw>
                </a:effectLst>
                <a:ea typeface="宋体" pitchFamily="2" charset="-122"/>
              </a:rPr>
              <a:t>(sine wave)</a:t>
            </a:r>
            <a:r>
              <a:rPr lang="zh-CN" altLang="en-US" baseline="0">
                <a:effectLst>
                  <a:outerShdw blurRad="38100" dist="38100" dir="2700000" algn="tl">
                    <a:srgbClr val="C0C0C0"/>
                  </a:outerShdw>
                </a:effectLst>
                <a:ea typeface="宋体" pitchFamily="2" charset="-122"/>
              </a:rPr>
              <a:t>，不能再分解为更简单的信号。而复合型模拟信号则是由多个正弦波信号组成的。</a:t>
            </a:r>
          </a:p>
        </p:txBody>
      </p:sp>
      <p:sp>
        <p:nvSpPr>
          <p:cNvPr id="12295" name="Rectangle 6">
            <a:extLst>
              <a:ext uri="{FF2B5EF4-FFF2-40B4-BE49-F238E27FC236}">
                <a16:creationId xmlns:a16="http://schemas.microsoft.com/office/drawing/2014/main" id="{A6E940C5-3A56-FA35-8446-7DA798A9B200}"/>
              </a:ext>
            </a:extLst>
          </p:cNvPr>
          <p:cNvSpPr>
            <a:spLocks noChangeArrowheads="1"/>
          </p:cNvSpPr>
          <p:nvPr/>
        </p:nvSpPr>
        <p:spPr bwMode="auto">
          <a:xfrm>
            <a:off x="228600" y="4286250"/>
            <a:ext cx="56388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zh-CN" altLang="en-US" sz="2400" i="0" baseline="0">
                <a:solidFill>
                  <a:srgbClr val="0033CC"/>
                </a:solidFill>
                <a:ea typeface="宋体" panose="02010600030101010101" pitchFamily="2" charset="-122"/>
              </a:rPr>
              <a:t>正弦波</a:t>
            </a:r>
          </a:p>
          <a:p>
            <a:pPr>
              <a:buClr>
                <a:schemeClr val="tx1"/>
              </a:buClr>
              <a:buSzPct val="117000"/>
              <a:buFont typeface="Wingdings" panose="05000000000000000000" pitchFamily="2" charset="2"/>
              <a:buNone/>
            </a:pPr>
            <a:r>
              <a:rPr lang="zh-CN" altLang="en-US" sz="2400" i="0" baseline="0">
                <a:solidFill>
                  <a:srgbClr val="0033CC"/>
                </a:solidFill>
                <a:ea typeface="宋体" panose="02010600030101010101" pitchFamily="2" charset="-122"/>
              </a:rPr>
              <a:t>波长</a:t>
            </a:r>
          </a:p>
          <a:p>
            <a:pPr>
              <a:buClr>
                <a:schemeClr val="tx1"/>
              </a:buClr>
              <a:buSzPct val="117000"/>
              <a:buFont typeface="Wingdings" panose="05000000000000000000" pitchFamily="2" charset="2"/>
              <a:buNone/>
            </a:pPr>
            <a:r>
              <a:rPr lang="zh-CN" altLang="en-US" sz="2400" i="0" baseline="0">
                <a:solidFill>
                  <a:srgbClr val="0033CC"/>
                </a:solidFill>
                <a:ea typeface="宋体" panose="02010600030101010101" pitchFamily="2" charset="-122"/>
              </a:rPr>
              <a:t>时域和频域</a:t>
            </a:r>
          </a:p>
          <a:p>
            <a:pPr>
              <a:buClr>
                <a:schemeClr val="tx1"/>
              </a:buClr>
              <a:buSzPct val="117000"/>
              <a:buFont typeface="Wingdings" panose="05000000000000000000" pitchFamily="2" charset="2"/>
              <a:buNone/>
            </a:pPr>
            <a:r>
              <a:rPr lang="zh-CN" altLang="en-US" sz="2400" i="0" baseline="0">
                <a:solidFill>
                  <a:srgbClr val="0033CC"/>
                </a:solidFill>
                <a:ea typeface="宋体" panose="02010600030101010101" pitchFamily="2" charset="-122"/>
              </a:rPr>
              <a:t>复合信号</a:t>
            </a:r>
          </a:p>
          <a:p>
            <a:pPr>
              <a:buClr>
                <a:schemeClr val="tx1"/>
              </a:buClr>
              <a:buSzPct val="117000"/>
              <a:buFont typeface="Wingdings" panose="05000000000000000000" pitchFamily="2" charset="2"/>
              <a:buNone/>
            </a:pPr>
            <a:r>
              <a:rPr lang="zh-CN" altLang="en-US" sz="2400" i="0" baseline="0">
                <a:solidFill>
                  <a:srgbClr val="0033CC"/>
                </a:solidFill>
                <a:ea typeface="宋体" panose="02010600030101010101" pitchFamily="2" charset="-122"/>
              </a:rPr>
              <a:t>带宽</a:t>
            </a:r>
          </a:p>
        </p:txBody>
      </p:sp>
      <p:sp>
        <p:nvSpPr>
          <p:cNvPr id="11271" name="Text Box 7">
            <a:extLst>
              <a:ext uri="{FF2B5EF4-FFF2-40B4-BE49-F238E27FC236}">
                <a16:creationId xmlns:a16="http://schemas.microsoft.com/office/drawing/2014/main" id="{5AB5F95A-6AEA-B4E4-67FD-1E224754ED1E}"/>
              </a:ext>
            </a:extLst>
          </p:cNvPr>
          <p:cNvSpPr txBox="1">
            <a:spLocks noChangeArrowheads="1"/>
          </p:cNvSpPr>
          <p:nvPr/>
        </p:nvSpPr>
        <p:spPr bwMode="auto">
          <a:xfrm>
            <a:off x="304800" y="3810000"/>
            <a:ext cx="2790825" cy="519113"/>
          </a:xfrm>
          <a:prstGeom prst="rect">
            <a:avLst/>
          </a:prstGeom>
          <a:noFill/>
          <a:ln w="9525">
            <a:noFill/>
            <a:miter lim="800000"/>
            <a:headEnd/>
            <a:tailEnd/>
          </a:ln>
          <a:effectLst/>
        </p:spPr>
        <p:txBody>
          <a:bodyPr wrap="none">
            <a:spAutoFit/>
          </a:bodyPr>
          <a:lstStyle/>
          <a:p>
            <a:pPr algn="ctr">
              <a:buFont typeface="Arial" panose="020B0604020202020204" pitchFamily="34" charset="0"/>
              <a:buNone/>
              <a:defRPr/>
            </a:pPr>
            <a:r>
              <a:rPr lang="zh-CN" altLang="en-US" u="sng" baseline="0">
                <a:solidFill>
                  <a:schemeClr val="hlink"/>
                </a:solidFill>
                <a:effectLst>
                  <a:outerShdw blurRad="38100" dist="38100" dir="2700000" algn="tl">
                    <a:srgbClr val="C0C0C0"/>
                  </a:outerShdw>
                </a:effectLst>
                <a:ea typeface="宋体" pitchFamily="2" charset="-122"/>
              </a:rPr>
              <a:t>本节讨论的主题</a:t>
            </a:r>
            <a:r>
              <a:rPr lang="en-US" altLang="zh-CN" u="sng" baseline="0">
                <a:solidFill>
                  <a:schemeClr val="hlink"/>
                </a:solidFill>
                <a:effectLst>
                  <a:outerShdw blurRad="38100" dist="38100" dir="2700000" algn="tl">
                    <a:srgbClr val="C0C0C0"/>
                  </a:outerShdw>
                </a:effectLst>
                <a:ea typeface="宋体" pitchFamily="2" charset="-122"/>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1">
            <a:extLst>
              <a:ext uri="{FF2B5EF4-FFF2-40B4-BE49-F238E27FC236}">
                <a16:creationId xmlns:a16="http://schemas.microsoft.com/office/drawing/2014/main" id="{2F2E8A73-155A-562B-9C29-C01EAB44314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C3349D6D-97BE-4F32-BE23-7AEF9474B5B6}" type="slidenum">
              <a:rPr lang="en-US" altLang="zh-CN" sz="2000" i="0" baseline="0" smtClean="0">
                <a:latin typeface="Arial" panose="020B0604020202020204" pitchFamily="34" charset="0"/>
              </a:rPr>
              <a:pPr/>
              <a:t>10</a:t>
            </a:fld>
            <a:endParaRPr lang="en-US" altLang="zh-CN" sz="2000" i="0" baseline="0">
              <a:latin typeface="Arial" panose="020B0604020202020204" pitchFamily="34" charset="0"/>
            </a:endParaRPr>
          </a:p>
        </p:txBody>
      </p:sp>
      <p:sp>
        <p:nvSpPr>
          <p:cNvPr id="13315" name="Line 2">
            <a:extLst>
              <a:ext uri="{FF2B5EF4-FFF2-40B4-BE49-F238E27FC236}">
                <a16:creationId xmlns:a16="http://schemas.microsoft.com/office/drawing/2014/main" id="{3510908C-952D-E483-6AEC-E1A955DD40D7}"/>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6" name="Line 3">
            <a:extLst>
              <a:ext uri="{FF2B5EF4-FFF2-40B4-BE49-F238E27FC236}">
                <a16:creationId xmlns:a16="http://schemas.microsoft.com/office/drawing/2014/main" id="{8E4D5E87-261F-69B1-769C-F5DEA33FFD9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7" name="Text Box 4">
            <a:extLst>
              <a:ext uri="{FF2B5EF4-FFF2-40B4-BE49-F238E27FC236}">
                <a16:creationId xmlns:a16="http://schemas.microsoft.com/office/drawing/2014/main" id="{7670289D-B19C-BF32-ED92-315FF90F17B8}"/>
              </a:ext>
            </a:extLst>
          </p:cNvPr>
          <p:cNvSpPr txBox="1">
            <a:spLocks noChangeArrowheads="1"/>
          </p:cNvSpPr>
          <p:nvPr/>
        </p:nvSpPr>
        <p:spPr bwMode="auto">
          <a:xfrm>
            <a:off x="304800" y="762000"/>
            <a:ext cx="185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3.2  </a:t>
            </a:r>
            <a:r>
              <a:rPr lang="zh-CN" altLang="en-US" sz="2000" baseline="0">
                <a:ea typeface="宋体" panose="02010600030101010101" pitchFamily="2" charset="-122"/>
              </a:rPr>
              <a:t>正弦波</a:t>
            </a:r>
          </a:p>
        </p:txBody>
      </p:sp>
      <p:sp>
        <p:nvSpPr>
          <p:cNvPr id="13318" name="Line 5">
            <a:extLst>
              <a:ext uri="{FF2B5EF4-FFF2-40B4-BE49-F238E27FC236}">
                <a16:creationId xmlns:a16="http://schemas.microsoft.com/office/drawing/2014/main" id="{518F271F-145F-7301-FAAC-334E8E99208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3319" name="Picture 6">
            <a:extLst>
              <a:ext uri="{FF2B5EF4-FFF2-40B4-BE49-F238E27FC236}">
                <a16:creationId xmlns:a16="http://schemas.microsoft.com/office/drawing/2014/main" id="{4EA64549-EE49-A8B4-7219-C2086668BF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725" y="2786063"/>
            <a:ext cx="7075488" cy="208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1">
            <a:extLst>
              <a:ext uri="{FF2B5EF4-FFF2-40B4-BE49-F238E27FC236}">
                <a16:creationId xmlns:a16="http://schemas.microsoft.com/office/drawing/2014/main" id="{E483A74E-3E92-B656-2B18-B7F7841C34E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9060A6C7-2146-4FFE-BF14-4C6ABA4B95D8}" type="slidenum">
              <a:rPr lang="en-US" altLang="zh-CN" sz="2000" i="0" baseline="0" smtClean="0">
                <a:latin typeface="Arial" panose="020B0604020202020204" pitchFamily="34" charset="0"/>
              </a:rPr>
              <a:pPr/>
              <a:t>11</a:t>
            </a:fld>
            <a:endParaRPr lang="en-US" altLang="zh-CN" sz="2000" i="0" baseline="0">
              <a:latin typeface="Arial" panose="020B0604020202020204" pitchFamily="34" charset="0"/>
            </a:endParaRPr>
          </a:p>
        </p:txBody>
      </p:sp>
      <p:sp>
        <p:nvSpPr>
          <p:cNvPr id="14339" name="Rectangle 2">
            <a:extLst>
              <a:ext uri="{FF2B5EF4-FFF2-40B4-BE49-F238E27FC236}">
                <a16:creationId xmlns:a16="http://schemas.microsoft.com/office/drawing/2014/main" id="{87448E18-20C6-1FE6-6A56-6869F2E51DE1}"/>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4340" name="Rectangle 3">
            <a:extLst>
              <a:ext uri="{FF2B5EF4-FFF2-40B4-BE49-F238E27FC236}">
                <a16:creationId xmlns:a16="http://schemas.microsoft.com/office/drawing/2014/main" id="{ED8AB0BA-5CB3-9962-2F50-7B6A5C3BB270}"/>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4341" name="Rectangle 4">
            <a:extLst>
              <a:ext uri="{FF2B5EF4-FFF2-40B4-BE49-F238E27FC236}">
                <a16:creationId xmlns:a16="http://schemas.microsoft.com/office/drawing/2014/main" id="{10102F75-3059-34AB-E930-0FFF7E235816}"/>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4342" name="Rectangle 5">
            <a:extLst>
              <a:ext uri="{FF2B5EF4-FFF2-40B4-BE49-F238E27FC236}">
                <a16:creationId xmlns:a16="http://schemas.microsoft.com/office/drawing/2014/main" id="{15C56F2A-157F-2CEE-99F7-34478AD00732}"/>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4343" name="Rectangle 6">
            <a:extLst>
              <a:ext uri="{FF2B5EF4-FFF2-40B4-BE49-F238E27FC236}">
                <a16:creationId xmlns:a16="http://schemas.microsoft.com/office/drawing/2014/main" id="{117EDAD5-9F77-E798-0523-0BD25968586B}"/>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4344" name="Rectangle 7">
            <a:extLst>
              <a:ext uri="{FF2B5EF4-FFF2-40B4-BE49-F238E27FC236}">
                <a16:creationId xmlns:a16="http://schemas.microsoft.com/office/drawing/2014/main" id="{64F19329-7B4B-3BE2-115F-C1B5F79F6AE2}"/>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4345" name="Rectangle 8">
            <a:extLst>
              <a:ext uri="{FF2B5EF4-FFF2-40B4-BE49-F238E27FC236}">
                <a16:creationId xmlns:a16="http://schemas.microsoft.com/office/drawing/2014/main" id="{6486964D-826C-9277-6959-D0660FB1E5F6}"/>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4346" name="Line 9">
            <a:extLst>
              <a:ext uri="{FF2B5EF4-FFF2-40B4-BE49-F238E27FC236}">
                <a16:creationId xmlns:a16="http://schemas.microsoft.com/office/drawing/2014/main" id="{0171E1C2-781F-6FE5-8BB6-495F159FB786}"/>
              </a:ext>
            </a:extLst>
          </p:cNvPr>
          <p:cNvSpPr>
            <a:spLocks noChangeShapeType="1"/>
          </p:cNvSpPr>
          <p:nvPr/>
        </p:nvSpPr>
        <p:spPr bwMode="auto">
          <a:xfrm>
            <a:off x="457200" y="2819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7" name="Line 10">
            <a:extLst>
              <a:ext uri="{FF2B5EF4-FFF2-40B4-BE49-F238E27FC236}">
                <a16:creationId xmlns:a16="http://schemas.microsoft.com/office/drawing/2014/main" id="{EC67A5DF-BE76-DE5E-A42C-252A1762AB7A}"/>
              </a:ext>
            </a:extLst>
          </p:cNvPr>
          <p:cNvSpPr>
            <a:spLocks noChangeShapeType="1"/>
          </p:cNvSpPr>
          <p:nvPr/>
        </p:nvSpPr>
        <p:spPr bwMode="auto">
          <a:xfrm>
            <a:off x="457200" y="4038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8" name="Rectangle 11">
            <a:extLst>
              <a:ext uri="{FF2B5EF4-FFF2-40B4-BE49-F238E27FC236}">
                <a16:creationId xmlns:a16="http://schemas.microsoft.com/office/drawing/2014/main" id="{671D94E9-20BB-C801-BFC5-117C95B3D357}"/>
              </a:ext>
            </a:extLst>
          </p:cNvPr>
          <p:cNvSpPr>
            <a:spLocks noChangeArrowheads="1"/>
          </p:cNvSpPr>
          <p:nvPr/>
        </p:nvSpPr>
        <p:spPr bwMode="auto">
          <a:xfrm>
            <a:off x="533400" y="2911475"/>
            <a:ext cx="8077200" cy="1077913"/>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单个正弦波可用三个参数表示：</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峰值振幅、频率、相位。</a:t>
            </a:r>
          </a:p>
        </p:txBody>
      </p:sp>
      <p:grpSp>
        <p:nvGrpSpPr>
          <p:cNvPr id="14349" name="Group 12">
            <a:extLst>
              <a:ext uri="{FF2B5EF4-FFF2-40B4-BE49-F238E27FC236}">
                <a16:creationId xmlns:a16="http://schemas.microsoft.com/office/drawing/2014/main" id="{52450491-EEBF-3172-0E18-4000F55AF48B}"/>
              </a:ext>
            </a:extLst>
          </p:cNvPr>
          <p:cNvGrpSpPr>
            <a:grpSpLocks/>
          </p:cNvGrpSpPr>
          <p:nvPr/>
        </p:nvGrpSpPr>
        <p:grpSpPr bwMode="auto">
          <a:xfrm>
            <a:off x="457200" y="2209800"/>
            <a:ext cx="1143000" cy="566738"/>
            <a:chOff x="0" y="0"/>
            <a:chExt cx="720" cy="357"/>
          </a:xfrm>
        </p:grpSpPr>
        <p:pic>
          <p:nvPicPr>
            <p:cNvPr id="14350" name="Picture 13">
              <a:extLst>
                <a:ext uri="{FF2B5EF4-FFF2-40B4-BE49-F238E27FC236}">
                  <a16:creationId xmlns:a16="http://schemas.microsoft.com/office/drawing/2014/main" id="{072A5E1D-AD4B-D917-14ED-0B58895CAE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1" name="Text Box 14">
              <a:extLst>
                <a:ext uri="{FF2B5EF4-FFF2-40B4-BE49-F238E27FC236}">
                  <a16:creationId xmlns:a16="http://schemas.microsoft.com/office/drawing/2014/main" id="{F119528B-38B2-505F-E21C-E6B3A5077FFC}"/>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1">
            <a:extLst>
              <a:ext uri="{FF2B5EF4-FFF2-40B4-BE49-F238E27FC236}">
                <a16:creationId xmlns:a16="http://schemas.microsoft.com/office/drawing/2014/main" id="{EF870CBC-8856-D9F0-C728-2ABD7451EAA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1BDB2B6C-5D23-451A-B2A0-CADF7133AC77}" type="slidenum">
              <a:rPr lang="en-US" altLang="zh-CN" sz="2000" i="0" baseline="0" smtClean="0">
                <a:latin typeface="Arial" panose="020B0604020202020204" pitchFamily="34" charset="0"/>
              </a:rPr>
              <a:pPr/>
              <a:t>12</a:t>
            </a:fld>
            <a:endParaRPr lang="en-US" altLang="zh-CN" sz="2000" i="0" baseline="0">
              <a:latin typeface="Arial" panose="020B0604020202020204" pitchFamily="34" charset="0"/>
            </a:endParaRPr>
          </a:p>
        </p:txBody>
      </p:sp>
      <p:sp>
        <p:nvSpPr>
          <p:cNvPr id="15363" name="Rectangle 2">
            <a:extLst>
              <a:ext uri="{FF2B5EF4-FFF2-40B4-BE49-F238E27FC236}">
                <a16:creationId xmlns:a16="http://schemas.microsoft.com/office/drawing/2014/main" id="{9EC0DCF0-A09B-6C3E-11EB-82830F80B1ED}"/>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5364" name="Rectangle 3">
            <a:extLst>
              <a:ext uri="{FF2B5EF4-FFF2-40B4-BE49-F238E27FC236}">
                <a16:creationId xmlns:a16="http://schemas.microsoft.com/office/drawing/2014/main" id="{27837BFC-B986-ED59-ECAA-BAEC0EC2992A}"/>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5365" name="Group 4">
            <a:extLst>
              <a:ext uri="{FF2B5EF4-FFF2-40B4-BE49-F238E27FC236}">
                <a16:creationId xmlns:a16="http://schemas.microsoft.com/office/drawing/2014/main" id="{AFC954F2-68FE-A019-108A-71380DD3F12D}"/>
              </a:ext>
            </a:extLst>
          </p:cNvPr>
          <p:cNvGrpSpPr>
            <a:grpSpLocks/>
          </p:cNvGrpSpPr>
          <p:nvPr/>
        </p:nvGrpSpPr>
        <p:grpSpPr bwMode="auto">
          <a:xfrm>
            <a:off x="490538" y="773113"/>
            <a:ext cx="738187" cy="474662"/>
            <a:chOff x="0" y="0"/>
            <a:chExt cx="465" cy="299"/>
          </a:xfrm>
        </p:grpSpPr>
        <p:sp>
          <p:nvSpPr>
            <p:cNvPr id="15372" name="Rectangle 5">
              <a:extLst>
                <a:ext uri="{FF2B5EF4-FFF2-40B4-BE49-F238E27FC236}">
                  <a16:creationId xmlns:a16="http://schemas.microsoft.com/office/drawing/2014/main" id="{5EBA00EF-FC8A-BAF7-55AE-EB63992E898C}"/>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5373" name="Rectangle 6">
              <a:extLst>
                <a:ext uri="{FF2B5EF4-FFF2-40B4-BE49-F238E27FC236}">
                  <a16:creationId xmlns:a16="http://schemas.microsoft.com/office/drawing/2014/main" id="{2EED57AC-7FE9-083F-7FE0-F8EF0AB019C6}"/>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5366" name="Rectangle 7">
            <a:extLst>
              <a:ext uri="{FF2B5EF4-FFF2-40B4-BE49-F238E27FC236}">
                <a16:creationId xmlns:a16="http://schemas.microsoft.com/office/drawing/2014/main" id="{3D2471A3-3226-130F-8FE0-AEE5B6B0F2BC}"/>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5367" name="Rectangle 8">
            <a:extLst>
              <a:ext uri="{FF2B5EF4-FFF2-40B4-BE49-F238E27FC236}">
                <a16:creationId xmlns:a16="http://schemas.microsoft.com/office/drawing/2014/main" id="{DC3D1922-7316-B719-B7AE-5A773F0D87DA}"/>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5368" name="Rectangle 9">
            <a:extLst>
              <a:ext uri="{FF2B5EF4-FFF2-40B4-BE49-F238E27FC236}">
                <a16:creationId xmlns:a16="http://schemas.microsoft.com/office/drawing/2014/main" id="{AD8E09BF-21EF-2751-641B-A10AA0D74599}"/>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5369" name="Rectangle 10">
            <a:extLst>
              <a:ext uri="{FF2B5EF4-FFF2-40B4-BE49-F238E27FC236}">
                <a16:creationId xmlns:a16="http://schemas.microsoft.com/office/drawing/2014/main" id="{B5CDDDE2-D7ED-4239-C36F-0D5F758D61AA}"/>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5370" name="Rectangle 11">
            <a:extLst>
              <a:ext uri="{FF2B5EF4-FFF2-40B4-BE49-F238E27FC236}">
                <a16:creationId xmlns:a16="http://schemas.microsoft.com/office/drawing/2014/main" id="{8FCDB26A-85A3-C8DF-6ED2-A08A392F6231}"/>
              </a:ext>
            </a:extLst>
          </p:cNvPr>
          <p:cNvSpPr>
            <a:spLocks noChangeArrowheads="1"/>
          </p:cNvSpPr>
          <p:nvPr/>
        </p:nvSpPr>
        <p:spPr bwMode="auto">
          <a:xfrm>
            <a:off x="228600" y="1447800"/>
            <a:ext cx="8534400"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家用电源的功率可以用峰值振幅为155V到170V的正弦波表示。但是，大家都知道美国家用的电压是110V到120V。不一样的原因在于这些均方根(rms)值。信号平方后再计算平均振幅。峰值等于 </a:t>
            </a:r>
            <a:r>
              <a:rPr lang="zh-CN" altLang="en-US" baseline="0">
                <a:solidFill>
                  <a:schemeClr val="hlink"/>
                </a:solidFill>
                <a:ea typeface="宋体" panose="02010600030101010101" pitchFamily="2" charset="-122"/>
              </a:rPr>
              <a:t>2</a:t>
            </a:r>
            <a:r>
              <a:rPr lang="zh-CN" altLang="en-US" sz="3200" baseline="20000">
                <a:solidFill>
                  <a:schemeClr val="hlink"/>
                </a:solidFill>
                <a:ea typeface="宋体" panose="02010600030101010101" pitchFamily="2" charset="-122"/>
              </a:rPr>
              <a:t>½</a:t>
            </a:r>
            <a:r>
              <a:rPr lang="zh-CN" altLang="en-US" baseline="0">
                <a:solidFill>
                  <a:schemeClr val="hlink"/>
                </a:solidFill>
                <a:ea typeface="宋体" panose="02010600030101010101" pitchFamily="2" charset="-122"/>
              </a:rPr>
              <a:t> × rms</a:t>
            </a:r>
            <a:r>
              <a:rPr lang="zh-CN" altLang="en-US" baseline="0">
                <a:ea typeface="宋体" panose="02010600030101010101" pitchFamily="2" charset="-122"/>
              </a:rPr>
              <a:t>。</a:t>
            </a:r>
          </a:p>
        </p:txBody>
      </p:sp>
      <p:sp>
        <p:nvSpPr>
          <p:cNvPr id="15371" name="Text Box 12">
            <a:extLst>
              <a:ext uri="{FF2B5EF4-FFF2-40B4-BE49-F238E27FC236}">
                <a16:creationId xmlns:a16="http://schemas.microsoft.com/office/drawing/2014/main" id="{329A120E-339C-EDDB-D5AB-D6C2319B765E}"/>
              </a:ext>
            </a:extLst>
          </p:cNvPr>
          <p:cNvSpPr txBox="1">
            <a:spLocks noChangeArrowheads="1"/>
          </p:cNvSpPr>
          <p:nvPr/>
        </p:nvSpPr>
        <p:spPr bwMode="auto">
          <a:xfrm>
            <a:off x="1143000" y="182563"/>
            <a:ext cx="1401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1">
            <a:extLst>
              <a:ext uri="{FF2B5EF4-FFF2-40B4-BE49-F238E27FC236}">
                <a16:creationId xmlns:a16="http://schemas.microsoft.com/office/drawing/2014/main" id="{548AF50A-5E15-BDBE-8648-C33134EEC77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EFE66764-EFE8-4BC4-9BB7-36B4AB31676E}" type="slidenum">
              <a:rPr lang="en-US" altLang="zh-CN" sz="2000" i="0" baseline="0" smtClean="0">
                <a:latin typeface="Arial" panose="020B0604020202020204" pitchFamily="34" charset="0"/>
              </a:rPr>
              <a:pPr/>
              <a:t>13</a:t>
            </a:fld>
            <a:endParaRPr lang="en-US" altLang="zh-CN" sz="2000" i="0" baseline="0">
              <a:latin typeface="Arial" panose="020B0604020202020204" pitchFamily="34" charset="0"/>
            </a:endParaRPr>
          </a:p>
        </p:txBody>
      </p:sp>
      <p:sp>
        <p:nvSpPr>
          <p:cNvPr id="16387" name="Line 2">
            <a:extLst>
              <a:ext uri="{FF2B5EF4-FFF2-40B4-BE49-F238E27FC236}">
                <a16:creationId xmlns:a16="http://schemas.microsoft.com/office/drawing/2014/main" id="{FBB9DC2A-C41E-9CEA-3187-997DE51008D1}"/>
              </a:ext>
            </a:extLst>
          </p:cNvPr>
          <p:cNvSpPr>
            <a:spLocks noChangeShapeType="1"/>
          </p:cNvSpPr>
          <p:nvPr/>
        </p:nvSpPr>
        <p:spPr bwMode="auto">
          <a:xfrm>
            <a:off x="152400" y="762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8" name="Line 3">
            <a:extLst>
              <a:ext uri="{FF2B5EF4-FFF2-40B4-BE49-F238E27FC236}">
                <a16:creationId xmlns:a16="http://schemas.microsoft.com/office/drawing/2014/main" id="{F3C13648-FF64-6CB3-6D20-257642128221}"/>
              </a:ext>
            </a:extLst>
          </p:cNvPr>
          <p:cNvSpPr>
            <a:spLocks noChangeShapeType="1"/>
          </p:cNvSpPr>
          <p:nvPr/>
        </p:nvSpPr>
        <p:spPr bwMode="auto">
          <a:xfrm>
            <a:off x="152400" y="11430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9" name="Text Box 4">
            <a:extLst>
              <a:ext uri="{FF2B5EF4-FFF2-40B4-BE49-F238E27FC236}">
                <a16:creationId xmlns:a16="http://schemas.microsoft.com/office/drawing/2014/main" id="{542072BC-28D1-8B16-6217-74B4304BA7EB}"/>
              </a:ext>
            </a:extLst>
          </p:cNvPr>
          <p:cNvSpPr txBox="1">
            <a:spLocks noChangeArrowheads="1"/>
          </p:cNvSpPr>
          <p:nvPr/>
        </p:nvSpPr>
        <p:spPr bwMode="auto">
          <a:xfrm>
            <a:off x="304800" y="304800"/>
            <a:ext cx="5564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3.3  </a:t>
            </a:r>
            <a:r>
              <a:rPr lang="zh-CN" altLang="en-US" sz="2000" baseline="0">
                <a:ea typeface="宋体" panose="02010600030101010101" pitchFamily="2" charset="-122"/>
              </a:rPr>
              <a:t>相位和频率相同但振幅不同的两个信号</a:t>
            </a:r>
          </a:p>
        </p:txBody>
      </p:sp>
      <p:sp>
        <p:nvSpPr>
          <p:cNvPr id="16390" name="Line 5">
            <a:extLst>
              <a:ext uri="{FF2B5EF4-FFF2-40B4-BE49-F238E27FC236}">
                <a16:creationId xmlns:a16="http://schemas.microsoft.com/office/drawing/2014/main" id="{FE7F2703-13DF-ADEB-1CA6-9E38F4CF414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6391" name="Picture 6">
            <a:extLst>
              <a:ext uri="{FF2B5EF4-FFF2-40B4-BE49-F238E27FC236}">
                <a16:creationId xmlns:a16="http://schemas.microsoft.com/office/drawing/2014/main" id="{5A4B8684-2867-27D8-3A41-5D914F407E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295400"/>
            <a:ext cx="5475288" cy="470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2" name="Text Box 7">
            <a:extLst>
              <a:ext uri="{FF2B5EF4-FFF2-40B4-BE49-F238E27FC236}">
                <a16:creationId xmlns:a16="http://schemas.microsoft.com/office/drawing/2014/main" id="{5D5E78F3-75F8-C230-460F-114D32A12B46}"/>
              </a:ext>
            </a:extLst>
          </p:cNvPr>
          <p:cNvSpPr txBox="1">
            <a:spLocks noChangeArrowheads="1"/>
          </p:cNvSpPr>
          <p:nvPr/>
        </p:nvSpPr>
        <p:spPr bwMode="auto">
          <a:xfrm>
            <a:off x="1828800" y="3352800"/>
            <a:ext cx="2597150" cy="323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sz="2000">
                <a:ea typeface="宋体" panose="02010600030101010101" pitchFamily="2" charset="-122"/>
              </a:rPr>
              <a:t>a.</a:t>
            </a:r>
            <a:r>
              <a:rPr lang="zh-CN" altLang="en-US" sz="2000">
                <a:ea typeface="宋体" panose="02010600030101010101" pitchFamily="2" charset="-122"/>
              </a:rPr>
              <a:t>高峰值振幅的信号</a:t>
            </a:r>
          </a:p>
        </p:txBody>
      </p:sp>
      <p:sp>
        <p:nvSpPr>
          <p:cNvPr id="16393" name="Text Box 8">
            <a:extLst>
              <a:ext uri="{FF2B5EF4-FFF2-40B4-BE49-F238E27FC236}">
                <a16:creationId xmlns:a16="http://schemas.microsoft.com/office/drawing/2014/main" id="{CF7A8417-51C2-12ED-6255-A957A73F0895}"/>
              </a:ext>
            </a:extLst>
          </p:cNvPr>
          <p:cNvSpPr txBox="1">
            <a:spLocks noChangeArrowheads="1"/>
          </p:cNvSpPr>
          <p:nvPr/>
        </p:nvSpPr>
        <p:spPr bwMode="auto">
          <a:xfrm>
            <a:off x="1828800" y="5867400"/>
            <a:ext cx="2401888" cy="323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sz="2000">
                <a:ea typeface="宋体" panose="02010600030101010101" pitchFamily="2" charset="-122"/>
              </a:rPr>
              <a:t>b.</a:t>
            </a:r>
            <a:r>
              <a:rPr lang="zh-CN" altLang="en-US" sz="2000">
                <a:ea typeface="宋体" panose="02010600030101010101" pitchFamily="2" charset="-122"/>
              </a:rPr>
              <a:t>低峰值振幅的信号</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1">
            <a:extLst>
              <a:ext uri="{FF2B5EF4-FFF2-40B4-BE49-F238E27FC236}">
                <a16:creationId xmlns:a16="http://schemas.microsoft.com/office/drawing/2014/main" id="{8BFC62B2-D349-89CD-27EA-BEDA08D4156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F42DE577-F528-49FC-A78C-325062E37AC4}" type="slidenum">
              <a:rPr lang="en-US" altLang="zh-CN" sz="2000" i="0" baseline="0" smtClean="0">
                <a:latin typeface="Arial" panose="020B0604020202020204" pitchFamily="34" charset="0"/>
              </a:rPr>
              <a:pPr/>
              <a:t>14</a:t>
            </a:fld>
            <a:endParaRPr lang="en-US" altLang="zh-CN" sz="2000" i="0" baseline="0">
              <a:latin typeface="Arial" panose="020B0604020202020204" pitchFamily="34" charset="0"/>
            </a:endParaRPr>
          </a:p>
        </p:txBody>
      </p:sp>
      <p:sp>
        <p:nvSpPr>
          <p:cNvPr id="17411" name="Rectangle 2">
            <a:extLst>
              <a:ext uri="{FF2B5EF4-FFF2-40B4-BE49-F238E27FC236}">
                <a16:creationId xmlns:a16="http://schemas.microsoft.com/office/drawing/2014/main" id="{1FD0B71A-227D-E500-39C6-FE55C85CDC26}"/>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7412" name="Rectangle 3">
            <a:extLst>
              <a:ext uri="{FF2B5EF4-FFF2-40B4-BE49-F238E27FC236}">
                <a16:creationId xmlns:a16="http://schemas.microsoft.com/office/drawing/2014/main" id="{AF291C39-5FA3-A433-5FD0-DD4C538F6C1F}"/>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7413" name="Group 4">
            <a:extLst>
              <a:ext uri="{FF2B5EF4-FFF2-40B4-BE49-F238E27FC236}">
                <a16:creationId xmlns:a16="http://schemas.microsoft.com/office/drawing/2014/main" id="{8A49EEA5-58B3-65E7-6A7D-A379E62DAA40}"/>
              </a:ext>
            </a:extLst>
          </p:cNvPr>
          <p:cNvGrpSpPr>
            <a:grpSpLocks/>
          </p:cNvGrpSpPr>
          <p:nvPr/>
        </p:nvGrpSpPr>
        <p:grpSpPr bwMode="auto">
          <a:xfrm>
            <a:off x="490538" y="773113"/>
            <a:ext cx="738187" cy="474662"/>
            <a:chOff x="0" y="0"/>
            <a:chExt cx="465" cy="299"/>
          </a:xfrm>
        </p:grpSpPr>
        <p:sp>
          <p:nvSpPr>
            <p:cNvPr id="17420" name="Rectangle 5">
              <a:extLst>
                <a:ext uri="{FF2B5EF4-FFF2-40B4-BE49-F238E27FC236}">
                  <a16:creationId xmlns:a16="http://schemas.microsoft.com/office/drawing/2014/main" id="{20CFCFCF-1C2E-4221-8162-0CAFECEB89DD}"/>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7421" name="Rectangle 6">
              <a:extLst>
                <a:ext uri="{FF2B5EF4-FFF2-40B4-BE49-F238E27FC236}">
                  <a16:creationId xmlns:a16="http://schemas.microsoft.com/office/drawing/2014/main" id="{E40F1B67-A15B-78F1-9249-288312560378}"/>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7414" name="Rectangle 7">
            <a:extLst>
              <a:ext uri="{FF2B5EF4-FFF2-40B4-BE49-F238E27FC236}">
                <a16:creationId xmlns:a16="http://schemas.microsoft.com/office/drawing/2014/main" id="{D3057CFC-C60F-F764-DB74-55B66B96510F}"/>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7415" name="Rectangle 8">
            <a:extLst>
              <a:ext uri="{FF2B5EF4-FFF2-40B4-BE49-F238E27FC236}">
                <a16:creationId xmlns:a16="http://schemas.microsoft.com/office/drawing/2014/main" id="{C33F678F-C7C5-1186-BBCD-076A222B2C2D}"/>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7416" name="Rectangle 9">
            <a:extLst>
              <a:ext uri="{FF2B5EF4-FFF2-40B4-BE49-F238E27FC236}">
                <a16:creationId xmlns:a16="http://schemas.microsoft.com/office/drawing/2014/main" id="{91FFA581-2F48-EB60-9A25-07569BC40EC4}"/>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7417" name="Rectangle 10">
            <a:extLst>
              <a:ext uri="{FF2B5EF4-FFF2-40B4-BE49-F238E27FC236}">
                <a16:creationId xmlns:a16="http://schemas.microsoft.com/office/drawing/2014/main" id="{5F01B0DE-39CB-02B3-BACF-27D4A72058C0}"/>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7418" name="Rectangle 11">
            <a:extLst>
              <a:ext uri="{FF2B5EF4-FFF2-40B4-BE49-F238E27FC236}">
                <a16:creationId xmlns:a16="http://schemas.microsoft.com/office/drawing/2014/main" id="{8EC33EB9-6E90-23E0-6A29-D3F4D17F9C7E}"/>
              </a:ext>
            </a:extLst>
          </p:cNvPr>
          <p:cNvSpPr>
            <a:spLocks noChangeArrowheads="1"/>
          </p:cNvSpPr>
          <p:nvPr/>
        </p:nvSpPr>
        <p:spPr bwMode="auto">
          <a:xfrm>
            <a:off x="228600" y="14478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电池电压是恒定的；这个恒定值可以看做是一个正弦波，我们会在后面看到。例如</a:t>
            </a:r>
            <a:r>
              <a:rPr lang="en-US" altLang="zh-CN" baseline="0">
                <a:ea typeface="宋体" panose="02010600030101010101" pitchFamily="2" charset="-122"/>
              </a:rPr>
              <a:t>AA</a:t>
            </a:r>
            <a:r>
              <a:rPr lang="zh-CN" altLang="en-US" baseline="0">
                <a:ea typeface="宋体" panose="02010600030101010101" pitchFamily="2" charset="-122"/>
              </a:rPr>
              <a:t>电池的峰值通常是</a:t>
            </a:r>
            <a:r>
              <a:rPr lang="en-US" altLang="zh-CN" baseline="0">
                <a:ea typeface="宋体" panose="02010600030101010101" pitchFamily="2" charset="-122"/>
              </a:rPr>
              <a:t>1.5V</a:t>
            </a:r>
          </a:p>
        </p:txBody>
      </p:sp>
      <p:sp>
        <p:nvSpPr>
          <p:cNvPr id="17419" name="Text Box 12">
            <a:extLst>
              <a:ext uri="{FF2B5EF4-FFF2-40B4-BE49-F238E27FC236}">
                <a16:creationId xmlns:a16="http://schemas.microsoft.com/office/drawing/2014/main" id="{9756CEE9-5A88-EBB8-37E7-BA843584EEA0}"/>
              </a:ext>
            </a:extLst>
          </p:cNvPr>
          <p:cNvSpPr txBox="1">
            <a:spLocks noChangeArrowheads="1"/>
          </p:cNvSpPr>
          <p:nvPr/>
        </p:nvSpPr>
        <p:spPr bwMode="auto">
          <a:xfrm>
            <a:off x="1143000" y="182563"/>
            <a:ext cx="1300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1">
            <a:extLst>
              <a:ext uri="{FF2B5EF4-FFF2-40B4-BE49-F238E27FC236}">
                <a16:creationId xmlns:a16="http://schemas.microsoft.com/office/drawing/2014/main" id="{F2217C4C-F7B1-2D54-91F2-3E4A9610413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637A7457-8032-4DA5-94AC-4D75118A335D}" type="slidenum">
              <a:rPr lang="en-US" altLang="zh-CN" sz="2000" i="0" baseline="0" smtClean="0">
                <a:latin typeface="Arial" panose="020B0604020202020204" pitchFamily="34" charset="0"/>
              </a:rPr>
              <a:pPr/>
              <a:t>15</a:t>
            </a:fld>
            <a:endParaRPr lang="en-US" altLang="zh-CN" sz="2000" i="0" baseline="0">
              <a:latin typeface="Arial" panose="020B0604020202020204" pitchFamily="34" charset="0"/>
            </a:endParaRPr>
          </a:p>
        </p:txBody>
      </p:sp>
      <p:sp>
        <p:nvSpPr>
          <p:cNvPr id="18435" name="Rectangle 2">
            <a:extLst>
              <a:ext uri="{FF2B5EF4-FFF2-40B4-BE49-F238E27FC236}">
                <a16:creationId xmlns:a16="http://schemas.microsoft.com/office/drawing/2014/main" id="{30EB63D5-C485-0A37-E521-7C94EB922171}"/>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8436" name="Rectangle 3">
            <a:extLst>
              <a:ext uri="{FF2B5EF4-FFF2-40B4-BE49-F238E27FC236}">
                <a16:creationId xmlns:a16="http://schemas.microsoft.com/office/drawing/2014/main" id="{CE31771D-D5EA-EE44-D70A-263C15CF5E7E}"/>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8437" name="Rectangle 4">
            <a:extLst>
              <a:ext uri="{FF2B5EF4-FFF2-40B4-BE49-F238E27FC236}">
                <a16:creationId xmlns:a16="http://schemas.microsoft.com/office/drawing/2014/main" id="{D9791EF2-2728-39F1-ED90-5A05DA515ADC}"/>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8438" name="Rectangle 5">
            <a:extLst>
              <a:ext uri="{FF2B5EF4-FFF2-40B4-BE49-F238E27FC236}">
                <a16:creationId xmlns:a16="http://schemas.microsoft.com/office/drawing/2014/main" id="{EA6DAF9C-1821-19DA-8751-E9078C1FB28B}"/>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8439" name="Rectangle 6">
            <a:extLst>
              <a:ext uri="{FF2B5EF4-FFF2-40B4-BE49-F238E27FC236}">
                <a16:creationId xmlns:a16="http://schemas.microsoft.com/office/drawing/2014/main" id="{24A1BA04-8DB5-72A1-46D4-DF7496F2F022}"/>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8440" name="Rectangle 7">
            <a:extLst>
              <a:ext uri="{FF2B5EF4-FFF2-40B4-BE49-F238E27FC236}">
                <a16:creationId xmlns:a16="http://schemas.microsoft.com/office/drawing/2014/main" id="{69AA6803-5314-3613-CFF4-9917439B8673}"/>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8441" name="Rectangle 8">
            <a:extLst>
              <a:ext uri="{FF2B5EF4-FFF2-40B4-BE49-F238E27FC236}">
                <a16:creationId xmlns:a16="http://schemas.microsoft.com/office/drawing/2014/main" id="{0EFE2B82-7697-6F69-6A5A-756FCDCB36A7}"/>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8442" name="Line 9">
            <a:extLst>
              <a:ext uri="{FF2B5EF4-FFF2-40B4-BE49-F238E27FC236}">
                <a16:creationId xmlns:a16="http://schemas.microsoft.com/office/drawing/2014/main" id="{B99603E9-56B7-4E14-6F12-61F6CBA1A30C}"/>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3" name="Line 10">
            <a:extLst>
              <a:ext uri="{FF2B5EF4-FFF2-40B4-BE49-F238E27FC236}">
                <a16:creationId xmlns:a16="http://schemas.microsoft.com/office/drawing/2014/main" id="{CA9DEF20-9738-0309-6D28-CA982D0D1A08}"/>
              </a:ext>
            </a:extLst>
          </p:cNvPr>
          <p:cNvSpPr>
            <a:spLocks noChangeShapeType="1"/>
          </p:cNvSpPr>
          <p:nvPr/>
        </p:nvSpPr>
        <p:spPr bwMode="auto">
          <a:xfrm>
            <a:off x="457200" y="5715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4" name="Rectangle 11">
            <a:extLst>
              <a:ext uri="{FF2B5EF4-FFF2-40B4-BE49-F238E27FC236}">
                <a16:creationId xmlns:a16="http://schemas.microsoft.com/office/drawing/2014/main" id="{DEF89358-36F8-D700-1165-896453761AD4}"/>
              </a:ext>
            </a:extLst>
          </p:cNvPr>
          <p:cNvSpPr>
            <a:spLocks noChangeArrowheads="1"/>
          </p:cNvSpPr>
          <p:nvPr/>
        </p:nvSpPr>
        <p:spPr bwMode="auto">
          <a:xfrm>
            <a:off x="457200" y="3063875"/>
            <a:ext cx="8077200" cy="255428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频率与周期互为倒数。</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周期：信号完成一个循环所需要的时间；</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频率：</a:t>
            </a:r>
            <a:r>
              <a:rPr lang="en-US" altLang="zh-CN" sz="3200" i="0" baseline="0">
                <a:latin typeface="Arial" panose="020B0604020202020204" pitchFamily="34" charset="0"/>
                <a:ea typeface="宋体" panose="02010600030101010101" pitchFamily="2" charset="-122"/>
              </a:rPr>
              <a:t>1</a:t>
            </a:r>
            <a:r>
              <a:rPr lang="zh-CN" altLang="en-US" sz="3200" i="0" baseline="0">
                <a:latin typeface="Arial" panose="020B0604020202020204" pitchFamily="34" charset="0"/>
                <a:ea typeface="宋体" panose="02010600030101010101" pitchFamily="2" charset="-122"/>
              </a:rPr>
              <a:t>秒内的周期数；</a:t>
            </a:r>
            <a:endParaRPr lang="en-US" altLang="zh-CN" sz="3200" i="0" baseline="0">
              <a:latin typeface="Arial" panose="020B0604020202020204" pitchFamily="34" charset="0"/>
              <a:ea typeface="宋体" panose="02010600030101010101" pitchFamily="2" charset="-122"/>
            </a:endParaRPr>
          </a:p>
          <a:p>
            <a:pPr algn="ctr">
              <a:buFont typeface="Arial" panose="020B0604020202020204" pitchFamily="34" charset="0"/>
              <a:buNone/>
            </a:pPr>
            <a:endParaRPr lang="zh-CN" altLang="en-US" sz="3200" i="0" baseline="0">
              <a:latin typeface="Arial" panose="020B0604020202020204" pitchFamily="34" charset="0"/>
              <a:ea typeface="宋体" panose="02010600030101010101" pitchFamily="2" charset="-122"/>
            </a:endParaRPr>
          </a:p>
          <a:p>
            <a:pPr algn="ctr">
              <a:buFont typeface="Arial" panose="020B0604020202020204" pitchFamily="34" charset="0"/>
              <a:buNone/>
            </a:pPr>
            <a:endParaRPr lang="en-US" altLang="zh-CN" sz="3200" i="0" baseline="0">
              <a:latin typeface="Arial" panose="020B0604020202020204" pitchFamily="34" charset="0"/>
              <a:ea typeface="宋体" panose="02010600030101010101" pitchFamily="2" charset="-122"/>
            </a:endParaRPr>
          </a:p>
        </p:txBody>
      </p:sp>
      <p:grpSp>
        <p:nvGrpSpPr>
          <p:cNvPr id="18445" name="Group 12">
            <a:extLst>
              <a:ext uri="{FF2B5EF4-FFF2-40B4-BE49-F238E27FC236}">
                <a16:creationId xmlns:a16="http://schemas.microsoft.com/office/drawing/2014/main" id="{BD442F5A-DFA0-8684-2F56-61CE07360EE5}"/>
              </a:ext>
            </a:extLst>
          </p:cNvPr>
          <p:cNvGrpSpPr>
            <a:grpSpLocks/>
          </p:cNvGrpSpPr>
          <p:nvPr/>
        </p:nvGrpSpPr>
        <p:grpSpPr bwMode="auto">
          <a:xfrm>
            <a:off x="457200" y="2362200"/>
            <a:ext cx="1143000" cy="566738"/>
            <a:chOff x="0" y="0"/>
            <a:chExt cx="720" cy="357"/>
          </a:xfrm>
        </p:grpSpPr>
        <p:pic>
          <p:nvPicPr>
            <p:cNvPr id="18447" name="Picture 13">
              <a:extLst>
                <a:ext uri="{FF2B5EF4-FFF2-40B4-BE49-F238E27FC236}">
                  <a16:creationId xmlns:a16="http://schemas.microsoft.com/office/drawing/2014/main" id="{B4FAC5F8-A587-A572-B376-C1FFD85408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8" name="Text Box 14">
              <a:extLst>
                <a:ext uri="{FF2B5EF4-FFF2-40B4-BE49-F238E27FC236}">
                  <a16:creationId xmlns:a16="http://schemas.microsoft.com/office/drawing/2014/main" id="{1C0C610B-E9AC-18E2-6D2B-087874D94211}"/>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pic>
        <p:nvPicPr>
          <p:cNvPr id="18446" name="Picture 15">
            <a:extLst>
              <a:ext uri="{FF2B5EF4-FFF2-40B4-BE49-F238E27FC236}">
                <a16:creationId xmlns:a16="http://schemas.microsoft.com/office/drawing/2014/main" id="{F9ED9043-6E4C-A406-32AA-F8DFB3BBC2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4488" y="4724400"/>
            <a:ext cx="3375025" cy="666750"/>
          </a:xfrm>
          <a:prstGeom prst="rect">
            <a:avLst/>
          </a:prstGeom>
          <a:solidFill>
            <a:srgbClr val="3366FF"/>
          </a:solidFill>
          <a:ln w="28575">
            <a:solidFill>
              <a:srgbClr val="3366FF"/>
            </a:solid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1">
            <a:extLst>
              <a:ext uri="{FF2B5EF4-FFF2-40B4-BE49-F238E27FC236}">
                <a16:creationId xmlns:a16="http://schemas.microsoft.com/office/drawing/2014/main" id="{766E872C-A0E8-3778-E1D5-C5E19E4A1EB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08DA5422-EF99-4E02-A63C-04B1FB0D6355}" type="slidenum">
              <a:rPr lang="en-US" altLang="zh-CN" sz="2000" i="0" baseline="0" smtClean="0">
                <a:latin typeface="Arial" panose="020B0604020202020204" pitchFamily="34" charset="0"/>
              </a:rPr>
              <a:pPr/>
              <a:t>16</a:t>
            </a:fld>
            <a:endParaRPr lang="en-US" altLang="zh-CN" sz="2000" i="0" baseline="0">
              <a:latin typeface="Arial" panose="020B0604020202020204" pitchFamily="34" charset="0"/>
            </a:endParaRPr>
          </a:p>
        </p:txBody>
      </p:sp>
      <p:sp>
        <p:nvSpPr>
          <p:cNvPr id="19459" name="Line 2">
            <a:extLst>
              <a:ext uri="{FF2B5EF4-FFF2-40B4-BE49-F238E27FC236}">
                <a16:creationId xmlns:a16="http://schemas.microsoft.com/office/drawing/2014/main" id="{CC6ACB2A-84D9-B2BD-6965-46E327092F76}"/>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0" name="Line 3">
            <a:extLst>
              <a:ext uri="{FF2B5EF4-FFF2-40B4-BE49-F238E27FC236}">
                <a16:creationId xmlns:a16="http://schemas.microsoft.com/office/drawing/2014/main" id="{DB93094C-507A-2514-1DA8-338BA065959C}"/>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1" name="Text Box 4">
            <a:extLst>
              <a:ext uri="{FF2B5EF4-FFF2-40B4-BE49-F238E27FC236}">
                <a16:creationId xmlns:a16="http://schemas.microsoft.com/office/drawing/2014/main" id="{6015BC39-0259-1EC0-F612-78E4A7A2503A}"/>
              </a:ext>
            </a:extLst>
          </p:cNvPr>
          <p:cNvSpPr txBox="1">
            <a:spLocks noChangeArrowheads="1"/>
          </p:cNvSpPr>
          <p:nvPr/>
        </p:nvSpPr>
        <p:spPr bwMode="auto">
          <a:xfrm>
            <a:off x="304800" y="228600"/>
            <a:ext cx="5414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3.4  </a:t>
            </a:r>
            <a:r>
              <a:rPr lang="zh-CN" altLang="en-US" sz="2000" baseline="0">
                <a:ea typeface="宋体" panose="02010600030101010101" pitchFamily="2" charset="-122"/>
              </a:rPr>
              <a:t>振幅和相位相同但频率不同的两个信号</a:t>
            </a:r>
          </a:p>
        </p:txBody>
      </p:sp>
      <p:sp>
        <p:nvSpPr>
          <p:cNvPr id="19462" name="Line 5">
            <a:extLst>
              <a:ext uri="{FF2B5EF4-FFF2-40B4-BE49-F238E27FC236}">
                <a16:creationId xmlns:a16="http://schemas.microsoft.com/office/drawing/2014/main" id="{9FC2811A-2C9B-9363-2170-BFCD7E82F518}"/>
              </a:ext>
            </a:extLst>
          </p:cNvPr>
          <p:cNvSpPr>
            <a:spLocks noChangeShapeType="1"/>
          </p:cNvSpPr>
          <p:nvPr/>
        </p:nvSpPr>
        <p:spPr bwMode="auto">
          <a:xfrm>
            <a:off x="76200" y="64770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9463" name="Picture 6">
            <a:extLst>
              <a:ext uri="{FF2B5EF4-FFF2-40B4-BE49-F238E27FC236}">
                <a16:creationId xmlns:a16="http://schemas.microsoft.com/office/drawing/2014/main" id="{1C5145BF-2645-F768-7CFC-0ED79DE1A9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066800"/>
            <a:ext cx="5429250" cy="517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Text Box 7">
            <a:extLst>
              <a:ext uri="{FF2B5EF4-FFF2-40B4-BE49-F238E27FC236}">
                <a16:creationId xmlns:a16="http://schemas.microsoft.com/office/drawing/2014/main" id="{1656826B-685F-3FD0-AAC4-045767E13FD6}"/>
              </a:ext>
            </a:extLst>
          </p:cNvPr>
          <p:cNvSpPr txBox="1">
            <a:spLocks noChangeArrowheads="1"/>
          </p:cNvSpPr>
          <p:nvPr/>
        </p:nvSpPr>
        <p:spPr bwMode="auto">
          <a:xfrm>
            <a:off x="1906588" y="3352800"/>
            <a:ext cx="2513012" cy="323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000">
                <a:ea typeface="宋体" panose="02010600030101010101" pitchFamily="2" charset="-122"/>
              </a:rPr>
              <a:t>a.频率为12Hz的信号</a:t>
            </a:r>
          </a:p>
        </p:txBody>
      </p:sp>
      <p:sp>
        <p:nvSpPr>
          <p:cNvPr id="19465" name="Text Box 8">
            <a:extLst>
              <a:ext uri="{FF2B5EF4-FFF2-40B4-BE49-F238E27FC236}">
                <a16:creationId xmlns:a16="http://schemas.microsoft.com/office/drawing/2014/main" id="{E8C433A9-73D3-DF22-03B9-2381F000029E}"/>
              </a:ext>
            </a:extLst>
          </p:cNvPr>
          <p:cNvSpPr txBox="1">
            <a:spLocks noChangeArrowheads="1"/>
          </p:cNvSpPr>
          <p:nvPr/>
        </p:nvSpPr>
        <p:spPr bwMode="auto">
          <a:xfrm>
            <a:off x="1905000" y="6096000"/>
            <a:ext cx="2470150" cy="323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000">
                <a:ea typeface="宋体" panose="02010600030101010101" pitchFamily="2" charset="-122"/>
              </a:rPr>
              <a:t>b.频率为6Hz的信号</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1">
            <a:extLst>
              <a:ext uri="{FF2B5EF4-FFF2-40B4-BE49-F238E27FC236}">
                <a16:creationId xmlns:a16="http://schemas.microsoft.com/office/drawing/2014/main" id="{322288FB-7623-B009-04F6-C2D210A784C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A8B2BF9D-7EEC-412D-A3EF-2E27A1824208}" type="slidenum">
              <a:rPr lang="en-US" altLang="zh-CN" sz="2000" i="0" baseline="0" smtClean="0">
                <a:latin typeface="Arial" panose="020B0604020202020204" pitchFamily="34" charset="0"/>
              </a:rPr>
              <a:pPr/>
              <a:t>17</a:t>
            </a:fld>
            <a:endParaRPr lang="en-US" altLang="zh-CN" sz="2000" i="0" baseline="0">
              <a:latin typeface="Arial" panose="020B0604020202020204" pitchFamily="34" charset="0"/>
            </a:endParaRPr>
          </a:p>
        </p:txBody>
      </p:sp>
      <p:sp>
        <p:nvSpPr>
          <p:cNvPr id="20483" name="Text Box 2">
            <a:extLst>
              <a:ext uri="{FF2B5EF4-FFF2-40B4-BE49-F238E27FC236}">
                <a16:creationId xmlns:a16="http://schemas.microsoft.com/office/drawing/2014/main" id="{7E764284-21FE-9103-5B1E-048BF5A654EE}"/>
              </a:ext>
            </a:extLst>
          </p:cNvPr>
          <p:cNvSpPr txBox="1">
            <a:spLocks noChangeArrowheads="1"/>
          </p:cNvSpPr>
          <p:nvPr/>
        </p:nvSpPr>
        <p:spPr bwMode="auto">
          <a:xfrm>
            <a:off x="1371600" y="2362200"/>
            <a:ext cx="312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表 3.1  </a:t>
            </a:r>
            <a:r>
              <a:rPr lang="zh-CN" altLang="en-US" sz="2000" baseline="0">
                <a:ea typeface="宋体" panose="02010600030101010101" pitchFamily="2" charset="-122"/>
              </a:rPr>
              <a:t>周期和频率的单位</a:t>
            </a:r>
          </a:p>
        </p:txBody>
      </p:sp>
      <p:graphicFrame>
        <p:nvGraphicFramePr>
          <p:cNvPr id="19459" name="Group 3">
            <a:extLst>
              <a:ext uri="{FF2B5EF4-FFF2-40B4-BE49-F238E27FC236}">
                <a16:creationId xmlns:a16="http://schemas.microsoft.com/office/drawing/2014/main" id="{3776EBCE-6897-260F-9FD6-B6B2DB25F5E3}"/>
              </a:ext>
            </a:extLst>
          </p:cNvPr>
          <p:cNvGraphicFramePr>
            <a:graphicFrameLocks noGrp="1"/>
          </p:cNvGraphicFramePr>
          <p:nvPr/>
        </p:nvGraphicFramePr>
        <p:xfrm>
          <a:off x="1295400" y="2971800"/>
          <a:ext cx="6400800" cy="2286000"/>
        </p:xfrm>
        <a:graphic>
          <a:graphicData uri="http://schemas.openxmlformats.org/drawingml/2006/table">
            <a:tbl>
              <a:tblPr/>
              <a:tblGrid>
                <a:gridCol w="1600200">
                  <a:extLst>
                    <a:ext uri="{9D8B030D-6E8A-4147-A177-3AD203B41FA5}">
                      <a16:colId xmlns:a16="http://schemas.microsoft.com/office/drawing/2014/main" val="20000"/>
                    </a:ext>
                  </a:extLst>
                </a:gridCol>
                <a:gridCol w="1598613">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1787">
                  <a:extLst>
                    <a:ext uri="{9D8B030D-6E8A-4147-A177-3AD203B41FA5}">
                      <a16:colId xmlns:a16="http://schemas.microsoft.com/office/drawing/2014/main" val="20003"/>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单位</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79646"/>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等价值</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79646"/>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单位</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79646"/>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等价值</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79646"/>
                    </a:solid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秒(s)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1s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赫兹(Hz)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1Hz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毫秒(ms)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      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千赫(kHz)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      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微秒(μs)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      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兆赫(MHz)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      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纳秒(ns)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      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吉赫(GHz)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      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皮秒(ps)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       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太赫(THz)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       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extLst>
                  <a:ext uri="{0D108BD9-81ED-4DB2-BD59-A6C34878D82A}">
                    <a16:rowId xmlns:a16="http://schemas.microsoft.com/office/drawing/2014/main" val="10005"/>
                  </a:ext>
                </a:extLst>
              </a:tr>
            </a:tbl>
          </a:graphicData>
        </a:graphic>
      </p:graphicFrame>
      <p:graphicFrame>
        <p:nvGraphicFramePr>
          <p:cNvPr id="20521" name="Object 86">
            <a:extLst>
              <a:ext uri="{FF2B5EF4-FFF2-40B4-BE49-F238E27FC236}">
                <a16:creationId xmlns:a16="http://schemas.microsoft.com/office/drawing/2014/main" id="{D3F2F1BE-8052-03CC-7B34-2F5351318531}"/>
              </a:ext>
            </a:extLst>
          </p:cNvPr>
          <p:cNvGraphicFramePr>
            <a:graphicFrameLocks noChangeAspect="1"/>
          </p:cNvGraphicFramePr>
          <p:nvPr/>
        </p:nvGraphicFramePr>
        <p:xfrm>
          <a:off x="4114800" y="3321050"/>
          <a:ext cx="139700" cy="330200"/>
        </p:xfrm>
        <a:graphic>
          <a:graphicData uri="http://schemas.openxmlformats.org/presentationml/2006/ole">
            <mc:AlternateContent xmlns:mc="http://schemas.openxmlformats.org/markup-compatibility/2006">
              <mc:Choice xmlns:v="urn:schemas-microsoft-com:vml" Requires="v">
                <p:oleObj r:id="rId2" imgW="140288" imgH="331556" progId="Equation.3">
                  <p:embed/>
                </p:oleObj>
              </mc:Choice>
              <mc:Fallback>
                <p:oleObj r:id="rId2" imgW="140288" imgH="331556" progId="Equation.3">
                  <p:embed/>
                  <p:pic>
                    <p:nvPicPr>
                      <p:cNvPr id="0" name="Object 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321050"/>
                        <a:ext cx="1397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22" name="Object 87">
            <a:extLst>
              <a:ext uri="{FF2B5EF4-FFF2-40B4-BE49-F238E27FC236}">
                <a16:creationId xmlns:a16="http://schemas.microsoft.com/office/drawing/2014/main" id="{632183C9-FE86-193A-0BC1-5E6B577781AB}"/>
              </a:ext>
            </a:extLst>
          </p:cNvPr>
          <p:cNvGraphicFramePr>
            <a:graphicFrameLocks noChangeAspect="1"/>
          </p:cNvGraphicFramePr>
          <p:nvPr/>
        </p:nvGraphicFramePr>
        <p:xfrm>
          <a:off x="4114800" y="3321050"/>
          <a:ext cx="88900" cy="190500"/>
        </p:xfrm>
        <a:graphic>
          <a:graphicData uri="http://schemas.openxmlformats.org/presentationml/2006/ole">
            <mc:AlternateContent xmlns:mc="http://schemas.openxmlformats.org/markup-compatibility/2006">
              <mc:Choice xmlns:v="urn:schemas-microsoft-com:vml" Requires="v">
                <p:oleObj r:id="rId4" imgW="89334" imgH="192104" progId="Equation.3">
                  <p:embed/>
                </p:oleObj>
              </mc:Choice>
              <mc:Fallback>
                <p:oleObj r:id="rId4" imgW="89334" imgH="192104" progId="Equation.3">
                  <p:embed/>
                  <p:pic>
                    <p:nvPicPr>
                      <p:cNvPr id="0" name="Object 8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321050"/>
                        <a:ext cx="889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23" name="Object 88">
            <a:extLst>
              <a:ext uri="{FF2B5EF4-FFF2-40B4-BE49-F238E27FC236}">
                <a16:creationId xmlns:a16="http://schemas.microsoft.com/office/drawing/2014/main" id="{E4D2B643-F26E-6ACF-37ED-393E4A5E19E1}"/>
              </a:ext>
            </a:extLst>
          </p:cNvPr>
          <p:cNvGraphicFramePr>
            <a:graphicFrameLocks noChangeAspect="1"/>
          </p:cNvGraphicFramePr>
          <p:nvPr/>
        </p:nvGraphicFramePr>
        <p:xfrm>
          <a:off x="2971800" y="3733800"/>
          <a:ext cx="317500" cy="279400"/>
        </p:xfrm>
        <a:graphic>
          <a:graphicData uri="http://schemas.openxmlformats.org/presentationml/2006/ole">
            <mc:AlternateContent xmlns:mc="http://schemas.openxmlformats.org/markup-compatibility/2006">
              <mc:Choice xmlns:v="urn:schemas-microsoft-com:vml" Requires="v">
                <p:oleObj r:id="rId6" imgW="319044" imgH="281020" progId="Equation.3">
                  <p:embed/>
                </p:oleObj>
              </mc:Choice>
              <mc:Fallback>
                <p:oleObj r:id="rId6" imgW="319044" imgH="281020" progId="Equation.3">
                  <p:embed/>
                  <p:pic>
                    <p:nvPicPr>
                      <p:cNvPr id="0" name="Object 8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1800" y="3733800"/>
                        <a:ext cx="3175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24" name="Object 89">
            <a:extLst>
              <a:ext uri="{FF2B5EF4-FFF2-40B4-BE49-F238E27FC236}">
                <a16:creationId xmlns:a16="http://schemas.microsoft.com/office/drawing/2014/main" id="{673B4B75-8A13-0494-02DD-3C25F7079B98}"/>
              </a:ext>
            </a:extLst>
          </p:cNvPr>
          <p:cNvGraphicFramePr>
            <a:graphicFrameLocks noChangeAspect="1"/>
          </p:cNvGraphicFramePr>
          <p:nvPr/>
        </p:nvGraphicFramePr>
        <p:xfrm>
          <a:off x="2971800" y="4114800"/>
          <a:ext cx="317500" cy="279400"/>
        </p:xfrm>
        <a:graphic>
          <a:graphicData uri="http://schemas.openxmlformats.org/presentationml/2006/ole">
            <mc:AlternateContent xmlns:mc="http://schemas.openxmlformats.org/markup-compatibility/2006">
              <mc:Choice xmlns:v="urn:schemas-microsoft-com:vml" Requires="v">
                <p:oleObj r:id="rId8" imgW="319044" imgH="281020" progId="Equation.3">
                  <p:embed/>
                </p:oleObj>
              </mc:Choice>
              <mc:Fallback>
                <p:oleObj r:id="rId8" imgW="319044" imgH="281020" progId="Equation.3">
                  <p:embed/>
                  <p:pic>
                    <p:nvPicPr>
                      <p:cNvPr id="0" name="Object 8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1800" y="4114800"/>
                        <a:ext cx="3175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25" name="Object 90">
            <a:extLst>
              <a:ext uri="{FF2B5EF4-FFF2-40B4-BE49-F238E27FC236}">
                <a16:creationId xmlns:a16="http://schemas.microsoft.com/office/drawing/2014/main" id="{F40C3BDC-39F7-037B-413C-E78126A4A923}"/>
              </a:ext>
            </a:extLst>
          </p:cNvPr>
          <p:cNvGraphicFramePr>
            <a:graphicFrameLocks noChangeAspect="1"/>
          </p:cNvGraphicFramePr>
          <p:nvPr/>
        </p:nvGraphicFramePr>
        <p:xfrm>
          <a:off x="2971800" y="4495800"/>
          <a:ext cx="317500" cy="279400"/>
        </p:xfrm>
        <a:graphic>
          <a:graphicData uri="http://schemas.openxmlformats.org/presentationml/2006/ole">
            <mc:AlternateContent xmlns:mc="http://schemas.openxmlformats.org/markup-compatibility/2006">
              <mc:Choice xmlns:v="urn:schemas-microsoft-com:vml" Requires="v">
                <p:oleObj r:id="rId10" imgW="319044" imgH="281020" progId="Equation.3">
                  <p:embed/>
                </p:oleObj>
              </mc:Choice>
              <mc:Fallback>
                <p:oleObj r:id="rId10" imgW="319044" imgH="281020" progId="Equation.3">
                  <p:embed/>
                  <p:pic>
                    <p:nvPicPr>
                      <p:cNvPr id="0" name="Object 9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71800" y="4495800"/>
                        <a:ext cx="3175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26" name="Object 91">
            <a:extLst>
              <a:ext uri="{FF2B5EF4-FFF2-40B4-BE49-F238E27FC236}">
                <a16:creationId xmlns:a16="http://schemas.microsoft.com/office/drawing/2014/main" id="{235D87E2-DDEC-E87E-1605-8A03F33E44EA}"/>
              </a:ext>
            </a:extLst>
          </p:cNvPr>
          <p:cNvGraphicFramePr>
            <a:graphicFrameLocks noChangeAspect="1"/>
          </p:cNvGraphicFramePr>
          <p:nvPr/>
        </p:nvGraphicFramePr>
        <p:xfrm>
          <a:off x="2971800" y="4876800"/>
          <a:ext cx="368300" cy="279400"/>
        </p:xfrm>
        <a:graphic>
          <a:graphicData uri="http://schemas.openxmlformats.org/presentationml/2006/ole">
            <mc:AlternateContent xmlns:mc="http://schemas.openxmlformats.org/markup-compatibility/2006">
              <mc:Choice xmlns:v="urn:schemas-microsoft-com:vml" Requires="v">
                <p:oleObj r:id="rId12" imgW="369736" imgH="280464" progId="Equation.3">
                  <p:embed/>
                </p:oleObj>
              </mc:Choice>
              <mc:Fallback>
                <p:oleObj r:id="rId12" imgW="369736" imgH="280464" progId="Equation.3">
                  <p:embed/>
                  <p:pic>
                    <p:nvPicPr>
                      <p:cNvPr id="0" name="Object 9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71800" y="4876800"/>
                        <a:ext cx="3683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27" name="Object 92">
            <a:extLst>
              <a:ext uri="{FF2B5EF4-FFF2-40B4-BE49-F238E27FC236}">
                <a16:creationId xmlns:a16="http://schemas.microsoft.com/office/drawing/2014/main" id="{1116A421-7271-AA92-4009-994FBB3BE465}"/>
              </a:ext>
            </a:extLst>
          </p:cNvPr>
          <p:cNvGraphicFramePr>
            <a:graphicFrameLocks noChangeAspect="1"/>
          </p:cNvGraphicFramePr>
          <p:nvPr/>
        </p:nvGraphicFramePr>
        <p:xfrm>
          <a:off x="6172200" y="3810000"/>
          <a:ext cx="292100" cy="279400"/>
        </p:xfrm>
        <a:graphic>
          <a:graphicData uri="http://schemas.openxmlformats.org/presentationml/2006/ole">
            <mc:AlternateContent xmlns:mc="http://schemas.openxmlformats.org/markup-compatibility/2006">
              <mc:Choice xmlns:v="urn:schemas-microsoft-com:vml" Requires="v">
                <p:oleObj r:id="rId14" imgW="293694" imgH="281020" progId="Equation.3">
                  <p:embed/>
                </p:oleObj>
              </mc:Choice>
              <mc:Fallback>
                <p:oleObj r:id="rId14" imgW="293694" imgH="281020" progId="Equation.3">
                  <p:embed/>
                  <p:pic>
                    <p:nvPicPr>
                      <p:cNvPr id="0" name="Object 9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72200" y="3810000"/>
                        <a:ext cx="2921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28" name="Object 93">
            <a:extLst>
              <a:ext uri="{FF2B5EF4-FFF2-40B4-BE49-F238E27FC236}">
                <a16:creationId xmlns:a16="http://schemas.microsoft.com/office/drawing/2014/main" id="{9C3ECE2B-D93E-52C3-D103-30C012B561F9}"/>
              </a:ext>
            </a:extLst>
          </p:cNvPr>
          <p:cNvGraphicFramePr>
            <a:graphicFrameLocks noChangeAspect="1"/>
          </p:cNvGraphicFramePr>
          <p:nvPr/>
        </p:nvGraphicFramePr>
        <p:xfrm>
          <a:off x="6172200" y="4191000"/>
          <a:ext cx="292100" cy="279400"/>
        </p:xfrm>
        <a:graphic>
          <a:graphicData uri="http://schemas.openxmlformats.org/presentationml/2006/ole">
            <mc:AlternateContent xmlns:mc="http://schemas.openxmlformats.org/markup-compatibility/2006">
              <mc:Choice xmlns:v="urn:schemas-microsoft-com:vml" Requires="v">
                <p:oleObj r:id="rId16" imgW="293694" imgH="281020" progId="Equation.3">
                  <p:embed/>
                </p:oleObj>
              </mc:Choice>
              <mc:Fallback>
                <p:oleObj r:id="rId16" imgW="293694" imgH="281020" progId="Equation.3">
                  <p:embed/>
                  <p:pic>
                    <p:nvPicPr>
                      <p:cNvPr id="0" name="Object 9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72200" y="4191000"/>
                        <a:ext cx="2921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29" name="Object 94">
            <a:extLst>
              <a:ext uri="{FF2B5EF4-FFF2-40B4-BE49-F238E27FC236}">
                <a16:creationId xmlns:a16="http://schemas.microsoft.com/office/drawing/2014/main" id="{2909AF12-1FFB-A82B-6941-DFA980BFF7BB}"/>
              </a:ext>
            </a:extLst>
          </p:cNvPr>
          <p:cNvGraphicFramePr>
            <a:graphicFrameLocks noChangeAspect="1"/>
          </p:cNvGraphicFramePr>
          <p:nvPr/>
        </p:nvGraphicFramePr>
        <p:xfrm>
          <a:off x="6172200" y="4572000"/>
          <a:ext cx="292100" cy="279400"/>
        </p:xfrm>
        <a:graphic>
          <a:graphicData uri="http://schemas.openxmlformats.org/presentationml/2006/ole">
            <mc:AlternateContent xmlns:mc="http://schemas.openxmlformats.org/markup-compatibility/2006">
              <mc:Choice xmlns:v="urn:schemas-microsoft-com:vml" Requires="v">
                <p:oleObj r:id="rId18" imgW="293694" imgH="281020" progId="Equation.3">
                  <p:embed/>
                </p:oleObj>
              </mc:Choice>
              <mc:Fallback>
                <p:oleObj r:id="rId18" imgW="293694" imgH="281020" progId="Equation.3">
                  <p:embed/>
                  <p:pic>
                    <p:nvPicPr>
                      <p:cNvPr id="0" name="Object 9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172200" y="4572000"/>
                        <a:ext cx="2921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30" name="Object 95">
            <a:extLst>
              <a:ext uri="{FF2B5EF4-FFF2-40B4-BE49-F238E27FC236}">
                <a16:creationId xmlns:a16="http://schemas.microsoft.com/office/drawing/2014/main" id="{04C99023-2A8F-E44C-045B-D00553B99B38}"/>
              </a:ext>
            </a:extLst>
          </p:cNvPr>
          <p:cNvGraphicFramePr>
            <a:graphicFrameLocks noChangeAspect="1"/>
          </p:cNvGraphicFramePr>
          <p:nvPr/>
        </p:nvGraphicFramePr>
        <p:xfrm>
          <a:off x="6172200" y="4953000"/>
          <a:ext cx="330200" cy="279400"/>
        </p:xfrm>
        <a:graphic>
          <a:graphicData uri="http://schemas.openxmlformats.org/presentationml/2006/ole">
            <mc:AlternateContent xmlns:mc="http://schemas.openxmlformats.org/markup-compatibility/2006">
              <mc:Choice xmlns:v="urn:schemas-microsoft-com:vml" Requires="v">
                <p:oleObj r:id="rId20" imgW="331556" imgH="280575" progId="Equation.3">
                  <p:embed/>
                </p:oleObj>
              </mc:Choice>
              <mc:Fallback>
                <p:oleObj r:id="rId20" imgW="331556" imgH="280575" progId="Equation.3">
                  <p:embed/>
                  <p:pic>
                    <p:nvPicPr>
                      <p:cNvPr id="0" name="Object 9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172200" y="4953000"/>
                        <a:ext cx="3302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1">
            <a:extLst>
              <a:ext uri="{FF2B5EF4-FFF2-40B4-BE49-F238E27FC236}">
                <a16:creationId xmlns:a16="http://schemas.microsoft.com/office/drawing/2014/main" id="{61CD6D69-FBE8-ECF0-0C2C-8560508F150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58235601-77E0-49B0-933B-BB9BF792FDA3}" type="slidenum">
              <a:rPr lang="en-US" altLang="zh-CN" sz="2000" i="0" baseline="0" smtClean="0">
                <a:latin typeface="Arial" panose="020B0604020202020204" pitchFamily="34" charset="0"/>
              </a:rPr>
              <a:pPr/>
              <a:t>18</a:t>
            </a:fld>
            <a:endParaRPr lang="en-US" altLang="zh-CN" sz="2000" i="0" baseline="0">
              <a:latin typeface="Arial" panose="020B0604020202020204" pitchFamily="34" charset="0"/>
            </a:endParaRPr>
          </a:p>
        </p:txBody>
      </p:sp>
      <p:sp>
        <p:nvSpPr>
          <p:cNvPr id="21507" name="Rectangle 2">
            <a:extLst>
              <a:ext uri="{FF2B5EF4-FFF2-40B4-BE49-F238E27FC236}">
                <a16:creationId xmlns:a16="http://schemas.microsoft.com/office/drawing/2014/main" id="{A785838B-A682-ADF8-685E-0C4D207EBE47}"/>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1508" name="Rectangle 3">
            <a:extLst>
              <a:ext uri="{FF2B5EF4-FFF2-40B4-BE49-F238E27FC236}">
                <a16:creationId xmlns:a16="http://schemas.microsoft.com/office/drawing/2014/main" id="{DFB7343F-AE81-903B-4EB1-C99BB0FC58B1}"/>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21509" name="Group 4">
            <a:extLst>
              <a:ext uri="{FF2B5EF4-FFF2-40B4-BE49-F238E27FC236}">
                <a16:creationId xmlns:a16="http://schemas.microsoft.com/office/drawing/2014/main" id="{3EA20F80-8A6C-163A-FEB9-A92144A8F8DE}"/>
              </a:ext>
            </a:extLst>
          </p:cNvPr>
          <p:cNvGrpSpPr>
            <a:grpSpLocks/>
          </p:cNvGrpSpPr>
          <p:nvPr/>
        </p:nvGrpSpPr>
        <p:grpSpPr bwMode="auto">
          <a:xfrm>
            <a:off x="490538" y="773113"/>
            <a:ext cx="738187" cy="474662"/>
            <a:chOff x="0" y="0"/>
            <a:chExt cx="465" cy="299"/>
          </a:xfrm>
        </p:grpSpPr>
        <p:sp>
          <p:nvSpPr>
            <p:cNvPr id="21517" name="Rectangle 5">
              <a:extLst>
                <a:ext uri="{FF2B5EF4-FFF2-40B4-BE49-F238E27FC236}">
                  <a16:creationId xmlns:a16="http://schemas.microsoft.com/office/drawing/2014/main" id="{7D5D6347-5766-27DA-9B44-0BCE574D8A4B}"/>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1518" name="Rectangle 6">
              <a:extLst>
                <a:ext uri="{FF2B5EF4-FFF2-40B4-BE49-F238E27FC236}">
                  <a16:creationId xmlns:a16="http://schemas.microsoft.com/office/drawing/2014/main" id="{5362F022-458D-5363-2EE9-4B372524D10D}"/>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21510" name="Rectangle 7">
            <a:extLst>
              <a:ext uri="{FF2B5EF4-FFF2-40B4-BE49-F238E27FC236}">
                <a16:creationId xmlns:a16="http://schemas.microsoft.com/office/drawing/2014/main" id="{9214281F-D56F-17A5-B522-7D5393B832D3}"/>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1511" name="Rectangle 8">
            <a:extLst>
              <a:ext uri="{FF2B5EF4-FFF2-40B4-BE49-F238E27FC236}">
                <a16:creationId xmlns:a16="http://schemas.microsoft.com/office/drawing/2014/main" id="{4BB44B92-279B-A18E-F173-6E2CE6AA5E46}"/>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1512" name="Rectangle 9">
            <a:extLst>
              <a:ext uri="{FF2B5EF4-FFF2-40B4-BE49-F238E27FC236}">
                <a16:creationId xmlns:a16="http://schemas.microsoft.com/office/drawing/2014/main" id="{924CA4C4-DBB0-56DB-17C5-05B51496DADD}"/>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1513" name="Rectangle 10">
            <a:extLst>
              <a:ext uri="{FF2B5EF4-FFF2-40B4-BE49-F238E27FC236}">
                <a16:creationId xmlns:a16="http://schemas.microsoft.com/office/drawing/2014/main" id="{67C02CAB-C9DC-E085-F9F8-3A2EB8455484}"/>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21514" name="Rectangle 11">
            <a:extLst>
              <a:ext uri="{FF2B5EF4-FFF2-40B4-BE49-F238E27FC236}">
                <a16:creationId xmlns:a16="http://schemas.microsoft.com/office/drawing/2014/main" id="{2D5A4662-21AF-CC68-C2ED-524475BDAE4A}"/>
              </a:ext>
            </a:extLst>
          </p:cNvPr>
          <p:cNvSpPr>
            <a:spLocks noChangeArrowheads="1"/>
          </p:cNvSpPr>
          <p:nvPr/>
        </p:nvSpPr>
        <p:spPr bwMode="auto">
          <a:xfrm>
            <a:off x="152400" y="1752600"/>
            <a:ext cx="8534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家用电的频率是</a:t>
            </a:r>
            <a:r>
              <a:rPr lang="en-US" altLang="zh-CN" baseline="0">
                <a:ea typeface="宋体" panose="02010600030101010101" pitchFamily="2" charset="-122"/>
              </a:rPr>
              <a:t>60Hz</a:t>
            </a:r>
            <a:r>
              <a:rPr lang="zh-CN" altLang="en-US" baseline="0">
                <a:ea typeface="宋体" panose="02010600030101010101" pitchFamily="2" charset="-122"/>
              </a:rPr>
              <a:t>。这个正弦波的周期就可以确定如下：</a:t>
            </a:r>
          </a:p>
        </p:txBody>
      </p:sp>
      <p:sp>
        <p:nvSpPr>
          <p:cNvPr id="21515" name="Text Box 12">
            <a:extLst>
              <a:ext uri="{FF2B5EF4-FFF2-40B4-BE49-F238E27FC236}">
                <a16:creationId xmlns:a16="http://schemas.microsoft.com/office/drawing/2014/main" id="{FE3BAAE2-B14B-0A2A-3ADA-47A18B756809}"/>
              </a:ext>
            </a:extLst>
          </p:cNvPr>
          <p:cNvSpPr txBox="1">
            <a:spLocks noChangeArrowheads="1"/>
          </p:cNvSpPr>
          <p:nvPr/>
        </p:nvSpPr>
        <p:spPr bwMode="auto">
          <a:xfrm>
            <a:off x="1143000" y="182563"/>
            <a:ext cx="1300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3.3</a:t>
            </a:r>
          </a:p>
        </p:txBody>
      </p:sp>
      <p:pic>
        <p:nvPicPr>
          <p:cNvPr id="21516" name="Picture 13">
            <a:extLst>
              <a:ext uri="{FF2B5EF4-FFF2-40B4-BE49-F238E27FC236}">
                <a16:creationId xmlns:a16="http://schemas.microsoft.com/office/drawing/2014/main" id="{7D622D09-2A99-BBE4-B78A-3BFB281EBA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8113" y="3073400"/>
            <a:ext cx="6327775" cy="711200"/>
          </a:xfrm>
          <a:prstGeom prst="rect">
            <a:avLst/>
          </a:prstGeom>
          <a:noFill/>
          <a:ln w="57150">
            <a:solidFill>
              <a:srgbClr val="3366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1">
            <a:extLst>
              <a:ext uri="{FF2B5EF4-FFF2-40B4-BE49-F238E27FC236}">
                <a16:creationId xmlns:a16="http://schemas.microsoft.com/office/drawing/2014/main" id="{A6A7F98F-F008-C8D5-559A-09922B3F830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CD4F3F39-9963-4085-B9FC-7646F34F7E24}" type="slidenum">
              <a:rPr lang="en-US" altLang="zh-CN" sz="2000" i="0" baseline="0" smtClean="0">
                <a:latin typeface="Arial" panose="020B0604020202020204" pitchFamily="34" charset="0"/>
              </a:rPr>
              <a:pPr/>
              <a:t>19</a:t>
            </a:fld>
            <a:endParaRPr lang="en-US" altLang="zh-CN" sz="2000" i="0" baseline="0">
              <a:latin typeface="Arial" panose="020B0604020202020204" pitchFamily="34" charset="0"/>
            </a:endParaRPr>
          </a:p>
        </p:txBody>
      </p:sp>
      <p:sp>
        <p:nvSpPr>
          <p:cNvPr id="22531" name="Rectangle 2">
            <a:extLst>
              <a:ext uri="{FF2B5EF4-FFF2-40B4-BE49-F238E27FC236}">
                <a16:creationId xmlns:a16="http://schemas.microsoft.com/office/drawing/2014/main" id="{D034B345-FC01-D141-B0E1-B4A485F5C0F7}"/>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2532" name="Rectangle 3">
            <a:extLst>
              <a:ext uri="{FF2B5EF4-FFF2-40B4-BE49-F238E27FC236}">
                <a16:creationId xmlns:a16="http://schemas.microsoft.com/office/drawing/2014/main" id="{77F83432-C0B8-CA9F-5DC9-32A4034CC0D7}"/>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22533" name="Group 4">
            <a:extLst>
              <a:ext uri="{FF2B5EF4-FFF2-40B4-BE49-F238E27FC236}">
                <a16:creationId xmlns:a16="http://schemas.microsoft.com/office/drawing/2014/main" id="{0A88086D-8476-7D0D-BD5C-C5E1453158D7}"/>
              </a:ext>
            </a:extLst>
          </p:cNvPr>
          <p:cNvGrpSpPr>
            <a:grpSpLocks/>
          </p:cNvGrpSpPr>
          <p:nvPr/>
        </p:nvGrpSpPr>
        <p:grpSpPr bwMode="auto">
          <a:xfrm>
            <a:off x="490538" y="773113"/>
            <a:ext cx="738187" cy="474662"/>
            <a:chOff x="0" y="0"/>
            <a:chExt cx="465" cy="299"/>
          </a:xfrm>
        </p:grpSpPr>
        <p:sp>
          <p:nvSpPr>
            <p:cNvPr id="22542" name="Rectangle 5">
              <a:extLst>
                <a:ext uri="{FF2B5EF4-FFF2-40B4-BE49-F238E27FC236}">
                  <a16:creationId xmlns:a16="http://schemas.microsoft.com/office/drawing/2014/main" id="{AEA05115-B7A1-AEED-FF6B-E936B9B4BAC2}"/>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2543" name="Rectangle 6">
              <a:extLst>
                <a:ext uri="{FF2B5EF4-FFF2-40B4-BE49-F238E27FC236}">
                  <a16:creationId xmlns:a16="http://schemas.microsoft.com/office/drawing/2014/main" id="{846526C1-5B32-2E4F-DF5E-775634B91356}"/>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22534" name="Rectangle 7">
            <a:extLst>
              <a:ext uri="{FF2B5EF4-FFF2-40B4-BE49-F238E27FC236}">
                <a16:creationId xmlns:a16="http://schemas.microsoft.com/office/drawing/2014/main" id="{39E2BE78-D5BB-1C5E-B0D6-D14A36B0C3C2}"/>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2535" name="Rectangle 8">
            <a:extLst>
              <a:ext uri="{FF2B5EF4-FFF2-40B4-BE49-F238E27FC236}">
                <a16:creationId xmlns:a16="http://schemas.microsoft.com/office/drawing/2014/main" id="{246818DC-1DA7-9730-2226-A37FFC36BD96}"/>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2536" name="Rectangle 9">
            <a:extLst>
              <a:ext uri="{FF2B5EF4-FFF2-40B4-BE49-F238E27FC236}">
                <a16:creationId xmlns:a16="http://schemas.microsoft.com/office/drawing/2014/main" id="{959620C1-F233-8F92-F62D-FDA98E6D0F67}"/>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2537" name="Rectangle 10">
            <a:extLst>
              <a:ext uri="{FF2B5EF4-FFF2-40B4-BE49-F238E27FC236}">
                <a16:creationId xmlns:a16="http://schemas.microsoft.com/office/drawing/2014/main" id="{7424712B-9B1D-CA96-BB24-CE56F2CDC677}"/>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22538" name="Rectangle 11">
            <a:extLst>
              <a:ext uri="{FF2B5EF4-FFF2-40B4-BE49-F238E27FC236}">
                <a16:creationId xmlns:a16="http://schemas.microsoft.com/office/drawing/2014/main" id="{26E7183D-D12D-F815-355C-0D303991229C}"/>
              </a:ext>
            </a:extLst>
          </p:cNvPr>
          <p:cNvSpPr>
            <a:spLocks noChangeArrowheads="1"/>
          </p:cNvSpPr>
          <p:nvPr/>
        </p:nvSpPr>
        <p:spPr bwMode="auto">
          <a:xfrm>
            <a:off x="457200" y="1447800"/>
            <a:ext cx="83058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用微秒表示周期为</a:t>
            </a:r>
            <a:r>
              <a:rPr lang="en-US" altLang="zh-CN" baseline="0">
                <a:ea typeface="宋体" panose="02010600030101010101" pitchFamily="2" charset="-122"/>
              </a:rPr>
              <a:t>100ms</a:t>
            </a:r>
            <a:r>
              <a:rPr lang="zh-CN" altLang="en-US" baseline="0">
                <a:ea typeface="宋体" panose="02010600030101010101" pitchFamily="2" charset="-122"/>
              </a:rPr>
              <a:t>。</a:t>
            </a:r>
          </a:p>
        </p:txBody>
      </p:sp>
      <p:sp>
        <p:nvSpPr>
          <p:cNvPr id="22539" name="Text Box 12">
            <a:extLst>
              <a:ext uri="{FF2B5EF4-FFF2-40B4-BE49-F238E27FC236}">
                <a16:creationId xmlns:a16="http://schemas.microsoft.com/office/drawing/2014/main" id="{664ABEDC-B631-C495-7CA1-7F1993E74B6F}"/>
              </a:ext>
            </a:extLst>
          </p:cNvPr>
          <p:cNvSpPr txBox="1">
            <a:spLocks noChangeArrowheads="1"/>
          </p:cNvSpPr>
          <p:nvPr/>
        </p:nvSpPr>
        <p:spPr bwMode="auto">
          <a:xfrm>
            <a:off x="1143000" y="182563"/>
            <a:ext cx="1300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3.4</a:t>
            </a:r>
          </a:p>
        </p:txBody>
      </p:sp>
      <p:sp>
        <p:nvSpPr>
          <p:cNvPr id="22540" name="Rectangle 13">
            <a:extLst>
              <a:ext uri="{FF2B5EF4-FFF2-40B4-BE49-F238E27FC236}">
                <a16:creationId xmlns:a16="http://schemas.microsoft.com/office/drawing/2014/main" id="{66E9E31A-2EDE-9E53-EC4A-BD2D8F2B9D83}"/>
              </a:ext>
            </a:extLst>
          </p:cNvPr>
          <p:cNvSpPr>
            <a:spLocks noChangeArrowheads="1"/>
          </p:cNvSpPr>
          <p:nvPr/>
        </p:nvSpPr>
        <p:spPr bwMode="auto">
          <a:xfrm>
            <a:off x="152400" y="23622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从表3.1中可以找到1ms的等价值（1 ms = 10</a:t>
            </a:r>
            <a:r>
              <a:rPr lang="zh-CN" altLang="en-US" baseline="30000">
                <a:ea typeface="宋体" panose="02010600030101010101" pitchFamily="2" charset="-122"/>
              </a:rPr>
              <a:t>−3</a:t>
            </a:r>
            <a:r>
              <a:rPr lang="zh-CN" altLang="en-US" baseline="0">
                <a:ea typeface="宋体" panose="02010600030101010101" pitchFamily="2" charset="-122"/>
              </a:rPr>
              <a:t> s）和1s的等价值（1 s = 10</a:t>
            </a:r>
            <a:r>
              <a:rPr lang="zh-CN" altLang="en-US" baseline="30000">
                <a:ea typeface="宋体" panose="02010600030101010101" pitchFamily="2" charset="-122"/>
              </a:rPr>
              <a:t>6</a:t>
            </a:r>
            <a:r>
              <a:rPr lang="zh-CN" altLang="en-US" baseline="0">
                <a:ea typeface="宋体" panose="02010600030101010101" pitchFamily="2" charset="-122"/>
              </a:rPr>
              <a:t> μs），做以下替换：</a:t>
            </a:r>
          </a:p>
        </p:txBody>
      </p:sp>
      <p:pic>
        <p:nvPicPr>
          <p:cNvPr id="22541" name="Picture 14">
            <a:extLst>
              <a:ext uri="{FF2B5EF4-FFF2-40B4-BE49-F238E27FC236}">
                <a16:creationId xmlns:a16="http://schemas.microsoft.com/office/drawing/2014/main" id="{0BF44DE4-A0B6-51D3-062B-EED3217C21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3" y="4400550"/>
            <a:ext cx="8486775" cy="476250"/>
          </a:xfrm>
          <a:prstGeom prst="rect">
            <a:avLst/>
          </a:prstGeom>
          <a:noFill/>
          <a:ln w="57150">
            <a:solidFill>
              <a:srgbClr val="3366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1">
            <a:extLst>
              <a:ext uri="{FF2B5EF4-FFF2-40B4-BE49-F238E27FC236}">
                <a16:creationId xmlns:a16="http://schemas.microsoft.com/office/drawing/2014/main" id="{35A36A29-AC83-3D02-5842-230381B8122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43FAED32-0C50-42B4-9AA8-24FD972C7110}" type="slidenum">
              <a:rPr lang="en-US" altLang="zh-CN" sz="2000" i="0" baseline="0" smtClean="0">
                <a:latin typeface="Arial" panose="020B0604020202020204" pitchFamily="34" charset="0"/>
              </a:rPr>
              <a:pPr/>
              <a:t>20</a:t>
            </a:fld>
            <a:endParaRPr lang="en-US" altLang="zh-CN" sz="2000" i="0" baseline="0">
              <a:latin typeface="Arial" panose="020B0604020202020204" pitchFamily="34" charset="0"/>
            </a:endParaRPr>
          </a:p>
        </p:txBody>
      </p:sp>
      <p:sp>
        <p:nvSpPr>
          <p:cNvPr id="23555" name="Rectangle 2">
            <a:extLst>
              <a:ext uri="{FF2B5EF4-FFF2-40B4-BE49-F238E27FC236}">
                <a16:creationId xmlns:a16="http://schemas.microsoft.com/office/drawing/2014/main" id="{21584FF2-05CF-4085-3BF3-6212EB9FE477}"/>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3556" name="Rectangle 3">
            <a:extLst>
              <a:ext uri="{FF2B5EF4-FFF2-40B4-BE49-F238E27FC236}">
                <a16:creationId xmlns:a16="http://schemas.microsoft.com/office/drawing/2014/main" id="{F64BAB1E-3062-8464-F124-E2153CE56A67}"/>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23557" name="Group 4">
            <a:extLst>
              <a:ext uri="{FF2B5EF4-FFF2-40B4-BE49-F238E27FC236}">
                <a16:creationId xmlns:a16="http://schemas.microsoft.com/office/drawing/2014/main" id="{8C559C63-4281-58CB-2808-CE6B6719B844}"/>
              </a:ext>
            </a:extLst>
          </p:cNvPr>
          <p:cNvGrpSpPr>
            <a:grpSpLocks/>
          </p:cNvGrpSpPr>
          <p:nvPr/>
        </p:nvGrpSpPr>
        <p:grpSpPr bwMode="auto">
          <a:xfrm>
            <a:off x="490538" y="773113"/>
            <a:ext cx="738187" cy="474662"/>
            <a:chOff x="0" y="0"/>
            <a:chExt cx="465" cy="299"/>
          </a:xfrm>
        </p:grpSpPr>
        <p:sp>
          <p:nvSpPr>
            <p:cNvPr id="23566" name="Rectangle 5">
              <a:extLst>
                <a:ext uri="{FF2B5EF4-FFF2-40B4-BE49-F238E27FC236}">
                  <a16:creationId xmlns:a16="http://schemas.microsoft.com/office/drawing/2014/main" id="{143C74CC-AB6E-C646-2135-746A52D97A6C}"/>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3567" name="Rectangle 6">
              <a:extLst>
                <a:ext uri="{FF2B5EF4-FFF2-40B4-BE49-F238E27FC236}">
                  <a16:creationId xmlns:a16="http://schemas.microsoft.com/office/drawing/2014/main" id="{284EBBE6-029F-1A51-1DA3-7806F4011353}"/>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23558" name="Rectangle 7">
            <a:extLst>
              <a:ext uri="{FF2B5EF4-FFF2-40B4-BE49-F238E27FC236}">
                <a16:creationId xmlns:a16="http://schemas.microsoft.com/office/drawing/2014/main" id="{1C3787D2-A75E-FC76-E47C-827EAA35AD29}"/>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3559" name="Rectangle 8">
            <a:extLst>
              <a:ext uri="{FF2B5EF4-FFF2-40B4-BE49-F238E27FC236}">
                <a16:creationId xmlns:a16="http://schemas.microsoft.com/office/drawing/2014/main" id="{37DBAD48-9E78-46BD-2852-5802CE7214E7}"/>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3560" name="Rectangle 9">
            <a:extLst>
              <a:ext uri="{FF2B5EF4-FFF2-40B4-BE49-F238E27FC236}">
                <a16:creationId xmlns:a16="http://schemas.microsoft.com/office/drawing/2014/main" id="{0D58B59E-4072-F8F7-FA28-D816A23C51EC}"/>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3561" name="Rectangle 10">
            <a:extLst>
              <a:ext uri="{FF2B5EF4-FFF2-40B4-BE49-F238E27FC236}">
                <a16:creationId xmlns:a16="http://schemas.microsoft.com/office/drawing/2014/main" id="{78601779-7341-B85D-2D3E-D6A4A4B06DF8}"/>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23562" name="Rectangle 11">
            <a:extLst>
              <a:ext uri="{FF2B5EF4-FFF2-40B4-BE49-F238E27FC236}">
                <a16:creationId xmlns:a16="http://schemas.microsoft.com/office/drawing/2014/main" id="{9FE62A10-1ED9-9F7E-A15C-B77CCF482191}"/>
              </a:ext>
            </a:extLst>
          </p:cNvPr>
          <p:cNvSpPr>
            <a:spLocks noChangeArrowheads="1"/>
          </p:cNvSpPr>
          <p:nvPr/>
        </p:nvSpPr>
        <p:spPr bwMode="auto">
          <a:xfrm>
            <a:off x="228600" y="1447800"/>
            <a:ext cx="85344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一个信号的周期是</a:t>
            </a:r>
            <a:r>
              <a:rPr lang="en-US" altLang="zh-CN" baseline="0">
                <a:ea typeface="宋体" panose="02010600030101010101" pitchFamily="2" charset="-122"/>
              </a:rPr>
              <a:t>100ms</a:t>
            </a:r>
            <a:r>
              <a:rPr lang="zh-CN" altLang="en-US" baseline="0">
                <a:ea typeface="宋体" panose="02010600030101010101" pitchFamily="2" charset="-122"/>
              </a:rPr>
              <a:t>。那么它以千赫为单位表示的频率是多少？</a:t>
            </a:r>
          </a:p>
        </p:txBody>
      </p:sp>
      <p:sp>
        <p:nvSpPr>
          <p:cNvPr id="23563" name="Text Box 12">
            <a:extLst>
              <a:ext uri="{FF2B5EF4-FFF2-40B4-BE49-F238E27FC236}">
                <a16:creationId xmlns:a16="http://schemas.microsoft.com/office/drawing/2014/main" id="{E6E606C7-22C0-2D54-30F2-38209743B162}"/>
              </a:ext>
            </a:extLst>
          </p:cNvPr>
          <p:cNvSpPr txBox="1">
            <a:spLocks noChangeArrowheads="1"/>
          </p:cNvSpPr>
          <p:nvPr/>
        </p:nvSpPr>
        <p:spPr bwMode="auto">
          <a:xfrm>
            <a:off x="1143000" y="182563"/>
            <a:ext cx="1300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3.5</a:t>
            </a:r>
          </a:p>
        </p:txBody>
      </p:sp>
      <p:sp>
        <p:nvSpPr>
          <p:cNvPr id="23564" name="Rectangle 13">
            <a:extLst>
              <a:ext uri="{FF2B5EF4-FFF2-40B4-BE49-F238E27FC236}">
                <a16:creationId xmlns:a16="http://schemas.microsoft.com/office/drawing/2014/main" id="{1FEEC621-5EBE-00C3-6B1C-CD940ADB0849}"/>
              </a:ext>
            </a:extLst>
          </p:cNvPr>
          <p:cNvSpPr>
            <a:spLocks noChangeArrowheads="1"/>
          </p:cNvSpPr>
          <p:nvPr/>
        </p:nvSpPr>
        <p:spPr bwMode="auto">
          <a:xfrm>
            <a:off x="304800" y="26670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先把100ms表示为秒，然后从周期计算出频率（1 Hz = 10</a:t>
            </a:r>
            <a:r>
              <a:rPr lang="zh-CN" altLang="en-US" baseline="30000">
                <a:ea typeface="宋体" panose="02010600030101010101" pitchFamily="2" charset="-122"/>
              </a:rPr>
              <a:t>−3</a:t>
            </a:r>
            <a:r>
              <a:rPr lang="zh-CN" altLang="en-US" baseline="0">
                <a:ea typeface="宋体" panose="02010600030101010101" pitchFamily="2" charset="-122"/>
              </a:rPr>
              <a:t> kHz） </a:t>
            </a:r>
          </a:p>
        </p:txBody>
      </p:sp>
      <p:pic>
        <p:nvPicPr>
          <p:cNvPr id="23565" name="Picture 14">
            <a:extLst>
              <a:ext uri="{FF2B5EF4-FFF2-40B4-BE49-F238E27FC236}">
                <a16:creationId xmlns:a16="http://schemas.microsoft.com/office/drawing/2014/main" id="{EEE5ED6B-B7CF-FC43-B8AA-495E7BDC4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4419600"/>
            <a:ext cx="6291263" cy="1241425"/>
          </a:xfrm>
          <a:prstGeom prst="rect">
            <a:avLst/>
          </a:prstGeom>
          <a:noFill/>
          <a:ln w="57150">
            <a:solidFill>
              <a:srgbClr val="3366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1">
            <a:extLst>
              <a:ext uri="{FF2B5EF4-FFF2-40B4-BE49-F238E27FC236}">
                <a16:creationId xmlns:a16="http://schemas.microsoft.com/office/drawing/2014/main" id="{347DA75D-D714-B574-5DA5-9805091325D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05115E8A-C298-458F-B877-18E152F7DF02}" type="slidenum">
              <a:rPr lang="en-US" altLang="zh-CN" sz="2000" i="0" baseline="0" smtClean="0">
                <a:latin typeface="Arial" panose="020B0604020202020204" pitchFamily="34" charset="0"/>
              </a:rPr>
              <a:pPr/>
              <a:t>21</a:t>
            </a:fld>
            <a:endParaRPr lang="en-US" altLang="zh-CN" sz="2000" i="0" baseline="0">
              <a:latin typeface="Arial" panose="020B0604020202020204" pitchFamily="34" charset="0"/>
            </a:endParaRPr>
          </a:p>
        </p:txBody>
      </p:sp>
      <p:sp>
        <p:nvSpPr>
          <p:cNvPr id="24579" name="Rectangle 2">
            <a:extLst>
              <a:ext uri="{FF2B5EF4-FFF2-40B4-BE49-F238E27FC236}">
                <a16:creationId xmlns:a16="http://schemas.microsoft.com/office/drawing/2014/main" id="{2F26648C-72BB-F465-06A8-657A757B71E6}"/>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4580" name="Rectangle 3">
            <a:extLst>
              <a:ext uri="{FF2B5EF4-FFF2-40B4-BE49-F238E27FC236}">
                <a16:creationId xmlns:a16="http://schemas.microsoft.com/office/drawing/2014/main" id="{59F381CF-BC5E-BCE9-C6A1-9A0C85A3962B}"/>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4581" name="Rectangle 4">
            <a:extLst>
              <a:ext uri="{FF2B5EF4-FFF2-40B4-BE49-F238E27FC236}">
                <a16:creationId xmlns:a16="http://schemas.microsoft.com/office/drawing/2014/main" id="{258301E2-0C54-4810-CD6C-58573C03668D}"/>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4582" name="Rectangle 5">
            <a:extLst>
              <a:ext uri="{FF2B5EF4-FFF2-40B4-BE49-F238E27FC236}">
                <a16:creationId xmlns:a16="http://schemas.microsoft.com/office/drawing/2014/main" id="{77634D35-FCD6-EF76-5B44-7B9D50A00401}"/>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4583" name="Rectangle 6">
            <a:extLst>
              <a:ext uri="{FF2B5EF4-FFF2-40B4-BE49-F238E27FC236}">
                <a16:creationId xmlns:a16="http://schemas.microsoft.com/office/drawing/2014/main" id="{02BB0350-3FC7-6CA1-D557-B1A31A019D67}"/>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4584" name="Rectangle 7">
            <a:extLst>
              <a:ext uri="{FF2B5EF4-FFF2-40B4-BE49-F238E27FC236}">
                <a16:creationId xmlns:a16="http://schemas.microsoft.com/office/drawing/2014/main" id="{4D2C0ED0-D228-98B1-66FE-FD1F473654E6}"/>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4585" name="Rectangle 8">
            <a:extLst>
              <a:ext uri="{FF2B5EF4-FFF2-40B4-BE49-F238E27FC236}">
                <a16:creationId xmlns:a16="http://schemas.microsoft.com/office/drawing/2014/main" id="{33551CA6-4229-AB51-36F2-F7405145C80D}"/>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4586" name="Line 9">
            <a:extLst>
              <a:ext uri="{FF2B5EF4-FFF2-40B4-BE49-F238E27FC236}">
                <a16:creationId xmlns:a16="http://schemas.microsoft.com/office/drawing/2014/main" id="{DCB0FC30-A2E4-4603-1033-DC8226AB4699}"/>
              </a:ext>
            </a:extLst>
          </p:cNvPr>
          <p:cNvSpPr>
            <a:spLocks noChangeShapeType="1"/>
          </p:cNvSpPr>
          <p:nvPr/>
        </p:nvSpPr>
        <p:spPr bwMode="auto">
          <a:xfrm>
            <a:off x="457200" y="1905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7" name="Line 10">
            <a:extLst>
              <a:ext uri="{FF2B5EF4-FFF2-40B4-BE49-F238E27FC236}">
                <a16:creationId xmlns:a16="http://schemas.microsoft.com/office/drawing/2014/main" id="{B5EE1552-B73E-72BA-0A51-9CA2DB18F011}"/>
              </a:ext>
            </a:extLst>
          </p:cNvPr>
          <p:cNvSpPr>
            <a:spLocks noChangeShapeType="1"/>
          </p:cNvSpPr>
          <p:nvPr/>
        </p:nvSpPr>
        <p:spPr bwMode="auto">
          <a:xfrm>
            <a:off x="457200" y="4572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 name="Rectangle 11">
            <a:extLst>
              <a:ext uri="{FF2B5EF4-FFF2-40B4-BE49-F238E27FC236}">
                <a16:creationId xmlns:a16="http://schemas.microsoft.com/office/drawing/2014/main" id="{09A1ABF3-8F6D-BCD9-D3C7-2B268FF66AC7}"/>
              </a:ext>
            </a:extLst>
          </p:cNvPr>
          <p:cNvSpPr>
            <a:spLocks noChangeArrowheads="1"/>
          </p:cNvSpPr>
          <p:nvPr/>
        </p:nvSpPr>
        <p:spPr bwMode="auto">
          <a:xfrm>
            <a:off x="495300" y="1997075"/>
            <a:ext cx="8077200" cy="255428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频率表示</a:t>
            </a:r>
            <a:r>
              <a:rPr lang="en-US" altLang="zh-CN" sz="3200" i="0" baseline="0">
                <a:latin typeface="Arial" panose="020B0604020202020204" pitchFamily="34" charset="0"/>
                <a:ea typeface="宋体" panose="02010600030101010101" pitchFamily="2" charset="-122"/>
              </a:rPr>
              <a:t>1</a:t>
            </a:r>
            <a:r>
              <a:rPr lang="zh-CN" altLang="en-US" sz="3200" i="0" baseline="0">
                <a:latin typeface="Arial" panose="020B0604020202020204" pitchFamily="34" charset="0"/>
                <a:ea typeface="宋体" panose="02010600030101010101" pitchFamily="2" charset="-122"/>
              </a:rPr>
              <a:t>秒内的周期数，也表示相应于时间的变化速率。</a:t>
            </a:r>
          </a:p>
          <a:p>
            <a:pPr algn="ctr">
              <a:buFont typeface="Arial" panose="020B0604020202020204" pitchFamily="34" charset="0"/>
              <a:buNone/>
            </a:pPr>
            <a:endParaRPr lang="zh-CN" altLang="en-US" sz="3200" i="0" baseline="0">
              <a:latin typeface="Arial" panose="020B0604020202020204" pitchFamily="34" charset="0"/>
              <a:ea typeface="宋体" panose="02010600030101010101" pitchFamily="2" charset="-122"/>
            </a:endParaRPr>
          </a:p>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变化占用的时间短意味着频率高。</a:t>
            </a:r>
          </a:p>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变化占用的时间长意味着频率低。</a:t>
            </a:r>
          </a:p>
        </p:txBody>
      </p:sp>
      <p:grpSp>
        <p:nvGrpSpPr>
          <p:cNvPr id="24589" name="Group 12">
            <a:extLst>
              <a:ext uri="{FF2B5EF4-FFF2-40B4-BE49-F238E27FC236}">
                <a16:creationId xmlns:a16="http://schemas.microsoft.com/office/drawing/2014/main" id="{A4187648-4539-721C-7679-31EAA07824D4}"/>
              </a:ext>
            </a:extLst>
          </p:cNvPr>
          <p:cNvGrpSpPr>
            <a:grpSpLocks/>
          </p:cNvGrpSpPr>
          <p:nvPr/>
        </p:nvGrpSpPr>
        <p:grpSpPr bwMode="auto">
          <a:xfrm>
            <a:off x="457200" y="1219200"/>
            <a:ext cx="1143000" cy="566738"/>
            <a:chOff x="0" y="0"/>
            <a:chExt cx="720" cy="357"/>
          </a:xfrm>
        </p:grpSpPr>
        <p:pic>
          <p:nvPicPr>
            <p:cNvPr id="24590" name="Picture 13">
              <a:extLst>
                <a:ext uri="{FF2B5EF4-FFF2-40B4-BE49-F238E27FC236}">
                  <a16:creationId xmlns:a16="http://schemas.microsoft.com/office/drawing/2014/main" id="{552F1D4F-4CDF-4F28-88E3-B6FA1255F5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91" name="Text Box 14">
              <a:extLst>
                <a:ext uri="{FF2B5EF4-FFF2-40B4-BE49-F238E27FC236}">
                  <a16:creationId xmlns:a16="http://schemas.microsoft.com/office/drawing/2014/main" id="{43A879F3-BDBE-EAAF-1C3D-51A13C79741A}"/>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1">
            <a:extLst>
              <a:ext uri="{FF2B5EF4-FFF2-40B4-BE49-F238E27FC236}">
                <a16:creationId xmlns:a16="http://schemas.microsoft.com/office/drawing/2014/main" id="{8A67C525-C650-BBE4-5CED-E62829A093B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2E307C6F-5E05-490D-BE11-5E2EA06E54EB}" type="slidenum">
              <a:rPr lang="en-US" altLang="zh-CN" sz="2000" i="0" baseline="0" smtClean="0">
                <a:latin typeface="Arial" panose="020B0604020202020204" pitchFamily="34" charset="0"/>
              </a:rPr>
              <a:pPr/>
              <a:t>22</a:t>
            </a:fld>
            <a:endParaRPr lang="en-US" altLang="zh-CN" sz="2000" i="0" baseline="0">
              <a:latin typeface="Arial" panose="020B0604020202020204" pitchFamily="34" charset="0"/>
            </a:endParaRPr>
          </a:p>
        </p:txBody>
      </p:sp>
      <p:sp>
        <p:nvSpPr>
          <p:cNvPr id="25603" name="Rectangle 2">
            <a:extLst>
              <a:ext uri="{FF2B5EF4-FFF2-40B4-BE49-F238E27FC236}">
                <a16:creationId xmlns:a16="http://schemas.microsoft.com/office/drawing/2014/main" id="{E4E18D9F-D58F-C6D6-2550-26767B0879E0}"/>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5604" name="Rectangle 3">
            <a:extLst>
              <a:ext uri="{FF2B5EF4-FFF2-40B4-BE49-F238E27FC236}">
                <a16:creationId xmlns:a16="http://schemas.microsoft.com/office/drawing/2014/main" id="{F2DCE9C5-9728-1013-D0D8-C25998726A21}"/>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5605" name="Rectangle 4">
            <a:extLst>
              <a:ext uri="{FF2B5EF4-FFF2-40B4-BE49-F238E27FC236}">
                <a16:creationId xmlns:a16="http://schemas.microsoft.com/office/drawing/2014/main" id="{814E3B88-F7D6-9D91-147E-A7847F96174D}"/>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5606" name="Rectangle 5">
            <a:extLst>
              <a:ext uri="{FF2B5EF4-FFF2-40B4-BE49-F238E27FC236}">
                <a16:creationId xmlns:a16="http://schemas.microsoft.com/office/drawing/2014/main" id="{179DE90D-7D9F-463F-D309-4A9138ACC1A9}"/>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5607" name="Rectangle 6">
            <a:extLst>
              <a:ext uri="{FF2B5EF4-FFF2-40B4-BE49-F238E27FC236}">
                <a16:creationId xmlns:a16="http://schemas.microsoft.com/office/drawing/2014/main" id="{C120397B-E308-579B-3C1C-21E0B0C6CD2B}"/>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5608" name="Rectangle 7">
            <a:extLst>
              <a:ext uri="{FF2B5EF4-FFF2-40B4-BE49-F238E27FC236}">
                <a16:creationId xmlns:a16="http://schemas.microsoft.com/office/drawing/2014/main" id="{223A7BE0-006F-F485-A97A-26C9F62D5FEA}"/>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5609" name="Rectangle 8">
            <a:extLst>
              <a:ext uri="{FF2B5EF4-FFF2-40B4-BE49-F238E27FC236}">
                <a16:creationId xmlns:a16="http://schemas.microsoft.com/office/drawing/2014/main" id="{C823AD49-951A-3F18-897A-0EAE1F191976}"/>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5610" name="Line 9">
            <a:extLst>
              <a:ext uri="{FF2B5EF4-FFF2-40B4-BE49-F238E27FC236}">
                <a16:creationId xmlns:a16="http://schemas.microsoft.com/office/drawing/2014/main" id="{EB9AFCAA-2BC9-EA51-5859-6F638C6B4B70}"/>
              </a:ext>
            </a:extLst>
          </p:cNvPr>
          <p:cNvSpPr>
            <a:spLocks noChangeShapeType="1"/>
          </p:cNvSpPr>
          <p:nvPr/>
        </p:nvSpPr>
        <p:spPr bwMode="auto">
          <a:xfrm>
            <a:off x="457200" y="2700338"/>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1" name="Line 10">
            <a:extLst>
              <a:ext uri="{FF2B5EF4-FFF2-40B4-BE49-F238E27FC236}">
                <a16:creationId xmlns:a16="http://schemas.microsoft.com/office/drawing/2014/main" id="{DE46DBBF-FD62-1CBB-AB63-09667C6B66FF}"/>
              </a:ext>
            </a:extLst>
          </p:cNvPr>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2" name="Rectangle 11">
            <a:extLst>
              <a:ext uri="{FF2B5EF4-FFF2-40B4-BE49-F238E27FC236}">
                <a16:creationId xmlns:a16="http://schemas.microsoft.com/office/drawing/2014/main" id="{BB173CB4-F597-B3D3-A2D2-5D30F53548DE}"/>
              </a:ext>
            </a:extLst>
          </p:cNvPr>
          <p:cNvSpPr>
            <a:spLocks noChangeArrowheads="1"/>
          </p:cNvSpPr>
          <p:nvPr/>
        </p:nvSpPr>
        <p:spPr bwMode="auto">
          <a:xfrm>
            <a:off x="495300" y="2792413"/>
            <a:ext cx="8077200" cy="1570037"/>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如果信号始终不变化，则其频率是0。</a:t>
            </a:r>
          </a:p>
          <a:p>
            <a:pPr algn="ctr">
              <a:buFont typeface="Arial" panose="020B0604020202020204" pitchFamily="34" charset="0"/>
              <a:buNone/>
            </a:pPr>
            <a:endParaRPr lang="zh-CN" altLang="en-US"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如果信号瞬间发生变化，则其频率为无穷大</a:t>
            </a:r>
          </a:p>
        </p:txBody>
      </p:sp>
      <p:grpSp>
        <p:nvGrpSpPr>
          <p:cNvPr id="25613" name="Group 12">
            <a:extLst>
              <a:ext uri="{FF2B5EF4-FFF2-40B4-BE49-F238E27FC236}">
                <a16:creationId xmlns:a16="http://schemas.microsoft.com/office/drawing/2014/main" id="{E919330D-26BF-20F3-2E1E-B98C2BC36AE7}"/>
              </a:ext>
            </a:extLst>
          </p:cNvPr>
          <p:cNvGrpSpPr>
            <a:grpSpLocks/>
          </p:cNvGrpSpPr>
          <p:nvPr/>
        </p:nvGrpSpPr>
        <p:grpSpPr bwMode="auto">
          <a:xfrm>
            <a:off x="457200" y="2057400"/>
            <a:ext cx="1143000" cy="566738"/>
            <a:chOff x="0" y="0"/>
            <a:chExt cx="720" cy="357"/>
          </a:xfrm>
        </p:grpSpPr>
        <p:pic>
          <p:nvPicPr>
            <p:cNvPr id="25614" name="Picture 13">
              <a:extLst>
                <a:ext uri="{FF2B5EF4-FFF2-40B4-BE49-F238E27FC236}">
                  <a16:creationId xmlns:a16="http://schemas.microsoft.com/office/drawing/2014/main" id="{663EEF4F-D47B-0894-FBE7-54E0DED48A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5" name="Text Box 14">
              <a:extLst>
                <a:ext uri="{FF2B5EF4-FFF2-40B4-BE49-F238E27FC236}">
                  <a16:creationId xmlns:a16="http://schemas.microsoft.com/office/drawing/2014/main" id="{FAE0AD70-0B7A-8538-6457-73BC00FE59A5}"/>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1">
            <a:extLst>
              <a:ext uri="{FF2B5EF4-FFF2-40B4-BE49-F238E27FC236}">
                <a16:creationId xmlns:a16="http://schemas.microsoft.com/office/drawing/2014/main" id="{D24D4258-771F-AD8D-1630-1E6C910D763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212D00BE-A6E1-453A-8C36-6CFFEC9DD352}" type="slidenum">
              <a:rPr lang="en-US" altLang="zh-CN" sz="2000" i="0" baseline="0" smtClean="0">
                <a:latin typeface="Arial" panose="020B0604020202020204" pitchFamily="34" charset="0"/>
              </a:rPr>
              <a:pPr/>
              <a:t>23</a:t>
            </a:fld>
            <a:endParaRPr lang="en-US" altLang="zh-CN" sz="2000" i="0" baseline="0">
              <a:latin typeface="Arial" panose="020B0604020202020204" pitchFamily="34" charset="0"/>
            </a:endParaRPr>
          </a:p>
        </p:txBody>
      </p:sp>
      <p:sp>
        <p:nvSpPr>
          <p:cNvPr id="26627" name="Rectangle 2">
            <a:extLst>
              <a:ext uri="{FF2B5EF4-FFF2-40B4-BE49-F238E27FC236}">
                <a16:creationId xmlns:a16="http://schemas.microsoft.com/office/drawing/2014/main" id="{7C2F4B0F-AB87-7C5E-96CF-0AEF519A51CD}"/>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6628" name="Rectangle 3">
            <a:extLst>
              <a:ext uri="{FF2B5EF4-FFF2-40B4-BE49-F238E27FC236}">
                <a16:creationId xmlns:a16="http://schemas.microsoft.com/office/drawing/2014/main" id="{89217982-FBE3-084D-1356-0973D77E6966}"/>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6629" name="Rectangle 4">
            <a:extLst>
              <a:ext uri="{FF2B5EF4-FFF2-40B4-BE49-F238E27FC236}">
                <a16:creationId xmlns:a16="http://schemas.microsoft.com/office/drawing/2014/main" id="{365D4765-6F96-825E-36A2-7EA0B7F7FAB3}"/>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6630" name="Rectangle 5">
            <a:extLst>
              <a:ext uri="{FF2B5EF4-FFF2-40B4-BE49-F238E27FC236}">
                <a16:creationId xmlns:a16="http://schemas.microsoft.com/office/drawing/2014/main" id="{1B2B5F01-5A21-FC91-2195-F0C36290EE8D}"/>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6631" name="Rectangle 6">
            <a:extLst>
              <a:ext uri="{FF2B5EF4-FFF2-40B4-BE49-F238E27FC236}">
                <a16:creationId xmlns:a16="http://schemas.microsoft.com/office/drawing/2014/main" id="{C7E92D02-E847-81AD-D7D1-144260001C03}"/>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6632" name="Rectangle 7">
            <a:extLst>
              <a:ext uri="{FF2B5EF4-FFF2-40B4-BE49-F238E27FC236}">
                <a16:creationId xmlns:a16="http://schemas.microsoft.com/office/drawing/2014/main" id="{41D27D83-70FA-2A55-EF01-D23BD1A88D0A}"/>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6633" name="Rectangle 8">
            <a:extLst>
              <a:ext uri="{FF2B5EF4-FFF2-40B4-BE49-F238E27FC236}">
                <a16:creationId xmlns:a16="http://schemas.microsoft.com/office/drawing/2014/main" id="{C2EC0136-998D-87FD-8C5F-E8F996EB9A17}"/>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6634" name="Line 9">
            <a:extLst>
              <a:ext uri="{FF2B5EF4-FFF2-40B4-BE49-F238E27FC236}">
                <a16:creationId xmlns:a16="http://schemas.microsoft.com/office/drawing/2014/main" id="{A13AA576-7C05-B98D-1FB2-92696CF35D11}"/>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5" name="Line 10">
            <a:extLst>
              <a:ext uri="{FF2B5EF4-FFF2-40B4-BE49-F238E27FC236}">
                <a16:creationId xmlns:a16="http://schemas.microsoft.com/office/drawing/2014/main" id="{96B9AD64-77A8-2798-ABE9-09172DCF84F5}"/>
              </a:ext>
            </a:extLst>
          </p:cNvPr>
          <p:cNvSpPr>
            <a:spLocks noChangeShapeType="1"/>
          </p:cNvSpPr>
          <p:nvPr/>
        </p:nvSpPr>
        <p:spPr bwMode="auto">
          <a:xfrm>
            <a:off x="457200" y="4724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6" name="Rectangle 11">
            <a:extLst>
              <a:ext uri="{FF2B5EF4-FFF2-40B4-BE49-F238E27FC236}">
                <a16:creationId xmlns:a16="http://schemas.microsoft.com/office/drawing/2014/main" id="{FFA1AA4D-AA89-245B-B43C-5D32C2B7695D}"/>
              </a:ext>
            </a:extLst>
          </p:cNvPr>
          <p:cNvSpPr>
            <a:spLocks noChangeArrowheads="1"/>
          </p:cNvSpPr>
          <p:nvPr/>
        </p:nvSpPr>
        <p:spPr bwMode="auto">
          <a:xfrm>
            <a:off x="457200" y="3063875"/>
            <a:ext cx="8420100" cy="15700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相位描述了波形相对于时间</a:t>
            </a:r>
            <a:r>
              <a:rPr lang="en-US" altLang="zh-CN" sz="3200" i="0" baseline="0">
                <a:latin typeface="Arial" panose="020B0604020202020204" pitchFamily="34" charset="0"/>
                <a:ea typeface="宋体" panose="02010600030101010101" pitchFamily="2" charset="-122"/>
              </a:rPr>
              <a:t>0</a:t>
            </a:r>
            <a:r>
              <a:rPr lang="zh-CN" altLang="en-US" sz="3200" i="0" baseline="0">
                <a:latin typeface="Arial" panose="020B0604020202020204" pitchFamily="34" charset="0"/>
                <a:ea typeface="宋体" panose="02010600030101010101" pitchFamily="2" charset="-122"/>
              </a:rPr>
              <a:t>的位置。</a:t>
            </a:r>
            <a:endParaRPr lang="en-US" altLang="zh-CN" sz="3200" i="0" baseline="0">
              <a:latin typeface="Arial" panose="020B0604020202020204" pitchFamily="34" charset="0"/>
              <a:ea typeface="宋体" panose="02010600030101010101" pitchFamily="2" charset="-122"/>
            </a:endParaRPr>
          </a:p>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（将波形想象为能够沿着时间轴向前向后进行平移，则相位描述的就是这种偏移的数量）</a:t>
            </a:r>
          </a:p>
        </p:txBody>
      </p:sp>
      <p:grpSp>
        <p:nvGrpSpPr>
          <p:cNvPr id="26637" name="Group 12">
            <a:extLst>
              <a:ext uri="{FF2B5EF4-FFF2-40B4-BE49-F238E27FC236}">
                <a16:creationId xmlns:a16="http://schemas.microsoft.com/office/drawing/2014/main" id="{42788A97-46E7-5C3C-10F7-33D03EB64051}"/>
              </a:ext>
            </a:extLst>
          </p:cNvPr>
          <p:cNvGrpSpPr>
            <a:grpSpLocks/>
          </p:cNvGrpSpPr>
          <p:nvPr/>
        </p:nvGrpSpPr>
        <p:grpSpPr bwMode="auto">
          <a:xfrm>
            <a:off x="457200" y="2286000"/>
            <a:ext cx="1143000" cy="566738"/>
            <a:chOff x="0" y="0"/>
            <a:chExt cx="720" cy="357"/>
          </a:xfrm>
        </p:grpSpPr>
        <p:pic>
          <p:nvPicPr>
            <p:cNvPr id="26638" name="Picture 13">
              <a:extLst>
                <a:ext uri="{FF2B5EF4-FFF2-40B4-BE49-F238E27FC236}">
                  <a16:creationId xmlns:a16="http://schemas.microsoft.com/office/drawing/2014/main" id="{9D844210-38C5-CDB9-0512-8B29786A83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9" name="Text Box 14">
              <a:extLst>
                <a:ext uri="{FF2B5EF4-FFF2-40B4-BE49-F238E27FC236}">
                  <a16:creationId xmlns:a16="http://schemas.microsoft.com/office/drawing/2014/main" id="{9F93C3F0-7BF0-D286-0CC1-7F8B744CA6C7}"/>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1">
            <a:extLst>
              <a:ext uri="{FF2B5EF4-FFF2-40B4-BE49-F238E27FC236}">
                <a16:creationId xmlns:a16="http://schemas.microsoft.com/office/drawing/2014/main" id="{BAA5F4F0-DC55-F38D-C9DF-699EFCDDF88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ECD4A65A-A2D5-4BE2-9030-B320A9A9D5C3}" type="slidenum">
              <a:rPr lang="en-US" altLang="zh-CN" sz="2000" i="0" baseline="0" smtClean="0">
                <a:latin typeface="Arial" panose="020B0604020202020204" pitchFamily="34" charset="0"/>
              </a:rPr>
              <a:pPr/>
              <a:t>24</a:t>
            </a:fld>
            <a:endParaRPr lang="en-US" altLang="zh-CN" sz="2000" i="0" baseline="0">
              <a:latin typeface="Arial" panose="020B0604020202020204" pitchFamily="34" charset="0"/>
            </a:endParaRPr>
          </a:p>
        </p:txBody>
      </p:sp>
      <p:sp>
        <p:nvSpPr>
          <p:cNvPr id="27651" name="Line 2">
            <a:extLst>
              <a:ext uri="{FF2B5EF4-FFF2-40B4-BE49-F238E27FC236}">
                <a16:creationId xmlns:a16="http://schemas.microsoft.com/office/drawing/2014/main" id="{EF34AC7E-EEE6-EE7F-CFB2-53DAD8E36C35}"/>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2" name="Line 3">
            <a:extLst>
              <a:ext uri="{FF2B5EF4-FFF2-40B4-BE49-F238E27FC236}">
                <a16:creationId xmlns:a16="http://schemas.microsoft.com/office/drawing/2014/main" id="{123C0A76-BA5C-EDEF-3288-1EF7917FE7C1}"/>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3" name="Text Box 4">
            <a:extLst>
              <a:ext uri="{FF2B5EF4-FFF2-40B4-BE49-F238E27FC236}">
                <a16:creationId xmlns:a16="http://schemas.microsoft.com/office/drawing/2014/main" id="{D3EC7FCC-B599-557B-1667-B7FA14C99F87}"/>
              </a:ext>
            </a:extLst>
          </p:cNvPr>
          <p:cNvSpPr txBox="1">
            <a:spLocks noChangeArrowheads="1"/>
          </p:cNvSpPr>
          <p:nvPr/>
        </p:nvSpPr>
        <p:spPr bwMode="auto">
          <a:xfrm>
            <a:off x="304800" y="152400"/>
            <a:ext cx="566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3.5  </a:t>
            </a:r>
            <a:r>
              <a:rPr lang="zh-CN" altLang="en-US" sz="2000" baseline="0">
                <a:ea typeface="宋体" panose="02010600030101010101" pitchFamily="2" charset="-122"/>
              </a:rPr>
              <a:t>振幅和频率相同但相位不同的三条正弦波</a:t>
            </a:r>
          </a:p>
        </p:txBody>
      </p:sp>
      <p:sp>
        <p:nvSpPr>
          <p:cNvPr id="27654" name="Line 5">
            <a:extLst>
              <a:ext uri="{FF2B5EF4-FFF2-40B4-BE49-F238E27FC236}">
                <a16:creationId xmlns:a16="http://schemas.microsoft.com/office/drawing/2014/main" id="{7E702C24-A54F-AAF1-FCE6-3B5A5E04D62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7655" name="Picture 6">
            <a:extLst>
              <a:ext uri="{FF2B5EF4-FFF2-40B4-BE49-F238E27FC236}">
                <a16:creationId xmlns:a16="http://schemas.microsoft.com/office/drawing/2014/main" id="{B939643A-D038-3D19-6276-9008C0E4A7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143000"/>
            <a:ext cx="5110163" cy="496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1">
            <a:extLst>
              <a:ext uri="{FF2B5EF4-FFF2-40B4-BE49-F238E27FC236}">
                <a16:creationId xmlns:a16="http://schemas.microsoft.com/office/drawing/2014/main" id="{FC35F621-ED45-F1DD-8FDB-54BAE8A5441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3536873D-AA12-4919-AD0A-4A93A9C16EA9}" type="slidenum">
              <a:rPr lang="en-US" altLang="zh-CN" sz="2000" i="0" baseline="0" smtClean="0">
                <a:latin typeface="Arial" panose="020B0604020202020204" pitchFamily="34" charset="0"/>
              </a:rPr>
              <a:pPr/>
              <a:t>25</a:t>
            </a:fld>
            <a:endParaRPr lang="en-US" altLang="zh-CN" sz="2000" i="0" baseline="0">
              <a:latin typeface="Arial" panose="020B0604020202020204" pitchFamily="34" charset="0"/>
            </a:endParaRPr>
          </a:p>
        </p:txBody>
      </p:sp>
      <p:sp>
        <p:nvSpPr>
          <p:cNvPr id="28675" name="Rectangle 2">
            <a:extLst>
              <a:ext uri="{FF2B5EF4-FFF2-40B4-BE49-F238E27FC236}">
                <a16:creationId xmlns:a16="http://schemas.microsoft.com/office/drawing/2014/main" id="{0A2B6DBB-8779-9164-4572-2ACEF42B7937}"/>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8676" name="Rectangle 3">
            <a:extLst>
              <a:ext uri="{FF2B5EF4-FFF2-40B4-BE49-F238E27FC236}">
                <a16:creationId xmlns:a16="http://schemas.microsoft.com/office/drawing/2014/main" id="{8A3B040A-1425-3231-3913-2E222CC591A9}"/>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28677" name="Group 4">
            <a:extLst>
              <a:ext uri="{FF2B5EF4-FFF2-40B4-BE49-F238E27FC236}">
                <a16:creationId xmlns:a16="http://schemas.microsoft.com/office/drawing/2014/main" id="{1FA49CFB-F217-AAAC-0924-C7926327FF11}"/>
              </a:ext>
            </a:extLst>
          </p:cNvPr>
          <p:cNvGrpSpPr>
            <a:grpSpLocks/>
          </p:cNvGrpSpPr>
          <p:nvPr/>
        </p:nvGrpSpPr>
        <p:grpSpPr bwMode="auto">
          <a:xfrm>
            <a:off x="490538" y="773113"/>
            <a:ext cx="738187" cy="474662"/>
            <a:chOff x="0" y="0"/>
            <a:chExt cx="465" cy="299"/>
          </a:xfrm>
        </p:grpSpPr>
        <p:sp>
          <p:nvSpPr>
            <p:cNvPr id="28686" name="Rectangle 5">
              <a:extLst>
                <a:ext uri="{FF2B5EF4-FFF2-40B4-BE49-F238E27FC236}">
                  <a16:creationId xmlns:a16="http://schemas.microsoft.com/office/drawing/2014/main" id="{888BB534-166C-4CAE-AF9C-BF20C817D78E}"/>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8687" name="Rectangle 6">
              <a:extLst>
                <a:ext uri="{FF2B5EF4-FFF2-40B4-BE49-F238E27FC236}">
                  <a16:creationId xmlns:a16="http://schemas.microsoft.com/office/drawing/2014/main" id="{DC86E76D-9251-F2EF-D872-8A0BA0B43BFD}"/>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28678" name="Rectangle 7">
            <a:extLst>
              <a:ext uri="{FF2B5EF4-FFF2-40B4-BE49-F238E27FC236}">
                <a16:creationId xmlns:a16="http://schemas.microsoft.com/office/drawing/2014/main" id="{A82AF939-E5CE-0EA6-208C-632A67140EA1}"/>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8679" name="Rectangle 8">
            <a:extLst>
              <a:ext uri="{FF2B5EF4-FFF2-40B4-BE49-F238E27FC236}">
                <a16:creationId xmlns:a16="http://schemas.microsoft.com/office/drawing/2014/main" id="{D44E53ED-E936-9728-617D-D57C3015A97E}"/>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8680" name="Rectangle 9">
            <a:extLst>
              <a:ext uri="{FF2B5EF4-FFF2-40B4-BE49-F238E27FC236}">
                <a16:creationId xmlns:a16="http://schemas.microsoft.com/office/drawing/2014/main" id="{C03E7451-29A8-2BAD-DDC5-B5A6F5A6C5B8}"/>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8681" name="Rectangle 10">
            <a:extLst>
              <a:ext uri="{FF2B5EF4-FFF2-40B4-BE49-F238E27FC236}">
                <a16:creationId xmlns:a16="http://schemas.microsoft.com/office/drawing/2014/main" id="{2552822A-F826-CB43-D597-912B58CC4858}"/>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28682" name="Rectangle 11">
            <a:extLst>
              <a:ext uri="{FF2B5EF4-FFF2-40B4-BE49-F238E27FC236}">
                <a16:creationId xmlns:a16="http://schemas.microsoft.com/office/drawing/2014/main" id="{BE1E1B02-FFAC-1D65-00DD-FE568D9AF67B}"/>
              </a:ext>
            </a:extLst>
          </p:cNvPr>
          <p:cNvSpPr>
            <a:spLocks noChangeArrowheads="1"/>
          </p:cNvSpPr>
          <p:nvPr/>
        </p:nvSpPr>
        <p:spPr bwMode="auto">
          <a:xfrm>
            <a:off x="228600" y="1447800"/>
            <a:ext cx="85344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正弦波相对于</a:t>
            </a:r>
            <a:r>
              <a:rPr lang="en-US" altLang="zh-CN" baseline="0">
                <a:ea typeface="宋体" panose="02010600030101010101" pitchFamily="2" charset="-122"/>
              </a:rPr>
              <a:t>0</a:t>
            </a:r>
            <a:r>
              <a:rPr lang="zh-CN" altLang="en-US" baseline="0">
                <a:ea typeface="宋体" panose="02010600030101010101" pitchFamily="2" charset="-122"/>
              </a:rPr>
              <a:t>时刻的偏移量是</a:t>
            </a:r>
            <a:r>
              <a:rPr lang="en-US" altLang="zh-CN" baseline="0">
                <a:ea typeface="宋体" panose="02010600030101010101" pitchFamily="2" charset="-122"/>
              </a:rPr>
              <a:t>1/6</a:t>
            </a:r>
            <a:r>
              <a:rPr lang="zh-CN" altLang="en-US" baseline="0">
                <a:ea typeface="宋体" panose="02010600030101010101" pitchFamily="2" charset="-122"/>
              </a:rPr>
              <a:t>周期，相位的角度值和弧度值是多少？</a:t>
            </a:r>
          </a:p>
        </p:txBody>
      </p:sp>
      <p:sp>
        <p:nvSpPr>
          <p:cNvPr id="28683" name="Text Box 12">
            <a:extLst>
              <a:ext uri="{FF2B5EF4-FFF2-40B4-BE49-F238E27FC236}">
                <a16:creationId xmlns:a16="http://schemas.microsoft.com/office/drawing/2014/main" id="{1A06DB6D-7590-E2F0-065F-94CEC6BB0CC5}"/>
              </a:ext>
            </a:extLst>
          </p:cNvPr>
          <p:cNvSpPr txBox="1">
            <a:spLocks noChangeArrowheads="1"/>
          </p:cNvSpPr>
          <p:nvPr/>
        </p:nvSpPr>
        <p:spPr bwMode="auto">
          <a:xfrm>
            <a:off x="1143000" y="182563"/>
            <a:ext cx="1300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3.6</a:t>
            </a:r>
          </a:p>
        </p:txBody>
      </p:sp>
      <p:sp>
        <p:nvSpPr>
          <p:cNvPr id="28684" name="Rectangle 13">
            <a:extLst>
              <a:ext uri="{FF2B5EF4-FFF2-40B4-BE49-F238E27FC236}">
                <a16:creationId xmlns:a16="http://schemas.microsoft.com/office/drawing/2014/main" id="{2643348F-CDEC-2B70-B82A-642ABB4722DA}"/>
              </a:ext>
            </a:extLst>
          </p:cNvPr>
          <p:cNvSpPr>
            <a:spLocks noChangeArrowheads="1"/>
          </p:cNvSpPr>
          <p:nvPr/>
        </p:nvSpPr>
        <p:spPr bwMode="auto">
          <a:xfrm>
            <a:off x="304800" y="2971800"/>
            <a:ext cx="85344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一个完整的周期是360°，所以1/6周期是 ：</a:t>
            </a:r>
          </a:p>
        </p:txBody>
      </p:sp>
      <p:pic>
        <p:nvPicPr>
          <p:cNvPr id="28685" name="Picture 14">
            <a:extLst>
              <a:ext uri="{FF2B5EF4-FFF2-40B4-BE49-F238E27FC236}">
                <a16:creationId xmlns:a16="http://schemas.microsoft.com/office/drawing/2014/main" id="{F02B68F7-7B18-646B-FB4E-7492880EA5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8475" y="4560888"/>
            <a:ext cx="5607050" cy="620712"/>
          </a:xfrm>
          <a:prstGeom prst="rect">
            <a:avLst/>
          </a:prstGeom>
          <a:solidFill>
            <a:srgbClr val="3366FF"/>
          </a:solidFill>
          <a:ln w="57150">
            <a:solidFill>
              <a:srgbClr val="3366FF"/>
            </a:solid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1">
            <a:extLst>
              <a:ext uri="{FF2B5EF4-FFF2-40B4-BE49-F238E27FC236}">
                <a16:creationId xmlns:a16="http://schemas.microsoft.com/office/drawing/2014/main" id="{3A99D296-CD02-EB09-3C82-7234B21D84B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D8630E35-3416-456E-9950-651A8B517A06}" type="slidenum">
              <a:rPr lang="en-US" altLang="zh-CN" sz="2000" i="0" baseline="0" smtClean="0">
                <a:latin typeface="Arial" panose="020B0604020202020204" pitchFamily="34" charset="0"/>
              </a:rPr>
              <a:pPr/>
              <a:t>26</a:t>
            </a:fld>
            <a:endParaRPr lang="en-US" altLang="zh-CN" sz="2000" i="0" baseline="0">
              <a:latin typeface="Arial" panose="020B0604020202020204" pitchFamily="34" charset="0"/>
            </a:endParaRPr>
          </a:p>
        </p:txBody>
      </p:sp>
      <p:sp>
        <p:nvSpPr>
          <p:cNvPr id="29699" name="Rectangle 2">
            <a:extLst>
              <a:ext uri="{FF2B5EF4-FFF2-40B4-BE49-F238E27FC236}">
                <a16:creationId xmlns:a16="http://schemas.microsoft.com/office/drawing/2014/main" id="{24A9663B-3E0C-A718-B62A-2CAB0BE31C0C}"/>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9700" name="Rectangle 3">
            <a:extLst>
              <a:ext uri="{FF2B5EF4-FFF2-40B4-BE49-F238E27FC236}">
                <a16:creationId xmlns:a16="http://schemas.microsoft.com/office/drawing/2014/main" id="{8BAB7192-CA73-D062-B369-3D2C4E938806}"/>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9701" name="Rectangle 4">
            <a:extLst>
              <a:ext uri="{FF2B5EF4-FFF2-40B4-BE49-F238E27FC236}">
                <a16:creationId xmlns:a16="http://schemas.microsoft.com/office/drawing/2014/main" id="{04179F1F-B4F3-CF29-9CE3-1E3AD9A1503F}"/>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9702" name="Rectangle 5">
            <a:extLst>
              <a:ext uri="{FF2B5EF4-FFF2-40B4-BE49-F238E27FC236}">
                <a16:creationId xmlns:a16="http://schemas.microsoft.com/office/drawing/2014/main" id="{A6DC3942-D405-CD08-D762-FE09C7362287}"/>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9703" name="Rectangle 6">
            <a:extLst>
              <a:ext uri="{FF2B5EF4-FFF2-40B4-BE49-F238E27FC236}">
                <a16:creationId xmlns:a16="http://schemas.microsoft.com/office/drawing/2014/main" id="{DD7D66F1-404C-CFC9-1897-9AC7130AAE3A}"/>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9704" name="Rectangle 7">
            <a:extLst>
              <a:ext uri="{FF2B5EF4-FFF2-40B4-BE49-F238E27FC236}">
                <a16:creationId xmlns:a16="http://schemas.microsoft.com/office/drawing/2014/main" id="{3B3210B1-BF37-9DA0-08C4-9304AC157AA4}"/>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9705" name="Rectangle 8">
            <a:extLst>
              <a:ext uri="{FF2B5EF4-FFF2-40B4-BE49-F238E27FC236}">
                <a16:creationId xmlns:a16="http://schemas.microsoft.com/office/drawing/2014/main" id="{CBD1581F-0511-F889-62EC-9FCFD7A86E7C}"/>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29706" name="Line 9">
            <a:extLst>
              <a:ext uri="{FF2B5EF4-FFF2-40B4-BE49-F238E27FC236}">
                <a16:creationId xmlns:a16="http://schemas.microsoft.com/office/drawing/2014/main" id="{51669767-6DA0-A9E6-BD07-BF6F5997BB3D}"/>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7" name="Line 10">
            <a:extLst>
              <a:ext uri="{FF2B5EF4-FFF2-40B4-BE49-F238E27FC236}">
                <a16:creationId xmlns:a16="http://schemas.microsoft.com/office/drawing/2014/main" id="{F6D930D5-72CA-055D-0A17-833D1E8BD607}"/>
              </a:ext>
            </a:extLst>
          </p:cNvPr>
          <p:cNvSpPr>
            <a:spLocks noChangeShapeType="1"/>
          </p:cNvSpPr>
          <p:nvPr/>
        </p:nvSpPr>
        <p:spPr bwMode="auto">
          <a:xfrm>
            <a:off x="457200" y="5105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8" name="Rectangle 11">
            <a:extLst>
              <a:ext uri="{FF2B5EF4-FFF2-40B4-BE49-F238E27FC236}">
                <a16:creationId xmlns:a16="http://schemas.microsoft.com/office/drawing/2014/main" id="{A74ACF10-781F-42CA-1373-79A893D9316A}"/>
              </a:ext>
            </a:extLst>
          </p:cNvPr>
          <p:cNvSpPr>
            <a:spLocks noChangeArrowheads="1"/>
          </p:cNvSpPr>
          <p:nvPr/>
        </p:nvSpPr>
        <p:spPr bwMode="auto">
          <a:xfrm>
            <a:off x="457200" y="3063875"/>
            <a:ext cx="8420100" cy="1077913"/>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信号的频率与介质无关，但波长取决于频率和介质，表示为传播速度</a:t>
            </a:r>
            <a:r>
              <a:rPr lang="en-US" altLang="zh-CN" sz="3200" i="0" baseline="0">
                <a:latin typeface="Arial" panose="020B0604020202020204" pitchFamily="34" charset="0"/>
                <a:ea typeface="宋体" panose="02010600030101010101" pitchFamily="2" charset="-122"/>
              </a:rPr>
              <a:t>c</a:t>
            </a:r>
            <a:r>
              <a:rPr lang="zh-CN" altLang="en-US" sz="3200" i="0" baseline="0">
                <a:latin typeface="Arial" panose="020B0604020202020204" pitchFamily="34" charset="0"/>
                <a:ea typeface="宋体" panose="02010600030101010101" pitchFamily="2" charset="-122"/>
              </a:rPr>
              <a:t>和周期</a:t>
            </a:r>
            <a:r>
              <a:rPr lang="en-US" altLang="zh-CN" sz="3200" i="0" baseline="0">
                <a:latin typeface="Arial" panose="020B0604020202020204" pitchFamily="34" charset="0"/>
                <a:ea typeface="宋体" panose="02010600030101010101" pitchFamily="2" charset="-122"/>
              </a:rPr>
              <a:t>T</a:t>
            </a:r>
            <a:r>
              <a:rPr lang="zh-CN" altLang="en-US" sz="3200" i="0" baseline="0">
                <a:latin typeface="Arial" panose="020B0604020202020204" pitchFamily="34" charset="0"/>
                <a:ea typeface="宋体" panose="02010600030101010101" pitchFamily="2" charset="-122"/>
              </a:rPr>
              <a:t>的乘积：</a:t>
            </a:r>
          </a:p>
        </p:txBody>
      </p:sp>
      <p:grpSp>
        <p:nvGrpSpPr>
          <p:cNvPr id="29709" name="Group 12">
            <a:extLst>
              <a:ext uri="{FF2B5EF4-FFF2-40B4-BE49-F238E27FC236}">
                <a16:creationId xmlns:a16="http://schemas.microsoft.com/office/drawing/2014/main" id="{12803A96-B8C0-10AF-EE1E-5692E27C0C2A}"/>
              </a:ext>
            </a:extLst>
          </p:cNvPr>
          <p:cNvGrpSpPr>
            <a:grpSpLocks/>
          </p:cNvGrpSpPr>
          <p:nvPr/>
        </p:nvGrpSpPr>
        <p:grpSpPr bwMode="auto">
          <a:xfrm>
            <a:off x="457200" y="2286000"/>
            <a:ext cx="1143000" cy="566738"/>
            <a:chOff x="0" y="0"/>
            <a:chExt cx="720" cy="357"/>
          </a:xfrm>
        </p:grpSpPr>
        <p:pic>
          <p:nvPicPr>
            <p:cNvPr id="29711" name="Picture 13">
              <a:extLst>
                <a:ext uri="{FF2B5EF4-FFF2-40B4-BE49-F238E27FC236}">
                  <a16:creationId xmlns:a16="http://schemas.microsoft.com/office/drawing/2014/main" id="{90932D4A-5043-3722-48D5-2BF4BED994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12" name="Text Box 14">
              <a:extLst>
                <a:ext uri="{FF2B5EF4-FFF2-40B4-BE49-F238E27FC236}">
                  <a16:creationId xmlns:a16="http://schemas.microsoft.com/office/drawing/2014/main" id="{6911090F-9089-6089-FBD1-298D6097EB48}"/>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pic>
        <p:nvPicPr>
          <p:cNvPr id="29710" name="图片 17" descr="QQ截图20140908180213.png">
            <a:extLst>
              <a:ext uri="{FF2B5EF4-FFF2-40B4-BE49-F238E27FC236}">
                <a16:creationId xmlns:a16="http://schemas.microsoft.com/office/drawing/2014/main" id="{2FDFDA83-17BE-1C3D-868C-0BB84D03B5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4256088"/>
            <a:ext cx="990600" cy="77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1">
            <a:extLst>
              <a:ext uri="{FF2B5EF4-FFF2-40B4-BE49-F238E27FC236}">
                <a16:creationId xmlns:a16="http://schemas.microsoft.com/office/drawing/2014/main" id="{D6242FBE-D95B-A8F0-FA72-74EEF239E6B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65448D92-D86C-43D4-A63E-1475A873998D}" type="slidenum">
              <a:rPr lang="en-US" altLang="zh-CN" sz="2000" i="0" baseline="0" smtClean="0">
                <a:latin typeface="Arial" panose="020B0604020202020204" pitchFamily="34" charset="0"/>
              </a:rPr>
              <a:pPr/>
              <a:t>27</a:t>
            </a:fld>
            <a:endParaRPr lang="en-US" altLang="zh-CN" sz="2000" i="0" baseline="0">
              <a:latin typeface="Arial" panose="020B0604020202020204" pitchFamily="34" charset="0"/>
            </a:endParaRPr>
          </a:p>
        </p:txBody>
      </p:sp>
      <p:sp>
        <p:nvSpPr>
          <p:cNvPr id="30723" name="Line 2">
            <a:extLst>
              <a:ext uri="{FF2B5EF4-FFF2-40B4-BE49-F238E27FC236}">
                <a16:creationId xmlns:a16="http://schemas.microsoft.com/office/drawing/2014/main" id="{EC3354D4-3D4D-E8F2-8B3F-73BD6CC7AF5E}"/>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24" name="Line 3">
            <a:extLst>
              <a:ext uri="{FF2B5EF4-FFF2-40B4-BE49-F238E27FC236}">
                <a16:creationId xmlns:a16="http://schemas.microsoft.com/office/drawing/2014/main" id="{27A826B0-C7B1-E76C-C1C4-1C6EEE8DF78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25" name="Text Box 4">
            <a:extLst>
              <a:ext uri="{FF2B5EF4-FFF2-40B4-BE49-F238E27FC236}">
                <a16:creationId xmlns:a16="http://schemas.microsoft.com/office/drawing/2014/main" id="{D03CE801-8559-1C17-A9CB-D74F075C101C}"/>
              </a:ext>
            </a:extLst>
          </p:cNvPr>
          <p:cNvSpPr txBox="1">
            <a:spLocks noChangeArrowheads="1"/>
          </p:cNvSpPr>
          <p:nvPr/>
        </p:nvSpPr>
        <p:spPr bwMode="auto">
          <a:xfrm>
            <a:off x="304800" y="762000"/>
            <a:ext cx="2366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3.6  </a:t>
            </a:r>
            <a:r>
              <a:rPr lang="zh-CN" altLang="en-US" sz="2000" baseline="0">
                <a:ea typeface="宋体" panose="02010600030101010101" pitchFamily="2" charset="-122"/>
              </a:rPr>
              <a:t>波长和周期</a:t>
            </a:r>
          </a:p>
        </p:txBody>
      </p:sp>
      <p:sp>
        <p:nvSpPr>
          <p:cNvPr id="30726" name="Line 5">
            <a:extLst>
              <a:ext uri="{FF2B5EF4-FFF2-40B4-BE49-F238E27FC236}">
                <a16:creationId xmlns:a16="http://schemas.microsoft.com/office/drawing/2014/main" id="{5C365E3B-76F8-FDAA-92BC-922ACB2809E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0727" name="Picture 6">
            <a:extLst>
              <a:ext uri="{FF2B5EF4-FFF2-40B4-BE49-F238E27FC236}">
                <a16:creationId xmlns:a16="http://schemas.microsoft.com/office/drawing/2014/main" id="{A3FB3F90-D7B2-AE26-79FB-74559EEF61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778125"/>
            <a:ext cx="8034338" cy="200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1">
            <a:extLst>
              <a:ext uri="{FF2B5EF4-FFF2-40B4-BE49-F238E27FC236}">
                <a16:creationId xmlns:a16="http://schemas.microsoft.com/office/drawing/2014/main" id="{5E20512E-BDC0-F945-E353-2F5C41419C7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AB905B58-AA41-4268-B7F3-34B228A61710}" type="slidenum">
              <a:rPr lang="en-US" altLang="zh-CN" sz="2000" i="0" baseline="0" smtClean="0">
                <a:latin typeface="Arial" panose="020B0604020202020204" pitchFamily="34" charset="0"/>
              </a:rPr>
              <a:pPr/>
              <a:t>28</a:t>
            </a:fld>
            <a:endParaRPr lang="en-US" altLang="zh-CN" sz="2000" i="0" baseline="0">
              <a:latin typeface="Arial" panose="020B0604020202020204" pitchFamily="34" charset="0"/>
            </a:endParaRPr>
          </a:p>
        </p:txBody>
      </p:sp>
      <p:sp>
        <p:nvSpPr>
          <p:cNvPr id="31747" name="Rectangle 2">
            <a:extLst>
              <a:ext uri="{FF2B5EF4-FFF2-40B4-BE49-F238E27FC236}">
                <a16:creationId xmlns:a16="http://schemas.microsoft.com/office/drawing/2014/main" id="{C6D2E59C-1112-C82F-0557-D21EFD7F22BF}"/>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1748" name="Rectangle 3">
            <a:extLst>
              <a:ext uri="{FF2B5EF4-FFF2-40B4-BE49-F238E27FC236}">
                <a16:creationId xmlns:a16="http://schemas.microsoft.com/office/drawing/2014/main" id="{9BF0F9B6-F369-0C84-2FE0-8E92C4C6DE04}"/>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1749" name="Rectangle 4">
            <a:extLst>
              <a:ext uri="{FF2B5EF4-FFF2-40B4-BE49-F238E27FC236}">
                <a16:creationId xmlns:a16="http://schemas.microsoft.com/office/drawing/2014/main" id="{98332FD2-345D-FBA6-E117-3A7870F0F826}"/>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1750" name="Rectangle 5">
            <a:extLst>
              <a:ext uri="{FF2B5EF4-FFF2-40B4-BE49-F238E27FC236}">
                <a16:creationId xmlns:a16="http://schemas.microsoft.com/office/drawing/2014/main" id="{68E689E9-B8A0-B727-E9E2-4183BF3B69E1}"/>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1751" name="Rectangle 6">
            <a:extLst>
              <a:ext uri="{FF2B5EF4-FFF2-40B4-BE49-F238E27FC236}">
                <a16:creationId xmlns:a16="http://schemas.microsoft.com/office/drawing/2014/main" id="{BCC258BF-9D2E-2C21-EA5E-552B764D2F72}"/>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1752" name="Rectangle 7">
            <a:extLst>
              <a:ext uri="{FF2B5EF4-FFF2-40B4-BE49-F238E27FC236}">
                <a16:creationId xmlns:a16="http://schemas.microsoft.com/office/drawing/2014/main" id="{3AD40FEF-FC69-0431-F023-57BA3C38A53F}"/>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1753" name="Rectangle 8">
            <a:extLst>
              <a:ext uri="{FF2B5EF4-FFF2-40B4-BE49-F238E27FC236}">
                <a16:creationId xmlns:a16="http://schemas.microsoft.com/office/drawing/2014/main" id="{1F3B772E-1F58-ADAA-A88E-D718B852F08F}"/>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1754" name="Line 9">
            <a:extLst>
              <a:ext uri="{FF2B5EF4-FFF2-40B4-BE49-F238E27FC236}">
                <a16:creationId xmlns:a16="http://schemas.microsoft.com/office/drawing/2014/main" id="{787814EA-2BF6-B502-D3E7-9F85BB16F87B}"/>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5" name="Line 10">
            <a:extLst>
              <a:ext uri="{FF2B5EF4-FFF2-40B4-BE49-F238E27FC236}">
                <a16:creationId xmlns:a16="http://schemas.microsoft.com/office/drawing/2014/main" id="{C6FAD1A8-9E92-3062-EAD5-4C70DD760D29}"/>
              </a:ext>
            </a:extLst>
          </p:cNvPr>
          <p:cNvSpPr>
            <a:spLocks noChangeShapeType="1"/>
          </p:cNvSpPr>
          <p:nvPr/>
        </p:nvSpPr>
        <p:spPr bwMode="auto">
          <a:xfrm>
            <a:off x="457200" y="4267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6" name="Rectangle 11">
            <a:extLst>
              <a:ext uri="{FF2B5EF4-FFF2-40B4-BE49-F238E27FC236}">
                <a16:creationId xmlns:a16="http://schemas.microsoft.com/office/drawing/2014/main" id="{5D7AFC9C-2AD2-86C7-2314-E254DE723136}"/>
              </a:ext>
            </a:extLst>
          </p:cNvPr>
          <p:cNvSpPr>
            <a:spLocks noChangeArrowheads="1"/>
          </p:cNvSpPr>
          <p:nvPr/>
        </p:nvSpPr>
        <p:spPr bwMode="auto">
          <a:xfrm>
            <a:off x="457200" y="3063875"/>
            <a:ext cx="8420100" cy="1077913"/>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时域分析：表示信号振幅随时间的变化情况；</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频率分析：表示信号频率与峰值振幅关系；</a:t>
            </a:r>
          </a:p>
        </p:txBody>
      </p:sp>
      <p:grpSp>
        <p:nvGrpSpPr>
          <p:cNvPr id="31757" name="Group 12">
            <a:extLst>
              <a:ext uri="{FF2B5EF4-FFF2-40B4-BE49-F238E27FC236}">
                <a16:creationId xmlns:a16="http://schemas.microsoft.com/office/drawing/2014/main" id="{94619F1A-B413-1A9F-D5DF-36DEFC193C64}"/>
              </a:ext>
            </a:extLst>
          </p:cNvPr>
          <p:cNvGrpSpPr>
            <a:grpSpLocks/>
          </p:cNvGrpSpPr>
          <p:nvPr/>
        </p:nvGrpSpPr>
        <p:grpSpPr bwMode="auto">
          <a:xfrm>
            <a:off x="457200" y="2286000"/>
            <a:ext cx="1143000" cy="566738"/>
            <a:chOff x="0" y="0"/>
            <a:chExt cx="720" cy="357"/>
          </a:xfrm>
        </p:grpSpPr>
        <p:pic>
          <p:nvPicPr>
            <p:cNvPr id="31758" name="Picture 13">
              <a:extLst>
                <a:ext uri="{FF2B5EF4-FFF2-40B4-BE49-F238E27FC236}">
                  <a16:creationId xmlns:a16="http://schemas.microsoft.com/office/drawing/2014/main" id="{7EF2C5FA-5A53-1E82-4E38-B90B1915E1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9" name="Text Box 14">
              <a:extLst>
                <a:ext uri="{FF2B5EF4-FFF2-40B4-BE49-F238E27FC236}">
                  <a16:creationId xmlns:a16="http://schemas.microsoft.com/office/drawing/2014/main" id="{1C527A12-83D5-ECAF-1046-1CCED1DDDF1F}"/>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F8D2345B-F9DB-F56A-5BF4-5B7ABDB0BAA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BB90E8A6-FD44-4D02-BEF4-344F1461AE6C}" type="slidenum">
              <a:rPr lang="en-US" altLang="zh-CN" sz="2000" i="0" baseline="0" smtClean="0">
                <a:latin typeface="Arial" panose="020B0604020202020204" pitchFamily="34" charset="0"/>
              </a:rPr>
              <a:pPr/>
              <a:t>29</a:t>
            </a:fld>
            <a:endParaRPr lang="en-US" altLang="zh-CN" sz="2000" i="0" baseline="0">
              <a:latin typeface="Arial" panose="020B0604020202020204" pitchFamily="34" charset="0"/>
            </a:endParaRPr>
          </a:p>
        </p:txBody>
      </p:sp>
      <p:sp>
        <p:nvSpPr>
          <p:cNvPr id="32771" name="Line 2">
            <a:extLst>
              <a:ext uri="{FF2B5EF4-FFF2-40B4-BE49-F238E27FC236}">
                <a16:creationId xmlns:a16="http://schemas.microsoft.com/office/drawing/2014/main" id="{6CF1F9A2-7B8F-F30F-E547-8D2A56FF0BA8}"/>
              </a:ext>
            </a:extLst>
          </p:cNvPr>
          <p:cNvSpPr>
            <a:spLocks noChangeShapeType="1"/>
          </p:cNvSpPr>
          <p:nvPr/>
        </p:nvSpPr>
        <p:spPr bwMode="auto">
          <a:xfrm>
            <a:off x="152400" y="228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2" name="Line 3">
            <a:extLst>
              <a:ext uri="{FF2B5EF4-FFF2-40B4-BE49-F238E27FC236}">
                <a16:creationId xmlns:a16="http://schemas.microsoft.com/office/drawing/2014/main" id="{6E466B56-94A9-5C8D-2789-92D4A28D1CE7}"/>
              </a:ext>
            </a:extLst>
          </p:cNvPr>
          <p:cNvSpPr>
            <a:spLocks noChangeShapeType="1"/>
          </p:cNvSpPr>
          <p:nvPr/>
        </p:nvSpPr>
        <p:spPr bwMode="auto">
          <a:xfrm>
            <a:off x="152400" y="10668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3" name="Text Box 4">
            <a:extLst>
              <a:ext uri="{FF2B5EF4-FFF2-40B4-BE49-F238E27FC236}">
                <a16:creationId xmlns:a16="http://schemas.microsoft.com/office/drawing/2014/main" id="{98AE52D5-8239-2334-B2D4-32D60DB51EC7}"/>
              </a:ext>
            </a:extLst>
          </p:cNvPr>
          <p:cNvSpPr txBox="1">
            <a:spLocks noChangeArrowheads="1"/>
          </p:cNvSpPr>
          <p:nvPr/>
        </p:nvSpPr>
        <p:spPr bwMode="auto">
          <a:xfrm>
            <a:off x="304800" y="457200"/>
            <a:ext cx="3890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3.7  </a:t>
            </a:r>
            <a:r>
              <a:rPr lang="zh-CN" altLang="en-US" sz="2000" baseline="0">
                <a:ea typeface="宋体" panose="02010600030101010101" pitchFamily="2" charset="-122"/>
              </a:rPr>
              <a:t>正弦波的时域图和频域图</a:t>
            </a:r>
          </a:p>
        </p:txBody>
      </p:sp>
      <p:sp>
        <p:nvSpPr>
          <p:cNvPr id="32774" name="Line 5">
            <a:extLst>
              <a:ext uri="{FF2B5EF4-FFF2-40B4-BE49-F238E27FC236}">
                <a16:creationId xmlns:a16="http://schemas.microsoft.com/office/drawing/2014/main" id="{FB10FB77-1863-0895-8598-53DC21097C3B}"/>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2775" name="Picture 6">
            <a:extLst>
              <a:ext uri="{FF2B5EF4-FFF2-40B4-BE49-F238E27FC236}">
                <a16:creationId xmlns:a16="http://schemas.microsoft.com/office/drawing/2014/main" id="{35A3DB5B-B6A4-7C82-EA81-2AE8A21DAB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220788"/>
            <a:ext cx="7058025"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6" name="Text Box 7">
            <a:extLst>
              <a:ext uri="{FF2B5EF4-FFF2-40B4-BE49-F238E27FC236}">
                <a16:creationId xmlns:a16="http://schemas.microsoft.com/office/drawing/2014/main" id="{FC643903-072D-5F87-20E1-1BC714758A40}"/>
              </a:ext>
            </a:extLst>
          </p:cNvPr>
          <p:cNvSpPr txBox="1">
            <a:spLocks noChangeArrowheads="1"/>
          </p:cNvSpPr>
          <p:nvPr/>
        </p:nvSpPr>
        <p:spPr bwMode="auto">
          <a:xfrm>
            <a:off x="990600" y="3302000"/>
            <a:ext cx="5029200" cy="323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000" i="0">
                <a:ea typeface="宋体" panose="02010600030101010101" pitchFamily="2" charset="-122"/>
              </a:rPr>
              <a:t>a.时域图中的正弦波（峰值：5V 频率：6Hz）</a:t>
            </a:r>
          </a:p>
        </p:txBody>
      </p:sp>
      <p:sp>
        <p:nvSpPr>
          <p:cNvPr id="32777" name="Text Box 8">
            <a:extLst>
              <a:ext uri="{FF2B5EF4-FFF2-40B4-BE49-F238E27FC236}">
                <a16:creationId xmlns:a16="http://schemas.microsoft.com/office/drawing/2014/main" id="{587ECA4B-F960-4F01-C6CA-FC7A1C1908B7}"/>
              </a:ext>
            </a:extLst>
          </p:cNvPr>
          <p:cNvSpPr txBox="1">
            <a:spLocks noChangeArrowheads="1"/>
          </p:cNvSpPr>
          <p:nvPr/>
        </p:nvSpPr>
        <p:spPr bwMode="auto">
          <a:xfrm>
            <a:off x="979488" y="5686425"/>
            <a:ext cx="5802312" cy="323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000" i="0">
                <a:ea typeface="宋体" panose="02010600030101010101" pitchFamily="2" charset="-122"/>
              </a:rPr>
              <a:t>b.频域图中的相同正弦波（峰值：5V 频率：6Hz）</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1">
            <a:extLst>
              <a:ext uri="{FF2B5EF4-FFF2-40B4-BE49-F238E27FC236}">
                <a16:creationId xmlns:a16="http://schemas.microsoft.com/office/drawing/2014/main" id="{AC6D3264-1D0E-7269-8BDF-E1C9C682C06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A5A5C171-84F3-4E16-BC95-047444364FBA}" type="slidenum">
              <a:rPr lang="en-US" altLang="zh-CN" sz="2000" i="0" baseline="0" smtClean="0">
                <a:latin typeface="Arial" panose="020B0604020202020204" pitchFamily="34" charset="0"/>
              </a:rPr>
              <a:pPr/>
              <a:t>30</a:t>
            </a:fld>
            <a:endParaRPr lang="en-US" altLang="zh-CN" sz="2000" i="0" baseline="0">
              <a:latin typeface="Arial" panose="020B0604020202020204" pitchFamily="34" charset="0"/>
            </a:endParaRPr>
          </a:p>
        </p:txBody>
      </p:sp>
      <p:sp>
        <p:nvSpPr>
          <p:cNvPr id="33795" name="Rectangle 2">
            <a:extLst>
              <a:ext uri="{FF2B5EF4-FFF2-40B4-BE49-F238E27FC236}">
                <a16:creationId xmlns:a16="http://schemas.microsoft.com/office/drawing/2014/main" id="{FF808489-61FB-3C25-86C6-B4DF2E597E71}"/>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3796" name="Rectangle 3">
            <a:extLst>
              <a:ext uri="{FF2B5EF4-FFF2-40B4-BE49-F238E27FC236}">
                <a16:creationId xmlns:a16="http://schemas.microsoft.com/office/drawing/2014/main" id="{0A2116D3-CF07-346C-2839-C6D8BFA81A8A}"/>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3797" name="Rectangle 4">
            <a:extLst>
              <a:ext uri="{FF2B5EF4-FFF2-40B4-BE49-F238E27FC236}">
                <a16:creationId xmlns:a16="http://schemas.microsoft.com/office/drawing/2014/main" id="{3D2C5418-D003-2A01-1936-261FE1D145AA}"/>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3798" name="Rectangle 5">
            <a:extLst>
              <a:ext uri="{FF2B5EF4-FFF2-40B4-BE49-F238E27FC236}">
                <a16:creationId xmlns:a16="http://schemas.microsoft.com/office/drawing/2014/main" id="{8FC41663-DAD0-A23B-0605-5800EDA51448}"/>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3799" name="Rectangle 6">
            <a:extLst>
              <a:ext uri="{FF2B5EF4-FFF2-40B4-BE49-F238E27FC236}">
                <a16:creationId xmlns:a16="http://schemas.microsoft.com/office/drawing/2014/main" id="{276A18F8-883E-1A2C-DFD3-70E511F2BA2B}"/>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3800" name="Rectangle 7">
            <a:extLst>
              <a:ext uri="{FF2B5EF4-FFF2-40B4-BE49-F238E27FC236}">
                <a16:creationId xmlns:a16="http://schemas.microsoft.com/office/drawing/2014/main" id="{B7F80405-2440-E6B9-90D0-4F1C7CF10DCB}"/>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3801" name="Rectangle 8">
            <a:extLst>
              <a:ext uri="{FF2B5EF4-FFF2-40B4-BE49-F238E27FC236}">
                <a16:creationId xmlns:a16="http://schemas.microsoft.com/office/drawing/2014/main" id="{9B7BC377-9A76-B59E-76E8-33EEF0653B4E}"/>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3802" name="Line 9">
            <a:extLst>
              <a:ext uri="{FF2B5EF4-FFF2-40B4-BE49-F238E27FC236}">
                <a16:creationId xmlns:a16="http://schemas.microsoft.com/office/drawing/2014/main" id="{261AFACC-4B0B-4D2C-6C77-BA2657625560}"/>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3" name="Line 10">
            <a:extLst>
              <a:ext uri="{FF2B5EF4-FFF2-40B4-BE49-F238E27FC236}">
                <a16:creationId xmlns:a16="http://schemas.microsoft.com/office/drawing/2014/main" id="{04E065C6-786F-C7F6-2B54-EF97508B25B4}"/>
              </a:ext>
            </a:extLst>
          </p:cNvPr>
          <p:cNvSpPr>
            <a:spLocks noChangeShapeType="1"/>
          </p:cNvSpPr>
          <p:nvPr/>
        </p:nvSpPr>
        <p:spPr bwMode="auto">
          <a:xfrm>
            <a:off x="457200" y="4191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4" name="Rectangle 11">
            <a:extLst>
              <a:ext uri="{FF2B5EF4-FFF2-40B4-BE49-F238E27FC236}">
                <a16:creationId xmlns:a16="http://schemas.microsoft.com/office/drawing/2014/main" id="{51F31DCE-9F1A-BD1D-A1D9-AEA402E524D7}"/>
              </a:ext>
            </a:extLst>
          </p:cNvPr>
          <p:cNvSpPr>
            <a:spLocks noChangeArrowheads="1"/>
          </p:cNvSpPr>
          <p:nvPr/>
        </p:nvSpPr>
        <p:spPr bwMode="auto">
          <a:xfrm>
            <a:off x="495300" y="3063875"/>
            <a:ext cx="8077200" cy="10668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用频域图中单个峰值可表示时域图中一个完整正弦波。</a:t>
            </a:r>
          </a:p>
        </p:txBody>
      </p:sp>
      <p:grpSp>
        <p:nvGrpSpPr>
          <p:cNvPr id="33805" name="Group 12">
            <a:extLst>
              <a:ext uri="{FF2B5EF4-FFF2-40B4-BE49-F238E27FC236}">
                <a16:creationId xmlns:a16="http://schemas.microsoft.com/office/drawing/2014/main" id="{A8A01C50-92E8-3BC3-2B7E-6588C96F35AD}"/>
              </a:ext>
            </a:extLst>
          </p:cNvPr>
          <p:cNvGrpSpPr>
            <a:grpSpLocks/>
          </p:cNvGrpSpPr>
          <p:nvPr/>
        </p:nvGrpSpPr>
        <p:grpSpPr bwMode="auto">
          <a:xfrm>
            <a:off x="457200" y="2286000"/>
            <a:ext cx="1143000" cy="566738"/>
            <a:chOff x="0" y="0"/>
            <a:chExt cx="720" cy="357"/>
          </a:xfrm>
        </p:grpSpPr>
        <p:pic>
          <p:nvPicPr>
            <p:cNvPr id="33806" name="Picture 13">
              <a:extLst>
                <a:ext uri="{FF2B5EF4-FFF2-40B4-BE49-F238E27FC236}">
                  <a16:creationId xmlns:a16="http://schemas.microsoft.com/office/drawing/2014/main" id="{5D5A770B-D5B6-3FC6-E7DF-621E9C51DD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7" name="Text Box 14">
              <a:extLst>
                <a:ext uri="{FF2B5EF4-FFF2-40B4-BE49-F238E27FC236}">
                  <a16:creationId xmlns:a16="http://schemas.microsoft.com/office/drawing/2014/main" id="{D3040628-E9DE-CEB1-3110-444CED8C6CB0}"/>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1">
            <a:extLst>
              <a:ext uri="{FF2B5EF4-FFF2-40B4-BE49-F238E27FC236}">
                <a16:creationId xmlns:a16="http://schemas.microsoft.com/office/drawing/2014/main" id="{50AA4BED-9FDC-3311-F897-B859C724A00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887D0708-C814-4A18-AE4C-92A7BA6CFF02}" type="slidenum">
              <a:rPr lang="en-US" altLang="zh-CN" sz="2000" i="0" baseline="0" smtClean="0">
                <a:latin typeface="Arial" panose="020B0604020202020204" pitchFamily="34" charset="0"/>
              </a:rPr>
              <a:pPr/>
              <a:t>31</a:t>
            </a:fld>
            <a:endParaRPr lang="en-US" altLang="zh-CN" sz="2000" i="0" baseline="0">
              <a:latin typeface="Arial" panose="020B0604020202020204" pitchFamily="34" charset="0"/>
            </a:endParaRPr>
          </a:p>
        </p:txBody>
      </p:sp>
      <p:sp>
        <p:nvSpPr>
          <p:cNvPr id="34819" name="Line 2">
            <a:extLst>
              <a:ext uri="{FF2B5EF4-FFF2-40B4-BE49-F238E27FC236}">
                <a16:creationId xmlns:a16="http://schemas.microsoft.com/office/drawing/2014/main" id="{F36DA2F2-3B34-CF68-CD74-7157F8896248}"/>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0" name="Line 3">
            <a:extLst>
              <a:ext uri="{FF2B5EF4-FFF2-40B4-BE49-F238E27FC236}">
                <a16:creationId xmlns:a16="http://schemas.microsoft.com/office/drawing/2014/main" id="{B66E1654-6BF5-9504-DE08-768BCA403619}"/>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1" name="Text Box 4">
            <a:extLst>
              <a:ext uri="{FF2B5EF4-FFF2-40B4-BE49-F238E27FC236}">
                <a16:creationId xmlns:a16="http://schemas.microsoft.com/office/drawing/2014/main" id="{0934C6F9-D55D-E17C-FBF6-1DC3E689681C}"/>
              </a:ext>
            </a:extLst>
          </p:cNvPr>
          <p:cNvSpPr txBox="1">
            <a:spLocks noChangeArrowheads="1"/>
          </p:cNvSpPr>
          <p:nvPr/>
        </p:nvSpPr>
        <p:spPr bwMode="auto">
          <a:xfrm>
            <a:off x="304800" y="381000"/>
            <a:ext cx="3890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3.8  </a:t>
            </a:r>
            <a:r>
              <a:rPr lang="zh-CN" altLang="en-US" sz="2000" baseline="0">
                <a:ea typeface="宋体" panose="02010600030101010101" pitchFamily="2" charset="-122"/>
              </a:rPr>
              <a:t>三个正弦波的时域和频域</a:t>
            </a:r>
          </a:p>
        </p:txBody>
      </p:sp>
      <p:sp>
        <p:nvSpPr>
          <p:cNvPr id="34822" name="Line 5">
            <a:extLst>
              <a:ext uri="{FF2B5EF4-FFF2-40B4-BE49-F238E27FC236}">
                <a16:creationId xmlns:a16="http://schemas.microsoft.com/office/drawing/2014/main" id="{3CC8D100-5CE6-9C67-613B-BE2EC3F58BF8}"/>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4823" name="Picture 6">
            <a:extLst>
              <a:ext uri="{FF2B5EF4-FFF2-40B4-BE49-F238E27FC236}">
                <a16:creationId xmlns:a16="http://schemas.microsoft.com/office/drawing/2014/main" id="{84E60396-D238-3A6A-F7A7-7E53CA3CFC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419350"/>
            <a:ext cx="8583613"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4" name="Text Box 7">
            <a:extLst>
              <a:ext uri="{FF2B5EF4-FFF2-40B4-BE49-F238E27FC236}">
                <a16:creationId xmlns:a16="http://schemas.microsoft.com/office/drawing/2014/main" id="{0C81CA58-ADBC-2528-42AF-BE0EE4449069}"/>
              </a:ext>
            </a:extLst>
          </p:cNvPr>
          <p:cNvSpPr txBox="1">
            <a:spLocks noChangeArrowheads="1"/>
          </p:cNvSpPr>
          <p:nvPr/>
        </p:nvSpPr>
        <p:spPr bwMode="auto">
          <a:xfrm>
            <a:off x="168275" y="5154613"/>
            <a:ext cx="4786313" cy="6048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a:ea typeface="宋体" panose="02010600030101010101" pitchFamily="2" charset="-122"/>
              </a:rPr>
              <a:t>a.三个频率分别为0、8和16的正弦波的时域表示</a:t>
            </a:r>
          </a:p>
          <a:p>
            <a:pPr>
              <a:buFont typeface="Arial" panose="020B0604020202020204" pitchFamily="34" charset="0"/>
              <a:buNone/>
            </a:pPr>
            <a:endParaRPr lang="zh-CN" altLang="en-US" sz="2400" i="0">
              <a:ea typeface="宋体" panose="02010600030101010101" pitchFamily="2" charset="-122"/>
            </a:endParaRPr>
          </a:p>
        </p:txBody>
      </p:sp>
      <p:sp>
        <p:nvSpPr>
          <p:cNvPr id="34825" name="Text Box 8">
            <a:extLst>
              <a:ext uri="{FF2B5EF4-FFF2-40B4-BE49-F238E27FC236}">
                <a16:creationId xmlns:a16="http://schemas.microsoft.com/office/drawing/2014/main" id="{95574FD7-04A5-5ECE-3407-A0F999F6A3B1}"/>
              </a:ext>
            </a:extLst>
          </p:cNvPr>
          <p:cNvSpPr txBox="1">
            <a:spLocks noChangeArrowheads="1"/>
          </p:cNvSpPr>
          <p:nvPr/>
        </p:nvSpPr>
        <p:spPr bwMode="auto">
          <a:xfrm>
            <a:off x="5221288" y="5186363"/>
            <a:ext cx="3389312" cy="6048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a:ea typeface="宋体" panose="02010600030101010101" pitchFamily="2" charset="-122"/>
              </a:rPr>
              <a:t>b.三个相同信号的正弦波的频域表示</a:t>
            </a:r>
          </a:p>
          <a:p>
            <a:pPr>
              <a:buFont typeface="Arial" panose="020B0604020202020204" pitchFamily="34" charset="0"/>
              <a:buNone/>
            </a:pPr>
            <a:endParaRPr lang="zh-CN" altLang="en-US" sz="2400">
              <a:ea typeface="宋体" panose="02010600030101010101" pitchFamily="2" charset="-122"/>
            </a:endParaRPr>
          </a:p>
        </p:txBody>
      </p:sp>
      <p:sp>
        <p:nvSpPr>
          <p:cNvPr id="34826" name="Rectangle 11">
            <a:extLst>
              <a:ext uri="{FF2B5EF4-FFF2-40B4-BE49-F238E27FC236}">
                <a16:creationId xmlns:a16="http://schemas.microsoft.com/office/drawing/2014/main" id="{DD0ADE85-93F6-26CA-36D3-3BF31B058A58}"/>
              </a:ext>
            </a:extLst>
          </p:cNvPr>
          <p:cNvSpPr>
            <a:spLocks noChangeArrowheads="1"/>
          </p:cNvSpPr>
          <p:nvPr/>
        </p:nvSpPr>
        <p:spPr bwMode="auto">
          <a:xfrm>
            <a:off x="609600" y="1066800"/>
            <a:ext cx="7696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sz="2400" baseline="0">
                <a:latin typeface="Arial" panose="020B0604020202020204" pitchFamily="34" charset="0"/>
                <a:ea typeface="宋体" panose="02010600030101010101" pitchFamily="2" charset="-122"/>
              </a:rPr>
              <a:t>当我们处理多个正弦波时，频域更简洁更有用。例如，图</a:t>
            </a:r>
            <a:r>
              <a:rPr lang="en-US" altLang="zh-CN" sz="2400" baseline="0">
                <a:latin typeface="Arial" panose="020B0604020202020204" pitchFamily="34" charset="0"/>
                <a:ea typeface="宋体" panose="02010600030101010101" pitchFamily="2" charset="-122"/>
              </a:rPr>
              <a:t>3.8</a:t>
            </a:r>
            <a:r>
              <a:rPr lang="zh-CN" altLang="en-US" sz="2400" baseline="0">
                <a:latin typeface="Arial" panose="020B0604020202020204" pitchFamily="34" charset="0"/>
                <a:ea typeface="宋体" panose="02010600030101010101" pitchFamily="2" charset="-122"/>
              </a:rPr>
              <a:t>显示了三个不同振幅和频率的正弦波。它们通过频域中的三个尖峰表示。</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1">
            <a:extLst>
              <a:ext uri="{FF2B5EF4-FFF2-40B4-BE49-F238E27FC236}">
                <a16:creationId xmlns:a16="http://schemas.microsoft.com/office/drawing/2014/main" id="{961AAFDF-A023-99F1-6E02-0EA85F8ADB7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0AB41354-3C6B-469C-836E-DC8F75F55D4E}" type="slidenum">
              <a:rPr lang="en-US" altLang="zh-CN" sz="2000" i="0" baseline="0" smtClean="0">
                <a:latin typeface="Arial" panose="020B0604020202020204" pitchFamily="34" charset="0"/>
              </a:rPr>
              <a:pPr/>
              <a:t>32</a:t>
            </a:fld>
            <a:endParaRPr lang="en-US" altLang="zh-CN" sz="2000" i="0" baseline="0">
              <a:latin typeface="Arial" panose="020B0604020202020204" pitchFamily="34" charset="0"/>
            </a:endParaRPr>
          </a:p>
        </p:txBody>
      </p:sp>
      <p:sp>
        <p:nvSpPr>
          <p:cNvPr id="35843" name="Rectangle 2">
            <a:extLst>
              <a:ext uri="{FF2B5EF4-FFF2-40B4-BE49-F238E27FC236}">
                <a16:creationId xmlns:a16="http://schemas.microsoft.com/office/drawing/2014/main" id="{39884FA7-80E2-D2D4-58BC-EDBB4681E7C8}"/>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5844" name="Rectangle 3">
            <a:extLst>
              <a:ext uri="{FF2B5EF4-FFF2-40B4-BE49-F238E27FC236}">
                <a16:creationId xmlns:a16="http://schemas.microsoft.com/office/drawing/2014/main" id="{B5F8379F-31DB-2224-9A9B-3AF195B10A6D}"/>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5845" name="Rectangle 4">
            <a:extLst>
              <a:ext uri="{FF2B5EF4-FFF2-40B4-BE49-F238E27FC236}">
                <a16:creationId xmlns:a16="http://schemas.microsoft.com/office/drawing/2014/main" id="{B3569E54-A899-6674-A2FF-D7879C15331A}"/>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5846" name="Rectangle 5">
            <a:extLst>
              <a:ext uri="{FF2B5EF4-FFF2-40B4-BE49-F238E27FC236}">
                <a16:creationId xmlns:a16="http://schemas.microsoft.com/office/drawing/2014/main" id="{A115D2D5-E2C0-F2E2-D668-7D741B77EA62}"/>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5847" name="Rectangle 6">
            <a:extLst>
              <a:ext uri="{FF2B5EF4-FFF2-40B4-BE49-F238E27FC236}">
                <a16:creationId xmlns:a16="http://schemas.microsoft.com/office/drawing/2014/main" id="{D3003109-238C-7DEF-6ADF-1DC78557683E}"/>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5848" name="Rectangle 7">
            <a:extLst>
              <a:ext uri="{FF2B5EF4-FFF2-40B4-BE49-F238E27FC236}">
                <a16:creationId xmlns:a16="http://schemas.microsoft.com/office/drawing/2014/main" id="{0594A0D5-E100-A39B-B03D-677372EB629E}"/>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5849" name="Rectangle 8">
            <a:extLst>
              <a:ext uri="{FF2B5EF4-FFF2-40B4-BE49-F238E27FC236}">
                <a16:creationId xmlns:a16="http://schemas.microsoft.com/office/drawing/2014/main" id="{05826C26-B464-6D04-4562-E3BD844E9566}"/>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5850" name="Line 9">
            <a:extLst>
              <a:ext uri="{FF2B5EF4-FFF2-40B4-BE49-F238E27FC236}">
                <a16:creationId xmlns:a16="http://schemas.microsoft.com/office/drawing/2014/main" id="{FFF134AE-0F74-FBCC-8129-08C7B759CED4}"/>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1" name="Line 10">
            <a:extLst>
              <a:ext uri="{FF2B5EF4-FFF2-40B4-BE49-F238E27FC236}">
                <a16:creationId xmlns:a16="http://schemas.microsoft.com/office/drawing/2014/main" id="{E6D47C44-FB7F-3411-F5C9-5CD872DEDA47}"/>
              </a:ext>
            </a:extLst>
          </p:cNvPr>
          <p:cNvSpPr>
            <a:spLocks noChangeShapeType="1"/>
          </p:cNvSpPr>
          <p:nvPr/>
        </p:nvSpPr>
        <p:spPr bwMode="auto">
          <a:xfrm>
            <a:off x="457200" y="4724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2" name="Rectangle 11">
            <a:extLst>
              <a:ext uri="{FF2B5EF4-FFF2-40B4-BE49-F238E27FC236}">
                <a16:creationId xmlns:a16="http://schemas.microsoft.com/office/drawing/2014/main" id="{EE38B348-642E-924C-8B76-F008B581108E}"/>
              </a:ext>
            </a:extLst>
          </p:cNvPr>
          <p:cNvSpPr>
            <a:spLocks noChangeArrowheads="1"/>
          </p:cNvSpPr>
          <p:nvPr/>
        </p:nvSpPr>
        <p:spPr bwMode="auto">
          <a:xfrm>
            <a:off x="495300" y="3063875"/>
            <a:ext cx="8077200" cy="1554163"/>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单一频率的正弦波在数据通信中没有用处，我们需要发送复合信号，复合信号由许多简单正弦波组成。</a:t>
            </a:r>
          </a:p>
        </p:txBody>
      </p:sp>
      <p:grpSp>
        <p:nvGrpSpPr>
          <p:cNvPr id="35853" name="Group 12">
            <a:extLst>
              <a:ext uri="{FF2B5EF4-FFF2-40B4-BE49-F238E27FC236}">
                <a16:creationId xmlns:a16="http://schemas.microsoft.com/office/drawing/2014/main" id="{ACAB563A-7F6E-2A5A-C112-D53582474AED}"/>
              </a:ext>
            </a:extLst>
          </p:cNvPr>
          <p:cNvGrpSpPr>
            <a:grpSpLocks/>
          </p:cNvGrpSpPr>
          <p:nvPr/>
        </p:nvGrpSpPr>
        <p:grpSpPr bwMode="auto">
          <a:xfrm>
            <a:off x="457200" y="2362200"/>
            <a:ext cx="1143000" cy="566738"/>
            <a:chOff x="0" y="0"/>
            <a:chExt cx="720" cy="357"/>
          </a:xfrm>
        </p:grpSpPr>
        <p:pic>
          <p:nvPicPr>
            <p:cNvPr id="35854" name="Picture 13">
              <a:extLst>
                <a:ext uri="{FF2B5EF4-FFF2-40B4-BE49-F238E27FC236}">
                  <a16:creationId xmlns:a16="http://schemas.microsoft.com/office/drawing/2014/main" id="{95FAC1C5-7BA6-C893-CAD5-764F5FEF9D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5" name="Text Box 14">
              <a:extLst>
                <a:ext uri="{FF2B5EF4-FFF2-40B4-BE49-F238E27FC236}">
                  <a16:creationId xmlns:a16="http://schemas.microsoft.com/office/drawing/2014/main" id="{72BF8477-3FED-E014-F9B5-7A52518D3CCF}"/>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1">
            <a:extLst>
              <a:ext uri="{FF2B5EF4-FFF2-40B4-BE49-F238E27FC236}">
                <a16:creationId xmlns:a16="http://schemas.microsoft.com/office/drawing/2014/main" id="{F2A37A95-83E5-4626-A239-A9C1B9AAFE5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BBF26BF3-B869-491D-BF15-3785CDB4990E}" type="slidenum">
              <a:rPr lang="en-US" altLang="zh-CN" sz="2000" i="0" baseline="0" smtClean="0">
                <a:latin typeface="Arial" panose="020B0604020202020204" pitchFamily="34" charset="0"/>
              </a:rPr>
              <a:pPr/>
              <a:t>33</a:t>
            </a:fld>
            <a:endParaRPr lang="en-US" altLang="zh-CN" sz="2000" i="0" baseline="0">
              <a:latin typeface="Arial" panose="020B0604020202020204" pitchFamily="34" charset="0"/>
            </a:endParaRPr>
          </a:p>
        </p:txBody>
      </p:sp>
      <p:sp>
        <p:nvSpPr>
          <p:cNvPr id="36867" name="Rectangle 2">
            <a:extLst>
              <a:ext uri="{FF2B5EF4-FFF2-40B4-BE49-F238E27FC236}">
                <a16:creationId xmlns:a16="http://schemas.microsoft.com/office/drawing/2014/main" id="{512A85AB-938A-122E-C9F7-870123AEDE4F}"/>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6868" name="Rectangle 3">
            <a:extLst>
              <a:ext uri="{FF2B5EF4-FFF2-40B4-BE49-F238E27FC236}">
                <a16:creationId xmlns:a16="http://schemas.microsoft.com/office/drawing/2014/main" id="{F86710AC-7F70-F729-E312-88D4DA0608D5}"/>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6869" name="Rectangle 4">
            <a:extLst>
              <a:ext uri="{FF2B5EF4-FFF2-40B4-BE49-F238E27FC236}">
                <a16:creationId xmlns:a16="http://schemas.microsoft.com/office/drawing/2014/main" id="{5DD39F87-CFD9-A233-B5E3-78C93611FA7E}"/>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6870" name="Rectangle 5">
            <a:extLst>
              <a:ext uri="{FF2B5EF4-FFF2-40B4-BE49-F238E27FC236}">
                <a16:creationId xmlns:a16="http://schemas.microsoft.com/office/drawing/2014/main" id="{9ED5A916-2997-49E5-950C-39352C62E0AC}"/>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6871" name="Rectangle 6">
            <a:extLst>
              <a:ext uri="{FF2B5EF4-FFF2-40B4-BE49-F238E27FC236}">
                <a16:creationId xmlns:a16="http://schemas.microsoft.com/office/drawing/2014/main" id="{19568472-D471-C10A-AB71-43D7B72EE98E}"/>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6872" name="Rectangle 7">
            <a:extLst>
              <a:ext uri="{FF2B5EF4-FFF2-40B4-BE49-F238E27FC236}">
                <a16:creationId xmlns:a16="http://schemas.microsoft.com/office/drawing/2014/main" id="{CA6D2D1A-BFB8-892F-617F-571714BED6FD}"/>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6873" name="Rectangle 8">
            <a:extLst>
              <a:ext uri="{FF2B5EF4-FFF2-40B4-BE49-F238E27FC236}">
                <a16:creationId xmlns:a16="http://schemas.microsoft.com/office/drawing/2014/main" id="{81661946-470E-F5B6-B0A0-9098BD26389C}"/>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6874" name="Line 9">
            <a:extLst>
              <a:ext uri="{FF2B5EF4-FFF2-40B4-BE49-F238E27FC236}">
                <a16:creationId xmlns:a16="http://schemas.microsoft.com/office/drawing/2014/main" id="{C6F0E17C-B374-7D4F-324B-01F8B279BE93}"/>
              </a:ext>
            </a:extLst>
          </p:cNvPr>
          <p:cNvSpPr>
            <a:spLocks noChangeShapeType="1"/>
          </p:cNvSpPr>
          <p:nvPr/>
        </p:nvSpPr>
        <p:spPr bwMode="auto">
          <a:xfrm>
            <a:off x="457200" y="2286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5" name="Line 10">
            <a:extLst>
              <a:ext uri="{FF2B5EF4-FFF2-40B4-BE49-F238E27FC236}">
                <a16:creationId xmlns:a16="http://schemas.microsoft.com/office/drawing/2014/main" id="{A347809C-08BB-4DD9-8DDA-810839F7A67F}"/>
              </a:ext>
            </a:extLst>
          </p:cNvPr>
          <p:cNvSpPr>
            <a:spLocks noChangeShapeType="1"/>
          </p:cNvSpPr>
          <p:nvPr/>
        </p:nvSpPr>
        <p:spPr bwMode="auto">
          <a:xfrm>
            <a:off x="533400" y="4495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6" name="Rectangle 11">
            <a:extLst>
              <a:ext uri="{FF2B5EF4-FFF2-40B4-BE49-F238E27FC236}">
                <a16:creationId xmlns:a16="http://schemas.microsoft.com/office/drawing/2014/main" id="{00294DCD-DE08-FDAB-4F85-EB5399CC32E5}"/>
              </a:ext>
            </a:extLst>
          </p:cNvPr>
          <p:cNvSpPr>
            <a:spLocks noChangeArrowheads="1"/>
          </p:cNvSpPr>
          <p:nvPr/>
        </p:nvSpPr>
        <p:spPr bwMode="auto">
          <a:xfrm>
            <a:off x="495300" y="2378075"/>
            <a:ext cx="8077200" cy="2041525"/>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       按照傅里叶分析，任何复合信号是由具有不同频率，相位和振幅的简单正弦波的组合而成。</a:t>
            </a:r>
          </a:p>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在附录C讨论傅里叶分析。</a:t>
            </a:r>
          </a:p>
        </p:txBody>
      </p:sp>
      <p:grpSp>
        <p:nvGrpSpPr>
          <p:cNvPr id="36877" name="Group 12">
            <a:extLst>
              <a:ext uri="{FF2B5EF4-FFF2-40B4-BE49-F238E27FC236}">
                <a16:creationId xmlns:a16="http://schemas.microsoft.com/office/drawing/2014/main" id="{566EDA5C-06B4-103D-8B6C-CBBD3214EEF2}"/>
              </a:ext>
            </a:extLst>
          </p:cNvPr>
          <p:cNvGrpSpPr>
            <a:grpSpLocks/>
          </p:cNvGrpSpPr>
          <p:nvPr/>
        </p:nvGrpSpPr>
        <p:grpSpPr bwMode="auto">
          <a:xfrm>
            <a:off x="457200" y="1676400"/>
            <a:ext cx="1143000" cy="566738"/>
            <a:chOff x="0" y="0"/>
            <a:chExt cx="720" cy="357"/>
          </a:xfrm>
        </p:grpSpPr>
        <p:pic>
          <p:nvPicPr>
            <p:cNvPr id="36878" name="Picture 13">
              <a:extLst>
                <a:ext uri="{FF2B5EF4-FFF2-40B4-BE49-F238E27FC236}">
                  <a16:creationId xmlns:a16="http://schemas.microsoft.com/office/drawing/2014/main" id="{A6D3A4ED-52BB-797A-EDF9-3EF27DA0D0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9" name="Text Box 14">
              <a:extLst>
                <a:ext uri="{FF2B5EF4-FFF2-40B4-BE49-F238E27FC236}">
                  <a16:creationId xmlns:a16="http://schemas.microsoft.com/office/drawing/2014/main" id="{40888428-EC8A-6E52-75DF-D3CA6F58530A}"/>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1">
            <a:extLst>
              <a:ext uri="{FF2B5EF4-FFF2-40B4-BE49-F238E27FC236}">
                <a16:creationId xmlns:a16="http://schemas.microsoft.com/office/drawing/2014/main" id="{EF335FC5-93B5-078F-1855-3FD409D1ADF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8B6CE3EF-9B7B-4E49-ABA9-2EFEEA01F6A5}" type="slidenum">
              <a:rPr lang="en-US" altLang="zh-CN" sz="2000" i="0" baseline="0" smtClean="0">
                <a:latin typeface="Arial" panose="020B0604020202020204" pitchFamily="34" charset="0"/>
              </a:rPr>
              <a:pPr/>
              <a:t>34</a:t>
            </a:fld>
            <a:endParaRPr lang="en-US" altLang="zh-CN" sz="2000" i="0" baseline="0">
              <a:latin typeface="Arial" panose="020B0604020202020204" pitchFamily="34" charset="0"/>
            </a:endParaRPr>
          </a:p>
        </p:txBody>
      </p:sp>
      <p:sp>
        <p:nvSpPr>
          <p:cNvPr id="37891" name="Rectangle 2">
            <a:extLst>
              <a:ext uri="{FF2B5EF4-FFF2-40B4-BE49-F238E27FC236}">
                <a16:creationId xmlns:a16="http://schemas.microsoft.com/office/drawing/2014/main" id="{DEACA88A-DF6F-23DA-AF18-612EEB33360B}"/>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7892" name="Rectangle 3">
            <a:extLst>
              <a:ext uri="{FF2B5EF4-FFF2-40B4-BE49-F238E27FC236}">
                <a16:creationId xmlns:a16="http://schemas.microsoft.com/office/drawing/2014/main" id="{1C5BAA6E-E2AF-A1BA-8976-A9EFFE2A438D}"/>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7893" name="Rectangle 4">
            <a:extLst>
              <a:ext uri="{FF2B5EF4-FFF2-40B4-BE49-F238E27FC236}">
                <a16:creationId xmlns:a16="http://schemas.microsoft.com/office/drawing/2014/main" id="{50C4FDE1-FF7F-2A11-1B58-1715B53DC167}"/>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7894" name="Rectangle 5">
            <a:extLst>
              <a:ext uri="{FF2B5EF4-FFF2-40B4-BE49-F238E27FC236}">
                <a16:creationId xmlns:a16="http://schemas.microsoft.com/office/drawing/2014/main" id="{6E17114E-8AA7-3B00-FE15-19EFEB712066}"/>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7895" name="Rectangle 6">
            <a:extLst>
              <a:ext uri="{FF2B5EF4-FFF2-40B4-BE49-F238E27FC236}">
                <a16:creationId xmlns:a16="http://schemas.microsoft.com/office/drawing/2014/main" id="{4A7AF078-1A5B-210A-ADF6-4100A7C2389B}"/>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7896" name="Rectangle 7">
            <a:extLst>
              <a:ext uri="{FF2B5EF4-FFF2-40B4-BE49-F238E27FC236}">
                <a16:creationId xmlns:a16="http://schemas.microsoft.com/office/drawing/2014/main" id="{A45F9091-90B6-003D-E3F9-805E8EFAB827}"/>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7897" name="Rectangle 8">
            <a:extLst>
              <a:ext uri="{FF2B5EF4-FFF2-40B4-BE49-F238E27FC236}">
                <a16:creationId xmlns:a16="http://schemas.microsoft.com/office/drawing/2014/main" id="{C05D4D44-614C-CF6B-716D-53B2285205D8}"/>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37898" name="Line 9">
            <a:extLst>
              <a:ext uri="{FF2B5EF4-FFF2-40B4-BE49-F238E27FC236}">
                <a16:creationId xmlns:a16="http://schemas.microsoft.com/office/drawing/2014/main" id="{89E612D6-7531-096B-462D-26FF63FFDBEB}"/>
              </a:ext>
            </a:extLst>
          </p:cNvPr>
          <p:cNvSpPr>
            <a:spLocks noChangeShapeType="1"/>
          </p:cNvSpPr>
          <p:nvPr/>
        </p:nvSpPr>
        <p:spPr bwMode="auto">
          <a:xfrm>
            <a:off x="457200" y="2133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99" name="Line 10">
            <a:extLst>
              <a:ext uri="{FF2B5EF4-FFF2-40B4-BE49-F238E27FC236}">
                <a16:creationId xmlns:a16="http://schemas.microsoft.com/office/drawing/2014/main" id="{0D412040-803F-E37C-F784-B5BEF225323E}"/>
              </a:ext>
            </a:extLst>
          </p:cNvPr>
          <p:cNvSpPr>
            <a:spLocks noChangeShapeType="1"/>
          </p:cNvSpPr>
          <p:nvPr/>
        </p:nvSpPr>
        <p:spPr bwMode="auto">
          <a:xfrm>
            <a:off x="457200" y="4800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0" name="Rectangle 11">
            <a:extLst>
              <a:ext uri="{FF2B5EF4-FFF2-40B4-BE49-F238E27FC236}">
                <a16:creationId xmlns:a16="http://schemas.microsoft.com/office/drawing/2014/main" id="{E328C012-4B6F-03BE-9301-F6D3B3F0208F}"/>
              </a:ext>
            </a:extLst>
          </p:cNvPr>
          <p:cNvSpPr>
            <a:spLocks noChangeArrowheads="1"/>
          </p:cNvSpPr>
          <p:nvPr/>
        </p:nvSpPr>
        <p:spPr bwMode="auto">
          <a:xfrm>
            <a:off x="495300" y="2225675"/>
            <a:ext cx="8077200" cy="3540125"/>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如果复合后的信号是周期性的，分解得到的是一系列具有离散频率（频率取整数</a:t>
            </a:r>
            <a:r>
              <a:rPr lang="en-US" altLang="zh-CN" sz="3200" i="0" baseline="0">
                <a:latin typeface="Arial" panose="020B0604020202020204" pitchFamily="34" charset="0"/>
                <a:ea typeface="宋体" panose="02010600030101010101" pitchFamily="2" charset="-122"/>
              </a:rPr>
              <a:t>1</a:t>
            </a:r>
            <a:r>
              <a:rPr lang="zh-CN" altLang="en-US" sz="3200" i="0" baseline="0">
                <a:latin typeface="Arial" panose="020B0604020202020204" pitchFamily="34" charset="0"/>
                <a:ea typeface="宋体" panose="02010600030101010101" pitchFamily="2" charset="-122"/>
              </a:rPr>
              <a:t>、</a:t>
            </a:r>
            <a:r>
              <a:rPr lang="en-US" altLang="zh-CN" sz="3200" i="0" baseline="0">
                <a:latin typeface="Arial" panose="020B0604020202020204" pitchFamily="34" charset="0"/>
                <a:ea typeface="宋体" panose="02010600030101010101" pitchFamily="2" charset="-122"/>
              </a:rPr>
              <a:t>2</a:t>
            </a:r>
            <a:r>
              <a:rPr lang="zh-CN" altLang="en-US" sz="3200" i="0" baseline="0">
                <a:latin typeface="Arial" panose="020B0604020202020204" pitchFamily="34" charset="0"/>
                <a:ea typeface="宋体" panose="02010600030101010101" pitchFamily="2" charset="-122"/>
              </a:rPr>
              <a:t>、</a:t>
            </a:r>
            <a:r>
              <a:rPr lang="en-US" altLang="zh-CN" sz="3200" i="0" baseline="0">
                <a:latin typeface="Arial" panose="020B0604020202020204" pitchFamily="34" charset="0"/>
                <a:ea typeface="宋体" panose="02010600030101010101" pitchFamily="2" charset="-122"/>
              </a:rPr>
              <a:t>3</a:t>
            </a:r>
            <a:r>
              <a:rPr lang="zh-CN" altLang="en-US" sz="3200" i="0" baseline="0">
                <a:latin typeface="Arial" panose="020B0604020202020204" pitchFamily="34" charset="0"/>
                <a:ea typeface="宋体" panose="02010600030101010101" pitchFamily="2" charset="-122"/>
              </a:rPr>
              <a:t>等）的简单正玄波信号组合。</a:t>
            </a:r>
          </a:p>
          <a:p>
            <a:pPr>
              <a:buFont typeface="Arial" panose="020B0604020202020204" pitchFamily="34" charset="0"/>
              <a:buNone/>
            </a:pP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如果复合后的信号是非周期性的，分解得到的是具有连续频率（取实数的频率）的无穷简单正弦波信号组合。</a:t>
            </a:r>
          </a:p>
        </p:txBody>
      </p:sp>
      <p:grpSp>
        <p:nvGrpSpPr>
          <p:cNvPr id="37901" name="Group 12">
            <a:extLst>
              <a:ext uri="{FF2B5EF4-FFF2-40B4-BE49-F238E27FC236}">
                <a16:creationId xmlns:a16="http://schemas.microsoft.com/office/drawing/2014/main" id="{CB325697-7349-FBFB-628D-C9C2C5006404}"/>
              </a:ext>
            </a:extLst>
          </p:cNvPr>
          <p:cNvGrpSpPr>
            <a:grpSpLocks/>
          </p:cNvGrpSpPr>
          <p:nvPr/>
        </p:nvGrpSpPr>
        <p:grpSpPr bwMode="auto">
          <a:xfrm>
            <a:off x="457200" y="1447800"/>
            <a:ext cx="1143000" cy="566738"/>
            <a:chOff x="0" y="0"/>
            <a:chExt cx="720" cy="357"/>
          </a:xfrm>
        </p:grpSpPr>
        <p:pic>
          <p:nvPicPr>
            <p:cNvPr id="37902" name="Picture 13">
              <a:extLst>
                <a:ext uri="{FF2B5EF4-FFF2-40B4-BE49-F238E27FC236}">
                  <a16:creationId xmlns:a16="http://schemas.microsoft.com/office/drawing/2014/main" id="{9F5E2000-F076-D2E4-DBB6-972507904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3" name="Text Box 14">
              <a:extLst>
                <a:ext uri="{FF2B5EF4-FFF2-40B4-BE49-F238E27FC236}">
                  <a16:creationId xmlns:a16="http://schemas.microsoft.com/office/drawing/2014/main" id="{5AC28568-106E-AE70-356B-245471358B7A}"/>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1">
            <a:extLst>
              <a:ext uri="{FF2B5EF4-FFF2-40B4-BE49-F238E27FC236}">
                <a16:creationId xmlns:a16="http://schemas.microsoft.com/office/drawing/2014/main" id="{26100545-A4D1-9B42-4D16-84993FB590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CA97BA4B-C6DF-46E5-B999-33E71152FF63}" type="slidenum">
              <a:rPr lang="en-US" altLang="zh-CN" sz="2000" i="0" baseline="0" smtClean="0">
                <a:latin typeface="Arial" panose="020B0604020202020204" pitchFamily="34" charset="0"/>
              </a:rPr>
              <a:pPr/>
              <a:t>35</a:t>
            </a:fld>
            <a:endParaRPr lang="en-US" altLang="zh-CN" sz="2000" i="0" baseline="0">
              <a:latin typeface="Arial" panose="020B0604020202020204" pitchFamily="34" charset="0"/>
            </a:endParaRPr>
          </a:p>
        </p:txBody>
      </p:sp>
      <p:sp>
        <p:nvSpPr>
          <p:cNvPr id="38915" name="Line 2">
            <a:extLst>
              <a:ext uri="{FF2B5EF4-FFF2-40B4-BE49-F238E27FC236}">
                <a16:creationId xmlns:a16="http://schemas.microsoft.com/office/drawing/2014/main" id="{B1753F91-D138-C74F-CDF9-E1D02B3A4BF7}"/>
              </a:ext>
            </a:extLst>
          </p:cNvPr>
          <p:cNvSpPr>
            <a:spLocks noChangeShapeType="1"/>
          </p:cNvSpPr>
          <p:nvPr/>
        </p:nvSpPr>
        <p:spPr bwMode="auto">
          <a:xfrm>
            <a:off x="152400" y="228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16" name="Line 3">
            <a:extLst>
              <a:ext uri="{FF2B5EF4-FFF2-40B4-BE49-F238E27FC236}">
                <a16:creationId xmlns:a16="http://schemas.microsoft.com/office/drawing/2014/main" id="{4620F47F-F1C9-C146-4DF8-F47E3A184CF5}"/>
              </a:ext>
            </a:extLst>
          </p:cNvPr>
          <p:cNvSpPr>
            <a:spLocks noChangeShapeType="1"/>
          </p:cNvSpPr>
          <p:nvPr/>
        </p:nvSpPr>
        <p:spPr bwMode="auto">
          <a:xfrm>
            <a:off x="152400" y="10668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17" name="Text Box 4">
            <a:extLst>
              <a:ext uri="{FF2B5EF4-FFF2-40B4-BE49-F238E27FC236}">
                <a16:creationId xmlns:a16="http://schemas.microsoft.com/office/drawing/2014/main" id="{597C7561-8926-0F3C-ECA4-5E7A88D69C85}"/>
              </a:ext>
            </a:extLst>
          </p:cNvPr>
          <p:cNvSpPr txBox="1">
            <a:spLocks noChangeArrowheads="1"/>
          </p:cNvSpPr>
          <p:nvPr/>
        </p:nvSpPr>
        <p:spPr bwMode="auto">
          <a:xfrm>
            <a:off x="304800" y="457200"/>
            <a:ext cx="2620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3.9  </a:t>
            </a:r>
            <a:r>
              <a:rPr lang="zh-CN" altLang="en-US" sz="2000" baseline="0">
                <a:ea typeface="宋体" panose="02010600030101010101" pitchFamily="2" charset="-122"/>
              </a:rPr>
              <a:t>复合周期信号</a:t>
            </a:r>
          </a:p>
        </p:txBody>
      </p:sp>
      <p:sp>
        <p:nvSpPr>
          <p:cNvPr id="38918" name="Line 5">
            <a:extLst>
              <a:ext uri="{FF2B5EF4-FFF2-40B4-BE49-F238E27FC236}">
                <a16:creationId xmlns:a16="http://schemas.microsoft.com/office/drawing/2014/main" id="{C0915B6D-638A-3E17-D1C5-71D337B60AE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8919" name="Picture 6">
            <a:extLst>
              <a:ext uri="{FF2B5EF4-FFF2-40B4-BE49-F238E27FC236}">
                <a16:creationId xmlns:a16="http://schemas.microsoft.com/office/drawing/2014/main" id="{E567463E-81F3-F1A6-A2D4-1A8F7D003B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863" y="2895600"/>
            <a:ext cx="8491537" cy="307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0" name="Rectangle 11">
            <a:extLst>
              <a:ext uri="{FF2B5EF4-FFF2-40B4-BE49-F238E27FC236}">
                <a16:creationId xmlns:a16="http://schemas.microsoft.com/office/drawing/2014/main" id="{53383D56-11D1-958E-1833-CB5296E1215F}"/>
              </a:ext>
            </a:extLst>
          </p:cNvPr>
          <p:cNvSpPr>
            <a:spLocks noChangeArrowheads="1"/>
          </p:cNvSpPr>
          <p:nvPr/>
        </p:nvSpPr>
        <p:spPr bwMode="auto">
          <a:xfrm>
            <a:off x="609600" y="1066800"/>
            <a:ext cx="7696200"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图3.9显示了频率为f的周期复合信号。这种信号不是数据通信中的典型信号。我们可以把它看成三个告警系统，每一个有不同的频率。这个信号的分析可以让我们理解如何分解信号。</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1">
            <a:extLst>
              <a:ext uri="{FF2B5EF4-FFF2-40B4-BE49-F238E27FC236}">
                <a16:creationId xmlns:a16="http://schemas.microsoft.com/office/drawing/2014/main" id="{B64CFBFC-D987-6333-9393-EF6256FFEA1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FB1E6C04-A431-4483-9486-9BBFF59AA486}" type="slidenum">
              <a:rPr lang="en-US" altLang="zh-CN" sz="2000" i="0" baseline="0" smtClean="0">
                <a:latin typeface="Arial" panose="020B0604020202020204" pitchFamily="34" charset="0"/>
              </a:rPr>
              <a:pPr/>
              <a:t>36</a:t>
            </a:fld>
            <a:endParaRPr lang="en-US" altLang="zh-CN" sz="2000" i="0" baseline="0">
              <a:latin typeface="Arial" panose="020B0604020202020204" pitchFamily="34" charset="0"/>
            </a:endParaRPr>
          </a:p>
        </p:txBody>
      </p:sp>
      <p:sp>
        <p:nvSpPr>
          <p:cNvPr id="39939" name="Line 2">
            <a:extLst>
              <a:ext uri="{FF2B5EF4-FFF2-40B4-BE49-F238E27FC236}">
                <a16:creationId xmlns:a16="http://schemas.microsoft.com/office/drawing/2014/main" id="{D62C883E-491F-816E-C32D-CB382A82B231}"/>
              </a:ext>
            </a:extLst>
          </p:cNvPr>
          <p:cNvSpPr>
            <a:spLocks noChangeShapeType="1"/>
          </p:cNvSpPr>
          <p:nvPr/>
        </p:nvSpPr>
        <p:spPr bwMode="auto">
          <a:xfrm>
            <a:off x="152400" y="762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40" name="Line 3">
            <a:extLst>
              <a:ext uri="{FF2B5EF4-FFF2-40B4-BE49-F238E27FC236}">
                <a16:creationId xmlns:a16="http://schemas.microsoft.com/office/drawing/2014/main" id="{F2F31429-2285-D558-E9BB-F76CCCA74AA8}"/>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41" name="Text Box 4">
            <a:extLst>
              <a:ext uri="{FF2B5EF4-FFF2-40B4-BE49-F238E27FC236}">
                <a16:creationId xmlns:a16="http://schemas.microsoft.com/office/drawing/2014/main" id="{6687A1EA-11D4-2214-7CC5-EFD5A6AD33A2}"/>
              </a:ext>
            </a:extLst>
          </p:cNvPr>
          <p:cNvSpPr txBox="1">
            <a:spLocks noChangeArrowheads="1"/>
          </p:cNvSpPr>
          <p:nvPr/>
        </p:nvSpPr>
        <p:spPr bwMode="auto">
          <a:xfrm>
            <a:off x="304800" y="152400"/>
            <a:ext cx="5313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3.10  </a:t>
            </a:r>
            <a:r>
              <a:rPr lang="zh-CN" altLang="en-US" sz="2000" baseline="0">
                <a:ea typeface="宋体" panose="02010600030101010101" pitchFamily="2" charset="-122"/>
              </a:rPr>
              <a:t>复合周期信号在时域和频域中的分解</a:t>
            </a:r>
          </a:p>
        </p:txBody>
      </p:sp>
      <p:sp>
        <p:nvSpPr>
          <p:cNvPr id="39942" name="Line 5">
            <a:extLst>
              <a:ext uri="{FF2B5EF4-FFF2-40B4-BE49-F238E27FC236}">
                <a16:creationId xmlns:a16="http://schemas.microsoft.com/office/drawing/2014/main" id="{48BF9EBC-6CB8-0D1E-CB86-554ACAF5335C}"/>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9943" name="Picture 6">
            <a:extLst>
              <a:ext uri="{FF2B5EF4-FFF2-40B4-BE49-F238E27FC236}">
                <a16:creationId xmlns:a16="http://schemas.microsoft.com/office/drawing/2014/main" id="{D471FFF7-7ED3-2FFD-863C-7CC15E5B56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066800"/>
            <a:ext cx="7340600"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4" name="Text Box 7">
            <a:extLst>
              <a:ext uri="{FF2B5EF4-FFF2-40B4-BE49-F238E27FC236}">
                <a16:creationId xmlns:a16="http://schemas.microsoft.com/office/drawing/2014/main" id="{545FB7CD-E55D-0168-C69A-DB30EBEEBC86}"/>
              </a:ext>
            </a:extLst>
          </p:cNvPr>
          <p:cNvSpPr txBox="1">
            <a:spLocks noChangeArrowheads="1"/>
          </p:cNvSpPr>
          <p:nvPr/>
        </p:nvSpPr>
        <p:spPr bwMode="auto">
          <a:xfrm>
            <a:off x="838200" y="3200400"/>
            <a:ext cx="427355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a:ea typeface="宋体" panose="02010600030101010101" pitchFamily="2" charset="-122"/>
              </a:rPr>
              <a:t>a.复合信号的时域分解</a:t>
            </a:r>
          </a:p>
        </p:txBody>
      </p:sp>
      <p:sp>
        <p:nvSpPr>
          <p:cNvPr id="39945" name="Text Box 8">
            <a:extLst>
              <a:ext uri="{FF2B5EF4-FFF2-40B4-BE49-F238E27FC236}">
                <a16:creationId xmlns:a16="http://schemas.microsoft.com/office/drawing/2014/main" id="{4B7C8162-2F71-9714-341C-523BDD20F046}"/>
              </a:ext>
            </a:extLst>
          </p:cNvPr>
          <p:cNvSpPr txBox="1">
            <a:spLocks noChangeArrowheads="1"/>
          </p:cNvSpPr>
          <p:nvPr/>
        </p:nvSpPr>
        <p:spPr bwMode="auto">
          <a:xfrm>
            <a:off x="838200" y="5562600"/>
            <a:ext cx="5286375"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a:ea typeface="宋体" panose="02010600030101010101" pitchFamily="2" charset="-122"/>
              </a:rPr>
              <a:t>b.复合信号的频域分解</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1">
            <a:extLst>
              <a:ext uri="{FF2B5EF4-FFF2-40B4-BE49-F238E27FC236}">
                <a16:creationId xmlns:a16="http://schemas.microsoft.com/office/drawing/2014/main" id="{97667B03-2B92-C356-087E-ABD93F33A68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9270BC61-6E40-4874-A462-DB492C3F4B6A}" type="slidenum">
              <a:rPr lang="en-US" altLang="zh-CN" sz="2000" i="0" baseline="0" smtClean="0">
                <a:latin typeface="Arial" panose="020B0604020202020204" pitchFamily="34" charset="0"/>
              </a:rPr>
              <a:pPr/>
              <a:t>37</a:t>
            </a:fld>
            <a:endParaRPr lang="en-US" altLang="zh-CN" sz="2000" i="0" baseline="0">
              <a:latin typeface="Arial" panose="020B0604020202020204" pitchFamily="34" charset="0"/>
            </a:endParaRPr>
          </a:p>
        </p:txBody>
      </p:sp>
      <p:sp>
        <p:nvSpPr>
          <p:cNvPr id="40963" name="Rectangle 2">
            <a:extLst>
              <a:ext uri="{FF2B5EF4-FFF2-40B4-BE49-F238E27FC236}">
                <a16:creationId xmlns:a16="http://schemas.microsoft.com/office/drawing/2014/main" id="{D5B6C076-D300-A7FC-A080-95B3AFEB1227}"/>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0964" name="Rectangle 3">
            <a:extLst>
              <a:ext uri="{FF2B5EF4-FFF2-40B4-BE49-F238E27FC236}">
                <a16:creationId xmlns:a16="http://schemas.microsoft.com/office/drawing/2014/main" id="{963DCBF8-89C4-4538-D61B-83A494F2FB98}"/>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0965" name="Rectangle 4">
            <a:extLst>
              <a:ext uri="{FF2B5EF4-FFF2-40B4-BE49-F238E27FC236}">
                <a16:creationId xmlns:a16="http://schemas.microsoft.com/office/drawing/2014/main" id="{DFB3C32E-432C-48AA-2799-D6A3E2A9E593}"/>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0966" name="Rectangle 5">
            <a:extLst>
              <a:ext uri="{FF2B5EF4-FFF2-40B4-BE49-F238E27FC236}">
                <a16:creationId xmlns:a16="http://schemas.microsoft.com/office/drawing/2014/main" id="{A6F63E85-A757-48D1-14E2-46D8F02A9341}"/>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0967" name="Rectangle 6">
            <a:extLst>
              <a:ext uri="{FF2B5EF4-FFF2-40B4-BE49-F238E27FC236}">
                <a16:creationId xmlns:a16="http://schemas.microsoft.com/office/drawing/2014/main" id="{5EC0152B-9321-570F-DD29-02D9F3CE115F}"/>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0968" name="Rectangle 7">
            <a:extLst>
              <a:ext uri="{FF2B5EF4-FFF2-40B4-BE49-F238E27FC236}">
                <a16:creationId xmlns:a16="http://schemas.microsoft.com/office/drawing/2014/main" id="{19F5B460-EEDD-7991-DA7F-2C56741AC7FD}"/>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0969" name="Rectangle 8">
            <a:extLst>
              <a:ext uri="{FF2B5EF4-FFF2-40B4-BE49-F238E27FC236}">
                <a16:creationId xmlns:a16="http://schemas.microsoft.com/office/drawing/2014/main" id="{CE400D84-BCF7-AB0C-9E57-C3E64DC54642}"/>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0970" name="Line 9">
            <a:extLst>
              <a:ext uri="{FF2B5EF4-FFF2-40B4-BE49-F238E27FC236}">
                <a16:creationId xmlns:a16="http://schemas.microsoft.com/office/drawing/2014/main" id="{58648D79-FD05-C900-1EAF-A246523B7683}"/>
              </a:ext>
            </a:extLst>
          </p:cNvPr>
          <p:cNvSpPr>
            <a:spLocks noChangeShapeType="1"/>
          </p:cNvSpPr>
          <p:nvPr/>
        </p:nvSpPr>
        <p:spPr bwMode="auto">
          <a:xfrm>
            <a:off x="457200" y="2133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1" name="Line 10">
            <a:extLst>
              <a:ext uri="{FF2B5EF4-FFF2-40B4-BE49-F238E27FC236}">
                <a16:creationId xmlns:a16="http://schemas.microsoft.com/office/drawing/2014/main" id="{B3A1101E-6002-8408-75F4-AD7ED95881E5}"/>
              </a:ext>
            </a:extLst>
          </p:cNvPr>
          <p:cNvSpPr>
            <a:spLocks noChangeShapeType="1"/>
          </p:cNvSpPr>
          <p:nvPr/>
        </p:nvSpPr>
        <p:spPr bwMode="auto">
          <a:xfrm>
            <a:off x="457200" y="6324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2" name="Rectangle 11">
            <a:extLst>
              <a:ext uri="{FF2B5EF4-FFF2-40B4-BE49-F238E27FC236}">
                <a16:creationId xmlns:a16="http://schemas.microsoft.com/office/drawing/2014/main" id="{02079AEE-834D-7BC0-1908-D918A157EFD6}"/>
              </a:ext>
            </a:extLst>
          </p:cNvPr>
          <p:cNvSpPr>
            <a:spLocks noChangeArrowheads="1"/>
          </p:cNvSpPr>
          <p:nvPr/>
        </p:nvSpPr>
        <p:spPr bwMode="auto">
          <a:xfrm>
            <a:off x="457200" y="2225675"/>
            <a:ext cx="8267700" cy="403225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频率为</a:t>
            </a:r>
            <a:r>
              <a:rPr lang="en-US" altLang="zh-CN" sz="3200" i="0" baseline="0">
                <a:latin typeface="Arial" panose="020B0604020202020204" pitchFamily="34" charset="0"/>
                <a:ea typeface="宋体" panose="02010600030101010101" pitchFamily="2" charset="-122"/>
              </a:rPr>
              <a:t>f</a:t>
            </a:r>
            <a:r>
              <a:rPr lang="zh-CN" altLang="en-US" sz="3200" i="0" baseline="0">
                <a:latin typeface="Arial" panose="020B0604020202020204" pitchFamily="34" charset="0"/>
                <a:ea typeface="宋体" panose="02010600030101010101" pitchFamily="2" charset="-122"/>
              </a:rPr>
              <a:t>的正弦波：</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en-US" altLang="zh-CN" sz="3200" i="0" baseline="0">
                <a:latin typeface="Arial" panose="020B0604020202020204" pitchFamily="34" charset="0"/>
                <a:ea typeface="宋体" panose="02010600030101010101" pitchFamily="2" charset="-122"/>
              </a:rPr>
              <a:t>1</a:t>
            </a:r>
            <a:r>
              <a:rPr lang="zh-CN" altLang="en-US" sz="3200" i="0" baseline="0">
                <a:latin typeface="Arial" panose="020B0604020202020204" pitchFamily="34" charset="0"/>
                <a:ea typeface="宋体" panose="02010600030101010101" pitchFamily="2" charset="-122"/>
              </a:rPr>
              <a:t>）其振幅几乎和复合信号的峰值振幅一样；</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en-US" altLang="zh-CN" sz="3200" i="0" baseline="0">
                <a:latin typeface="Arial" panose="020B0604020202020204" pitchFamily="34" charset="0"/>
                <a:ea typeface="宋体" panose="02010600030101010101" pitchFamily="2" charset="-122"/>
              </a:rPr>
              <a:t>2</a:t>
            </a:r>
            <a:r>
              <a:rPr lang="zh-CN" altLang="en-US" sz="3200" i="0" baseline="0">
                <a:latin typeface="Arial" panose="020B0604020202020204" pitchFamily="34" charset="0"/>
                <a:ea typeface="宋体" panose="02010600030101010101" pitchFamily="2" charset="-122"/>
              </a:rPr>
              <a:t>）其频率和复合信号的频率一样。</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称之为基础频率</a:t>
            </a:r>
            <a:r>
              <a:rPr lang="en-US" altLang="zh-CN" sz="3200" i="0" baseline="0">
                <a:latin typeface="Arial" panose="020B0604020202020204" pitchFamily="34" charset="0"/>
                <a:ea typeface="宋体" panose="02010600030101010101" pitchFamily="2" charset="-122"/>
              </a:rPr>
              <a:t>(fundamental frequency)</a:t>
            </a:r>
            <a:r>
              <a:rPr lang="zh-CN" altLang="en-US" sz="3200" i="0" baseline="0">
                <a:latin typeface="Arial" panose="020B0604020202020204" pitchFamily="34" charset="0"/>
                <a:ea typeface="宋体" panose="02010600030101010101" pitchFamily="2" charset="-122"/>
              </a:rPr>
              <a:t>或者第一谐波</a:t>
            </a:r>
            <a:r>
              <a:rPr lang="en-US" altLang="zh-CN" sz="3200" i="0" baseline="0">
                <a:latin typeface="Arial" panose="020B0604020202020204" pitchFamily="34" charset="0"/>
                <a:ea typeface="宋体" panose="02010600030101010101" pitchFamily="2" charset="-122"/>
              </a:rPr>
              <a:t>(harmonic)</a:t>
            </a:r>
            <a:r>
              <a:rPr lang="zh-CN" altLang="en-US" sz="3200" i="0" baseline="0">
                <a:latin typeface="Arial" panose="020B0604020202020204" pitchFamily="34" charset="0"/>
                <a:ea typeface="宋体" panose="02010600030101010101" pitchFamily="2" charset="-122"/>
              </a:rPr>
              <a:t>；</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频率为</a:t>
            </a:r>
            <a:r>
              <a:rPr lang="en-US" altLang="zh-CN" sz="3200" i="0" baseline="0">
                <a:latin typeface="Arial" panose="020B0604020202020204" pitchFamily="34" charset="0"/>
                <a:ea typeface="宋体" panose="02010600030101010101" pitchFamily="2" charset="-122"/>
              </a:rPr>
              <a:t>3f</a:t>
            </a:r>
            <a:r>
              <a:rPr lang="zh-CN" altLang="en-US" sz="3200" i="0" baseline="0">
                <a:latin typeface="Arial" panose="020B0604020202020204" pitchFamily="34" charset="0"/>
                <a:ea typeface="宋体" panose="02010600030101010101" pitchFamily="2" charset="-122"/>
              </a:rPr>
              <a:t>的正弦波的频率为基础频率的</a:t>
            </a:r>
            <a:r>
              <a:rPr lang="en-US" altLang="zh-CN" sz="3200" i="0" baseline="0">
                <a:latin typeface="Arial" panose="020B0604020202020204" pitchFamily="34" charset="0"/>
                <a:ea typeface="宋体" panose="02010600030101010101" pitchFamily="2" charset="-122"/>
              </a:rPr>
              <a:t>3</a:t>
            </a:r>
            <a:r>
              <a:rPr lang="zh-CN" altLang="en-US" sz="3200" i="0" baseline="0">
                <a:latin typeface="Arial" panose="020B0604020202020204" pitchFamily="34" charset="0"/>
                <a:ea typeface="宋体" panose="02010600030101010101" pitchFamily="2" charset="-122"/>
              </a:rPr>
              <a:t>倍，称为 第三谐波；以此类推出第</a:t>
            </a:r>
            <a:r>
              <a:rPr lang="en-US" altLang="zh-CN" sz="3200" i="0" baseline="0">
                <a:latin typeface="Arial" panose="020B0604020202020204" pitchFamily="34" charset="0"/>
                <a:ea typeface="宋体" panose="02010600030101010101" pitchFamily="2" charset="-122"/>
              </a:rPr>
              <a:t>9</a:t>
            </a:r>
            <a:r>
              <a:rPr lang="zh-CN" altLang="en-US" sz="3200" i="0" baseline="0">
                <a:latin typeface="Arial" panose="020B0604020202020204" pitchFamily="34" charset="0"/>
                <a:ea typeface="宋体" panose="02010600030101010101" pitchFamily="2" charset="-122"/>
              </a:rPr>
              <a:t>谐波等。</a:t>
            </a:r>
            <a:endParaRPr lang="en-US" altLang="zh-CN" sz="3200" i="0" baseline="0">
              <a:latin typeface="Arial" panose="020B0604020202020204" pitchFamily="34" charset="0"/>
              <a:ea typeface="宋体" panose="02010600030101010101" pitchFamily="2" charset="-122"/>
            </a:endParaRPr>
          </a:p>
        </p:txBody>
      </p:sp>
      <p:grpSp>
        <p:nvGrpSpPr>
          <p:cNvPr id="40973" name="Group 12">
            <a:extLst>
              <a:ext uri="{FF2B5EF4-FFF2-40B4-BE49-F238E27FC236}">
                <a16:creationId xmlns:a16="http://schemas.microsoft.com/office/drawing/2014/main" id="{EB8F0087-FDA5-A1D9-6694-A7B15BC52006}"/>
              </a:ext>
            </a:extLst>
          </p:cNvPr>
          <p:cNvGrpSpPr>
            <a:grpSpLocks/>
          </p:cNvGrpSpPr>
          <p:nvPr/>
        </p:nvGrpSpPr>
        <p:grpSpPr bwMode="auto">
          <a:xfrm>
            <a:off x="457200" y="1447800"/>
            <a:ext cx="1143000" cy="566738"/>
            <a:chOff x="0" y="0"/>
            <a:chExt cx="720" cy="357"/>
          </a:xfrm>
        </p:grpSpPr>
        <p:pic>
          <p:nvPicPr>
            <p:cNvPr id="40974" name="Picture 13">
              <a:extLst>
                <a:ext uri="{FF2B5EF4-FFF2-40B4-BE49-F238E27FC236}">
                  <a16:creationId xmlns:a16="http://schemas.microsoft.com/office/drawing/2014/main" id="{8F864C74-6DCF-AD82-3340-FB1C9F7884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5" name="Text Box 14">
              <a:extLst>
                <a:ext uri="{FF2B5EF4-FFF2-40B4-BE49-F238E27FC236}">
                  <a16:creationId xmlns:a16="http://schemas.microsoft.com/office/drawing/2014/main" id="{4BD8FB09-BF1B-4A7E-9298-BC453089E99B}"/>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1">
            <a:extLst>
              <a:ext uri="{FF2B5EF4-FFF2-40B4-BE49-F238E27FC236}">
                <a16:creationId xmlns:a16="http://schemas.microsoft.com/office/drawing/2014/main" id="{0F8B7B17-69AC-D78E-70C1-6FDF0A035D4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76793499-5141-4630-BD78-3A906818764C}" type="slidenum">
              <a:rPr lang="en-US" altLang="zh-CN" sz="2000" i="0" baseline="0" smtClean="0">
                <a:latin typeface="Arial" panose="020B0604020202020204" pitchFamily="34" charset="0"/>
              </a:rPr>
              <a:pPr/>
              <a:t>38</a:t>
            </a:fld>
            <a:endParaRPr lang="en-US" altLang="zh-CN" sz="2000" i="0" baseline="0">
              <a:latin typeface="Arial" panose="020B0604020202020204" pitchFamily="34" charset="0"/>
            </a:endParaRPr>
          </a:p>
        </p:txBody>
      </p:sp>
      <p:sp>
        <p:nvSpPr>
          <p:cNvPr id="41987" name="Rectangle 2">
            <a:extLst>
              <a:ext uri="{FF2B5EF4-FFF2-40B4-BE49-F238E27FC236}">
                <a16:creationId xmlns:a16="http://schemas.microsoft.com/office/drawing/2014/main" id="{3765B768-03C0-479E-97D5-E74245DE1062}"/>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1988" name="Rectangle 3">
            <a:extLst>
              <a:ext uri="{FF2B5EF4-FFF2-40B4-BE49-F238E27FC236}">
                <a16:creationId xmlns:a16="http://schemas.microsoft.com/office/drawing/2014/main" id="{65562349-2C86-9038-A30C-E17A6F3B2CFA}"/>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41989" name="Group 4">
            <a:extLst>
              <a:ext uri="{FF2B5EF4-FFF2-40B4-BE49-F238E27FC236}">
                <a16:creationId xmlns:a16="http://schemas.microsoft.com/office/drawing/2014/main" id="{16AD5777-E05C-8FD5-EC8B-773091BC9270}"/>
              </a:ext>
            </a:extLst>
          </p:cNvPr>
          <p:cNvGrpSpPr>
            <a:grpSpLocks/>
          </p:cNvGrpSpPr>
          <p:nvPr/>
        </p:nvGrpSpPr>
        <p:grpSpPr bwMode="auto">
          <a:xfrm>
            <a:off x="490538" y="773113"/>
            <a:ext cx="738187" cy="474662"/>
            <a:chOff x="0" y="0"/>
            <a:chExt cx="465" cy="299"/>
          </a:xfrm>
        </p:grpSpPr>
        <p:sp>
          <p:nvSpPr>
            <p:cNvPr id="41996" name="Rectangle 5">
              <a:extLst>
                <a:ext uri="{FF2B5EF4-FFF2-40B4-BE49-F238E27FC236}">
                  <a16:creationId xmlns:a16="http://schemas.microsoft.com/office/drawing/2014/main" id="{F01B7F52-4E3B-8AC5-DBB6-79D18488FBF9}"/>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1997" name="Rectangle 6">
              <a:extLst>
                <a:ext uri="{FF2B5EF4-FFF2-40B4-BE49-F238E27FC236}">
                  <a16:creationId xmlns:a16="http://schemas.microsoft.com/office/drawing/2014/main" id="{3559607A-9A82-2643-6E44-85AE81EACAB7}"/>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41990" name="Rectangle 7">
            <a:extLst>
              <a:ext uri="{FF2B5EF4-FFF2-40B4-BE49-F238E27FC236}">
                <a16:creationId xmlns:a16="http://schemas.microsoft.com/office/drawing/2014/main" id="{C6B33FF2-78DD-76AD-BD42-875603091D6F}"/>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1991" name="Rectangle 8">
            <a:extLst>
              <a:ext uri="{FF2B5EF4-FFF2-40B4-BE49-F238E27FC236}">
                <a16:creationId xmlns:a16="http://schemas.microsoft.com/office/drawing/2014/main" id="{A400E487-F427-1F1D-9812-F09DEDFE88AC}"/>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1992" name="Rectangle 9">
            <a:extLst>
              <a:ext uri="{FF2B5EF4-FFF2-40B4-BE49-F238E27FC236}">
                <a16:creationId xmlns:a16="http://schemas.microsoft.com/office/drawing/2014/main" id="{7047D756-D1EF-D81C-DF60-3DD6757F9D33}"/>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1993" name="Rectangle 10">
            <a:extLst>
              <a:ext uri="{FF2B5EF4-FFF2-40B4-BE49-F238E27FC236}">
                <a16:creationId xmlns:a16="http://schemas.microsoft.com/office/drawing/2014/main" id="{FEC53EC8-857C-90E9-4741-48184FA0BB16}"/>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41994" name="Rectangle 11">
            <a:extLst>
              <a:ext uri="{FF2B5EF4-FFF2-40B4-BE49-F238E27FC236}">
                <a16:creationId xmlns:a16="http://schemas.microsoft.com/office/drawing/2014/main" id="{BC4D0B78-99CF-A999-A9A5-BCC588A7E0CF}"/>
              </a:ext>
            </a:extLst>
          </p:cNvPr>
          <p:cNvSpPr>
            <a:spLocks noChangeArrowheads="1"/>
          </p:cNvSpPr>
          <p:nvPr/>
        </p:nvSpPr>
        <p:spPr bwMode="auto">
          <a:xfrm>
            <a:off x="685800" y="1447800"/>
            <a:ext cx="76200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图3.11表示了一个非周期复合信号。它可以在一个或两个词发音时由麦克风或电话机产生。这种情况下，复合信号不可能是周期的，因为我们不可能以完全相同的音调重复相同的词或语句。</a:t>
            </a:r>
          </a:p>
        </p:txBody>
      </p:sp>
      <p:sp>
        <p:nvSpPr>
          <p:cNvPr id="41995" name="Text Box 12">
            <a:extLst>
              <a:ext uri="{FF2B5EF4-FFF2-40B4-BE49-F238E27FC236}">
                <a16:creationId xmlns:a16="http://schemas.microsoft.com/office/drawing/2014/main" id="{75C4AF9D-503A-18BE-4AD2-7D98B38C9899}"/>
              </a:ext>
            </a:extLst>
          </p:cNvPr>
          <p:cNvSpPr txBox="1">
            <a:spLocks noChangeArrowheads="1"/>
          </p:cNvSpPr>
          <p:nvPr/>
        </p:nvSpPr>
        <p:spPr bwMode="auto">
          <a:xfrm>
            <a:off x="1143000" y="182563"/>
            <a:ext cx="1300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1">
            <a:extLst>
              <a:ext uri="{FF2B5EF4-FFF2-40B4-BE49-F238E27FC236}">
                <a16:creationId xmlns:a16="http://schemas.microsoft.com/office/drawing/2014/main" id="{61BC7B85-6F71-4F71-B39C-4E7BFD7337E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F9CB42EB-1DEA-4A56-B8C7-F6F84E9E0424}" type="slidenum">
              <a:rPr lang="en-US" altLang="zh-CN" sz="2000" i="0" baseline="0" smtClean="0">
                <a:latin typeface="Arial" panose="020B0604020202020204" pitchFamily="34" charset="0"/>
              </a:rPr>
              <a:pPr/>
              <a:t>39</a:t>
            </a:fld>
            <a:endParaRPr lang="en-US" altLang="zh-CN" sz="2000" i="0" baseline="0">
              <a:latin typeface="Arial" panose="020B0604020202020204" pitchFamily="34" charset="0"/>
            </a:endParaRPr>
          </a:p>
        </p:txBody>
      </p:sp>
      <p:sp>
        <p:nvSpPr>
          <p:cNvPr id="43011" name="Line 2">
            <a:extLst>
              <a:ext uri="{FF2B5EF4-FFF2-40B4-BE49-F238E27FC236}">
                <a16:creationId xmlns:a16="http://schemas.microsoft.com/office/drawing/2014/main" id="{62A8F8A4-FF25-E61F-D88D-998CFEF8328F}"/>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2" name="Line 3">
            <a:extLst>
              <a:ext uri="{FF2B5EF4-FFF2-40B4-BE49-F238E27FC236}">
                <a16:creationId xmlns:a16="http://schemas.microsoft.com/office/drawing/2014/main" id="{8ABB5EB9-B9DA-E873-3738-AF49EB90FF9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3" name="Text Box 4">
            <a:extLst>
              <a:ext uri="{FF2B5EF4-FFF2-40B4-BE49-F238E27FC236}">
                <a16:creationId xmlns:a16="http://schemas.microsoft.com/office/drawing/2014/main" id="{D9D0ECA2-1ACD-9D1E-01DE-6CDDFDA5F0A3}"/>
              </a:ext>
            </a:extLst>
          </p:cNvPr>
          <p:cNvSpPr txBox="1">
            <a:spLocks noChangeArrowheads="1"/>
          </p:cNvSpPr>
          <p:nvPr/>
        </p:nvSpPr>
        <p:spPr bwMode="auto">
          <a:xfrm>
            <a:off x="304800" y="762000"/>
            <a:ext cx="4043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3.11  </a:t>
            </a:r>
            <a:r>
              <a:rPr lang="zh-CN" altLang="en-US" sz="2000" baseline="0">
                <a:ea typeface="宋体" panose="02010600030101010101" pitchFamily="2" charset="-122"/>
              </a:rPr>
              <a:t>非周期信号的时域和频域</a:t>
            </a:r>
          </a:p>
        </p:txBody>
      </p:sp>
      <p:sp>
        <p:nvSpPr>
          <p:cNvPr id="43014" name="Line 5">
            <a:extLst>
              <a:ext uri="{FF2B5EF4-FFF2-40B4-BE49-F238E27FC236}">
                <a16:creationId xmlns:a16="http://schemas.microsoft.com/office/drawing/2014/main" id="{AE48144A-ED7A-0A36-04BF-77423112B93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3015" name="Picture 6">
            <a:extLst>
              <a:ext uri="{FF2B5EF4-FFF2-40B4-BE49-F238E27FC236}">
                <a16:creationId xmlns:a16="http://schemas.microsoft.com/office/drawing/2014/main" id="{31DE2618-D3DC-F70C-5D23-FDE568BD47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365500"/>
            <a:ext cx="8345488" cy="262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6" name="Text Box 7">
            <a:extLst>
              <a:ext uri="{FF2B5EF4-FFF2-40B4-BE49-F238E27FC236}">
                <a16:creationId xmlns:a16="http://schemas.microsoft.com/office/drawing/2014/main" id="{1D407A51-07D8-BB9A-87D4-5F6D5AFE004D}"/>
              </a:ext>
            </a:extLst>
          </p:cNvPr>
          <p:cNvSpPr txBox="1">
            <a:spLocks noChangeArrowheads="1"/>
          </p:cNvSpPr>
          <p:nvPr/>
        </p:nvSpPr>
        <p:spPr bwMode="auto">
          <a:xfrm>
            <a:off x="381000" y="5803900"/>
            <a:ext cx="1387475"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a:ea typeface="宋体" panose="02010600030101010101" pitchFamily="2" charset="-122"/>
              </a:rPr>
              <a:t>a.时域</a:t>
            </a:r>
          </a:p>
        </p:txBody>
      </p:sp>
      <p:sp>
        <p:nvSpPr>
          <p:cNvPr id="43017" name="Text Box 8">
            <a:extLst>
              <a:ext uri="{FF2B5EF4-FFF2-40B4-BE49-F238E27FC236}">
                <a16:creationId xmlns:a16="http://schemas.microsoft.com/office/drawing/2014/main" id="{AEC5F6AB-153B-FFA8-1138-DBBEFCBB70C1}"/>
              </a:ext>
            </a:extLst>
          </p:cNvPr>
          <p:cNvSpPr txBox="1">
            <a:spLocks noChangeArrowheads="1"/>
          </p:cNvSpPr>
          <p:nvPr/>
        </p:nvSpPr>
        <p:spPr bwMode="auto">
          <a:xfrm>
            <a:off x="4460875" y="5784850"/>
            <a:ext cx="1787525"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a:ea typeface="宋体" panose="02010600030101010101" pitchFamily="2" charset="-122"/>
              </a:rPr>
              <a:t>b.频域</a:t>
            </a:r>
          </a:p>
        </p:txBody>
      </p:sp>
      <p:sp>
        <p:nvSpPr>
          <p:cNvPr id="43018" name="Rectangle 11">
            <a:extLst>
              <a:ext uri="{FF2B5EF4-FFF2-40B4-BE49-F238E27FC236}">
                <a16:creationId xmlns:a16="http://schemas.microsoft.com/office/drawing/2014/main" id="{F7FC6AFB-F286-1D7B-FDFF-80B2CDA0B54F}"/>
              </a:ext>
            </a:extLst>
          </p:cNvPr>
          <p:cNvSpPr>
            <a:spLocks noChangeArrowheads="1"/>
          </p:cNvSpPr>
          <p:nvPr/>
        </p:nvSpPr>
        <p:spPr bwMode="auto">
          <a:xfrm>
            <a:off x="685800" y="1447800"/>
            <a:ext cx="8001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sz="2400" baseline="0">
                <a:ea typeface="宋体" panose="02010600030101010101" pitchFamily="2" charset="-122"/>
              </a:rPr>
              <a:t>         图3.11表示了一个非周期复合信号。它可以在一个或两个词发音时由麦克风或电话机产生。这种情况下，复合信号不可能是周期的，因为我们不可能以完全相同的音调重复相同的词或语句。分解为无数个简单正弦波的组合。</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1">
            <a:extLst>
              <a:ext uri="{FF2B5EF4-FFF2-40B4-BE49-F238E27FC236}">
                <a16:creationId xmlns:a16="http://schemas.microsoft.com/office/drawing/2014/main" id="{37040946-3E30-1329-C42A-48162F0F583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BF483C66-2C07-4AE1-8C0E-8417B061776E}" type="slidenum">
              <a:rPr lang="en-US" altLang="zh-CN" sz="2000" i="0" baseline="0" smtClean="0">
                <a:latin typeface="Arial" panose="020B0604020202020204" pitchFamily="34" charset="0"/>
              </a:rPr>
              <a:pPr/>
              <a:t>40</a:t>
            </a:fld>
            <a:endParaRPr lang="en-US" altLang="zh-CN" sz="2000" i="0" baseline="0">
              <a:latin typeface="Arial" panose="020B0604020202020204" pitchFamily="34" charset="0"/>
            </a:endParaRPr>
          </a:p>
        </p:txBody>
      </p:sp>
      <p:sp>
        <p:nvSpPr>
          <p:cNvPr id="44035" name="Rectangle 2">
            <a:extLst>
              <a:ext uri="{FF2B5EF4-FFF2-40B4-BE49-F238E27FC236}">
                <a16:creationId xmlns:a16="http://schemas.microsoft.com/office/drawing/2014/main" id="{8E92D062-C588-9366-18CF-54AF6849CCC7}"/>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4036" name="Rectangle 3">
            <a:extLst>
              <a:ext uri="{FF2B5EF4-FFF2-40B4-BE49-F238E27FC236}">
                <a16:creationId xmlns:a16="http://schemas.microsoft.com/office/drawing/2014/main" id="{BA33D597-D09B-8C30-8F04-B47469088FBB}"/>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4037" name="Rectangle 4">
            <a:extLst>
              <a:ext uri="{FF2B5EF4-FFF2-40B4-BE49-F238E27FC236}">
                <a16:creationId xmlns:a16="http://schemas.microsoft.com/office/drawing/2014/main" id="{1624008E-9EB1-31FE-1EFF-5E42BA7EE8E0}"/>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4038" name="Rectangle 5">
            <a:extLst>
              <a:ext uri="{FF2B5EF4-FFF2-40B4-BE49-F238E27FC236}">
                <a16:creationId xmlns:a16="http://schemas.microsoft.com/office/drawing/2014/main" id="{27AA2878-27FA-3E61-9D78-06EBCFC71CC0}"/>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4039" name="Rectangle 6">
            <a:extLst>
              <a:ext uri="{FF2B5EF4-FFF2-40B4-BE49-F238E27FC236}">
                <a16:creationId xmlns:a16="http://schemas.microsoft.com/office/drawing/2014/main" id="{48F558C8-DF13-BEB8-DE7D-F7DC0B15E1BF}"/>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4040" name="Rectangle 7">
            <a:extLst>
              <a:ext uri="{FF2B5EF4-FFF2-40B4-BE49-F238E27FC236}">
                <a16:creationId xmlns:a16="http://schemas.microsoft.com/office/drawing/2014/main" id="{F9E6089F-5110-57BF-FCD6-9387B0FEA143}"/>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4041" name="Rectangle 8">
            <a:extLst>
              <a:ext uri="{FF2B5EF4-FFF2-40B4-BE49-F238E27FC236}">
                <a16:creationId xmlns:a16="http://schemas.microsoft.com/office/drawing/2014/main" id="{AA27025E-2495-8189-1979-32717B9356FE}"/>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4042" name="Line 9">
            <a:extLst>
              <a:ext uri="{FF2B5EF4-FFF2-40B4-BE49-F238E27FC236}">
                <a16:creationId xmlns:a16="http://schemas.microsoft.com/office/drawing/2014/main" id="{714CBBAD-03B8-3ECC-CB5E-68D3D7E178B4}"/>
              </a:ext>
            </a:extLst>
          </p:cNvPr>
          <p:cNvSpPr>
            <a:spLocks noChangeShapeType="1"/>
          </p:cNvSpPr>
          <p:nvPr/>
        </p:nvSpPr>
        <p:spPr bwMode="auto">
          <a:xfrm>
            <a:off x="457200" y="2590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3" name="Line 10">
            <a:extLst>
              <a:ext uri="{FF2B5EF4-FFF2-40B4-BE49-F238E27FC236}">
                <a16:creationId xmlns:a16="http://schemas.microsoft.com/office/drawing/2014/main" id="{36AA66D7-6791-DFD7-AADC-704213270990}"/>
              </a:ext>
            </a:extLst>
          </p:cNvPr>
          <p:cNvSpPr>
            <a:spLocks noChangeShapeType="1"/>
          </p:cNvSpPr>
          <p:nvPr/>
        </p:nvSpPr>
        <p:spPr bwMode="auto">
          <a:xfrm>
            <a:off x="457200" y="3810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4" name="Rectangle 11">
            <a:extLst>
              <a:ext uri="{FF2B5EF4-FFF2-40B4-BE49-F238E27FC236}">
                <a16:creationId xmlns:a16="http://schemas.microsoft.com/office/drawing/2014/main" id="{F217F10E-4FB1-B99E-AF4D-D7B7CFA74064}"/>
              </a:ext>
            </a:extLst>
          </p:cNvPr>
          <p:cNvSpPr>
            <a:spLocks noChangeArrowheads="1"/>
          </p:cNvSpPr>
          <p:nvPr/>
        </p:nvSpPr>
        <p:spPr bwMode="auto">
          <a:xfrm>
            <a:off x="495300" y="2682875"/>
            <a:ext cx="8077200" cy="10668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复合信号的带宽是信号最高频率与最低频率的差值。</a:t>
            </a:r>
          </a:p>
        </p:txBody>
      </p:sp>
      <p:grpSp>
        <p:nvGrpSpPr>
          <p:cNvPr id="44045" name="Group 12">
            <a:extLst>
              <a:ext uri="{FF2B5EF4-FFF2-40B4-BE49-F238E27FC236}">
                <a16:creationId xmlns:a16="http://schemas.microsoft.com/office/drawing/2014/main" id="{FF253258-E374-ED80-3D3B-20FF49E217D2}"/>
              </a:ext>
            </a:extLst>
          </p:cNvPr>
          <p:cNvGrpSpPr>
            <a:grpSpLocks/>
          </p:cNvGrpSpPr>
          <p:nvPr/>
        </p:nvGrpSpPr>
        <p:grpSpPr bwMode="auto">
          <a:xfrm>
            <a:off x="457200" y="1981200"/>
            <a:ext cx="1143000" cy="566738"/>
            <a:chOff x="0" y="0"/>
            <a:chExt cx="720" cy="357"/>
          </a:xfrm>
        </p:grpSpPr>
        <p:pic>
          <p:nvPicPr>
            <p:cNvPr id="44046" name="Picture 13">
              <a:extLst>
                <a:ext uri="{FF2B5EF4-FFF2-40B4-BE49-F238E27FC236}">
                  <a16:creationId xmlns:a16="http://schemas.microsoft.com/office/drawing/2014/main" id="{11FA6C62-5792-12BA-07BD-C7E6D29CBB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7" name="Text Box 14">
              <a:extLst>
                <a:ext uri="{FF2B5EF4-FFF2-40B4-BE49-F238E27FC236}">
                  <a16:creationId xmlns:a16="http://schemas.microsoft.com/office/drawing/2014/main" id="{D1D77CA5-A21D-D6C8-4289-E57786F17BE2}"/>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1">
            <a:extLst>
              <a:ext uri="{FF2B5EF4-FFF2-40B4-BE49-F238E27FC236}">
                <a16:creationId xmlns:a16="http://schemas.microsoft.com/office/drawing/2014/main" id="{271A4CC4-994D-CA5F-4CE8-244CE33146F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02C01A15-7EDF-4CBE-A68A-198A60332426}" type="slidenum">
              <a:rPr lang="en-US" altLang="zh-CN" sz="2000" i="0" baseline="0" smtClean="0">
                <a:latin typeface="Arial" panose="020B0604020202020204" pitchFamily="34" charset="0"/>
              </a:rPr>
              <a:pPr/>
              <a:t>41</a:t>
            </a:fld>
            <a:endParaRPr lang="en-US" altLang="zh-CN" sz="2000" i="0" baseline="0">
              <a:latin typeface="Arial" panose="020B0604020202020204" pitchFamily="34" charset="0"/>
            </a:endParaRPr>
          </a:p>
        </p:txBody>
      </p:sp>
      <p:sp>
        <p:nvSpPr>
          <p:cNvPr id="45059" name="Line 2">
            <a:extLst>
              <a:ext uri="{FF2B5EF4-FFF2-40B4-BE49-F238E27FC236}">
                <a16:creationId xmlns:a16="http://schemas.microsoft.com/office/drawing/2014/main" id="{FED816D0-0995-0DC3-2108-28B1DD09365B}"/>
              </a:ext>
            </a:extLst>
          </p:cNvPr>
          <p:cNvSpPr>
            <a:spLocks noChangeShapeType="1"/>
          </p:cNvSpPr>
          <p:nvPr/>
        </p:nvSpPr>
        <p:spPr bwMode="auto">
          <a:xfrm>
            <a:off x="152400" y="762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0" name="Line 3">
            <a:extLst>
              <a:ext uri="{FF2B5EF4-FFF2-40B4-BE49-F238E27FC236}">
                <a16:creationId xmlns:a16="http://schemas.microsoft.com/office/drawing/2014/main" id="{9F7CC593-4BA3-E373-9A14-8A39D2C52068}"/>
              </a:ext>
            </a:extLst>
          </p:cNvPr>
          <p:cNvSpPr>
            <a:spLocks noChangeShapeType="1"/>
          </p:cNvSpPr>
          <p:nvPr/>
        </p:nvSpPr>
        <p:spPr bwMode="auto">
          <a:xfrm>
            <a:off x="152400" y="9144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1" name="Text Box 4">
            <a:extLst>
              <a:ext uri="{FF2B5EF4-FFF2-40B4-BE49-F238E27FC236}">
                <a16:creationId xmlns:a16="http://schemas.microsoft.com/office/drawing/2014/main" id="{5E8D2A5E-CEDB-B632-4E39-0203C3ED6BB3}"/>
              </a:ext>
            </a:extLst>
          </p:cNvPr>
          <p:cNvSpPr txBox="1">
            <a:spLocks noChangeArrowheads="1"/>
          </p:cNvSpPr>
          <p:nvPr/>
        </p:nvSpPr>
        <p:spPr bwMode="auto">
          <a:xfrm>
            <a:off x="304800" y="304800"/>
            <a:ext cx="5567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3.12  </a:t>
            </a:r>
            <a:r>
              <a:rPr lang="zh-CN" altLang="en-US" sz="2000" baseline="0">
                <a:ea typeface="宋体" panose="02010600030101010101" pitchFamily="2" charset="-122"/>
              </a:rPr>
              <a:t>周期复合信号和非周期复合信号的带宽</a:t>
            </a:r>
          </a:p>
        </p:txBody>
      </p:sp>
      <p:sp>
        <p:nvSpPr>
          <p:cNvPr id="45062" name="Line 5">
            <a:extLst>
              <a:ext uri="{FF2B5EF4-FFF2-40B4-BE49-F238E27FC236}">
                <a16:creationId xmlns:a16="http://schemas.microsoft.com/office/drawing/2014/main" id="{767DF05E-5BC6-5C18-47E8-9CCC0F16D47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5063" name="Picture 6">
            <a:extLst>
              <a:ext uri="{FF2B5EF4-FFF2-40B4-BE49-F238E27FC236}">
                <a16:creationId xmlns:a16="http://schemas.microsoft.com/office/drawing/2014/main" id="{3B71D08D-DFBC-6088-00FB-4809699DF7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914400"/>
            <a:ext cx="6115050" cy="500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4" name="Text Box 7">
            <a:extLst>
              <a:ext uri="{FF2B5EF4-FFF2-40B4-BE49-F238E27FC236}">
                <a16:creationId xmlns:a16="http://schemas.microsoft.com/office/drawing/2014/main" id="{628246C2-1B64-FF70-86EF-085D59E53758}"/>
              </a:ext>
            </a:extLst>
          </p:cNvPr>
          <p:cNvSpPr txBox="1">
            <a:spLocks noChangeArrowheads="1"/>
          </p:cNvSpPr>
          <p:nvPr/>
        </p:nvSpPr>
        <p:spPr bwMode="auto">
          <a:xfrm>
            <a:off x="1600200" y="3124200"/>
            <a:ext cx="230505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a:ea typeface="宋体" panose="02010600030101010101" pitchFamily="2" charset="-122"/>
              </a:rPr>
              <a:t>a.周期信号的带宽</a:t>
            </a:r>
          </a:p>
        </p:txBody>
      </p:sp>
      <p:sp>
        <p:nvSpPr>
          <p:cNvPr id="45065" name="Text Box 8">
            <a:extLst>
              <a:ext uri="{FF2B5EF4-FFF2-40B4-BE49-F238E27FC236}">
                <a16:creationId xmlns:a16="http://schemas.microsoft.com/office/drawing/2014/main" id="{C4AA086B-9612-7E42-A84B-6E80848284A3}"/>
              </a:ext>
            </a:extLst>
          </p:cNvPr>
          <p:cNvSpPr txBox="1">
            <a:spLocks noChangeArrowheads="1"/>
          </p:cNvSpPr>
          <p:nvPr/>
        </p:nvSpPr>
        <p:spPr bwMode="auto">
          <a:xfrm>
            <a:off x="1600200" y="5791200"/>
            <a:ext cx="238125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a:ea typeface="宋体" panose="02010600030101010101" pitchFamily="2" charset="-122"/>
              </a:rPr>
              <a:t>b.非周期信号的带宽</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1">
            <a:extLst>
              <a:ext uri="{FF2B5EF4-FFF2-40B4-BE49-F238E27FC236}">
                <a16:creationId xmlns:a16="http://schemas.microsoft.com/office/drawing/2014/main" id="{4221F4CD-AECC-D16D-8D15-D82110DC592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DEC0B455-27AA-470A-B7C3-C9ECC7AAE33A}" type="slidenum">
              <a:rPr lang="en-US" altLang="zh-CN" sz="2000" i="0" baseline="0" smtClean="0">
                <a:latin typeface="Arial" panose="020B0604020202020204" pitchFamily="34" charset="0"/>
              </a:rPr>
              <a:pPr/>
              <a:t>42</a:t>
            </a:fld>
            <a:endParaRPr lang="en-US" altLang="zh-CN" sz="2000" i="0" baseline="0">
              <a:latin typeface="Arial" panose="020B0604020202020204" pitchFamily="34" charset="0"/>
            </a:endParaRPr>
          </a:p>
        </p:txBody>
      </p:sp>
      <p:sp>
        <p:nvSpPr>
          <p:cNvPr id="46083" name="Rectangle 2">
            <a:extLst>
              <a:ext uri="{FF2B5EF4-FFF2-40B4-BE49-F238E27FC236}">
                <a16:creationId xmlns:a16="http://schemas.microsoft.com/office/drawing/2014/main" id="{090A0E80-FE2D-67AE-BA9B-AA6D031A9039}"/>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6084" name="Rectangle 3">
            <a:extLst>
              <a:ext uri="{FF2B5EF4-FFF2-40B4-BE49-F238E27FC236}">
                <a16:creationId xmlns:a16="http://schemas.microsoft.com/office/drawing/2014/main" id="{A4210DEF-A03B-6203-52B7-BE0223E46223}"/>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46085" name="Group 4">
            <a:extLst>
              <a:ext uri="{FF2B5EF4-FFF2-40B4-BE49-F238E27FC236}">
                <a16:creationId xmlns:a16="http://schemas.microsoft.com/office/drawing/2014/main" id="{A6004112-B307-9284-D985-C06D8BAF2D44}"/>
              </a:ext>
            </a:extLst>
          </p:cNvPr>
          <p:cNvGrpSpPr>
            <a:grpSpLocks/>
          </p:cNvGrpSpPr>
          <p:nvPr/>
        </p:nvGrpSpPr>
        <p:grpSpPr bwMode="auto">
          <a:xfrm>
            <a:off x="490538" y="773113"/>
            <a:ext cx="738187" cy="474662"/>
            <a:chOff x="0" y="0"/>
            <a:chExt cx="465" cy="299"/>
          </a:xfrm>
        </p:grpSpPr>
        <p:sp>
          <p:nvSpPr>
            <p:cNvPr id="46094" name="Rectangle 5">
              <a:extLst>
                <a:ext uri="{FF2B5EF4-FFF2-40B4-BE49-F238E27FC236}">
                  <a16:creationId xmlns:a16="http://schemas.microsoft.com/office/drawing/2014/main" id="{6F546B6E-925E-601E-08F6-17D94D85068D}"/>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6095" name="Rectangle 6">
              <a:extLst>
                <a:ext uri="{FF2B5EF4-FFF2-40B4-BE49-F238E27FC236}">
                  <a16:creationId xmlns:a16="http://schemas.microsoft.com/office/drawing/2014/main" id="{A3FF324E-1ABA-D0AE-FD96-4CFAD94AEE08}"/>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46086" name="Rectangle 7">
            <a:extLst>
              <a:ext uri="{FF2B5EF4-FFF2-40B4-BE49-F238E27FC236}">
                <a16:creationId xmlns:a16="http://schemas.microsoft.com/office/drawing/2014/main" id="{EC3DC437-E709-40D6-5E18-7D886BFD78D4}"/>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6087" name="Rectangle 8">
            <a:extLst>
              <a:ext uri="{FF2B5EF4-FFF2-40B4-BE49-F238E27FC236}">
                <a16:creationId xmlns:a16="http://schemas.microsoft.com/office/drawing/2014/main" id="{1139627B-1154-7DD4-1F6A-BD13A51DC71A}"/>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6088" name="Rectangle 9">
            <a:extLst>
              <a:ext uri="{FF2B5EF4-FFF2-40B4-BE49-F238E27FC236}">
                <a16:creationId xmlns:a16="http://schemas.microsoft.com/office/drawing/2014/main" id="{4EDA520E-4A8D-05C8-0458-B9F24F3655E3}"/>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6089" name="Rectangle 10">
            <a:extLst>
              <a:ext uri="{FF2B5EF4-FFF2-40B4-BE49-F238E27FC236}">
                <a16:creationId xmlns:a16="http://schemas.microsoft.com/office/drawing/2014/main" id="{152F1623-E5F0-1B0A-AEF7-96A821927585}"/>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46090" name="Rectangle 11">
            <a:extLst>
              <a:ext uri="{FF2B5EF4-FFF2-40B4-BE49-F238E27FC236}">
                <a16:creationId xmlns:a16="http://schemas.microsoft.com/office/drawing/2014/main" id="{ED44F7FD-9204-6CC0-1EDB-11CBABB6801F}"/>
              </a:ext>
            </a:extLst>
          </p:cNvPr>
          <p:cNvSpPr>
            <a:spLocks noChangeArrowheads="1"/>
          </p:cNvSpPr>
          <p:nvPr/>
        </p:nvSpPr>
        <p:spPr bwMode="auto">
          <a:xfrm>
            <a:off x="228600" y="1295400"/>
            <a:ext cx="8534400"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如果一个周期信号分解为5个正弦波信号，频率分别为100,300,500,700和900Hz，那么其带宽是多少？假定所有分量的最大振幅都为10V，试画出该信号的频谱。</a:t>
            </a: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设 </a:t>
            </a:r>
            <a:r>
              <a:rPr lang="zh-CN" altLang="en-US" baseline="0">
                <a:solidFill>
                  <a:schemeClr val="hlink"/>
                </a:solidFill>
                <a:ea typeface="宋体" panose="02010600030101010101" pitchFamily="2" charset="-122"/>
              </a:rPr>
              <a:t>f</a:t>
            </a:r>
            <a:r>
              <a:rPr lang="zh-CN" altLang="en-US" baseline="-14000">
                <a:solidFill>
                  <a:schemeClr val="hlink"/>
                </a:solidFill>
                <a:ea typeface="宋体" panose="02010600030101010101" pitchFamily="2" charset="-122"/>
              </a:rPr>
              <a:t>h</a:t>
            </a:r>
            <a:r>
              <a:rPr lang="zh-CN" altLang="en-US" baseline="0">
                <a:ea typeface="宋体" panose="02010600030101010101" pitchFamily="2" charset="-122"/>
              </a:rPr>
              <a:t> 为最高频率，</a:t>
            </a:r>
            <a:r>
              <a:rPr lang="zh-CN" altLang="en-US" baseline="0">
                <a:solidFill>
                  <a:schemeClr val="hlink"/>
                </a:solidFill>
                <a:ea typeface="宋体" panose="02010600030101010101" pitchFamily="2" charset="-122"/>
              </a:rPr>
              <a:t>f</a:t>
            </a:r>
            <a:r>
              <a:rPr lang="zh-CN" altLang="en-US" baseline="-14000">
                <a:solidFill>
                  <a:schemeClr val="hlink"/>
                </a:solidFill>
                <a:ea typeface="宋体" panose="02010600030101010101" pitchFamily="2" charset="-122"/>
              </a:rPr>
              <a:t>l</a:t>
            </a:r>
            <a:r>
              <a:rPr lang="zh-CN" altLang="en-US" baseline="0">
                <a:ea typeface="宋体" panose="02010600030101010101" pitchFamily="2" charset="-122"/>
              </a:rPr>
              <a:t> 为最低频率，B为带宽，则：</a:t>
            </a:r>
          </a:p>
        </p:txBody>
      </p:sp>
      <p:sp>
        <p:nvSpPr>
          <p:cNvPr id="46091" name="Text Box 12">
            <a:extLst>
              <a:ext uri="{FF2B5EF4-FFF2-40B4-BE49-F238E27FC236}">
                <a16:creationId xmlns:a16="http://schemas.microsoft.com/office/drawing/2014/main" id="{ED460F56-6CE1-72D5-86DB-BA94D75F7C97}"/>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3.10</a:t>
            </a:r>
          </a:p>
        </p:txBody>
      </p:sp>
      <p:pic>
        <p:nvPicPr>
          <p:cNvPr id="46092" name="Picture 13">
            <a:extLst>
              <a:ext uri="{FF2B5EF4-FFF2-40B4-BE49-F238E27FC236}">
                <a16:creationId xmlns:a16="http://schemas.microsoft.com/office/drawing/2014/main" id="{49EBD7F2-558E-DDD3-F2FA-A27674632C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4191000"/>
            <a:ext cx="3843338" cy="460375"/>
          </a:xfrm>
          <a:prstGeom prst="rect">
            <a:avLst/>
          </a:prstGeom>
          <a:noFill/>
          <a:ln w="57150">
            <a:solidFill>
              <a:srgbClr val="3366FF"/>
            </a:solidFill>
            <a:miter lim="800000"/>
            <a:headEnd/>
            <a:tailEnd/>
          </a:ln>
          <a:extLst>
            <a:ext uri="{909E8E84-426E-40DD-AFC4-6F175D3DCCD1}">
              <a14:hiddenFill xmlns:a14="http://schemas.microsoft.com/office/drawing/2010/main">
                <a:solidFill>
                  <a:srgbClr val="FFFFFF"/>
                </a:solidFill>
              </a14:hiddenFill>
            </a:ext>
          </a:extLst>
        </p:spPr>
      </p:pic>
      <p:sp>
        <p:nvSpPr>
          <p:cNvPr id="46093" name="Rectangle 14">
            <a:extLst>
              <a:ext uri="{FF2B5EF4-FFF2-40B4-BE49-F238E27FC236}">
                <a16:creationId xmlns:a16="http://schemas.microsoft.com/office/drawing/2014/main" id="{68A65E40-C287-90D9-4A1A-0EF4C61057B4}"/>
              </a:ext>
            </a:extLst>
          </p:cNvPr>
          <p:cNvSpPr>
            <a:spLocks noChangeArrowheads="1"/>
          </p:cNvSpPr>
          <p:nvPr/>
        </p:nvSpPr>
        <p:spPr bwMode="auto">
          <a:xfrm>
            <a:off x="228600" y="4878388"/>
            <a:ext cx="8534400"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频谱只有5个尖峰，分别位于100,300,500,700和900Hz的位置(见图3.13)。</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1">
            <a:extLst>
              <a:ext uri="{FF2B5EF4-FFF2-40B4-BE49-F238E27FC236}">
                <a16:creationId xmlns:a16="http://schemas.microsoft.com/office/drawing/2014/main" id="{9393DDFF-7448-2FB8-9484-54E829224BF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593152FA-2F84-4047-B938-C92DAA9A46BC}" type="slidenum">
              <a:rPr lang="en-US" altLang="zh-CN" sz="2000" i="0" baseline="0" smtClean="0">
                <a:latin typeface="Arial" panose="020B0604020202020204" pitchFamily="34" charset="0"/>
              </a:rPr>
              <a:pPr/>
              <a:t>43</a:t>
            </a:fld>
            <a:endParaRPr lang="en-US" altLang="zh-CN" sz="2000" i="0" baseline="0">
              <a:latin typeface="Arial" panose="020B0604020202020204" pitchFamily="34" charset="0"/>
            </a:endParaRPr>
          </a:p>
        </p:txBody>
      </p:sp>
      <p:sp>
        <p:nvSpPr>
          <p:cNvPr id="47107" name="Line 2">
            <a:extLst>
              <a:ext uri="{FF2B5EF4-FFF2-40B4-BE49-F238E27FC236}">
                <a16:creationId xmlns:a16="http://schemas.microsoft.com/office/drawing/2014/main" id="{491D2999-7893-89FC-A2F7-F70A7FFD9F7F}"/>
              </a:ext>
            </a:extLst>
          </p:cNvPr>
          <p:cNvSpPr>
            <a:spLocks noChangeShapeType="1"/>
          </p:cNvSpPr>
          <p:nvPr/>
        </p:nvSpPr>
        <p:spPr bwMode="auto">
          <a:xfrm>
            <a:off x="152400" y="228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08" name="Line 3">
            <a:extLst>
              <a:ext uri="{FF2B5EF4-FFF2-40B4-BE49-F238E27FC236}">
                <a16:creationId xmlns:a16="http://schemas.microsoft.com/office/drawing/2014/main" id="{2899F3C1-EF12-E3EB-50DC-13553880B499}"/>
              </a:ext>
            </a:extLst>
          </p:cNvPr>
          <p:cNvSpPr>
            <a:spLocks noChangeShapeType="1"/>
          </p:cNvSpPr>
          <p:nvPr/>
        </p:nvSpPr>
        <p:spPr bwMode="auto">
          <a:xfrm>
            <a:off x="152400" y="10668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09" name="Text Box 4">
            <a:extLst>
              <a:ext uri="{FF2B5EF4-FFF2-40B4-BE49-F238E27FC236}">
                <a16:creationId xmlns:a16="http://schemas.microsoft.com/office/drawing/2014/main" id="{B178A699-2FBC-82CA-D7A2-AF3372F63883}"/>
              </a:ext>
            </a:extLst>
          </p:cNvPr>
          <p:cNvSpPr txBox="1">
            <a:spLocks noChangeArrowheads="1"/>
          </p:cNvSpPr>
          <p:nvPr/>
        </p:nvSpPr>
        <p:spPr bwMode="auto">
          <a:xfrm>
            <a:off x="304800" y="457200"/>
            <a:ext cx="270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3.13  </a:t>
            </a:r>
            <a:r>
              <a:rPr lang="zh-CN" altLang="en-US" sz="2000" baseline="0">
                <a:ea typeface="宋体" panose="02010600030101010101" pitchFamily="2" charset="-122"/>
              </a:rPr>
              <a:t>例3.10的带宽</a:t>
            </a:r>
          </a:p>
        </p:txBody>
      </p:sp>
      <p:sp>
        <p:nvSpPr>
          <p:cNvPr id="47110" name="Line 5">
            <a:extLst>
              <a:ext uri="{FF2B5EF4-FFF2-40B4-BE49-F238E27FC236}">
                <a16:creationId xmlns:a16="http://schemas.microsoft.com/office/drawing/2014/main" id="{D0140165-EF11-40F2-816E-F14C513BBE4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7111" name="Picture 6">
            <a:extLst>
              <a:ext uri="{FF2B5EF4-FFF2-40B4-BE49-F238E27FC236}">
                <a16:creationId xmlns:a16="http://schemas.microsoft.com/office/drawing/2014/main" id="{4A2B9744-D6B7-B6F2-199E-C561EA9745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4275" y="2430463"/>
            <a:ext cx="6929438"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1">
            <a:extLst>
              <a:ext uri="{FF2B5EF4-FFF2-40B4-BE49-F238E27FC236}">
                <a16:creationId xmlns:a16="http://schemas.microsoft.com/office/drawing/2014/main" id="{CD8E2558-DCE9-1EA2-5E0C-30366207649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449507F1-889E-4763-A174-598EA6B472E1}" type="slidenum">
              <a:rPr lang="en-US" altLang="zh-CN" sz="2000" i="0" baseline="0" smtClean="0">
                <a:latin typeface="Arial" panose="020B0604020202020204" pitchFamily="34" charset="0"/>
              </a:rPr>
              <a:pPr/>
              <a:t>44</a:t>
            </a:fld>
            <a:endParaRPr lang="en-US" altLang="zh-CN" sz="2000" i="0" baseline="0">
              <a:latin typeface="Arial" panose="020B0604020202020204" pitchFamily="34" charset="0"/>
            </a:endParaRPr>
          </a:p>
        </p:txBody>
      </p:sp>
      <p:sp>
        <p:nvSpPr>
          <p:cNvPr id="48131" name="Rectangle 2">
            <a:extLst>
              <a:ext uri="{FF2B5EF4-FFF2-40B4-BE49-F238E27FC236}">
                <a16:creationId xmlns:a16="http://schemas.microsoft.com/office/drawing/2014/main" id="{DE5AC729-1AB2-2301-A356-EA4DADE3F62A}"/>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8132" name="Rectangle 3">
            <a:extLst>
              <a:ext uri="{FF2B5EF4-FFF2-40B4-BE49-F238E27FC236}">
                <a16:creationId xmlns:a16="http://schemas.microsoft.com/office/drawing/2014/main" id="{C72E8AD7-F869-95F6-A91C-190FBB5C959C}"/>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48133" name="Group 4">
            <a:extLst>
              <a:ext uri="{FF2B5EF4-FFF2-40B4-BE49-F238E27FC236}">
                <a16:creationId xmlns:a16="http://schemas.microsoft.com/office/drawing/2014/main" id="{544EF3E1-355C-C31B-7E4E-2634AA122DA0}"/>
              </a:ext>
            </a:extLst>
          </p:cNvPr>
          <p:cNvGrpSpPr>
            <a:grpSpLocks/>
          </p:cNvGrpSpPr>
          <p:nvPr/>
        </p:nvGrpSpPr>
        <p:grpSpPr bwMode="auto">
          <a:xfrm>
            <a:off x="490538" y="773113"/>
            <a:ext cx="738187" cy="474662"/>
            <a:chOff x="0" y="0"/>
            <a:chExt cx="465" cy="299"/>
          </a:xfrm>
        </p:grpSpPr>
        <p:sp>
          <p:nvSpPr>
            <p:cNvPr id="48142" name="Rectangle 5">
              <a:extLst>
                <a:ext uri="{FF2B5EF4-FFF2-40B4-BE49-F238E27FC236}">
                  <a16:creationId xmlns:a16="http://schemas.microsoft.com/office/drawing/2014/main" id="{ED689A08-B5FD-E0CC-42DF-3FA6854183FA}"/>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8143" name="Rectangle 6">
              <a:extLst>
                <a:ext uri="{FF2B5EF4-FFF2-40B4-BE49-F238E27FC236}">
                  <a16:creationId xmlns:a16="http://schemas.microsoft.com/office/drawing/2014/main" id="{41937A4D-9C09-1ECB-EAEB-7F19AA9D4720}"/>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48134" name="Rectangle 7">
            <a:extLst>
              <a:ext uri="{FF2B5EF4-FFF2-40B4-BE49-F238E27FC236}">
                <a16:creationId xmlns:a16="http://schemas.microsoft.com/office/drawing/2014/main" id="{1FBFD267-68EA-B164-52BD-8950DFA68361}"/>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8135" name="Rectangle 8">
            <a:extLst>
              <a:ext uri="{FF2B5EF4-FFF2-40B4-BE49-F238E27FC236}">
                <a16:creationId xmlns:a16="http://schemas.microsoft.com/office/drawing/2014/main" id="{CBC0B855-16D5-5497-00FB-EE195A94CD5E}"/>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8136" name="Rectangle 9">
            <a:extLst>
              <a:ext uri="{FF2B5EF4-FFF2-40B4-BE49-F238E27FC236}">
                <a16:creationId xmlns:a16="http://schemas.microsoft.com/office/drawing/2014/main" id="{56EB2C3B-6445-60E0-AD0C-6CEFB86643D6}"/>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48137" name="Rectangle 10">
            <a:extLst>
              <a:ext uri="{FF2B5EF4-FFF2-40B4-BE49-F238E27FC236}">
                <a16:creationId xmlns:a16="http://schemas.microsoft.com/office/drawing/2014/main" id="{D836833F-AACC-226A-1B34-C5D3D10769B7}"/>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48138" name="Rectangle 11">
            <a:extLst>
              <a:ext uri="{FF2B5EF4-FFF2-40B4-BE49-F238E27FC236}">
                <a16:creationId xmlns:a16="http://schemas.microsoft.com/office/drawing/2014/main" id="{523890D2-986A-F5FC-A601-7753E2F09151}"/>
              </a:ext>
            </a:extLst>
          </p:cNvPr>
          <p:cNvSpPr>
            <a:spLocks noChangeArrowheads="1"/>
          </p:cNvSpPr>
          <p:nvPr/>
        </p:nvSpPr>
        <p:spPr bwMode="auto">
          <a:xfrm>
            <a:off x="228600" y="1295400"/>
            <a:ext cx="8534400"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一个周期信号的带宽是20Hz，其最高频率是60Hz，最低频率是多少？如果信号包含具有相同振幅的所有整数频率，试画出其频谱。</a:t>
            </a: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设 </a:t>
            </a:r>
            <a:r>
              <a:rPr lang="zh-CN" altLang="en-US" baseline="0">
                <a:solidFill>
                  <a:schemeClr val="hlink"/>
                </a:solidFill>
                <a:ea typeface="宋体" panose="02010600030101010101" pitchFamily="2" charset="-122"/>
              </a:rPr>
              <a:t>f</a:t>
            </a:r>
            <a:r>
              <a:rPr lang="zh-CN" altLang="en-US" baseline="-14000">
                <a:solidFill>
                  <a:schemeClr val="hlink"/>
                </a:solidFill>
                <a:ea typeface="宋体" panose="02010600030101010101" pitchFamily="2" charset="-122"/>
              </a:rPr>
              <a:t>h</a:t>
            </a:r>
            <a:r>
              <a:rPr lang="zh-CN" altLang="en-US" baseline="0">
                <a:ea typeface="宋体" panose="02010600030101010101" pitchFamily="2" charset="-122"/>
              </a:rPr>
              <a:t> 为最高频率，</a:t>
            </a:r>
            <a:r>
              <a:rPr lang="zh-CN" altLang="en-US" baseline="0">
                <a:solidFill>
                  <a:schemeClr val="hlink"/>
                </a:solidFill>
                <a:ea typeface="宋体" panose="02010600030101010101" pitchFamily="2" charset="-122"/>
              </a:rPr>
              <a:t>f</a:t>
            </a:r>
            <a:r>
              <a:rPr lang="zh-CN" altLang="en-US" baseline="-14000">
                <a:solidFill>
                  <a:schemeClr val="hlink"/>
                </a:solidFill>
                <a:ea typeface="宋体" panose="02010600030101010101" pitchFamily="2" charset="-122"/>
              </a:rPr>
              <a:t>l</a:t>
            </a:r>
            <a:r>
              <a:rPr lang="zh-CN" altLang="en-US" baseline="0">
                <a:ea typeface="宋体" panose="02010600030101010101" pitchFamily="2" charset="-122"/>
              </a:rPr>
              <a:t> 为最低频率，B为带宽，则：</a:t>
            </a:r>
          </a:p>
        </p:txBody>
      </p:sp>
      <p:sp>
        <p:nvSpPr>
          <p:cNvPr id="48139" name="Text Box 12">
            <a:extLst>
              <a:ext uri="{FF2B5EF4-FFF2-40B4-BE49-F238E27FC236}">
                <a16:creationId xmlns:a16="http://schemas.microsoft.com/office/drawing/2014/main" id="{72F88453-6D95-4E86-C3C0-818B95D662CA}"/>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3.11</a:t>
            </a:r>
          </a:p>
        </p:txBody>
      </p:sp>
      <p:pic>
        <p:nvPicPr>
          <p:cNvPr id="48140" name="Picture 13">
            <a:extLst>
              <a:ext uri="{FF2B5EF4-FFF2-40B4-BE49-F238E27FC236}">
                <a16:creationId xmlns:a16="http://schemas.microsoft.com/office/drawing/2014/main" id="{A9D4D784-666E-20BA-8F6E-5B1A36D9D1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3733800"/>
            <a:ext cx="6507163" cy="422275"/>
          </a:xfrm>
          <a:prstGeom prst="rect">
            <a:avLst/>
          </a:prstGeom>
          <a:noFill/>
          <a:ln w="57150">
            <a:solidFill>
              <a:srgbClr val="3366FF"/>
            </a:solidFill>
            <a:miter lim="800000"/>
            <a:headEnd/>
            <a:tailEnd/>
          </a:ln>
          <a:extLst>
            <a:ext uri="{909E8E84-426E-40DD-AFC4-6F175D3DCCD1}">
              <a14:hiddenFill xmlns:a14="http://schemas.microsoft.com/office/drawing/2010/main">
                <a:solidFill>
                  <a:srgbClr val="FFFFFF"/>
                </a:solidFill>
              </a14:hiddenFill>
            </a:ext>
          </a:extLst>
        </p:spPr>
      </p:pic>
      <p:sp>
        <p:nvSpPr>
          <p:cNvPr id="48141" name="Rectangle 14">
            <a:extLst>
              <a:ext uri="{FF2B5EF4-FFF2-40B4-BE49-F238E27FC236}">
                <a16:creationId xmlns:a16="http://schemas.microsoft.com/office/drawing/2014/main" id="{18A7947C-2FC0-E246-0555-9C7C15DC20FC}"/>
              </a:ext>
            </a:extLst>
          </p:cNvPr>
          <p:cNvSpPr>
            <a:spLocks noChangeArrowheads="1"/>
          </p:cNvSpPr>
          <p:nvPr/>
        </p:nvSpPr>
        <p:spPr bwMode="auto">
          <a:xfrm>
            <a:off x="381000" y="4419600"/>
            <a:ext cx="8382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频谱包含所有整数频率。用一系列尖峰表示(见图3.14)。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1">
            <a:extLst>
              <a:ext uri="{FF2B5EF4-FFF2-40B4-BE49-F238E27FC236}">
                <a16:creationId xmlns:a16="http://schemas.microsoft.com/office/drawing/2014/main" id="{1B1C4EC4-B4D9-BB49-7B9D-5901B6F12B1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76CEB824-324C-42BC-A186-47C029A4FE16}" type="slidenum">
              <a:rPr lang="en-US" altLang="zh-CN" sz="2000" i="0" baseline="0" smtClean="0">
                <a:latin typeface="Arial" panose="020B0604020202020204" pitchFamily="34" charset="0"/>
              </a:rPr>
              <a:pPr/>
              <a:t>45</a:t>
            </a:fld>
            <a:endParaRPr lang="en-US" altLang="zh-CN" sz="2000" i="0" baseline="0">
              <a:latin typeface="Arial" panose="020B0604020202020204" pitchFamily="34" charset="0"/>
            </a:endParaRPr>
          </a:p>
        </p:txBody>
      </p:sp>
      <p:sp>
        <p:nvSpPr>
          <p:cNvPr id="49155" name="Line 2">
            <a:extLst>
              <a:ext uri="{FF2B5EF4-FFF2-40B4-BE49-F238E27FC236}">
                <a16:creationId xmlns:a16="http://schemas.microsoft.com/office/drawing/2014/main" id="{450D3014-7510-1A59-0C3E-C8494D0C125A}"/>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56" name="Line 3">
            <a:extLst>
              <a:ext uri="{FF2B5EF4-FFF2-40B4-BE49-F238E27FC236}">
                <a16:creationId xmlns:a16="http://schemas.microsoft.com/office/drawing/2014/main" id="{26BF7F6A-8827-1507-F2E9-10DFA57A589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57" name="Text Box 4">
            <a:extLst>
              <a:ext uri="{FF2B5EF4-FFF2-40B4-BE49-F238E27FC236}">
                <a16:creationId xmlns:a16="http://schemas.microsoft.com/office/drawing/2014/main" id="{5735A717-775D-7D3D-39CF-1F25CC3B790C}"/>
              </a:ext>
            </a:extLst>
          </p:cNvPr>
          <p:cNvSpPr txBox="1">
            <a:spLocks noChangeArrowheads="1"/>
          </p:cNvSpPr>
          <p:nvPr/>
        </p:nvSpPr>
        <p:spPr bwMode="auto">
          <a:xfrm>
            <a:off x="304800" y="762000"/>
            <a:ext cx="270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3.14  </a:t>
            </a:r>
            <a:r>
              <a:rPr lang="zh-CN" altLang="en-US" sz="2000" baseline="0">
                <a:ea typeface="宋体" panose="02010600030101010101" pitchFamily="2" charset="-122"/>
              </a:rPr>
              <a:t>例3.11的带宽</a:t>
            </a:r>
          </a:p>
        </p:txBody>
      </p:sp>
      <p:sp>
        <p:nvSpPr>
          <p:cNvPr id="49158" name="Line 5">
            <a:extLst>
              <a:ext uri="{FF2B5EF4-FFF2-40B4-BE49-F238E27FC236}">
                <a16:creationId xmlns:a16="http://schemas.microsoft.com/office/drawing/2014/main" id="{D55ABA59-0003-A898-BF18-CB85799ABE6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9159" name="Picture 6">
            <a:extLst>
              <a:ext uri="{FF2B5EF4-FFF2-40B4-BE49-F238E27FC236}">
                <a16:creationId xmlns:a16="http://schemas.microsoft.com/office/drawing/2014/main" id="{95C1F509-05F2-9158-A4F2-BB6B2E380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263" y="3003550"/>
            <a:ext cx="8034337" cy="141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1">
            <a:extLst>
              <a:ext uri="{FF2B5EF4-FFF2-40B4-BE49-F238E27FC236}">
                <a16:creationId xmlns:a16="http://schemas.microsoft.com/office/drawing/2014/main" id="{1F87B301-1D28-C4F7-CD49-A6BEEFFD83D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1DF02EEC-7BBC-4030-832A-31C72707853F}" type="slidenum">
              <a:rPr lang="en-US" altLang="zh-CN" sz="2000" i="0" baseline="0" smtClean="0">
                <a:latin typeface="Arial" panose="020B0604020202020204" pitchFamily="34" charset="0"/>
              </a:rPr>
              <a:pPr/>
              <a:t>46</a:t>
            </a:fld>
            <a:endParaRPr lang="en-US" altLang="zh-CN" sz="2000" i="0" baseline="0">
              <a:latin typeface="Arial" panose="020B0604020202020204" pitchFamily="34" charset="0"/>
            </a:endParaRPr>
          </a:p>
        </p:txBody>
      </p:sp>
      <p:sp>
        <p:nvSpPr>
          <p:cNvPr id="50179" name="Rectangle 2">
            <a:extLst>
              <a:ext uri="{FF2B5EF4-FFF2-40B4-BE49-F238E27FC236}">
                <a16:creationId xmlns:a16="http://schemas.microsoft.com/office/drawing/2014/main" id="{80175B4D-2FD6-F699-B517-98D267AF4C77}"/>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0180" name="Rectangle 3">
            <a:extLst>
              <a:ext uri="{FF2B5EF4-FFF2-40B4-BE49-F238E27FC236}">
                <a16:creationId xmlns:a16="http://schemas.microsoft.com/office/drawing/2014/main" id="{C442098C-6912-B416-23C5-15EFBB39FBA8}"/>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50181" name="Group 4">
            <a:extLst>
              <a:ext uri="{FF2B5EF4-FFF2-40B4-BE49-F238E27FC236}">
                <a16:creationId xmlns:a16="http://schemas.microsoft.com/office/drawing/2014/main" id="{77840755-CD7A-5098-A59F-5730A2751FAC}"/>
              </a:ext>
            </a:extLst>
          </p:cNvPr>
          <p:cNvGrpSpPr>
            <a:grpSpLocks/>
          </p:cNvGrpSpPr>
          <p:nvPr/>
        </p:nvGrpSpPr>
        <p:grpSpPr bwMode="auto">
          <a:xfrm>
            <a:off x="490538" y="773113"/>
            <a:ext cx="738187" cy="474662"/>
            <a:chOff x="0" y="0"/>
            <a:chExt cx="465" cy="299"/>
          </a:xfrm>
        </p:grpSpPr>
        <p:sp>
          <p:nvSpPr>
            <p:cNvPr id="50188" name="Rectangle 5">
              <a:extLst>
                <a:ext uri="{FF2B5EF4-FFF2-40B4-BE49-F238E27FC236}">
                  <a16:creationId xmlns:a16="http://schemas.microsoft.com/office/drawing/2014/main" id="{56425DF5-052E-FB5B-F66A-2E0437AA329B}"/>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0189" name="Rectangle 6">
              <a:extLst>
                <a:ext uri="{FF2B5EF4-FFF2-40B4-BE49-F238E27FC236}">
                  <a16:creationId xmlns:a16="http://schemas.microsoft.com/office/drawing/2014/main" id="{8C25A25E-CC55-9109-4315-4A81586DEF1C}"/>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50182" name="Rectangle 7">
            <a:extLst>
              <a:ext uri="{FF2B5EF4-FFF2-40B4-BE49-F238E27FC236}">
                <a16:creationId xmlns:a16="http://schemas.microsoft.com/office/drawing/2014/main" id="{416E89D2-AED8-06AB-E8ED-0024FA03B799}"/>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0183" name="Rectangle 8">
            <a:extLst>
              <a:ext uri="{FF2B5EF4-FFF2-40B4-BE49-F238E27FC236}">
                <a16:creationId xmlns:a16="http://schemas.microsoft.com/office/drawing/2014/main" id="{5C6F89C6-57CD-39C1-EED8-0D099FDA339D}"/>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0184" name="Rectangle 9">
            <a:extLst>
              <a:ext uri="{FF2B5EF4-FFF2-40B4-BE49-F238E27FC236}">
                <a16:creationId xmlns:a16="http://schemas.microsoft.com/office/drawing/2014/main" id="{E34C5A49-71D4-287F-7976-184E439123F4}"/>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0185" name="Rectangle 10">
            <a:extLst>
              <a:ext uri="{FF2B5EF4-FFF2-40B4-BE49-F238E27FC236}">
                <a16:creationId xmlns:a16="http://schemas.microsoft.com/office/drawing/2014/main" id="{67B24F8D-30B6-9D92-AF35-D8035AE402C0}"/>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50186" name="Rectangle 11">
            <a:extLst>
              <a:ext uri="{FF2B5EF4-FFF2-40B4-BE49-F238E27FC236}">
                <a16:creationId xmlns:a16="http://schemas.microsoft.com/office/drawing/2014/main" id="{53963F76-A867-20D1-ED35-1599D930A2AD}"/>
              </a:ext>
            </a:extLst>
          </p:cNvPr>
          <p:cNvSpPr>
            <a:spLocks noChangeArrowheads="1"/>
          </p:cNvSpPr>
          <p:nvPr/>
        </p:nvSpPr>
        <p:spPr bwMode="auto">
          <a:xfrm>
            <a:off x="228600" y="1447800"/>
            <a:ext cx="8534400" cy="307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一个非周期复合信号的带宽为200kHz，中间频率为140kHz，峰值振幅为20V。两个频率极值的振幅为0。画出这个信号的频域。</a:t>
            </a:r>
          </a:p>
          <a:p>
            <a:pPr algn="just">
              <a:buFont typeface="Arial" panose="020B0604020202020204" pitchFamily="34" charset="0"/>
              <a:buNone/>
            </a:pPr>
            <a:endParaRPr lang="zh-CN" altLang="en-US" baseline="0">
              <a:ea typeface="宋体" panose="02010600030101010101" pitchFamily="2" charset="-122"/>
            </a:endParaRP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最低频率一定是40kHz，而最高频率一定是240kHz。图3.15显示了频域和带宽。</a:t>
            </a:r>
          </a:p>
        </p:txBody>
      </p:sp>
      <p:sp>
        <p:nvSpPr>
          <p:cNvPr id="50187" name="Text Box 12">
            <a:extLst>
              <a:ext uri="{FF2B5EF4-FFF2-40B4-BE49-F238E27FC236}">
                <a16:creationId xmlns:a16="http://schemas.microsoft.com/office/drawing/2014/main" id="{75F70536-230A-1B69-E45E-8F0688D80726}"/>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3.12</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1">
            <a:extLst>
              <a:ext uri="{FF2B5EF4-FFF2-40B4-BE49-F238E27FC236}">
                <a16:creationId xmlns:a16="http://schemas.microsoft.com/office/drawing/2014/main" id="{9735C3A4-881E-6507-D619-7E03A94D399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39BB9B4A-E9BC-46BA-A79C-DBEEDA115253}" type="slidenum">
              <a:rPr lang="en-US" altLang="zh-CN" sz="2000" i="0" baseline="0" smtClean="0">
                <a:latin typeface="Arial" panose="020B0604020202020204" pitchFamily="34" charset="0"/>
              </a:rPr>
              <a:pPr/>
              <a:t>47</a:t>
            </a:fld>
            <a:endParaRPr lang="en-US" altLang="zh-CN" sz="2000" i="0" baseline="0">
              <a:latin typeface="Arial" panose="020B0604020202020204" pitchFamily="34" charset="0"/>
            </a:endParaRPr>
          </a:p>
        </p:txBody>
      </p:sp>
      <p:sp>
        <p:nvSpPr>
          <p:cNvPr id="51203" name="Line 2">
            <a:extLst>
              <a:ext uri="{FF2B5EF4-FFF2-40B4-BE49-F238E27FC236}">
                <a16:creationId xmlns:a16="http://schemas.microsoft.com/office/drawing/2014/main" id="{D73A49AC-7D11-FA7B-A48B-158A2E425072}"/>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04" name="Line 3">
            <a:extLst>
              <a:ext uri="{FF2B5EF4-FFF2-40B4-BE49-F238E27FC236}">
                <a16:creationId xmlns:a16="http://schemas.microsoft.com/office/drawing/2014/main" id="{7FB36260-7AA9-59CE-6375-C8A3EC0589A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05" name="Text Box 4">
            <a:extLst>
              <a:ext uri="{FF2B5EF4-FFF2-40B4-BE49-F238E27FC236}">
                <a16:creationId xmlns:a16="http://schemas.microsoft.com/office/drawing/2014/main" id="{6BFE8D23-B4AA-8EC4-B054-1EFA90993A6A}"/>
              </a:ext>
            </a:extLst>
          </p:cNvPr>
          <p:cNvSpPr txBox="1">
            <a:spLocks noChangeArrowheads="1"/>
          </p:cNvSpPr>
          <p:nvPr/>
        </p:nvSpPr>
        <p:spPr bwMode="auto">
          <a:xfrm>
            <a:off x="304800" y="762000"/>
            <a:ext cx="270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3.15  </a:t>
            </a:r>
            <a:r>
              <a:rPr lang="zh-CN" altLang="en-US" sz="2000" baseline="0">
                <a:ea typeface="宋体" panose="02010600030101010101" pitchFamily="2" charset="-122"/>
              </a:rPr>
              <a:t>例3.12的带宽</a:t>
            </a:r>
          </a:p>
        </p:txBody>
      </p:sp>
      <p:sp>
        <p:nvSpPr>
          <p:cNvPr id="51206" name="Line 5">
            <a:extLst>
              <a:ext uri="{FF2B5EF4-FFF2-40B4-BE49-F238E27FC236}">
                <a16:creationId xmlns:a16="http://schemas.microsoft.com/office/drawing/2014/main" id="{DDCF8919-4105-52A1-D462-2CD67010E01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1207" name="Picture 6">
            <a:extLst>
              <a:ext uri="{FF2B5EF4-FFF2-40B4-BE49-F238E27FC236}">
                <a16:creationId xmlns:a16="http://schemas.microsoft.com/office/drawing/2014/main" id="{F5CAE009-3CE1-6272-E2F7-1639B113B9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428875"/>
            <a:ext cx="8135938"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1">
            <a:extLst>
              <a:ext uri="{FF2B5EF4-FFF2-40B4-BE49-F238E27FC236}">
                <a16:creationId xmlns:a16="http://schemas.microsoft.com/office/drawing/2014/main" id="{C2FEB8B9-3EA5-9C79-27AD-D107FE1B348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D909FDAC-646C-4E9C-A75A-7B4867BC0827}" type="slidenum">
              <a:rPr lang="en-US" altLang="zh-CN" sz="2000" i="0" baseline="0" smtClean="0">
                <a:latin typeface="Arial" panose="020B0604020202020204" pitchFamily="34" charset="0"/>
              </a:rPr>
              <a:pPr/>
              <a:t>48</a:t>
            </a:fld>
            <a:endParaRPr lang="en-US" altLang="zh-CN" sz="2000" i="0" baseline="0">
              <a:latin typeface="Arial" panose="020B0604020202020204" pitchFamily="34" charset="0"/>
            </a:endParaRPr>
          </a:p>
        </p:txBody>
      </p:sp>
      <p:sp>
        <p:nvSpPr>
          <p:cNvPr id="52227" name="Rectangle 2">
            <a:extLst>
              <a:ext uri="{FF2B5EF4-FFF2-40B4-BE49-F238E27FC236}">
                <a16:creationId xmlns:a16="http://schemas.microsoft.com/office/drawing/2014/main" id="{63FE0431-17AF-F345-C268-452A0DF9A33C}"/>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2228" name="Rectangle 3">
            <a:extLst>
              <a:ext uri="{FF2B5EF4-FFF2-40B4-BE49-F238E27FC236}">
                <a16:creationId xmlns:a16="http://schemas.microsoft.com/office/drawing/2014/main" id="{770A78B7-C821-751E-42D7-43652A704F5B}"/>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52229" name="Group 4">
            <a:extLst>
              <a:ext uri="{FF2B5EF4-FFF2-40B4-BE49-F238E27FC236}">
                <a16:creationId xmlns:a16="http://schemas.microsoft.com/office/drawing/2014/main" id="{B1195D99-D960-76AC-15DE-8ABFE7A35BAB}"/>
              </a:ext>
            </a:extLst>
          </p:cNvPr>
          <p:cNvGrpSpPr>
            <a:grpSpLocks/>
          </p:cNvGrpSpPr>
          <p:nvPr/>
        </p:nvGrpSpPr>
        <p:grpSpPr bwMode="auto">
          <a:xfrm>
            <a:off x="490538" y="773113"/>
            <a:ext cx="738187" cy="474662"/>
            <a:chOff x="0" y="0"/>
            <a:chExt cx="465" cy="299"/>
          </a:xfrm>
        </p:grpSpPr>
        <p:sp>
          <p:nvSpPr>
            <p:cNvPr id="52236" name="Rectangle 5">
              <a:extLst>
                <a:ext uri="{FF2B5EF4-FFF2-40B4-BE49-F238E27FC236}">
                  <a16:creationId xmlns:a16="http://schemas.microsoft.com/office/drawing/2014/main" id="{DD83F2D4-C994-B350-3AF6-FAE5986B3535}"/>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2237" name="Rectangle 6">
              <a:extLst>
                <a:ext uri="{FF2B5EF4-FFF2-40B4-BE49-F238E27FC236}">
                  <a16:creationId xmlns:a16="http://schemas.microsoft.com/office/drawing/2014/main" id="{C53C8292-BCD7-3838-24E7-B5BEC8AD4CAE}"/>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52230" name="Rectangle 7">
            <a:extLst>
              <a:ext uri="{FF2B5EF4-FFF2-40B4-BE49-F238E27FC236}">
                <a16:creationId xmlns:a16="http://schemas.microsoft.com/office/drawing/2014/main" id="{05CD912E-BC41-E11A-85AE-01A41F1BC3A1}"/>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2231" name="Rectangle 8">
            <a:extLst>
              <a:ext uri="{FF2B5EF4-FFF2-40B4-BE49-F238E27FC236}">
                <a16:creationId xmlns:a16="http://schemas.microsoft.com/office/drawing/2014/main" id="{852520E0-5E55-9069-ABF4-E365B2557BEE}"/>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2232" name="Rectangle 9">
            <a:extLst>
              <a:ext uri="{FF2B5EF4-FFF2-40B4-BE49-F238E27FC236}">
                <a16:creationId xmlns:a16="http://schemas.microsoft.com/office/drawing/2014/main" id="{56A62E87-7C7B-014E-8D39-D2157374F4FF}"/>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2233" name="Rectangle 10">
            <a:extLst>
              <a:ext uri="{FF2B5EF4-FFF2-40B4-BE49-F238E27FC236}">
                <a16:creationId xmlns:a16="http://schemas.microsoft.com/office/drawing/2014/main" id="{E3C43F11-5D15-B8DA-0533-6523EA91ED7E}"/>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52234" name="Rectangle 11">
            <a:extLst>
              <a:ext uri="{FF2B5EF4-FFF2-40B4-BE49-F238E27FC236}">
                <a16:creationId xmlns:a16="http://schemas.microsoft.com/office/drawing/2014/main" id="{E4B33F0B-66A7-03D4-E8AD-2F2C3708CA42}"/>
              </a:ext>
            </a:extLst>
          </p:cNvPr>
          <p:cNvSpPr>
            <a:spLocks noChangeArrowheads="1"/>
          </p:cNvSpPr>
          <p:nvPr/>
        </p:nvSpPr>
        <p:spPr bwMode="auto">
          <a:xfrm>
            <a:off x="228600" y="1295400"/>
            <a:ext cx="8534400"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非周期复合信号的一个例子是调幅(AM)无线电站传播的信号。在美国，分配给每个AM无线电站10kHz的带宽。AM无线电的总带宽从530kHz到1700kHz。我们会在第5章说明这个10kHz带宽后面的基本原理。</a:t>
            </a:r>
          </a:p>
        </p:txBody>
      </p:sp>
      <p:sp>
        <p:nvSpPr>
          <p:cNvPr id="52235" name="Text Box 12">
            <a:extLst>
              <a:ext uri="{FF2B5EF4-FFF2-40B4-BE49-F238E27FC236}">
                <a16:creationId xmlns:a16="http://schemas.microsoft.com/office/drawing/2014/main" id="{83871EA6-65B4-0A12-F0A5-98313681A85C}"/>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3.13</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1">
            <a:extLst>
              <a:ext uri="{FF2B5EF4-FFF2-40B4-BE49-F238E27FC236}">
                <a16:creationId xmlns:a16="http://schemas.microsoft.com/office/drawing/2014/main" id="{B05A8240-5FAA-CF43-183A-6888A47E033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92920F0D-F794-4F5C-9930-720AF0DD1680}" type="slidenum">
              <a:rPr lang="en-US" altLang="zh-CN" sz="2000" i="0" baseline="0" smtClean="0">
                <a:latin typeface="Arial" panose="020B0604020202020204" pitchFamily="34" charset="0"/>
              </a:rPr>
              <a:pPr/>
              <a:t>49</a:t>
            </a:fld>
            <a:endParaRPr lang="en-US" altLang="zh-CN" sz="2000" i="0" baseline="0">
              <a:latin typeface="Arial" panose="020B0604020202020204" pitchFamily="34" charset="0"/>
            </a:endParaRPr>
          </a:p>
        </p:txBody>
      </p:sp>
      <p:sp>
        <p:nvSpPr>
          <p:cNvPr id="53251" name="Rectangle 2">
            <a:extLst>
              <a:ext uri="{FF2B5EF4-FFF2-40B4-BE49-F238E27FC236}">
                <a16:creationId xmlns:a16="http://schemas.microsoft.com/office/drawing/2014/main" id="{366132CA-F728-13DF-F1AB-EDE2416D49E9}"/>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3252" name="Rectangle 3">
            <a:extLst>
              <a:ext uri="{FF2B5EF4-FFF2-40B4-BE49-F238E27FC236}">
                <a16:creationId xmlns:a16="http://schemas.microsoft.com/office/drawing/2014/main" id="{2AA8C964-C3E1-3006-9939-85420B56E6BF}"/>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53253" name="Group 4">
            <a:extLst>
              <a:ext uri="{FF2B5EF4-FFF2-40B4-BE49-F238E27FC236}">
                <a16:creationId xmlns:a16="http://schemas.microsoft.com/office/drawing/2014/main" id="{CC9E48F2-0063-41C5-CE7E-BB33CE048F96}"/>
              </a:ext>
            </a:extLst>
          </p:cNvPr>
          <p:cNvGrpSpPr>
            <a:grpSpLocks/>
          </p:cNvGrpSpPr>
          <p:nvPr/>
        </p:nvGrpSpPr>
        <p:grpSpPr bwMode="auto">
          <a:xfrm>
            <a:off x="490538" y="773113"/>
            <a:ext cx="738187" cy="474662"/>
            <a:chOff x="0" y="0"/>
            <a:chExt cx="465" cy="299"/>
          </a:xfrm>
        </p:grpSpPr>
        <p:sp>
          <p:nvSpPr>
            <p:cNvPr id="53260" name="Rectangle 5">
              <a:extLst>
                <a:ext uri="{FF2B5EF4-FFF2-40B4-BE49-F238E27FC236}">
                  <a16:creationId xmlns:a16="http://schemas.microsoft.com/office/drawing/2014/main" id="{99FA0847-D737-7F88-6B8F-CB7C3FA9F559}"/>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3261" name="Rectangle 6">
              <a:extLst>
                <a:ext uri="{FF2B5EF4-FFF2-40B4-BE49-F238E27FC236}">
                  <a16:creationId xmlns:a16="http://schemas.microsoft.com/office/drawing/2014/main" id="{EFC31CF6-F01F-12D8-545F-ACA9C8FA97A5}"/>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53254" name="Rectangle 7">
            <a:extLst>
              <a:ext uri="{FF2B5EF4-FFF2-40B4-BE49-F238E27FC236}">
                <a16:creationId xmlns:a16="http://schemas.microsoft.com/office/drawing/2014/main" id="{A157D65B-56B5-310A-9349-B09FB349CC29}"/>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3255" name="Rectangle 8">
            <a:extLst>
              <a:ext uri="{FF2B5EF4-FFF2-40B4-BE49-F238E27FC236}">
                <a16:creationId xmlns:a16="http://schemas.microsoft.com/office/drawing/2014/main" id="{62EBE8A9-6CBF-D245-7860-70ADEA3752D7}"/>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3256" name="Rectangle 9">
            <a:extLst>
              <a:ext uri="{FF2B5EF4-FFF2-40B4-BE49-F238E27FC236}">
                <a16:creationId xmlns:a16="http://schemas.microsoft.com/office/drawing/2014/main" id="{8EAE7889-A964-8C1D-A066-E69BBED530B2}"/>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3257" name="Rectangle 10">
            <a:extLst>
              <a:ext uri="{FF2B5EF4-FFF2-40B4-BE49-F238E27FC236}">
                <a16:creationId xmlns:a16="http://schemas.microsoft.com/office/drawing/2014/main" id="{2A84F872-1B27-E6D0-B731-88421B1F79DC}"/>
              </a:ext>
            </a:extLst>
          </p:cNvPr>
          <p:cNvSpPr>
            <a:spLocks noChangeArrowheads="1"/>
          </p:cNvSpPr>
          <p:nvPr/>
        </p:nvSpPr>
        <p:spPr bwMode="auto">
          <a:xfrm>
            <a:off x="152400" y="1447800"/>
            <a:ext cx="88392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53258" name="Rectangle 11">
            <a:extLst>
              <a:ext uri="{FF2B5EF4-FFF2-40B4-BE49-F238E27FC236}">
                <a16:creationId xmlns:a16="http://schemas.microsoft.com/office/drawing/2014/main" id="{FA512F8A-835D-5BE7-0E03-ACF72FD8AE83}"/>
              </a:ext>
            </a:extLst>
          </p:cNvPr>
          <p:cNvSpPr>
            <a:spLocks noChangeArrowheads="1"/>
          </p:cNvSpPr>
          <p:nvPr/>
        </p:nvSpPr>
        <p:spPr bwMode="auto">
          <a:xfrm>
            <a:off x="228600" y="1447800"/>
            <a:ext cx="85344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非周期复合信号的另一个例子是调频(FM)无线电站传播的信号。在美国，分配给每个FM无线电站200kHz的带宽。FM无线电的总带宽从88MHz到108MHz。我们会在第5章说明这个200kHz带宽后面的基本原理。</a:t>
            </a:r>
          </a:p>
        </p:txBody>
      </p:sp>
      <p:sp>
        <p:nvSpPr>
          <p:cNvPr id="53259" name="Text Box 12">
            <a:extLst>
              <a:ext uri="{FF2B5EF4-FFF2-40B4-BE49-F238E27FC236}">
                <a16:creationId xmlns:a16="http://schemas.microsoft.com/office/drawing/2014/main" id="{C5AE4E8E-89E1-5F84-2B03-CA4C6806EA1B}"/>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3.14</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1">
            <a:extLst>
              <a:ext uri="{FF2B5EF4-FFF2-40B4-BE49-F238E27FC236}">
                <a16:creationId xmlns:a16="http://schemas.microsoft.com/office/drawing/2014/main" id="{3EB300A4-7871-69AE-3E05-958FFB03DEB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D2AE338A-91D7-441D-8D47-66D800D2242B}" type="slidenum">
              <a:rPr lang="en-US" altLang="zh-CN" sz="2000" i="0" baseline="0" smtClean="0">
                <a:latin typeface="Arial" panose="020B0604020202020204" pitchFamily="34" charset="0"/>
              </a:rPr>
              <a:pPr/>
              <a:t>50</a:t>
            </a:fld>
            <a:endParaRPr lang="en-US" altLang="zh-CN" sz="2000" i="0" baseline="0">
              <a:latin typeface="Arial" panose="020B0604020202020204" pitchFamily="34" charset="0"/>
            </a:endParaRPr>
          </a:p>
        </p:txBody>
      </p:sp>
      <p:sp>
        <p:nvSpPr>
          <p:cNvPr id="54275" name="Rectangle 2">
            <a:extLst>
              <a:ext uri="{FF2B5EF4-FFF2-40B4-BE49-F238E27FC236}">
                <a16:creationId xmlns:a16="http://schemas.microsoft.com/office/drawing/2014/main" id="{8B42B8B9-404E-2255-1A5C-43014F380526}"/>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4276" name="Rectangle 3">
            <a:extLst>
              <a:ext uri="{FF2B5EF4-FFF2-40B4-BE49-F238E27FC236}">
                <a16:creationId xmlns:a16="http://schemas.microsoft.com/office/drawing/2014/main" id="{8CF3FF03-B170-E461-B209-9B6C9F1BD620}"/>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54277" name="Group 4">
            <a:extLst>
              <a:ext uri="{FF2B5EF4-FFF2-40B4-BE49-F238E27FC236}">
                <a16:creationId xmlns:a16="http://schemas.microsoft.com/office/drawing/2014/main" id="{E39B2958-C1B9-C522-D64A-D363F971899C}"/>
              </a:ext>
            </a:extLst>
          </p:cNvPr>
          <p:cNvGrpSpPr>
            <a:grpSpLocks/>
          </p:cNvGrpSpPr>
          <p:nvPr/>
        </p:nvGrpSpPr>
        <p:grpSpPr bwMode="auto">
          <a:xfrm>
            <a:off x="490538" y="773113"/>
            <a:ext cx="738187" cy="474662"/>
            <a:chOff x="0" y="0"/>
            <a:chExt cx="465" cy="299"/>
          </a:xfrm>
        </p:grpSpPr>
        <p:sp>
          <p:nvSpPr>
            <p:cNvPr id="54284" name="Rectangle 5">
              <a:extLst>
                <a:ext uri="{FF2B5EF4-FFF2-40B4-BE49-F238E27FC236}">
                  <a16:creationId xmlns:a16="http://schemas.microsoft.com/office/drawing/2014/main" id="{4168B95B-E163-0542-56A9-5160E29EC057}"/>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4285" name="Rectangle 6">
              <a:extLst>
                <a:ext uri="{FF2B5EF4-FFF2-40B4-BE49-F238E27FC236}">
                  <a16:creationId xmlns:a16="http://schemas.microsoft.com/office/drawing/2014/main" id="{6143014F-5324-A7B8-0459-7F48D4360BB8}"/>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54278" name="Rectangle 7">
            <a:extLst>
              <a:ext uri="{FF2B5EF4-FFF2-40B4-BE49-F238E27FC236}">
                <a16:creationId xmlns:a16="http://schemas.microsoft.com/office/drawing/2014/main" id="{D8C93102-1747-91B4-9142-6F2E2E63D059}"/>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4279" name="Rectangle 8">
            <a:extLst>
              <a:ext uri="{FF2B5EF4-FFF2-40B4-BE49-F238E27FC236}">
                <a16:creationId xmlns:a16="http://schemas.microsoft.com/office/drawing/2014/main" id="{6D5E443C-A8AA-8131-CEE0-F7529CE3BE49}"/>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4280" name="Rectangle 9">
            <a:extLst>
              <a:ext uri="{FF2B5EF4-FFF2-40B4-BE49-F238E27FC236}">
                <a16:creationId xmlns:a16="http://schemas.microsoft.com/office/drawing/2014/main" id="{FA8B5429-41C0-A19C-05A7-A7A5B44C3DEB}"/>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4281" name="Rectangle 10">
            <a:extLst>
              <a:ext uri="{FF2B5EF4-FFF2-40B4-BE49-F238E27FC236}">
                <a16:creationId xmlns:a16="http://schemas.microsoft.com/office/drawing/2014/main" id="{DD3F490D-BF16-E47E-CA69-70C501309F59}"/>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54282" name="Rectangle 11">
            <a:extLst>
              <a:ext uri="{FF2B5EF4-FFF2-40B4-BE49-F238E27FC236}">
                <a16:creationId xmlns:a16="http://schemas.microsoft.com/office/drawing/2014/main" id="{6AACB4A2-08F4-1CB6-A354-44A2E7839A30}"/>
              </a:ext>
            </a:extLst>
          </p:cNvPr>
          <p:cNvSpPr>
            <a:spLocks noChangeArrowheads="1"/>
          </p:cNvSpPr>
          <p:nvPr/>
        </p:nvSpPr>
        <p:spPr bwMode="auto">
          <a:xfrm>
            <a:off x="228600" y="1295400"/>
            <a:ext cx="85344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非周期复合信号的另一个例子是老式模拟黑白电视接收的信号。电视屏幕由像素组成。如果我们假定分辨率为525 × 700,那么每个屏幕就会有367,500 个像素。如果屏幕每秒扫描30次，每秒就是367,500 × 30 = 11,025,000个像素。最坏的情况是黑色像素和白色像素交替。我们用最低振幅表示一种颜色，而用最高振幅表示另一种颜色，每个周期我们能发送两个像素。因此，每秒我们需要11,025,000 / 2 = 5,512,500个周期(或Hz)。所需的带宽是5.5125 MHz。</a:t>
            </a:r>
          </a:p>
        </p:txBody>
      </p:sp>
      <p:sp>
        <p:nvSpPr>
          <p:cNvPr id="54283" name="Text Box 12">
            <a:extLst>
              <a:ext uri="{FF2B5EF4-FFF2-40B4-BE49-F238E27FC236}">
                <a16:creationId xmlns:a16="http://schemas.microsoft.com/office/drawing/2014/main" id="{FD30E1CB-F7AE-5FA2-96F4-2776088339E1}"/>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3.15</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灯片编号占位符 1">
            <a:extLst>
              <a:ext uri="{FF2B5EF4-FFF2-40B4-BE49-F238E27FC236}">
                <a16:creationId xmlns:a16="http://schemas.microsoft.com/office/drawing/2014/main" id="{76B47CE8-9E9C-B1B8-CE75-A1F97758B16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478204E7-D9E5-439D-A82E-95A3E1146F66}" type="slidenum">
              <a:rPr lang="en-US" altLang="zh-CN" sz="2000" i="0" baseline="0" smtClean="0">
                <a:latin typeface="Arial" panose="020B0604020202020204" pitchFamily="34" charset="0"/>
              </a:rPr>
              <a:pPr/>
              <a:t>51</a:t>
            </a:fld>
            <a:endParaRPr lang="en-US" altLang="zh-CN" sz="2000" i="0" baseline="0">
              <a:latin typeface="Arial" panose="020B0604020202020204" pitchFamily="34" charset="0"/>
            </a:endParaRPr>
          </a:p>
        </p:txBody>
      </p:sp>
      <p:sp>
        <p:nvSpPr>
          <p:cNvPr id="53250" name="Rectangle 2">
            <a:extLst>
              <a:ext uri="{FF2B5EF4-FFF2-40B4-BE49-F238E27FC236}">
                <a16:creationId xmlns:a16="http://schemas.microsoft.com/office/drawing/2014/main" id="{CFD3F157-3AC1-2073-E633-C529D0B6857D}"/>
              </a:ext>
            </a:extLst>
          </p:cNvPr>
          <p:cNvSpPr>
            <a:spLocks noChangeArrowheads="1"/>
          </p:cNvSpPr>
          <p:nvPr/>
        </p:nvSpPr>
        <p:spPr bwMode="auto">
          <a:xfrm>
            <a:off x="0" y="0"/>
            <a:ext cx="9144000" cy="838200"/>
          </a:xfrm>
          <a:prstGeom prst="rect">
            <a:avLst/>
          </a:prstGeom>
          <a:solidFill>
            <a:srgbClr val="33CCFF"/>
          </a:solidFill>
          <a:ln w="9525" cmpd="sng">
            <a:solidFill>
              <a:schemeClr val="tx1"/>
            </a:solidFill>
            <a:miter lim="800000"/>
            <a:headEnd/>
            <a:tailEnd/>
          </a:ln>
          <a:effectLst/>
        </p:spPr>
        <p:txBody>
          <a:bodyPr wrap="none" anchor="ctr"/>
          <a:lstStyle/>
          <a:p>
            <a:pPr algn="ctr">
              <a:buFont typeface="Arial" panose="020B0604020202020204" pitchFamily="34" charset="0"/>
              <a:buNone/>
              <a:defRPr/>
            </a:pPr>
            <a:endParaRPr lang="zh-CN" altLang="zh-CN" sz="3200" i="0" baseline="0">
              <a:effectLst>
                <a:outerShdw blurRad="38100" dist="38100" dir="2700000" algn="tl">
                  <a:srgbClr val="FFFFFF"/>
                </a:outerShdw>
              </a:effectLst>
              <a:ea typeface="宋体" pitchFamily="2" charset="-122"/>
            </a:endParaRPr>
          </a:p>
        </p:txBody>
      </p:sp>
      <p:sp>
        <p:nvSpPr>
          <p:cNvPr id="53251" name="Text Box 3">
            <a:extLst>
              <a:ext uri="{FF2B5EF4-FFF2-40B4-BE49-F238E27FC236}">
                <a16:creationId xmlns:a16="http://schemas.microsoft.com/office/drawing/2014/main" id="{A324A4E1-D7F9-B758-E40D-DB268FDAD342}"/>
              </a:ext>
            </a:extLst>
          </p:cNvPr>
          <p:cNvSpPr txBox="1">
            <a:spLocks noChangeArrowheads="1"/>
          </p:cNvSpPr>
          <p:nvPr/>
        </p:nvSpPr>
        <p:spPr bwMode="auto">
          <a:xfrm>
            <a:off x="228600" y="76200"/>
            <a:ext cx="2654300" cy="579438"/>
          </a:xfrm>
          <a:prstGeom prst="rect">
            <a:avLst/>
          </a:prstGeom>
          <a:noFill/>
          <a:ln w="9525">
            <a:noFill/>
            <a:miter lim="800000"/>
            <a:headEnd/>
            <a:tailEnd/>
          </a:ln>
          <a:effectLst/>
        </p:spPr>
        <p:txBody>
          <a:bodyPr wrap="none">
            <a:spAutoFit/>
          </a:bodyPr>
          <a:lstStyle/>
          <a:p>
            <a:pPr>
              <a:buFont typeface="Arial" panose="020B0604020202020204" pitchFamily="34" charset="0"/>
              <a:buNone/>
              <a:defRPr/>
            </a:pPr>
            <a:r>
              <a:rPr lang="zh-CN" altLang="en-US" sz="3200" i="0" baseline="0">
                <a:effectLst>
                  <a:outerShdw blurRad="38100" dist="38100" dir="2700000" algn="tl">
                    <a:srgbClr val="C0C0C0"/>
                  </a:outerShdw>
                </a:effectLst>
                <a:latin typeface="Times" pitchFamily="2" charset="0"/>
              </a:rPr>
              <a:t>3-3   </a:t>
            </a:r>
            <a:r>
              <a:rPr lang="zh-CN" altLang="en-US" sz="3200" i="0" baseline="0">
                <a:effectLst>
                  <a:outerShdw blurRad="38100" dist="38100" dir="2700000" algn="tl">
                    <a:srgbClr val="C0C0C0"/>
                  </a:outerShdw>
                </a:effectLst>
                <a:latin typeface="Times" pitchFamily="2" charset="0"/>
                <a:ea typeface="宋体" pitchFamily="2" charset="-122"/>
              </a:rPr>
              <a:t>数字信号</a:t>
            </a:r>
          </a:p>
        </p:txBody>
      </p:sp>
      <p:sp>
        <p:nvSpPr>
          <p:cNvPr id="55301" name="Text Box 4">
            <a:extLst>
              <a:ext uri="{FF2B5EF4-FFF2-40B4-BE49-F238E27FC236}">
                <a16:creationId xmlns:a16="http://schemas.microsoft.com/office/drawing/2014/main" id="{96EA5F5C-A00B-443C-E407-C5960AEB327F}"/>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zh-CN" sz="1800" i="0" baseline="0">
              <a:ea typeface="宋体" panose="02010600030101010101" pitchFamily="2" charset="-122"/>
            </a:endParaRPr>
          </a:p>
        </p:txBody>
      </p:sp>
      <p:sp>
        <p:nvSpPr>
          <p:cNvPr id="53253" name="Rectangle 5">
            <a:extLst>
              <a:ext uri="{FF2B5EF4-FFF2-40B4-BE49-F238E27FC236}">
                <a16:creationId xmlns:a16="http://schemas.microsoft.com/office/drawing/2014/main" id="{435640E2-25FE-829E-FD56-D096404BE953}"/>
              </a:ext>
            </a:extLst>
          </p:cNvPr>
          <p:cNvSpPr>
            <a:spLocks noChangeArrowheads="1"/>
          </p:cNvSpPr>
          <p:nvPr/>
        </p:nvSpPr>
        <p:spPr bwMode="auto">
          <a:xfrm>
            <a:off x="76200" y="1355725"/>
            <a:ext cx="8610600" cy="1797050"/>
          </a:xfrm>
          <a:prstGeom prst="rect">
            <a:avLst/>
          </a:prstGeom>
          <a:noFill/>
          <a:ln w="9525">
            <a:noFill/>
            <a:miter lim="800000"/>
            <a:headEnd/>
            <a:tailEnd/>
          </a:ln>
          <a:effectLst/>
        </p:spPr>
        <p:txBody>
          <a:bodyPr anchor="ctr">
            <a:spAutoFit/>
          </a:bodyPr>
          <a:lstStyle/>
          <a:p>
            <a:pPr algn="just" eaLnBrk="1" hangingPunct="1">
              <a:buFont typeface="Arial" panose="020B0604020202020204" pitchFamily="34" charset="0"/>
              <a:buNone/>
              <a:defRPr/>
            </a:pPr>
            <a:r>
              <a:rPr lang="zh-CN" altLang="en-US" baseline="0">
                <a:effectLst>
                  <a:outerShdw blurRad="38100" dist="38100" dir="2700000" algn="tl">
                    <a:srgbClr val="C0C0C0"/>
                  </a:outerShdw>
                </a:effectLst>
                <a:ea typeface="宋体" pitchFamily="2" charset="-122"/>
              </a:rPr>
              <a:t>         数据除了可以用模拟信号表示外，还可以使用数字信号表示。例如，1可以编码为正电平，0可以编码为零电平。一个数字信号可以多于两个电平。在这种情况，每个电平就可以发送多个位。</a:t>
            </a:r>
          </a:p>
        </p:txBody>
      </p:sp>
      <p:sp>
        <p:nvSpPr>
          <p:cNvPr id="55303" name="Rectangle 6">
            <a:extLst>
              <a:ext uri="{FF2B5EF4-FFF2-40B4-BE49-F238E27FC236}">
                <a16:creationId xmlns:a16="http://schemas.microsoft.com/office/drawing/2014/main" id="{7F571870-F9FF-E817-78A1-DA56540615E7}"/>
              </a:ext>
            </a:extLst>
          </p:cNvPr>
          <p:cNvSpPr>
            <a:spLocks noChangeArrowheads="1"/>
          </p:cNvSpPr>
          <p:nvPr/>
        </p:nvSpPr>
        <p:spPr bwMode="auto">
          <a:xfrm>
            <a:off x="230188" y="4819650"/>
            <a:ext cx="6323012"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zh-CN" altLang="en-US" sz="2400" i="0" baseline="0">
                <a:solidFill>
                  <a:srgbClr val="0033CC"/>
                </a:solidFill>
                <a:ea typeface="宋体" panose="02010600030101010101" pitchFamily="2" charset="-122"/>
              </a:rPr>
              <a:t>比特率</a:t>
            </a:r>
            <a:br>
              <a:rPr lang="fr-FR" altLang="en-US" sz="2400" i="0" baseline="0">
                <a:solidFill>
                  <a:srgbClr val="0033CC"/>
                </a:solidFill>
              </a:rPr>
            </a:br>
            <a:r>
              <a:rPr lang="zh-CN" altLang="en-US" sz="2400" i="0" baseline="0">
                <a:solidFill>
                  <a:srgbClr val="0033CC"/>
                </a:solidFill>
                <a:ea typeface="宋体" panose="02010600030101010101" pitchFamily="2" charset="-122"/>
              </a:rPr>
              <a:t>位长</a:t>
            </a:r>
            <a:br>
              <a:rPr lang="fr-FR" altLang="en-US" sz="2400" i="0" baseline="0">
                <a:solidFill>
                  <a:srgbClr val="0033CC"/>
                </a:solidFill>
              </a:rPr>
            </a:br>
            <a:r>
              <a:rPr lang="zh-CN" altLang="en-US" sz="2400" i="0" baseline="0">
                <a:solidFill>
                  <a:srgbClr val="0033CC"/>
                </a:solidFill>
                <a:ea typeface="宋体" panose="02010600030101010101" pitchFamily="2" charset="-122"/>
              </a:rPr>
              <a:t>数字信号是一种复合模拟信号</a:t>
            </a:r>
          </a:p>
          <a:p>
            <a:pPr>
              <a:buClr>
                <a:schemeClr val="tx1"/>
              </a:buClr>
              <a:buSzPct val="117000"/>
              <a:buFont typeface="Wingdings" panose="05000000000000000000" pitchFamily="2" charset="2"/>
              <a:buNone/>
            </a:pPr>
            <a:r>
              <a:rPr lang="zh-CN" altLang="en-US" sz="2400" i="0" baseline="0">
                <a:solidFill>
                  <a:srgbClr val="0033CC"/>
                </a:solidFill>
                <a:ea typeface="宋体" panose="02010600030101010101" pitchFamily="2" charset="-122"/>
              </a:rPr>
              <a:t>应用层</a:t>
            </a:r>
          </a:p>
        </p:txBody>
      </p:sp>
      <p:sp>
        <p:nvSpPr>
          <p:cNvPr id="53255" name="Text Box 7">
            <a:extLst>
              <a:ext uri="{FF2B5EF4-FFF2-40B4-BE49-F238E27FC236}">
                <a16:creationId xmlns:a16="http://schemas.microsoft.com/office/drawing/2014/main" id="{AF204283-6A26-FD2E-5CA6-3B3455622150}"/>
              </a:ext>
            </a:extLst>
          </p:cNvPr>
          <p:cNvSpPr txBox="1">
            <a:spLocks noChangeArrowheads="1"/>
          </p:cNvSpPr>
          <p:nvPr/>
        </p:nvSpPr>
        <p:spPr bwMode="auto">
          <a:xfrm>
            <a:off x="304800" y="4343400"/>
            <a:ext cx="2790825" cy="519113"/>
          </a:xfrm>
          <a:prstGeom prst="rect">
            <a:avLst/>
          </a:prstGeom>
          <a:noFill/>
          <a:ln w="9525">
            <a:noFill/>
            <a:miter lim="800000"/>
            <a:headEnd/>
            <a:tailEnd/>
          </a:ln>
          <a:effectLst/>
        </p:spPr>
        <p:txBody>
          <a:bodyPr wrap="none">
            <a:spAutoFit/>
          </a:bodyPr>
          <a:lstStyle/>
          <a:p>
            <a:pPr algn="ctr">
              <a:buFont typeface="Arial" panose="020B0604020202020204" pitchFamily="34" charset="0"/>
              <a:buNone/>
              <a:defRPr/>
            </a:pPr>
            <a:r>
              <a:rPr lang="zh-CN" altLang="en-US" u="sng" baseline="0">
                <a:solidFill>
                  <a:schemeClr val="hlink"/>
                </a:solidFill>
                <a:effectLst>
                  <a:outerShdw blurRad="38100" dist="38100" dir="2700000" algn="tl">
                    <a:srgbClr val="C0C0C0"/>
                  </a:outerShdw>
                </a:effectLst>
                <a:ea typeface="宋体" pitchFamily="2" charset="-122"/>
              </a:rPr>
              <a:t>本节讨论的主题</a:t>
            </a:r>
            <a:r>
              <a:rPr lang="en-US" altLang="zh-CN" u="sng" baseline="0">
                <a:solidFill>
                  <a:schemeClr val="hlink"/>
                </a:solidFill>
                <a:effectLst>
                  <a:outerShdw blurRad="38100" dist="38100" dir="2700000" algn="tl">
                    <a:srgbClr val="C0C0C0"/>
                  </a:outerShdw>
                </a:effectLst>
                <a:ea typeface="宋体" pitchFamily="2" charset="-122"/>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1">
            <a:extLst>
              <a:ext uri="{FF2B5EF4-FFF2-40B4-BE49-F238E27FC236}">
                <a16:creationId xmlns:a16="http://schemas.microsoft.com/office/drawing/2014/main" id="{6C6BF940-227E-AE4B-E025-A9D8271CACA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EBF6FB4D-4271-457D-882B-701DADB8D126}" type="slidenum">
              <a:rPr lang="en-US" altLang="zh-CN" sz="2000" i="0" baseline="0" smtClean="0">
                <a:latin typeface="Arial" panose="020B0604020202020204" pitchFamily="34" charset="0"/>
              </a:rPr>
              <a:pPr/>
              <a:t>52</a:t>
            </a:fld>
            <a:endParaRPr lang="en-US" altLang="zh-CN" sz="2000" i="0" baseline="0">
              <a:latin typeface="Arial" panose="020B0604020202020204" pitchFamily="34" charset="0"/>
            </a:endParaRPr>
          </a:p>
        </p:txBody>
      </p:sp>
      <p:sp>
        <p:nvSpPr>
          <p:cNvPr id="56323" name="Line 2">
            <a:extLst>
              <a:ext uri="{FF2B5EF4-FFF2-40B4-BE49-F238E27FC236}">
                <a16:creationId xmlns:a16="http://schemas.microsoft.com/office/drawing/2014/main" id="{686B67D9-6D6D-B3C7-7BD9-7BDEE5B0236C}"/>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4" name="Line 3">
            <a:extLst>
              <a:ext uri="{FF2B5EF4-FFF2-40B4-BE49-F238E27FC236}">
                <a16:creationId xmlns:a16="http://schemas.microsoft.com/office/drawing/2014/main" id="{4D8209C4-FC6D-5C64-4E16-10E5B28E948B}"/>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5" name="Text Box 4">
            <a:extLst>
              <a:ext uri="{FF2B5EF4-FFF2-40B4-BE49-F238E27FC236}">
                <a16:creationId xmlns:a16="http://schemas.microsoft.com/office/drawing/2014/main" id="{E16F6275-085D-2D00-D21B-093EA573036C}"/>
              </a:ext>
            </a:extLst>
          </p:cNvPr>
          <p:cNvSpPr txBox="1">
            <a:spLocks noChangeArrowheads="1"/>
          </p:cNvSpPr>
          <p:nvPr/>
        </p:nvSpPr>
        <p:spPr bwMode="auto">
          <a:xfrm>
            <a:off x="304800" y="228600"/>
            <a:ext cx="698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3.16  </a:t>
            </a:r>
            <a:r>
              <a:rPr lang="zh-CN" altLang="en-US" sz="2000" baseline="0">
                <a:ea typeface="宋体" panose="02010600030101010101" pitchFamily="2" charset="-122"/>
              </a:rPr>
              <a:t>两个数字信号: 一个有两个电平而另一个有四个电平</a:t>
            </a:r>
          </a:p>
        </p:txBody>
      </p:sp>
      <p:sp>
        <p:nvSpPr>
          <p:cNvPr id="56326" name="Line 5">
            <a:extLst>
              <a:ext uri="{FF2B5EF4-FFF2-40B4-BE49-F238E27FC236}">
                <a16:creationId xmlns:a16="http://schemas.microsoft.com/office/drawing/2014/main" id="{ABF32A95-9633-EF86-E78C-BBEEB9F7B1F5}"/>
              </a:ext>
            </a:extLst>
          </p:cNvPr>
          <p:cNvSpPr>
            <a:spLocks noChangeShapeType="1"/>
          </p:cNvSpPr>
          <p:nvPr/>
        </p:nvSpPr>
        <p:spPr bwMode="auto">
          <a:xfrm>
            <a:off x="152400" y="64008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6327" name="Picture 6">
            <a:extLst>
              <a:ext uri="{FF2B5EF4-FFF2-40B4-BE49-F238E27FC236}">
                <a16:creationId xmlns:a16="http://schemas.microsoft.com/office/drawing/2014/main" id="{34B8721E-E11A-8CB3-BA23-6258E0FEC4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066800"/>
            <a:ext cx="5703888" cy="506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8" name="Text Box 7">
            <a:extLst>
              <a:ext uri="{FF2B5EF4-FFF2-40B4-BE49-F238E27FC236}">
                <a16:creationId xmlns:a16="http://schemas.microsoft.com/office/drawing/2014/main" id="{E826FB2E-FD11-475A-8FFE-37AACE80E8EA}"/>
              </a:ext>
            </a:extLst>
          </p:cNvPr>
          <p:cNvSpPr txBox="1">
            <a:spLocks noChangeArrowheads="1"/>
          </p:cNvSpPr>
          <p:nvPr/>
        </p:nvSpPr>
        <p:spPr bwMode="auto">
          <a:xfrm>
            <a:off x="1581150" y="3060700"/>
            <a:ext cx="2609850" cy="322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000" i="0">
                <a:ea typeface="宋体" panose="02010600030101010101" pitchFamily="2" charset="-122"/>
              </a:rPr>
              <a:t>a.两个电平的数字信号</a:t>
            </a:r>
          </a:p>
        </p:txBody>
      </p:sp>
      <p:sp>
        <p:nvSpPr>
          <p:cNvPr id="56329" name="Text Box 8">
            <a:extLst>
              <a:ext uri="{FF2B5EF4-FFF2-40B4-BE49-F238E27FC236}">
                <a16:creationId xmlns:a16="http://schemas.microsoft.com/office/drawing/2014/main" id="{AF2D78AB-8B67-EE30-5964-45A141BDC5C8}"/>
              </a:ext>
            </a:extLst>
          </p:cNvPr>
          <p:cNvSpPr txBox="1">
            <a:spLocks noChangeArrowheads="1"/>
          </p:cNvSpPr>
          <p:nvPr/>
        </p:nvSpPr>
        <p:spPr bwMode="auto">
          <a:xfrm>
            <a:off x="1600200" y="5943600"/>
            <a:ext cx="2609850" cy="323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000" i="0">
                <a:ea typeface="宋体" panose="02010600030101010101" pitchFamily="2" charset="-122"/>
              </a:rPr>
              <a:t>b.四个电平的数字信号</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1">
            <a:extLst>
              <a:ext uri="{FF2B5EF4-FFF2-40B4-BE49-F238E27FC236}">
                <a16:creationId xmlns:a16="http://schemas.microsoft.com/office/drawing/2014/main" id="{77810348-0F13-FA1C-56C9-DF75785570B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303C92A6-C892-4D6A-A9FB-F2F67A542A5C}" type="slidenum">
              <a:rPr lang="en-US" altLang="zh-CN" sz="2000" i="0" baseline="0" smtClean="0">
                <a:latin typeface="Arial" panose="020B0604020202020204" pitchFamily="34" charset="0"/>
              </a:rPr>
              <a:pPr/>
              <a:t>53</a:t>
            </a:fld>
            <a:endParaRPr lang="en-US" altLang="zh-CN" sz="2000" i="0" baseline="0">
              <a:latin typeface="Arial" panose="020B0604020202020204" pitchFamily="34" charset="0"/>
            </a:endParaRPr>
          </a:p>
        </p:txBody>
      </p:sp>
      <p:sp>
        <p:nvSpPr>
          <p:cNvPr id="57347" name="Rectangle 2">
            <a:extLst>
              <a:ext uri="{FF2B5EF4-FFF2-40B4-BE49-F238E27FC236}">
                <a16:creationId xmlns:a16="http://schemas.microsoft.com/office/drawing/2014/main" id="{2948D4CD-AA99-DDAD-2D89-D65DD99FD6D8}"/>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7348" name="Rectangle 3">
            <a:extLst>
              <a:ext uri="{FF2B5EF4-FFF2-40B4-BE49-F238E27FC236}">
                <a16:creationId xmlns:a16="http://schemas.microsoft.com/office/drawing/2014/main" id="{255222E2-98BC-3806-9D58-6B13B696863B}"/>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7349" name="Rectangle 4">
            <a:extLst>
              <a:ext uri="{FF2B5EF4-FFF2-40B4-BE49-F238E27FC236}">
                <a16:creationId xmlns:a16="http://schemas.microsoft.com/office/drawing/2014/main" id="{ABC77AE5-28AF-EF94-3D68-F5FF2D92F768}"/>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7350" name="Rectangle 5">
            <a:extLst>
              <a:ext uri="{FF2B5EF4-FFF2-40B4-BE49-F238E27FC236}">
                <a16:creationId xmlns:a16="http://schemas.microsoft.com/office/drawing/2014/main" id="{A2ED788C-AD64-CC6F-5994-CD366EA351C4}"/>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7351" name="Rectangle 6">
            <a:extLst>
              <a:ext uri="{FF2B5EF4-FFF2-40B4-BE49-F238E27FC236}">
                <a16:creationId xmlns:a16="http://schemas.microsoft.com/office/drawing/2014/main" id="{73AD87EC-BCCA-4FAC-A739-CDCC2BBE1A61}"/>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7352" name="Rectangle 7">
            <a:extLst>
              <a:ext uri="{FF2B5EF4-FFF2-40B4-BE49-F238E27FC236}">
                <a16:creationId xmlns:a16="http://schemas.microsoft.com/office/drawing/2014/main" id="{E4567C06-8C0B-2B26-B177-D370BAE97920}"/>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7353" name="Rectangle 8">
            <a:extLst>
              <a:ext uri="{FF2B5EF4-FFF2-40B4-BE49-F238E27FC236}">
                <a16:creationId xmlns:a16="http://schemas.microsoft.com/office/drawing/2014/main" id="{38F18674-CD8D-81B4-852B-DF19BDEB2E73}"/>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7354" name="Line 9">
            <a:extLst>
              <a:ext uri="{FF2B5EF4-FFF2-40B4-BE49-F238E27FC236}">
                <a16:creationId xmlns:a16="http://schemas.microsoft.com/office/drawing/2014/main" id="{EAFD4DA4-F348-D408-295C-0870E78CAFA5}"/>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5" name="Line 10">
            <a:extLst>
              <a:ext uri="{FF2B5EF4-FFF2-40B4-BE49-F238E27FC236}">
                <a16:creationId xmlns:a16="http://schemas.microsoft.com/office/drawing/2014/main" id="{91F7FB09-6355-A8F8-C205-3B160DD177B1}"/>
              </a:ext>
            </a:extLst>
          </p:cNvPr>
          <p:cNvSpPr>
            <a:spLocks noChangeShapeType="1"/>
          </p:cNvSpPr>
          <p:nvPr/>
        </p:nvSpPr>
        <p:spPr bwMode="auto">
          <a:xfrm>
            <a:off x="457200" y="4191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7356" name="Group 12">
            <a:extLst>
              <a:ext uri="{FF2B5EF4-FFF2-40B4-BE49-F238E27FC236}">
                <a16:creationId xmlns:a16="http://schemas.microsoft.com/office/drawing/2014/main" id="{EEF67626-655B-4B8C-E4E2-AC1A0D783B1E}"/>
              </a:ext>
            </a:extLst>
          </p:cNvPr>
          <p:cNvGrpSpPr>
            <a:grpSpLocks/>
          </p:cNvGrpSpPr>
          <p:nvPr/>
        </p:nvGrpSpPr>
        <p:grpSpPr bwMode="auto">
          <a:xfrm>
            <a:off x="457200" y="2362200"/>
            <a:ext cx="1143000" cy="566738"/>
            <a:chOff x="0" y="0"/>
            <a:chExt cx="720" cy="357"/>
          </a:xfrm>
        </p:grpSpPr>
        <p:pic>
          <p:nvPicPr>
            <p:cNvPr id="57358" name="Picture 13">
              <a:extLst>
                <a:ext uri="{FF2B5EF4-FFF2-40B4-BE49-F238E27FC236}">
                  <a16:creationId xmlns:a16="http://schemas.microsoft.com/office/drawing/2014/main" id="{8F707740-A29F-0D85-93A5-B465DA3A58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9" name="Text Box 14">
              <a:extLst>
                <a:ext uri="{FF2B5EF4-FFF2-40B4-BE49-F238E27FC236}">
                  <a16:creationId xmlns:a16="http://schemas.microsoft.com/office/drawing/2014/main" id="{6C40F871-2216-DB07-C227-83B5FEC69910}"/>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
        <p:nvSpPr>
          <p:cNvPr id="57357" name="Rectangle 15">
            <a:extLst>
              <a:ext uri="{FF2B5EF4-FFF2-40B4-BE49-F238E27FC236}">
                <a16:creationId xmlns:a16="http://schemas.microsoft.com/office/drawing/2014/main" id="{1D485110-DF2F-903B-8675-5AAF8E6DA191}"/>
              </a:ext>
            </a:extLst>
          </p:cNvPr>
          <p:cNvSpPr>
            <a:spLocks noChangeArrowheads="1"/>
          </p:cNvSpPr>
          <p:nvPr/>
        </p:nvSpPr>
        <p:spPr bwMode="auto">
          <a:xfrm>
            <a:off x="457200" y="3048000"/>
            <a:ext cx="8077200" cy="1077913"/>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信号有</a:t>
            </a:r>
            <a:r>
              <a:rPr lang="en-US" altLang="zh-CN" sz="3200" i="0" baseline="0">
                <a:latin typeface="Arial" panose="020B0604020202020204" pitchFamily="34" charset="0"/>
                <a:ea typeface="宋体" panose="02010600030101010101" pitchFamily="2" charset="-122"/>
              </a:rPr>
              <a:t>L</a:t>
            </a:r>
            <a:r>
              <a:rPr lang="zh-CN" altLang="en-US" sz="3200" i="0" baseline="0">
                <a:latin typeface="Arial" panose="020B0604020202020204" pitchFamily="34" charset="0"/>
                <a:ea typeface="宋体" panose="02010600030101010101" pitchFamily="2" charset="-122"/>
              </a:rPr>
              <a:t>个电平，则每个信号位可以携带</a:t>
            </a:r>
            <a:r>
              <a:rPr lang="en-US" altLang="zh-CN" sz="3200" i="0" baseline="0">
                <a:latin typeface="Arial" panose="020B0604020202020204" pitchFamily="34" charset="0"/>
                <a:ea typeface="宋体" panose="02010600030101010101" pitchFamily="2" charset="-122"/>
              </a:rPr>
              <a:t>log</a:t>
            </a:r>
            <a:r>
              <a:rPr lang="en-US" altLang="zh-CN" sz="3200" i="0" baseline="-25000">
                <a:latin typeface="Arial" panose="020B0604020202020204" pitchFamily="34" charset="0"/>
                <a:ea typeface="宋体" panose="02010600030101010101" pitchFamily="2" charset="-122"/>
              </a:rPr>
              <a:t>2</a:t>
            </a:r>
            <a:r>
              <a:rPr lang="en-US" altLang="zh-CN" sz="3200" i="0" baseline="0">
                <a:latin typeface="Arial" panose="020B0604020202020204" pitchFamily="34" charset="0"/>
                <a:ea typeface="宋体" panose="02010600030101010101" pitchFamily="2" charset="-122"/>
              </a:rPr>
              <a:t>L</a:t>
            </a:r>
            <a:r>
              <a:rPr lang="zh-CN" altLang="en-US" sz="3200" i="0" baseline="0">
                <a:latin typeface="Arial" panose="020B0604020202020204" pitchFamily="34" charset="0"/>
                <a:ea typeface="宋体" panose="02010600030101010101" pitchFamily="2" charset="-122"/>
              </a:rPr>
              <a:t>个</a:t>
            </a:r>
            <a:r>
              <a:rPr lang="en-US" altLang="zh-CN" sz="3200" i="0" baseline="0">
                <a:latin typeface="Arial" panose="020B0604020202020204" pitchFamily="34" charset="0"/>
                <a:ea typeface="宋体" panose="02010600030101010101" pitchFamily="2" charset="-122"/>
              </a:rPr>
              <a:t>bit</a:t>
            </a:r>
            <a:r>
              <a:rPr lang="zh-CN" altLang="en-US" sz="3200" i="0" baseline="0">
                <a:latin typeface="Arial" panose="020B0604020202020204" pitchFamily="34" charset="0"/>
                <a:ea typeface="宋体" panose="02010600030101010101" pitchFamily="2" charset="-122"/>
              </a:rPr>
              <a:t>位。</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1">
            <a:extLst>
              <a:ext uri="{FF2B5EF4-FFF2-40B4-BE49-F238E27FC236}">
                <a16:creationId xmlns:a16="http://schemas.microsoft.com/office/drawing/2014/main" id="{0114D717-2388-1CBA-E383-CA092693E47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B5448DE1-D24D-4804-A09A-57DE9F4705FF}" type="slidenum">
              <a:rPr lang="en-US" altLang="zh-CN" sz="2000" i="0" baseline="0" smtClean="0">
                <a:latin typeface="Arial" panose="020B0604020202020204" pitchFamily="34" charset="0"/>
              </a:rPr>
              <a:pPr/>
              <a:t>54</a:t>
            </a:fld>
            <a:endParaRPr lang="en-US" altLang="zh-CN" sz="2000" i="0" baseline="0">
              <a:latin typeface="Arial" panose="020B0604020202020204" pitchFamily="34" charset="0"/>
            </a:endParaRPr>
          </a:p>
        </p:txBody>
      </p:sp>
      <p:sp>
        <p:nvSpPr>
          <p:cNvPr id="58371" name="Rectangle 2">
            <a:extLst>
              <a:ext uri="{FF2B5EF4-FFF2-40B4-BE49-F238E27FC236}">
                <a16:creationId xmlns:a16="http://schemas.microsoft.com/office/drawing/2014/main" id="{C4E36CF4-9F3E-EA42-FE13-A4F52E9AFAF3}"/>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8372" name="Rectangle 3">
            <a:extLst>
              <a:ext uri="{FF2B5EF4-FFF2-40B4-BE49-F238E27FC236}">
                <a16:creationId xmlns:a16="http://schemas.microsoft.com/office/drawing/2014/main" id="{09B5A560-F473-A4C3-FA3A-58816368B1B2}"/>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58373" name="Group 4">
            <a:extLst>
              <a:ext uri="{FF2B5EF4-FFF2-40B4-BE49-F238E27FC236}">
                <a16:creationId xmlns:a16="http://schemas.microsoft.com/office/drawing/2014/main" id="{C8A6B1DF-93D8-B2FD-68B8-8A4B5F4AD1BD}"/>
              </a:ext>
            </a:extLst>
          </p:cNvPr>
          <p:cNvGrpSpPr>
            <a:grpSpLocks/>
          </p:cNvGrpSpPr>
          <p:nvPr/>
        </p:nvGrpSpPr>
        <p:grpSpPr bwMode="auto">
          <a:xfrm>
            <a:off x="490538" y="773113"/>
            <a:ext cx="738187" cy="474662"/>
            <a:chOff x="0" y="0"/>
            <a:chExt cx="465" cy="299"/>
          </a:xfrm>
        </p:grpSpPr>
        <p:sp>
          <p:nvSpPr>
            <p:cNvPr id="58382" name="Rectangle 5">
              <a:extLst>
                <a:ext uri="{FF2B5EF4-FFF2-40B4-BE49-F238E27FC236}">
                  <a16:creationId xmlns:a16="http://schemas.microsoft.com/office/drawing/2014/main" id="{05BE6C18-85EC-FEAC-E45C-037249E3CE00}"/>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8383" name="Rectangle 6">
              <a:extLst>
                <a:ext uri="{FF2B5EF4-FFF2-40B4-BE49-F238E27FC236}">
                  <a16:creationId xmlns:a16="http://schemas.microsoft.com/office/drawing/2014/main" id="{5FFA494B-12D9-1197-7664-BCBAF74996F2}"/>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58374" name="Rectangle 7">
            <a:extLst>
              <a:ext uri="{FF2B5EF4-FFF2-40B4-BE49-F238E27FC236}">
                <a16:creationId xmlns:a16="http://schemas.microsoft.com/office/drawing/2014/main" id="{2C68121E-056E-1053-DF57-66E09CBAB545}"/>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8375" name="Rectangle 8">
            <a:extLst>
              <a:ext uri="{FF2B5EF4-FFF2-40B4-BE49-F238E27FC236}">
                <a16:creationId xmlns:a16="http://schemas.microsoft.com/office/drawing/2014/main" id="{EB621DC8-ED17-C9E1-BF3A-66F69CBE1459}"/>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8376" name="Rectangle 9">
            <a:extLst>
              <a:ext uri="{FF2B5EF4-FFF2-40B4-BE49-F238E27FC236}">
                <a16:creationId xmlns:a16="http://schemas.microsoft.com/office/drawing/2014/main" id="{3430C1AC-32B0-F88A-9CE5-82E86CACBA40}"/>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8377" name="Rectangle 10">
            <a:extLst>
              <a:ext uri="{FF2B5EF4-FFF2-40B4-BE49-F238E27FC236}">
                <a16:creationId xmlns:a16="http://schemas.microsoft.com/office/drawing/2014/main" id="{429E1330-9B3D-52E1-C7E8-66F655C0B477}"/>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58378" name="Rectangle 11">
            <a:extLst>
              <a:ext uri="{FF2B5EF4-FFF2-40B4-BE49-F238E27FC236}">
                <a16:creationId xmlns:a16="http://schemas.microsoft.com/office/drawing/2014/main" id="{1303554C-3C18-8CB2-0613-DE7C6DB3D250}"/>
              </a:ext>
            </a:extLst>
          </p:cNvPr>
          <p:cNvSpPr>
            <a:spLocks noChangeArrowheads="1"/>
          </p:cNvSpPr>
          <p:nvPr/>
        </p:nvSpPr>
        <p:spPr bwMode="auto">
          <a:xfrm>
            <a:off x="685800" y="1447800"/>
            <a:ext cx="77724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一个数字信号有8个电平。那么每个电平需要多少个位？我们根据下面公式进行计算：</a:t>
            </a:r>
          </a:p>
        </p:txBody>
      </p:sp>
      <p:sp>
        <p:nvSpPr>
          <p:cNvPr id="58379" name="Text Box 12">
            <a:extLst>
              <a:ext uri="{FF2B5EF4-FFF2-40B4-BE49-F238E27FC236}">
                <a16:creationId xmlns:a16="http://schemas.microsoft.com/office/drawing/2014/main" id="{3F71EEE3-E637-E6E0-8F43-0C293C4FD36D}"/>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3.16</a:t>
            </a:r>
          </a:p>
        </p:txBody>
      </p:sp>
      <p:pic>
        <p:nvPicPr>
          <p:cNvPr id="58380" name="Picture 13">
            <a:extLst>
              <a:ext uri="{FF2B5EF4-FFF2-40B4-BE49-F238E27FC236}">
                <a16:creationId xmlns:a16="http://schemas.microsoft.com/office/drawing/2014/main" id="{AF513CFB-0594-F09B-314A-8A96AA02E6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971800"/>
            <a:ext cx="4346575" cy="431800"/>
          </a:xfrm>
          <a:prstGeom prst="rect">
            <a:avLst/>
          </a:prstGeom>
          <a:noFill/>
          <a:ln w="57150">
            <a:solidFill>
              <a:srgbClr val="3366FF"/>
            </a:solidFill>
            <a:miter lim="800000"/>
            <a:headEnd/>
            <a:tailEnd/>
          </a:ln>
          <a:extLst>
            <a:ext uri="{909E8E84-426E-40DD-AFC4-6F175D3DCCD1}">
              <a14:hiddenFill xmlns:a14="http://schemas.microsoft.com/office/drawing/2010/main">
                <a:solidFill>
                  <a:srgbClr val="FFFFFF"/>
                </a:solidFill>
              </a14:hiddenFill>
            </a:ext>
          </a:extLst>
        </p:spPr>
      </p:pic>
      <p:sp>
        <p:nvSpPr>
          <p:cNvPr id="58381" name="Rectangle 14">
            <a:extLst>
              <a:ext uri="{FF2B5EF4-FFF2-40B4-BE49-F238E27FC236}">
                <a16:creationId xmlns:a16="http://schemas.microsoft.com/office/drawing/2014/main" id="{AD619206-490F-9874-13DA-81C4D0F95803}"/>
              </a:ext>
            </a:extLst>
          </p:cNvPr>
          <p:cNvSpPr>
            <a:spLocks noChangeArrowheads="1"/>
          </p:cNvSpPr>
          <p:nvPr/>
        </p:nvSpPr>
        <p:spPr bwMode="auto">
          <a:xfrm>
            <a:off x="685800" y="4205288"/>
            <a:ext cx="80772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每个信号电平用3位表示；或者说，每个信号电平可以携带</a:t>
            </a:r>
            <a:r>
              <a:rPr lang="en-US" altLang="zh-CN" baseline="0">
                <a:ea typeface="宋体" panose="02010600030101010101" pitchFamily="2" charset="-122"/>
              </a:rPr>
              <a:t>3bit</a:t>
            </a:r>
            <a:r>
              <a:rPr lang="zh-CN" altLang="en-US" baseline="0">
                <a:ea typeface="宋体" panose="02010600030101010101" pitchFamily="2" charset="-122"/>
              </a:rPr>
              <a:t>位的信息。</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1">
            <a:extLst>
              <a:ext uri="{FF2B5EF4-FFF2-40B4-BE49-F238E27FC236}">
                <a16:creationId xmlns:a16="http://schemas.microsoft.com/office/drawing/2014/main" id="{6BBDBB68-6F98-1EC9-AE6B-3E49DFE08B7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8957CE6F-0AA3-466E-A495-45A8D6BC3D1A}" type="slidenum">
              <a:rPr lang="en-US" altLang="zh-CN" sz="2000" i="0" baseline="0" smtClean="0">
                <a:latin typeface="Arial" panose="020B0604020202020204" pitchFamily="34" charset="0"/>
              </a:rPr>
              <a:pPr/>
              <a:t>55</a:t>
            </a:fld>
            <a:endParaRPr lang="en-US" altLang="zh-CN" sz="2000" i="0" baseline="0">
              <a:latin typeface="Arial" panose="020B0604020202020204" pitchFamily="34" charset="0"/>
            </a:endParaRPr>
          </a:p>
        </p:txBody>
      </p:sp>
      <p:sp>
        <p:nvSpPr>
          <p:cNvPr id="59395" name="Rectangle 2">
            <a:extLst>
              <a:ext uri="{FF2B5EF4-FFF2-40B4-BE49-F238E27FC236}">
                <a16:creationId xmlns:a16="http://schemas.microsoft.com/office/drawing/2014/main" id="{39EF1767-B223-F879-D0B2-D0AEA8A24373}"/>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9396" name="Rectangle 3">
            <a:extLst>
              <a:ext uri="{FF2B5EF4-FFF2-40B4-BE49-F238E27FC236}">
                <a16:creationId xmlns:a16="http://schemas.microsoft.com/office/drawing/2014/main" id="{7659FFF5-CDDC-0F12-5AE5-524B57B8F2BE}"/>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59397" name="Group 4">
            <a:extLst>
              <a:ext uri="{FF2B5EF4-FFF2-40B4-BE49-F238E27FC236}">
                <a16:creationId xmlns:a16="http://schemas.microsoft.com/office/drawing/2014/main" id="{768CB556-992B-6F78-0F8B-73E9593EBA5C}"/>
              </a:ext>
            </a:extLst>
          </p:cNvPr>
          <p:cNvGrpSpPr>
            <a:grpSpLocks/>
          </p:cNvGrpSpPr>
          <p:nvPr/>
        </p:nvGrpSpPr>
        <p:grpSpPr bwMode="auto">
          <a:xfrm>
            <a:off x="490538" y="773113"/>
            <a:ext cx="738187" cy="474662"/>
            <a:chOff x="0" y="0"/>
            <a:chExt cx="465" cy="299"/>
          </a:xfrm>
        </p:grpSpPr>
        <p:sp>
          <p:nvSpPr>
            <p:cNvPr id="59404" name="Rectangle 5">
              <a:extLst>
                <a:ext uri="{FF2B5EF4-FFF2-40B4-BE49-F238E27FC236}">
                  <a16:creationId xmlns:a16="http://schemas.microsoft.com/office/drawing/2014/main" id="{CD52405A-DDDA-42B1-501D-C087EEC86890}"/>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9405" name="Rectangle 6">
              <a:extLst>
                <a:ext uri="{FF2B5EF4-FFF2-40B4-BE49-F238E27FC236}">
                  <a16:creationId xmlns:a16="http://schemas.microsoft.com/office/drawing/2014/main" id="{239CC73C-9B90-C1F2-DA05-CAB54E891AAD}"/>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59398" name="Rectangle 7">
            <a:extLst>
              <a:ext uri="{FF2B5EF4-FFF2-40B4-BE49-F238E27FC236}">
                <a16:creationId xmlns:a16="http://schemas.microsoft.com/office/drawing/2014/main" id="{04A7EE35-E8BA-6D4A-877F-ABC4E96DBDA9}"/>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9399" name="Rectangle 8">
            <a:extLst>
              <a:ext uri="{FF2B5EF4-FFF2-40B4-BE49-F238E27FC236}">
                <a16:creationId xmlns:a16="http://schemas.microsoft.com/office/drawing/2014/main" id="{7B05E9FD-B176-117F-7FD7-1160471F119F}"/>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9400" name="Rectangle 9">
            <a:extLst>
              <a:ext uri="{FF2B5EF4-FFF2-40B4-BE49-F238E27FC236}">
                <a16:creationId xmlns:a16="http://schemas.microsoft.com/office/drawing/2014/main" id="{23256FD5-6CDC-35B2-5BD7-8544BFC0401D}"/>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59401" name="Rectangle 10">
            <a:extLst>
              <a:ext uri="{FF2B5EF4-FFF2-40B4-BE49-F238E27FC236}">
                <a16:creationId xmlns:a16="http://schemas.microsoft.com/office/drawing/2014/main" id="{7F873F41-AD56-698A-2B74-BD25AFCBB392}"/>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59402" name="Rectangle 11">
            <a:extLst>
              <a:ext uri="{FF2B5EF4-FFF2-40B4-BE49-F238E27FC236}">
                <a16:creationId xmlns:a16="http://schemas.microsoft.com/office/drawing/2014/main" id="{CF1DC0E9-B317-A983-D9A7-73CC3C22EA11}"/>
              </a:ext>
            </a:extLst>
          </p:cNvPr>
          <p:cNvSpPr>
            <a:spLocks noChangeArrowheads="1"/>
          </p:cNvSpPr>
          <p:nvPr/>
        </p:nvSpPr>
        <p:spPr bwMode="auto">
          <a:xfrm>
            <a:off x="228600" y="1447800"/>
            <a:ext cx="85344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一个数字信号有9个电平，问每个电平可表示多少位？我们根据公式计算，得出每个信号电平用3.17个位表示。但是，这个答案是不现实的。每个电平发送的位数必须是整数并且是2的幂。这个例子中，4位用来表示一个电平。</a:t>
            </a:r>
          </a:p>
        </p:txBody>
      </p:sp>
      <p:sp>
        <p:nvSpPr>
          <p:cNvPr id="59403" name="Text Box 12">
            <a:extLst>
              <a:ext uri="{FF2B5EF4-FFF2-40B4-BE49-F238E27FC236}">
                <a16:creationId xmlns:a16="http://schemas.microsoft.com/office/drawing/2014/main" id="{262DDBC1-CAD9-BFAF-DAA1-496801525DFB}"/>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3.17</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1">
            <a:extLst>
              <a:ext uri="{FF2B5EF4-FFF2-40B4-BE49-F238E27FC236}">
                <a16:creationId xmlns:a16="http://schemas.microsoft.com/office/drawing/2014/main" id="{8BAF40AD-3843-5794-EB0A-8BC37E63715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D57BA425-64E2-48DF-A2D8-08F9B904B6E9}" type="slidenum">
              <a:rPr lang="en-US" altLang="zh-CN" sz="2000" i="0" baseline="0" smtClean="0">
                <a:latin typeface="Arial" panose="020B0604020202020204" pitchFamily="34" charset="0"/>
              </a:rPr>
              <a:pPr/>
              <a:t>56</a:t>
            </a:fld>
            <a:endParaRPr lang="en-US" altLang="zh-CN" sz="2000" i="0" baseline="0">
              <a:latin typeface="Arial" panose="020B0604020202020204" pitchFamily="34" charset="0"/>
            </a:endParaRPr>
          </a:p>
        </p:txBody>
      </p:sp>
      <p:sp>
        <p:nvSpPr>
          <p:cNvPr id="60419" name="Rectangle 2">
            <a:extLst>
              <a:ext uri="{FF2B5EF4-FFF2-40B4-BE49-F238E27FC236}">
                <a16:creationId xmlns:a16="http://schemas.microsoft.com/office/drawing/2014/main" id="{65A0C8AA-4E74-9B83-9263-BC6EFC3FD544}"/>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0420" name="Rectangle 3">
            <a:extLst>
              <a:ext uri="{FF2B5EF4-FFF2-40B4-BE49-F238E27FC236}">
                <a16:creationId xmlns:a16="http://schemas.microsoft.com/office/drawing/2014/main" id="{4C52B9DA-EE43-3962-29EB-F57241DC65F6}"/>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0421" name="Rectangle 4">
            <a:extLst>
              <a:ext uri="{FF2B5EF4-FFF2-40B4-BE49-F238E27FC236}">
                <a16:creationId xmlns:a16="http://schemas.microsoft.com/office/drawing/2014/main" id="{C010EA63-B547-8193-EBB7-42F655BB5CFF}"/>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0422" name="Rectangle 5">
            <a:extLst>
              <a:ext uri="{FF2B5EF4-FFF2-40B4-BE49-F238E27FC236}">
                <a16:creationId xmlns:a16="http://schemas.microsoft.com/office/drawing/2014/main" id="{90BA2AAF-A89E-C77C-7541-06D6E5CDAE90}"/>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0423" name="Rectangle 6">
            <a:extLst>
              <a:ext uri="{FF2B5EF4-FFF2-40B4-BE49-F238E27FC236}">
                <a16:creationId xmlns:a16="http://schemas.microsoft.com/office/drawing/2014/main" id="{0708EFC6-F708-52D6-23B2-5F8DC39DD7E6}"/>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0424" name="Rectangle 7">
            <a:extLst>
              <a:ext uri="{FF2B5EF4-FFF2-40B4-BE49-F238E27FC236}">
                <a16:creationId xmlns:a16="http://schemas.microsoft.com/office/drawing/2014/main" id="{3E2A98A9-DBE8-4D61-1B26-52E666110F6F}"/>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0425" name="Rectangle 8">
            <a:extLst>
              <a:ext uri="{FF2B5EF4-FFF2-40B4-BE49-F238E27FC236}">
                <a16:creationId xmlns:a16="http://schemas.microsoft.com/office/drawing/2014/main" id="{5758FB0D-FA1A-AD5E-97E2-6971DE07CC26}"/>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0426" name="Line 9">
            <a:extLst>
              <a:ext uri="{FF2B5EF4-FFF2-40B4-BE49-F238E27FC236}">
                <a16:creationId xmlns:a16="http://schemas.microsoft.com/office/drawing/2014/main" id="{01163B17-7078-C00D-77D3-9CE2E73673AB}"/>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27" name="Line 10">
            <a:extLst>
              <a:ext uri="{FF2B5EF4-FFF2-40B4-BE49-F238E27FC236}">
                <a16:creationId xmlns:a16="http://schemas.microsoft.com/office/drawing/2014/main" id="{F1BCF207-26A3-875A-74DE-5BFFBE3D4A45}"/>
              </a:ext>
            </a:extLst>
          </p:cNvPr>
          <p:cNvSpPr>
            <a:spLocks noChangeShapeType="1"/>
          </p:cNvSpPr>
          <p:nvPr/>
        </p:nvSpPr>
        <p:spPr bwMode="auto">
          <a:xfrm>
            <a:off x="457200" y="5638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0428" name="Group 12">
            <a:extLst>
              <a:ext uri="{FF2B5EF4-FFF2-40B4-BE49-F238E27FC236}">
                <a16:creationId xmlns:a16="http://schemas.microsoft.com/office/drawing/2014/main" id="{11889A09-99EE-3ABD-9FAE-B2F3AE5B3CA3}"/>
              </a:ext>
            </a:extLst>
          </p:cNvPr>
          <p:cNvGrpSpPr>
            <a:grpSpLocks/>
          </p:cNvGrpSpPr>
          <p:nvPr/>
        </p:nvGrpSpPr>
        <p:grpSpPr bwMode="auto">
          <a:xfrm>
            <a:off x="457200" y="2362200"/>
            <a:ext cx="1143000" cy="566738"/>
            <a:chOff x="0" y="0"/>
            <a:chExt cx="720" cy="357"/>
          </a:xfrm>
        </p:grpSpPr>
        <p:pic>
          <p:nvPicPr>
            <p:cNvPr id="60430" name="Picture 13">
              <a:extLst>
                <a:ext uri="{FF2B5EF4-FFF2-40B4-BE49-F238E27FC236}">
                  <a16:creationId xmlns:a16="http://schemas.microsoft.com/office/drawing/2014/main" id="{2DAC87E8-FF50-5BF9-60F8-411B1A6F2F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31" name="Text Box 14">
              <a:extLst>
                <a:ext uri="{FF2B5EF4-FFF2-40B4-BE49-F238E27FC236}">
                  <a16:creationId xmlns:a16="http://schemas.microsoft.com/office/drawing/2014/main" id="{10B6D67F-72DC-58B7-730E-8EEEB39D5B7F}"/>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
        <p:nvSpPr>
          <p:cNvPr id="60429" name="Rectangle 15">
            <a:extLst>
              <a:ext uri="{FF2B5EF4-FFF2-40B4-BE49-F238E27FC236}">
                <a16:creationId xmlns:a16="http://schemas.microsoft.com/office/drawing/2014/main" id="{6B2809A9-ECAD-6016-7819-0622AC7DEF1C}"/>
              </a:ext>
            </a:extLst>
          </p:cNvPr>
          <p:cNvSpPr>
            <a:spLocks noChangeArrowheads="1"/>
          </p:cNvSpPr>
          <p:nvPr/>
        </p:nvSpPr>
        <p:spPr bwMode="auto">
          <a:xfrm>
            <a:off x="457200" y="3048000"/>
            <a:ext cx="8382000" cy="255428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大多数数字信号都是非周期的，这样周期和频率就不再适用，而用比特率来描述数字信号。</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比特率：是</a:t>
            </a:r>
            <a:r>
              <a:rPr lang="en-US" altLang="zh-CN" sz="3200" i="0" baseline="0">
                <a:latin typeface="Arial" panose="020B0604020202020204" pitchFamily="34" charset="0"/>
                <a:ea typeface="宋体" panose="02010600030101010101" pitchFamily="2" charset="-122"/>
              </a:rPr>
              <a:t>1</a:t>
            </a:r>
            <a:r>
              <a:rPr lang="zh-CN" altLang="en-US" sz="3200" i="0" baseline="0">
                <a:latin typeface="Arial" panose="020B0604020202020204" pitchFamily="34" charset="0"/>
                <a:ea typeface="宋体" panose="02010600030101010101" pitchFamily="2" charset="-122"/>
              </a:rPr>
              <a:t>秒钟发送的位数，以每秒位</a:t>
            </a:r>
            <a:r>
              <a:rPr lang="en-US" altLang="zh-CN" sz="3200" i="0" baseline="0">
                <a:latin typeface="Arial" panose="020B0604020202020204" pitchFamily="34" charset="0"/>
                <a:ea typeface="宋体" panose="02010600030101010101" pitchFamily="2" charset="-122"/>
              </a:rPr>
              <a:t>(bits per second, bps)</a:t>
            </a:r>
            <a:r>
              <a:rPr lang="zh-CN" altLang="en-US" sz="3200" i="0" baseline="0">
                <a:latin typeface="Arial" panose="020B0604020202020204" pitchFamily="34" charset="0"/>
                <a:ea typeface="宋体" panose="02010600030101010101" pitchFamily="2" charset="-122"/>
              </a:rPr>
              <a:t>表示。</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1">
            <a:extLst>
              <a:ext uri="{FF2B5EF4-FFF2-40B4-BE49-F238E27FC236}">
                <a16:creationId xmlns:a16="http://schemas.microsoft.com/office/drawing/2014/main" id="{D0E29FA7-604A-BB4C-B1E1-432F0C30F5B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89C504C0-19BB-48A7-9CE7-E472390BC526}" type="slidenum">
              <a:rPr lang="en-US" altLang="zh-CN" sz="2000" i="0" baseline="0" smtClean="0">
                <a:latin typeface="Arial" panose="020B0604020202020204" pitchFamily="34" charset="0"/>
              </a:rPr>
              <a:pPr/>
              <a:t>57</a:t>
            </a:fld>
            <a:endParaRPr lang="en-US" altLang="zh-CN" sz="2000" i="0" baseline="0">
              <a:latin typeface="Arial" panose="020B0604020202020204" pitchFamily="34" charset="0"/>
            </a:endParaRPr>
          </a:p>
        </p:txBody>
      </p:sp>
      <p:sp>
        <p:nvSpPr>
          <p:cNvPr id="61443" name="Rectangle 2">
            <a:extLst>
              <a:ext uri="{FF2B5EF4-FFF2-40B4-BE49-F238E27FC236}">
                <a16:creationId xmlns:a16="http://schemas.microsoft.com/office/drawing/2014/main" id="{42B7BC9A-5F95-CDA7-2C33-A40C7F2F4E7C}"/>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1444" name="Rectangle 3">
            <a:extLst>
              <a:ext uri="{FF2B5EF4-FFF2-40B4-BE49-F238E27FC236}">
                <a16:creationId xmlns:a16="http://schemas.microsoft.com/office/drawing/2014/main" id="{A5FEFBF4-ADBE-F0D0-CF2A-8B45EC5E4C38}"/>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61445" name="Group 4">
            <a:extLst>
              <a:ext uri="{FF2B5EF4-FFF2-40B4-BE49-F238E27FC236}">
                <a16:creationId xmlns:a16="http://schemas.microsoft.com/office/drawing/2014/main" id="{C3CD30B4-A830-E999-5736-93F1974F4308}"/>
              </a:ext>
            </a:extLst>
          </p:cNvPr>
          <p:cNvGrpSpPr>
            <a:grpSpLocks/>
          </p:cNvGrpSpPr>
          <p:nvPr/>
        </p:nvGrpSpPr>
        <p:grpSpPr bwMode="auto">
          <a:xfrm>
            <a:off x="490538" y="773113"/>
            <a:ext cx="738187" cy="474662"/>
            <a:chOff x="0" y="0"/>
            <a:chExt cx="465" cy="299"/>
          </a:xfrm>
        </p:grpSpPr>
        <p:sp>
          <p:nvSpPr>
            <p:cNvPr id="61454" name="Rectangle 5">
              <a:extLst>
                <a:ext uri="{FF2B5EF4-FFF2-40B4-BE49-F238E27FC236}">
                  <a16:creationId xmlns:a16="http://schemas.microsoft.com/office/drawing/2014/main" id="{35177F10-5322-781B-8F12-A52CF0ABB878}"/>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1455" name="Rectangle 6">
              <a:extLst>
                <a:ext uri="{FF2B5EF4-FFF2-40B4-BE49-F238E27FC236}">
                  <a16:creationId xmlns:a16="http://schemas.microsoft.com/office/drawing/2014/main" id="{D721BD18-EC01-03F7-22DB-5511B79D3BEB}"/>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61446" name="Rectangle 7">
            <a:extLst>
              <a:ext uri="{FF2B5EF4-FFF2-40B4-BE49-F238E27FC236}">
                <a16:creationId xmlns:a16="http://schemas.microsoft.com/office/drawing/2014/main" id="{9704BD75-1850-23E4-E532-0B0BC24854E6}"/>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1447" name="Rectangle 8">
            <a:extLst>
              <a:ext uri="{FF2B5EF4-FFF2-40B4-BE49-F238E27FC236}">
                <a16:creationId xmlns:a16="http://schemas.microsoft.com/office/drawing/2014/main" id="{6C6B37EE-81B8-8113-072D-4A351359F5E3}"/>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1448" name="Rectangle 9">
            <a:extLst>
              <a:ext uri="{FF2B5EF4-FFF2-40B4-BE49-F238E27FC236}">
                <a16:creationId xmlns:a16="http://schemas.microsoft.com/office/drawing/2014/main" id="{F09336B9-8826-D7AF-AF93-FBE78A0536B2}"/>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1449" name="Rectangle 10">
            <a:extLst>
              <a:ext uri="{FF2B5EF4-FFF2-40B4-BE49-F238E27FC236}">
                <a16:creationId xmlns:a16="http://schemas.microsoft.com/office/drawing/2014/main" id="{3566B94B-D7B1-1A7A-A75D-786DFD882F57}"/>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61450" name="Rectangle 11">
            <a:extLst>
              <a:ext uri="{FF2B5EF4-FFF2-40B4-BE49-F238E27FC236}">
                <a16:creationId xmlns:a16="http://schemas.microsoft.com/office/drawing/2014/main" id="{B79AA7C6-BF77-FD75-2A9B-2B9B2B495325}"/>
              </a:ext>
            </a:extLst>
          </p:cNvPr>
          <p:cNvSpPr>
            <a:spLocks noChangeArrowheads="1"/>
          </p:cNvSpPr>
          <p:nvPr/>
        </p:nvSpPr>
        <p:spPr bwMode="auto">
          <a:xfrm>
            <a:off x="228600" y="1752600"/>
            <a:ext cx="85344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假定我们需要每分钟100页的速率下载文本文档。所需的通道比特率是多少？</a:t>
            </a: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一页平均24行，每一行80个字符。如果我们假定每个字符需要8位，比特率：</a:t>
            </a:r>
          </a:p>
        </p:txBody>
      </p:sp>
      <p:sp>
        <p:nvSpPr>
          <p:cNvPr id="61451" name="Text Box 12">
            <a:extLst>
              <a:ext uri="{FF2B5EF4-FFF2-40B4-BE49-F238E27FC236}">
                <a16:creationId xmlns:a16="http://schemas.microsoft.com/office/drawing/2014/main" id="{B4DEBD5B-ECB5-2047-60F6-A68CDB060207}"/>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3.18</a:t>
            </a:r>
          </a:p>
        </p:txBody>
      </p:sp>
      <p:pic>
        <p:nvPicPr>
          <p:cNvPr id="61452" name="Picture 13">
            <a:extLst>
              <a:ext uri="{FF2B5EF4-FFF2-40B4-BE49-F238E27FC236}">
                <a16:creationId xmlns:a16="http://schemas.microsoft.com/office/drawing/2014/main" id="{97B509B2-3795-5E16-5E41-0DE0C4FC81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9913" y="4718050"/>
            <a:ext cx="5462587" cy="387350"/>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61453" name="TextBox 14">
            <a:extLst>
              <a:ext uri="{FF2B5EF4-FFF2-40B4-BE49-F238E27FC236}">
                <a16:creationId xmlns:a16="http://schemas.microsoft.com/office/drawing/2014/main" id="{438C4D31-D0FE-3FFC-A309-717302DF3A18}"/>
              </a:ext>
            </a:extLst>
          </p:cNvPr>
          <p:cNvSpPr txBox="1">
            <a:spLocks noChangeArrowheads="1"/>
          </p:cNvSpPr>
          <p:nvPr/>
        </p:nvSpPr>
        <p:spPr bwMode="auto">
          <a:xfrm>
            <a:off x="2743200" y="5638800"/>
            <a:ext cx="335280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a:ea typeface="宋体" panose="02010600030101010101" pitchFamily="2" charset="-122"/>
              </a:rPr>
              <a:t>应该除以</a:t>
            </a:r>
            <a:r>
              <a:rPr lang="en-US" altLang="zh-CN">
                <a:ea typeface="宋体" panose="02010600030101010101" pitchFamily="2" charset="-122"/>
              </a:rPr>
              <a:t>60s</a:t>
            </a:r>
            <a:r>
              <a:rPr lang="zh-CN" altLang="en-US">
                <a:ea typeface="宋体" panose="02010600030101010101" pitchFamily="2" charset="-122"/>
              </a:rPr>
              <a:t>，才是</a:t>
            </a:r>
            <a:r>
              <a:rPr lang="en-US" altLang="zh-CN">
                <a:ea typeface="宋体" panose="02010600030101010101" pitchFamily="2" charset="-122"/>
              </a:rPr>
              <a:t>bps</a:t>
            </a:r>
            <a:r>
              <a:rPr lang="zh-CN" altLang="en-US">
                <a:ea typeface="宋体" panose="02010600030101010101" pitchFamily="2" charset="-122"/>
              </a:rPr>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1">
            <a:extLst>
              <a:ext uri="{FF2B5EF4-FFF2-40B4-BE49-F238E27FC236}">
                <a16:creationId xmlns:a16="http://schemas.microsoft.com/office/drawing/2014/main" id="{DF1EDB65-25A0-371B-B27D-CD547491895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9FB91DFA-189E-4489-B6B9-9B86811FE52D}" type="slidenum">
              <a:rPr lang="en-US" altLang="zh-CN" sz="2000" i="0" baseline="0" smtClean="0">
                <a:latin typeface="Arial" panose="020B0604020202020204" pitchFamily="34" charset="0"/>
              </a:rPr>
              <a:pPr/>
              <a:t>58</a:t>
            </a:fld>
            <a:endParaRPr lang="en-US" altLang="zh-CN" sz="2000" i="0" baseline="0">
              <a:latin typeface="Arial" panose="020B0604020202020204" pitchFamily="34" charset="0"/>
            </a:endParaRPr>
          </a:p>
        </p:txBody>
      </p:sp>
      <p:sp>
        <p:nvSpPr>
          <p:cNvPr id="62467" name="Rectangle 2">
            <a:extLst>
              <a:ext uri="{FF2B5EF4-FFF2-40B4-BE49-F238E27FC236}">
                <a16:creationId xmlns:a16="http://schemas.microsoft.com/office/drawing/2014/main" id="{E729FE5A-9B98-D250-4118-B63262618824}"/>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2468" name="Rectangle 3">
            <a:extLst>
              <a:ext uri="{FF2B5EF4-FFF2-40B4-BE49-F238E27FC236}">
                <a16:creationId xmlns:a16="http://schemas.microsoft.com/office/drawing/2014/main" id="{67B63703-29CE-98AB-57B3-80534EE47BD7}"/>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62469" name="Group 4">
            <a:extLst>
              <a:ext uri="{FF2B5EF4-FFF2-40B4-BE49-F238E27FC236}">
                <a16:creationId xmlns:a16="http://schemas.microsoft.com/office/drawing/2014/main" id="{8FE6158F-5D61-401D-AF46-630AA4073BC4}"/>
              </a:ext>
            </a:extLst>
          </p:cNvPr>
          <p:cNvGrpSpPr>
            <a:grpSpLocks/>
          </p:cNvGrpSpPr>
          <p:nvPr/>
        </p:nvGrpSpPr>
        <p:grpSpPr bwMode="auto">
          <a:xfrm>
            <a:off x="490538" y="773113"/>
            <a:ext cx="738187" cy="474662"/>
            <a:chOff x="0" y="0"/>
            <a:chExt cx="465" cy="299"/>
          </a:xfrm>
        </p:grpSpPr>
        <p:sp>
          <p:nvSpPr>
            <p:cNvPr id="62477" name="Rectangle 5">
              <a:extLst>
                <a:ext uri="{FF2B5EF4-FFF2-40B4-BE49-F238E27FC236}">
                  <a16:creationId xmlns:a16="http://schemas.microsoft.com/office/drawing/2014/main" id="{B2655E6A-B367-4651-E276-8B5F8365C260}"/>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2478" name="Rectangle 6">
              <a:extLst>
                <a:ext uri="{FF2B5EF4-FFF2-40B4-BE49-F238E27FC236}">
                  <a16:creationId xmlns:a16="http://schemas.microsoft.com/office/drawing/2014/main" id="{51BC6AB3-B89A-4726-374B-A713EB782116}"/>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62470" name="Rectangle 7">
            <a:extLst>
              <a:ext uri="{FF2B5EF4-FFF2-40B4-BE49-F238E27FC236}">
                <a16:creationId xmlns:a16="http://schemas.microsoft.com/office/drawing/2014/main" id="{481CB0E6-2E48-087B-ACB5-E8C4C34F4AC3}"/>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2471" name="Rectangle 8">
            <a:extLst>
              <a:ext uri="{FF2B5EF4-FFF2-40B4-BE49-F238E27FC236}">
                <a16:creationId xmlns:a16="http://schemas.microsoft.com/office/drawing/2014/main" id="{CD0ACFC9-834B-9C31-A261-433E9D79CDBD}"/>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2472" name="Rectangle 9">
            <a:extLst>
              <a:ext uri="{FF2B5EF4-FFF2-40B4-BE49-F238E27FC236}">
                <a16:creationId xmlns:a16="http://schemas.microsoft.com/office/drawing/2014/main" id="{61F8AE1B-08F1-C143-F27B-29D9B6735AE5}"/>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2473" name="Rectangle 10">
            <a:extLst>
              <a:ext uri="{FF2B5EF4-FFF2-40B4-BE49-F238E27FC236}">
                <a16:creationId xmlns:a16="http://schemas.microsoft.com/office/drawing/2014/main" id="{8C4FBA71-F8A9-9259-25DD-A8D304884D58}"/>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62474" name="Rectangle 11">
            <a:extLst>
              <a:ext uri="{FF2B5EF4-FFF2-40B4-BE49-F238E27FC236}">
                <a16:creationId xmlns:a16="http://schemas.microsoft.com/office/drawing/2014/main" id="{3671A4DD-DECD-5118-C304-C45E45AA8590}"/>
              </a:ext>
            </a:extLst>
          </p:cNvPr>
          <p:cNvSpPr>
            <a:spLocks noChangeArrowheads="1"/>
          </p:cNvSpPr>
          <p:nvPr/>
        </p:nvSpPr>
        <p:spPr bwMode="auto">
          <a:xfrm>
            <a:off x="228600" y="1292225"/>
            <a:ext cx="85344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endParaRPr lang="zh-CN" altLang="en-US" baseline="0">
              <a:ea typeface="宋体" panose="02010600030101010101" pitchFamily="2" charset="-122"/>
            </a:endParaRPr>
          </a:p>
          <a:p>
            <a:pPr>
              <a:buFont typeface="Arial" panose="020B0604020202020204" pitchFamily="34" charset="0"/>
              <a:buNone/>
            </a:pPr>
            <a:r>
              <a:rPr lang="zh-CN" altLang="en-US" baseline="0">
                <a:ea typeface="宋体" panose="02010600030101010101" pitchFamily="2" charset="-122"/>
              </a:rPr>
              <a:t>我们会在第4章中看到，数字化语音通道是通过数字化4kHz带宽的模拟语音信号形成的。我们需要以最高频率的2倍对信号进行采样(即每赫兹两个样本)。我们假定每个样本需要8位。那么所需的比特率是多少？</a:t>
            </a:r>
            <a:br>
              <a:rPr lang="zh-CN" altLang="en-US" baseline="0">
                <a:ea typeface="宋体" panose="02010600030101010101" pitchFamily="2" charset="-122"/>
              </a:rPr>
            </a:br>
            <a:endParaRPr lang="zh-CN" altLang="en-US" baseline="0">
              <a:ea typeface="宋体" panose="02010600030101010101" pitchFamily="2" charset="-122"/>
            </a:endParaRP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比特率计算如下：</a:t>
            </a:r>
          </a:p>
        </p:txBody>
      </p:sp>
      <p:sp>
        <p:nvSpPr>
          <p:cNvPr id="62475" name="Text Box 12">
            <a:extLst>
              <a:ext uri="{FF2B5EF4-FFF2-40B4-BE49-F238E27FC236}">
                <a16:creationId xmlns:a16="http://schemas.microsoft.com/office/drawing/2014/main" id="{8ABDA232-7B73-2A08-DEBF-E930B7BE8347}"/>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3.19</a:t>
            </a:r>
          </a:p>
        </p:txBody>
      </p:sp>
      <p:pic>
        <p:nvPicPr>
          <p:cNvPr id="62476" name="Picture 13">
            <a:extLst>
              <a:ext uri="{FF2B5EF4-FFF2-40B4-BE49-F238E27FC236}">
                <a16:creationId xmlns:a16="http://schemas.microsoft.com/office/drawing/2014/main" id="{E99A304D-575A-8B9E-9BF5-853D486278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7613" y="5059363"/>
            <a:ext cx="4167187" cy="350837"/>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1">
            <a:extLst>
              <a:ext uri="{FF2B5EF4-FFF2-40B4-BE49-F238E27FC236}">
                <a16:creationId xmlns:a16="http://schemas.microsoft.com/office/drawing/2014/main" id="{786F128D-EFAE-5D64-A768-E171676843F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5C3FA696-F79C-481C-8DC3-51AB3B4646ED}" type="slidenum">
              <a:rPr lang="en-US" altLang="zh-CN" sz="2000" i="0" baseline="0" smtClean="0">
                <a:latin typeface="Arial" panose="020B0604020202020204" pitchFamily="34" charset="0"/>
              </a:rPr>
              <a:pPr/>
              <a:t>59</a:t>
            </a:fld>
            <a:endParaRPr lang="en-US" altLang="zh-CN" sz="2000" i="0" baseline="0">
              <a:latin typeface="Arial" panose="020B0604020202020204" pitchFamily="34" charset="0"/>
            </a:endParaRPr>
          </a:p>
        </p:txBody>
      </p:sp>
      <p:sp>
        <p:nvSpPr>
          <p:cNvPr id="63491" name="Rectangle 2">
            <a:extLst>
              <a:ext uri="{FF2B5EF4-FFF2-40B4-BE49-F238E27FC236}">
                <a16:creationId xmlns:a16="http://schemas.microsoft.com/office/drawing/2014/main" id="{A1730B7F-0F36-5EB6-5694-0F0C18EA7F7E}"/>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3492" name="Rectangle 3">
            <a:extLst>
              <a:ext uri="{FF2B5EF4-FFF2-40B4-BE49-F238E27FC236}">
                <a16:creationId xmlns:a16="http://schemas.microsoft.com/office/drawing/2014/main" id="{C9851FE6-F6CA-3BB6-FF62-DF57A5396C10}"/>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63493" name="Group 4">
            <a:extLst>
              <a:ext uri="{FF2B5EF4-FFF2-40B4-BE49-F238E27FC236}">
                <a16:creationId xmlns:a16="http://schemas.microsoft.com/office/drawing/2014/main" id="{61C570B7-BF26-4994-95C1-E956AA3AD3E4}"/>
              </a:ext>
            </a:extLst>
          </p:cNvPr>
          <p:cNvGrpSpPr>
            <a:grpSpLocks/>
          </p:cNvGrpSpPr>
          <p:nvPr/>
        </p:nvGrpSpPr>
        <p:grpSpPr bwMode="auto">
          <a:xfrm>
            <a:off x="490538" y="773113"/>
            <a:ext cx="738187" cy="474662"/>
            <a:chOff x="0" y="0"/>
            <a:chExt cx="465" cy="299"/>
          </a:xfrm>
        </p:grpSpPr>
        <p:sp>
          <p:nvSpPr>
            <p:cNvPr id="63502" name="Rectangle 5">
              <a:extLst>
                <a:ext uri="{FF2B5EF4-FFF2-40B4-BE49-F238E27FC236}">
                  <a16:creationId xmlns:a16="http://schemas.microsoft.com/office/drawing/2014/main" id="{D298EADE-3D3C-3230-0762-FF446B6BC0BA}"/>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3503" name="Rectangle 6">
              <a:extLst>
                <a:ext uri="{FF2B5EF4-FFF2-40B4-BE49-F238E27FC236}">
                  <a16:creationId xmlns:a16="http://schemas.microsoft.com/office/drawing/2014/main" id="{A1B114DB-A8DE-EB4C-385A-9A6861D52D09}"/>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63494" name="Rectangle 7">
            <a:extLst>
              <a:ext uri="{FF2B5EF4-FFF2-40B4-BE49-F238E27FC236}">
                <a16:creationId xmlns:a16="http://schemas.microsoft.com/office/drawing/2014/main" id="{E516EA0D-B338-3ECC-1278-3406ED6EACBB}"/>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3495" name="Rectangle 8">
            <a:extLst>
              <a:ext uri="{FF2B5EF4-FFF2-40B4-BE49-F238E27FC236}">
                <a16:creationId xmlns:a16="http://schemas.microsoft.com/office/drawing/2014/main" id="{3A2BF203-857E-BFFE-5F78-247F09F43031}"/>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3496" name="Rectangle 9">
            <a:extLst>
              <a:ext uri="{FF2B5EF4-FFF2-40B4-BE49-F238E27FC236}">
                <a16:creationId xmlns:a16="http://schemas.microsoft.com/office/drawing/2014/main" id="{848B9758-8236-7119-3A7C-2E6749955151}"/>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3497" name="Rectangle 10">
            <a:extLst>
              <a:ext uri="{FF2B5EF4-FFF2-40B4-BE49-F238E27FC236}">
                <a16:creationId xmlns:a16="http://schemas.microsoft.com/office/drawing/2014/main" id="{519AB07A-8586-D82F-8FB6-A0F5982453DD}"/>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63498" name="Rectangle 11">
            <a:extLst>
              <a:ext uri="{FF2B5EF4-FFF2-40B4-BE49-F238E27FC236}">
                <a16:creationId xmlns:a16="http://schemas.microsoft.com/office/drawing/2014/main" id="{DEF80766-3A9F-8993-CD2B-9BADA708AADD}"/>
              </a:ext>
            </a:extLst>
          </p:cNvPr>
          <p:cNvSpPr>
            <a:spLocks noChangeArrowheads="1"/>
          </p:cNvSpPr>
          <p:nvPr/>
        </p:nvSpPr>
        <p:spPr bwMode="auto">
          <a:xfrm>
            <a:off x="228600" y="1219200"/>
            <a:ext cx="8534400" cy="307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baseline="0">
                <a:ea typeface="宋体" panose="02010600030101010101" pitchFamily="2" charset="-122"/>
              </a:rPr>
              <a:t>高清晰电视(HDTV)的比特率是多少?</a:t>
            </a:r>
            <a:br>
              <a:rPr lang="zh-CN" altLang="en-US" baseline="0">
                <a:ea typeface="宋体" panose="02010600030101010101" pitchFamily="2" charset="-122"/>
              </a:rPr>
            </a:br>
            <a:endParaRPr lang="zh-CN" altLang="en-US" baseline="0">
              <a:ea typeface="宋体" panose="02010600030101010101" pitchFamily="2" charset="-122"/>
            </a:endParaRP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buFont typeface="Arial" panose="020B0604020202020204" pitchFamily="34" charset="0"/>
              <a:buNone/>
            </a:pPr>
            <a:r>
              <a:rPr lang="zh-CN" altLang="en-US" baseline="0">
                <a:ea typeface="宋体" panose="02010600030101010101" pitchFamily="2" charset="-122"/>
              </a:rPr>
              <a:t>         HDTV使用数字信号广播高质量视频信号。HDTV屏幕通常为 16 : 9。每屏有1920 × 1080 个像素,每秒刷新30次。24位代表一种颜色像素。我们计算比特率如下： </a:t>
            </a:r>
          </a:p>
        </p:txBody>
      </p:sp>
      <p:sp>
        <p:nvSpPr>
          <p:cNvPr id="63499" name="Text Box 12">
            <a:extLst>
              <a:ext uri="{FF2B5EF4-FFF2-40B4-BE49-F238E27FC236}">
                <a16:creationId xmlns:a16="http://schemas.microsoft.com/office/drawing/2014/main" id="{BB8E88BD-9CCE-29A9-E796-DAE580C8651B}"/>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3.20</a:t>
            </a:r>
          </a:p>
        </p:txBody>
      </p:sp>
      <p:sp>
        <p:nvSpPr>
          <p:cNvPr id="63500" name="Rectangle 13">
            <a:extLst>
              <a:ext uri="{FF2B5EF4-FFF2-40B4-BE49-F238E27FC236}">
                <a16:creationId xmlns:a16="http://schemas.microsoft.com/office/drawing/2014/main" id="{F462C4BE-8BFA-319B-D741-CCE2BAF3FEB1}"/>
              </a:ext>
            </a:extLst>
          </p:cNvPr>
          <p:cNvSpPr>
            <a:spLocks noChangeArrowheads="1"/>
          </p:cNvSpPr>
          <p:nvPr/>
        </p:nvSpPr>
        <p:spPr bwMode="auto">
          <a:xfrm>
            <a:off x="304800" y="5530850"/>
            <a:ext cx="85344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电视台通过压缩把比特率降为20Mbps到40Mbps。</a:t>
            </a:r>
          </a:p>
        </p:txBody>
      </p:sp>
      <p:pic>
        <p:nvPicPr>
          <p:cNvPr id="63501" name="Picture 14">
            <a:extLst>
              <a:ext uri="{FF2B5EF4-FFF2-40B4-BE49-F238E27FC236}">
                <a16:creationId xmlns:a16="http://schemas.microsoft.com/office/drawing/2014/main" id="{ADC3A842-A0B2-2480-9AAD-B720096AF7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4648200"/>
            <a:ext cx="5930900" cy="341313"/>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1">
            <a:extLst>
              <a:ext uri="{FF2B5EF4-FFF2-40B4-BE49-F238E27FC236}">
                <a16:creationId xmlns:a16="http://schemas.microsoft.com/office/drawing/2014/main" id="{EE955B44-EE97-77DD-A6BA-03B5371AF94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201CDF14-05E8-410D-8476-FC51C476B5F0}" type="slidenum">
              <a:rPr lang="en-US" altLang="zh-CN" sz="2000" i="0" baseline="0" smtClean="0">
                <a:latin typeface="Arial" panose="020B0604020202020204" pitchFamily="34" charset="0"/>
              </a:rPr>
              <a:pPr/>
              <a:t>60</a:t>
            </a:fld>
            <a:endParaRPr lang="en-US" altLang="zh-CN" sz="2000" i="0" baseline="0">
              <a:latin typeface="Arial" panose="020B0604020202020204" pitchFamily="34" charset="0"/>
            </a:endParaRPr>
          </a:p>
        </p:txBody>
      </p:sp>
      <p:sp>
        <p:nvSpPr>
          <p:cNvPr id="64515" name="Rectangle 2">
            <a:extLst>
              <a:ext uri="{FF2B5EF4-FFF2-40B4-BE49-F238E27FC236}">
                <a16:creationId xmlns:a16="http://schemas.microsoft.com/office/drawing/2014/main" id="{43E4D6A8-350E-39A8-DC77-CDE3FC4AEEDE}"/>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4516" name="Rectangle 3">
            <a:extLst>
              <a:ext uri="{FF2B5EF4-FFF2-40B4-BE49-F238E27FC236}">
                <a16:creationId xmlns:a16="http://schemas.microsoft.com/office/drawing/2014/main" id="{DE81687F-EFCE-284D-5E4A-2309DB6CB4F1}"/>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4517" name="Rectangle 4">
            <a:extLst>
              <a:ext uri="{FF2B5EF4-FFF2-40B4-BE49-F238E27FC236}">
                <a16:creationId xmlns:a16="http://schemas.microsoft.com/office/drawing/2014/main" id="{4EEA4407-A4B3-BDAF-D486-9830D33CC97D}"/>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4518" name="Rectangle 5">
            <a:extLst>
              <a:ext uri="{FF2B5EF4-FFF2-40B4-BE49-F238E27FC236}">
                <a16:creationId xmlns:a16="http://schemas.microsoft.com/office/drawing/2014/main" id="{3E300A77-D1D5-4371-F7B4-DDBF26385953}"/>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4519" name="Rectangle 6">
            <a:extLst>
              <a:ext uri="{FF2B5EF4-FFF2-40B4-BE49-F238E27FC236}">
                <a16:creationId xmlns:a16="http://schemas.microsoft.com/office/drawing/2014/main" id="{2F8048B2-8D54-3977-F10A-CFEE8FE0F865}"/>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4520" name="Rectangle 7">
            <a:extLst>
              <a:ext uri="{FF2B5EF4-FFF2-40B4-BE49-F238E27FC236}">
                <a16:creationId xmlns:a16="http://schemas.microsoft.com/office/drawing/2014/main" id="{1D0C1D29-BB0E-94AB-6606-12AAC7F0EFC9}"/>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4521" name="Rectangle 8">
            <a:extLst>
              <a:ext uri="{FF2B5EF4-FFF2-40B4-BE49-F238E27FC236}">
                <a16:creationId xmlns:a16="http://schemas.microsoft.com/office/drawing/2014/main" id="{8316A607-60B2-664F-781D-BE776F67D7B0}"/>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4522" name="Line 9">
            <a:extLst>
              <a:ext uri="{FF2B5EF4-FFF2-40B4-BE49-F238E27FC236}">
                <a16:creationId xmlns:a16="http://schemas.microsoft.com/office/drawing/2014/main" id="{24563552-866A-C5AA-E9FE-673A8499C931}"/>
              </a:ext>
            </a:extLst>
          </p:cNvPr>
          <p:cNvSpPr>
            <a:spLocks noChangeShapeType="1"/>
          </p:cNvSpPr>
          <p:nvPr/>
        </p:nvSpPr>
        <p:spPr bwMode="auto">
          <a:xfrm>
            <a:off x="457200" y="2590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23" name="Line 10">
            <a:extLst>
              <a:ext uri="{FF2B5EF4-FFF2-40B4-BE49-F238E27FC236}">
                <a16:creationId xmlns:a16="http://schemas.microsoft.com/office/drawing/2014/main" id="{7581B148-3A43-ECC7-C899-5D12C5925571}"/>
              </a:ext>
            </a:extLst>
          </p:cNvPr>
          <p:cNvSpPr>
            <a:spLocks noChangeShapeType="1"/>
          </p:cNvSpPr>
          <p:nvPr/>
        </p:nvSpPr>
        <p:spPr bwMode="auto">
          <a:xfrm>
            <a:off x="457200" y="5257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4524" name="Group 12">
            <a:extLst>
              <a:ext uri="{FF2B5EF4-FFF2-40B4-BE49-F238E27FC236}">
                <a16:creationId xmlns:a16="http://schemas.microsoft.com/office/drawing/2014/main" id="{631953DD-0441-33A5-79F2-99C18BD645DF}"/>
              </a:ext>
            </a:extLst>
          </p:cNvPr>
          <p:cNvGrpSpPr>
            <a:grpSpLocks/>
          </p:cNvGrpSpPr>
          <p:nvPr/>
        </p:nvGrpSpPr>
        <p:grpSpPr bwMode="auto">
          <a:xfrm>
            <a:off x="457200" y="1981200"/>
            <a:ext cx="1143000" cy="566738"/>
            <a:chOff x="0" y="0"/>
            <a:chExt cx="720" cy="357"/>
          </a:xfrm>
        </p:grpSpPr>
        <p:pic>
          <p:nvPicPr>
            <p:cNvPr id="64526" name="Picture 13">
              <a:extLst>
                <a:ext uri="{FF2B5EF4-FFF2-40B4-BE49-F238E27FC236}">
                  <a16:creationId xmlns:a16="http://schemas.microsoft.com/office/drawing/2014/main" id="{6F050433-2FB1-FD54-114C-DF751A132E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7" name="Text Box 14">
              <a:extLst>
                <a:ext uri="{FF2B5EF4-FFF2-40B4-BE49-F238E27FC236}">
                  <a16:creationId xmlns:a16="http://schemas.microsoft.com/office/drawing/2014/main" id="{471E3CCF-1665-D168-D369-0F0070265DE3}"/>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
        <p:nvSpPr>
          <p:cNvPr id="64525" name="Rectangle 15">
            <a:extLst>
              <a:ext uri="{FF2B5EF4-FFF2-40B4-BE49-F238E27FC236}">
                <a16:creationId xmlns:a16="http://schemas.microsoft.com/office/drawing/2014/main" id="{6C8F9B80-11E6-9C9F-A531-5805157F0A30}"/>
              </a:ext>
            </a:extLst>
          </p:cNvPr>
          <p:cNvSpPr>
            <a:spLocks noChangeArrowheads="1"/>
          </p:cNvSpPr>
          <p:nvPr/>
        </p:nvSpPr>
        <p:spPr bwMode="auto">
          <a:xfrm>
            <a:off x="457200" y="2667000"/>
            <a:ext cx="8077200" cy="255428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数字信号是一种复合模拟信号，基于傅里叶分析，带宽是无穷大的。</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水平线段无变化，频率为</a:t>
            </a:r>
            <a:r>
              <a:rPr lang="en-US" altLang="zh-CN" sz="3200" i="0" baseline="0">
                <a:latin typeface="Arial" panose="020B0604020202020204" pitchFamily="34" charset="0"/>
                <a:ea typeface="宋体" panose="02010600030101010101" pitchFamily="2" charset="-122"/>
              </a:rPr>
              <a:t>0</a:t>
            </a:r>
            <a:r>
              <a:rPr lang="zh-CN" altLang="en-US" sz="3200" i="0" baseline="0">
                <a:latin typeface="Arial" panose="020B0604020202020204" pitchFamily="34" charset="0"/>
                <a:ea typeface="宋体" panose="02010600030101010101" pitchFamily="2" charset="-122"/>
              </a:rPr>
              <a:t>，垂直线段突变，频率无穷大，所以整体带宽是无穷大。</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1">
            <a:extLst>
              <a:ext uri="{FF2B5EF4-FFF2-40B4-BE49-F238E27FC236}">
                <a16:creationId xmlns:a16="http://schemas.microsoft.com/office/drawing/2014/main" id="{BD347F67-CB6D-C6D9-2CA5-BB160968588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85506C89-A6E0-4E04-9A92-5F19E99C5C51}" type="slidenum">
              <a:rPr lang="en-US" altLang="zh-CN" sz="2000" i="0" baseline="0" smtClean="0">
                <a:latin typeface="Arial" panose="020B0604020202020204" pitchFamily="34" charset="0"/>
              </a:rPr>
              <a:pPr/>
              <a:t>61</a:t>
            </a:fld>
            <a:endParaRPr lang="en-US" altLang="zh-CN" sz="2000" i="0" baseline="0">
              <a:latin typeface="Arial" panose="020B0604020202020204" pitchFamily="34" charset="0"/>
            </a:endParaRPr>
          </a:p>
        </p:txBody>
      </p:sp>
      <p:sp>
        <p:nvSpPr>
          <p:cNvPr id="65539" name="Line 2">
            <a:extLst>
              <a:ext uri="{FF2B5EF4-FFF2-40B4-BE49-F238E27FC236}">
                <a16:creationId xmlns:a16="http://schemas.microsoft.com/office/drawing/2014/main" id="{10FE1F01-B475-1F9C-7BD3-106F76618BAD}"/>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0" name="Line 3">
            <a:extLst>
              <a:ext uri="{FF2B5EF4-FFF2-40B4-BE49-F238E27FC236}">
                <a16:creationId xmlns:a16="http://schemas.microsoft.com/office/drawing/2014/main" id="{17D3E733-B71E-4259-E260-1DC024A4D29A}"/>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41" name="Text Box 4">
            <a:extLst>
              <a:ext uri="{FF2B5EF4-FFF2-40B4-BE49-F238E27FC236}">
                <a16:creationId xmlns:a16="http://schemas.microsoft.com/office/drawing/2014/main" id="{BDAFA85A-B9F3-DEAA-5156-27A9D06D6A78}"/>
              </a:ext>
            </a:extLst>
          </p:cNvPr>
          <p:cNvSpPr txBox="1">
            <a:spLocks noChangeArrowheads="1"/>
          </p:cNvSpPr>
          <p:nvPr/>
        </p:nvSpPr>
        <p:spPr bwMode="auto">
          <a:xfrm>
            <a:off x="304800" y="152400"/>
            <a:ext cx="6329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3.17  </a:t>
            </a:r>
            <a:r>
              <a:rPr lang="zh-CN" altLang="en-US" sz="2000" baseline="0">
                <a:ea typeface="宋体" panose="02010600030101010101" pitchFamily="2" charset="-122"/>
              </a:rPr>
              <a:t>周期数字信号和非周期数字信号的时域和频域</a:t>
            </a:r>
          </a:p>
        </p:txBody>
      </p:sp>
      <p:sp>
        <p:nvSpPr>
          <p:cNvPr id="65542" name="Line 5">
            <a:extLst>
              <a:ext uri="{FF2B5EF4-FFF2-40B4-BE49-F238E27FC236}">
                <a16:creationId xmlns:a16="http://schemas.microsoft.com/office/drawing/2014/main" id="{1BD070B8-19A4-5A92-95AF-62EFD8E29AB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5543" name="Picture 6">
            <a:extLst>
              <a:ext uri="{FF2B5EF4-FFF2-40B4-BE49-F238E27FC236}">
                <a16:creationId xmlns:a16="http://schemas.microsoft.com/office/drawing/2014/main" id="{1D83DE5E-9C3D-5AFC-42DD-38B8B2E83C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143000"/>
            <a:ext cx="8720138" cy="471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4" name="Text Box 7">
            <a:extLst>
              <a:ext uri="{FF2B5EF4-FFF2-40B4-BE49-F238E27FC236}">
                <a16:creationId xmlns:a16="http://schemas.microsoft.com/office/drawing/2014/main" id="{494FD282-85BA-BF6A-09B9-4E55ADA7D22D}"/>
              </a:ext>
            </a:extLst>
          </p:cNvPr>
          <p:cNvSpPr txBox="1">
            <a:spLocks noChangeArrowheads="1"/>
          </p:cNvSpPr>
          <p:nvPr/>
        </p:nvSpPr>
        <p:spPr bwMode="auto">
          <a:xfrm>
            <a:off x="134938" y="3365500"/>
            <a:ext cx="7027862"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a:ea typeface="宋体" panose="02010600030101010101" pitchFamily="2" charset="-122"/>
              </a:rPr>
              <a:t>a.周期数字信号（数据通信很少见）的时域和频域（带宽无穷，频域离散）</a:t>
            </a:r>
          </a:p>
        </p:txBody>
      </p:sp>
      <p:sp>
        <p:nvSpPr>
          <p:cNvPr id="65545" name="Text Box 8">
            <a:extLst>
              <a:ext uri="{FF2B5EF4-FFF2-40B4-BE49-F238E27FC236}">
                <a16:creationId xmlns:a16="http://schemas.microsoft.com/office/drawing/2014/main" id="{C94B7F21-3E0D-9176-1598-41B9DB876932}"/>
              </a:ext>
            </a:extLst>
          </p:cNvPr>
          <p:cNvSpPr txBox="1">
            <a:spLocks noChangeArrowheads="1"/>
          </p:cNvSpPr>
          <p:nvPr/>
        </p:nvSpPr>
        <p:spPr bwMode="auto">
          <a:xfrm>
            <a:off x="228600" y="5638800"/>
            <a:ext cx="5867400"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a:ea typeface="宋体" panose="02010600030101010101" pitchFamily="2" charset="-122"/>
              </a:rPr>
              <a:t>b.非周期数字信号的时域和频域（带宽无穷，频域连续）</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1">
            <a:extLst>
              <a:ext uri="{FF2B5EF4-FFF2-40B4-BE49-F238E27FC236}">
                <a16:creationId xmlns:a16="http://schemas.microsoft.com/office/drawing/2014/main" id="{C90A2F63-9C31-8B70-EDFE-8F4BDE3CBBB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8EA771F2-182E-4D01-9A84-CB6E9E909AF6}" type="slidenum">
              <a:rPr lang="en-US" altLang="zh-CN" sz="2000" i="0" baseline="0" smtClean="0">
                <a:latin typeface="Arial" panose="020B0604020202020204" pitchFamily="34" charset="0"/>
              </a:rPr>
              <a:pPr/>
              <a:t>62</a:t>
            </a:fld>
            <a:endParaRPr lang="en-US" altLang="zh-CN" sz="2000" i="0" baseline="0">
              <a:latin typeface="Arial" panose="020B0604020202020204" pitchFamily="34" charset="0"/>
            </a:endParaRPr>
          </a:p>
        </p:txBody>
      </p:sp>
      <p:sp>
        <p:nvSpPr>
          <p:cNvPr id="66563" name="Rectangle 2">
            <a:extLst>
              <a:ext uri="{FF2B5EF4-FFF2-40B4-BE49-F238E27FC236}">
                <a16:creationId xmlns:a16="http://schemas.microsoft.com/office/drawing/2014/main" id="{142F78E3-91C7-F850-7B31-2BDCC4A544B4}"/>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6564" name="Rectangle 3">
            <a:extLst>
              <a:ext uri="{FF2B5EF4-FFF2-40B4-BE49-F238E27FC236}">
                <a16:creationId xmlns:a16="http://schemas.microsoft.com/office/drawing/2014/main" id="{743E90A9-5211-940D-BB74-B7B8E914A164}"/>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6565" name="Rectangle 4">
            <a:extLst>
              <a:ext uri="{FF2B5EF4-FFF2-40B4-BE49-F238E27FC236}">
                <a16:creationId xmlns:a16="http://schemas.microsoft.com/office/drawing/2014/main" id="{B1ADA357-F211-EA7B-E752-21195F78BECD}"/>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6566" name="Rectangle 5">
            <a:extLst>
              <a:ext uri="{FF2B5EF4-FFF2-40B4-BE49-F238E27FC236}">
                <a16:creationId xmlns:a16="http://schemas.microsoft.com/office/drawing/2014/main" id="{FAF40863-3C29-107D-3AD2-7ABB617A6C2D}"/>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6567" name="Rectangle 6">
            <a:extLst>
              <a:ext uri="{FF2B5EF4-FFF2-40B4-BE49-F238E27FC236}">
                <a16:creationId xmlns:a16="http://schemas.microsoft.com/office/drawing/2014/main" id="{F07C634D-7EAC-C97A-15B3-406911E5F845}"/>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6568" name="Rectangle 7">
            <a:extLst>
              <a:ext uri="{FF2B5EF4-FFF2-40B4-BE49-F238E27FC236}">
                <a16:creationId xmlns:a16="http://schemas.microsoft.com/office/drawing/2014/main" id="{10EB6BD3-4A88-3820-26FF-CA748B35CDAA}"/>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6569" name="Rectangle 8">
            <a:extLst>
              <a:ext uri="{FF2B5EF4-FFF2-40B4-BE49-F238E27FC236}">
                <a16:creationId xmlns:a16="http://schemas.microsoft.com/office/drawing/2014/main" id="{3F9BD165-D84D-6A23-D674-0A0827EC2755}"/>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6570" name="Line 9">
            <a:extLst>
              <a:ext uri="{FF2B5EF4-FFF2-40B4-BE49-F238E27FC236}">
                <a16:creationId xmlns:a16="http://schemas.microsoft.com/office/drawing/2014/main" id="{D60C04A7-30D9-AB1B-67C4-562F606516FA}"/>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71" name="Line 10">
            <a:extLst>
              <a:ext uri="{FF2B5EF4-FFF2-40B4-BE49-F238E27FC236}">
                <a16:creationId xmlns:a16="http://schemas.microsoft.com/office/drawing/2014/main" id="{304B87A6-D2F2-FEDA-AF70-D23541DD791B}"/>
              </a:ext>
            </a:extLst>
          </p:cNvPr>
          <p:cNvSpPr>
            <a:spLocks noChangeShapeType="1"/>
          </p:cNvSpPr>
          <p:nvPr/>
        </p:nvSpPr>
        <p:spPr bwMode="auto">
          <a:xfrm>
            <a:off x="457200" y="5715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72" name="Rectangle 11">
            <a:extLst>
              <a:ext uri="{FF2B5EF4-FFF2-40B4-BE49-F238E27FC236}">
                <a16:creationId xmlns:a16="http://schemas.microsoft.com/office/drawing/2014/main" id="{B5E3C218-CDF5-98CA-303F-55596759F606}"/>
              </a:ext>
            </a:extLst>
          </p:cNvPr>
          <p:cNvSpPr>
            <a:spLocks noChangeArrowheads="1"/>
          </p:cNvSpPr>
          <p:nvPr/>
        </p:nvSpPr>
        <p:spPr bwMode="auto">
          <a:xfrm>
            <a:off x="457200" y="3063875"/>
            <a:ext cx="8077200" cy="255428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数字信号的传输</a:t>
            </a:r>
            <a:endParaRPr lang="en-US" altLang="zh-CN" sz="3200" i="0" baseline="0">
              <a:latin typeface="Arial" panose="020B0604020202020204" pitchFamily="34" charset="0"/>
              <a:ea typeface="宋体" panose="02010600030101010101" pitchFamily="2" charset="-122"/>
            </a:endParaRPr>
          </a:p>
          <a:p>
            <a:pPr algn="ctr">
              <a:buFont typeface="Arial" panose="020B0604020202020204" pitchFamily="34" charset="0"/>
              <a:buNone/>
            </a:pP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en-US" altLang="zh-CN" sz="3200" i="0" baseline="0">
                <a:latin typeface="Arial" panose="020B0604020202020204" pitchFamily="34" charset="0"/>
                <a:ea typeface="宋体" panose="02010600030101010101" pitchFamily="2" charset="-122"/>
              </a:rPr>
              <a:t>1</a:t>
            </a:r>
            <a:r>
              <a:rPr lang="zh-CN" altLang="en-US" sz="3200" i="0" baseline="0">
                <a:latin typeface="Arial" panose="020B0604020202020204" pitchFamily="34" charset="0"/>
                <a:ea typeface="宋体" panose="02010600030101010101" pitchFamily="2" charset="-122"/>
              </a:rPr>
              <a:t>）讨论非周期数字信号的情况，是数据通信中常见的信号形式；</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en-US" altLang="zh-CN" sz="3200" i="0" baseline="0">
                <a:latin typeface="Arial" panose="020B0604020202020204" pitchFamily="34" charset="0"/>
                <a:ea typeface="宋体" panose="02010600030101010101" pitchFamily="2" charset="-122"/>
              </a:rPr>
              <a:t>2</a:t>
            </a:r>
            <a:r>
              <a:rPr lang="zh-CN" altLang="en-US" sz="3200" i="0" baseline="0">
                <a:latin typeface="Arial" panose="020B0604020202020204" pitchFamily="34" charset="0"/>
                <a:ea typeface="宋体" panose="02010600030101010101" pitchFamily="2" charset="-122"/>
              </a:rPr>
              <a:t>）基带传输</a:t>
            </a:r>
            <a:r>
              <a:rPr lang="en-US" altLang="zh-CN" sz="3200" i="0" baseline="0">
                <a:latin typeface="Arial" panose="020B0604020202020204" pitchFamily="34" charset="0"/>
                <a:ea typeface="宋体" panose="02010600030101010101" pitchFamily="2" charset="-122"/>
              </a:rPr>
              <a:t>vs</a:t>
            </a:r>
            <a:r>
              <a:rPr lang="zh-CN" altLang="en-US" sz="3200" i="0" baseline="0">
                <a:latin typeface="Arial" panose="020B0604020202020204" pitchFamily="34" charset="0"/>
                <a:ea typeface="宋体" panose="02010600030101010101" pitchFamily="2" charset="-122"/>
              </a:rPr>
              <a:t>宽带传输。</a:t>
            </a:r>
          </a:p>
        </p:txBody>
      </p:sp>
      <p:grpSp>
        <p:nvGrpSpPr>
          <p:cNvPr id="66573" name="Group 12">
            <a:extLst>
              <a:ext uri="{FF2B5EF4-FFF2-40B4-BE49-F238E27FC236}">
                <a16:creationId xmlns:a16="http://schemas.microsoft.com/office/drawing/2014/main" id="{76F628B8-49C0-B1D5-F8C6-8C7244331984}"/>
              </a:ext>
            </a:extLst>
          </p:cNvPr>
          <p:cNvGrpSpPr>
            <a:grpSpLocks/>
          </p:cNvGrpSpPr>
          <p:nvPr/>
        </p:nvGrpSpPr>
        <p:grpSpPr bwMode="auto">
          <a:xfrm>
            <a:off x="457200" y="2362200"/>
            <a:ext cx="1143000" cy="566738"/>
            <a:chOff x="0" y="0"/>
            <a:chExt cx="720" cy="357"/>
          </a:xfrm>
        </p:grpSpPr>
        <p:pic>
          <p:nvPicPr>
            <p:cNvPr id="66574" name="Picture 13">
              <a:extLst>
                <a:ext uri="{FF2B5EF4-FFF2-40B4-BE49-F238E27FC236}">
                  <a16:creationId xmlns:a16="http://schemas.microsoft.com/office/drawing/2014/main" id="{CADA5229-8D19-6D26-B99E-459AAB5DF4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75" name="Text Box 14">
              <a:extLst>
                <a:ext uri="{FF2B5EF4-FFF2-40B4-BE49-F238E27FC236}">
                  <a16:creationId xmlns:a16="http://schemas.microsoft.com/office/drawing/2014/main" id="{8BA0F6B6-DB3B-52CE-CDD0-373BA197AE62}"/>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1">
            <a:extLst>
              <a:ext uri="{FF2B5EF4-FFF2-40B4-BE49-F238E27FC236}">
                <a16:creationId xmlns:a16="http://schemas.microsoft.com/office/drawing/2014/main" id="{861858D5-7A83-9C0B-3D76-B24635E2A63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8CDCD2D9-5938-4C21-8277-48B138259022}" type="slidenum">
              <a:rPr lang="en-US" altLang="zh-CN" sz="2000" i="0" baseline="0" smtClean="0">
                <a:latin typeface="Arial" panose="020B0604020202020204" pitchFamily="34" charset="0"/>
              </a:rPr>
              <a:pPr/>
              <a:t>63</a:t>
            </a:fld>
            <a:endParaRPr lang="en-US" altLang="zh-CN" sz="2000" i="0" baseline="0">
              <a:latin typeface="Arial" panose="020B0604020202020204" pitchFamily="34" charset="0"/>
            </a:endParaRPr>
          </a:p>
        </p:txBody>
      </p:sp>
      <p:sp>
        <p:nvSpPr>
          <p:cNvPr id="67587" name="Line 2">
            <a:extLst>
              <a:ext uri="{FF2B5EF4-FFF2-40B4-BE49-F238E27FC236}">
                <a16:creationId xmlns:a16="http://schemas.microsoft.com/office/drawing/2014/main" id="{F43471A4-AA15-278E-3C72-765575596AC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88" name="Line 3">
            <a:extLst>
              <a:ext uri="{FF2B5EF4-FFF2-40B4-BE49-F238E27FC236}">
                <a16:creationId xmlns:a16="http://schemas.microsoft.com/office/drawing/2014/main" id="{24CD7FBC-21BE-02FC-D90E-4754725AA570}"/>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89" name="Text Box 4">
            <a:extLst>
              <a:ext uri="{FF2B5EF4-FFF2-40B4-BE49-F238E27FC236}">
                <a16:creationId xmlns:a16="http://schemas.microsoft.com/office/drawing/2014/main" id="{A7F9BF1E-155B-9929-730D-0DC846A5DED1}"/>
              </a:ext>
            </a:extLst>
          </p:cNvPr>
          <p:cNvSpPr txBox="1">
            <a:spLocks noChangeArrowheads="1"/>
          </p:cNvSpPr>
          <p:nvPr/>
        </p:nvSpPr>
        <p:spPr bwMode="auto">
          <a:xfrm>
            <a:off x="304800" y="381000"/>
            <a:ext cx="2265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3.18  </a:t>
            </a:r>
            <a:r>
              <a:rPr lang="zh-CN" altLang="en-US" sz="2000" baseline="0">
                <a:ea typeface="宋体" panose="02010600030101010101" pitchFamily="2" charset="-122"/>
              </a:rPr>
              <a:t>基带传输</a:t>
            </a:r>
          </a:p>
        </p:txBody>
      </p:sp>
      <p:sp>
        <p:nvSpPr>
          <p:cNvPr id="67590" name="Line 5">
            <a:extLst>
              <a:ext uri="{FF2B5EF4-FFF2-40B4-BE49-F238E27FC236}">
                <a16:creationId xmlns:a16="http://schemas.microsoft.com/office/drawing/2014/main" id="{82BA3765-6A77-0330-7279-C08AE388E8EA}"/>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7591" name="Picture 6">
            <a:extLst>
              <a:ext uri="{FF2B5EF4-FFF2-40B4-BE49-F238E27FC236}">
                <a16:creationId xmlns:a16="http://schemas.microsoft.com/office/drawing/2014/main" id="{11FAEC02-227D-B860-F231-021127319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13" y="2719388"/>
            <a:ext cx="6681787" cy="170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2" name="矩形 7">
            <a:extLst>
              <a:ext uri="{FF2B5EF4-FFF2-40B4-BE49-F238E27FC236}">
                <a16:creationId xmlns:a16="http://schemas.microsoft.com/office/drawing/2014/main" id="{3A0F98C8-42BD-6090-7133-ED25629C31FC}"/>
              </a:ext>
            </a:extLst>
          </p:cNvPr>
          <p:cNvSpPr>
            <a:spLocks noChangeArrowheads="1"/>
          </p:cNvSpPr>
          <p:nvPr/>
        </p:nvSpPr>
        <p:spPr bwMode="auto">
          <a:xfrm>
            <a:off x="1600200" y="1295400"/>
            <a:ext cx="5181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600">
                <a:ea typeface="宋体" panose="02010600030101010101" pitchFamily="2" charset="-122"/>
              </a:rPr>
              <a:t>基带传输就是通过通道发送数字信号，该信号不转换成模拟信号。</a:t>
            </a:r>
          </a:p>
        </p:txBody>
      </p:sp>
      <p:sp>
        <p:nvSpPr>
          <p:cNvPr id="67593" name="矩形 8">
            <a:extLst>
              <a:ext uri="{FF2B5EF4-FFF2-40B4-BE49-F238E27FC236}">
                <a16:creationId xmlns:a16="http://schemas.microsoft.com/office/drawing/2014/main" id="{9B7C2E41-0401-6DF9-ADCE-BA8E855BFAA4}"/>
              </a:ext>
            </a:extLst>
          </p:cNvPr>
          <p:cNvSpPr>
            <a:spLocks noChangeArrowheads="1"/>
          </p:cNvSpPr>
          <p:nvPr/>
        </p:nvSpPr>
        <p:spPr bwMode="auto">
          <a:xfrm>
            <a:off x="1752600" y="4579938"/>
            <a:ext cx="5334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600">
                <a:ea typeface="宋体" panose="02010600030101010101" pitchFamily="2" charset="-122"/>
              </a:rPr>
              <a:t>基带传输需要一个带宽下限频率为</a:t>
            </a:r>
            <a:r>
              <a:rPr lang="en-US" altLang="zh-CN" sz="3600">
                <a:ea typeface="宋体" panose="02010600030101010101" pitchFamily="2" charset="-122"/>
              </a:rPr>
              <a:t>0</a:t>
            </a:r>
            <a:r>
              <a:rPr lang="zh-CN" altLang="en-US" sz="3600">
                <a:ea typeface="宋体" panose="02010600030101010101" pitchFamily="2" charset="-122"/>
              </a:rPr>
              <a:t>的低通通道，即带宽从</a:t>
            </a:r>
            <a:r>
              <a:rPr lang="en-US" altLang="zh-CN" sz="3600">
                <a:ea typeface="宋体" panose="02010600030101010101" pitchFamily="2" charset="-122"/>
              </a:rPr>
              <a:t>0</a:t>
            </a:r>
            <a:r>
              <a:rPr lang="zh-CN" altLang="en-US" sz="3600">
                <a:ea typeface="宋体" panose="02010600030101010101" pitchFamily="2" charset="-122"/>
              </a:rPr>
              <a:t>开始的通道。</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1">
            <a:extLst>
              <a:ext uri="{FF2B5EF4-FFF2-40B4-BE49-F238E27FC236}">
                <a16:creationId xmlns:a16="http://schemas.microsoft.com/office/drawing/2014/main" id="{3DF03945-D919-052E-6275-B68B235189F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F50D6788-401A-429F-8699-4E6363E9EBF5}" type="slidenum">
              <a:rPr lang="en-US" altLang="zh-CN" sz="2000" i="0" baseline="0" smtClean="0">
                <a:latin typeface="Arial" panose="020B0604020202020204" pitchFamily="34" charset="0"/>
              </a:rPr>
              <a:pPr/>
              <a:t>64</a:t>
            </a:fld>
            <a:endParaRPr lang="en-US" altLang="zh-CN" sz="2000" i="0" baseline="0">
              <a:latin typeface="Arial" panose="020B0604020202020204" pitchFamily="34" charset="0"/>
            </a:endParaRPr>
          </a:p>
        </p:txBody>
      </p:sp>
      <p:sp>
        <p:nvSpPr>
          <p:cNvPr id="68611" name="Rectangle 2">
            <a:extLst>
              <a:ext uri="{FF2B5EF4-FFF2-40B4-BE49-F238E27FC236}">
                <a16:creationId xmlns:a16="http://schemas.microsoft.com/office/drawing/2014/main" id="{EE41CB13-4FBE-B611-A931-37A4FE28807A}"/>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8612" name="Rectangle 3">
            <a:extLst>
              <a:ext uri="{FF2B5EF4-FFF2-40B4-BE49-F238E27FC236}">
                <a16:creationId xmlns:a16="http://schemas.microsoft.com/office/drawing/2014/main" id="{3AEC528E-8B16-D379-A556-EEB8CD064479}"/>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8613" name="Rectangle 4">
            <a:extLst>
              <a:ext uri="{FF2B5EF4-FFF2-40B4-BE49-F238E27FC236}">
                <a16:creationId xmlns:a16="http://schemas.microsoft.com/office/drawing/2014/main" id="{DA28D891-CE54-C61A-2EF2-41B117F674CB}"/>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8614" name="Rectangle 5">
            <a:extLst>
              <a:ext uri="{FF2B5EF4-FFF2-40B4-BE49-F238E27FC236}">
                <a16:creationId xmlns:a16="http://schemas.microsoft.com/office/drawing/2014/main" id="{E439BDFE-E511-0235-269F-CD788B11A6B0}"/>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8615" name="Rectangle 6">
            <a:extLst>
              <a:ext uri="{FF2B5EF4-FFF2-40B4-BE49-F238E27FC236}">
                <a16:creationId xmlns:a16="http://schemas.microsoft.com/office/drawing/2014/main" id="{A65258E6-5423-6998-1E85-3D221D08D567}"/>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8616" name="Rectangle 7">
            <a:extLst>
              <a:ext uri="{FF2B5EF4-FFF2-40B4-BE49-F238E27FC236}">
                <a16:creationId xmlns:a16="http://schemas.microsoft.com/office/drawing/2014/main" id="{17BBD5B3-5DC9-FDDD-A33D-7F49820C1B8D}"/>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8617" name="Rectangle 8">
            <a:extLst>
              <a:ext uri="{FF2B5EF4-FFF2-40B4-BE49-F238E27FC236}">
                <a16:creationId xmlns:a16="http://schemas.microsoft.com/office/drawing/2014/main" id="{FF41068B-1F53-1205-6155-17194F21D094}"/>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68618" name="Line 9">
            <a:extLst>
              <a:ext uri="{FF2B5EF4-FFF2-40B4-BE49-F238E27FC236}">
                <a16:creationId xmlns:a16="http://schemas.microsoft.com/office/drawing/2014/main" id="{9CAA4CED-3BFE-477A-596C-10273EE13F15}"/>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19" name="Line 10">
            <a:extLst>
              <a:ext uri="{FF2B5EF4-FFF2-40B4-BE49-F238E27FC236}">
                <a16:creationId xmlns:a16="http://schemas.microsoft.com/office/drawing/2014/main" id="{371D4DAF-64B8-8D0B-2CAB-86730316914B}"/>
              </a:ext>
            </a:extLst>
          </p:cNvPr>
          <p:cNvSpPr>
            <a:spLocks noChangeShapeType="1"/>
          </p:cNvSpPr>
          <p:nvPr/>
        </p:nvSpPr>
        <p:spPr bwMode="auto">
          <a:xfrm>
            <a:off x="457200" y="3733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0" name="Rectangle 11">
            <a:extLst>
              <a:ext uri="{FF2B5EF4-FFF2-40B4-BE49-F238E27FC236}">
                <a16:creationId xmlns:a16="http://schemas.microsoft.com/office/drawing/2014/main" id="{E28458DD-61E5-C286-AC90-B0301B85F7A3}"/>
              </a:ext>
            </a:extLst>
          </p:cNvPr>
          <p:cNvSpPr>
            <a:spLocks noChangeArrowheads="1"/>
          </p:cNvSpPr>
          <p:nvPr/>
        </p:nvSpPr>
        <p:spPr bwMode="auto">
          <a:xfrm>
            <a:off x="495300" y="3063875"/>
            <a:ext cx="8077200" cy="5794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数字信号是无穷大带宽的复合模拟信号。</a:t>
            </a:r>
          </a:p>
        </p:txBody>
      </p:sp>
      <p:grpSp>
        <p:nvGrpSpPr>
          <p:cNvPr id="68621" name="Group 12">
            <a:extLst>
              <a:ext uri="{FF2B5EF4-FFF2-40B4-BE49-F238E27FC236}">
                <a16:creationId xmlns:a16="http://schemas.microsoft.com/office/drawing/2014/main" id="{DAE2C074-75FC-558B-CD56-92ABEF0A4CE0}"/>
              </a:ext>
            </a:extLst>
          </p:cNvPr>
          <p:cNvGrpSpPr>
            <a:grpSpLocks/>
          </p:cNvGrpSpPr>
          <p:nvPr/>
        </p:nvGrpSpPr>
        <p:grpSpPr bwMode="auto">
          <a:xfrm>
            <a:off x="457200" y="2362200"/>
            <a:ext cx="1143000" cy="566738"/>
            <a:chOff x="0" y="0"/>
            <a:chExt cx="720" cy="357"/>
          </a:xfrm>
        </p:grpSpPr>
        <p:pic>
          <p:nvPicPr>
            <p:cNvPr id="68622" name="Picture 13">
              <a:extLst>
                <a:ext uri="{FF2B5EF4-FFF2-40B4-BE49-F238E27FC236}">
                  <a16:creationId xmlns:a16="http://schemas.microsoft.com/office/drawing/2014/main" id="{2B491F2C-BC1A-C730-4641-801C57D3DF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23" name="Text Box 14">
              <a:extLst>
                <a:ext uri="{FF2B5EF4-FFF2-40B4-BE49-F238E27FC236}">
                  <a16:creationId xmlns:a16="http://schemas.microsoft.com/office/drawing/2014/main" id="{943B0CDC-A5A0-A5F8-DBB0-93A9C717C032}"/>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1">
            <a:extLst>
              <a:ext uri="{FF2B5EF4-FFF2-40B4-BE49-F238E27FC236}">
                <a16:creationId xmlns:a16="http://schemas.microsoft.com/office/drawing/2014/main" id="{79C36A4A-E4B2-0F1A-7689-84965E5BD11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1107573F-CBAE-4A94-88C5-B4F9D657E91A}" type="slidenum">
              <a:rPr lang="en-US" altLang="zh-CN" sz="2000" i="0" baseline="0" smtClean="0">
                <a:latin typeface="Arial" panose="020B0604020202020204" pitchFamily="34" charset="0"/>
              </a:rPr>
              <a:pPr/>
              <a:t>65</a:t>
            </a:fld>
            <a:endParaRPr lang="en-US" altLang="zh-CN" sz="2000" i="0" baseline="0">
              <a:latin typeface="Arial" panose="020B0604020202020204" pitchFamily="34" charset="0"/>
            </a:endParaRPr>
          </a:p>
        </p:txBody>
      </p:sp>
      <p:sp>
        <p:nvSpPr>
          <p:cNvPr id="69635" name="Line 2">
            <a:extLst>
              <a:ext uri="{FF2B5EF4-FFF2-40B4-BE49-F238E27FC236}">
                <a16:creationId xmlns:a16="http://schemas.microsoft.com/office/drawing/2014/main" id="{E7E0AD0A-297B-3A3D-8D76-BBAD5DB3585E}"/>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6" name="Line 3">
            <a:extLst>
              <a:ext uri="{FF2B5EF4-FFF2-40B4-BE49-F238E27FC236}">
                <a16:creationId xmlns:a16="http://schemas.microsoft.com/office/drawing/2014/main" id="{75820E58-1C2F-A6A4-856A-08B4A30646CF}"/>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7" name="Text Box 4">
            <a:extLst>
              <a:ext uri="{FF2B5EF4-FFF2-40B4-BE49-F238E27FC236}">
                <a16:creationId xmlns:a16="http://schemas.microsoft.com/office/drawing/2014/main" id="{8729D933-8FAD-203A-6E79-73791CEAD03D}"/>
              </a:ext>
            </a:extLst>
          </p:cNvPr>
          <p:cNvSpPr txBox="1">
            <a:spLocks noChangeArrowheads="1"/>
          </p:cNvSpPr>
          <p:nvPr/>
        </p:nvSpPr>
        <p:spPr bwMode="auto">
          <a:xfrm>
            <a:off x="304800" y="381000"/>
            <a:ext cx="3535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3.19  </a:t>
            </a:r>
            <a:r>
              <a:rPr lang="zh-CN" altLang="en-US" sz="2000" baseline="0">
                <a:ea typeface="宋体" panose="02010600030101010101" pitchFamily="2" charset="-122"/>
              </a:rPr>
              <a:t>两条低通通道的带宽</a:t>
            </a:r>
          </a:p>
        </p:txBody>
      </p:sp>
      <p:sp>
        <p:nvSpPr>
          <p:cNvPr id="69638" name="Line 5">
            <a:extLst>
              <a:ext uri="{FF2B5EF4-FFF2-40B4-BE49-F238E27FC236}">
                <a16:creationId xmlns:a16="http://schemas.microsoft.com/office/drawing/2014/main" id="{6F50A3E2-F7CF-4072-55D8-CEA2B23CA814}"/>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9639" name="Picture 6">
            <a:extLst>
              <a:ext uri="{FF2B5EF4-FFF2-40B4-BE49-F238E27FC236}">
                <a16:creationId xmlns:a16="http://schemas.microsoft.com/office/drawing/2014/main" id="{A6E7D45C-B56B-84CC-B40B-634F6CB50F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066800"/>
            <a:ext cx="8739188"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40" name="Text Box 7">
            <a:extLst>
              <a:ext uri="{FF2B5EF4-FFF2-40B4-BE49-F238E27FC236}">
                <a16:creationId xmlns:a16="http://schemas.microsoft.com/office/drawing/2014/main" id="{70C11693-0F91-9776-CC47-AADF939B85A4}"/>
              </a:ext>
            </a:extLst>
          </p:cNvPr>
          <p:cNvSpPr txBox="1">
            <a:spLocks noChangeArrowheads="1"/>
          </p:cNvSpPr>
          <p:nvPr/>
        </p:nvSpPr>
        <p:spPr bwMode="auto">
          <a:xfrm>
            <a:off x="209550" y="2901950"/>
            <a:ext cx="321945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a:ea typeface="宋体" panose="02010600030101010101" pitchFamily="2" charset="-122"/>
              </a:rPr>
              <a:t>a.低通通道、宽带宽</a:t>
            </a:r>
          </a:p>
        </p:txBody>
      </p:sp>
      <p:sp>
        <p:nvSpPr>
          <p:cNvPr id="69641" name="Text Box 8">
            <a:extLst>
              <a:ext uri="{FF2B5EF4-FFF2-40B4-BE49-F238E27FC236}">
                <a16:creationId xmlns:a16="http://schemas.microsoft.com/office/drawing/2014/main" id="{9DF58E87-4EC3-3CFE-D8D0-0C75A6F04A1A}"/>
              </a:ext>
            </a:extLst>
          </p:cNvPr>
          <p:cNvSpPr txBox="1">
            <a:spLocks noChangeArrowheads="1"/>
          </p:cNvSpPr>
          <p:nvPr/>
        </p:nvSpPr>
        <p:spPr bwMode="auto">
          <a:xfrm>
            <a:off x="228600" y="5334000"/>
            <a:ext cx="321945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a:ea typeface="宋体" panose="02010600030101010101" pitchFamily="2" charset="-122"/>
              </a:rPr>
              <a:t>b.低通通道、窄带宽</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1">
            <a:extLst>
              <a:ext uri="{FF2B5EF4-FFF2-40B4-BE49-F238E27FC236}">
                <a16:creationId xmlns:a16="http://schemas.microsoft.com/office/drawing/2014/main" id="{5CDF6177-45D2-0FF9-3277-D82223EC74D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25F451DD-1FD4-48AE-9F45-ADB0A04DE871}" type="slidenum">
              <a:rPr lang="en-US" altLang="zh-CN" sz="2000" i="0" baseline="0" smtClean="0">
                <a:latin typeface="Arial" panose="020B0604020202020204" pitchFamily="34" charset="0"/>
              </a:rPr>
              <a:pPr/>
              <a:t>66</a:t>
            </a:fld>
            <a:endParaRPr lang="en-US" altLang="zh-CN" sz="2000" i="0" baseline="0">
              <a:latin typeface="Arial" panose="020B0604020202020204" pitchFamily="34" charset="0"/>
            </a:endParaRPr>
          </a:p>
        </p:txBody>
      </p:sp>
      <p:sp>
        <p:nvSpPr>
          <p:cNvPr id="70659" name="Rectangle 2">
            <a:extLst>
              <a:ext uri="{FF2B5EF4-FFF2-40B4-BE49-F238E27FC236}">
                <a16:creationId xmlns:a16="http://schemas.microsoft.com/office/drawing/2014/main" id="{06C252E3-40A3-F018-81EB-A94590A5D426}"/>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0660" name="Rectangle 3">
            <a:extLst>
              <a:ext uri="{FF2B5EF4-FFF2-40B4-BE49-F238E27FC236}">
                <a16:creationId xmlns:a16="http://schemas.microsoft.com/office/drawing/2014/main" id="{C73ED3F1-A5BB-7016-ADAA-7C30A8F02F85}"/>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0661" name="Rectangle 4">
            <a:extLst>
              <a:ext uri="{FF2B5EF4-FFF2-40B4-BE49-F238E27FC236}">
                <a16:creationId xmlns:a16="http://schemas.microsoft.com/office/drawing/2014/main" id="{30B81A08-A4F4-D867-2217-EB7F4E1067DE}"/>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0662" name="Rectangle 5">
            <a:extLst>
              <a:ext uri="{FF2B5EF4-FFF2-40B4-BE49-F238E27FC236}">
                <a16:creationId xmlns:a16="http://schemas.microsoft.com/office/drawing/2014/main" id="{83A672BD-756F-E9B1-16CF-C48C6313DE3D}"/>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0663" name="Rectangle 6">
            <a:extLst>
              <a:ext uri="{FF2B5EF4-FFF2-40B4-BE49-F238E27FC236}">
                <a16:creationId xmlns:a16="http://schemas.microsoft.com/office/drawing/2014/main" id="{D2AF28B8-526E-F676-AFBE-A2D563D79D6A}"/>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0664" name="Rectangle 7">
            <a:extLst>
              <a:ext uri="{FF2B5EF4-FFF2-40B4-BE49-F238E27FC236}">
                <a16:creationId xmlns:a16="http://schemas.microsoft.com/office/drawing/2014/main" id="{F7DCA72F-18E6-41F2-7874-2BCCAB820399}"/>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0665" name="Rectangle 8">
            <a:extLst>
              <a:ext uri="{FF2B5EF4-FFF2-40B4-BE49-F238E27FC236}">
                <a16:creationId xmlns:a16="http://schemas.microsoft.com/office/drawing/2014/main" id="{BDA074BD-0D67-AE2F-382E-A8E08956F478}"/>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0666" name="Line 9">
            <a:extLst>
              <a:ext uri="{FF2B5EF4-FFF2-40B4-BE49-F238E27FC236}">
                <a16:creationId xmlns:a16="http://schemas.microsoft.com/office/drawing/2014/main" id="{C114D459-0326-6B7A-3259-44457E1C5E22}"/>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7" name="Line 10">
            <a:extLst>
              <a:ext uri="{FF2B5EF4-FFF2-40B4-BE49-F238E27FC236}">
                <a16:creationId xmlns:a16="http://schemas.microsoft.com/office/drawing/2014/main" id="{93819024-02F0-AE0E-4C2F-662C53D6C7EC}"/>
              </a:ext>
            </a:extLst>
          </p:cNvPr>
          <p:cNvSpPr>
            <a:spLocks noChangeShapeType="1"/>
          </p:cNvSpPr>
          <p:nvPr/>
        </p:nvSpPr>
        <p:spPr bwMode="auto">
          <a:xfrm>
            <a:off x="457200" y="3733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8" name="Rectangle 11">
            <a:extLst>
              <a:ext uri="{FF2B5EF4-FFF2-40B4-BE49-F238E27FC236}">
                <a16:creationId xmlns:a16="http://schemas.microsoft.com/office/drawing/2014/main" id="{4C5DF029-D88F-3336-FDE0-8C26BF73164F}"/>
              </a:ext>
            </a:extLst>
          </p:cNvPr>
          <p:cNvSpPr>
            <a:spLocks noChangeArrowheads="1"/>
          </p:cNvSpPr>
          <p:nvPr/>
        </p:nvSpPr>
        <p:spPr bwMode="auto">
          <a:xfrm>
            <a:off x="495300" y="3063875"/>
            <a:ext cx="8077200" cy="5794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情形</a:t>
            </a:r>
            <a:r>
              <a:rPr lang="en-US" altLang="zh-CN" sz="3200" i="0" baseline="0">
                <a:latin typeface="Arial" panose="020B0604020202020204" pitchFamily="34" charset="0"/>
                <a:ea typeface="宋体" panose="02010600030101010101" pitchFamily="2" charset="-122"/>
              </a:rPr>
              <a:t>1</a:t>
            </a:r>
            <a:r>
              <a:rPr lang="zh-CN" altLang="en-US" sz="3200" i="0" baseline="0">
                <a:latin typeface="Arial" panose="020B0604020202020204" pitchFamily="34" charset="0"/>
                <a:ea typeface="宋体" panose="02010600030101010101" pitchFamily="2" charset="-122"/>
              </a:rPr>
              <a:t>：宽带宽的低通通道</a:t>
            </a:r>
          </a:p>
        </p:txBody>
      </p:sp>
      <p:grpSp>
        <p:nvGrpSpPr>
          <p:cNvPr id="70669" name="Group 12">
            <a:extLst>
              <a:ext uri="{FF2B5EF4-FFF2-40B4-BE49-F238E27FC236}">
                <a16:creationId xmlns:a16="http://schemas.microsoft.com/office/drawing/2014/main" id="{DCE4578D-6675-6A83-D0FC-C63F5B67C367}"/>
              </a:ext>
            </a:extLst>
          </p:cNvPr>
          <p:cNvGrpSpPr>
            <a:grpSpLocks/>
          </p:cNvGrpSpPr>
          <p:nvPr/>
        </p:nvGrpSpPr>
        <p:grpSpPr bwMode="auto">
          <a:xfrm>
            <a:off x="457200" y="2362200"/>
            <a:ext cx="1143000" cy="566738"/>
            <a:chOff x="0" y="0"/>
            <a:chExt cx="720" cy="357"/>
          </a:xfrm>
        </p:grpSpPr>
        <p:pic>
          <p:nvPicPr>
            <p:cNvPr id="70670" name="Picture 13">
              <a:extLst>
                <a:ext uri="{FF2B5EF4-FFF2-40B4-BE49-F238E27FC236}">
                  <a16:creationId xmlns:a16="http://schemas.microsoft.com/office/drawing/2014/main" id="{4D86DF90-7539-6062-516F-61BFCC95C2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71" name="Text Box 14">
              <a:extLst>
                <a:ext uri="{FF2B5EF4-FFF2-40B4-BE49-F238E27FC236}">
                  <a16:creationId xmlns:a16="http://schemas.microsoft.com/office/drawing/2014/main" id="{CC8E6165-74FB-6F83-6C85-34250C843AD8}"/>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1">
            <a:extLst>
              <a:ext uri="{FF2B5EF4-FFF2-40B4-BE49-F238E27FC236}">
                <a16:creationId xmlns:a16="http://schemas.microsoft.com/office/drawing/2014/main" id="{1502E6CC-285E-849B-4E24-80335F431A6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B1A1BE1D-72B1-40F0-A6C1-4274AEE81B48}" type="slidenum">
              <a:rPr lang="en-US" altLang="zh-CN" sz="2000" i="0" baseline="0" smtClean="0">
                <a:latin typeface="Arial" panose="020B0604020202020204" pitchFamily="34" charset="0"/>
              </a:rPr>
              <a:pPr/>
              <a:t>67</a:t>
            </a:fld>
            <a:endParaRPr lang="en-US" altLang="zh-CN" sz="2000" i="0" baseline="0">
              <a:latin typeface="Arial" panose="020B0604020202020204" pitchFamily="34" charset="0"/>
            </a:endParaRPr>
          </a:p>
        </p:txBody>
      </p:sp>
      <p:sp>
        <p:nvSpPr>
          <p:cNvPr id="71683" name="Line 2">
            <a:extLst>
              <a:ext uri="{FF2B5EF4-FFF2-40B4-BE49-F238E27FC236}">
                <a16:creationId xmlns:a16="http://schemas.microsoft.com/office/drawing/2014/main" id="{5707021A-0BEC-9D3F-F2B9-8BCF7707EB14}"/>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4" name="Line 3">
            <a:extLst>
              <a:ext uri="{FF2B5EF4-FFF2-40B4-BE49-F238E27FC236}">
                <a16:creationId xmlns:a16="http://schemas.microsoft.com/office/drawing/2014/main" id="{80EA7C31-147F-BAE3-A93B-D492BCE267DA}"/>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5" name="Text Box 4">
            <a:extLst>
              <a:ext uri="{FF2B5EF4-FFF2-40B4-BE49-F238E27FC236}">
                <a16:creationId xmlns:a16="http://schemas.microsoft.com/office/drawing/2014/main" id="{5674BD3A-03B5-52B8-1310-2A78E68DE516}"/>
              </a:ext>
            </a:extLst>
          </p:cNvPr>
          <p:cNvSpPr txBox="1">
            <a:spLocks noChangeArrowheads="1"/>
          </p:cNvSpPr>
          <p:nvPr/>
        </p:nvSpPr>
        <p:spPr bwMode="auto">
          <a:xfrm>
            <a:off x="304800" y="381000"/>
            <a:ext cx="4043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3.20  </a:t>
            </a:r>
            <a:r>
              <a:rPr lang="zh-CN" altLang="en-US" sz="2000" baseline="0">
                <a:ea typeface="宋体" panose="02010600030101010101" pitchFamily="2" charset="-122"/>
              </a:rPr>
              <a:t>使用专用介质的基带传输</a:t>
            </a:r>
          </a:p>
        </p:txBody>
      </p:sp>
      <p:sp>
        <p:nvSpPr>
          <p:cNvPr id="71686" name="Line 5">
            <a:extLst>
              <a:ext uri="{FF2B5EF4-FFF2-40B4-BE49-F238E27FC236}">
                <a16:creationId xmlns:a16="http://schemas.microsoft.com/office/drawing/2014/main" id="{0BC2D5D6-AB52-6D1B-2BC6-DCD1ED682C96}"/>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1687" name="Picture 6">
            <a:extLst>
              <a:ext uri="{FF2B5EF4-FFF2-40B4-BE49-F238E27FC236}">
                <a16:creationId xmlns:a16="http://schemas.microsoft.com/office/drawing/2014/main" id="{A8C3821D-0EC0-06FE-2750-30ED88063F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 y="2173288"/>
            <a:ext cx="8829675"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8" name="Text Box 7">
            <a:extLst>
              <a:ext uri="{FF2B5EF4-FFF2-40B4-BE49-F238E27FC236}">
                <a16:creationId xmlns:a16="http://schemas.microsoft.com/office/drawing/2014/main" id="{45FE06D0-BFF8-1C78-7E94-27B60A9610EC}"/>
              </a:ext>
            </a:extLst>
          </p:cNvPr>
          <p:cNvSpPr txBox="1">
            <a:spLocks noChangeArrowheads="1"/>
          </p:cNvSpPr>
          <p:nvPr/>
        </p:nvSpPr>
        <p:spPr bwMode="auto">
          <a:xfrm>
            <a:off x="482600" y="2079625"/>
            <a:ext cx="2260600" cy="412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a:ea typeface="宋体" panose="02010600030101010101" pitchFamily="2" charset="-122"/>
              </a:rPr>
              <a:t>输入信号的带宽</a:t>
            </a:r>
          </a:p>
        </p:txBody>
      </p:sp>
      <p:sp>
        <p:nvSpPr>
          <p:cNvPr id="71689" name="Text Box 8">
            <a:extLst>
              <a:ext uri="{FF2B5EF4-FFF2-40B4-BE49-F238E27FC236}">
                <a16:creationId xmlns:a16="http://schemas.microsoft.com/office/drawing/2014/main" id="{6F3E7598-6DD1-77ED-9DA9-C1E882D1DEE7}"/>
              </a:ext>
            </a:extLst>
          </p:cNvPr>
          <p:cNvSpPr txBox="1">
            <a:spLocks noChangeArrowheads="1"/>
          </p:cNvSpPr>
          <p:nvPr/>
        </p:nvSpPr>
        <p:spPr bwMode="auto">
          <a:xfrm>
            <a:off x="6518275" y="2016125"/>
            <a:ext cx="2168525" cy="412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a:ea typeface="宋体" panose="02010600030101010101" pitchFamily="2" charset="-122"/>
              </a:rPr>
              <a:t>输出信号的带宽</a:t>
            </a:r>
          </a:p>
        </p:txBody>
      </p:sp>
      <p:sp>
        <p:nvSpPr>
          <p:cNvPr id="71690" name="Text Box 9">
            <a:extLst>
              <a:ext uri="{FF2B5EF4-FFF2-40B4-BE49-F238E27FC236}">
                <a16:creationId xmlns:a16="http://schemas.microsoft.com/office/drawing/2014/main" id="{0FF6B6EA-2D77-7FEA-1A01-02D5392255B8}"/>
              </a:ext>
            </a:extLst>
          </p:cNvPr>
          <p:cNvSpPr txBox="1">
            <a:spLocks noChangeArrowheads="1"/>
          </p:cNvSpPr>
          <p:nvPr/>
        </p:nvSpPr>
        <p:spPr bwMode="auto">
          <a:xfrm>
            <a:off x="3321050" y="2057400"/>
            <a:ext cx="2851150" cy="414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a:ea typeface="宋体" panose="02010600030101010101" pitchFamily="2" charset="-122"/>
              </a:rPr>
              <a:t>介质支持的带宽</a:t>
            </a:r>
          </a:p>
        </p:txBody>
      </p:sp>
      <p:sp>
        <p:nvSpPr>
          <p:cNvPr id="71691" name="Text Box 10">
            <a:extLst>
              <a:ext uri="{FF2B5EF4-FFF2-40B4-BE49-F238E27FC236}">
                <a16:creationId xmlns:a16="http://schemas.microsoft.com/office/drawing/2014/main" id="{DBDC7E13-E58F-9C1A-EAB3-35A5BB4A575D}"/>
              </a:ext>
            </a:extLst>
          </p:cNvPr>
          <p:cNvSpPr txBox="1">
            <a:spLocks noChangeArrowheads="1"/>
          </p:cNvSpPr>
          <p:nvPr/>
        </p:nvSpPr>
        <p:spPr bwMode="auto">
          <a:xfrm>
            <a:off x="3838575" y="4137025"/>
            <a:ext cx="2028825" cy="412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a:ea typeface="宋体" panose="02010600030101010101" pitchFamily="2" charset="-122"/>
              </a:rPr>
              <a:t>宽带宽通道</a:t>
            </a:r>
          </a:p>
        </p:txBody>
      </p:sp>
      <p:sp>
        <p:nvSpPr>
          <p:cNvPr id="71692" name="Text Box 11">
            <a:extLst>
              <a:ext uri="{FF2B5EF4-FFF2-40B4-BE49-F238E27FC236}">
                <a16:creationId xmlns:a16="http://schemas.microsoft.com/office/drawing/2014/main" id="{D58ED083-A8D2-9C70-8C58-4C041F012CF2}"/>
              </a:ext>
            </a:extLst>
          </p:cNvPr>
          <p:cNvSpPr txBox="1">
            <a:spLocks noChangeArrowheads="1"/>
          </p:cNvSpPr>
          <p:nvPr/>
        </p:nvSpPr>
        <p:spPr bwMode="auto">
          <a:xfrm>
            <a:off x="1031875" y="4241800"/>
            <a:ext cx="1177925" cy="414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a:ea typeface="宋体" panose="02010600030101010101" pitchFamily="2" charset="-122"/>
              </a:rPr>
              <a:t>输入信号</a:t>
            </a:r>
          </a:p>
        </p:txBody>
      </p:sp>
      <p:sp>
        <p:nvSpPr>
          <p:cNvPr id="71693" name="Text Box 12">
            <a:extLst>
              <a:ext uri="{FF2B5EF4-FFF2-40B4-BE49-F238E27FC236}">
                <a16:creationId xmlns:a16="http://schemas.microsoft.com/office/drawing/2014/main" id="{F8AF3784-3CD5-A0FB-662F-772FD6CDF895}"/>
              </a:ext>
            </a:extLst>
          </p:cNvPr>
          <p:cNvSpPr txBox="1">
            <a:spLocks noChangeArrowheads="1"/>
          </p:cNvSpPr>
          <p:nvPr/>
        </p:nvSpPr>
        <p:spPr bwMode="auto">
          <a:xfrm>
            <a:off x="7056438" y="4221163"/>
            <a:ext cx="1401762" cy="4143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a:ea typeface="宋体" panose="02010600030101010101" pitchFamily="2" charset="-122"/>
              </a:rPr>
              <a:t>输出信号</a:t>
            </a:r>
          </a:p>
        </p:txBody>
      </p:sp>
      <p:sp>
        <p:nvSpPr>
          <p:cNvPr id="71694" name="矩形 13">
            <a:extLst>
              <a:ext uri="{FF2B5EF4-FFF2-40B4-BE49-F238E27FC236}">
                <a16:creationId xmlns:a16="http://schemas.microsoft.com/office/drawing/2014/main" id="{F344FB8A-4CE5-F028-90A6-C8415C9A99A4}"/>
              </a:ext>
            </a:extLst>
          </p:cNvPr>
          <p:cNvSpPr>
            <a:spLocks noChangeArrowheads="1"/>
          </p:cNvSpPr>
          <p:nvPr/>
        </p:nvSpPr>
        <p:spPr bwMode="auto">
          <a:xfrm>
            <a:off x="762000" y="5257800"/>
            <a:ext cx="751840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a:ea typeface="宋体" panose="02010600030101010101" pitchFamily="2" charset="-122"/>
              </a:rPr>
              <a:t>f1</a:t>
            </a:r>
            <a:r>
              <a:rPr lang="zh-CN" altLang="en-US">
                <a:ea typeface="宋体" panose="02010600030101010101" pitchFamily="2" charset="-122"/>
              </a:rPr>
              <a:t>很接近</a:t>
            </a:r>
            <a:r>
              <a:rPr lang="en-US" altLang="zh-CN">
                <a:ea typeface="宋体" panose="02010600030101010101" pitchFamily="2" charset="-122"/>
              </a:rPr>
              <a:t>0</a:t>
            </a:r>
            <a:r>
              <a:rPr lang="zh-CN" altLang="en-US">
                <a:ea typeface="宋体" panose="02010600030101010101" pitchFamily="2" charset="-122"/>
              </a:rPr>
              <a:t>，</a:t>
            </a:r>
            <a:r>
              <a:rPr lang="en-US" altLang="zh-CN">
                <a:ea typeface="宋体" panose="02010600030101010101" pitchFamily="2" charset="-122"/>
              </a:rPr>
              <a:t>f2</a:t>
            </a:r>
            <a:r>
              <a:rPr lang="zh-CN" altLang="en-US">
                <a:ea typeface="宋体" panose="02010600030101010101" pitchFamily="2" charset="-122"/>
              </a:rPr>
              <a:t>很接近无穷大，则可以更准确的传输非周期数字信号。</a:t>
            </a:r>
            <a:endParaRPr lang="en-US" altLang="zh-CN">
              <a:ea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1">
            <a:extLst>
              <a:ext uri="{FF2B5EF4-FFF2-40B4-BE49-F238E27FC236}">
                <a16:creationId xmlns:a16="http://schemas.microsoft.com/office/drawing/2014/main" id="{5BC28159-45CF-7965-BC33-991042B1791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25A8497A-D418-4376-A42B-67492C000386}" type="slidenum">
              <a:rPr lang="en-US" altLang="zh-CN" sz="2000" i="0" baseline="0" smtClean="0">
                <a:latin typeface="Arial" panose="020B0604020202020204" pitchFamily="34" charset="0"/>
              </a:rPr>
              <a:pPr/>
              <a:t>68</a:t>
            </a:fld>
            <a:endParaRPr lang="en-US" altLang="zh-CN" sz="2000" i="0" baseline="0">
              <a:latin typeface="Arial" panose="020B0604020202020204" pitchFamily="34" charset="0"/>
            </a:endParaRPr>
          </a:p>
        </p:txBody>
      </p:sp>
      <p:sp>
        <p:nvSpPr>
          <p:cNvPr id="72707" name="Rectangle 2">
            <a:extLst>
              <a:ext uri="{FF2B5EF4-FFF2-40B4-BE49-F238E27FC236}">
                <a16:creationId xmlns:a16="http://schemas.microsoft.com/office/drawing/2014/main" id="{007F3E0C-F6F7-E85C-81E6-7668E2C45FFA}"/>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2708" name="Rectangle 3">
            <a:extLst>
              <a:ext uri="{FF2B5EF4-FFF2-40B4-BE49-F238E27FC236}">
                <a16:creationId xmlns:a16="http://schemas.microsoft.com/office/drawing/2014/main" id="{7C224B3F-F4BB-C9EF-5BA2-250074C6746F}"/>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2709" name="Rectangle 4">
            <a:extLst>
              <a:ext uri="{FF2B5EF4-FFF2-40B4-BE49-F238E27FC236}">
                <a16:creationId xmlns:a16="http://schemas.microsoft.com/office/drawing/2014/main" id="{475A7D05-CF86-5688-D629-5485E6F815B8}"/>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2710" name="Rectangle 5">
            <a:extLst>
              <a:ext uri="{FF2B5EF4-FFF2-40B4-BE49-F238E27FC236}">
                <a16:creationId xmlns:a16="http://schemas.microsoft.com/office/drawing/2014/main" id="{6E894D11-C4F8-5A0E-B6AA-8309929C11EF}"/>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2711" name="Rectangle 6">
            <a:extLst>
              <a:ext uri="{FF2B5EF4-FFF2-40B4-BE49-F238E27FC236}">
                <a16:creationId xmlns:a16="http://schemas.microsoft.com/office/drawing/2014/main" id="{DB8893B9-C2B8-8FE3-74A6-33D15B0D4279}"/>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2712" name="Rectangle 7">
            <a:extLst>
              <a:ext uri="{FF2B5EF4-FFF2-40B4-BE49-F238E27FC236}">
                <a16:creationId xmlns:a16="http://schemas.microsoft.com/office/drawing/2014/main" id="{20AFA6CB-8C53-DDF9-52D9-BC79DB302C57}"/>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2713" name="Rectangle 8">
            <a:extLst>
              <a:ext uri="{FF2B5EF4-FFF2-40B4-BE49-F238E27FC236}">
                <a16:creationId xmlns:a16="http://schemas.microsoft.com/office/drawing/2014/main" id="{57141BCA-AD5D-4254-4B1A-FDAB57715E02}"/>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2714" name="Line 9">
            <a:extLst>
              <a:ext uri="{FF2B5EF4-FFF2-40B4-BE49-F238E27FC236}">
                <a16:creationId xmlns:a16="http://schemas.microsoft.com/office/drawing/2014/main" id="{ABFE5638-6C58-1E16-23C7-F0A5EE0F9B7A}"/>
              </a:ext>
            </a:extLst>
          </p:cNvPr>
          <p:cNvSpPr>
            <a:spLocks noChangeShapeType="1"/>
          </p:cNvSpPr>
          <p:nvPr/>
        </p:nvSpPr>
        <p:spPr bwMode="auto">
          <a:xfrm>
            <a:off x="457200" y="2362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5" name="Line 10">
            <a:extLst>
              <a:ext uri="{FF2B5EF4-FFF2-40B4-BE49-F238E27FC236}">
                <a16:creationId xmlns:a16="http://schemas.microsoft.com/office/drawing/2014/main" id="{C81EDB2B-4744-68ED-95FE-5ED87D3C7FB3}"/>
              </a:ext>
            </a:extLst>
          </p:cNvPr>
          <p:cNvSpPr>
            <a:spLocks noChangeShapeType="1"/>
          </p:cNvSpPr>
          <p:nvPr/>
        </p:nvSpPr>
        <p:spPr bwMode="auto">
          <a:xfrm>
            <a:off x="457200" y="4114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6" name="Rectangle 11">
            <a:extLst>
              <a:ext uri="{FF2B5EF4-FFF2-40B4-BE49-F238E27FC236}">
                <a16:creationId xmlns:a16="http://schemas.microsoft.com/office/drawing/2014/main" id="{179ABE86-8695-7BB6-E830-02FB9F7FC510}"/>
              </a:ext>
            </a:extLst>
          </p:cNvPr>
          <p:cNvSpPr>
            <a:spLocks noChangeArrowheads="1"/>
          </p:cNvSpPr>
          <p:nvPr/>
        </p:nvSpPr>
        <p:spPr bwMode="auto">
          <a:xfrm>
            <a:off x="495300" y="2454275"/>
            <a:ext cx="8077200" cy="1554163"/>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      只有我们有无穷大或非常大带宽的低通通道，保持数字信号形状的数字信号基带传输才是可能的。</a:t>
            </a:r>
          </a:p>
        </p:txBody>
      </p:sp>
      <p:grpSp>
        <p:nvGrpSpPr>
          <p:cNvPr id="72717" name="Group 12">
            <a:extLst>
              <a:ext uri="{FF2B5EF4-FFF2-40B4-BE49-F238E27FC236}">
                <a16:creationId xmlns:a16="http://schemas.microsoft.com/office/drawing/2014/main" id="{0FF73BF4-6F23-AEA1-018F-CA869EB9DC6D}"/>
              </a:ext>
            </a:extLst>
          </p:cNvPr>
          <p:cNvGrpSpPr>
            <a:grpSpLocks/>
          </p:cNvGrpSpPr>
          <p:nvPr/>
        </p:nvGrpSpPr>
        <p:grpSpPr bwMode="auto">
          <a:xfrm>
            <a:off x="457200" y="1752600"/>
            <a:ext cx="1143000" cy="566738"/>
            <a:chOff x="0" y="0"/>
            <a:chExt cx="720" cy="357"/>
          </a:xfrm>
        </p:grpSpPr>
        <p:pic>
          <p:nvPicPr>
            <p:cNvPr id="72718" name="Picture 13">
              <a:extLst>
                <a:ext uri="{FF2B5EF4-FFF2-40B4-BE49-F238E27FC236}">
                  <a16:creationId xmlns:a16="http://schemas.microsoft.com/office/drawing/2014/main" id="{71481BD3-EB65-30AE-7563-F68081AE61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9" name="Text Box 14">
              <a:extLst>
                <a:ext uri="{FF2B5EF4-FFF2-40B4-BE49-F238E27FC236}">
                  <a16:creationId xmlns:a16="http://schemas.microsoft.com/office/drawing/2014/main" id="{2C5EA908-4E40-45B2-B61F-AE89B83A5388}"/>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1">
            <a:extLst>
              <a:ext uri="{FF2B5EF4-FFF2-40B4-BE49-F238E27FC236}">
                <a16:creationId xmlns:a16="http://schemas.microsoft.com/office/drawing/2014/main" id="{FB784209-297A-5A50-232C-96DF9B28B7B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DEC4E9C7-71D8-4C8F-BD23-DECF0B0BAD40}" type="slidenum">
              <a:rPr lang="en-US" altLang="zh-CN" sz="2000" i="0" baseline="0" smtClean="0">
                <a:latin typeface="Arial" panose="020B0604020202020204" pitchFamily="34" charset="0"/>
              </a:rPr>
              <a:pPr/>
              <a:t>69</a:t>
            </a:fld>
            <a:endParaRPr lang="en-US" altLang="zh-CN" sz="2000" i="0" baseline="0">
              <a:latin typeface="Arial" panose="020B0604020202020204" pitchFamily="34" charset="0"/>
            </a:endParaRPr>
          </a:p>
        </p:txBody>
      </p:sp>
      <p:sp>
        <p:nvSpPr>
          <p:cNvPr id="73731" name="Rectangle 2">
            <a:extLst>
              <a:ext uri="{FF2B5EF4-FFF2-40B4-BE49-F238E27FC236}">
                <a16:creationId xmlns:a16="http://schemas.microsoft.com/office/drawing/2014/main" id="{4BBEB31A-1805-E49A-2A21-28A061B73B3B}"/>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3732" name="Rectangle 3">
            <a:extLst>
              <a:ext uri="{FF2B5EF4-FFF2-40B4-BE49-F238E27FC236}">
                <a16:creationId xmlns:a16="http://schemas.microsoft.com/office/drawing/2014/main" id="{4CCA54F0-EE80-EDAE-5B00-3333B799E3B4}"/>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73733" name="Group 4">
            <a:extLst>
              <a:ext uri="{FF2B5EF4-FFF2-40B4-BE49-F238E27FC236}">
                <a16:creationId xmlns:a16="http://schemas.microsoft.com/office/drawing/2014/main" id="{2884C59E-516F-8AFA-896E-E458D496D38F}"/>
              </a:ext>
            </a:extLst>
          </p:cNvPr>
          <p:cNvGrpSpPr>
            <a:grpSpLocks/>
          </p:cNvGrpSpPr>
          <p:nvPr/>
        </p:nvGrpSpPr>
        <p:grpSpPr bwMode="auto">
          <a:xfrm>
            <a:off x="490538" y="773113"/>
            <a:ext cx="738187" cy="474662"/>
            <a:chOff x="0" y="0"/>
            <a:chExt cx="465" cy="299"/>
          </a:xfrm>
        </p:grpSpPr>
        <p:sp>
          <p:nvSpPr>
            <p:cNvPr id="73740" name="Rectangle 5">
              <a:extLst>
                <a:ext uri="{FF2B5EF4-FFF2-40B4-BE49-F238E27FC236}">
                  <a16:creationId xmlns:a16="http://schemas.microsoft.com/office/drawing/2014/main" id="{2170E328-5F23-3012-E1A6-3629A117A5C5}"/>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3741" name="Rectangle 6">
              <a:extLst>
                <a:ext uri="{FF2B5EF4-FFF2-40B4-BE49-F238E27FC236}">
                  <a16:creationId xmlns:a16="http://schemas.microsoft.com/office/drawing/2014/main" id="{850630DE-F5CE-9EBC-ABCB-68F3BE299745}"/>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73734" name="Rectangle 7">
            <a:extLst>
              <a:ext uri="{FF2B5EF4-FFF2-40B4-BE49-F238E27FC236}">
                <a16:creationId xmlns:a16="http://schemas.microsoft.com/office/drawing/2014/main" id="{5AF19658-8F76-FC76-65E1-40EC2D55163C}"/>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3735" name="Rectangle 8">
            <a:extLst>
              <a:ext uri="{FF2B5EF4-FFF2-40B4-BE49-F238E27FC236}">
                <a16:creationId xmlns:a16="http://schemas.microsoft.com/office/drawing/2014/main" id="{24152670-5DB3-F0DB-25AB-B2AEC92FAE64}"/>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3736" name="Rectangle 9">
            <a:extLst>
              <a:ext uri="{FF2B5EF4-FFF2-40B4-BE49-F238E27FC236}">
                <a16:creationId xmlns:a16="http://schemas.microsoft.com/office/drawing/2014/main" id="{CF544AA5-E98B-6E37-FD79-FD748C5B93EC}"/>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3737" name="Rectangle 10">
            <a:extLst>
              <a:ext uri="{FF2B5EF4-FFF2-40B4-BE49-F238E27FC236}">
                <a16:creationId xmlns:a16="http://schemas.microsoft.com/office/drawing/2014/main" id="{6AF60449-1B5D-703C-4182-2FD9F0F3AAFD}"/>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73738" name="Rectangle 11">
            <a:extLst>
              <a:ext uri="{FF2B5EF4-FFF2-40B4-BE49-F238E27FC236}">
                <a16:creationId xmlns:a16="http://schemas.microsoft.com/office/drawing/2014/main" id="{D36D2B6F-583E-D7AD-2894-F0A72DA9FC1E}"/>
              </a:ext>
            </a:extLst>
          </p:cNvPr>
          <p:cNvSpPr>
            <a:spLocks noChangeArrowheads="1"/>
          </p:cNvSpPr>
          <p:nvPr/>
        </p:nvSpPr>
        <p:spPr bwMode="auto">
          <a:xfrm>
            <a:off x="228600" y="1371600"/>
            <a:ext cx="8534400" cy="307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专用通道(介质的整个带宽用于一条单通道)的一个例子是LAN。几乎现在的每一个有线LAN使用专用通道用于两个站之间的互相通信。在多点连接的总线拓扑结构LAN中，每个时刻只有两个站可以互相通信(时间共享)，而其他站限制发送数据。在星型拓扑结构LAN中，每个站和集线器之间的整个通道用于这两个实体间的通信。我们会在第14章学习LAN。</a:t>
            </a:r>
          </a:p>
        </p:txBody>
      </p:sp>
      <p:sp>
        <p:nvSpPr>
          <p:cNvPr id="73739" name="Text Box 12">
            <a:extLst>
              <a:ext uri="{FF2B5EF4-FFF2-40B4-BE49-F238E27FC236}">
                <a16:creationId xmlns:a16="http://schemas.microsoft.com/office/drawing/2014/main" id="{F0EE5717-54D7-2A7F-C107-D2FD02F6D626}"/>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3.21</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1">
            <a:extLst>
              <a:ext uri="{FF2B5EF4-FFF2-40B4-BE49-F238E27FC236}">
                <a16:creationId xmlns:a16="http://schemas.microsoft.com/office/drawing/2014/main" id="{3EF97EF1-0074-4566-A030-8718CD6E094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D82ECB79-CCC9-4D31-B919-911245CF20DF}" type="slidenum">
              <a:rPr lang="en-US" altLang="zh-CN" sz="2000" i="0" baseline="0" smtClean="0">
                <a:latin typeface="Arial" panose="020B0604020202020204" pitchFamily="34" charset="0"/>
              </a:rPr>
              <a:pPr/>
              <a:t>70</a:t>
            </a:fld>
            <a:endParaRPr lang="en-US" altLang="zh-CN" sz="2000" i="0" baseline="0">
              <a:latin typeface="Arial" panose="020B0604020202020204" pitchFamily="34" charset="0"/>
            </a:endParaRPr>
          </a:p>
        </p:txBody>
      </p:sp>
      <p:sp>
        <p:nvSpPr>
          <p:cNvPr id="74755" name="Rectangle 2">
            <a:extLst>
              <a:ext uri="{FF2B5EF4-FFF2-40B4-BE49-F238E27FC236}">
                <a16:creationId xmlns:a16="http://schemas.microsoft.com/office/drawing/2014/main" id="{ED98337B-CB72-114F-C755-825396C77C58}"/>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4756" name="Rectangle 3">
            <a:extLst>
              <a:ext uri="{FF2B5EF4-FFF2-40B4-BE49-F238E27FC236}">
                <a16:creationId xmlns:a16="http://schemas.microsoft.com/office/drawing/2014/main" id="{A8F3DA13-35D9-06BA-139D-A0E8E6A994C9}"/>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4757" name="Rectangle 4">
            <a:extLst>
              <a:ext uri="{FF2B5EF4-FFF2-40B4-BE49-F238E27FC236}">
                <a16:creationId xmlns:a16="http://schemas.microsoft.com/office/drawing/2014/main" id="{17DC6318-BE80-0E0B-0D68-5AB510D2F59C}"/>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4758" name="Rectangle 5">
            <a:extLst>
              <a:ext uri="{FF2B5EF4-FFF2-40B4-BE49-F238E27FC236}">
                <a16:creationId xmlns:a16="http://schemas.microsoft.com/office/drawing/2014/main" id="{EC85C620-498C-CC6B-DB92-F514F327110C}"/>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4759" name="Rectangle 6">
            <a:extLst>
              <a:ext uri="{FF2B5EF4-FFF2-40B4-BE49-F238E27FC236}">
                <a16:creationId xmlns:a16="http://schemas.microsoft.com/office/drawing/2014/main" id="{7F589FF3-9841-3033-B47C-284CC704DF07}"/>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4760" name="Rectangle 7">
            <a:extLst>
              <a:ext uri="{FF2B5EF4-FFF2-40B4-BE49-F238E27FC236}">
                <a16:creationId xmlns:a16="http://schemas.microsoft.com/office/drawing/2014/main" id="{E801AE95-F11B-9445-9F89-23BF6F327B82}"/>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4761" name="Rectangle 8">
            <a:extLst>
              <a:ext uri="{FF2B5EF4-FFF2-40B4-BE49-F238E27FC236}">
                <a16:creationId xmlns:a16="http://schemas.microsoft.com/office/drawing/2014/main" id="{911F849C-663B-7AB5-1F8E-672841B4C7BF}"/>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4762" name="Line 9">
            <a:extLst>
              <a:ext uri="{FF2B5EF4-FFF2-40B4-BE49-F238E27FC236}">
                <a16:creationId xmlns:a16="http://schemas.microsoft.com/office/drawing/2014/main" id="{F1684AB0-8BC6-9B3A-63AC-49E98CBB7AE9}"/>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3" name="Line 10">
            <a:extLst>
              <a:ext uri="{FF2B5EF4-FFF2-40B4-BE49-F238E27FC236}">
                <a16:creationId xmlns:a16="http://schemas.microsoft.com/office/drawing/2014/main" id="{DE64641D-E2F3-6955-FFCC-40C11EB1CB13}"/>
              </a:ext>
            </a:extLst>
          </p:cNvPr>
          <p:cNvSpPr>
            <a:spLocks noChangeShapeType="1"/>
          </p:cNvSpPr>
          <p:nvPr/>
        </p:nvSpPr>
        <p:spPr bwMode="auto">
          <a:xfrm>
            <a:off x="457200" y="3733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64" name="Rectangle 11">
            <a:extLst>
              <a:ext uri="{FF2B5EF4-FFF2-40B4-BE49-F238E27FC236}">
                <a16:creationId xmlns:a16="http://schemas.microsoft.com/office/drawing/2014/main" id="{2D7B2A9D-97BF-202E-6051-02EC4E71CBEA}"/>
              </a:ext>
            </a:extLst>
          </p:cNvPr>
          <p:cNvSpPr>
            <a:spLocks noChangeArrowheads="1"/>
          </p:cNvSpPr>
          <p:nvPr/>
        </p:nvSpPr>
        <p:spPr bwMode="auto">
          <a:xfrm>
            <a:off x="495300" y="3063875"/>
            <a:ext cx="8077200" cy="5794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情形</a:t>
            </a:r>
            <a:r>
              <a:rPr lang="en-US" altLang="zh-CN" sz="3200" i="0" baseline="0">
                <a:latin typeface="Arial" panose="020B0604020202020204" pitchFamily="34" charset="0"/>
                <a:ea typeface="宋体" panose="02010600030101010101" pitchFamily="2" charset="-122"/>
              </a:rPr>
              <a:t>2</a:t>
            </a:r>
            <a:r>
              <a:rPr lang="zh-CN" altLang="en-US" sz="3200" i="0" baseline="0">
                <a:latin typeface="Arial" panose="020B0604020202020204" pitchFamily="34" charset="0"/>
                <a:ea typeface="宋体" panose="02010600030101010101" pitchFamily="2" charset="-122"/>
              </a:rPr>
              <a:t>：有限带宽的低通通道</a:t>
            </a:r>
          </a:p>
        </p:txBody>
      </p:sp>
      <p:grpSp>
        <p:nvGrpSpPr>
          <p:cNvPr id="74765" name="Group 12">
            <a:extLst>
              <a:ext uri="{FF2B5EF4-FFF2-40B4-BE49-F238E27FC236}">
                <a16:creationId xmlns:a16="http://schemas.microsoft.com/office/drawing/2014/main" id="{68FF6227-8878-5CB6-0217-22DD593BBCFD}"/>
              </a:ext>
            </a:extLst>
          </p:cNvPr>
          <p:cNvGrpSpPr>
            <a:grpSpLocks/>
          </p:cNvGrpSpPr>
          <p:nvPr/>
        </p:nvGrpSpPr>
        <p:grpSpPr bwMode="auto">
          <a:xfrm>
            <a:off x="457200" y="2362200"/>
            <a:ext cx="1143000" cy="566738"/>
            <a:chOff x="0" y="0"/>
            <a:chExt cx="720" cy="357"/>
          </a:xfrm>
        </p:grpSpPr>
        <p:pic>
          <p:nvPicPr>
            <p:cNvPr id="74767" name="Picture 13">
              <a:extLst>
                <a:ext uri="{FF2B5EF4-FFF2-40B4-BE49-F238E27FC236}">
                  <a16:creationId xmlns:a16="http://schemas.microsoft.com/office/drawing/2014/main" id="{195953A5-596D-C007-F003-9F3EA762B8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8" name="Text Box 14">
              <a:extLst>
                <a:ext uri="{FF2B5EF4-FFF2-40B4-BE49-F238E27FC236}">
                  <a16:creationId xmlns:a16="http://schemas.microsoft.com/office/drawing/2014/main" id="{0BCBF604-E4CD-B33C-C02B-E3932F6900E8}"/>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
        <p:nvSpPr>
          <p:cNvPr id="74766" name="矩形 15">
            <a:extLst>
              <a:ext uri="{FF2B5EF4-FFF2-40B4-BE49-F238E27FC236}">
                <a16:creationId xmlns:a16="http://schemas.microsoft.com/office/drawing/2014/main" id="{2E20A9E4-ED17-2FBE-DB63-7DC1C6B6BE6D}"/>
              </a:ext>
            </a:extLst>
          </p:cNvPr>
          <p:cNvSpPr>
            <a:spLocks noChangeArrowheads="1"/>
          </p:cNvSpPr>
          <p:nvPr/>
        </p:nvSpPr>
        <p:spPr bwMode="auto">
          <a:xfrm>
            <a:off x="990600" y="4191000"/>
            <a:ext cx="7315200"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a:solidFill>
                  <a:srgbClr val="FF0000"/>
                </a:solidFill>
                <a:ea typeface="宋体" panose="02010600030101010101" pitchFamily="2" charset="-122"/>
              </a:rPr>
              <a:t>在有限带宽的低通通道中，把数字信号近似成模拟信号，近似程度取决于可用的带宽。（这也说明，比较困难的是，不存在近似无穷大带宽的信道来传输标准波形的数字信号，所以只能传输近似的模拟信号来企图表示数字信号。）</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1">
            <a:extLst>
              <a:ext uri="{FF2B5EF4-FFF2-40B4-BE49-F238E27FC236}">
                <a16:creationId xmlns:a16="http://schemas.microsoft.com/office/drawing/2014/main" id="{F3A1E7C4-B977-59BC-70C0-8361BB40BF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5C58012D-C75B-4D90-B9E9-3E55EAD15BC1}" type="slidenum">
              <a:rPr lang="en-US" altLang="zh-CN" sz="2000" i="0" baseline="0" smtClean="0">
                <a:latin typeface="Arial" panose="020B0604020202020204" pitchFamily="34" charset="0"/>
              </a:rPr>
              <a:pPr/>
              <a:t>71</a:t>
            </a:fld>
            <a:endParaRPr lang="en-US" altLang="zh-CN" sz="2000" i="0" baseline="0">
              <a:latin typeface="Arial" panose="020B0604020202020204" pitchFamily="34" charset="0"/>
            </a:endParaRPr>
          </a:p>
        </p:txBody>
      </p:sp>
      <p:sp>
        <p:nvSpPr>
          <p:cNvPr id="75779" name="Line 2">
            <a:extLst>
              <a:ext uri="{FF2B5EF4-FFF2-40B4-BE49-F238E27FC236}">
                <a16:creationId xmlns:a16="http://schemas.microsoft.com/office/drawing/2014/main" id="{61F65F8B-994B-987E-0E52-1FA35B90E6DF}"/>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0" name="Line 3">
            <a:extLst>
              <a:ext uri="{FF2B5EF4-FFF2-40B4-BE49-F238E27FC236}">
                <a16:creationId xmlns:a16="http://schemas.microsoft.com/office/drawing/2014/main" id="{B6832A50-D596-E843-4647-617E080549EA}"/>
              </a:ext>
            </a:extLst>
          </p:cNvPr>
          <p:cNvSpPr>
            <a:spLocks noChangeShapeType="1"/>
          </p:cNvSpPr>
          <p:nvPr/>
        </p:nvSpPr>
        <p:spPr bwMode="auto">
          <a:xfrm>
            <a:off x="152400" y="11430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1" name="Text Box 4">
            <a:extLst>
              <a:ext uri="{FF2B5EF4-FFF2-40B4-BE49-F238E27FC236}">
                <a16:creationId xmlns:a16="http://schemas.microsoft.com/office/drawing/2014/main" id="{EDBFCF4C-98C8-1D24-0CCA-0186286BFF81}"/>
              </a:ext>
            </a:extLst>
          </p:cNvPr>
          <p:cNvSpPr txBox="1">
            <a:spLocks noChangeArrowheads="1"/>
          </p:cNvSpPr>
          <p:nvPr/>
        </p:nvSpPr>
        <p:spPr bwMode="auto">
          <a:xfrm>
            <a:off x="304800" y="381000"/>
            <a:ext cx="6837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3.21  </a:t>
            </a:r>
            <a:r>
              <a:rPr lang="zh-CN" altLang="en-US" sz="2000" baseline="0">
                <a:ea typeface="宋体" panose="02010600030101010101" pitchFamily="2" charset="-122"/>
              </a:rPr>
              <a:t>对于最坏情形的数字信号使用第一谐波的大致近似</a:t>
            </a:r>
          </a:p>
        </p:txBody>
      </p:sp>
      <p:sp>
        <p:nvSpPr>
          <p:cNvPr id="75782" name="Line 5">
            <a:extLst>
              <a:ext uri="{FF2B5EF4-FFF2-40B4-BE49-F238E27FC236}">
                <a16:creationId xmlns:a16="http://schemas.microsoft.com/office/drawing/2014/main" id="{D79822A4-AE30-5C05-601E-BC4FD5C140CA}"/>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5783" name="Picture 6">
            <a:extLst>
              <a:ext uri="{FF2B5EF4-FFF2-40B4-BE49-F238E27FC236}">
                <a16:creationId xmlns:a16="http://schemas.microsoft.com/office/drawing/2014/main" id="{8B5CB0B3-659F-C137-F7BA-3D7375277C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371600"/>
            <a:ext cx="5942013" cy="464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4" name="文本框 8">
            <a:extLst>
              <a:ext uri="{FF2B5EF4-FFF2-40B4-BE49-F238E27FC236}">
                <a16:creationId xmlns:a16="http://schemas.microsoft.com/office/drawing/2014/main" id="{0EC4CFB7-11D8-2A7E-A955-456557C8D0B5}"/>
              </a:ext>
            </a:extLst>
          </p:cNvPr>
          <p:cNvSpPr txBox="1">
            <a:spLocks noChangeArrowheads="1"/>
          </p:cNvSpPr>
          <p:nvPr/>
        </p:nvSpPr>
        <p:spPr bwMode="auto">
          <a:xfrm>
            <a:off x="6172200" y="1295400"/>
            <a:ext cx="2667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zh-CN" altLang="en-US" sz="2400" baseline="0">
                <a:ea typeface="宋体" panose="02010600030101010101" pitchFamily="2" charset="-122"/>
              </a:rPr>
              <a:t>数字信号比特率为</a:t>
            </a:r>
            <a:r>
              <a:rPr lang="en-US" altLang="zh-CN" sz="2400" baseline="0">
                <a:ea typeface="宋体" panose="02010600030101010101" pitchFamily="2" charset="-122"/>
              </a:rPr>
              <a:t>N</a:t>
            </a:r>
            <a:r>
              <a:rPr lang="zh-CN" altLang="en-US" sz="2400" baseline="0">
                <a:ea typeface="宋体" panose="02010600030101010101" pitchFamily="2" charset="-122"/>
              </a:rPr>
              <a:t>，希望用模拟信号近似。</a:t>
            </a:r>
            <a:endParaRPr lang="zh-CN" altLang="en-US" sz="240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1">
            <a:extLst>
              <a:ext uri="{FF2B5EF4-FFF2-40B4-BE49-F238E27FC236}">
                <a16:creationId xmlns:a16="http://schemas.microsoft.com/office/drawing/2014/main" id="{9E880661-193A-93BB-4F1C-DB9FE193E62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A69A8300-96FB-467B-AC4D-033F9E3FD41E}" type="slidenum">
              <a:rPr lang="en-US" altLang="zh-CN" sz="2000" i="0" baseline="0" smtClean="0">
                <a:latin typeface="Arial" panose="020B0604020202020204" pitchFamily="34" charset="0"/>
              </a:rPr>
              <a:pPr/>
              <a:t>72</a:t>
            </a:fld>
            <a:endParaRPr lang="en-US" altLang="zh-CN" sz="2000" i="0" baseline="0">
              <a:latin typeface="Arial" panose="020B0604020202020204" pitchFamily="34" charset="0"/>
            </a:endParaRPr>
          </a:p>
        </p:txBody>
      </p:sp>
      <p:sp>
        <p:nvSpPr>
          <p:cNvPr id="76803" name="Line 2">
            <a:extLst>
              <a:ext uri="{FF2B5EF4-FFF2-40B4-BE49-F238E27FC236}">
                <a16:creationId xmlns:a16="http://schemas.microsoft.com/office/drawing/2014/main" id="{F0475893-14F2-4A4C-20C9-E847C576250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04" name="Line 3">
            <a:extLst>
              <a:ext uri="{FF2B5EF4-FFF2-40B4-BE49-F238E27FC236}">
                <a16:creationId xmlns:a16="http://schemas.microsoft.com/office/drawing/2014/main" id="{FAB6A424-96BE-E604-5803-46899D933959}"/>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05" name="Text Box 4">
            <a:extLst>
              <a:ext uri="{FF2B5EF4-FFF2-40B4-BE49-F238E27FC236}">
                <a16:creationId xmlns:a16="http://schemas.microsoft.com/office/drawing/2014/main" id="{3EC9AF0B-0803-60D6-590D-427670F28493}"/>
              </a:ext>
            </a:extLst>
          </p:cNvPr>
          <p:cNvSpPr txBox="1">
            <a:spLocks noChangeArrowheads="1"/>
          </p:cNvSpPr>
          <p:nvPr/>
        </p:nvSpPr>
        <p:spPr bwMode="auto">
          <a:xfrm>
            <a:off x="304800" y="381000"/>
            <a:ext cx="4805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3.22  </a:t>
            </a:r>
            <a:r>
              <a:rPr lang="zh-CN" altLang="en-US" sz="2000" baseline="0">
                <a:ea typeface="宋体" panose="02010600030101010101" pitchFamily="2" charset="-122"/>
              </a:rPr>
              <a:t>使用三个第一谐波模拟数字信号</a:t>
            </a:r>
          </a:p>
        </p:txBody>
      </p:sp>
      <p:sp>
        <p:nvSpPr>
          <p:cNvPr id="76806" name="Line 5">
            <a:extLst>
              <a:ext uri="{FF2B5EF4-FFF2-40B4-BE49-F238E27FC236}">
                <a16:creationId xmlns:a16="http://schemas.microsoft.com/office/drawing/2014/main" id="{8A76ED90-EC51-599B-8681-542C25F56564}"/>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6807" name="Picture 6">
            <a:extLst>
              <a:ext uri="{FF2B5EF4-FFF2-40B4-BE49-F238E27FC236}">
                <a16:creationId xmlns:a16="http://schemas.microsoft.com/office/drawing/2014/main" id="{5D6B200B-59B0-9371-E470-FE5F2CBCFF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9088" y="1055688"/>
            <a:ext cx="5878512" cy="458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6808" name="Object 7">
            <a:extLst>
              <a:ext uri="{FF2B5EF4-FFF2-40B4-BE49-F238E27FC236}">
                <a16:creationId xmlns:a16="http://schemas.microsoft.com/office/drawing/2014/main" id="{8CA27F19-4D4F-5B43-54F6-863BF6B4BEB1}"/>
              </a:ext>
            </a:extLst>
          </p:cNvPr>
          <p:cNvGraphicFramePr>
            <a:graphicFrameLocks noChangeAspect="1"/>
          </p:cNvGraphicFramePr>
          <p:nvPr/>
        </p:nvGraphicFramePr>
        <p:xfrm>
          <a:off x="1524000" y="1273175"/>
          <a:ext cx="6096000" cy="4060825"/>
        </p:xfrm>
        <a:graphic>
          <a:graphicData uri="http://schemas.openxmlformats.org/presentationml/2006/ole">
            <mc:AlternateContent xmlns:mc="http://schemas.openxmlformats.org/markup-compatibility/2006">
              <mc:Choice xmlns:v="urn:schemas-microsoft-com:vml" Requires="v">
                <p:oleObj r:id="rId3" imgW="7200000" imgH="4797000" progId="MSGraph.Chart.8">
                  <p:embed/>
                </p:oleObj>
              </mc:Choice>
              <mc:Fallback>
                <p:oleObj r:id="rId3" imgW="7200000" imgH="4797000" progId="MSGraph.Chart.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273175"/>
                        <a:ext cx="6096000" cy="406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9" name="矩形 8">
            <a:extLst>
              <a:ext uri="{FF2B5EF4-FFF2-40B4-BE49-F238E27FC236}">
                <a16:creationId xmlns:a16="http://schemas.microsoft.com/office/drawing/2014/main" id="{84EB8C57-6BF6-7829-3C88-425C2B8C323D}"/>
              </a:ext>
            </a:extLst>
          </p:cNvPr>
          <p:cNvSpPr>
            <a:spLocks noChangeArrowheads="1"/>
          </p:cNvSpPr>
          <p:nvPr/>
        </p:nvSpPr>
        <p:spPr bwMode="auto">
          <a:xfrm>
            <a:off x="1676400" y="5562600"/>
            <a:ext cx="57912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a:ea typeface="宋体" panose="02010600030101010101" pitchFamily="2" charset="-122"/>
              </a:rPr>
              <a:t>增加了谐波个数</a:t>
            </a:r>
            <a:r>
              <a:rPr lang="en-US" altLang="zh-CN">
                <a:ea typeface="宋体" panose="02010600030101010101" pitchFamily="2" charset="-122"/>
              </a:rPr>
              <a:t>(3</a:t>
            </a:r>
            <a:r>
              <a:rPr lang="zh-CN" altLang="en-US">
                <a:ea typeface="宋体" panose="02010600030101010101" pitchFamily="2" charset="-122"/>
              </a:rPr>
              <a:t>个</a:t>
            </a:r>
            <a:r>
              <a:rPr lang="en-US" altLang="zh-CN">
                <a:ea typeface="宋体" panose="02010600030101010101" pitchFamily="2" charset="-122"/>
              </a:rPr>
              <a:t>)</a:t>
            </a:r>
            <a:r>
              <a:rPr lang="zh-CN" altLang="en-US">
                <a:ea typeface="宋体" panose="02010600030101010101" pitchFamily="2" charset="-122"/>
              </a:rPr>
              <a:t>，增大了带宽，使得模拟信号更近似于数字信号。</a:t>
            </a:r>
            <a:r>
              <a:rPr lang="en-US" altLang="zh-CN">
                <a:ea typeface="宋体" panose="02010600030101010101" pitchFamily="2" charset="-122"/>
              </a:rPr>
              <a:t>(</a:t>
            </a:r>
            <a:r>
              <a:rPr lang="zh-CN" altLang="en-US">
                <a:ea typeface="宋体" panose="02010600030101010101" pitchFamily="2" charset="-122"/>
              </a:rPr>
              <a:t>虽然数字信号的比特率没有变。</a:t>
            </a:r>
            <a:r>
              <a:rPr lang="en-US" altLang="zh-CN">
                <a:ea typeface="宋体" panose="02010600030101010101" pitchFamily="2" charset="-122"/>
              </a:rPr>
              <a:t>)</a:t>
            </a:r>
            <a:endParaRPr lang="zh-CN" altLang="en-US">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1">
            <a:extLst>
              <a:ext uri="{FF2B5EF4-FFF2-40B4-BE49-F238E27FC236}">
                <a16:creationId xmlns:a16="http://schemas.microsoft.com/office/drawing/2014/main" id="{5931646C-E17C-492D-604A-17739439078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3C95F6DA-5B3B-477C-B8A7-0B74D1A3FE42}" type="slidenum">
              <a:rPr lang="en-US" altLang="zh-CN" sz="2000" i="0" baseline="0" smtClean="0">
                <a:latin typeface="Arial" panose="020B0604020202020204" pitchFamily="34" charset="0"/>
              </a:rPr>
              <a:pPr/>
              <a:t>73</a:t>
            </a:fld>
            <a:endParaRPr lang="en-US" altLang="zh-CN" sz="2000" i="0" baseline="0">
              <a:latin typeface="Arial" panose="020B0604020202020204" pitchFamily="34" charset="0"/>
            </a:endParaRPr>
          </a:p>
        </p:txBody>
      </p:sp>
      <p:sp>
        <p:nvSpPr>
          <p:cNvPr id="77827" name="Rectangle 2">
            <a:extLst>
              <a:ext uri="{FF2B5EF4-FFF2-40B4-BE49-F238E27FC236}">
                <a16:creationId xmlns:a16="http://schemas.microsoft.com/office/drawing/2014/main" id="{3CEB75C4-CF85-C93D-A4E8-DC5450143454}"/>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7828" name="Rectangle 3">
            <a:extLst>
              <a:ext uri="{FF2B5EF4-FFF2-40B4-BE49-F238E27FC236}">
                <a16:creationId xmlns:a16="http://schemas.microsoft.com/office/drawing/2014/main" id="{FD4ECAC3-AE7D-CFAF-0EE4-1DB4130099BC}"/>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7829" name="Rectangle 4">
            <a:extLst>
              <a:ext uri="{FF2B5EF4-FFF2-40B4-BE49-F238E27FC236}">
                <a16:creationId xmlns:a16="http://schemas.microsoft.com/office/drawing/2014/main" id="{08A8510F-6630-B108-E619-55C9DB88503A}"/>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7830" name="Rectangle 5">
            <a:extLst>
              <a:ext uri="{FF2B5EF4-FFF2-40B4-BE49-F238E27FC236}">
                <a16:creationId xmlns:a16="http://schemas.microsoft.com/office/drawing/2014/main" id="{ECC78011-57B8-1694-C1A6-29EB153BEE82}"/>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7831" name="Rectangle 6">
            <a:extLst>
              <a:ext uri="{FF2B5EF4-FFF2-40B4-BE49-F238E27FC236}">
                <a16:creationId xmlns:a16="http://schemas.microsoft.com/office/drawing/2014/main" id="{0EB94738-BB2F-A024-E62D-3FE648A5BA9B}"/>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7832" name="Rectangle 7">
            <a:extLst>
              <a:ext uri="{FF2B5EF4-FFF2-40B4-BE49-F238E27FC236}">
                <a16:creationId xmlns:a16="http://schemas.microsoft.com/office/drawing/2014/main" id="{7C9A21A5-3C0C-21F0-1BD7-641A9CA6B330}"/>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7833" name="Rectangle 8">
            <a:extLst>
              <a:ext uri="{FF2B5EF4-FFF2-40B4-BE49-F238E27FC236}">
                <a16:creationId xmlns:a16="http://schemas.microsoft.com/office/drawing/2014/main" id="{A990FFB3-B4F6-53A4-6D81-560DFF60E447}"/>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7834" name="Line 9">
            <a:extLst>
              <a:ext uri="{FF2B5EF4-FFF2-40B4-BE49-F238E27FC236}">
                <a16:creationId xmlns:a16="http://schemas.microsoft.com/office/drawing/2014/main" id="{0D59774B-AD51-5DAA-DCA0-123D354EECE2}"/>
              </a:ext>
            </a:extLst>
          </p:cNvPr>
          <p:cNvSpPr>
            <a:spLocks noChangeShapeType="1"/>
          </p:cNvSpPr>
          <p:nvPr/>
        </p:nvSpPr>
        <p:spPr bwMode="auto">
          <a:xfrm>
            <a:off x="457200" y="2514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5" name="Line 10">
            <a:extLst>
              <a:ext uri="{FF2B5EF4-FFF2-40B4-BE49-F238E27FC236}">
                <a16:creationId xmlns:a16="http://schemas.microsoft.com/office/drawing/2014/main" id="{808B1AFA-F5A9-C09A-82D9-E73B905FFE8C}"/>
              </a:ext>
            </a:extLst>
          </p:cNvPr>
          <p:cNvSpPr>
            <a:spLocks noChangeShapeType="1"/>
          </p:cNvSpPr>
          <p:nvPr/>
        </p:nvSpPr>
        <p:spPr bwMode="auto">
          <a:xfrm>
            <a:off x="533400" y="6172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7836" name="Group 12">
            <a:extLst>
              <a:ext uri="{FF2B5EF4-FFF2-40B4-BE49-F238E27FC236}">
                <a16:creationId xmlns:a16="http://schemas.microsoft.com/office/drawing/2014/main" id="{169CA8CD-6DCA-8A52-BF11-CB4AB55D8214}"/>
              </a:ext>
            </a:extLst>
          </p:cNvPr>
          <p:cNvGrpSpPr>
            <a:grpSpLocks/>
          </p:cNvGrpSpPr>
          <p:nvPr/>
        </p:nvGrpSpPr>
        <p:grpSpPr bwMode="auto">
          <a:xfrm>
            <a:off x="457200" y="1905000"/>
            <a:ext cx="1143000" cy="566738"/>
            <a:chOff x="0" y="0"/>
            <a:chExt cx="720" cy="357"/>
          </a:xfrm>
        </p:grpSpPr>
        <p:pic>
          <p:nvPicPr>
            <p:cNvPr id="77838" name="Picture 13">
              <a:extLst>
                <a:ext uri="{FF2B5EF4-FFF2-40B4-BE49-F238E27FC236}">
                  <a16:creationId xmlns:a16="http://schemas.microsoft.com/office/drawing/2014/main" id="{13D1A99C-E5EE-F88D-B5A3-6707463459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9" name="Text Box 14">
              <a:extLst>
                <a:ext uri="{FF2B5EF4-FFF2-40B4-BE49-F238E27FC236}">
                  <a16:creationId xmlns:a16="http://schemas.microsoft.com/office/drawing/2014/main" id="{7C094FC8-2556-7EBC-CC10-91504BCB882C}"/>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
        <p:nvSpPr>
          <p:cNvPr id="77837" name="Rectangle 15">
            <a:extLst>
              <a:ext uri="{FF2B5EF4-FFF2-40B4-BE49-F238E27FC236}">
                <a16:creationId xmlns:a16="http://schemas.microsoft.com/office/drawing/2014/main" id="{9B58680D-872D-7273-AD2D-333024351AB4}"/>
              </a:ext>
            </a:extLst>
          </p:cNvPr>
          <p:cNvSpPr>
            <a:spLocks noChangeArrowheads="1"/>
          </p:cNvSpPr>
          <p:nvPr/>
        </p:nvSpPr>
        <p:spPr bwMode="auto">
          <a:xfrm>
            <a:off x="533400" y="2590800"/>
            <a:ext cx="8077200" cy="3540125"/>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sz="3200" i="0" baseline="0">
                <a:latin typeface="Arial" panose="020B0604020202020204" pitchFamily="34" charset="0"/>
                <a:ea typeface="宋体" panose="02010600030101010101" pitchFamily="2" charset="-122"/>
              </a:rPr>
              <a:t>1</a:t>
            </a:r>
            <a:r>
              <a:rPr lang="zh-CN" altLang="en-US" sz="3200" i="0" baseline="0">
                <a:latin typeface="Arial" panose="020B0604020202020204" pitchFamily="34" charset="0"/>
                <a:ea typeface="宋体" panose="02010600030101010101" pitchFamily="2" charset="-122"/>
              </a:rPr>
              <a:t>）在基带传输中，所需的带宽与比特率成正比；如果我们需要更快地发送位，我们就需要更大的带宽；</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en-US" altLang="zh-CN" sz="3200" i="0" baseline="0">
                <a:latin typeface="Arial" panose="020B0604020202020204" pitchFamily="34" charset="0"/>
                <a:ea typeface="宋体" panose="02010600030101010101" pitchFamily="2" charset="-122"/>
              </a:rPr>
              <a:t>2</a:t>
            </a:r>
            <a:r>
              <a:rPr lang="zh-CN" altLang="en-US" sz="3200" i="0" baseline="0">
                <a:latin typeface="Arial" panose="020B0604020202020204" pitchFamily="34" charset="0"/>
                <a:ea typeface="宋体" panose="02010600030101010101" pitchFamily="2" charset="-122"/>
              </a:rPr>
              <a:t>）同样比特率情况下，叠加更多谐波，其合成后的模拟信号越近似于数字信号，则需要更宽的带宽，尽管比特率没有增加，但更容易识别信号。</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1">
            <a:extLst>
              <a:ext uri="{FF2B5EF4-FFF2-40B4-BE49-F238E27FC236}">
                <a16:creationId xmlns:a16="http://schemas.microsoft.com/office/drawing/2014/main" id="{289D6790-E561-21E0-FD14-7C39FA4638F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37023C83-AFB8-4558-B02D-F0C44EBA666E}" type="slidenum">
              <a:rPr lang="en-US" altLang="zh-CN" sz="2000" i="0" baseline="0" smtClean="0">
                <a:latin typeface="Arial" panose="020B0604020202020204" pitchFamily="34" charset="0"/>
              </a:rPr>
              <a:pPr/>
              <a:t>74</a:t>
            </a:fld>
            <a:endParaRPr lang="en-US" altLang="zh-CN" sz="2000" i="0" baseline="0">
              <a:latin typeface="Arial" panose="020B0604020202020204" pitchFamily="34" charset="0"/>
            </a:endParaRPr>
          </a:p>
        </p:txBody>
      </p:sp>
      <p:sp>
        <p:nvSpPr>
          <p:cNvPr id="78851" name="Text Box 2">
            <a:extLst>
              <a:ext uri="{FF2B5EF4-FFF2-40B4-BE49-F238E27FC236}">
                <a16:creationId xmlns:a16="http://schemas.microsoft.com/office/drawing/2014/main" id="{C91D2BDC-E930-0BF8-4FB8-D7865B3626E1}"/>
              </a:ext>
            </a:extLst>
          </p:cNvPr>
          <p:cNvSpPr txBox="1">
            <a:spLocks noChangeArrowheads="1"/>
          </p:cNvSpPr>
          <p:nvPr/>
        </p:nvSpPr>
        <p:spPr bwMode="auto">
          <a:xfrm>
            <a:off x="452438" y="1752600"/>
            <a:ext cx="47228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表 3.2  </a:t>
            </a:r>
            <a:r>
              <a:rPr lang="zh-CN" altLang="en-US" sz="2000" baseline="0">
                <a:ea typeface="宋体" panose="02010600030101010101" pitchFamily="2" charset="-122"/>
              </a:rPr>
              <a:t>带宽需求量（纵、横分别比较）</a:t>
            </a:r>
          </a:p>
        </p:txBody>
      </p:sp>
      <p:graphicFrame>
        <p:nvGraphicFramePr>
          <p:cNvPr id="71683" name="Group 3">
            <a:extLst>
              <a:ext uri="{FF2B5EF4-FFF2-40B4-BE49-F238E27FC236}">
                <a16:creationId xmlns:a16="http://schemas.microsoft.com/office/drawing/2014/main" id="{837D4200-08F4-0C3C-18C9-25483566889F}"/>
              </a:ext>
            </a:extLst>
          </p:cNvPr>
          <p:cNvGraphicFramePr>
            <a:graphicFrameLocks noGrp="1"/>
          </p:cNvGraphicFramePr>
          <p:nvPr/>
        </p:nvGraphicFramePr>
        <p:xfrm>
          <a:off x="457200" y="2667000"/>
          <a:ext cx="8153400" cy="1905000"/>
        </p:xfrm>
        <a:graphic>
          <a:graphicData uri="http://schemas.openxmlformats.org/drawingml/2006/table">
            <a:tbl>
              <a:tblPr/>
              <a:tblGrid>
                <a:gridCol w="2038350">
                  <a:extLst>
                    <a:ext uri="{9D8B030D-6E8A-4147-A177-3AD203B41FA5}">
                      <a16:colId xmlns:a16="http://schemas.microsoft.com/office/drawing/2014/main" val="20000"/>
                    </a:ext>
                  </a:extLst>
                </a:gridCol>
                <a:gridCol w="2036763">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39937">
                  <a:extLst>
                    <a:ext uri="{9D8B030D-6E8A-4147-A177-3AD203B41FA5}">
                      <a16:colId xmlns:a16="http://schemas.microsoft.com/office/drawing/2014/main" val="20003"/>
                    </a:ext>
                  </a:extLst>
                </a:gridCol>
              </a:tblGrid>
              <a:tr h="4762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比特率</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79646"/>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谐波1</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79646"/>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谐波1,3</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79646"/>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1" i="0" u="none" strike="noStrike" cap="none" normalizeH="0" baseline="0">
                          <a:ln>
                            <a:noFill/>
                          </a:ln>
                          <a:solidFill>
                            <a:srgbClr val="FFFFFF"/>
                          </a:solidFill>
                          <a:effectLst/>
                          <a:latin typeface="Calibri" pitchFamily="34" charset="0"/>
                          <a:ea typeface="宋体" pitchFamily="2" charset="-122"/>
                        </a:rPr>
                        <a:t>谐波1,3,5</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79646"/>
                    </a:solidFill>
                  </a:tcPr>
                </a:tc>
                <a:extLst>
                  <a:ext uri="{0D108BD9-81ED-4DB2-BD59-A6C34878D82A}">
                    <a16:rowId xmlns:a16="http://schemas.microsoft.com/office/drawing/2014/main" val="10000"/>
                  </a:ext>
                </a:extLst>
              </a:tr>
              <a:tr h="4762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n=1kbps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B=500Hz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B=1.5kHz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B=2.5kHz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extLst>
                  <a:ext uri="{0D108BD9-81ED-4DB2-BD59-A6C34878D82A}">
                    <a16:rowId xmlns:a16="http://schemas.microsoft.com/office/drawing/2014/main" val="10001"/>
                  </a:ext>
                </a:extLst>
              </a:tr>
              <a:tr h="4762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n=10kbps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B=5kHz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B=15kHz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B=25kHz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extLst>
                  <a:ext uri="{0D108BD9-81ED-4DB2-BD59-A6C34878D82A}">
                    <a16:rowId xmlns:a16="http://schemas.microsoft.com/office/drawing/2014/main" val="10002"/>
                  </a:ext>
                </a:extLst>
              </a:tr>
              <a:tr h="4762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n=100kbps</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B=50kHz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B=150kHz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a:ln>
                            <a:noFill/>
                          </a:ln>
                          <a:solidFill>
                            <a:srgbClr val="000000"/>
                          </a:solidFill>
                          <a:effectLst/>
                          <a:latin typeface="Calibri" pitchFamily="34" charset="0"/>
                          <a:ea typeface="宋体" pitchFamily="2" charset="-122"/>
                        </a:rPr>
                        <a:t>B=250kHz</a:t>
                      </a: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DEFE9"/>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1">
            <a:extLst>
              <a:ext uri="{FF2B5EF4-FFF2-40B4-BE49-F238E27FC236}">
                <a16:creationId xmlns:a16="http://schemas.microsoft.com/office/drawing/2014/main" id="{FB5E9301-FF7E-730A-A19F-C7AE12B42DC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803BCE8C-11B0-452A-8D5F-14E40396D27D}" type="slidenum">
              <a:rPr lang="en-US" altLang="zh-CN" sz="2000" i="0" baseline="0" smtClean="0">
                <a:latin typeface="Arial" panose="020B0604020202020204" pitchFamily="34" charset="0"/>
              </a:rPr>
              <a:pPr/>
              <a:t>75</a:t>
            </a:fld>
            <a:endParaRPr lang="en-US" altLang="zh-CN" sz="2000" i="0" baseline="0">
              <a:latin typeface="Arial" panose="020B0604020202020204" pitchFamily="34" charset="0"/>
            </a:endParaRPr>
          </a:p>
        </p:txBody>
      </p:sp>
      <p:sp>
        <p:nvSpPr>
          <p:cNvPr id="79875" name="Rectangle 2">
            <a:extLst>
              <a:ext uri="{FF2B5EF4-FFF2-40B4-BE49-F238E27FC236}">
                <a16:creationId xmlns:a16="http://schemas.microsoft.com/office/drawing/2014/main" id="{889B4351-EF96-620A-D4D6-02E43C8CA30A}"/>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9876" name="Rectangle 3">
            <a:extLst>
              <a:ext uri="{FF2B5EF4-FFF2-40B4-BE49-F238E27FC236}">
                <a16:creationId xmlns:a16="http://schemas.microsoft.com/office/drawing/2014/main" id="{10ED1DDF-35DF-D438-E715-8C6A3774994B}"/>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79877" name="Group 4">
            <a:extLst>
              <a:ext uri="{FF2B5EF4-FFF2-40B4-BE49-F238E27FC236}">
                <a16:creationId xmlns:a16="http://schemas.microsoft.com/office/drawing/2014/main" id="{2EFBC908-8F59-21DE-CFE4-E2BC2B5280E0}"/>
              </a:ext>
            </a:extLst>
          </p:cNvPr>
          <p:cNvGrpSpPr>
            <a:grpSpLocks/>
          </p:cNvGrpSpPr>
          <p:nvPr/>
        </p:nvGrpSpPr>
        <p:grpSpPr bwMode="auto">
          <a:xfrm>
            <a:off x="490538" y="773113"/>
            <a:ext cx="738187" cy="474662"/>
            <a:chOff x="0" y="0"/>
            <a:chExt cx="465" cy="299"/>
          </a:xfrm>
        </p:grpSpPr>
        <p:sp>
          <p:nvSpPr>
            <p:cNvPr id="79884" name="Rectangle 5">
              <a:extLst>
                <a:ext uri="{FF2B5EF4-FFF2-40B4-BE49-F238E27FC236}">
                  <a16:creationId xmlns:a16="http://schemas.microsoft.com/office/drawing/2014/main" id="{0D720B8A-460C-8BFE-2EB9-267E0FB1E9B6}"/>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9885" name="Rectangle 6">
              <a:extLst>
                <a:ext uri="{FF2B5EF4-FFF2-40B4-BE49-F238E27FC236}">
                  <a16:creationId xmlns:a16="http://schemas.microsoft.com/office/drawing/2014/main" id="{B2492DEB-4216-4306-1BD9-7F99FE4185DD}"/>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79878" name="Rectangle 7">
            <a:extLst>
              <a:ext uri="{FF2B5EF4-FFF2-40B4-BE49-F238E27FC236}">
                <a16:creationId xmlns:a16="http://schemas.microsoft.com/office/drawing/2014/main" id="{2012B1DC-1016-B045-C9A1-7F555B2503A1}"/>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9879" name="Rectangle 8">
            <a:extLst>
              <a:ext uri="{FF2B5EF4-FFF2-40B4-BE49-F238E27FC236}">
                <a16:creationId xmlns:a16="http://schemas.microsoft.com/office/drawing/2014/main" id="{482638DA-7AFD-A6DC-489D-7F0C1EE414BD}"/>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9880" name="Rectangle 9">
            <a:extLst>
              <a:ext uri="{FF2B5EF4-FFF2-40B4-BE49-F238E27FC236}">
                <a16:creationId xmlns:a16="http://schemas.microsoft.com/office/drawing/2014/main" id="{F507C00E-F6C0-EA25-D2C1-4946D5CC1D24}"/>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79881" name="Rectangle 10">
            <a:extLst>
              <a:ext uri="{FF2B5EF4-FFF2-40B4-BE49-F238E27FC236}">
                <a16:creationId xmlns:a16="http://schemas.microsoft.com/office/drawing/2014/main" id="{29339A1A-1879-7E16-203A-AD4F1892590D}"/>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79882" name="Rectangle 11">
            <a:extLst>
              <a:ext uri="{FF2B5EF4-FFF2-40B4-BE49-F238E27FC236}">
                <a16:creationId xmlns:a16="http://schemas.microsoft.com/office/drawing/2014/main" id="{C0CF19EA-EEB2-CDF1-44FE-552F770018A1}"/>
              </a:ext>
            </a:extLst>
          </p:cNvPr>
          <p:cNvSpPr>
            <a:spLocks noChangeArrowheads="1"/>
          </p:cNvSpPr>
          <p:nvPr/>
        </p:nvSpPr>
        <p:spPr bwMode="auto">
          <a:xfrm>
            <a:off x="228600" y="1295400"/>
            <a:ext cx="8763000" cy="521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baseline="0">
                <a:ea typeface="宋体" panose="02010600030101010101" pitchFamily="2" charset="-122"/>
              </a:rPr>
              <a:t>如果我们需要使用基带传输发送 1 Mbps，那么低通通道所需的带宽是多少?</a:t>
            </a:r>
            <a:br>
              <a:rPr lang="zh-CN" altLang="en-US" baseline="0">
                <a:ea typeface="宋体" panose="02010600030101010101" pitchFamily="2" charset="-122"/>
              </a:rPr>
            </a:br>
            <a:endParaRPr lang="zh-CN" altLang="en-US" baseline="0">
              <a:ea typeface="宋体" panose="02010600030101010101" pitchFamily="2" charset="-122"/>
            </a:endParaRP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答案取决于所需的准确性。</a:t>
            </a:r>
          </a:p>
          <a:p>
            <a:pPr>
              <a:buFont typeface="Arial" panose="020B0604020202020204" pitchFamily="34" charset="0"/>
              <a:buNone/>
            </a:pPr>
            <a:r>
              <a:rPr lang="zh-CN" altLang="en-US" baseline="0">
                <a:solidFill>
                  <a:schemeClr val="hlink"/>
                </a:solidFill>
                <a:ea typeface="宋体" panose="02010600030101010101" pitchFamily="2" charset="-122"/>
              </a:rPr>
              <a:t>a.</a:t>
            </a:r>
            <a:r>
              <a:rPr lang="zh-CN" altLang="en-US" baseline="0">
                <a:ea typeface="宋体" panose="02010600030101010101" pitchFamily="2" charset="-122"/>
              </a:rPr>
              <a:t> 最小带宽, 是B = 比特率/2, 即500 kHz。</a:t>
            </a:r>
            <a:br>
              <a:rPr lang="zh-CN" altLang="en-US" baseline="0">
                <a:ea typeface="宋体" panose="02010600030101010101" pitchFamily="2" charset="-122"/>
              </a:rPr>
            </a:br>
            <a:r>
              <a:rPr lang="zh-CN" altLang="en-US" baseline="0">
                <a:ea typeface="宋体" panose="02010600030101010101" pitchFamily="2" charset="-122"/>
              </a:rPr>
              <a:t> </a:t>
            </a:r>
          </a:p>
          <a:p>
            <a:pPr>
              <a:buFont typeface="Arial" panose="020B0604020202020204" pitchFamily="34" charset="0"/>
              <a:buNone/>
            </a:pPr>
            <a:r>
              <a:rPr lang="zh-CN" altLang="en-US" baseline="0">
                <a:solidFill>
                  <a:schemeClr val="hlink"/>
                </a:solidFill>
                <a:ea typeface="宋体" panose="02010600030101010101" pitchFamily="2" charset="-122"/>
              </a:rPr>
              <a:t>b.</a:t>
            </a:r>
            <a:r>
              <a:rPr lang="zh-CN" altLang="en-US" baseline="0">
                <a:ea typeface="宋体" panose="02010600030101010101" pitchFamily="2" charset="-122"/>
              </a:rPr>
              <a:t> 使用第一和第三谐波可以得到更好的结果，所需带宽是B = 3 × 500 kHz = 1.5 MHz。</a:t>
            </a:r>
            <a:br>
              <a:rPr lang="zh-CN" altLang="en-US" baseline="0">
                <a:ea typeface="宋体" panose="02010600030101010101" pitchFamily="2" charset="-122"/>
              </a:rPr>
            </a:br>
            <a:endParaRPr lang="zh-CN" altLang="en-US" baseline="0">
              <a:ea typeface="宋体" panose="02010600030101010101" pitchFamily="2" charset="-122"/>
            </a:endParaRPr>
          </a:p>
          <a:p>
            <a:pPr>
              <a:buFont typeface="Arial" panose="020B0604020202020204" pitchFamily="34" charset="0"/>
              <a:buNone/>
            </a:pPr>
            <a:r>
              <a:rPr lang="zh-CN" altLang="en-US" baseline="0">
                <a:solidFill>
                  <a:schemeClr val="hlink"/>
                </a:solidFill>
                <a:ea typeface="宋体" panose="02010600030101010101" pitchFamily="2" charset="-122"/>
              </a:rPr>
              <a:t>c.</a:t>
            </a:r>
            <a:r>
              <a:rPr lang="zh-CN" altLang="en-US" baseline="0">
                <a:ea typeface="宋体" panose="02010600030101010101" pitchFamily="2" charset="-122"/>
              </a:rPr>
              <a:t> 使用第一、第三和第五谐波仍然可以得到更好的结果，所需带宽是 B = 5 × 500 kHz = 2.5 MHz</a:t>
            </a:r>
            <a:r>
              <a:rPr lang="zh-CN" altLang="en-US" sz="2400" baseline="0">
                <a:ea typeface="宋体" panose="02010600030101010101" pitchFamily="2" charset="-122"/>
              </a:rPr>
              <a:t>。</a:t>
            </a:r>
          </a:p>
        </p:txBody>
      </p:sp>
      <p:sp>
        <p:nvSpPr>
          <p:cNvPr id="79883" name="Text Box 12">
            <a:extLst>
              <a:ext uri="{FF2B5EF4-FFF2-40B4-BE49-F238E27FC236}">
                <a16:creationId xmlns:a16="http://schemas.microsoft.com/office/drawing/2014/main" id="{40AA0AEB-5578-5868-9A92-9B68CE9411F0}"/>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3.22</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1">
            <a:extLst>
              <a:ext uri="{FF2B5EF4-FFF2-40B4-BE49-F238E27FC236}">
                <a16:creationId xmlns:a16="http://schemas.microsoft.com/office/drawing/2014/main" id="{9A8E0D59-1C96-2507-0C95-8CEADFB62BB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8057DFFF-9DE0-4DB5-A2F1-AC994781FE17}" type="slidenum">
              <a:rPr lang="en-US" altLang="zh-CN" sz="2000" i="0" baseline="0" smtClean="0">
                <a:latin typeface="Arial" panose="020B0604020202020204" pitchFamily="34" charset="0"/>
              </a:rPr>
              <a:pPr/>
              <a:t>76</a:t>
            </a:fld>
            <a:endParaRPr lang="en-US" altLang="zh-CN" sz="2000" i="0" baseline="0">
              <a:latin typeface="Arial" panose="020B0604020202020204" pitchFamily="34" charset="0"/>
            </a:endParaRPr>
          </a:p>
        </p:txBody>
      </p:sp>
      <p:sp>
        <p:nvSpPr>
          <p:cNvPr id="80899" name="Rectangle 2">
            <a:extLst>
              <a:ext uri="{FF2B5EF4-FFF2-40B4-BE49-F238E27FC236}">
                <a16:creationId xmlns:a16="http://schemas.microsoft.com/office/drawing/2014/main" id="{865AE7D4-673B-67CD-E22E-8BAEF5FF83BE}"/>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0900" name="Rectangle 3">
            <a:extLst>
              <a:ext uri="{FF2B5EF4-FFF2-40B4-BE49-F238E27FC236}">
                <a16:creationId xmlns:a16="http://schemas.microsoft.com/office/drawing/2014/main" id="{FC959405-BF83-2B8E-5D6F-2BE64C85A14F}"/>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80901" name="Group 4">
            <a:extLst>
              <a:ext uri="{FF2B5EF4-FFF2-40B4-BE49-F238E27FC236}">
                <a16:creationId xmlns:a16="http://schemas.microsoft.com/office/drawing/2014/main" id="{62C1D332-E280-9B3D-F5ED-061A2B6BB48B}"/>
              </a:ext>
            </a:extLst>
          </p:cNvPr>
          <p:cNvGrpSpPr>
            <a:grpSpLocks/>
          </p:cNvGrpSpPr>
          <p:nvPr/>
        </p:nvGrpSpPr>
        <p:grpSpPr bwMode="auto">
          <a:xfrm>
            <a:off x="490538" y="773113"/>
            <a:ext cx="738187" cy="474662"/>
            <a:chOff x="0" y="0"/>
            <a:chExt cx="465" cy="299"/>
          </a:xfrm>
        </p:grpSpPr>
        <p:sp>
          <p:nvSpPr>
            <p:cNvPr id="80908" name="Rectangle 5">
              <a:extLst>
                <a:ext uri="{FF2B5EF4-FFF2-40B4-BE49-F238E27FC236}">
                  <a16:creationId xmlns:a16="http://schemas.microsoft.com/office/drawing/2014/main" id="{D702C56E-5468-BCD5-4869-D2E14DF31A6D}"/>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0909" name="Rectangle 6">
              <a:extLst>
                <a:ext uri="{FF2B5EF4-FFF2-40B4-BE49-F238E27FC236}">
                  <a16:creationId xmlns:a16="http://schemas.microsoft.com/office/drawing/2014/main" id="{42D5563B-C05D-D887-8884-C574DBC71C20}"/>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80902" name="Rectangle 7">
            <a:extLst>
              <a:ext uri="{FF2B5EF4-FFF2-40B4-BE49-F238E27FC236}">
                <a16:creationId xmlns:a16="http://schemas.microsoft.com/office/drawing/2014/main" id="{E26C1709-790A-46EC-2A18-1CDC3EE11491}"/>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0903" name="Rectangle 8">
            <a:extLst>
              <a:ext uri="{FF2B5EF4-FFF2-40B4-BE49-F238E27FC236}">
                <a16:creationId xmlns:a16="http://schemas.microsoft.com/office/drawing/2014/main" id="{1C260056-3F76-267F-9605-951B2FB16567}"/>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0904" name="Rectangle 9">
            <a:extLst>
              <a:ext uri="{FF2B5EF4-FFF2-40B4-BE49-F238E27FC236}">
                <a16:creationId xmlns:a16="http://schemas.microsoft.com/office/drawing/2014/main" id="{09FB31AF-9967-8E5B-D0AF-B56C7AE3C278}"/>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0905" name="Rectangle 10">
            <a:extLst>
              <a:ext uri="{FF2B5EF4-FFF2-40B4-BE49-F238E27FC236}">
                <a16:creationId xmlns:a16="http://schemas.microsoft.com/office/drawing/2014/main" id="{48FDAAA0-5A0F-5B0E-F4F3-89B4EEDF2AD8}"/>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80906" name="Rectangle 11">
            <a:extLst>
              <a:ext uri="{FF2B5EF4-FFF2-40B4-BE49-F238E27FC236}">
                <a16:creationId xmlns:a16="http://schemas.microsoft.com/office/drawing/2014/main" id="{33B5E554-5297-3743-ABEB-4E07ACECAAE4}"/>
              </a:ext>
            </a:extLst>
          </p:cNvPr>
          <p:cNvSpPr>
            <a:spLocks noChangeArrowheads="1"/>
          </p:cNvSpPr>
          <p:nvPr/>
        </p:nvSpPr>
        <p:spPr bwMode="auto">
          <a:xfrm>
            <a:off x="381000" y="1214438"/>
            <a:ext cx="8763000" cy="265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baseline="0">
                <a:ea typeface="宋体" panose="02010600030101010101" pitchFamily="2" charset="-122"/>
              </a:rPr>
              <a:t>We 我们有一条带宽为100kHz的低通通道。那么这条通道的最大比特率是多少？</a:t>
            </a:r>
            <a:br>
              <a:rPr lang="zh-CN" altLang="en-US" baseline="0">
                <a:ea typeface="宋体" panose="02010600030101010101" pitchFamily="2" charset="-122"/>
              </a:rPr>
            </a:br>
            <a:endParaRPr lang="zh-CN" altLang="en-US" baseline="0">
              <a:ea typeface="宋体" panose="02010600030101010101" pitchFamily="2" charset="-122"/>
            </a:endParaRP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如果我们使用第一谐波可以得到最大比特率。比特率是2倍有效带宽，即200kbps。</a:t>
            </a:r>
          </a:p>
        </p:txBody>
      </p:sp>
      <p:sp>
        <p:nvSpPr>
          <p:cNvPr id="80907" name="Text Box 12">
            <a:extLst>
              <a:ext uri="{FF2B5EF4-FFF2-40B4-BE49-F238E27FC236}">
                <a16:creationId xmlns:a16="http://schemas.microsoft.com/office/drawing/2014/main" id="{6881CD26-7FA2-CD64-224E-BABA69CD67FD}"/>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3.23</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1">
            <a:extLst>
              <a:ext uri="{FF2B5EF4-FFF2-40B4-BE49-F238E27FC236}">
                <a16:creationId xmlns:a16="http://schemas.microsoft.com/office/drawing/2014/main" id="{03291A5C-41B4-3CF6-85F9-C5169033F44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EFB0362B-92F3-4C94-9770-54D7A4866308}" type="slidenum">
              <a:rPr lang="en-US" altLang="zh-CN" sz="2000" i="0" baseline="0" smtClean="0">
                <a:latin typeface="Arial" panose="020B0604020202020204" pitchFamily="34" charset="0"/>
              </a:rPr>
              <a:pPr/>
              <a:t>77</a:t>
            </a:fld>
            <a:endParaRPr lang="en-US" altLang="zh-CN" sz="2000" i="0" baseline="0">
              <a:latin typeface="Arial" panose="020B0604020202020204" pitchFamily="34" charset="0"/>
            </a:endParaRPr>
          </a:p>
        </p:txBody>
      </p:sp>
      <p:sp>
        <p:nvSpPr>
          <p:cNvPr id="81923" name="Line 2">
            <a:extLst>
              <a:ext uri="{FF2B5EF4-FFF2-40B4-BE49-F238E27FC236}">
                <a16:creationId xmlns:a16="http://schemas.microsoft.com/office/drawing/2014/main" id="{CCCCF5F5-3900-879C-4C12-E2D370728B84}"/>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24" name="Line 3">
            <a:extLst>
              <a:ext uri="{FF2B5EF4-FFF2-40B4-BE49-F238E27FC236}">
                <a16:creationId xmlns:a16="http://schemas.microsoft.com/office/drawing/2014/main" id="{7BF96C5A-9B1C-C737-E95B-2E2249DA89A1}"/>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25" name="Text Box 4">
            <a:extLst>
              <a:ext uri="{FF2B5EF4-FFF2-40B4-BE49-F238E27FC236}">
                <a16:creationId xmlns:a16="http://schemas.microsoft.com/office/drawing/2014/main" id="{B3DB03AA-6248-55FD-EA78-43613ADA18B0}"/>
              </a:ext>
            </a:extLst>
          </p:cNvPr>
          <p:cNvSpPr txBox="1">
            <a:spLocks noChangeArrowheads="1"/>
          </p:cNvSpPr>
          <p:nvPr/>
        </p:nvSpPr>
        <p:spPr bwMode="auto">
          <a:xfrm>
            <a:off x="304800" y="304800"/>
            <a:ext cx="30702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3.23  </a:t>
            </a:r>
            <a:r>
              <a:rPr lang="zh-CN" altLang="en-US" sz="2000" baseline="0">
                <a:ea typeface="宋体" panose="02010600030101010101" pitchFamily="2" charset="-122"/>
              </a:rPr>
              <a:t>带通通道的带宽</a:t>
            </a:r>
          </a:p>
        </p:txBody>
      </p:sp>
      <p:sp>
        <p:nvSpPr>
          <p:cNvPr id="81926" name="Line 5">
            <a:extLst>
              <a:ext uri="{FF2B5EF4-FFF2-40B4-BE49-F238E27FC236}">
                <a16:creationId xmlns:a16="http://schemas.microsoft.com/office/drawing/2014/main" id="{51B79A85-3C47-E240-4210-463DA4FE2C87}"/>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1927" name="Picture 6">
            <a:extLst>
              <a:ext uri="{FF2B5EF4-FFF2-40B4-BE49-F238E27FC236}">
                <a16:creationId xmlns:a16="http://schemas.microsoft.com/office/drawing/2014/main" id="{7EAE8686-3795-F3C7-16DE-274334CAC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590800"/>
            <a:ext cx="7897813" cy="183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8" name="Text Box 7">
            <a:extLst>
              <a:ext uri="{FF2B5EF4-FFF2-40B4-BE49-F238E27FC236}">
                <a16:creationId xmlns:a16="http://schemas.microsoft.com/office/drawing/2014/main" id="{F0051F2A-92DA-E24C-C9E2-CC9AFCF9CCE6}"/>
              </a:ext>
            </a:extLst>
          </p:cNvPr>
          <p:cNvSpPr txBox="1">
            <a:spLocks noChangeArrowheads="1"/>
          </p:cNvSpPr>
          <p:nvPr/>
        </p:nvSpPr>
        <p:spPr bwMode="auto">
          <a:xfrm>
            <a:off x="3089275" y="4137025"/>
            <a:ext cx="1863725" cy="412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i="0">
                <a:ea typeface="宋体" panose="02010600030101010101" pitchFamily="2" charset="-122"/>
              </a:rPr>
              <a:t>带通通道</a:t>
            </a:r>
          </a:p>
        </p:txBody>
      </p:sp>
      <p:sp>
        <p:nvSpPr>
          <p:cNvPr id="81929" name="矩形 8">
            <a:extLst>
              <a:ext uri="{FF2B5EF4-FFF2-40B4-BE49-F238E27FC236}">
                <a16:creationId xmlns:a16="http://schemas.microsoft.com/office/drawing/2014/main" id="{46609A71-388D-8322-9F78-5CD9804B5A03}"/>
              </a:ext>
            </a:extLst>
          </p:cNvPr>
          <p:cNvSpPr>
            <a:spLocks noChangeArrowheads="1"/>
          </p:cNvSpPr>
          <p:nvPr/>
        </p:nvSpPr>
        <p:spPr bwMode="auto">
          <a:xfrm>
            <a:off x="838200" y="1143000"/>
            <a:ext cx="812006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baseline="0">
                <a:ea typeface="宋体" panose="02010600030101010101" pitchFamily="2" charset="-122"/>
              </a:rPr>
              <a:t>宽带传输：</a:t>
            </a:r>
            <a:endParaRPr lang="en-US" altLang="zh-CN" baseline="0">
              <a:ea typeface="宋体" panose="02010600030101010101" pitchFamily="2" charset="-122"/>
            </a:endParaRPr>
          </a:p>
          <a:p>
            <a:pPr>
              <a:buFont typeface="Arial" panose="020B0604020202020204" pitchFamily="34" charset="0"/>
              <a:buNone/>
            </a:pPr>
            <a:r>
              <a:rPr lang="zh-CN" altLang="en-US" baseline="0">
                <a:ea typeface="宋体" panose="02010600030101010101" pitchFamily="2" charset="-122"/>
              </a:rPr>
              <a:t>使用调制，把数字信号转换成模拟信号进行传输；</a:t>
            </a:r>
            <a:endParaRPr lang="en-US" altLang="zh-CN" baseline="0">
              <a:ea typeface="宋体" panose="02010600030101010101" pitchFamily="2" charset="-122"/>
            </a:endParaRPr>
          </a:p>
          <a:p>
            <a:pPr>
              <a:buFont typeface="Arial" panose="020B0604020202020204" pitchFamily="34" charset="0"/>
              <a:buNone/>
            </a:pPr>
            <a:r>
              <a:rPr lang="zh-CN" altLang="en-US" baseline="0">
                <a:ea typeface="宋体" panose="02010600030101010101" pitchFamily="2" charset="-122"/>
              </a:rPr>
              <a:t>调制允许使用带通通道；</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1">
            <a:extLst>
              <a:ext uri="{FF2B5EF4-FFF2-40B4-BE49-F238E27FC236}">
                <a16:creationId xmlns:a16="http://schemas.microsoft.com/office/drawing/2014/main" id="{0686A29E-6029-70C1-5206-C930E95DD39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086AE9F3-FEFA-42F1-A803-EFC6B63A78CE}" type="slidenum">
              <a:rPr lang="en-US" altLang="zh-CN" sz="2000" i="0" baseline="0" smtClean="0">
                <a:latin typeface="Arial" panose="020B0604020202020204" pitchFamily="34" charset="0"/>
              </a:rPr>
              <a:pPr/>
              <a:t>78</a:t>
            </a:fld>
            <a:endParaRPr lang="en-US" altLang="zh-CN" sz="2000" i="0" baseline="0">
              <a:latin typeface="Arial" panose="020B0604020202020204" pitchFamily="34" charset="0"/>
            </a:endParaRPr>
          </a:p>
        </p:txBody>
      </p:sp>
      <p:sp>
        <p:nvSpPr>
          <p:cNvPr id="82947" name="Rectangle 2">
            <a:extLst>
              <a:ext uri="{FF2B5EF4-FFF2-40B4-BE49-F238E27FC236}">
                <a16:creationId xmlns:a16="http://schemas.microsoft.com/office/drawing/2014/main" id="{B80B857E-AFBF-D7C1-D6DC-F46343831922}"/>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2948" name="Rectangle 3">
            <a:extLst>
              <a:ext uri="{FF2B5EF4-FFF2-40B4-BE49-F238E27FC236}">
                <a16:creationId xmlns:a16="http://schemas.microsoft.com/office/drawing/2014/main" id="{C271CE85-17B7-D626-DD5C-00EFC8E26259}"/>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2949" name="Rectangle 4">
            <a:extLst>
              <a:ext uri="{FF2B5EF4-FFF2-40B4-BE49-F238E27FC236}">
                <a16:creationId xmlns:a16="http://schemas.microsoft.com/office/drawing/2014/main" id="{021B4DC0-F2D6-5BCE-66B0-E94533A74115}"/>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2950" name="Rectangle 5">
            <a:extLst>
              <a:ext uri="{FF2B5EF4-FFF2-40B4-BE49-F238E27FC236}">
                <a16:creationId xmlns:a16="http://schemas.microsoft.com/office/drawing/2014/main" id="{66A1F5DC-7139-AE5E-5F84-296DD4B67547}"/>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2951" name="Rectangle 6">
            <a:extLst>
              <a:ext uri="{FF2B5EF4-FFF2-40B4-BE49-F238E27FC236}">
                <a16:creationId xmlns:a16="http://schemas.microsoft.com/office/drawing/2014/main" id="{0EE0FB51-4297-D063-C855-06808BDE013D}"/>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2952" name="Rectangle 7">
            <a:extLst>
              <a:ext uri="{FF2B5EF4-FFF2-40B4-BE49-F238E27FC236}">
                <a16:creationId xmlns:a16="http://schemas.microsoft.com/office/drawing/2014/main" id="{3F5E1836-BA48-A838-A15C-1B04A4D7C74C}"/>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2953" name="Rectangle 8">
            <a:extLst>
              <a:ext uri="{FF2B5EF4-FFF2-40B4-BE49-F238E27FC236}">
                <a16:creationId xmlns:a16="http://schemas.microsoft.com/office/drawing/2014/main" id="{EB2F8CC5-FE15-E853-86D7-2548D4FC89DA}"/>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2954" name="Line 9">
            <a:extLst>
              <a:ext uri="{FF2B5EF4-FFF2-40B4-BE49-F238E27FC236}">
                <a16:creationId xmlns:a16="http://schemas.microsoft.com/office/drawing/2014/main" id="{47E8D241-FCDF-4BE9-4660-B98F5812EF78}"/>
              </a:ext>
            </a:extLst>
          </p:cNvPr>
          <p:cNvSpPr>
            <a:spLocks noChangeShapeType="1"/>
          </p:cNvSpPr>
          <p:nvPr/>
        </p:nvSpPr>
        <p:spPr bwMode="auto">
          <a:xfrm>
            <a:off x="457200" y="2133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5" name="Line 10">
            <a:extLst>
              <a:ext uri="{FF2B5EF4-FFF2-40B4-BE49-F238E27FC236}">
                <a16:creationId xmlns:a16="http://schemas.microsoft.com/office/drawing/2014/main" id="{EAB5CD17-011A-E680-AF1D-34522FE73F0F}"/>
              </a:ext>
            </a:extLst>
          </p:cNvPr>
          <p:cNvSpPr>
            <a:spLocks noChangeShapeType="1"/>
          </p:cNvSpPr>
          <p:nvPr/>
        </p:nvSpPr>
        <p:spPr bwMode="auto">
          <a:xfrm>
            <a:off x="457200" y="3886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6" name="Rectangle 11">
            <a:extLst>
              <a:ext uri="{FF2B5EF4-FFF2-40B4-BE49-F238E27FC236}">
                <a16:creationId xmlns:a16="http://schemas.microsoft.com/office/drawing/2014/main" id="{F407EB18-1C0F-A197-BC3D-9F7817BEFD28}"/>
              </a:ext>
            </a:extLst>
          </p:cNvPr>
          <p:cNvSpPr>
            <a:spLocks noChangeArrowheads="1"/>
          </p:cNvSpPr>
          <p:nvPr/>
        </p:nvSpPr>
        <p:spPr bwMode="auto">
          <a:xfrm>
            <a:off x="495300" y="2225675"/>
            <a:ext cx="8077200" cy="1554163"/>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如果可用通道是带通通道，我们不能直接发送数字信号到通道；我们需要在传输前把数字信号转换成模拟信号。</a:t>
            </a:r>
          </a:p>
        </p:txBody>
      </p:sp>
      <p:grpSp>
        <p:nvGrpSpPr>
          <p:cNvPr id="82957" name="Group 12">
            <a:extLst>
              <a:ext uri="{FF2B5EF4-FFF2-40B4-BE49-F238E27FC236}">
                <a16:creationId xmlns:a16="http://schemas.microsoft.com/office/drawing/2014/main" id="{E436812E-4EA1-82B7-5010-8D6ED73C54A1}"/>
              </a:ext>
            </a:extLst>
          </p:cNvPr>
          <p:cNvGrpSpPr>
            <a:grpSpLocks/>
          </p:cNvGrpSpPr>
          <p:nvPr/>
        </p:nvGrpSpPr>
        <p:grpSpPr bwMode="auto">
          <a:xfrm>
            <a:off x="457200" y="1524000"/>
            <a:ext cx="1143000" cy="566738"/>
            <a:chOff x="0" y="0"/>
            <a:chExt cx="720" cy="357"/>
          </a:xfrm>
        </p:grpSpPr>
        <p:pic>
          <p:nvPicPr>
            <p:cNvPr id="82958" name="Picture 13">
              <a:extLst>
                <a:ext uri="{FF2B5EF4-FFF2-40B4-BE49-F238E27FC236}">
                  <a16:creationId xmlns:a16="http://schemas.microsoft.com/office/drawing/2014/main" id="{354AED4C-F34E-7FDF-E132-5332638611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9" name="Text Box 14">
              <a:extLst>
                <a:ext uri="{FF2B5EF4-FFF2-40B4-BE49-F238E27FC236}">
                  <a16:creationId xmlns:a16="http://schemas.microsoft.com/office/drawing/2014/main" id="{48662230-D6D5-9468-6C76-55A33FE22B7B}"/>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1">
            <a:extLst>
              <a:ext uri="{FF2B5EF4-FFF2-40B4-BE49-F238E27FC236}">
                <a16:creationId xmlns:a16="http://schemas.microsoft.com/office/drawing/2014/main" id="{83C754F0-B575-324C-5443-EB63CC814C6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79E47435-C86D-44C3-9241-B259E1BDE497}" type="slidenum">
              <a:rPr lang="en-US" altLang="zh-CN" sz="2000" i="0" baseline="0" smtClean="0">
                <a:latin typeface="Arial" panose="020B0604020202020204" pitchFamily="34" charset="0"/>
              </a:rPr>
              <a:pPr/>
              <a:t>79</a:t>
            </a:fld>
            <a:endParaRPr lang="en-US" altLang="zh-CN" sz="2000" i="0" baseline="0">
              <a:latin typeface="Arial" panose="020B0604020202020204" pitchFamily="34" charset="0"/>
            </a:endParaRPr>
          </a:p>
        </p:txBody>
      </p:sp>
      <p:sp>
        <p:nvSpPr>
          <p:cNvPr id="83971" name="Line 2">
            <a:extLst>
              <a:ext uri="{FF2B5EF4-FFF2-40B4-BE49-F238E27FC236}">
                <a16:creationId xmlns:a16="http://schemas.microsoft.com/office/drawing/2014/main" id="{062FDBAF-7D4E-5A00-5069-1000C46E80B5}"/>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72" name="Line 3">
            <a:extLst>
              <a:ext uri="{FF2B5EF4-FFF2-40B4-BE49-F238E27FC236}">
                <a16:creationId xmlns:a16="http://schemas.microsoft.com/office/drawing/2014/main" id="{6EFBF9B5-633C-6A69-AC16-79739C8C420E}"/>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73" name="Text Box 4">
            <a:extLst>
              <a:ext uri="{FF2B5EF4-FFF2-40B4-BE49-F238E27FC236}">
                <a16:creationId xmlns:a16="http://schemas.microsoft.com/office/drawing/2014/main" id="{5FD26F3B-2BF2-29A8-D5CC-060FDFC77ECF}"/>
              </a:ext>
            </a:extLst>
          </p:cNvPr>
          <p:cNvSpPr txBox="1">
            <a:spLocks noChangeArrowheads="1"/>
          </p:cNvSpPr>
          <p:nvPr/>
        </p:nvSpPr>
        <p:spPr bwMode="auto">
          <a:xfrm>
            <a:off x="304800" y="152400"/>
            <a:ext cx="5313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3.24  </a:t>
            </a:r>
            <a:r>
              <a:rPr lang="zh-CN" altLang="en-US" sz="2000" baseline="0">
                <a:ea typeface="宋体" panose="02010600030101010101" pitchFamily="2" charset="-122"/>
              </a:rPr>
              <a:t>数字信号在带通通道传输的调制过程</a:t>
            </a:r>
          </a:p>
        </p:txBody>
      </p:sp>
      <p:sp>
        <p:nvSpPr>
          <p:cNvPr id="83974" name="Line 5">
            <a:extLst>
              <a:ext uri="{FF2B5EF4-FFF2-40B4-BE49-F238E27FC236}">
                <a16:creationId xmlns:a16="http://schemas.microsoft.com/office/drawing/2014/main" id="{EE265AB7-84CE-C6C6-9587-A066A7A0B4D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3975" name="Picture 6">
            <a:extLst>
              <a:ext uri="{FF2B5EF4-FFF2-40B4-BE49-F238E27FC236}">
                <a16:creationId xmlns:a16="http://schemas.microsoft.com/office/drawing/2014/main" id="{B0E8DFC0-55E2-213E-0ADE-B2B4497FC6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75" y="1633538"/>
            <a:ext cx="8683625" cy="431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1">
            <a:extLst>
              <a:ext uri="{FF2B5EF4-FFF2-40B4-BE49-F238E27FC236}">
                <a16:creationId xmlns:a16="http://schemas.microsoft.com/office/drawing/2014/main" id="{FF0C6B70-BB7B-466F-E2EF-E9F9A520A2F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4874D06F-AD8E-4E61-8723-50D6C34D8D43}" type="slidenum">
              <a:rPr lang="en-US" altLang="zh-CN" sz="2000" i="0" baseline="0" smtClean="0">
                <a:latin typeface="Arial" panose="020B0604020202020204" pitchFamily="34" charset="0"/>
              </a:rPr>
              <a:pPr/>
              <a:t>80</a:t>
            </a:fld>
            <a:endParaRPr lang="en-US" altLang="zh-CN" sz="2000" i="0" baseline="0">
              <a:latin typeface="Arial" panose="020B0604020202020204" pitchFamily="34" charset="0"/>
            </a:endParaRPr>
          </a:p>
        </p:txBody>
      </p:sp>
      <p:sp>
        <p:nvSpPr>
          <p:cNvPr id="84995" name="Rectangle 2">
            <a:extLst>
              <a:ext uri="{FF2B5EF4-FFF2-40B4-BE49-F238E27FC236}">
                <a16:creationId xmlns:a16="http://schemas.microsoft.com/office/drawing/2014/main" id="{4BDDE1DF-DD8E-AD1C-57F5-C36A00A67D07}"/>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4996" name="Rectangle 3">
            <a:extLst>
              <a:ext uri="{FF2B5EF4-FFF2-40B4-BE49-F238E27FC236}">
                <a16:creationId xmlns:a16="http://schemas.microsoft.com/office/drawing/2014/main" id="{B25726FC-6220-A569-1503-D42B34E59A82}"/>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84997" name="Group 4">
            <a:extLst>
              <a:ext uri="{FF2B5EF4-FFF2-40B4-BE49-F238E27FC236}">
                <a16:creationId xmlns:a16="http://schemas.microsoft.com/office/drawing/2014/main" id="{BB6D63FF-4A95-4A17-B93E-4A58C313CF52}"/>
              </a:ext>
            </a:extLst>
          </p:cNvPr>
          <p:cNvGrpSpPr>
            <a:grpSpLocks/>
          </p:cNvGrpSpPr>
          <p:nvPr/>
        </p:nvGrpSpPr>
        <p:grpSpPr bwMode="auto">
          <a:xfrm>
            <a:off x="490538" y="773113"/>
            <a:ext cx="738187" cy="474662"/>
            <a:chOff x="0" y="0"/>
            <a:chExt cx="465" cy="299"/>
          </a:xfrm>
        </p:grpSpPr>
        <p:sp>
          <p:nvSpPr>
            <p:cNvPr id="85004" name="Rectangle 5">
              <a:extLst>
                <a:ext uri="{FF2B5EF4-FFF2-40B4-BE49-F238E27FC236}">
                  <a16:creationId xmlns:a16="http://schemas.microsoft.com/office/drawing/2014/main" id="{458484BE-15AC-6DC5-6627-7EDAB9BA2F30}"/>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5005" name="Rectangle 6">
              <a:extLst>
                <a:ext uri="{FF2B5EF4-FFF2-40B4-BE49-F238E27FC236}">
                  <a16:creationId xmlns:a16="http://schemas.microsoft.com/office/drawing/2014/main" id="{B2242523-35B1-70B5-DE67-08F10EECB972}"/>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84998" name="Rectangle 7">
            <a:extLst>
              <a:ext uri="{FF2B5EF4-FFF2-40B4-BE49-F238E27FC236}">
                <a16:creationId xmlns:a16="http://schemas.microsoft.com/office/drawing/2014/main" id="{6C0F56AB-4D7A-97C2-9AC9-EE7302C60014}"/>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4999" name="Rectangle 8">
            <a:extLst>
              <a:ext uri="{FF2B5EF4-FFF2-40B4-BE49-F238E27FC236}">
                <a16:creationId xmlns:a16="http://schemas.microsoft.com/office/drawing/2014/main" id="{D8EFC4C0-D1CC-EDEB-735B-276E21BBF498}"/>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5000" name="Rectangle 9">
            <a:extLst>
              <a:ext uri="{FF2B5EF4-FFF2-40B4-BE49-F238E27FC236}">
                <a16:creationId xmlns:a16="http://schemas.microsoft.com/office/drawing/2014/main" id="{8AD726C9-6E9E-34F0-30DA-8AAC573016D7}"/>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5001" name="Rectangle 10">
            <a:extLst>
              <a:ext uri="{FF2B5EF4-FFF2-40B4-BE49-F238E27FC236}">
                <a16:creationId xmlns:a16="http://schemas.microsoft.com/office/drawing/2014/main" id="{91C24B0A-E2E0-C676-94B3-100F9701BB74}"/>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85002" name="Rectangle 11">
            <a:extLst>
              <a:ext uri="{FF2B5EF4-FFF2-40B4-BE49-F238E27FC236}">
                <a16:creationId xmlns:a16="http://schemas.microsoft.com/office/drawing/2014/main" id="{8430F6B8-2BBF-ADBE-1242-F171EFD83006}"/>
              </a:ext>
            </a:extLst>
          </p:cNvPr>
          <p:cNvSpPr>
            <a:spLocks noChangeArrowheads="1"/>
          </p:cNvSpPr>
          <p:nvPr/>
        </p:nvSpPr>
        <p:spPr bwMode="auto">
          <a:xfrm>
            <a:off x="228600" y="1295400"/>
            <a:ext cx="8534400" cy="393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使用调制的宽带传输的一个例子是通过电话用户线传输计算机数据，电话用户线连接住所到中心电话局。这些线路设计用有限带宽承载语音。这个通道通常被看做带通通道。我们从计算机把数字信号转换成模拟信号，然后发送模拟信号。我们要安装两个转换器用来在发送端把数字信号转换成模拟信号以及在接收端把模拟信号转换回数字信号。在这种情况下，转换器称为调制解调器，我们会在第5章更详细地讨论调制解调器。</a:t>
            </a:r>
          </a:p>
        </p:txBody>
      </p:sp>
      <p:sp>
        <p:nvSpPr>
          <p:cNvPr id="85003" name="Text Box 12">
            <a:extLst>
              <a:ext uri="{FF2B5EF4-FFF2-40B4-BE49-F238E27FC236}">
                <a16:creationId xmlns:a16="http://schemas.microsoft.com/office/drawing/2014/main" id="{6AF62864-F629-6CCE-A4A3-25D0DA265A9B}"/>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3.24</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1">
            <a:extLst>
              <a:ext uri="{FF2B5EF4-FFF2-40B4-BE49-F238E27FC236}">
                <a16:creationId xmlns:a16="http://schemas.microsoft.com/office/drawing/2014/main" id="{86673166-2F93-6953-1140-325E0D41FEB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6D92CBB3-A12A-4A75-A469-3A8D1258DA28}" type="slidenum">
              <a:rPr lang="en-US" altLang="zh-CN" sz="2000" i="0" baseline="0" smtClean="0">
                <a:latin typeface="Arial" panose="020B0604020202020204" pitchFamily="34" charset="0"/>
              </a:rPr>
              <a:pPr/>
              <a:t>81</a:t>
            </a:fld>
            <a:endParaRPr lang="en-US" altLang="zh-CN" sz="2000" i="0" baseline="0">
              <a:latin typeface="Arial" panose="020B0604020202020204" pitchFamily="34" charset="0"/>
            </a:endParaRPr>
          </a:p>
        </p:txBody>
      </p:sp>
      <p:sp>
        <p:nvSpPr>
          <p:cNvPr id="86019" name="Rectangle 2">
            <a:extLst>
              <a:ext uri="{FF2B5EF4-FFF2-40B4-BE49-F238E27FC236}">
                <a16:creationId xmlns:a16="http://schemas.microsoft.com/office/drawing/2014/main" id="{9DE748EC-DF00-4E6F-41E6-8FC14B9C6B06}"/>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6020" name="Rectangle 3">
            <a:extLst>
              <a:ext uri="{FF2B5EF4-FFF2-40B4-BE49-F238E27FC236}">
                <a16:creationId xmlns:a16="http://schemas.microsoft.com/office/drawing/2014/main" id="{06DA908E-95F0-2303-4854-B2D759A97FC8}"/>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86021" name="Group 4">
            <a:extLst>
              <a:ext uri="{FF2B5EF4-FFF2-40B4-BE49-F238E27FC236}">
                <a16:creationId xmlns:a16="http://schemas.microsoft.com/office/drawing/2014/main" id="{B1709B09-1865-1A30-76C5-FADE9AF3FC48}"/>
              </a:ext>
            </a:extLst>
          </p:cNvPr>
          <p:cNvGrpSpPr>
            <a:grpSpLocks/>
          </p:cNvGrpSpPr>
          <p:nvPr/>
        </p:nvGrpSpPr>
        <p:grpSpPr bwMode="auto">
          <a:xfrm>
            <a:off x="490538" y="773113"/>
            <a:ext cx="738187" cy="474662"/>
            <a:chOff x="0" y="0"/>
            <a:chExt cx="465" cy="299"/>
          </a:xfrm>
        </p:grpSpPr>
        <p:sp>
          <p:nvSpPr>
            <p:cNvPr id="86028" name="Rectangle 5">
              <a:extLst>
                <a:ext uri="{FF2B5EF4-FFF2-40B4-BE49-F238E27FC236}">
                  <a16:creationId xmlns:a16="http://schemas.microsoft.com/office/drawing/2014/main" id="{B37DB946-E944-8EDB-C684-46D7331C268A}"/>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6029" name="Rectangle 6">
              <a:extLst>
                <a:ext uri="{FF2B5EF4-FFF2-40B4-BE49-F238E27FC236}">
                  <a16:creationId xmlns:a16="http://schemas.microsoft.com/office/drawing/2014/main" id="{2F69BD10-1D99-5528-9081-C1BC9C716841}"/>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86022" name="Rectangle 7">
            <a:extLst>
              <a:ext uri="{FF2B5EF4-FFF2-40B4-BE49-F238E27FC236}">
                <a16:creationId xmlns:a16="http://schemas.microsoft.com/office/drawing/2014/main" id="{D32F214A-A589-A524-8C31-5BF0E4F7A2D2}"/>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6023" name="Rectangle 8">
            <a:extLst>
              <a:ext uri="{FF2B5EF4-FFF2-40B4-BE49-F238E27FC236}">
                <a16:creationId xmlns:a16="http://schemas.microsoft.com/office/drawing/2014/main" id="{0095BDCA-1832-7F4B-DC5B-AA9E8FE18D3E}"/>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6024" name="Rectangle 9">
            <a:extLst>
              <a:ext uri="{FF2B5EF4-FFF2-40B4-BE49-F238E27FC236}">
                <a16:creationId xmlns:a16="http://schemas.microsoft.com/office/drawing/2014/main" id="{0C7A6C52-14DB-97B2-468B-EBA02DCE92A7}"/>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86025" name="Rectangle 10">
            <a:extLst>
              <a:ext uri="{FF2B5EF4-FFF2-40B4-BE49-F238E27FC236}">
                <a16:creationId xmlns:a16="http://schemas.microsoft.com/office/drawing/2014/main" id="{112DEC96-0EA1-08E5-8FF2-13AAF3B765F8}"/>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86026" name="Rectangle 11">
            <a:extLst>
              <a:ext uri="{FF2B5EF4-FFF2-40B4-BE49-F238E27FC236}">
                <a16:creationId xmlns:a16="http://schemas.microsoft.com/office/drawing/2014/main" id="{BC806D41-22ED-B500-C4FE-03A30FC835B0}"/>
              </a:ext>
            </a:extLst>
          </p:cNvPr>
          <p:cNvSpPr>
            <a:spLocks noChangeArrowheads="1"/>
          </p:cNvSpPr>
          <p:nvPr/>
        </p:nvSpPr>
        <p:spPr bwMode="auto">
          <a:xfrm>
            <a:off x="228600" y="1447800"/>
            <a:ext cx="8534400"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第二个例子是数字蜂窝电话。为了更好地接收，数字蜂窝电话把模拟信号转换成数字信号(见第16章)。虽然分配给公司提供数字蜂窝电话服务的带宽很广，但是我们不能不经转换发送数字信号。原因是，我们在主叫方和被叫方之间只有一条可用的带通通道。我们需要在发送前把数字信号转换成复合模拟信号。</a:t>
            </a:r>
          </a:p>
        </p:txBody>
      </p:sp>
      <p:sp>
        <p:nvSpPr>
          <p:cNvPr id="86027" name="Text Box 12">
            <a:extLst>
              <a:ext uri="{FF2B5EF4-FFF2-40B4-BE49-F238E27FC236}">
                <a16:creationId xmlns:a16="http://schemas.microsoft.com/office/drawing/2014/main" id="{4B60B2F7-7527-0D54-2FA8-25BE755147E1}"/>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3.25</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灯片编号占位符 1">
            <a:extLst>
              <a:ext uri="{FF2B5EF4-FFF2-40B4-BE49-F238E27FC236}">
                <a16:creationId xmlns:a16="http://schemas.microsoft.com/office/drawing/2014/main" id="{350F7915-7FBD-0C0E-ECB5-1E2DC07ED7D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7BC9AB99-9D82-4714-9546-59741164886B}" type="slidenum">
              <a:rPr lang="en-US" altLang="zh-CN" sz="2000" i="0" baseline="0" smtClean="0">
                <a:latin typeface="Arial" panose="020B0604020202020204" pitchFamily="34" charset="0"/>
              </a:rPr>
              <a:pPr/>
              <a:t>82</a:t>
            </a:fld>
            <a:endParaRPr lang="en-US" altLang="zh-CN" sz="2000" i="0" baseline="0">
              <a:latin typeface="Arial" panose="020B0604020202020204" pitchFamily="34" charset="0"/>
            </a:endParaRPr>
          </a:p>
        </p:txBody>
      </p:sp>
      <p:sp>
        <p:nvSpPr>
          <p:cNvPr id="79874" name="Rectangle 2">
            <a:extLst>
              <a:ext uri="{FF2B5EF4-FFF2-40B4-BE49-F238E27FC236}">
                <a16:creationId xmlns:a16="http://schemas.microsoft.com/office/drawing/2014/main" id="{92D078ED-1C1D-5887-D9BB-F9CEFE4879E1}"/>
              </a:ext>
            </a:extLst>
          </p:cNvPr>
          <p:cNvSpPr>
            <a:spLocks noChangeArrowheads="1"/>
          </p:cNvSpPr>
          <p:nvPr/>
        </p:nvSpPr>
        <p:spPr bwMode="auto">
          <a:xfrm>
            <a:off x="0" y="0"/>
            <a:ext cx="9144000" cy="838200"/>
          </a:xfrm>
          <a:prstGeom prst="rect">
            <a:avLst/>
          </a:prstGeom>
          <a:solidFill>
            <a:srgbClr val="33CCFF"/>
          </a:solidFill>
          <a:ln w="9525" cmpd="sng">
            <a:solidFill>
              <a:schemeClr val="tx1"/>
            </a:solidFill>
            <a:miter lim="800000"/>
            <a:headEnd/>
            <a:tailEnd/>
          </a:ln>
          <a:effectLst/>
        </p:spPr>
        <p:txBody>
          <a:bodyPr wrap="none" anchor="ctr"/>
          <a:lstStyle/>
          <a:p>
            <a:pPr algn="ctr">
              <a:buFont typeface="Arial" panose="020B0604020202020204" pitchFamily="34" charset="0"/>
              <a:buNone/>
              <a:defRPr/>
            </a:pPr>
            <a:endParaRPr lang="zh-CN" altLang="zh-CN" sz="3200" i="0" baseline="0">
              <a:effectLst>
                <a:outerShdw blurRad="38100" dist="38100" dir="2700000" algn="tl">
                  <a:srgbClr val="FFFFFF"/>
                </a:outerShdw>
              </a:effectLst>
              <a:ea typeface="宋体" pitchFamily="2" charset="-122"/>
            </a:endParaRPr>
          </a:p>
        </p:txBody>
      </p:sp>
      <p:sp>
        <p:nvSpPr>
          <p:cNvPr id="79875" name="Text Box 3">
            <a:extLst>
              <a:ext uri="{FF2B5EF4-FFF2-40B4-BE49-F238E27FC236}">
                <a16:creationId xmlns:a16="http://schemas.microsoft.com/office/drawing/2014/main" id="{4D05363A-CAD8-72D6-09B6-7344FCAFA23C}"/>
              </a:ext>
            </a:extLst>
          </p:cNvPr>
          <p:cNvSpPr txBox="1">
            <a:spLocks noChangeArrowheads="1"/>
          </p:cNvSpPr>
          <p:nvPr/>
        </p:nvSpPr>
        <p:spPr bwMode="auto">
          <a:xfrm>
            <a:off x="228600" y="76200"/>
            <a:ext cx="2654300" cy="579438"/>
          </a:xfrm>
          <a:prstGeom prst="rect">
            <a:avLst/>
          </a:prstGeom>
          <a:noFill/>
          <a:ln w="9525">
            <a:noFill/>
            <a:miter lim="800000"/>
            <a:headEnd/>
            <a:tailEnd/>
          </a:ln>
          <a:effectLst/>
        </p:spPr>
        <p:txBody>
          <a:bodyPr wrap="none">
            <a:spAutoFit/>
          </a:bodyPr>
          <a:lstStyle/>
          <a:p>
            <a:pPr>
              <a:buFont typeface="Arial" panose="020B0604020202020204" pitchFamily="34" charset="0"/>
              <a:buNone/>
              <a:defRPr/>
            </a:pPr>
            <a:r>
              <a:rPr lang="zh-CN" altLang="en-US" sz="3200" i="0" baseline="0">
                <a:effectLst>
                  <a:outerShdw blurRad="38100" dist="38100" dir="2700000" algn="tl">
                    <a:srgbClr val="C0C0C0"/>
                  </a:outerShdw>
                </a:effectLst>
                <a:latin typeface="Times" pitchFamily="2" charset="0"/>
              </a:rPr>
              <a:t>3-4   </a:t>
            </a:r>
            <a:r>
              <a:rPr lang="zh-CN" altLang="en-US" sz="3200" i="0" baseline="0">
                <a:effectLst>
                  <a:outerShdw blurRad="38100" dist="38100" dir="2700000" algn="tl">
                    <a:srgbClr val="C0C0C0"/>
                  </a:outerShdw>
                </a:effectLst>
                <a:latin typeface="Times" pitchFamily="2" charset="0"/>
                <a:ea typeface="宋体" pitchFamily="2" charset="-122"/>
              </a:rPr>
              <a:t>传输减损</a:t>
            </a:r>
          </a:p>
        </p:txBody>
      </p:sp>
      <p:sp>
        <p:nvSpPr>
          <p:cNvPr id="87045" name="Text Box 4">
            <a:extLst>
              <a:ext uri="{FF2B5EF4-FFF2-40B4-BE49-F238E27FC236}">
                <a16:creationId xmlns:a16="http://schemas.microsoft.com/office/drawing/2014/main" id="{1A593AE4-56CC-4116-EED2-C245FF34ABC8}"/>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zh-CN" sz="1800" i="0" baseline="0">
              <a:ea typeface="宋体" panose="02010600030101010101" pitchFamily="2" charset="-122"/>
            </a:endParaRPr>
          </a:p>
        </p:txBody>
      </p:sp>
      <p:sp>
        <p:nvSpPr>
          <p:cNvPr id="79877" name="Rectangle 5">
            <a:extLst>
              <a:ext uri="{FF2B5EF4-FFF2-40B4-BE49-F238E27FC236}">
                <a16:creationId xmlns:a16="http://schemas.microsoft.com/office/drawing/2014/main" id="{3C6DA83B-3FE1-5C6C-8691-1A927CCF6372}"/>
              </a:ext>
            </a:extLst>
          </p:cNvPr>
          <p:cNvSpPr>
            <a:spLocks noChangeArrowheads="1"/>
          </p:cNvSpPr>
          <p:nvPr/>
        </p:nvSpPr>
        <p:spPr bwMode="auto">
          <a:xfrm>
            <a:off x="76200" y="1417638"/>
            <a:ext cx="8610600" cy="2225675"/>
          </a:xfrm>
          <a:prstGeom prst="rect">
            <a:avLst/>
          </a:prstGeom>
          <a:noFill/>
          <a:ln w="9525">
            <a:noFill/>
            <a:miter lim="800000"/>
            <a:headEnd/>
            <a:tailEnd/>
          </a:ln>
          <a:effectLst/>
        </p:spPr>
        <p:txBody>
          <a:bodyPr anchor="ctr">
            <a:spAutoFit/>
          </a:bodyPr>
          <a:lstStyle/>
          <a:p>
            <a:pPr algn="just" eaLnBrk="1" hangingPunct="1">
              <a:buFont typeface="Arial" panose="020B0604020202020204" pitchFamily="34" charset="0"/>
              <a:buNone/>
              <a:defRPr/>
            </a:pPr>
            <a:r>
              <a:rPr lang="zh-CN" altLang="en-US" baseline="0">
                <a:effectLst>
                  <a:outerShdw blurRad="38100" dist="38100" dir="2700000" algn="tl">
                    <a:srgbClr val="C0C0C0"/>
                  </a:outerShdw>
                </a:effectLst>
                <a:ea typeface="宋体" pitchFamily="2" charset="-122"/>
              </a:rPr>
              <a:t>        信号通过介质进行传输，但是其传输并非是完美无缺的。不完美的地方导致了信号减损。这意味着信号在介质的开始一端和结束一端是不相同的。发送的信号并非就是接收到的信号。通常会发生三种类型的减损：衰减、失真和噪声。</a:t>
            </a:r>
          </a:p>
        </p:txBody>
      </p:sp>
      <p:sp>
        <p:nvSpPr>
          <p:cNvPr id="87047" name="Rectangle 6">
            <a:extLst>
              <a:ext uri="{FF2B5EF4-FFF2-40B4-BE49-F238E27FC236}">
                <a16:creationId xmlns:a16="http://schemas.microsoft.com/office/drawing/2014/main" id="{59175602-73E0-3DA5-C5A2-871B9045CFEE}"/>
              </a:ext>
            </a:extLst>
          </p:cNvPr>
          <p:cNvSpPr>
            <a:spLocks noChangeArrowheads="1"/>
          </p:cNvSpPr>
          <p:nvPr/>
        </p:nvSpPr>
        <p:spPr bwMode="auto">
          <a:xfrm>
            <a:off x="306388" y="4819650"/>
            <a:ext cx="5561012"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zh-CN" altLang="en-US" sz="2400" i="0" baseline="0">
                <a:solidFill>
                  <a:srgbClr val="0033CC"/>
                </a:solidFill>
                <a:ea typeface="宋体" panose="02010600030101010101" pitchFamily="2" charset="-122"/>
              </a:rPr>
              <a:t>衰减</a:t>
            </a:r>
            <a:br>
              <a:rPr lang="fr-FR" altLang="en-US" sz="2400" i="0" baseline="0">
                <a:solidFill>
                  <a:srgbClr val="0033CC"/>
                </a:solidFill>
              </a:rPr>
            </a:br>
            <a:r>
              <a:rPr lang="zh-CN" altLang="en-US" sz="2400" i="0" baseline="0">
                <a:solidFill>
                  <a:srgbClr val="0033CC"/>
                </a:solidFill>
                <a:ea typeface="宋体" panose="02010600030101010101" pitchFamily="2" charset="-122"/>
              </a:rPr>
              <a:t>失真</a:t>
            </a:r>
            <a:br>
              <a:rPr lang="fr-FR" altLang="en-US" sz="2400" i="0" baseline="0">
                <a:solidFill>
                  <a:srgbClr val="0033CC"/>
                </a:solidFill>
              </a:rPr>
            </a:br>
            <a:r>
              <a:rPr lang="zh-CN" altLang="en-US" sz="2400" i="0" baseline="0">
                <a:solidFill>
                  <a:srgbClr val="0033CC"/>
                </a:solidFill>
                <a:ea typeface="宋体" panose="02010600030101010101" pitchFamily="2" charset="-122"/>
              </a:rPr>
              <a:t>噪声</a:t>
            </a:r>
          </a:p>
        </p:txBody>
      </p:sp>
      <p:sp>
        <p:nvSpPr>
          <p:cNvPr id="79879" name="Text Box 7">
            <a:extLst>
              <a:ext uri="{FF2B5EF4-FFF2-40B4-BE49-F238E27FC236}">
                <a16:creationId xmlns:a16="http://schemas.microsoft.com/office/drawing/2014/main" id="{BBF286C8-DCE1-6D8C-35F8-6BD2CD21FD5E}"/>
              </a:ext>
            </a:extLst>
          </p:cNvPr>
          <p:cNvSpPr txBox="1">
            <a:spLocks noChangeArrowheads="1"/>
          </p:cNvSpPr>
          <p:nvPr/>
        </p:nvSpPr>
        <p:spPr bwMode="auto">
          <a:xfrm>
            <a:off x="304800" y="4343400"/>
            <a:ext cx="2790825" cy="519113"/>
          </a:xfrm>
          <a:prstGeom prst="rect">
            <a:avLst/>
          </a:prstGeom>
          <a:noFill/>
          <a:ln w="9525">
            <a:noFill/>
            <a:miter lim="800000"/>
            <a:headEnd/>
            <a:tailEnd/>
          </a:ln>
          <a:effectLst/>
        </p:spPr>
        <p:txBody>
          <a:bodyPr wrap="none">
            <a:spAutoFit/>
          </a:bodyPr>
          <a:lstStyle/>
          <a:p>
            <a:pPr algn="ctr">
              <a:buFont typeface="Arial" panose="020B0604020202020204" pitchFamily="34" charset="0"/>
              <a:buNone/>
              <a:defRPr/>
            </a:pPr>
            <a:r>
              <a:rPr lang="zh-CN" altLang="en-US" u="sng" baseline="0">
                <a:solidFill>
                  <a:schemeClr val="hlink"/>
                </a:solidFill>
                <a:effectLst>
                  <a:outerShdw blurRad="38100" dist="38100" dir="2700000" algn="tl">
                    <a:srgbClr val="C0C0C0"/>
                  </a:outerShdw>
                </a:effectLst>
                <a:ea typeface="宋体" pitchFamily="2" charset="-122"/>
              </a:rPr>
              <a:t>本节讨论的主题</a:t>
            </a:r>
            <a:r>
              <a:rPr lang="en-US" altLang="zh-CN" u="sng" baseline="0">
                <a:solidFill>
                  <a:schemeClr val="hlink"/>
                </a:solidFill>
                <a:effectLst>
                  <a:outerShdw blurRad="38100" dist="38100" dir="2700000" algn="tl">
                    <a:srgbClr val="C0C0C0"/>
                  </a:outerShdw>
                </a:effectLst>
                <a:ea typeface="宋体" pitchFamily="2" charset="-122"/>
              </a:rPr>
              <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1">
            <a:extLst>
              <a:ext uri="{FF2B5EF4-FFF2-40B4-BE49-F238E27FC236}">
                <a16:creationId xmlns:a16="http://schemas.microsoft.com/office/drawing/2014/main" id="{9A430EB6-DC9D-3E33-B2C3-D63CF14589D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794B23F2-70E0-4F8F-A0FC-4C8AB9F2C052}" type="slidenum">
              <a:rPr lang="en-US" altLang="zh-CN" sz="2000" i="0" baseline="0" smtClean="0">
                <a:latin typeface="Arial" panose="020B0604020202020204" pitchFamily="34" charset="0"/>
              </a:rPr>
              <a:pPr/>
              <a:t>83</a:t>
            </a:fld>
            <a:endParaRPr lang="en-US" altLang="zh-CN" sz="2000" i="0" baseline="0">
              <a:latin typeface="Arial" panose="020B0604020202020204" pitchFamily="34" charset="0"/>
            </a:endParaRPr>
          </a:p>
        </p:txBody>
      </p:sp>
      <p:sp>
        <p:nvSpPr>
          <p:cNvPr id="88067" name="Line 2">
            <a:extLst>
              <a:ext uri="{FF2B5EF4-FFF2-40B4-BE49-F238E27FC236}">
                <a16:creationId xmlns:a16="http://schemas.microsoft.com/office/drawing/2014/main" id="{FA6B36E6-38C7-2838-9DDF-C0324BA3D4F8}"/>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68" name="Line 3">
            <a:extLst>
              <a:ext uri="{FF2B5EF4-FFF2-40B4-BE49-F238E27FC236}">
                <a16:creationId xmlns:a16="http://schemas.microsoft.com/office/drawing/2014/main" id="{BDAF1949-A211-D817-B3F4-D56F0A5695C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69" name="Text Box 4">
            <a:extLst>
              <a:ext uri="{FF2B5EF4-FFF2-40B4-BE49-F238E27FC236}">
                <a16:creationId xmlns:a16="http://schemas.microsoft.com/office/drawing/2014/main" id="{EB387225-23B0-372E-9381-3DBC5C4A356B}"/>
              </a:ext>
            </a:extLst>
          </p:cNvPr>
          <p:cNvSpPr txBox="1">
            <a:spLocks noChangeArrowheads="1"/>
          </p:cNvSpPr>
          <p:nvPr/>
        </p:nvSpPr>
        <p:spPr bwMode="auto">
          <a:xfrm>
            <a:off x="304800" y="762000"/>
            <a:ext cx="2519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3.25  </a:t>
            </a:r>
            <a:r>
              <a:rPr lang="zh-CN" altLang="en-US" sz="2000" baseline="0">
                <a:ea typeface="宋体" panose="02010600030101010101" pitchFamily="2" charset="-122"/>
              </a:rPr>
              <a:t>减损的原因</a:t>
            </a:r>
          </a:p>
        </p:txBody>
      </p:sp>
      <p:sp>
        <p:nvSpPr>
          <p:cNvPr id="88070" name="Line 5">
            <a:extLst>
              <a:ext uri="{FF2B5EF4-FFF2-40B4-BE49-F238E27FC236}">
                <a16:creationId xmlns:a16="http://schemas.microsoft.com/office/drawing/2014/main" id="{E9EC5A2F-1E9C-C881-2218-A0CAE38A8AD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8071" name="Picture 6">
            <a:extLst>
              <a:ext uri="{FF2B5EF4-FFF2-40B4-BE49-F238E27FC236}">
                <a16:creationId xmlns:a16="http://schemas.microsoft.com/office/drawing/2014/main" id="{0D1B3B03-5A96-1908-B906-8BB4265FD4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275" y="2286000"/>
            <a:ext cx="7019925" cy="221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2" name="Text Box 7">
            <a:extLst>
              <a:ext uri="{FF2B5EF4-FFF2-40B4-BE49-F238E27FC236}">
                <a16:creationId xmlns:a16="http://schemas.microsoft.com/office/drawing/2014/main" id="{DFEA7781-EE39-9F38-5B4F-DA1C7332A235}"/>
              </a:ext>
            </a:extLst>
          </p:cNvPr>
          <p:cNvSpPr txBox="1">
            <a:spLocks noChangeArrowheads="1"/>
          </p:cNvSpPr>
          <p:nvPr/>
        </p:nvSpPr>
        <p:spPr bwMode="auto">
          <a:xfrm>
            <a:off x="3397250" y="2384425"/>
            <a:ext cx="1557338" cy="690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i="0">
                <a:ea typeface="宋体" panose="02010600030101010101" pitchFamily="2" charset="-122"/>
              </a:rPr>
              <a:t>减损原因</a:t>
            </a:r>
          </a:p>
          <a:p>
            <a:pPr>
              <a:buFont typeface="Arial" panose="020B0604020202020204" pitchFamily="34" charset="0"/>
              <a:buNone/>
            </a:pPr>
            <a:endParaRPr lang="zh-CN" altLang="en-US">
              <a:ea typeface="宋体" panose="02010600030101010101" pitchFamily="2" charset="-122"/>
            </a:endParaRPr>
          </a:p>
        </p:txBody>
      </p:sp>
      <p:sp>
        <p:nvSpPr>
          <p:cNvPr id="88073" name="Text Box 8">
            <a:extLst>
              <a:ext uri="{FF2B5EF4-FFF2-40B4-BE49-F238E27FC236}">
                <a16:creationId xmlns:a16="http://schemas.microsoft.com/office/drawing/2014/main" id="{26BC57C0-32E6-3DD7-4ABB-00E9A7875623}"/>
              </a:ext>
            </a:extLst>
          </p:cNvPr>
          <p:cNvSpPr txBox="1">
            <a:spLocks noChangeArrowheads="1"/>
          </p:cNvSpPr>
          <p:nvPr/>
        </p:nvSpPr>
        <p:spPr bwMode="auto">
          <a:xfrm>
            <a:off x="895350" y="4019550"/>
            <a:ext cx="1466850" cy="4143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i="0">
                <a:ea typeface="宋体" panose="02010600030101010101" pitchFamily="2" charset="-122"/>
              </a:rPr>
              <a:t>衰减</a:t>
            </a:r>
          </a:p>
        </p:txBody>
      </p:sp>
      <p:sp>
        <p:nvSpPr>
          <p:cNvPr id="88074" name="Text Box 9">
            <a:extLst>
              <a:ext uri="{FF2B5EF4-FFF2-40B4-BE49-F238E27FC236}">
                <a16:creationId xmlns:a16="http://schemas.microsoft.com/office/drawing/2014/main" id="{1A1D51FB-F436-185E-BE28-4F16AC9DC3CA}"/>
              </a:ext>
            </a:extLst>
          </p:cNvPr>
          <p:cNvSpPr txBox="1">
            <a:spLocks noChangeArrowheads="1"/>
          </p:cNvSpPr>
          <p:nvPr/>
        </p:nvSpPr>
        <p:spPr bwMode="auto">
          <a:xfrm>
            <a:off x="3522663" y="3967163"/>
            <a:ext cx="1277937" cy="41433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i="0">
                <a:ea typeface="宋体" panose="02010600030101010101" pitchFamily="2" charset="-122"/>
              </a:rPr>
              <a:t>失真</a:t>
            </a:r>
          </a:p>
        </p:txBody>
      </p:sp>
      <p:sp>
        <p:nvSpPr>
          <p:cNvPr id="88075" name="Text Box 10">
            <a:extLst>
              <a:ext uri="{FF2B5EF4-FFF2-40B4-BE49-F238E27FC236}">
                <a16:creationId xmlns:a16="http://schemas.microsoft.com/office/drawing/2014/main" id="{FFA2CD88-69C4-D16E-9EA6-AB9A8C53660D}"/>
              </a:ext>
            </a:extLst>
          </p:cNvPr>
          <p:cNvSpPr txBox="1">
            <a:spLocks noChangeArrowheads="1"/>
          </p:cNvSpPr>
          <p:nvPr/>
        </p:nvSpPr>
        <p:spPr bwMode="auto">
          <a:xfrm>
            <a:off x="6159500" y="3987800"/>
            <a:ext cx="927100" cy="4143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i="0">
                <a:ea typeface="宋体" panose="02010600030101010101" pitchFamily="2" charset="-122"/>
              </a:rPr>
              <a:t>噪声</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1">
            <a:extLst>
              <a:ext uri="{FF2B5EF4-FFF2-40B4-BE49-F238E27FC236}">
                <a16:creationId xmlns:a16="http://schemas.microsoft.com/office/drawing/2014/main" id="{9920D2C7-64C0-C455-32F1-5CFB2D7081F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7D9BFBEC-2FCA-4380-8E89-D483BCC71E68}" type="slidenum">
              <a:rPr lang="en-US" altLang="zh-CN" sz="2000" i="0" baseline="0" smtClean="0">
                <a:latin typeface="Arial" panose="020B0604020202020204" pitchFamily="34" charset="0"/>
              </a:rPr>
              <a:pPr/>
              <a:t>84</a:t>
            </a:fld>
            <a:endParaRPr lang="en-US" altLang="zh-CN" sz="2000" i="0" baseline="0">
              <a:latin typeface="Arial" panose="020B0604020202020204" pitchFamily="34" charset="0"/>
            </a:endParaRPr>
          </a:p>
        </p:txBody>
      </p:sp>
      <p:sp>
        <p:nvSpPr>
          <p:cNvPr id="89091" name="Line 2">
            <a:extLst>
              <a:ext uri="{FF2B5EF4-FFF2-40B4-BE49-F238E27FC236}">
                <a16:creationId xmlns:a16="http://schemas.microsoft.com/office/drawing/2014/main" id="{78DB18AE-BA1E-8F3A-FA49-377ADBBAF2E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092" name="Line 3">
            <a:extLst>
              <a:ext uri="{FF2B5EF4-FFF2-40B4-BE49-F238E27FC236}">
                <a16:creationId xmlns:a16="http://schemas.microsoft.com/office/drawing/2014/main" id="{52F13245-BE81-7D60-43B6-ED2F93A15D39}"/>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093" name="Text Box 4">
            <a:extLst>
              <a:ext uri="{FF2B5EF4-FFF2-40B4-BE49-F238E27FC236}">
                <a16:creationId xmlns:a16="http://schemas.microsoft.com/office/drawing/2014/main" id="{9A3AFEAF-E59A-62EE-A69C-F4B259A97CB7}"/>
              </a:ext>
            </a:extLst>
          </p:cNvPr>
          <p:cNvSpPr txBox="1">
            <a:spLocks noChangeArrowheads="1"/>
          </p:cNvSpPr>
          <p:nvPr/>
        </p:nvSpPr>
        <p:spPr bwMode="auto">
          <a:xfrm>
            <a:off x="304800" y="381000"/>
            <a:ext cx="1757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3.26  </a:t>
            </a:r>
            <a:r>
              <a:rPr lang="zh-CN" altLang="en-US" sz="2000" baseline="0">
                <a:ea typeface="宋体" panose="02010600030101010101" pitchFamily="2" charset="-122"/>
              </a:rPr>
              <a:t>衰减</a:t>
            </a:r>
          </a:p>
        </p:txBody>
      </p:sp>
      <p:sp>
        <p:nvSpPr>
          <p:cNvPr id="89094" name="Line 5">
            <a:extLst>
              <a:ext uri="{FF2B5EF4-FFF2-40B4-BE49-F238E27FC236}">
                <a16:creationId xmlns:a16="http://schemas.microsoft.com/office/drawing/2014/main" id="{43C53B64-6DAB-0F77-B509-50E3ED337EF1}"/>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9095" name="Picture 6">
            <a:extLst>
              <a:ext uri="{FF2B5EF4-FFF2-40B4-BE49-F238E27FC236}">
                <a16:creationId xmlns:a16="http://schemas.microsoft.com/office/drawing/2014/main" id="{81AD5C7C-9702-AB48-1160-08C3AD9CCA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00" y="2068513"/>
            <a:ext cx="7797800" cy="296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1">
            <a:extLst>
              <a:ext uri="{FF2B5EF4-FFF2-40B4-BE49-F238E27FC236}">
                <a16:creationId xmlns:a16="http://schemas.microsoft.com/office/drawing/2014/main" id="{6049DE6F-98D2-AD2C-5725-23AAEBBC2B7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78D441BE-30BF-49BF-BB73-4C6D0A51DCE9}" type="slidenum">
              <a:rPr lang="en-US" altLang="zh-CN" sz="2000" i="0" baseline="0" smtClean="0">
                <a:latin typeface="Arial" panose="020B0604020202020204" pitchFamily="34" charset="0"/>
              </a:rPr>
              <a:pPr/>
              <a:t>85</a:t>
            </a:fld>
            <a:endParaRPr lang="en-US" altLang="zh-CN" sz="2000" i="0" baseline="0">
              <a:latin typeface="Arial" panose="020B0604020202020204" pitchFamily="34" charset="0"/>
            </a:endParaRPr>
          </a:p>
        </p:txBody>
      </p:sp>
      <p:sp>
        <p:nvSpPr>
          <p:cNvPr id="90115" name="Rectangle 2">
            <a:extLst>
              <a:ext uri="{FF2B5EF4-FFF2-40B4-BE49-F238E27FC236}">
                <a16:creationId xmlns:a16="http://schemas.microsoft.com/office/drawing/2014/main" id="{7A288828-09FB-2636-229E-DD4D9057FD81}"/>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0116" name="Rectangle 3">
            <a:extLst>
              <a:ext uri="{FF2B5EF4-FFF2-40B4-BE49-F238E27FC236}">
                <a16:creationId xmlns:a16="http://schemas.microsoft.com/office/drawing/2014/main" id="{7BFABBBD-4CCA-500D-CC1A-29E9B27F14C5}"/>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90117" name="Group 4">
            <a:extLst>
              <a:ext uri="{FF2B5EF4-FFF2-40B4-BE49-F238E27FC236}">
                <a16:creationId xmlns:a16="http://schemas.microsoft.com/office/drawing/2014/main" id="{0D4D8257-6F8C-DA7C-7E74-21214FD093A7}"/>
              </a:ext>
            </a:extLst>
          </p:cNvPr>
          <p:cNvGrpSpPr>
            <a:grpSpLocks/>
          </p:cNvGrpSpPr>
          <p:nvPr/>
        </p:nvGrpSpPr>
        <p:grpSpPr bwMode="auto">
          <a:xfrm>
            <a:off x="490538" y="773113"/>
            <a:ext cx="738187" cy="474662"/>
            <a:chOff x="0" y="0"/>
            <a:chExt cx="465" cy="299"/>
          </a:xfrm>
        </p:grpSpPr>
        <p:sp>
          <p:nvSpPr>
            <p:cNvPr id="90126" name="Rectangle 5">
              <a:extLst>
                <a:ext uri="{FF2B5EF4-FFF2-40B4-BE49-F238E27FC236}">
                  <a16:creationId xmlns:a16="http://schemas.microsoft.com/office/drawing/2014/main" id="{01448378-CAE0-F953-9E83-755C81F1BBA7}"/>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0127" name="Rectangle 6">
              <a:extLst>
                <a:ext uri="{FF2B5EF4-FFF2-40B4-BE49-F238E27FC236}">
                  <a16:creationId xmlns:a16="http://schemas.microsoft.com/office/drawing/2014/main" id="{E03DAAAE-BC11-6108-2939-93C521EA38A2}"/>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90118" name="Rectangle 7">
            <a:extLst>
              <a:ext uri="{FF2B5EF4-FFF2-40B4-BE49-F238E27FC236}">
                <a16:creationId xmlns:a16="http://schemas.microsoft.com/office/drawing/2014/main" id="{8DECE5A0-3BF3-709F-D23F-E6C7A3FD282A}"/>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0119" name="Rectangle 8">
            <a:extLst>
              <a:ext uri="{FF2B5EF4-FFF2-40B4-BE49-F238E27FC236}">
                <a16:creationId xmlns:a16="http://schemas.microsoft.com/office/drawing/2014/main" id="{C2F700A8-28A7-9FD0-73F5-FC0B135DFA13}"/>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0120" name="Rectangle 9">
            <a:extLst>
              <a:ext uri="{FF2B5EF4-FFF2-40B4-BE49-F238E27FC236}">
                <a16:creationId xmlns:a16="http://schemas.microsoft.com/office/drawing/2014/main" id="{1B0A9484-88F4-219C-6F65-922F9F9AA1F4}"/>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0121" name="Rectangle 10">
            <a:extLst>
              <a:ext uri="{FF2B5EF4-FFF2-40B4-BE49-F238E27FC236}">
                <a16:creationId xmlns:a16="http://schemas.microsoft.com/office/drawing/2014/main" id="{E882A8DD-6413-303B-0C92-236E07B747A3}"/>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90122" name="Rectangle 11">
            <a:extLst>
              <a:ext uri="{FF2B5EF4-FFF2-40B4-BE49-F238E27FC236}">
                <a16:creationId xmlns:a16="http://schemas.microsoft.com/office/drawing/2014/main" id="{B075A637-BAB3-F153-75C4-AECEAD60DC95}"/>
              </a:ext>
            </a:extLst>
          </p:cNvPr>
          <p:cNvSpPr>
            <a:spLocks noChangeArrowheads="1"/>
          </p:cNvSpPr>
          <p:nvPr/>
        </p:nvSpPr>
        <p:spPr bwMode="auto">
          <a:xfrm>
            <a:off x="228600" y="14478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假设信号通过一种传输介质传输后，它的功率降低了一半。这可以表示为 P</a:t>
            </a:r>
            <a:r>
              <a:rPr lang="zh-CN" altLang="en-US">
                <a:ea typeface="宋体" panose="02010600030101010101" pitchFamily="2" charset="-122"/>
              </a:rPr>
              <a:t>2</a:t>
            </a:r>
            <a:r>
              <a:rPr lang="zh-CN" altLang="en-US" baseline="0">
                <a:ea typeface="宋体" panose="02010600030101010101" pitchFamily="2" charset="-122"/>
              </a:rPr>
              <a:t>=(1/2)P</a:t>
            </a:r>
            <a:r>
              <a:rPr lang="zh-CN" altLang="en-US">
                <a:ea typeface="宋体" panose="02010600030101010101" pitchFamily="2" charset="-122"/>
              </a:rPr>
              <a:t>1</a:t>
            </a:r>
            <a:r>
              <a:rPr lang="zh-CN" altLang="en-US" baseline="0">
                <a:ea typeface="宋体" panose="02010600030101010101" pitchFamily="2" charset="-122"/>
              </a:rPr>
              <a:t>，这种情况下衰减(损失的能量)可以计算为：</a:t>
            </a:r>
          </a:p>
        </p:txBody>
      </p:sp>
      <p:sp>
        <p:nvSpPr>
          <p:cNvPr id="90123" name="Text Box 12">
            <a:extLst>
              <a:ext uri="{FF2B5EF4-FFF2-40B4-BE49-F238E27FC236}">
                <a16:creationId xmlns:a16="http://schemas.microsoft.com/office/drawing/2014/main" id="{9BB74CFF-B9E2-562F-D74D-4D324287CD4F}"/>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3.26</a:t>
            </a:r>
          </a:p>
        </p:txBody>
      </p:sp>
      <p:sp>
        <p:nvSpPr>
          <p:cNvPr id="90124" name="Rectangle 13">
            <a:extLst>
              <a:ext uri="{FF2B5EF4-FFF2-40B4-BE49-F238E27FC236}">
                <a16:creationId xmlns:a16="http://schemas.microsoft.com/office/drawing/2014/main" id="{5E060973-05E1-97A4-39D8-CC55FC1794FF}"/>
              </a:ext>
            </a:extLst>
          </p:cNvPr>
          <p:cNvSpPr>
            <a:spLocks noChangeArrowheads="1"/>
          </p:cNvSpPr>
          <p:nvPr/>
        </p:nvSpPr>
        <p:spPr bwMode="auto">
          <a:xfrm>
            <a:off x="304800" y="5302250"/>
            <a:ext cx="8382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–3 dB或者3 dB衰减等价于功率损失了一半。 </a:t>
            </a:r>
          </a:p>
        </p:txBody>
      </p:sp>
      <p:pic>
        <p:nvPicPr>
          <p:cNvPr id="90125" name="Picture 14">
            <a:extLst>
              <a:ext uri="{FF2B5EF4-FFF2-40B4-BE49-F238E27FC236}">
                <a16:creationId xmlns:a16="http://schemas.microsoft.com/office/drawing/2014/main" id="{71C6127C-B9B2-3154-3A77-017C8ADDD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50" y="3919538"/>
            <a:ext cx="7226300" cy="728662"/>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1">
            <a:extLst>
              <a:ext uri="{FF2B5EF4-FFF2-40B4-BE49-F238E27FC236}">
                <a16:creationId xmlns:a16="http://schemas.microsoft.com/office/drawing/2014/main" id="{C2C29A33-1EEE-FA88-E937-B6F5C4B6C1C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3C504F41-D603-45CC-9470-17A6FEB11764}" type="slidenum">
              <a:rPr lang="en-US" altLang="zh-CN" sz="2000" i="0" baseline="0" smtClean="0">
                <a:latin typeface="Arial" panose="020B0604020202020204" pitchFamily="34" charset="0"/>
              </a:rPr>
              <a:pPr/>
              <a:t>86</a:t>
            </a:fld>
            <a:endParaRPr lang="en-US" altLang="zh-CN" sz="2000" i="0" baseline="0">
              <a:latin typeface="Arial" panose="020B0604020202020204" pitchFamily="34" charset="0"/>
            </a:endParaRPr>
          </a:p>
        </p:txBody>
      </p:sp>
      <p:sp>
        <p:nvSpPr>
          <p:cNvPr id="91139" name="Rectangle 2">
            <a:extLst>
              <a:ext uri="{FF2B5EF4-FFF2-40B4-BE49-F238E27FC236}">
                <a16:creationId xmlns:a16="http://schemas.microsoft.com/office/drawing/2014/main" id="{CCEA37AF-6945-6FA5-8C1E-0290D87828EB}"/>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1140" name="Rectangle 3">
            <a:extLst>
              <a:ext uri="{FF2B5EF4-FFF2-40B4-BE49-F238E27FC236}">
                <a16:creationId xmlns:a16="http://schemas.microsoft.com/office/drawing/2014/main" id="{A6448C63-A52F-2454-030B-05D0193941FC}"/>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91141" name="Group 4">
            <a:extLst>
              <a:ext uri="{FF2B5EF4-FFF2-40B4-BE49-F238E27FC236}">
                <a16:creationId xmlns:a16="http://schemas.microsoft.com/office/drawing/2014/main" id="{3A6759B5-8882-F63B-EC51-B187C5C3E0E3}"/>
              </a:ext>
            </a:extLst>
          </p:cNvPr>
          <p:cNvGrpSpPr>
            <a:grpSpLocks/>
          </p:cNvGrpSpPr>
          <p:nvPr/>
        </p:nvGrpSpPr>
        <p:grpSpPr bwMode="auto">
          <a:xfrm>
            <a:off x="490538" y="773113"/>
            <a:ext cx="738187" cy="474662"/>
            <a:chOff x="0" y="0"/>
            <a:chExt cx="465" cy="299"/>
          </a:xfrm>
        </p:grpSpPr>
        <p:sp>
          <p:nvSpPr>
            <p:cNvPr id="91150" name="Rectangle 5">
              <a:extLst>
                <a:ext uri="{FF2B5EF4-FFF2-40B4-BE49-F238E27FC236}">
                  <a16:creationId xmlns:a16="http://schemas.microsoft.com/office/drawing/2014/main" id="{98FF0568-2EF8-AA61-DA83-36D9C0AAB850}"/>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1151" name="Rectangle 6">
              <a:extLst>
                <a:ext uri="{FF2B5EF4-FFF2-40B4-BE49-F238E27FC236}">
                  <a16:creationId xmlns:a16="http://schemas.microsoft.com/office/drawing/2014/main" id="{CC50D3B2-8A9A-D475-0334-DBC4808C8EE1}"/>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91142" name="Rectangle 7">
            <a:extLst>
              <a:ext uri="{FF2B5EF4-FFF2-40B4-BE49-F238E27FC236}">
                <a16:creationId xmlns:a16="http://schemas.microsoft.com/office/drawing/2014/main" id="{51EEAB05-2589-1B49-69D7-AE6D4BE657AA}"/>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1143" name="Rectangle 8">
            <a:extLst>
              <a:ext uri="{FF2B5EF4-FFF2-40B4-BE49-F238E27FC236}">
                <a16:creationId xmlns:a16="http://schemas.microsoft.com/office/drawing/2014/main" id="{DCE2186A-7579-8653-BF55-190A74AEC40A}"/>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1144" name="Rectangle 9">
            <a:extLst>
              <a:ext uri="{FF2B5EF4-FFF2-40B4-BE49-F238E27FC236}">
                <a16:creationId xmlns:a16="http://schemas.microsoft.com/office/drawing/2014/main" id="{17E82ABA-C3A9-4D61-3EB6-2A4F6E258142}"/>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1145" name="Rectangle 10">
            <a:extLst>
              <a:ext uri="{FF2B5EF4-FFF2-40B4-BE49-F238E27FC236}">
                <a16:creationId xmlns:a16="http://schemas.microsoft.com/office/drawing/2014/main" id="{363BB7F3-CC5B-562D-470A-379BAA230128}"/>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91146" name="Rectangle 11">
            <a:extLst>
              <a:ext uri="{FF2B5EF4-FFF2-40B4-BE49-F238E27FC236}">
                <a16:creationId xmlns:a16="http://schemas.microsoft.com/office/drawing/2014/main" id="{3FE8F2F6-D29C-EFB5-688B-9883E0EC10D1}"/>
              </a:ext>
            </a:extLst>
          </p:cNvPr>
          <p:cNvSpPr>
            <a:spLocks noChangeArrowheads="1"/>
          </p:cNvSpPr>
          <p:nvPr/>
        </p:nvSpPr>
        <p:spPr bwMode="auto">
          <a:xfrm>
            <a:off x="228600" y="14478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假定信号通过一个放大器，它的功率增大为原来的10倍。这表示P</a:t>
            </a:r>
            <a:r>
              <a:rPr lang="zh-CN" altLang="en-US" baseline="-25000">
                <a:ea typeface="宋体" panose="02010600030101010101" pitchFamily="2" charset="-122"/>
              </a:rPr>
              <a:t>2</a:t>
            </a:r>
            <a:r>
              <a:rPr lang="zh-CN" altLang="en-US" baseline="0">
                <a:ea typeface="宋体" panose="02010600030101010101" pitchFamily="2" charset="-122"/>
              </a:rPr>
              <a:t> = 10P</a:t>
            </a:r>
            <a:r>
              <a:rPr lang="zh-CN" altLang="en-US" baseline="-25000">
                <a:ea typeface="宋体" panose="02010600030101010101" pitchFamily="2" charset="-122"/>
              </a:rPr>
              <a:t>1</a:t>
            </a:r>
            <a:r>
              <a:rPr lang="zh-CN" altLang="en-US" baseline="0">
                <a:ea typeface="宋体" panose="02010600030101010101" pitchFamily="2" charset="-122"/>
              </a:rPr>
              <a:t>。在这种情况下，放大量(功率增益)可以计算为：</a:t>
            </a:r>
          </a:p>
        </p:txBody>
      </p:sp>
      <p:sp>
        <p:nvSpPr>
          <p:cNvPr id="91147" name="Text Box 12">
            <a:extLst>
              <a:ext uri="{FF2B5EF4-FFF2-40B4-BE49-F238E27FC236}">
                <a16:creationId xmlns:a16="http://schemas.microsoft.com/office/drawing/2014/main" id="{633126D5-90F8-4B31-9768-F5FFA97507F1}"/>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3.27</a:t>
            </a:r>
          </a:p>
        </p:txBody>
      </p:sp>
      <p:pic>
        <p:nvPicPr>
          <p:cNvPr id="91148" name="Picture 13">
            <a:extLst>
              <a:ext uri="{FF2B5EF4-FFF2-40B4-BE49-F238E27FC236}">
                <a16:creationId xmlns:a16="http://schemas.microsoft.com/office/drawing/2014/main" id="{0531C876-E45D-2A4F-4CFE-BEE6B553D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7025" y="3352800"/>
            <a:ext cx="3409950" cy="819150"/>
          </a:xfrm>
          <a:prstGeom prst="rect">
            <a:avLst/>
          </a:prstGeom>
          <a:noFill/>
          <a:ln w="57150" cmpd="thinThick">
            <a:solidFill>
              <a:srgbClr val="3366FF"/>
            </a:solidFill>
            <a:miter lim="800000"/>
            <a:headEnd/>
            <a:tailEnd/>
          </a:ln>
          <a:extLst>
            <a:ext uri="{909E8E84-426E-40DD-AFC4-6F175D3DCCD1}">
              <a14:hiddenFill xmlns:a14="http://schemas.microsoft.com/office/drawing/2010/main">
                <a:solidFill>
                  <a:srgbClr val="FFFFFF"/>
                </a:solidFill>
              </a14:hiddenFill>
            </a:ext>
          </a:extLst>
        </p:spPr>
      </p:pic>
      <p:pic>
        <p:nvPicPr>
          <p:cNvPr id="91149" name="Picture 14">
            <a:extLst>
              <a:ext uri="{FF2B5EF4-FFF2-40B4-BE49-F238E27FC236}">
                <a16:creationId xmlns:a16="http://schemas.microsoft.com/office/drawing/2014/main" id="{5C917FE0-0584-2AE5-B30C-66ADF7A669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7975" y="4398963"/>
            <a:ext cx="3446463" cy="630237"/>
          </a:xfrm>
          <a:prstGeom prst="rect">
            <a:avLst/>
          </a:prstGeom>
          <a:noFill/>
          <a:ln w="57150" cmpd="thinThick">
            <a:solidFill>
              <a:srgbClr val="3366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1">
            <a:extLst>
              <a:ext uri="{FF2B5EF4-FFF2-40B4-BE49-F238E27FC236}">
                <a16:creationId xmlns:a16="http://schemas.microsoft.com/office/drawing/2014/main" id="{6424B1C0-2AB9-3A07-2989-2DDADB23FBB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34C7E2E5-78CC-49CA-ADE3-7BC4547C4267}" type="slidenum">
              <a:rPr lang="en-US" altLang="zh-CN" sz="2000" i="0" baseline="0" smtClean="0">
                <a:latin typeface="Arial" panose="020B0604020202020204" pitchFamily="34" charset="0"/>
              </a:rPr>
              <a:pPr/>
              <a:t>87</a:t>
            </a:fld>
            <a:endParaRPr lang="en-US" altLang="zh-CN" sz="2000" i="0" baseline="0">
              <a:latin typeface="Arial" panose="020B0604020202020204" pitchFamily="34" charset="0"/>
            </a:endParaRPr>
          </a:p>
        </p:txBody>
      </p:sp>
      <p:sp>
        <p:nvSpPr>
          <p:cNvPr id="92163" name="Rectangle 2">
            <a:extLst>
              <a:ext uri="{FF2B5EF4-FFF2-40B4-BE49-F238E27FC236}">
                <a16:creationId xmlns:a16="http://schemas.microsoft.com/office/drawing/2014/main" id="{DDA82564-0925-4779-B4D5-2224ED50DCAD}"/>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2164" name="Rectangle 3">
            <a:extLst>
              <a:ext uri="{FF2B5EF4-FFF2-40B4-BE49-F238E27FC236}">
                <a16:creationId xmlns:a16="http://schemas.microsoft.com/office/drawing/2014/main" id="{868017BC-103E-1467-1402-ABAE6A8D9C86}"/>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92165" name="Group 4">
            <a:extLst>
              <a:ext uri="{FF2B5EF4-FFF2-40B4-BE49-F238E27FC236}">
                <a16:creationId xmlns:a16="http://schemas.microsoft.com/office/drawing/2014/main" id="{D5046011-B789-3B78-D2FA-1425EA0DE7D3}"/>
              </a:ext>
            </a:extLst>
          </p:cNvPr>
          <p:cNvGrpSpPr>
            <a:grpSpLocks/>
          </p:cNvGrpSpPr>
          <p:nvPr/>
        </p:nvGrpSpPr>
        <p:grpSpPr bwMode="auto">
          <a:xfrm>
            <a:off x="490538" y="773113"/>
            <a:ext cx="738187" cy="474662"/>
            <a:chOff x="0" y="0"/>
            <a:chExt cx="465" cy="299"/>
          </a:xfrm>
        </p:grpSpPr>
        <p:sp>
          <p:nvSpPr>
            <p:cNvPr id="92173" name="Rectangle 5">
              <a:extLst>
                <a:ext uri="{FF2B5EF4-FFF2-40B4-BE49-F238E27FC236}">
                  <a16:creationId xmlns:a16="http://schemas.microsoft.com/office/drawing/2014/main" id="{F90D0407-3F99-06D3-8F9A-3A08DA0B5F68}"/>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2174" name="Rectangle 6">
              <a:extLst>
                <a:ext uri="{FF2B5EF4-FFF2-40B4-BE49-F238E27FC236}">
                  <a16:creationId xmlns:a16="http://schemas.microsoft.com/office/drawing/2014/main" id="{B1A49398-084E-930C-C6DB-363133E2ADB1}"/>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92166" name="Rectangle 7">
            <a:extLst>
              <a:ext uri="{FF2B5EF4-FFF2-40B4-BE49-F238E27FC236}">
                <a16:creationId xmlns:a16="http://schemas.microsoft.com/office/drawing/2014/main" id="{D0C7FA40-6A7A-2C99-F34C-89E617380CFD}"/>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2167" name="Rectangle 8">
            <a:extLst>
              <a:ext uri="{FF2B5EF4-FFF2-40B4-BE49-F238E27FC236}">
                <a16:creationId xmlns:a16="http://schemas.microsoft.com/office/drawing/2014/main" id="{A77202CC-2C3B-E9C5-6DE0-F1E90325F142}"/>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2168" name="Rectangle 9">
            <a:extLst>
              <a:ext uri="{FF2B5EF4-FFF2-40B4-BE49-F238E27FC236}">
                <a16:creationId xmlns:a16="http://schemas.microsoft.com/office/drawing/2014/main" id="{DC22BE91-10F1-2B2D-97C3-10F46E0994B5}"/>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2169" name="Rectangle 10">
            <a:extLst>
              <a:ext uri="{FF2B5EF4-FFF2-40B4-BE49-F238E27FC236}">
                <a16:creationId xmlns:a16="http://schemas.microsoft.com/office/drawing/2014/main" id="{0B6B6FFB-9F9E-F6B6-9E7C-333DB5311371}"/>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92170" name="Rectangle 11">
            <a:extLst>
              <a:ext uri="{FF2B5EF4-FFF2-40B4-BE49-F238E27FC236}">
                <a16:creationId xmlns:a16="http://schemas.microsoft.com/office/drawing/2014/main" id="{028237D4-DBC3-7D38-204E-69302A365204}"/>
              </a:ext>
            </a:extLst>
          </p:cNvPr>
          <p:cNvSpPr>
            <a:spLocks noChangeArrowheads="1"/>
          </p:cNvSpPr>
          <p:nvPr/>
        </p:nvSpPr>
        <p:spPr bwMode="auto">
          <a:xfrm>
            <a:off x="228600" y="1295400"/>
            <a:ext cx="85344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工程人员使用分贝来计算信号强度变化的原因之一是，当涉及计量多处(级联)而不仅仅是两处的信号强度时，分贝数可以相加(或相减)。在图3.27中，一个信号从位置1传输到位置4。在这种情况下，分贝可以计算为：</a:t>
            </a:r>
          </a:p>
        </p:txBody>
      </p:sp>
      <p:sp>
        <p:nvSpPr>
          <p:cNvPr id="92171" name="Text Box 12">
            <a:extLst>
              <a:ext uri="{FF2B5EF4-FFF2-40B4-BE49-F238E27FC236}">
                <a16:creationId xmlns:a16="http://schemas.microsoft.com/office/drawing/2014/main" id="{79BA891C-65F7-D915-6EE6-337406BF4DFA}"/>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3.28</a:t>
            </a:r>
          </a:p>
        </p:txBody>
      </p:sp>
      <p:pic>
        <p:nvPicPr>
          <p:cNvPr id="92172" name="Picture 13">
            <a:extLst>
              <a:ext uri="{FF2B5EF4-FFF2-40B4-BE49-F238E27FC236}">
                <a16:creationId xmlns:a16="http://schemas.microsoft.com/office/drawing/2014/main" id="{7E5BE4CB-3238-AB0E-7DFE-29090BF20C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4267200"/>
            <a:ext cx="3821113" cy="431800"/>
          </a:xfrm>
          <a:prstGeom prst="rect">
            <a:avLst/>
          </a:prstGeom>
          <a:noFill/>
          <a:ln w="57150" cmpd="thinThick">
            <a:solidFill>
              <a:srgbClr val="3366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1">
            <a:extLst>
              <a:ext uri="{FF2B5EF4-FFF2-40B4-BE49-F238E27FC236}">
                <a16:creationId xmlns:a16="http://schemas.microsoft.com/office/drawing/2014/main" id="{1B1C9030-C9F2-8DB7-8F87-380D26754CD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1F26D741-8C3F-48E7-B5AD-60C0EF9D5FB7}" type="slidenum">
              <a:rPr lang="en-US" altLang="zh-CN" sz="2000" i="0" baseline="0" smtClean="0">
                <a:latin typeface="Arial" panose="020B0604020202020204" pitchFamily="34" charset="0"/>
              </a:rPr>
              <a:pPr/>
              <a:t>88</a:t>
            </a:fld>
            <a:endParaRPr lang="en-US" altLang="zh-CN" sz="2000" i="0" baseline="0">
              <a:latin typeface="Arial" panose="020B0604020202020204" pitchFamily="34" charset="0"/>
            </a:endParaRPr>
          </a:p>
        </p:txBody>
      </p:sp>
      <p:sp>
        <p:nvSpPr>
          <p:cNvPr id="93187" name="Line 2">
            <a:extLst>
              <a:ext uri="{FF2B5EF4-FFF2-40B4-BE49-F238E27FC236}">
                <a16:creationId xmlns:a16="http://schemas.microsoft.com/office/drawing/2014/main" id="{64D3EC86-8BE3-4F14-6180-F8CB42C67A77}"/>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188" name="Line 3">
            <a:extLst>
              <a:ext uri="{FF2B5EF4-FFF2-40B4-BE49-F238E27FC236}">
                <a16:creationId xmlns:a16="http://schemas.microsoft.com/office/drawing/2014/main" id="{4F5E8260-FF53-CBC4-EE7A-3F3A837995D6}"/>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189" name="Text Box 4">
            <a:extLst>
              <a:ext uri="{FF2B5EF4-FFF2-40B4-BE49-F238E27FC236}">
                <a16:creationId xmlns:a16="http://schemas.microsoft.com/office/drawing/2014/main" id="{9AFABB7D-220C-30AF-EFEC-DB152D3D3550}"/>
              </a:ext>
            </a:extLst>
          </p:cNvPr>
          <p:cNvSpPr txBox="1">
            <a:spLocks noChangeArrowheads="1"/>
          </p:cNvSpPr>
          <p:nvPr/>
        </p:nvSpPr>
        <p:spPr bwMode="auto">
          <a:xfrm>
            <a:off x="304800" y="381000"/>
            <a:ext cx="270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3.27  </a:t>
            </a:r>
            <a:r>
              <a:rPr lang="zh-CN" altLang="en-US" sz="2000" baseline="0">
                <a:ea typeface="宋体" panose="02010600030101010101" pitchFamily="2" charset="-122"/>
              </a:rPr>
              <a:t>例3.28的分贝</a:t>
            </a:r>
          </a:p>
        </p:txBody>
      </p:sp>
      <p:sp>
        <p:nvSpPr>
          <p:cNvPr id="93190" name="Line 5">
            <a:extLst>
              <a:ext uri="{FF2B5EF4-FFF2-40B4-BE49-F238E27FC236}">
                <a16:creationId xmlns:a16="http://schemas.microsoft.com/office/drawing/2014/main" id="{A35A6618-1AE3-3E05-184E-9633D3C729A8}"/>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3191" name="Picture 6">
            <a:extLst>
              <a:ext uri="{FF2B5EF4-FFF2-40B4-BE49-F238E27FC236}">
                <a16:creationId xmlns:a16="http://schemas.microsoft.com/office/drawing/2014/main" id="{2EB5BF6B-279F-3705-1DF7-C2BB0027FC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09800"/>
            <a:ext cx="8766175" cy="233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1">
            <a:extLst>
              <a:ext uri="{FF2B5EF4-FFF2-40B4-BE49-F238E27FC236}">
                <a16:creationId xmlns:a16="http://schemas.microsoft.com/office/drawing/2014/main" id="{03D546DB-39C2-D1B3-2630-6B5A9FA2D9E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F656E2A3-36C6-4617-B24F-161E9546AB99}" type="slidenum">
              <a:rPr lang="en-US" altLang="zh-CN" sz="2000" i="0" baseline="0" smtClean="0">
                <a:latin typeface="Arial" panose="020B0604020202020204" pitchFamily="34" charset="0"/>
              </a:rPr>
              <a:pPr/>
              <a:t>89</a:t>
            </a:fld>
            <a:endParaRPr lang="en-US" altLang="zh-CN" sz="2000" i="0" baseline="0">
              <a:latin typeface="Arial" panose="020B0604020202020204" pitchFamily="34" charset="0"/>
            </a:endParaRPr>
          </a:p>
        </p:txBody>
      </p:sp>
      <p:sp>
        <p:nvSpPr>
          <p:cNvPr id="94211" name="Rectangle 2">
            <a:extLst>
              <a:ext uri="{FF2B5EF4-FFF2-40B4-BE49-F238E27FC236}">
                <a16:creationId xmlns:a16="http://schemas.microsoft.com/office/drawing/2014/main" id="{EC1EDBF1-438C-9CAB-B0A4-6174E62BB76B}"/>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4212" name="Rectangle 3">
            <a:extLst>
              <a:ext uri="{FF2B5EF4-FFF2-40B4-BE49-F238E27FC236}">
                <a16:creationId xmlns:a16="http://schemas.microsoft.com/office/drawing/2014/main" id="{897C041D-29CA-3BB9-17C7-E910B80C8FCF}"/>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94213" name="Group 4">
            <a:extLst>
              <a:ext uri="{FF2B5EF4-FFF2-40B4-BE49-F238E27FC236}">
                <a16:creationId xmlns:a16="http://schemas.microsoft.com/office/drawing/2014/main" id="{5993FAD4-AA7C-1299-4956-13233BA1D9FE}"/>
              </a:ext>
            </a:extLst>
          </p:cNvPr>
          <p:cNvGrpSpPr>
            <a:grpSpLocks/>
          </p:cNvGrpSpPr>
          <p:nvPr/>
        </p:nvGrpSpPr>
        <p:grpSpPr bwMode="auto">
          <a:xfrm>
            <a:off x="490538" y="773113"/>
            <a:ext cx="738187" cy="474662"/>
            <a:chOff x="0" y="0"/>
            <a:chExt cx="465" cy="299"/>
          </a:xfrm>
        </p:grpSpPr>
        <p:sp>
          <p:nvSpPr>
            <p:cNvPr id="94221" name="Rectangle 5">
              <a:extLst>
                <a:ext uri="{FF2B5EF4-FFF2-40B4-BE49-F238E27FC236}">
                  <a16:creationId xmlns:a16="http://schemas.microsoft.com/office/drawing/2014/main" id="{2273B1FA-53C5-3E0D-C648-6A5391470099}"/>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4222" name="Rectangle 6">
              <a:extLst>
                <a:ext uri="{FF2B5EF4-FFF2-40B4-BE49-F238E27FC236}">
                  <a16:creationId xmlns:a16="http://schemas.microsoft.com/office/drawing/2014/main" id="{F19EE7F3-2160-8F85-881D-A48AC294983F}"/>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94214" name="Rectangle 7">
            <a:extLst>
              <a:ext uri="{FF2B5EF4-FFF2-40B4-BE49-F238E27FC236}">
                <a16:creationId xmlns:a16="http://schemas.microsoft.com/office/drawing/2014/main" id="{FF476A58-802C-F40F-4D75-C2E475F3E3B4}"/>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4215" name="Rectangle 8">
            <a:extLst>
              <a:ext uri="{FF2B5EF4-FFF2-40B4-BE49-F238E27FC236}">
                <a16:creationId xmlns:a16="http://schemas.microsoft.com/office/drawing/2014/main" id="{7B808576-7867-3F9D-0D4B-CD6448150865}"/>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4216" name="Rectangle 9">
            <a:extLst>
              <a:ext uri="{FF2B5EF4-FFF2-40B4-BE49-F238E27FC236}">
                <a16:creationId xmlns:a16="http://schemas.microsoft.com/office/drawing/2014/main" id="{E75DBDF7-6663-F589-6AE8-0DD1E20F4F64}"/>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4217" name="Rectangle 10">
            <a:extLst>
              <a:ext uri="{FF2B5EF4-FFF2-40B4-BE49-F238E27FC236}">
                <a16:creationId xmlns:a16="http://schemas.microsoft.com/office/drawing/2014/main" id="{BB5C808D-2B2D-F861-27C8-703D3DEFC388}"/>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94218" name="Rectangle 11">
            <a:extLst>
              <a:ext uri="{FF2B5EF4-FFF2-40B4-BE49-F238E27FC236}">
                <a16:creationId xmlns:a16="http://schemas.microsoft.com/office/drawing/2014/main" id="{6BB26234-6502-1ED3-D718-D93FE8C4FB3C}"/>
              </a:ext>
            </a:extLst>
          </p:cNvPr>
          <p:cNvSpPr>
            <a:spLocks noChangeArrowheads="1"/>
          </p:cNvSpPr>
          <p:nvPr/>
        </p:nvSpPr>
        <p:spPr bwMode="auto">
          <a:xfrm>
            <a:off x="228600" y="1447800"/>
            <a:ext cx="8534400"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有时候分贝用来以毫瓦计量信号功率。这种情况下，它成为</a:t>
            </a:r>
            <a:r>
              <a:rPr lang="zh-CN" altLang="en-US" baseline="0">
                <a:solidFill>
                  <a:schemeClr val="hlink"/>
                </a:solidFill>
                <a:ea typeface="宋体" panose="02010600030101010101" pitchFamily="2" charset="-122"/>
              </a:rPr>
              <a:t>dB</a:t>
            </a:r>
            <a:r>
              <a:rPr lang="zh-CN" altLang="en-US" baseline="-25000">
                <a:solidFill>
                  <a:schemeClr val="hlink"/>
                </a:solidFill>
                <a:ea typeface="宋体" panose="02010600030101010101" pitchFamily="2" charset="-122"/>
              </a:rPr>
              <a:t>m</a:t>
            </a:r>
            <a:r>
              <a:rPr lang="zh-CN" altLang="en-US" baseline="0">
                <a:ea typeface="宋体" panose="02010600030101010101" pitchFamily="2" charset="-122"/>
              </a:rPr>
              <a:t>，计算为dB</a:t>
            </a:r>
            <a:r>
              <a:rPr lang="zh-CN" altLang="en-US" baseline="-25000">
                <a:ea typeface="宋体" panose="02010600030101010101" pitchFamily="2" charset="-122"/>
              </a:rPr>
              <a:t>m</a:t>
            </a:r>
            <a:r>
              <a:rPr lang="zh-CN" altLang="en-US" baseline="0">
                <a:ea typeface="宋体" panose="02010600030101010101" pitchFamily="2" charset="-122"/>
              </a:rPr>
              <a:t> = 10 log10 P</a:t>
            </a:r>
            <a:r>
              <a:rPr lang="zh-CN" altLang="en-US" baseline="-25000">
                <a:ea typeface="宋体" panose="02010600030101010101" pitchFamily="2" charset="-122"/>
              </a:rPr>
              <a:t>m </a:t>
            </a:r>
            <a:r>
              <a:rPr lang="zh-CN" altLang="en-US" baseline="0">
                <a:ea typeface="宋体" panose="02010600030101010101" pitchFamily="2" charset="-122"/>
              </a:rPr>
              <a:t>, 这里P</a:t>
            </a:r>
            <a:r>
              <a:rPr lang="zh-CN" altLang="en-US" baseline="-25000">
                <a:ea typeface="宋体" panose="02010600030101010101" pitchFamily="2" charset="-122"/>
              </a:rPr>
              <a:t>m</a:t>
            </a:r>
            <a:r>
              <a:rPr lang="zh-CN" altLang="en-US" baseline="0">
                <a:ea typeface="宋体" panose="02010600030101010101" pitchFamily="2" charset="-122"/>
              </a:rPr>
              <a:t>是以毫瓦为单位的功率。如果信号的功率为dB</a:t>
            </a:r>
            <a:r>
              <a:rPr lang="zh-CN" altLang="en-US" baseline="-25000">
                <a:ea typeface="宋体" panose="02010600030101010101" pitchFamily="2" charset="-122"/>
              </a:rPr>
              <a:t>m</a:t>
            </a:r>
            <a:r>
              <a:rPr lang="zh-CN" altLang="en-US" baseline="0">
                <a:ea typeface="宋体" panose="02010600030101010101" pitchFamily="2" charset="-122"/>
              </a:rPr>
              <a:t> = −30，计算它的功率。</a:t>
            </a: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我们计算信号的功率如下：</a:t>
            </a:r>
          </a:p>
        </p:txBody>
      </p:sp>
      <p:sp>
        <p:nvSpPr>
          <p:cNvPr id="94219" name="Text Box 12">
            <a:extLst>
              <a:ext uri="{FF2B5EF4-FFF2-40B4-BE49-F238E27FC236}">
                <a16:creationId xmlns:a16="http://schemas.microsoft.com/office/drawing/2014/main" id="{BA37CBE1-696E-0E87-79A8-0ABF6B37D789}"/>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3.29</a:t>
            </a:r>
          </a:p>
        </p:txBody>
      </p:sp>
      <p:pic>
        <p:nvPicPr>
          <p:cNvPr id="94220" name="Picture 13">
            <a:extLst>
              <a:ext uri="{FF2B5EF4-FFF2-40B4-BE49-F238E27FC236}">
                <a16:creationId xmlns:a16="http://schemas.microsoft.com/office/drawing/2014/main" id="{ECFD06F3-C9C5-20C3-B4A3-1E39C59B35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724400"/>
            <a:ext cx="4945063" cy="869950"/>
          </a:xfrm>
          <a:prstGeom prst="rect">
            <a:avLst/>
          </a:prstGeom>
          <a:noFill/>
          <a:ln w="57150" cmpd="thickThin">
            <a:solidFill>
              <a:srgbClr val="3366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1">
            <a:extLst>
              <a:ext uri="{FF2B5EF4-FFF2-40B4-BE49-F238E27FC236}">
                <a16:creationId xmlns:a16="http://schemas.microsoft.com/office/drawing/2014/main" id="{CB1FE304-073C-992F-5DA2-3E03063881A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CFF3E6F4-54F7-48C3-BFAD-5A0DB2E4BE5B}" type="slidenum">
              <a:rPr lang="en-US" altLang="zh-CN" sz="2000" i="0" baseline="0" smtClean="0">
                <a:latin typeface="Arial" panose="020B0604020202020204" pitchFamily="34" charset="0"/>
              </a:rPr>
              <a:pPr/>
              <a:t>90</a:t>
            </a:fld>
            <a:endParaRPr lang="en-US" altLang="zh-CN" sz="2000" i="0" baseline="0">
              <a:latin typeface="Arial" panose="020B0604020202020204" pitchFamily="34" charset="0"/>
            </a:endParaRPr>
          </a:p>
        </p:txBody>
      </p:sp>
      <p:sp>
        <p:nvSpPr>
          <p:cNvPr id="95235" name="Rectangle 2">
            <a:extLst>
              <a:ext uri="{FF2B5EF4-FFF2-40B4-BE49-F238E27FC236}">
                <a16:creationId xmlns:a16="http://schemas.microsoft.com/office/drawing/2014/main" id="{3013F183-06B8-D7A4-E73C-D18F72672CB9}"/>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5236" name="Rectangle 3">
            <a:extLst>
              <a:ext uri="{FF2B5EF4-FFF2-40B4-BE49-F238E27FC236}">
                <a16:creationId xmlns:a16="http://schemas.microsoft.com/office/drawing/2014/main" id="{0D295010-4AE5-A3F1-A372-BEEA4FA33DCB}"/>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95237" name="Group 4">
            <a:extLst>
              <a:ext uri="{FF2B5EF4-FFF2-40B4-BE49-F238E27FC236}">
                <a16:creationId xmlns:a16="http://schemas.microsoft.com/office/drawing/2014/main" id="{AD7B07A5-AAB6-A7CB-0FEB-4181E696BEAA}"/>
              </a:ext>
            </a:extLst>
          </p:cNvPr>
          <p:cNvGrpSpPr>
            <a:grpSpLocks/>
          </p:cNvGrpSpPr>
          <p:nvPr/>
        </p:nvGrpSpPr>
        <p:grpSpPr bwMode="auto">
          <a:xfrm>
            <a:off x="490538" y="773113"/>
            <a:ext cx="738187" cy="474662"/>
            <a:chOff x="0" y="0"/>
            <a:chExt cx="465" cy="299"/>
          </a:xfrm>
        </p:grpSpPr>
        <p:sp>
          <p:nvSpPr>
            <p:cNvPr id="95245" name="Rectangle 5">
              <a:extLst>
                <a:ext uri="{FF2B5EF4-FFF2-40B4-BE49-F238E27FC236}">
                  <a16:creationId xmlns:a16="http://schemas.microsoft.com/office/drawing/2014/main" id="{F91AE1A9-54DA-8C71-63D9-6C0EE4B55EE2}"/>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5246" name="Rectangle 6">
              <a:extLst>
                <a:ext uri="{FF2B5EF4-FFF2-40B4-BE49-F238E27FC236}">
                  <a16:creationId xmlns:a16="http://schemas.microsoft.com/office/drawing/2014/main" id="{6C408CF9-4977-19A4-BBE8-3ECEA59ACF07}"/>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95238" name="Rectangle 7">
            <a:extLst>
              <a:ext uri="{FF2B5EF4-FFF2-40B4-BE49-F238E27FC236}">
                <a16:creationId xmlns:a16="http://schemas.microsoft.com/office/drawing/2014/main" id="{CA51E627-BD61-9094-7F71-BD4166843BC9}"/>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5239" name="Rectangle 8">
            <a:extLst>
              <a:ext uri="{FF2B5EF4-FFF2-40B4-BE49-F238E27FC236}">
                <a16:creationId xmlns:a16="http://schemas.microsoft.com/office/drawing/2014/main" id="{97958311-83A1-DDFA-7969-A5643C55F333}"/>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5240" name="Rectangle 9">
            <a:extLst>
              <a:ext uri="{FF2B5EF4-FFF2-40B4-BE49-F238E27FC236}">
                <a16:creationId xmlns:a16="http://schemas.microsoft.com/office/drawing/2014/main" id="{EA39E03F-2337-F65B-5CF6-FA282EA72261}"/>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5241" name="Rectangle 10">
            <a:extLst>
              <a:ext uri="{FF2B5EF4-FFF2-40B4-BE49-F238E27FC236}">
                <a16:creationId xmlns:a16="http://schemas.microsoft.com/office/drawing/2014/main" id="{5C433408-86F7-7EC5-0813-579FCF55113F}"/>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95242" name="Rectangle 11">
            <a:extLst>
              <a:ext uri="{FF2B5EF4-FFF2-40B4-BE49-F238E27FC236}">
                <a16:creationId xmlns:a16="http://schemas.microsoft.com/office/drawing/2014/main" id="{3445B7E1-B973-717B-4286-4CC6CB065536}"/>
              </a:ext>
            </a:extLst>
          </p:cNvPr>
          <p:cNvSpPr>
            <a:spLocks noChangeArrowheads="1"/>
          </p:cNvSpPr>
          <p:nvPr/>
        </p:nvSpPr>
        <p:spPr bwMode="auto">
          <a:xfrm>
            <a:off x="228600" y="1143000"/>
            <a:ext cx="8534400"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电缆中的损耗一般定义为每公里分贝数(dB/km)。如果电缆每公里分贝数为−0.3 dB/km，信号在电缆开始端的功率为 2 mW, 则在5 km处信号的功率是多少？</a:t>
            </a: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电缆中的损耗为5 × (−0.3) = −1.5 dB。我们计算功率如下：</a:t>
            </a:r>
          </a:p>
        </p:txBody>
      </p:sp>
      <p:sp>
        <p:nvSpPr>
          <p:cNvPr id="95243" name="Text Box 12">
            <a:extLst>
              <a:ext uri="{FF2B5EF4-FFF2-40B4-BE49-F238E27FC236}">
                <a16:creationId xmlns:a16="http://schemas.microsoft.com/office/drawing/2014/main" id="{FDD95CD1-71C0-91EE-D83B-5DFC12789F9B}"/>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3.30</a:t>
            </a:r>
          </a:p>
        </p:txBody>
      </p:sp>
      <p:pic>
        <p:nvPicPr>
          <p:cNvPr id="95244" name="Picture 13">
            <a:extLst>
              <a:ext uri="{FF2B5EF4-FFF2-40B4-BE49-F238E27FC236}">
                <a16:creationId xmlns:a16="http://schemas.microsoft.com/office/drawing/2014/main" id="{E3D49EB0-4D2A-8796-B682-E4F4173277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0638" y="4343400"/>
            <a:ext cx="4022725" cy="1898650"/>
          </a:xfrm>
          <a:prstGeom prst="rect">
            <a:avLst/>
          </a:prstGeom>
          <a:noFill/>
          <a:ln w="57150" cmpd="thinThick">
            <a:solidFill>
              <a:srgbClr val="3366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1">
            <a:extLst>
              <a:ext uri="{FF2B5EF4-FFF2-40B4-BE49-F238E27FC236}">
                <a16:creationId xmlns:a16="http://schemas.microsoft.com/office/drawing/2014/main" id="{9B2C6032-3246-B149-9073-872EA8D700F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E2F407A3-CE77-416F-944B-DDE58FFE8A4A}" type="slidenum">
              <a:rPr lang="en-US" altLang="zh-CN" sz="2000" i="0" baseline="0" smtClean="0">
                <a:latin typeface="Arial" panose="020B0604020202020204" pitchFamily="34" charset="0"/>
              </a:rPr>
              <a:pPr/>
              <a:t>91</a:t>
            </a:fld>
            <a:endParaRPr lang="en-US" altLang="zh-CN" sz="2000" i="0" baseline="0">
              <a:latin typeface="Arial" panose="020B0604020202020204" pitchFamily="34" charset="0"/>
            </a:endParaRPr>
          </a:p>
        </p:txBody>
      </p:sp>
      <p:sp>
        <p:nvSpPr>
          <p:cNvPr id="96259" name="Line 2">
            <a:extLst>
              <a:ext uri="{FF2B5EF4-FFF2-40B4-BE49-F238E27FC236}">
                <a16:creationId xmlns:a16="http://schemas.microsoft.com/office/drawing/2014/main" id="{E115EB4C-D6F0-6BBA-A932-77340C006375}"/>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0" name="Line 3">
            <a:extLst>
              <a:ext uri="{FF2B5EF4-FFF2-40B4-BE49-F238E27FC236}">
                <a16:creationId xmlns:a16="http://schemas.microsoft.com/office/drawing/2014/main" id="{AD5DE81E-ED5B-A926-C211-C183BAC9821C}"/>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1" name="Text Box 4">
            <a:extLst>
              <a:ext uri="{FF2B5EF4-FFF2-40B4-BE49-F238E27FC236}">
                <a16:creationId xmlns:a16="http://schemas.microsoft.com/office/drawing/2014/main" id="{714FB7EA-3710-751D-032E-68AE5B77AE48}"/>
              </a:ext>
            </a:extLst>
          </p:cNvPr>
          <p:cNvSpPr txBox="1">
            <a:spLocks noChangeArrowheads="1"/>
          </p:cNvSpPr>
          <p:nvPr/>
        </p:nvSpPr>
        <p:spPr bwMode="auto">
          <a:xfrm>
            <a:off x="304800" y="381000"/>
            <a:ext cx="1757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3.28  </a:t>
            </a:r>
            <a:r>
              <a:rPr lang="zh-CN" altLang="en-US" sz="2000" baseline="0">
                <a:ea typeface="宋体" panose="02010600030101010101" pitchFamily="2" charset="-122"/>
              </a:rPr>
              <a:t>失真</a:t>
            </a:r>
          </a:p>
        </p:txBody>
      </p:sp>
      <p:sp>
        <p:nvSpPr>
          <p:cNvPr id="96262" name="Line 5">
            <a:extLst>
              <a:ext uri="{FF2B5EF4-FFF2-40B4-BE49-F238E27FC236}">
                <a16:creationId xmlns:a16="http://schemas.microsoft.com/office/drawing/2014/main" id="{BD7676B0-1A37-154C-D1B5-09624483480D}"/>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6263" name="Picture 6">
            <a:extLst>
              <a:ext uri="{FF2B5EF4-FFF2-40B4-BE49-F238E27FC236}">
                <a16:creationId xmlns:a16="http://schemas.microsoft.com/office/drawing/2014/main" id="{79988CCD-F3BD-200F-58A8-C7CF036628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838" y="1887538"/>
            <a:ext cx="8335962" cy="321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1">
            <a:extLst>
              <a:ext uri="{FF2B5EF4-FFF2-40B4-BE49-F238E27FC236}">
                <a16:creationId xmlns:a16="http://schemas.microsoft.com/office/drawing/2014/main" id="{00178FD8-3D31-F1CE-E404-E0063FCAE9C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08552196-5B46-4783-8ED6-FF7DF21EFC42}" type="slidenum">
              <a:rPr lang="en-US" altLang="zh-CN" sz="2000" i="0" baseline="0" smtClean="0">
                <a:latin typeface="Arial" panose="020B0604020202020204" pitchFamily="34" charset="0"/>
              </a:rPr>
              <a:pPr/>
              <a:t>92</a:t>
            </a:fld>
            <a:endParaRPr lang="en-US" altLang="zh-CN" sz="2000" i="0" baseline="0">
              <a:latin typeface="Arial" panose="020B0604020202020204" pitchFamily="34" charset="0"/>
            </a:endParaRPr>
          </a:p>
        </p:txBody>
      </p:sp>
      <p:sp>
        <p:nvSpPr>
          <p:cNvPr id="97283" name="Line 2">
            <a:extLst>
              <a:ext uri="{FF2B5EF4-FFF2-40B4-BE49-F238E27FC236}">
                <a16:creationId xmlns:a16="http://schemas.microsoft.com/office/drawing/2014/main" id="{B6F40AF3-012C-C4F3-C83C-EC1B3D7D21D7}"/>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84" name="Line 3">
            <a:extLst>
              <a:ext uri="{FF2B5EF4-FFF2-40B4-BE49-F238E27FC236}">
                <a16:creationId xmlns:a16="http://schemas.microsoft.com/office/drawing/2014/main" id="{188BF739-0903-1CF8-153C-DA3B69CA6D7A}"/>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85" name="Text Box 4">
            <a:extLst>
              <a:ext uri="{FF2B5EF4-FFF2-40B4-BE49-F238E27FC236}">
                <a16:creationId xmlns:a16="http://schemas.microsoft.com/office/drawing/2014/main" id="{C4716419-00C5-723F-9580-D74C3B41BA80}"/>
              </a:ext>
            </a:extLst>
          </p:cNvPr>
          <p:cNvSpPr txBox="1">
            <a:spLocks noChangeArrowheads="1"/>
          </p:cNvSpPr>
          <p:nvPr/>
        </p:nvSpPr>
        <p:spPr bwMode="auto">
          <a:xfrm>
            <a:off x="304800" y="381000"/>
            <a:ext cx="1757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3.29  </a:t>
            </a:r>
            <a:r>
              <a:rPr lang="zh-CN" altLang="en-US" sz="2000" baseline="0">
                <a:ea typeface="宋体" panose="02010600030101010101" pitchFamily="2" charset="-122"/>
              </a:rPr>
              <a:t>噪声</a:t>
            </a:r>
          </a:p>
        </p:txBody>
      </p:sp>
      <p:sp>
        <p:nvSpPr>
          <p:cNvPr id="97286" name="Line 5">
            <a:extLst>
              <a:ext uri="{FF2B5EF4-FFF2-40B4-BE49-F238E27FC236}">
                <a16:creationId xmlns:a16="http://schemas.microsoft.com/office/drawing/2014/main" id="{E0FA1AC9-91D2-FBEA-1811-CBC90B91AD11}"/>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7287" name="Picture 6">
            <a:extLst>
              <a:ext uri="{FF2B5EF4-FFF2-40B4-BE49-F238E27FC236}">
                <a16:creationId xmlns:a16="http://schemas.microsoft.com/office/drawing/2014/main" id="{4D94A43F-76B9-ECD3-56B4-43B7683E78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50" y="2408238"/>
            <a:ext cx="7486650" cy="269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1">
            <a:extLst>
              <a:ext uri="{FF2B5EF4-FFF2-40B4-BE49-F238E27FC236}">
                <a16:creationId xmlns:a16="http://schemas.microsoft.com/office/drawing/2014/main" id="{11DC1500-3D3C-01C1-1454-CB5605875EA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E362F9A1-2C5E-4798-AD28-5ACDEE683005}" type="slidenum">
              <a:rPr lang="en-US" altLang="zh-CN" sz="2000" i="0" baseline="0" smtClean="0">
                <a:latin typeface="Arial" panose="020B0604020202020204" pitchFamily="34" charset="0"/>
              </a:rPr>
              <a:pPr/>
              <a:t>93</a:t>
            </a:fld>
            <a:endParaRPr lang="en-US" altLang="zh-CN" sz="2000" i="0" baseline="0">
              <a:latin typeface="Arial" panose="020B0604020202020204" pitchFamily="34" charset="0"/>
            </a:endParaRPr>
          </a:p>
        </p:txBody>
      </p:sp>
      <p:sp>
        <p:nvSpPr>
          <p:cNvPr id="98307" name="Rectangle 2">
            <a:extLst>
              <a:ext uri="{FF2B5EF4-FFF2-40B4-BE49-F238E27FC236}">
                <a16:creationId xmlns:a16="http://schemas.microsoft.com/office/drawing/2014/main" id="{66472FDF-DCCD-370A-C230-1D9F31494683}"/>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8308" name="Rectangle 3">
            <a:extLst>
              <a:ext uri="{FF2B5EF4-FFF2-40B4-BE49-F238E27FC236}">
                <a16:creationId xmlns:a16="http://schemas.microsoft.com/office/drawing/2014/main" id="{DBBFE84B-D7D8-11B6-389A-7160DB17C4F6}"/>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98309" name="Group 4">
            <a:extLst>
              <a:ext uri="{FF2B5EF4-FFF2-40B4-BE49-F238E27FC236}">
                <a16:creationId xmlns:a16="http://schemas.microsoft.com/office/drawing/2014/main" id="{F4F4F594-B4ED-0CBB-A2B4-9296B0E704E5}"/>
              </a:ext>
            </a:extLst>
          </p:cNvPr>
          <p:cNvGrpSpPr>
            <a:grpSpLocks/>
          </p:cNvGrpSpPr>
          <p:nvPr/>
        </p:nvGrpSpPr>
        <p:grpSpPr bwMode="auto">
          <a:xfrm>
            <a:off x="490538" y="773113"/>
            <a:ext cx="738187" cy="474662"/>
            <a:chOff x="0" y="0"/>
            <a:chExt cx="465" cy="299"/>
          </a:xfrm>
        </p:grpSpPr>
        <p:sp>
          <p:nvSpPr>
            <p:cNvPr id="98317" name="Rectangle 5">
              <a:extLst>
                <a:ext uri="{FF2B5EF4-FFF2-40B4-BE49-F238E27FC236}">
                  <a16:creationId xmlns:a16="http://schemas.microsoft.com/office/drawing/2014/main" id="{6552FF3A-F55C-06AC-BE2F-4E536B87F797}"/>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8318" name="Rectangle 6">
              <a:extLst>
                <a:ext uri="{FF2B5EF4-FFF2-40B4-BE49-F238E27FC236}">
                  <a16:creationId xmlns:a16="http://schemas.microsoft.com/office/drawing/2014/main" id="{AC51BDEF-D402-BF63-1C38-BBCA423DC5B1}"/>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98310" name="Rectangle 7">
            <a:extLst>
              <a:ext uri="{FF2B5EF4-FFF2-40B4-BE49-F238E27FC236}">
                <a16:creationId xmlns:a16="http://schemas.microsoft.com/office/drawing/2014/main" id="{77B7FDC9-3A8E-8A6D-D8A5-84F165C54936}"/>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8311" name="Rectangle 8">
            <a:extLst>
              <a:ext uri="{FF2B5EF4-FFF2-40B4-BE49-F238E27FC236}">
                <a16:creationId xmlns:a16="http://schemas.microsoft.com/office/drawing/2014/main" id="{F64326F7-DA5E-0770-E41C-65730EFC6AC3}"/>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8312" name="Rectangle 9">
            <a:extLst>
              <a:ext uri="{FF2B5EF4-FFF2-40B4-BE49-F238E27FC236}">
                <a16:creationId xmlns:a16="http://schemas.microsoft.com/office/drawing/2014/main" id="{F7F03E8E-6312-56D6-B682-DD0D2C6A9241}"/>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8313" name="Rectangle 10">
            <a:extLst>
              <a:ext uri="{FF2B5EF4-FFF2-40B4-BE49-F238E27FC236}">
                <a16:creationId xmlns:a16="http://schemas.microsoft.com/office/drawing/2014/main" id="{16297361-269B-BA41-EC5E-A4A65C12397C}"/>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98314" name="Rectangle 11">
            <a:extLst>
              <a:ext uri="{FF2B5EF4-FFF2-40B4-BE49-F238E27FC236}">
                <a16:creationId xmlns:a16="http://schemas.microsoft.com/office/drawing/2014/main" id="{8F7F7108-75D5-003D-7739-C8FB51111FBC}"/>
              </a:ext>
            </a:extLst>
          </p:cNvPr>
          <p:cNvSpPr>
            <a:spLocks noChangeArrowheads="1"/>
          </p:cNvSpPr>
          <p:nvPr/>
        </p:nvSpPr>
        <p:spPr bwMode="auto">
          <a:xfrm>
            <a:off x="228600" y="1447800"/>
            <a:ext cx="8534400"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信号的功率是10 mW，噪声的功率是1 μW，那么SNR 和SNR</a:t>
            </a:r>
            <a:r>
              <a:rPr lang="zh-CN" altLang="en-US" baseline="-25000">
                <a:ea typeface="宋体" panose="02010600030101010101" pitchFamily="2" charset="-122"/>
              </a:rPr>
              <a:t>dB</a:t>
            </a:r>
            <a:r>
              <a:rPr lang="zh-CN" altLang="en-US" baseline="0">
                <a:ea typeface="宋体" panose="02010600030101010101" pitchFamily="2" charset="-122"/>
              </a:rPr>
              <a:t>是多少？</a:t>
            </a:r>
          </a:p>
          <a:p>
            <a:pPr algn="just">
              <a:buFont typeface="Arial" panose="020B0604020202020204" pitchFamily="34" charset="0"/>
              <a:buNone/>
            </a:pPr>
            <a:endParaRPr lang="zh-CN" altLang="en-US" baseline="0">
              <a:ea typeface="宋体" panose="02010600030101010101" pitchFamily="2" charset="-122"/>
            </a:endParaRP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SNR 和 SNR</a:t>
            </a:r>
            <a:r>
              <a:rPr lang="zh-CN" altLang="en-US">
                <a:ea typeface="宋体" panose="02010600030101010101" pitchFamily="2" charset="-122"/>
              </a:rPr>
              <a:t>dB</a:t>
            </a:r>
            <a:r>
              <a:rPr lang="zh-CN" altLang="en-US" baseline="0">
                <a:ea typeface="宋体" panose="02010600030101010101" pitchFamily="2" charset="-122"/>
              </a:rPr>
              <a:t>可以计算如下:</a:t>
            </a:r>
          </a:p>
        </p:txBody>
      </p:sp>
      <p:sp>
        <p:nvSpPr>
          <p:cNvPr id="98315" name="Text Box 12">
            <a:extLst>
              <a:ext uri="{FF2B5EF4-FFF2-40B4-BE49-F238E27FC236}">
                <a16:creationId xmlns:a16="http://schemas.microsoft.com/office/drawing/2014/main" id="{4DC819A2-F15A-0F05-94A1-B9522C3A5B32}"/>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3.31</a:t>
            </a:r>
          </a:p>
        </p:txBody>
      </p:sp>
      <p:pic>
        <p:nvPicPr>
          <p:cNvPr id="98316" name="Picture 13">
            <a:extLst>
              <a:ext uri="{FF2B5EF4-FFF2-40B4-BE49-F238E27FC236}">
                <a16:creationId xmlns:a16="http://schemas.microsoft.com/office/drawing/2014/main" id="{6E9E8A06-6A68-9BC7-1E4F-625BA66137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6425" y="4357688"/>
            <a:ext cx="5391150" cy="1052512"/>
          </a:xfrm>
          <a:prstGeom prst="rect">
            <a:avLst/>
          </a:prstGeom>
          <a:noFill/>
          <a:ln w="57150" cmpd="thinThick">
            <a:solidFill>
              <a:srgbClr val="3366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1">
            <a:extLst>
              <a:ext uri="{FF2B5EF4-FFF2-40B4-BE49-F238E27FC236}">
                <a16:creationId xmlns:a16="http://schemas.microsoft.com/office/drawing/2014/main" id="{B79C49B2-E406-F2C9-3B23-A614A5E4244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5B438315-A5D7-45D7-82B2-8CE845F61619}" type="slidenum">
              <a:rPr lang="en-US" altLang="zh-CN" sz="2000" i="0" baseline="0" smtClean="0">
                <a:latin typeface="Arial" panose="020B0604020202020204" pitchFamily="34" charset="0"/>
              </a:rPr>
              <a:pPr/>
              <a:t>94</a:t>
            </a:fld>
            <a:endParaRPr lang="en-US" altLang="zh-CN" sz="2000" i="0" baseline="0">
              <a:latin typeface="Arial" panose="020B0604020202020204" pitchFamily="34" charset="0"/>
            </a:endParaRPr>
          </a:p>
        </p:txBody>
      </p:sp>
      <p:sp>
        <p:nvSpPr>
          <p:cNvPr id="99331" name="Rectangle 2">
            <a:extLst>
              <a:ext uri="{FF2B5EF4-FFF2-40B4-BE49-F238E27FC236}">
                <a16:creationId xmlns:a16="http://schemas.microsoft.com/office/drawing/2014/main" id="{CF2EC4C0-D807-C07D-410D-CD7E3170719A}"/>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9332" name="Rectangle 3">
            <a:extLst>
              <a:ext uri="{FF2B5EF4-FFF2-40B4-BE49-F238E27FC236}">
                <a16:creationId xmlns:a16="http://schemas.microsoft.com/office/drawing/2014/main" id="{C6384480-5AD2-3E77-CDC5-588882AE18AB}"/>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99333" name="Group 4">
            <a:extLst>
              <a:ext uri="{FF2B5EF4-FFF2-40B4-BE49-F238E27FC236}">
                <a16:creationId xmlns:a16="http://schemas.microsoft.com/office/drawing/2014/main" id="{8A920820-8253-3B36-1B2F-A8B0AD063EA5}"/>
              </a:ext>
            </a:extLst>
          </p:cNvPr>
          <p:cNvGrpSpPr>
            <a:grpSpLocks/>
          </p:cNvGrpSpPr>
          <p:nvPr/>
        </p:nvGrpSpPr>
        <p:grpSpPr bwMode="auto">
          <a:xfrm>
            <a:off x="490538" y="773113"/>
            <a:ext cx="738187" cy="474662"/>
            <a:chOff x="0" y="0"/>
            <a:chExt cx="465" cy="299"/>
          </a:xfrm>
        </p:grpSpPr>
        <p:sp>
          <p:nvSpPr>
            <p:cNvPr id="99342" name="Rectangle 5">
              <a:extLst>
                <a:ext uri="{FF2B5EF4-FFF2-40B4-BE49-F238E27FC236}">
                  <a16:creationId xmlns:a16="http://schemas.microsoft.com/office/drawing/2014/main" id="{38E4023B-C550-F790-C9BB-295149F79AA6}"/>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9343" name="Rectangle 6">
              <a:extLst>
                <a:ext uri="{FF2B5EF4-FFF2-40B4-BE49-F238E27FC236}">
                  <a16:creationId xmlns:a16="http://schemas.microsoft.com/office/drawing/2014/main" id="{307A9643-117C-6E4E-75B7-D91B6E2031E1}"/>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99334" name="Rectangle 7">
            <a:extLst>
              <a:ext uri="{FF2B5EF4-FFF2-40B4-BE49-F238E27FC236}">
                <a16:creationId xmlns:a16="http://schemas.microsoft.com/office/drawing/2014/main" id="{7EA855CF-8B47-D729-7229-E34D38BBF9B5}"/>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9335" name="Rectangle 8">
            <a:extLst>
              <a:ext uri="{FF2B5EF4-FFF2-40B4-BE49-F238E27FC236}">
                <a16:creationId xmlns:a16="http://schemas.microsoft.com/office/drawing/2014/main" id="{4564AABA-7BC1-C694-2396-87832C8B7D62}"/>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9336" name="Rectangle 9">
            <a:extLst>
              <a:ext uri="{FF2B5EF4-FFF2-40B4-BE49-F238E27FC236}">
                <a16:creationId xmlns:a16="http://schemas.microsoft.com/office/drawing/2014/main" id="{155619EF-0B57-65E2-4C8C-E0295C506EDC}"/>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99337" name="Rectangle 10">
            <a:extLst>
              <a:ext uri="{FF2B5EF4-FFF2-40B4-BE49-F238E27FC236}">
                <a16:creationId xmlns:a16="http://schemas.microsoft.com/office/drawing/2014/main" id="{5B4E8A70-2630-4945-FB0C-40110F5A732B}"/>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99338" name="Rectangle 11">
            <a:extLst>
              <a:ext uri="{FF2B5EF4-FFF2-40B4-BE49-F238E27FC236}">
                <a16:creationId xmlns:a16="http://schemas.microsoft.com/office/drawing/2014/main" id="{35BA7579-2F03-9F42-78BE-B297E6BAF662}"/>
              </a:ext>
            </a:extLst>
          </p:cNvPr>
          <p:cNvSpPr>
            <a:spLocks noChangeArrowheads="1"/>
          </p:cNvSpPr>
          <p:nvPr/>
        </p:nvSpPr>
        <p:spPr bwMode="auto">
          <a:xfrm>
            <a:off x="228600" y="1447800"/>
            <a:ext cx="8534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对于无噪声通道的 SNR和 SNR</a:t>
            </a:r>
            <a:r>
              <a:rPr lang="zh-CN" altLang="en-US">
                <a:ea typeface="宋体" panose="02010600030101010101" pitchFamily="2" charset="-122"/>
              </a:rPr>
              <a:t>dB</a:t>
            </a:r>
            <a:r>
              <a:rPr lang="zh-CN" altLang="en-US" baseline="0">
                <a:ea typeface="宋体" panose="02010600030101010101" pitchFamily="2" charset="-122"/>
              </a:rPr>
              <a:t> 是：</a:t>
            </a:r>
          </a:p>
        </p:txBody>
      </p:sp>
      <p:sp>
        <p:nvSpPr>
          <p:cNvPr id="99339" name="Text Box 12">
            <a:extLst>
              <a:ext uri="{FF2B5EF4-FFF2-40B4-BE49-F238E27FC236}">
                <a16:creationId xmlns:a16="http://schemas.microsoft.com/office/drawing/2014/main" id="{730B95A0-0592-7C1B-D56E-6714CD0315D7}"/>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3.32</a:t>
            </a:r>
          </a:p>
        </p:txBody>
      </p:sp>
      <p:pic>
        <p:nvPicPr>
          <p:cNvPr id="99340" name="Picture 13">
            <a:extLst>
              <a:ext uri="{FF2B5EF4-FFF2-40B4-BE49-F238E27FC236}">
                <a16:creationId xmlns:a16="http://schemas.microsoft.com/office/drawing/2014/main" id="{CBF14237-1C2C-D0FA-FF46-D6F961B22A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743200"/>
            <a:ext cx="3159125" cy="998538"/>
          </a:xfrm>
          <a:prstGeom prst="rect">
            <a:avLst/>
          </a:prstGeom>
          <a:noFill/>
          <a:ln w="57150" cmpd="thinThick">
            <a:solidFill>
              <a:srgbClr val="3366FF"/>
            </a:solidFill>
            <a:miter lim="800000"/>
            <a:headEnd/>
            <a:tailEnd/>
          </a:ln>
          <a:extLst>
            <a:ext uri="{909E8E84-426E-40DD-AFC4-6F175D3DCCD1}">
              <a14:hiddenFill xmlns:a14="http://schemas.microsoft.com/office/drawing/2010/main">
                <a:solidFill>
                  <a:srgbClr val="FFFFFF"/>
                </a:solidFill>
              </a14:hiddenFill>
            </a:ext>
          </a:extLst>
        </p:spPr>
      </p:pic>
      <p:sp>
        <p:nvSpPr>
          <p:cNvPr id="99341" name="Rectangle 14">
            <a:extLst>
              <a:ext uri="{FF2B5EF4-FFF2-40B4-BE49-F238E27FC236}">
                <a16:creationId xmlns:a16="http://schemas.microsoft.com/office/drawing/2014/main" id="{9BF5F347-86FB-D7F5-8038-A4BFAF7D3269}"/>
              </a:ext>
            </a:extLst>
          </p:cNvPr>
          <p:cNvSpPr>
            <a:spLocks noChangeArrowheads="1"/>
          </p:cNvSpPr>
          <p:nvPr/>
        </p:nvSpPr>
        <p:spPr bwMode="auto">
          <a:xfrm>
            <a:off x="228600" y="4343400"/>
            <a:ext cx="853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我们在现实中不会得到这样的比率，它是理论上的。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1">
            <a:extLst>
              <a:ext uri="{FF2B5EF4-FFF2-40B4-BE49-F238E27FC236}">
                <a16:creationId xmlns:a16="http://schemas.microsoft.com/office/drawing/2014/main" id="{A0257F2D-397B-A1F3-0DB6-C6E3A4A2DEF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DB3FAAC3-6B6B-47BC-B0CF-055D47DE9EFC}" type="slidenum">
              <a:rPr lang="en-US" altLang="zh-CN" sz="2000" i="0" baseline="0" smtClean="0">
                <a:latin typeface="Arial" panose="020B0604020202020204" pitchFamily="34" charset="0"/>
              </a:rPr>
              <a:pPr/>
              <a:t>95</a:t>
            </a:fld>
            <a:endParaRPr lang="en-US" altLang="zh-CN" sz="2000" i="0" baseline="0">
              <a:latin typeface="Arial" panose="020B0604020202020204" pitchFamily="34" charset="0"/>
            </a:endParaRPr>
          </a:p>
        </p:txBody>
      </p:sp>
      <p:sp>
        <p:nvSpPr>
          <p:cNvPr id="100355" name="Line 2">
            <a:extLst>
              <a:ext uri="{FF2B5EF4-FFF2-40B4-BE49-F238E27FC236}">
                <a16:creationId xmlns:a16="http://schemas.microsoft.com/office/drawing/2014/main" id="{4F08FA11-9308-C185-DE40-B4F400276E13}"/>
              </a:ext>
            </a:extLst>
          </p:cNvPr>
          <p:cNvSpPr>
            <a:spLocks noChangeShapeType="1"/>
          </p:cNvSpPr>
          <p:nvPr/>
        </p:nvSpPr>
        <p:spPr bwMode="auto">
          <a:xfrm>
            <a:off x="152400" y="228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56" name="Line 3">
            <a:extLst>
              <a:ext uri="{FF2B5EF4-FFF2-40B4-BE49-F238E27FC236}">
                <a16:creationId xmlns:a16="http://schemas.microsoft.com/office/drawing/2014/main" id="{EE4B6294-5FFE-B10E-FFA8-65934F2F973C}"/>
              </a:ext>
            </a:extLst>
          </p:cNvPr>
          <p:cNvSpPr>
            <a:spLocks noChangeShapeType="1"/>
          </p:cNvSpPr>
          <p:nvPr/>
        </p:nvSpPr>
        <p:spPr bwMode="auto">
          <a:xfrm>
            <a:off x="152400" y="10668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57" name="Text Box 4">
            <a:extLst>
              <a:ext uri="{FF2B5EF4-FFF2-40B4-BE49-F238E27FC236}">
                <a16:creationId xmlns:a16="http://schemas.microsoft.com/office/drawing/2014/main" id="{7F52D58C-316F-4C44-B551-D4A5B6BAFCB2}"/>
              </a:ext>
            </a:extLst>
          </p:cNvPr>
          <p:cNvSpPr txBox="1">
            <a:spLocks noChangeArrowheads="1"/>
          </p:cNvSpPr>
          <p:nvPr/>
        </p:nvSpPr>
        <p:spPr bwMode="auto">
          <a:xfrm>
            <a:off x="304800" y="457200"/>
            <a:ext cx="5041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3.30  </a:t>
            </a:r>
            <a:r>
              <a:rPr lang="zh-CN" altLang="en-US" sz="2000" baseline="0">
                <a:ea typeface="宋体" panose="02010600030101010101" pitchFamily="2" charset="-122"/>
              </a:rPr>
              <a:t>SNR的两种情形: 高 SNR和低 SNR</a:t>
            </a:r>
          </a:p>
        </p:txBody>
      </p:sp>
      <p:sp>
        <p:nvSpPr>
          <p:cNvPr id="100358" name="Line 5">
            <a:extLst>
              <a:ext uri="{FF2B5EF4-FFF2-40B4-BE49-F238E27FC236}">
                <a16:creationId xmlns:a16="http://schemas.microsoft.com/office/drawing/2014/main" id="{ACD5A5AA-DFC2-3EAE-7064-D57F30CFD5B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0359" name="Picture 6">
            <a:extLst>
              <a:ext uri="{FF2B5EF4-FFF2-40B4-BE49-F238E27FC236}">
                <a16:creationId xmlns:a16="http://schemas.microsoft.com/office/drawing/2014/main" id="{A3666569-260C-CE22-358E-D1A30C4BAB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813" y="1406525"/>
            <a:ext cx="8281987" cy="476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378" name="灯片编号占位符 1">
            <a:extLst>
              <a:ext uri="{FF2B5EF4-FFF2-40B4-BE49-F238E27FC236}">
                <a16:creationId xmlns:a16="http://schemas.microsoft.com/office/drawing/2014/main" id="{6E760736-8464-5036-81CE-FF5E780217D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3C16B0B6-EA94-4A38-9AC6-6594A3D41D69}" type="slidenum">
              <a:rPr lang="en-US" altLang="zh-CN" sz="2000" i="0" baseline="0" smtClean="0">
                <a:latin typeface="Arial" panose="020B0604020202020204" pitchFamily="34" charset="0"/>
              </a:rPr>
              <a:pPr/>
              <a:t>96</a:t>
            </a:fld>
            <a:endParaRPr lang="en-US" altLang="zh-CN" sz="2000" i="0" baseline="0">
              <a:latin typeface="Arial" panose="020B0604020202020204" pitchFamily="34" charset="0"/>
            </a:endParaRPr>
          </a:p>
        </p:txBody>
      </p:sp>
      <p:sp>
        <p:nvSpPr>
          <p:cNvPr id="94210" name="Rectangle 2">
            <a:extLst>
              <a:ext uri="{FF2B5EF4-FFF2-40B4-BE49-F238E27FC236}">
                <a16:creationId xmlns:a16="http://schemas.microsoft.com/office/drawing/2014/main" id="{19CDF40B-0D33-30CA-71C9-69C481E4440E}"/>
              </a:ext>
            </a:extLst>
          </p:cNvPr>
          <p:cNvSpPr>
            <a:spLocks noChangeArrowheads="1"/>
          </p:cNvSpPr>
          <p:nvPr/>
        </p:nvSpPr>
        <p:spPr bwMode="auto">
          <a:xfrm>
            <a:off x="0" y="0"/>
            <a:ext cx="9144000" cy="838200"/>
          </a:xfrm>
          <a:prstGeom prst="rect">
            <a:avLst/>
          </a:prstGeom>
          <a:solidFill>
            <a:srgbClr val="33CCFF"/>
          </a:solidFill>
          <a:ln w="9525" cmpd="sng">
            <a:solidFill>
              <a:schemeClr val="tx1"/>
            </a:solidFill>
            <a:miter lim="800000"/>
            <a:headEnd/>
            <a:tailEnd/>
          </a:ln>
          <a:effectLst/>
        </p:spPr>
        <p:txBody>
          <a:bodyPr wrap="none" anchor="ctr"/>
          <a:lstStyle/>
          <a:p>
            <a:pPr algn="ctr">
              <a:buFont typeface="Arial" panose="020B0604020202020204" pitchFamily="34" charset="0"/>
              <a:buNone/>
              <a:defRPr/>
            </a:pPr>
            <a:endParaRPr lang="zh-CN" altLang="zh-CN" sz="3200" i="0" baseline="0">
              <a:effectLst>
                <a:outerShdw blurRad="38100" dist="38100" dir="2700000" algn="tl">
                  <a:srgbClr val="FFFFFF"/>
                </a:outerShdw>
              </a:effectLst>
              <a:ea typeface="宋体" pitchFamily="2" charset="-122"/>
            </a:endParaRPr>
          </a:p>
        </p:txBody>
      </p:sp>
      <p:sp>
        <p:nvSpPr>
          <p:cNvPr id="94211" name="Text Box 3">
            <a:extLst>
              <a:ext uri="{FF2B5EF4-FFF2-40B4-BE49-F238E27FC236}">
                <a16:creationId xmlns:a16="http://schemas.microsoft.com/office/drawing/2014/main" id="{F8964284-FACB-E946-F3D0-A5060FAA2512}"/>
              </a:ext>
            </a:extLst>
          </p:cNvPr>
          <p:cNvSpPr txBox="1">
            <a:spLocks noChangeArrowheads="1"/>
          </p:cNvSpPr>
          <p:nvPr/>
        </p:nvSpPr>
        <p:spPr bwMode="auto">
          <a:xfrm>
            <a:off x="228600" y="76200"/>
            <a:ext cx="3467100" cy="579438"/>
          </a:xfrm>
          <a:prstGeom prst="rect">
            <a:avLst/>
          </a:prstGeom>
          <a:noFill/>
          <a:ln w="9525">
            <a:noFill/>
            <a:miter lim="800000"/>
            <a:headEnd/>
            <a:tailEnd/>
          </a:ln>
          <a:effectLst/>
        </p:spPr>
        <p:txBody>
          <a:bodyPr wrap="none">
            <a:spAutoFit/>
          </a:bodyPr>
          <a:lstStyle/>
          <a:p>
            <a:pPr>
              <a:buFont typeface="Arial" panose="020B0604020202020204" pitchFamily="34" charset="0"/>
              <a:buNone/>
              <a:defRPr/>
            </a:pPr>
            <a:r>
              <a:rPr lang="zh-CN" altLang="en-US" sz="3200" i="0" baseline="0">
                <a:effectLst>
                  <a:outerShdw blurRad="38100" dist="38100" dir="2700000" algn="tl">
                    <a:srgbClr val="C0C0C0"/>
                  </a:outerShdw>
                </a:effectLst>
                <a:latin typeface="Times" pitchFamily="2" charset="0"/>
              </a:rPr>
              <a:t>3-5   </a:t>
            </a:r>
            <a:r>
              <a:rPr lang="zh-CN" altLang="en-US" sz="3200" i="0" baseline="0">
                <a:effectLst>
                  <a:outerShdw blurRad="38100" dist="38100" dir="2700000" algn="tl">
                    <a:srgbClr val="C0C0C0"/>
                  </a:outerShdw>
                </a:effectLst>
                <a:latin typeface="Times" pitchFamily="2" charset="0"/>
                <a:ea typeface="宋体" pitchFamily="2" charset="-122"/>
              </a:rPr>
              <a:t>数据速率限制</a:t>
            </a:r>
          </a:p>
        </p:txBody>
      </p:sp>
      <p:sp>
        <p:nvSpPr>
          <p:cNvPr id="101381" name="Text Box 4">
            <a:extLst>
              <a:ext uri="{FF2B5EF4-FFF2-40B4-BE49-F238E27FC236}">
                <a16:creationId xmlns:a16="http://schemas.microsoft.com/office/drawing/2014/main" id="{C9B78DAB-41A8-A28B-FBFC-E6E7DD456F82}"/>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zh-CN" sz="1800" i="0" baseline="0">
              <a:ea typeface="宋体" panose="02010600030101010101" pitchFamily="2" charset="-122"/>
            </a:endParaRPr>
          </a:p>
        </p:txBody>
      </p:sp>
      <p:sp>
        <p:nvSpPr>
          <p:cNvPr id="94213" name="Rectangle 5">
            <a:extLst>
              <a:ext uri="{FF2B5EF4-FFF2-40B4-BE49-F238E27FC236}">
                <a16:creationId xmlns:a16="http://schemas.microsoft.com/office/drawing/2014/main" id="{CC6D1847-94FC-2B2E-55F4-30EDE7BA851F}"/>
              </a:ext>
            </a:extLst>
          </p:cNvPr>
          <p:cNvSpPr>
            <a:spLocks noChangeArrowheads="1"/>
          </p:cNvSpPr>
          <p:nvPr/>
        </p:nvSpPr>
        <p:spPr bwMode="auto">
          <a:xfrm>
            <a:off x="76200" y="1004888"/>
            <a:ext cx="8610600" cy="3108325"/>
          </a:xfrm>
          <a:prstGeom prst="rect">
            <a:avLst/>
          </a:prstGeom>
          <a:noFill/>
          <a:ln w="9525">
            <a:noFill/>
            <a:miter lim="800000"/>
            <a:headEnd/>
            <a:tailEnd/>
          </a:ln>
          <a:effectLst/>
        </p:spPr>
        <p:txBody>
          <a:bodyPr anchor="ctr">
            <a:spAutoFit/>
          </a:bodyPr>
          <a:lstStyle/>
          <a:p>
            <a:pPr algn="just" eaLnBrk="1" hangingPunct="1">
              <a:buFont typeface="Arial" panose="020B0604020202020204" pitchFamily="34" charset="0"/>
              <a:buNone/>
              <a:defRPr/>
            </a:pPr>
            <a:r>
              <a:rPr lang="zh-CN" altLang="en-US" baseline="0">
                <a:effectLst>
                  <a:outerShdw blurRad="38100" dist="38100" dir="2700000" algn="tl">
                    <a:srgbClr val="C0C0C0"/>
                  </a:outerShdw>
                </a:effectLst>
                <a:ea typeface="宋体" pitchFamily="2" charset="-122"/>
              </a:rPr>
              <a:t>         数据通信中一个非常重要的问题是：在一个通道中能够以多快的速率发送数据，即每秒钟的比特数。数据速率取决于三种因素：</a:t>
            </a:r>
          </a:p>
          <a:p>
            <a:pPr algn="just" eaLnBrk="1" hangingPunct="1">
              <a:buFont typeface="Arial" panose="020B0604020202020204" pitchFamily="34" charset="0"/>
              <a:buNone/>
              <a:defRPr/>
            </a:pPr>
            <a:r>
              <a:rPr lang="zh-CN" altLang="en-US" baseline="0">
                <a:solidFill>
                  <a:schemeClr val="hlink"/>
                </a:solidFill>
                <a:effectLst>
                  <a:outerShdw blurRad="38100" dist="38100" dir="2700000" algn="tl">
                    <a:srgbClr val="C0C0C0"/>
                  </a:outerShdw>
                </a:effectLst>
                <a:ea typeface="宋体" pitchFamily="2" charset="-122"/>
              </a:rPr>
              <a:t>   1.</a:t>
            </a:r>
            <a:r>
              <a:rPr lang="zh-CN" altLang="en-US" baseline="0">
                <a:effectLst>
                  <a:outerShdw blurRad="38100" dist="38100" dir="2700000" algn="tl">
                    <a:srgbClr val="C0C0C0"/>
                  </a:outerShdw>
                </a:effectLst>
                <a:ea typeface="宋体" pitchFamily="2" charset="-122"/>
              </a:rPr>
              <a:t> 有效带宽</a:t>
            </a:r>
            <a:endParaRPr lang="en-US" altLang="zh-CN" baseline="0">
              <a:effectLst>
                <a:outerShdw blurRad="38100" dist="38100" dir="2700000" algn="tl">
                  <a:srgbClr val="C0C0C0"/>
                </a:outerShdw>
              </a:effectLst>
              <a:ea typeface="宋体" pitchFamily="2" charset="-122"/>
            </a:endParaRPr>
          </a:p>
          <a:p>
            <a:pPr algn="just" eaLnBrk="1" hangingPunct="1">
              <a:buFont typeface="Arial" panose="020B0604020202020204" pitchFamily="34" charset="0"/>
              <a:buNone/>
              <a:defRPr/>
            </a:pPr>
            <a:r>
              <a:rPr lang="zh-CN" altLang="en-US" baseline="0">
                <a:effectLst>
                  <a:outerShdw blurRad="38100" dist="38100" dir="2700000" algn="tl">
                    <a:srgbClr val="C0C0C0"/>
                  </a:outerShdw>
                </a:effectLst>
                <a:ea typeface="宋体" pitchFamily="2" charset="-122"/>
              </a:rPr>
              <a:t>（带宽越宽，第一谐波频率越高，速率越快）</a:t>
            </a:r>
          </a:p>
          <a:p>
            <a:pPr algn="just" eaLnBrk="1" hangingPunct="1">
              <a:buFont typeface="Arial" panose="020B0604020202020204" pitchFamily="34" charset="0"/>
              <a:buNone/>
              <a:defRPr/>
            </a:pPr>
            <a:r>
              <a:rPr lang="zh-CN" altLang="en-US" baseline="0">
                <a:solidFill>
                  <a:schemeClr val="hlink"/>
                </a:solidFill>
                <a:effectLst>
                  <a:outerShdw blurRad="38100" dist="38100" dir="2700000" algn="tl">
                    <a:srgbClr val="C0C0C0"/>
                  </a:outerShdw>
                </a:effectLst>
                <a:ea typeface="宋体" pitchFamily="2" charset="-122"/>
              </a:rPr>
              <a:t>   2.</a:t>
            </a:r>
            <a:r>
              <a:rPr lang="zh-CN" altLang="en-US" baseline="0">
                <a:effectLst>
                  <a:outerShdw blurRad="38100" dist="38100" dir="2700000" algn="tl">
                    <a:srgbClr val="C0C0C0"/>
                  </a:outerShdw>
                </a:effectLst>
                <a:ea typeface="宋体" pitchFamily="2" charset="-122"/>
              </a:rPr>
              <a:t> 使用的信号电平数（</a:t>
            </a:r>
            <a:r>
              <a:rPr lang="en-US" altLang="zh-CN" baseline="0">
                <a:effectLst>
                  <a:outerShdw blurRad="38100" dist="38100" dir="2700000" algn="tl">
                    <a:srgbClr val="C0C0C0"/>
                  </a:outerShdw>
                </a:effectLst>
                <a:ea typeface="宋体" pitchFamily="2" charset="-122"/>
              </a:rPr>
              <a:t>logL</a:t>
            </a:r>
            <a:r>
              <a:rPr lang="zh-CN" altLang="en-US" baseline="0">
                <a:effectLst>
                  <a:outerShdw blurRad="38100" dist="38100" dir="2700000" algn="tl">
                    <a:srgbClr val="C0C0C0"/>
                  </a:outerShdw>
                </a:effectLst>
                <a:ea typeface="宋体" pitchFamily="2" charset="-122"/>
              </a:rPr>
              <a:t>）</a:t>
            </a:r>
          </a:p>
          <a:p>
            <a:pPr algn="just" eaLnBrk="1" hangingPunct="1">
              <a:buFont typeface="Arial" panose="020B0604020202020204" pitchFamily="34" charset="0"/>
              <a:buNone/>
              <a:defRPr/>
            </a:pPr>
            <a:r>
              <a:rPr lang="zh-CN" altLang="en-US" baseline="0">
                <a:solidFill>
                  <a:schemeClr val="hlink"/>
                </a:solidFill>
                <a:effectLst>
                  <a:outerShdw blurRad="38100" dist="38100" dir="2700000" algn="tl">
                    <a:srgbClr val="C0C0C0"/>
                  </a:outerShdw>
                </a:effectLst>
                <a:ea typeface="宋体" pitchFamily="2" charset="-122"/>
              </a:rPr>
              <a:t>   3</a:t>
            </a:r>
            <a:r>
              <a:rPr lang="zh-CN" altLang="en-US" baseline="0">
                <a:effectLst>
                  <a:outerShdw blurRad="38100" dist="38100" dir="2700000" algn="tl">
                    <a:srgbClr val="C0C0C0"/>
                  </a:outerShdw>
                </a:effectLst>
                <a:ea typeface="宋体" pitchFamily="2" charset="-122"/>
              </a:rPr>
              <a:t>. 通道的质量(噪声电平</a:t>
            </a:r>
            <a:r>
              <a:rPr lang="en-US" altLang="zh-CN" baseline="0">
                <a:effectLst>
                  <a:outerShdw blurRad="38100" dist="38100" dir="2700000" algn="tl">
                    <a:srgbClr val="C0C0C0"/>
                  </a:outerShdw>
                </a:effectLst>
                <a:ea typeface="宋体" pitchFamily="2" charset="-122"/>
              </a:rPr>
              <a:t>SNR</a:t>
            </a:r>
            <a:r>
              <a:rPr lang="zh-CN" altLang="en-US" baseline="0">
                <a:effectLst>
                  <a:outerShdw blurRad="38100" dist="38100" dir="2700000" algn="tl">
                    <a:srgbClr val="C0C0C0"/>
                  </a:outerShdw>
                </a:effectLst>
                <a:ea typeface="宋体" pitchFamily="2" charset="-122"/>
              </a:rPr>
              <a:t>、叠加谐波的个数)</a:t>
            </a:r>
          </a:p>
        </p:txBody>
      </p:sp>
      <p:sp>
        <p:nvSpPr>
          <p:cNvPr id="101383" name="Rectangle 6">
            <a:extLst>
              <a:ext uri="{FF2B5EF4-FFF2-40B4-BE49-F238E27FC236}">
                <a16:creationId xmlns:a16="http://schemas.microsoft.com/office/drawing/2014/main" id="{B13795BE-7523-8EF6-BB8A-9C1259FF6550}"/>
              </a:ext>
            </a:extLst>
          </p:cNvPr>
          <p:cNvSpPr>
            <a:spLocks noChangeArrowheads="1"/>
          </p:cNvSpPr>
          <p:nvPr/>
        </p:nvSpPr>
        <p:spPr bwMode="auto">
          <a:xfrm>
            <a:off x="230188" y="4819650"/>
            <a:ext cx="5637212"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zh-CN" altLang="en-US" sz="2400" i="0" baseline="0">
                <a:solidFill>
                  <a:srgbClr val="0033CC"/>
                </a:solidFill>
                <a:ea typeface="宋体" panose="02010600030101010101" pitchFamily="2" charset="-122"/>
              </a:rPr>
              <a:t>无噪声通道: 奈奎斯特比特率</a:t>
            </a:r>
            <a:br>
              <a:rPr lang="fr-FR" altLang="en-US" sz="2400" i="0" baseline="0">
                <a:solidFill>
                  <a:srgbClr val="0033CC"/>
                </a:solidFill>
              </a:rPr>
            </a:br>
            <a:r>
              <a:rPr lang="zh-CN" altLang="en-US" sz="2400" i="0" baseline="0">
                <a:solidFill>
                  <a:srgbClr val="0033CC"/>
                </a:solidFill>
                <a:ea typeface="宋体" panose="02010600030101010101" pitchFamily="2" charset="-122"/>
              </a:rPr>
              <a:t>噪声通道</a:t>
            </a:r>
            <a:r>
              <a:rPr lang="fr-FR" altLang="en-US" sz="2400" i="0" baseline="0">
                <a:solidFill>
                  <a:srgbClr val="0033CC"/>
                </a:solidFill>
              </a:rPr>
              <a:t>: </a:t>
            </a:r>
            <a:r>
              <a:rPr lang="zh-CN" altLang="en-US" sz="2400" i="0" baseline="0">
                <a:solidFill>
                  <a:srgbClr val="0033CC"/>
                </a:solidFill>
                <a:ea typeface="宋体" panose="02010600030101010101" pitchFamily="2" charset="-122"/>
              </a:rPr>
              <a:t>香农容量定理</a:t>
            </a:r>
            <a:br>
              <a:rPr lang="fr-FR" altLang="en-US" sz="2400" i="0" baseline="0">
                <a:solidFill>
                  <a:srgbClr val="0033CC"/>
                </a:solidFill>
              </a:rPr>
            </a:br>
            <a:r>
              <a:rPr lang="zh-CN" altLang="en-US" sz="2400" i="0" baseline="0">
                <a:solidFill>
                  <a:srgbClr val="0033CC"/>
                </a:solidFill>
                <a:ea typeface="宋体" panose="02010600030101010101" pitchFamily="2" charset="-122"/>
              </a:rPr>
              <a:t>使用两种限制条件</a:t>
            </a:r>
          </a:p>
        </p:txBody>
      </p:sp>
      <p:sp>
        <p:nvSpPr>
          <p:cNvPr id="94215" name="Text Box 7">
            <a:extLst>
              <a:ext uri="{FF2B5EF4-FFF2-40B4-BE49-F238E27FC236}">
                <a16:creationId xmlns:a16="http://schemas.microsoft.com/office/drawing/2014/main" id="{2E64C676-B30F-3274-D067-111CD3C594C8}"/>
              </a:ext>
            </a:extLst>
          </p:cNvPr>
          <p:cNvSpPr txBox="1">
            <a:spLocks noChangeArrowheads="1"/>
          </p:cNvSpPr>
          <p:nvPr/>
        </p:nvSpPr>
        <p:spPr bwMode="auto">
          <a:xfrm>
            <a:off x="304800" y="4343400"/>
            <a:ext cx="2790825" cy="519113"/>
          </a:xfrm>
          <a:prstGeom prst="rect">
            <a:avLst/>
          </a:prstGeom>
          <a:noFill/>
          <a:ln w="9525">
            <a:noFill/>
            <a:miter lim="800000"/>
            <a:headEnd/>
            <a:tailEnd/>
          </a:ln>
          <a:effectLst/>
        </p:spPr>
        <p:txBody>
          <a:bodyPr wrap="none">
            <a:spAutoFit/>
          </a:bodyPr>
          <a:lstStyle/>
          <a:p>
            <a:pPr algn="ctr">
              <a:buFont typeface="Arial" panose="020B0604020202020204" pitchFamily="34" charset="0"/>
              <a:buNone/>
              <a:defRPr/>
            </a:pPr>
            <a:r>
              <a:rPr lang="zh-CN" altLang="en-US" u="sng" baseline="0">
                <a:solidFill>
                  <a:schemeClr val="hlink"/>
                </a:solidFill>
                <a:effectLst>
                  <a:outerShdw blurRad="38100" dist="38100" dir="2700000" algn="tl">
                    <a:srgbClr val="C0C0C0"/>
                  </a:outerShdw>
                </a:effectLst>
                <a:ea typeface="宋体" pitchFamily="2" charset="-122"/>
              </a:rPr>
              <a:t>本节讨论的主题</a:t>
            </a:r>
            <a:r>
              <a:rPr lang="en-US" altLang="zh-CN" u="sng" baseline="0">
                <a:solidFill>
                  <a:schemeClr val="hlink"/>
                </a:solidFill>
                <a:effectLst>
                  <a:outerShdw blurRad="38100" dist="38100" dir="2700000" algn="tl">
                    <a:srgbClr val="C0C0C0"/>
                  </a:outerShdw>
                </a:effectLst>
                <a:ea typeface="宋体" pitchFamily="2" charset="-122"/>
              </a:rPr>
              <a: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1">
            <a:extLst>
              <a:ext uri="{FF2B5EF4-FFF2-40B4-BE49-F238E27FC236}">
                <a16:creationId xmlns:a16="http://schemas.microsoft.com/office/drawing/2014/main" id="{D2463367-2D61-F079-967A-6735D316FE3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CCC21CF1-BD85-4D6F-9170-45069285FF70}" type="slidenum">
              <a:rPr lang="en-US" altLang="zh-CN" sz="2000" i="0" baseline="0" smtClean="0">
                <a:latin typeface="Arial" panose="020B0604020202020204" pitchFamily="34" charset="0"/>
              </a:rPr>
              <a:pPr/>
              <a:t>97</a:t>
            </a:fld>
            <a:endParaRPr lang="en-US" altLang="zh-CN" sz="2000" i="0" baseline="0">
              <a:latin typeface="Arial" panose="020B0604020202020204" pitchFamily="34" charset="0"/>
            </a:endParaRPr>
          </a:p>
        </p:txBody>
      </p:sp>
      <p:sp>
        <p:nvSpPr>
          <p:cNvPr id="102403" name="Rectangle 2">
            <a:extLst>
              <a:ext uri="{FF2B5EF4-FFF2-40B4-BE49-F238E27FC236}">
                <a16:creationId xmlns:a16="http://schemas.microsoft.com/office/drawing/2014/main" id="{7222BCCC-6C0E-E2AF-A173-A9683EB4CFFC}"/>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404" name="Rectangle 3">
            <a:extLst>
              <a:ext uri="{FF2B5EF4-FFF2-40B4-BE49-F238E27FC236}">
                <a16:creationId xmlns:a16="http://schemas.microsoft.com/office/drawing/2014/main" id="{BCD4F8B7-0118-92C6-AC3B-7CC642DA34D4}"/>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405" name="Rectangle 4">
            <a:extLst>
              <a:ext uri="{FF2B5EF4-FFF2-40B4-BE49-F238E27FC236}">
                <a16:creationId xmlns:a16="http://schemas.microsoft.com/office/drawing/2014/main" id="{51861482-2836-16A2-7F05-88363C19E5EC}"/>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406" name="Rectangle 5">
            <a:extLst>
              <a:ext uri="{FF2B5EF4-FFF2-40B4-BE49-F238E27FC236}">
                <a16:creationId xmlns:a16="http://schemas.microsoft.com/office/drawing/2014/main" id="{8C44371E-1196-BEA8-AF89-8C46329F5F5B}"/>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407" name="Rectangle 6">
            <a:extLst>
              <a:ext uri="{FF2B5EF4-FFF2-40B4-BE49-F238E27FC236}">
                <a16:creationId xmlns:a16="http://schemas.microsoft.com/office/drawing/2014/main" id="{41E38ABA-E9C6-B667-7881-79156EAF9F65}"/>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408" name="Rectangle 7">
            <a:extLst>
              <a:ext uri="{FF2B5EF4-FFF2-40B4-BE49-F238E27FC236}">
                <a16:creationId xmlns:a16="http://schemas.microsoft.com/office/drawing/2014/main" id="{11294B42-9020-E12C-EB69-1F01F4B110FD}"/>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409" name="Rectangle 8">
            <a:extLst>
              <a:ext uri="{FF2B5EF4-FFF2-40B4-BE49-F238E27FC236}">
                <a16:creationId xmlns:a16="http://schemas.microsoft.com/office/drawing/2014/main" id="{9DE84F9C-8B7B-330C-41B5-A605C617DA4B}"/>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2410" name="Line 9">
            <a:extLst>
              <a:ext uri="{FF2B5EF4-FFF2-40B4-BE49-F238E27FC236}">
                <a16:creationId xmlns:a16="http://schemas.microsoft.com/office/drawing/2014/main" id="{5A798C55-5171-CCCC-F594-52B66CDF7276}"/>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1" name="Line 10">
            <a:extLst>
              <a:ext uri="{FF2B5EF4-FFF2-40B4-BE49-F238E27FC236}">
                <a16:creationId xmlns:a16="http://schemas.microsoft.com/office/drawing/2014/main" id="{38CF6C98-36AF-F7C9-1B7A-444F8B64B46E}"/>
              </a:ext>
            </a:extLst>
          </p:cNvPr>
          <p:cNvSpPr>
            <a:spLocks noChangeShapeType="1"/>
          </p:cNvSpPr>
          <p:nvPr/>
        </p:nvSpPr>
        <p:spPr bwMode="auto">
          <a:xfrm>
            <a:off x="533400" y="4724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2" name="Rectangle 11">
            <a:extLst>
              <a:ext uri="{FF2B5EF4-FFF2-40B4-BE49-F238E27FC236}">
                <a16:creationId xmlns:a16="http://schemas.microsoft.com/office/drawing/2014/main" id="{4C6D23FD-6808-CE2E-7564-DD2DD7020A7C}"/>
              </a:ext>
            </a:extLst>
          </p:cNvPr>
          <p:cNvSpPr>
            <a:spLocks noChangeArrowheads="1"/>
          </p:cNvSpPr>
          <p:nvPr/>
        </p:nvSpPr>
        <p:spPr bwMode="auto">
          <a:xfrm>
            <a:off x="495300" y="3063875"/>
            <a:ext cx="8077200" cy="15700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无噪声信道：奈奎斯特比特率</a:t>
            </a:r>
            <a:endParaRPr lang="en-US" altLang="zh-CN" sz="3200" i="0" baseline="0">
              <a:latin typeface="Arial" panose="020B0604020202020204" pitchFamily="34" charset="0"/>
              <a:ea typeface="宋体" panose="02010600030101010101" pitchFamily="2" charset="-122"/>
            </a:endParaRPr>
          </a:p>
          <a:p>
            <a:pPr algn="ctr">
              <a:buFont typeface="Arial" panose="020B0604020202020204" pitchFamily="34" charset="0"/>
              <a:buNone/>
            </a:pPr>
            <a:endParaRPr lang="en-US" altLang="zh-CN" sz="3200" i="0" baseline="0">
              <a:latin typeface="Arial" panose="020B0604020202020204" pitchFamily="34" charset="0"/>
              <a:ea typeface="宋体" panose="02010600030101010101" pitchFamily="2" charset="-122"/>
            </a:endParaRPr>
          </a:p>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比特率</a:t>
            </a:r>
            <a:r>
              <a:rPr lang="en-US" altLang="zh-CN" sz="3200" i="0" baseline="0">
                <a:latin typeface="Arial" panose="020B0604020202020204" pitchFamily="34" charset="0"/>
                <a:ea typeface="宋体" panose="02010600030101010101" pitchFamily="2" charset="-122"/>
              </a:rPr>
              <a:t>=2</a:t>
            </a:r>
            <a:r>
              <a:rPr lang="zh-CN" altLang="en-US" sz="3200" i="0" baseline="0">
                <a:latin typeface="Arial" panose="020B0604020202020204" pitchFamily="34" charset="0"/>
                <a:ea typeface="宋体" panose="02010600030101010101" pitchFamily="2" charset="-122"/>
              </a:rPr>
              <a:t>*带宽*</a:t>
            </a:r>
            <a:r>
              <a:rPr lang="en-US" altLang="zh-CN" sz="3200" i="0" baseline="0">
                <a:latin typeface="Arial" panose="020B0604020202020204" pitchFamily="34" charset="0"/>
                <a:ea typeface="宋体" panose="02010600030101010101" pitchFamily="2" charset="-122"/>
              </a:rPr>
              <a:t>log</a:t>
            </a:r>
            <a:r>
              <a:rPr lang="en-US" altLang="zh-CN" sz="3200" i="0" baseline="-25000">
                <a:latin typeface="Arial" panose="020B0604020202020204" pitchFamily="34" charset="0"/>
                <a:ea typeface="宋体" panose="02010600030101010101" pitchFamily="2" charset="-122"/>
              </a:rPr>
              <a:t>2</a:t>
            </a:r>
            <a:r>
              <a:rPr lang="en-US" altLang="zh-CN" sz="3200" i="0" baseline="0">
                <a:latin typeface="Arial" panose="020B0604020202020204" pitchFamily="34" charset="0"/>
                <a:ea typeface="宋体" panose="02010600030101010101" pitchFamily="2" charset="-122"/>
              </a:rPr>
              <a:t>L</a:t>
            </a:r>
            <a:endParaRPr lang="zh-CN" altLang="en-US" sz="3200" i="0" baseline="0">
              <a:latin typeface="Arial" panose="020B0604020202020204" pitchFamily="34" charset="0"/>
              <a:ea typeface="宋体" panose="02010600030101010101" pitchFamily="2" charset="-122"/>
            </a:endParaRPr>
          </a:p>
        </p:txBody>
      </p:sp>
      <p:grpSp>
        <p:nvGrpSpPr>
          <p:cNvPr id="102413" name="Group 12">
            <a:extLst>
              <a:ext uri="{FF2B5EF4-FFF2-40B4-BE49-F238E27FC236}">
                <a16:creationId xmlns:a16="http://schemas.microsoft.com/office/drawing/2014/main" id="{9C88CB3F-CC61-73C1-1FFB-5BD86BC0A92D}"/>
              </a:ext>
            </a:extLst>
          </p:cNvPr>
          <p:cNvGrpSpPr>
            <a:grpSpLocks/>
          </p:cNvGrpSpPr>
          <p:nvPr/>
        </p:nvGrpSpPr>
        <p:grpSpPr bwMode="auto">
          <a:xfrm>
            <a:off x="457200" y="2286000"/>
            <a:ext cx="1143000" cy="566738"/>
            <a:chOff x="0" y="0"/>
            <a:chExt cx="720" cy="357"/>
          </a:xfrm>
        </p:grpSpPr>
        <p:pic>
          <p:nvPicPr>
            <p:cNvPr id="102414" name="Picture 13">
              <a:extLst>
                <a:ext uri="{FF2B5EF4-FFF2-40B4-BE49-F238E27FC236}">
                  <a16:creationId xmlns:a16="http://schemas.microsoft.com/office/drawing/2014/main" id="{DABEECDB-2976-40C9-8BAA-E67C8C01A1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15" name="Text Box 14">
              <a:extLst>
                <a:ext uri="{FF2B5EF4-FFF2-40B4-BE49-F238E27FC236}">
                  <a16:creationId xmlns:a16="http://schemas.microsoft.com/office/drawing/2014/main" id="{6DD6B8D6-4604-1C02-2534-D80DB0EDD8AD}"/>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1">
            <a:extLst>
              <a:ext uri="{FF2B5EF4-FFF2-40B4-BE49-F238E27FC236}">
                <a16:creationId xmlns:a16="http://schemas.microsoft.com/office/drawing/2014/main" id="{083368FE-22F2-0E0A-4658-D93F9720132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04D0D7B3-D112-4063-9A33-272AC7E600CD}" type="slidenum">
              <a:rPr lang="en-US" altLang="zh-CN" sz="2000" i="0" baseline="0" smtClean="0">
                <a:latin typeface="Arial" panose="020B0604020202020204" pitchFamily="34" charset="0"/>
              </a:rPr>
              <a:pPr/>
              <a:t>98</a:t>
            </a:fld>
            <a:endParaRPr lang="en-US" altLang="zh-CN" sz="2000" i="0" baseline="0">
              <a:latin typeface="Arial" panose="020B0604020202020204" pitchFamily="34" charset="0"/>
            </a:endParaRPr>
          </a:p>
        </p:txBody>
      </p:sp>
      <p:sp>
        <p:nvSpPr>
          <p:cNvPr id="103427" name="Rectangle 2">
            <a:extLst>
              <a:ext uri="{FF2B5EF4-FFF2-40B4-BE49-F238E27FC236}">
                <a16:creationId xmlns:a16="http://schemas.microsoft.com/office/drawing/2014/main" id="{3802B5AF-6D90-194D-C9C4-FC210BAE6556}"/>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3428" name="Rectangle 3">
            <a:extLst>
              <a:ext uri="{FF2B5EF4-FFF2-40B4-BE49-F238E27FC236}">
                <a16:creationId xmlns:a16="http://schemas.microsoft.com/office/drawing/2014/main" id="{55510079-99AF-DFB9-C146-6641471134F5}"/>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3429" name="Rectangle 4">
            <a:extLst>
              <a:ext uri="{FF2B5EF4-FFF2-40B4-BE49-F238E27FC236}">
                <a16:creationId xmlns:a16="http://schemas.microsoft.com/office/drawing/2014/main" id="{11E03567-FA19-FD6B-D43E-C54D80BB3020}"/>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3430" name="Rectangle 5">
            <a:extLst>
              <a:ext uri="{FF2B5EF4-FFF2-40B4-BE49-F238E27FC236}">
                <a16:creationId xmlns:a16="http://schemas.microsoft.com/office/drawing/2014/main" id="{0F5D2909-B3EC-CFB0-92BE-753B7747D700}"/>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3431" name="Rectangle 6">
            <a:extLst>
              <a:ext uri="{FF2B5EF4-FFF2-40B4-BE49-F238E27FC236}">
                <a16:creationId xmlns:a16="http://schemas.microsoft.com/office/drawing/2014/main" id="{F3E782A0-F070-FABB-F0DC-CB2E1CB68155}"/>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3432" name="Rectangle 7">
            <a:extLst>
              <a:ext uri="{FF2B5EF4-FFF2-40B4-BE49-F238E27FC236}">
                <a16:creationId xmlns:a16="http://schemas.microsoft.com/office/drawing/2014/main" id="{90DB3077-148B-5E11-1284-91D0C29009E3}"/>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3433" name="Rectangle 8">
            <a:extLst>
              <a:ext uri="{FF2B5EF4-FFF2-40B4-BE49-F238E27FC236}">
                <a16:creationId xmlns:a16="http://schemas.microsoft.com/office/drawing/2014/main" id="{4B981972-F9CB-B19A-2175-09560799F44E}"/>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3434" name="Line 9">
            <a:extLst>
              <a:ext uri="{FF2B5EF4-FFF2-40B4-BE49-F238E27FC236}">
                <a16:creationId xmlns:a16="http://schemas.microsoft.com/office/drawing/2014/main" id="{606B4563-49EB-7862-B5E3-96BC57BEC3E3}"/>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35" name="Line 10">
            <a:extLst>
              <a:ext uri="{FF2B5EF4-FFF2-40B4-BE49-F238E27FC236}">
                <a16:creationId xmlns:a16="http://schemas.microsoft.com/office/drawing/2014/main" id="{E7D797E7-C311-7E1F-67A5-DFCA8F99785B}"/>
              </a:ext>
            </a:extLst>
          </p:cNvPr>
          <p:cNvSpPr>
            <a:spLocks noChangeShapeType="1"/>
          </p:cNvSpPr>
          <p:nvPr/>
        </p:nvSpPr>
        <p:spPr bwMode="auto">
          <a:xfrm>
            <a:off x="533400" y="3733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36" name="Rectangle 11">
            <a:extLst>
              <a:ext uri="{FF2B5EF4-FFF2-40B4-BE49-F238E27FC236}">
                <a16:creationId xmlns:a16="http://schemas.microsoft.com/office/drawing/2014/main" id="{D13CB3DD-07C9-9336-FFBE-15F1036C5BC8}"/>
              </a:ext>
            </a:extLst>
          </p:cNvPr>
          <p:cNvSpPr>
            <a:spLocks noChangeArrowheads="1"/>
          </p:cNvSpPr>
          <p:nvPr/>
        </p:nvSpPr>
        <p:spPr bwMode="auto">
          <a:xfrm>
            <a:off x="495300" y="3063875"/>
            <a:ext cx="8077200" cy="5794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增加信号电平数会减弱系统的可靠性。</a:t>
            </a:r>
          </a:p>
        </p:txBody>
      </p:sp>
      <p:grpSp>
        <p:nvGrpSpPr>
          <p:cNvPr id="103437" name="Group 12">
            <a:extLst>
              <a:ext uri="{FF2B5EF4-FFF2-40B4-BE49-F238E27FC236}">
                <a16:creationId xmlns:a16="http://schemas.microsoft.com/office/drawing/2014/main" id="{45E8537D-4F68-6B56-AA80-C4ABC31C4DF7}"/>
              </a:ext>
            </a:extLst>
          </p:cNvPr>
          <p:cNvGrpSpPr>
            <a:grpSpLocks/>
          </p:cNvGrpSpPr>
          <p:nvPr/>
        </p:nvGrpSpPr>
        <p:grpSpPr bwMode="auto">
          <a:xfrm>
            <a:off x="457200" y="2286000"/>
            <a:ext cx="1143000" cy="566738"/>
            <a:chOff x="0" y="0"/>
            <a:chExt cx="720" cy="357"/>
          </a:xfrm>
        </p:grpSpPr>
        <p:pic>
          <p:nvPicPr>
            <p:cNvPr id="103438" name="Picture 13">
              <a:extLst>
                <a:ext uri="{FF2B5EF4-FFF2-40B4-BE49-F238E27FC236}">
                  <a16:creationId xmlns:a16="http://schemas.microsoft.com/office/drawing/2014/main" id="{3854DA04-6BBA-376B-13A5-EF2ECFCA45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39" name="Text Box 14">
              <a:extLst>
                <a:ext uri="{FF2B5EF4-FFF2-40B4-BE49-F238E27FC236}">
                  <a16:creationId xmlns:a16="http://schemas.microsoft.com/office/drawing/2014/main" id="{16CFC91C-B1A1-CE9E-C2E7-E08DA9D95CB6}"/>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1">
            <a:extLst>
              <a:ext uri="{FF2B5EF4-FFF2-40B4-BE49-F238E27FC236}">
                <a16:creationId xmlns:a16="http://schemas.microsoft.com/office/drawing/2014/main" id="{6ADEA7AC-A4C6-F8EA-062E-E8EF654613D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32D17F26-5E4B-4806-B553-85D33AD2B9B0}" type="slidenum">
              <a:rPr lang="en-US" altLang="zh-CN" sz="2000" i="0" baseline="0" smtClean="0">
                <a:latin typeface="Arial" panose="020B0604020202020204" pitchFamily="34" charset="0"/>
              </a:rPr>
              <a:pPr/>
              <a:t>99</a:t>
            </a:fld>
            <a:endParaRPr lang="en-US" altLang="zh-CN" sz="2000" i="0" baseline="0">
              <a:latin typeface="Arial" panose="020B0604020202020204" pitchFamily="34" charset="0"/>
            </a:endParaRPr>
          </a:p>
        </p:txBody>
      </p:sp>
      <p:sp>
        <p:nvSpPr>
          <p:cNvPr id="104451" name="Rectangle 2">
            <a:extLst>
              <a:ext uri="{FF2B5EF4-FFF2-40B4-BE49-F238E27FC236}">
                <a16:creationId xmlns:a16="http://schemas.microsoft.com/office/drawing/2014/main" id="{542DC891-6D8F-14AB-491B-35F140F278BC}"/>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4452" name="Rectangle 3">
            <a:extLst>
              <a:ext uri="{FF2B5EF4-FFF2-40B4-BE49-F238E27FC236}">
                <a16:creationId xmlns:a16="http://schemas.microsoft.com/office/drawing/2014/main" id="{BFB907C2-AFD2-9062-966C-12DE15341DEC}"/>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04453" name="Group 4">
            <a:extLst>
              <a:ext uri="{FF2B5EF4-FFF2-40B4-BE49-F238E27FC236}">
                <a16:creationId xmlns:a16="http://schemas.microsoft.com/office/drawing/2014/main" id="{1A85200C-52E2-745B-0B6E-A5793BF25DAB}"/>
              </a:ext>
            </a:extLst>
          </p:cNvPr>
          <p:cNvGrpSpPr>
            <a:grpSpLocks/>
          </p:cNvGrpSpPr>
          <p:nvPr/>
        </p:nvGrpSpPr>
        <p:grpSpPr bwMode="auto">
          <a:xfrm>
            <a:off x="490538" y="773113"/>
            <a:ext cx="738187" cy="474662"/>
            <a:chOff x="0" y="0"/>
            <a:chExt cx="465" cy="299"/>
          </a:xfrm>
        </p:grpSpPr>
        <p:sp>
          <p:nvSpPr>
            <p:cNvPr id="104460" name="Rectangle 5">
              <a:extLst>
                <a:ext uri="{FF2B5EF4-FFF2-40B4-BE49-F238E27FC236}">
                  <a16:creationId xmlns:a16="http://schemas.microsoft.com/office/drawing/2014/main" id="{DB7E62A5-97AA-363E-FBDA-6558E338381A}"/>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4461" name="Rectangle 6">
              <a:extLst>
                <a:ext uri="{FF2B5EF4-FFF2-40B4-BE49-F238E27FC236}">
                  <a16:creationId xmlns:a16="http://schemas.microsoft.com/office/drawing/2014/main" id="{A4104570-2258-815A-8A29-F236E2290690}"/>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04454" name="Rectangle 7">
            <a:extLst>
              <a:ext uri="{FF2B5EF4-FFF2-40B4-BE49-F238E27FC236}">
                <a16:creationId xmlns:a16="http://schemas.microsoft.com/office/drawing/2014/main" id="{E4234F11-9BAD-E366-8A58-2EAFBF34706B}"/>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4455" name="Rectangle 8">
            <a:extLst>
              <a:ext uri="{FF2B5EF4-FFF2-40B4-BE49-F238E27FC236}">
                <a16:creationId xmlns:a16="http://schemas.microsoft.com/office/drawing/2014/main" id="{14531651-611A-0F73-1970-DD5DA87A3A26}"/>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4456" name="Rectangle 9">
            <a:extLst>
              <a:ext uri="{FF2B5EF4-FFF2-40B4-BE49-F238E27FC236}">
                <a16:creationId xmlns:a16="http://schemas.microsoft.com/office/drawing/2014/main" id="{3F1CF9E2-21B4-52BF-A3E5-929DC2624AD2}"/>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4457" name="Rectangle 10">
            <a:extLst>
              <a:ext uri="{FF2B5EF4-FFF2-40B4-BE49-F238E27FC236}">
                <a16:creationId xmlns:a16="http://schemas.microsoft.com/office/drawing/2014/main" id="{2CE46708-DF13-D4BC-89C1-E2C4794BC286}"/>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04458" name="Rectangle 11">
            <a:extLst>
              <a:ext uri="{FF2B5EF4-FFF2-40B4-BE49-F238E27FC236}">
                <a16:creationId xmlns:a16="http://schemas.microsoft.com/office/drawing/2014/main" id="{DF7DCDBB-A081-B4AC-7600-1223C10D0E6D}"/>
              </a:ext>
            </a:extLst>
          </p:cNvPr>
          <p:cNvSpPr>
            <a:spLocks noChangeArrowheads="1"/>
          </p:cNvSpPr>
          <p:nvPr/>
        </p:nvSpPr>
        <p:spPr bwMode="auto">
          <a:xfrm>
            <a:off x="228600" y="1447800"/>
            <a:ext cx="8534400" cy="393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奈奎斯特公式是否适用于基带传输中描述的直觉上的比特率？</a:t>
            </a:r>
          </a:p>
          <a:p>
            <a:pPr algn="just">
              <a:buFont typeface="Arial" panose="020B0604020202020204" pitchFamily="34" charset="0"/>
              <a:buNone/>
            </a:pPr>
            <a:endParaRPr lang="zh-CN" altLang="en-US" baseline="0">
              <a:ea typeface="宋体" panose="02010600030101010101" pitchFamily="2" charset="-122"/>
            </a:endParaRP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         当只有两个电平时它们匹配。我们说，在基带传输中，如果我们在最坏情况只使用第一谐波，那么比特率是2倍带宽。但是，奈奎斯特公式比我们直觉上得到的更通用，它可以应用到基带传输和调制，也可以应用到有两个或多个信号电平的情况。</a:t>
            </a:r>
          </a:p>
        </p:txBody>
      </p:sp>
      <p:sp>
        <p:nvSpPr>
          <p:cNvPr id="104459" name="Text Box 12">
            <a:extLst>
              <a:ext uri="{FF2B5EF4-FFF2-40B4-BE49-F238E27FC236}">
                <a16:creationId xmlns:a16="http://schemas.microsoft.com/office/drawing/2014/main" id="{6D56C85C-8CAA-F8AB-4B9C-934B5631B301}"/>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3.33</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1">
            <a:extLst>
              <a:ext uri="{FF2B5EF4-FFF2-40B4-BE49-F238E27FC236}">
                <a16:creationId xmlns:a16="http://schemas.microsoft.com/office/drawing/2014/main" id="{75094D2A-EBB1-F794-EEDD-20F75AE9B13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E9E4E3FD-B614-437C-8DEC-E8E4AE93E7FB}" type="slidenum">
              <a:rPr lang="en-US" altLang="zh-CN" sz="2000" i="0" baseline="0" smtClean="0">
                <a:latin typeface="Arial" panose="020B0604020202020204" pitchFamily="34" charset="0"/>
              </a:rPr>
              <a:pPr/>
              <a:t>100</a:t>
            </a:fld>
            <a:endParaRPr lang="en-US" altLang="zh-CN" sz="2000" i="0" baseline="0">
              <a:latin typeface="Arial" panose="020B0604020202020204" pitchFamily="34" charset="0"/>
            </a:endParaRPr>
          </a:p>
        </p:txBody>
      </p:sp>
      <p:sp>
        <p:nvSpPr>
          <p:cNvPr id="105475" name="Rectangle 2">
            <a:extLst>
              <a:ext uri="{FF2B5EF4-FFF2-40B4-BE49-F238E27FC236}">
                <a16:creationId xmlns:a16="http://schemas.microsoft.com/office/drawing/2014/main" id="{5881A0C8-5503-3555-D434-6304B7BA1413}"/>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5476" name="Rectangle 3">
            <a:extLst>
              <a:ext uri="{FF2B5EF4-FFF2-40B4-BE49-F238E27FC236}">
                <a16:creationId xmlns:a16="http://schemas.microsoft.com/office/drawing/2014/main" id="{DE14C706-FD71-68EB-30CC-4F0C2EEE9B12}"/>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05477" name="Group 4">
            <a:extLst>
              <a:ext uri="{FF2B5EF4-FFF2-40B4-BE49-F238E27FC236}">
                <a16:creationId xmlns:a16="http://schemas.microsoft.com/office/drawing/2014/main" id="{D6A32371-9B28-1388-2209-6744B6A3B214}"/>
              </a:ext>
            </a:extLst>
          </p:cNvPr>
          <p:cNvGrpSpPr>
            <a:grpSpLocks/>
          </p:cNvGrpSpPr>
          <p:nvPr/>
        </p:nvGrpSpPr>
        <p:grpSpPr bwMode="auto">
          <a:xfrm>
            <a:off x="490538" y="773113"/>
            <a:ext cx="738187" cy="474662"/>
            <a:chOff x="0" y="0"/>
            <a:chExt cx="465" cy="299"/>
          </a:xfrm>
        </p:grpSpPr>
        <p:sp>
          <p:nvSpPr>
            <p:cNvPr id="105485" name="Rectangle 5">
              <a:extLst>
                <a:ext uri="{FF2B5EF4-FFF2-40B4-BE49-F238E27FC236}">
                  <a16:creationId xmlns:a16="http://schemas.microsoft.com/office/drawing/2014/main" id="{B9A05624-2A56-B56B-E73C-C2026B6F1062}"/>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5486" name="Rectangle 6">
              <a:extLst>
                <a:ext uri="{FF2B5EF4-FFF2-40B4-BE49-F238E27FC236}">
                  <a16:creationId xmlns:a16="http://schemas.microsoft.com/office/drawing/2014/main" id="{E21E0B50-7BE2-474E-5FDF-6A68F71784EE}"/>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05478" name="Rectangle 7">
            <a:extLst>
              <a:ext uri="{FF2B5EF4-FFF2-40B4-BE49-F238E27FC236}">
                <a16:creationId xmlns:a16="http://schemas.microsoft.com/office/drawing/2014/main" id="{640B366B-76D3-CE78-6F95-348F4CBD7F54}"/>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5479" name="Rectangle 8">
            <a:extLst>
              <a:ext uri="{FF2B5EF4-FFF2-40B4-BE49-F238E27FC236}">
                <a16:creationId xmlns:a16="http://schemas.microsoft.com/office/drawing/2014/main" id="{C3313EB8-B624-1A11-094C-ED81B74A7774}"/>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5480" name="Rectangle 9">
            <a:extLst>
              <a:ext uri="{FF2B5EF4-FFF2-40B4-BE49-F238E27FC236}">
                <a16:creationId xmlns:a16="http://schemas.microsoft.com/office/drawing/2014/main" id="{EF55FCCB-CFE5-7539-1FE0-C892A666783E}"/>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5481" name="Rectangle 10">
            <a:extLst>
              <a:ext uri="{FF2B5EF4-FFF2-40B4-BE49-F238E27FC236}">
                <a16:creationId xmlns:a16="http://schemas.microsoft.com/office/drawing/2014/main" id="{2C7C4CAE-360E-3C53-CBD1-DFD90A8B311A}"/>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05482" name="Rectangle 11">
            <a:extLst>
              <a:ext uri="{FF2B5EF4-FFF2-40B4-BE49-F238E27FC236}">
                <a16:creationId xmlns:a16="http://schemas.microsoft.com/office/drawing/2014/main" id="{C2C4CF41-6F08-4CD4-B566-EA27A4826089}"/>
              </a:ext>
            </a:extLst>
          </p:cNvPr>
          <p:cNvSpPr>
            <a:spLocks noChangeArrowheads="1"/>
          </p:cNvSpPr>
          <p:nvPr/>
        </p:nvSpPr>
        <p:spPr bwMode="auto">
          <a:xfrm>
            <a:off x="228600" y="1447800"/>
            <a:ext cx="85344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baseline="0">
                <a:ea typeface="宋体" panose="02010600030101010101" pitchFamily="2" charset="-122"/>
              </a:rPr>
              <a:t>考虑带宽为3000Hz的无噪声通道，传输两种电平的信号，则最大比特率计算为：</a:t>
            </a:r>
          </a:p>
        </p:txBody>
      </p:sp>
      <p:sp>
        <p:nvSpPr>
          <p:cNvPr id="105483" name="Text Box 12">
            <a:extLst>
              <a:ext uri="{FF2B5EF4-FFF2-40B4-BE49-F238E27FC236}">
                <a16:creationId xmlns:a16="http://schemas.microsoft.com/office/drawing/2014/main" id="{BA660EEF-27CA-E676-EE9E-9C47E6733572}"/>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3.34</a:t>
            </a:r>
          </a:p>
        </p:txBody>
      </p:sp>
      <p:pic>
        <p:nvPicPr>
          <p:cNvPr id="105484" name="Picture 13">
            <a:extLst>
              <a:ext uri="{FF2B5EF4-FFF2-40B4-BE49-F238E27FC236}">
                <a16:creationId xmlns:a16="http://schemas.microsoft.com/office/drawing/2014/main" id="{5BF33CD5-626A-E0DF-E638-231ED4AD95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8713" y="3252788"/>
            <a:ext cx="4346575" cy="350837"/>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灯片编号占位符 1">
            <a:extLst>
              <a:ext uri="{FF2B5EF4-FFF2-40B4-BE49-F238E27FC236}">
                <a16:creationId xmlns:a16="http://schemas.microsoft.com/office/drawing/2014/main" id="{141E4B6F-AC5C-7945-EA8E-1CBFAE4C02C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2E8D73B5-6989-4D89-ACEF-2433AD95D4A0}" type="slidenum">
              <a:rPr lang="en-US" altLang="zh-CN" sz="2000" i="0" baseline="0" smtClean="0">
                <a:latin typeface="Arial" panose="020B0604020202020204" pitchFamily="34" charset="0"/>
              </a:rPr>
              <a:pPr/>
              <a:t>101</a:t>
            </a:fld>
            <a:endParaRPr lang="en-US" altLang="zh-CN" sz="2000" i="0" baseline="0">
              <a:latin typeface="Arial" panose="020B0604020202020204" pitchFamily="34" charset="0"/>
            </a:endParaRPr>
          </a:p>
        </p:txBody>
      </p:sp>
      <p:sp>
        <p:nvSpPr>
          <p:cNvPr id="106499" name="Rectangle 2">
            <a:extLst>
              <a:ext uri="{FF2B5EF4-FFF2-40B4-BE49-F238E27FC236}">
                <a16:creationId xmlns:a16="http://schemas.microsoft.com/office/drawing/2014/main" id="{47136AD1-5980-74D7-1482-960BC7D06A95}"/>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6500" name="Rectangle 3">
            <a:extLst>
              <a:ext uri="{FF2B5EF4-FFF2-40B4-BE49-F238E27FC236}">
                <a16:creationId xmlns:a16="http://schemas.microsoft.com/office/drawing/2014/main" id="{DE48B46F-1566-2861-3CF2-C28968B01880}"/>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06501" name="Group 4">
            <a:extLst>
              <a:ext uri="{FF2B5EF4-FFF2-40B4-BE49-F238E27FC236}">
                <a16:creationId xmlns:a16="http://schemas.microsoft.com/office/drawing/2014/main" id="{08B52DFD-7B60-0534-F8E2-A5A3390D7287}"/>
              </a:ext>
            </a:extLst>
          </p:cNvPr>
          <p:cNvGrpSpPr>
            <a:grpSpLocks/>
          </p:cNvGrpSpPr>
          <p:nvPr/>
        </p:nvGrpSpPr>
        <p:grpSpPr bwMode="auto">
          <a:xfrm>
            <a:off x="490538" y="773113"/>
            <a:ext cx="738187" cy="474662"/>
            <a:chOff x="0" y="0"/>
            <a:chExt cx="465" cy="299"/>
          </a:xfrm>
        </p:grpSpPr>
        <p:sp>
          <p:nvSpPr>
            <p:cNvPr id="106509" name="Rectangle 5">
              <a:extLst>
                <a:ext uri="{FF2B5EF4-FFF2-40B4-BE49-F238E27FC236}">
                  <a16:creationId xmlns:a16="http://schemas.microsoft.com/office/drawing/2014/main" id="{F763C68D-F3AA-4D79-3013-5D44F4917D06}"/>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6510" name="Rectangle 6">
              <a:extLst>
                <a:ext uri="{FF2B5EF4-FFF2-40B4-BE49-F238E27FC236}">
                  <a16:creationId xmlns:a16="http://schemas.microsoft.com/office/drawing/2014/main" id="{A33B21F4-4E5D-89B3-4FE8-9B72CE930C5C}"/>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06502" name="Rectangle 7">
            <a:extLst>
              <a:ext uri="{FF2B5EF4-FFF2-40B4-BE49-F238E27FC236}">
                <a16:creationId xmlns:a16="http://schemas.microsoft.com/office/drawing/2014/main" id="{EF752A38-E14E-329D-4D8A-F8776A0B450D}"/>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6503" name="Rectangle 8">
            <a:extLst>
              <a:ext uri="{FF2B5EF4-FFF2-40B4-BE49-F238E27FC236}">
                <a16:creationId xmlns:a16="http://schemas.microsoft.com/office/drawing/2014/main" id="{A41418B9-ED70-275F-E4CA-BB985F8B6C4A}"/>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6504" name="Rectangle 9">
            <a:extLst>
              <a:ext uri="{FF2B5EF4-FFF2-40B4-BE49-F238E27FC236}">
                <a16:creationId xmlns:a16="http://schemas.microsoft.com/office/drawing/2014/main" id="{B53EECB9-4C05-6AFB-4312-8CC7F3CDFB22}"/>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6505" name="Rectangle 10">
            <a:extLst>
              <a:ext uri="{FF2B5EF4-FFF2-40B4-BE49-F238E27FC236}">
                <a16:creationId xmlns:a16="http://schemas.microsoft.com/office/drawing/2014/main" id="{8279FDF9-E203-0D1D-6D5D-9FD84827566A}"/>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06506" name="Rectangle 11">
            <a:extLst>
              <a:ext uri="{FF2B5EF4-FFF2-40B4-BE49-F238E27FC236}">
                <a16:creationId xmlns:a16="http://schemas.microsoft.com/office/drawing/2014/main" id="{1E425E7A-AFF0-BAEC-D15C-5F698526258D}"/>
              </a:ext>
            </a:extLst>
          </p:cNvPr>
          <p:cNvSpPr>
            <a:spLocks noChangeArrowheads="1"/>
          </p:cNvSpPr>
          <p:nvPr/>
        </p:nvSpPr>
        <p:spPr bwMode="auto">
          <a:xfrm>
            <a:off x="228600" y="1370013"/>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考虑同样的无噪声通道，传输具有四种信号电平的信号(每一种电平发送两个位)。最大比特率可以计算为：</a:t>
            </a:r>
          </a:p>
        </p:txBody>
      </p:sp>
      <p:sp>
        <p:nvSpPr>
          <p:cNvPr id="106507" name="Text Box 12">
            <a:extLst>
              <a:ext uri="{FF2B5EF4-FFF2-40B4-BE49-F238E27FC236}">
                <a16:creationId xmlns:a16="http://schemas.microsoft.com/office/drawing/2014/main" id="{E997E17F-B834-163B-7368-6347B601C86C}"/>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3.35</a:t>
            </a:r>
          </a:p>
        </p:txBody>
      </p:sp>
      <p:pic>
        <p:nvPicPr>
          <p:cNvPr id="106508" name="Picture 13">
            <a:extLst>
              <a:ext uri="{FF2B5EF4-FFF2-40B4-BE49-F238E27FC236}">
                <a16:creationId xmlns:a16="http://schemas.microsoft.com/office/drawing/2014/main" id="{456E1915-BADC-24E6-9BDB-E668ABA91A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3244850"/>
            <a:ext cx="5570537" cy="368300"/>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1">
            <a:extLst>
              <a:ext uri="{FF2B5EF4-FFF2-40B4-BE49-F238E27FC236}">
                <a16:creationId xmlns:a16="http://schemas.microsoft.com/office/drawing/2014/main" id="{1A023B78-2490-D82E-3DA2-6F309B5F664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48964688-CE12-4BA8-86CD-88E0BAA41E2F}" type="slidenum">
              <a:rPr lang="en-US" altLang="zh-CN" sz="2000" i="0" baseline="0" smtClean="0">
                <a:latin typeface="Arial" panose="020B0604020202020204" pitchFamily="34" charset="0"/>
              </a:rPr>
              <a:pPr/>
              <a:t>102</a:t>
            </a:fld>
            <a:endParaRPr lang="en-US" altLang="zh-CN" sz="2000" i="0" baseline="0">
              <a:latin typeface="Arial" panose="020B0604020202020204" pitchFamily="34" charset="0"/>
            </a:endParaRPr>
          </a:p>
        </p:txBody>
      </p:sp>
      <p:sp>
        <p:nvSpPr>
          <p:cNvPr id="107523" name="Rectangle 2">
            <a:extLst>
              <a:ext uri="{FF2B5EF4-FFF2-40B4-BE49-F238E27FC236}">
                <a16:creationId xmlns:a16="http://schemas.microsoft.com/office/drawing/2014/main" id="{692E9C37-C25D-A1BB-7CF0-4171AD99E3F7}"/>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7524" name="Rectangle 3">
            <a:extLst>
              <a:ext uri="{FF2B5EF4-FFF2-40B4-BE49-F238E27FC236}">
                <a16:creationId xmlns:a16="http://schemas.microsoft.com/office/drawing/2014/main" id="{F522CB33-38E4-A90E-1756-4B80F7DF6503}"/>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07525" name="Group 4">
            <a:extLst>
              <a:ext uri="{FF2B5EF4-FFF2-40B4-BE49-F238E27FC236}">
                <a16:creationId xmlns:a16="http://schemas.microsoft.com/office/drawing/2014/main" id="{B229F7FA-73FE-9C7A-01FD-97426163A1A6}"/>
              </a:ext>
            </a:extLst>
          </p:cNvPr>
          <p:cNvGrpSpPr>
            <a:grpSpLocks/>
          </p:cNvGrpSpPr>
          <p:nvPr/>
        </p:nvGrpSpPr>
        <p:grpSpPr bwMode="auto">
          <a:xfrm>
            <a:off x="490538" y="773113"/>
            <a:ext cx="738187" cy="474662"/>
            <a:chOff x="0" y="0"/>
            <a:chExt cx="465" cy="299"/>
          </a:xfrm>
        </p:grpSpPr>
        <p:sp>
          <p:nvSpPr>
            <p:cNvPr id="107534" name="Rectangle 5">
              <a:extLst>
                <a:ext uri="{FF2B5EF4-FFF2-40B4-BE49-F238E27FC236}">
                  <a16:creationId xmlns:a16="http://schemas.microsoft.com/office/drawing/2014/main" id="{A070C0AB-9A87-035B-F822-C520D9877633}"/>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7535" name="Rectangle 6">
              <a:extLst>
                <a:ext uri="{FF2B5EF4-FFF2-40B4-BE49-F238E27FC236}">
                  <a16:creationId xmlns:a16="http://schemas.microsoft.com/office/drawing/2014/main" id="{302F6628-90D9-6368-A3D7-6D023C31B918}"/>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07526" name="Rectangle 7">
            <a:extLst>
              <a:ext uri="{FF2B5EF4-FFF2-40B4-BE49-F238E27FC236}">
                <a16:creationId xmlns:a16="http://schemas.microsoft.com/office/drawing/2014/main" id="{F5515C97-EED4-1A4F-EECD-061169E3921A}"/>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7527" name="Rectangle 8">
            <a:extLst>
              <a:ext uri="{FF2B5EF4-FFF2-40B4-BE49-F238E27FC236}">
                <a16:creationId xmlns:a16="http://schemas.microsoft.com/office/drawing/2014/main" id="{04A34871-ED7B-F304-39E7-A64D3D563FF6}"/>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7528" name="Rectangle 9">
            <a:extLst>
              <a:ext uri="{FF2B5EF4-FFF2-40B4-BE49-F238E27FC236}">
                <a16:creationId xmlns:a16="http://schemas.microsoft.com/office/drawing/2014/main" id="{B232819E-9AB6-7A9F-283E-3D5A74EE3F5B}"/>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7529" name="Rectangle 10">
            <a:extLst>
              <a:ext uri="{FF2B5EF4-FFF2-40B4-BE49-F238E27FC236}">
                <a16:creationId xmlns:a16="http://schemas.microsoft.com/office/drawing/2014/main" id="{CC012292-ABC6-5968-059D-02BD8313C8CC}"/>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07530" name="Rectangle 11">
            <a:extLst>
              <a:ext uri="{FF2B5EF4-FFF2-40B4-BE49-F238E27FC236}">
                <a16:creationId xmlns:a16="http://schemas.microsoft.com/office/drawing/2014/main" id="{50CC6563-9CE0-36C3-2F56-35755585F743}"/>
              </a:ext>
            </a:extLst>
          </p:cNvPr>
          <p:cNvSpPr>
            <a:spLocks noChangeArrowheads="1"/>
          </p:cNvSpPr>
          <p:nvPr/>
        </p:nvSpPr>
        <p:spPr bwMode="auto">
          <a:xfrm>
            <a:off x="228600" y="1447800"/>
            <a:ext cx="8534400"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我们需要通过带宽为20kHz的无噪声通道发送265kbps。我们需要多少信号电平？</a:t>
            </a: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我们使用奈奎斯特公式如下:</a:t>
            </a:r>
          </a:p>
        </p:txBody>
      </p:sp>
      <p:sp>
        <p:nvSpPr>
          <p:cNvPr id="107531" name="Text Box 12">
            <a:extLst>
              <a:ext uri="{FF2B5EF4-FFF2-40B4-BE49-F238E27FC236}">
                <a16:creationId xmlns:a16="http://schemas.microsoft.com/office/drawing/2014/main" id="{FD215B4D-8696-ACDC-3BFD-A55AE6B0DE82}"/>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3.36</a:t>
            </a:r>
          </a:p>
        </p:txBody>
      </p:sp>
      <p:pic>
        <p:nvPicPr>
          <p:cNvPr id="107532" name="Picture 13">
            <a:extLst>
              <a:ext uri="{FF2B5EF4-FFF2-40B4-BE49-F238E27FC236}">
                <a16:creationId xmlns:a16="http://schemas.microsoft.com/office/drawing/2014/main" id="{C682919C-3DE1-6ABA-9351-83B1FAF6B5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75" y="3810000"/>
            <a:ext cx="5427663" cy="755650"/>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107533" name="Rectangle 14">
            <a:extLst>
              <a:ext uri="{FF2B5EF4-FFF2-40B4-BE49-F238E27FC236}">
                <a16:creationId xmlns:a16="http://schemas.microsoft.com/office/drawing/2014/main" id="{7463B5DA-43EF-BB1E-DEB1-63AF60DF5B8B}"/>
              </a:ext>
            </a:extLst>
          </p:cNvPr>
          <p:cNvSpPr>
            <a:spLocks noChangeArrowheads="1"/>
          </p:cNvSpPr>
          <p:nvPr/>
        </p:nvSpPr>
        <p:spPr bwMode="auto">
          <a:xfrm>
            <a:off x="152400" y="46482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因为结果不是2的幂，所以我们需要增加电平数或者减小比特率。如果我们有128个电平，比特率是280kbps。如果我们有64个电平，比特率是240kbps。</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1">
            <a:extLst>
              <a:ext uri="{FF2B5EF4-FFF2-40B4-BE49-F238E27FC236}">
                <a16:creationId xmlns:a16="http://schemas.microsoft.com/office/drawing/2014/main" id="{EE63B9C4-511D-AB73-8B60-3818B63BC00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30398B4F-FCE5-445E-9A6B-D09F26E1F991}" type="slidenum">
              <a:rPr lang="en-US" altLang="zh-CN" sz="2000" i="0" baseline="0" smtClean="0">
                <a:latin typeface="Arial" panose="020B0604020202020204" pitchFamily="34" charset="0"/>
              </a:rPr>
              <a:pPr/>
              <a:t>103</a:t>
            </a:fld>
            <a:endParaRPr lang="en-US" altLang="zh-CN" sz="2000" i="0" baseline="0">
              <a:latin typeface="Arial" panose="020B0604020202020204" pitchFamily="34" charset="0"/>
            </a:endParaRPr>
          </a:p>
        </p:txBody>
      </p:sp>
      <p:sp>
        <p:nvSpPr>
          <p:cNvPr id="108547" name="Rectangle 2">
            <a:extLst>
              <a:ext uri="{FF2B5EF4-FFF2-40B4-BE49-F238E27FC236}">
                <a16:creationId xmlns:a16="http://schemas.microsoft.com/office/drawing/2014/main" id="{0F99B955-B6EA-8E93-D299-B496A2149F80}"/>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8548" name="Rectangle 3">
            <a:extLst>
              <a:ext uri="{FF2B5EF4-FFF2-40B4-BE49-F238E27FC236}">
                <a16:creationId xmlns:a16="http://schemas.microsoft.com/office/drawing/2014/main" id="{E6C34058-9A84-BC42-C53D-36370E28B830}"/>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8549" name="Rectangle 4">
            <a:extLst>
              <a:ext uri="{FF2B5EF4-FFF2-40B4-BE49-F238E27FC236}">
                <a16:creationId xmlns:a16="http://schemas.microsoft.com/office/drawing/2014/main" id="{A0C98FFE-E7D2-1948-8B15-88E40F7C7310}"/>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8550" name="Rectangle 5">
            <a:extLst>
              <a:ext uri="{FF2B5EF4-FFF2-40B4-BE49-F238E27FC236}">
                <a16:creationId xmlns:a16="http://schemas.microsoft.com/office/drawing/2014/main" id="{53825250-3366-AAA2-973B-2879B268E7AC}"/>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8551" name="Rectangle 6">
            <a:extLst>
              <a:ext uri="{FF2B5EF4-FFF2-40B4-BE49-F238E27FC236}">
                <a16:creationId xmlns:a16="http://schemas.microsoft.com/office/drawing/2014/main" id="{969A1868-BC06-FF5F-C253-F5668D1B78BB}"/>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8552" name="Rectangle 7">
            <a:extLst>
              <a:ext uri="{FF2B5EF4-FFF2-40B4-BE49-F238E27FC236}">
                <a16:creationId xmlns:a16="http://schemas.microsoft.com/office/drawing/2014/main" id="{0CAF9264-6B77-F38B-2CEA-358CBFC122B8}"/>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8553" name="Rectangle 8">
            <a:extLst>
              <a:ext uri="{FF2B5EF4-FFF2-40B4-BE49-F238E27FC236}">
                <a16:creationId xmlns:a16="http://schemas.microsoft.com/office/drawing/2014/main" id="{0640A6FF-C8B1-0B49-6A39-6993BDEC7E61}"/>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8554" name="Line 9">
            <a:extLst>
              <a:ext uri="{FF2B5EF4-FFF2-40B4-BE49-F238E27FC236}">
                <a16:creationId xmlns:a16="http://schemas.microsoft.com/office/drawing/2014/main" id="{358419C9-343C-6E2D-3FFA-FBB51ABE182C}"/>
              </a:ext>
            </a:extLst>
          </p:cNvPr>
          <p:cNvSpPr>
            <a:spLocks noChangeShapeType="1"/>
          </p:cNvSpPr>
          <p:nvPr/>
        </p:nvSpPr>
        <p:spPr bwMode="auto">
          <a:xfrm>
            <a:off x="457200" y="2971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55" name="Line 10">
            <a:extLst>
              <a:ext uri="{FF2B5EF4-FFF2-40B4-BE49-F238E27FC236}">
                <a16:creationId xmlns:a16="http://schemas.microsoft.com/office/drawing/2014/main" id="{DAA8CC66-6329-231C-9555-32C5BA9EDB39}"/>
              </a:ext>
            </a:extLst>
          </p:cNvPr>
          <p:cNvSpPr>
            <a:spLocks noChangeShapeType="1"/>
          </p:cNvSpPr>
          <p:nvPr/>
        </p:nvSpPr>
        <p:spPr bwMode="auto">
          <a:xfrm>
            <a:off x="533400" y="4724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56" name="Rectangle 11">
            <a:extLst>
              <a:ext uri="{FF2B5EF4-FFF2-40B4-BE49-F238E27FC236}">
                <a16:creationId xmlns:a16="http://schemas.microsoft.com/office/drawing/2014/main" id="{E135452E-7280-2BD8-30A6-E7A8088739E0}"/>
              </a:ext>
            </a:extLst>
          </p:cNvPr>
          <p:cNvSpPr>
            <a:spLocks noChangeArrowheads="1"/>
          </p:cNvSpPr>
          <p:nvPr/>
        </p:nvSpPr>
        <p:spPr bwMode="auto">
          <a:xfrm>
            <a:off x="495300" y="3063875"/>
            <a:ext cx="8077200" cy="15700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噪声信道：香农容量定理</a:t>
            </a:r>
            <a:endParaRPr lang="en-US" altLang="zh-CN" sz="3200" i="0" baseline="0">
              <a:latin typeface="Arial" panose="020B0604020202020204" pitchFamily="34" charset="0"/>
              <a:ea typeface="宋体" panose="02010600030101010101" pitchFamily="2" charset="-122"/>
            </a:endParaRPr>
          </a:p>
          <a:p>
            <a:pPr algn="ctr">
              <a:buFont typeface="Arial" panose="020B0604020202020204" pitchFamily="34" charset="0"/>
              <a:buNone/>
            </a:pPr>
            <a:endParaRPr lang="en-US" altLang="zh-CN" sz="3200" i="0" baseline="0">
              <a:latin typeface="Arial" panose="020B0604020202020204" pitchFamily="34" charset="0"/>
              <a:ea typeface="宋体" panose="02010600030101010101" pitchFamily="2" charset="-122"/>
            </a:endParaRPr>
          </a:p>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通道容量（最高速率）</a:t>
            </a:r>
            <a:r>
              <a:rPr lang="en-US" altLang="zh-CN" sz="3200" i="0" baseline="0">
                <a:latin typeface="Arial" panose="020B0604020202020204" pitchFamily="34" charset="0"/>
                <a:ea typeface="宋体" panose="02010600030101010101" pitchFamily="2" charset="-122"/>
              </a:rPr>
              <a:t>=</a:t>
            </a:r>
            <a:r>
              <a:rPr lang="zh-CN" altLang="en-US" sz="3200" i="0" baseline="0">
                <a:latin typeface="Arial" panose="020B0604020202020204" pitchFamily="34" charset="0"/>
                <a:ea typeface="宋体" panose="02010600030101010101" pitchFamily="2" charset="-122"/>
              </a:rPr>
              <a:t>带宽*</a:t>
            </a:r>
            <a:r>
              <a:rPr lang="en-US" altLang="zh-CN" sz="3200" i="0" baseline="0">
                <a:latin typeface="Arial" panose="020B0604020202020204" pitchFamily="34" charset="0"/>
                <a:ea typeface="宋体" panose="02010600030101010101" pitchFamily="2" charset="-122"/>
              </a:rPr>
              <a:t>log</a:t>
            </a:r>
            <a:r>
              <a:rPr lang="en-US" altLang="zh-CN" sz="3200" i="0" baseline="-25000">
                <a:latin typeface="Arial" panose="020B0604020202020204" pitchFamily="34" charset="0"/>
                <a:ea typeface="宋体" panose="02010600030101010101" pitchFamily="2" charset="-122"/>
              </a:rPr>
              <a:t>2</a:t>
            </a:r>
            <a:r>
              <a:rPr lang="en-US" altLang="zh-CN" sz="3200" i="0" baseline="0">
                <a:latin typeface="Arial" panose="020B0604020202020204" pitchFamily="34" charset="0"/>
                <a:ea typeface="宋体" panose="02010600030101010101" pitchFamily="2" charset="-122"/>
              </a:rPr>
              <a:t>(1+SNR)</a:t>
            </a:r>
            <a:endParaRPr lang="zh-CN" altLang="en-US" sz="3200" i="0" baseline="0">
              <a:latin typeface="Arial" panose="020B0604020202020204" pitchFamily="34" charset="0"/>
              <a:ea typeface="宋体" panose="02010600030101010101" pitchFamily="2" charset="-122"/>
            </a:endParaRPr>
          </a:p>
        </p:txBody>
      </p:sp>
      <p:grpSp>
        <p:nvGrpSpPr>
          <p:cNvPr id="108557" name="Group 12">
            <a:extLst>
              <a:ext uri="{FF2B5EF4-FFF2-40B4-BE49-F238E27FC236}">
                <a16:creationId xmlns:a16="http://schemas.microsoft.com/office/drawing/2014/main" id="{7403483C-624A-99E1-50B6-72273D1D4CC7}"/>
              </a:ext>
            </a:extLst>
          </p:cNvPr>
          <p:cNvGrpSpPr>
            <a:grpSpLocks/>
          </p:cNvGrpSpPr>
          <p:nvPr/>
        </p:nvGrpSpPr>
        <p:grpSpPr bwMode="auto">
          <a:xfrm>
            <a:off x="457200" y="2286000"/>
            <a:ext cx="1143000" cy="566738"/>
            <a:chOff x="0" y="0"/>
            <a:chExt cx="720" cy="357"/>
          </a:xfrm>
        </p:grpSpPr>
        <p:pic>
          <p:nvPicPr>
            <p:cNvPr id="108559" name="Picture 13">
              <a:extLst>
                <a:ext uri="{FF2B5EF4-FFF2-40B4-BE49-F238E27FC236}">
                  <a16:creationId xmlns:a16="http://schemas.microsoft.com/office/drawing/2014/main" id="{DB355ABD-12D6-22B0-A702-125751337B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60" name="Text Box 14">
              <a:extLst>
                <a:ext uri="{FF2B5EF4-FFF2-40B4-BE49-F238E27FC236}">
                  <a16:creationId xmlns:a16="http://schemas.microsoft.com/office/drawing/2014/main" id="{696EE720-BB61-FF45-7F83-131D1788FA93}"/>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
        <p:nvSpPr>
          <p:cNvPr id="108558" name="矩形 15">
            <a:extLst>
              <a:ext uri="{FF2B5EF4-FFF2-40B4-BE49-F238E27FC236}">
                <a16:creationId xmlns:a16="http://schemas.microsoft.com/office/drawing/2014/main" id="{C92023AB-F4A6-0E30-75A8-E2238FAA63ED}"/>
              </a:ext>
            </a:extLst>
          </p:cNvPr>
          <p:cNvSpPr>
            <a:spLocks noChangeArrowheads="1"/>
          </p:cNvSpPr>
          <p:nvPr/>
        </p:nvSpPr>
        <p:spPr bwMode="auto">
          <a:xfrm>
            <a:off x="457200" y="4989513"/>
            <a:ext cx="82296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baseline="0">
                <a:ea typeface="宋体" panose="02010600030101010101" pitchFamily="2" charset="-122"/>
              </a:rPr>
              <a:t>公式中没有指出信号电平，这意味着无论使用多少个电平，都不可能获得比通道容量更高的数据速率</a:t>
            </a:r>
            <a:endParaRPr lang="zh-CN" altLang="en-US">
              <a:ea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1">
            <a:extLst>
              <a:ext uri="{FF2B5EF4-FFF2-40B4-BE49-F238E27FC236}">
                <a16:creationId xmlns:a16="http://schemas.microsoft.com/office/drawing/2014/main" id="{20B6F2A4-54B5-A56B-A039-07673194429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7E5594F2-70F3-4126-BBCE-528DC9298952}" type="slidenum">
              <a:rPr lang="en-US" altLang="zh-CN" sz="2000" i="0" baseline="0" smtClean="0">
                <a:latin typeface="Arial" panose="020B0604020202020204" pitchFamily="34" charset="0"/>
              </a:rPr>
              <a:pPr/>
              <a:t>104</a:t>
            </a:fld>
            <a:endParaRPr lang="en-US" altLang="zh-CN" sz="2000" i="0" baseline="0">
              <a:latin typeface="Arial" panose="020B0604020202020204" pitchFamily="34" charset="0"/>
            </a:endParaRPr>
          </a:p>
        </p:txBody>
      </p:sp>
      <p:sp>
        <p:nvSpPr>
          <p:cNvPr id="109571" name="Rectangle 2">
            <a:extLst>
              <a:ext uri="{FF2B5EF4-FFF2-40B4-BE49-F238E27FC236}">
                <a16:creationId xmlns:a16="http://schemas.microsoft.com/office/drawing/2014/main" id="{4677C4F8-9665-892F-6FEB-C2504A9B3385}"/>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9572" name="Rectangle 3">
            <a:extLst>
              <a:ext uri="{FF2B5EF4-FFF2-40B4-BE49-F238E27FC236}">
                <a16:creationId xmlns:a16="http://schemas.microsoft.com/office/drawing/2014/main" id="{EC7F4100-FAF4-9660-9F85-1D4750008198}"/>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09573" name="Group 4">
            <a:extLst>
              <a:ext uri="{FF2B5EF4-FFF2-40B4-BE49-F238E27FC236}">
                <a16:creationId xmlns:a16="http://schemas.microsoft.com/office/drawing/2014/main" id="{3A777BAF-E1D6-C643-1CB7-EA2169668789}"/>
              </a:ext>
            </a:extLst>
          </p:cNvPr>
          <p:cNvGrpSpPr>
            <a:grpSpLocks/>
          </p:cNvGrpSpPr>
          <p:nvPr/>
        </p:nvGrpSpPr>
        <p:grpSpPr bwMode="auto">
          <a:xfrm>
            <a:off x="490538" y="773113"/>
            <a:ext cx="738187" cy="474662"/>
            <a:chOff x="0" y="0"/>
            <a:chExt cx="465" cy="299"/>
          </a:xfrm>
        </p:grpSpPr>
        <p:sp>
          <p:nvSpPr>
            <p:cNvPr id="109582" name="Rectangle 5">
              <a:extLst>
                <a:ext uri="{FF2B5EF4-FFF2-40B4-BE49-F238E27FC236}">
                  <a16:creationId xmlns:a16="http://schemas.microsoft.com/office/drawing/2014/main" id="{9872872A-B1CE-795A-C212-338237130706}"/>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9583" name="Rectangle 6">
              <a:extLst>
                <a:ext uri="{FF2B5EF4-FFF2-40B4-BE49-F238E27FC236}">
                  <a16:creationId xmlns:a16="http://schemas.microsoft.com/office/drawing/2014/main" id="{9614F142-CDE3-A196-5995-EA61A181D596}"/>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09574" name="Rectangle 7">
            <a:extLst>
              <a:ext uri="{FF2B5EF4-FFF2-40B4-BE49-F238E27FC236}">
                <a16:creationId xmlns:a16="http://schemas.microsoft.com/office/drawing/2014/main" id="{95375305-94A4-27B9-9275-B675D8849ED9}"/>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9575" name="Rectangle 8">
            <a:extLst>
              <a:ext uri="{FF2B5EF4-FFF2-40B4-BE49-F238E27FC236}">
                <a16:creationId xmlns:a16="http://schemas.microsoft.com/office/drawing/2014/main" id="{521FA842-AE0E-68A7-B92B-D77085A916DD}"/>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9576" name="Rectangle 9">
            <a:extLst>
              <a:ext uri="{FF2B5EF4-FFF2-40B4-BE49-F238E27FC236}">
                <a16:creationId xmlns:a16="http://schemas.microsoft.com/office/drawing/2014/main" id="{4CF989FA-9BC7-5AB1-E05D-6F2DCE0C5EB3}"/>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09577" name="Rectangle 10">
            <a:extLst>
              <a:ext uri="{FF2B5EF4-FFF2-40B4-BE49-F238E27FC236}">
                <a16:creationId xmlns:a16="http://schemas.microsoft.com/office/drawing/2014/main" id="{17895627-39BC-EB19-E694-EC6DC1CF537F}"/>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09578" name="Rectangle 11">
            <a:extLst>
              <a:ext uri="{FF2B5EF4-FFF2-40B4-BE49-F238E27FC236}">
                <a16:creationId xmlns:a16="http://schemas.microsoft.com/office/drawing/2014/main" id="{103A0952-D776-E79C-6F44-A9756F8042E6}"/>
              </a:ext>
            </a:extLst>
          </p:cNvPr>
          <p:cNvSpPr>
            <a:spLocks noChangeArrowheads="1"/>
          </p:cNvSpPr>
          <p:nvPr/>
        </p:nvSpPr>
        <p:spPr bwMode="auto">
          <a:xfrm>
            <a:off x="228600" y="13716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考虑一个极端的噪声通道，其信噪比的值接近于0。换句话说，噪声很强而信号很弱，对于该通道，其容量C计算为：</a:t>
            </a:r>
          </a:p>
        </p:txBody>
      </p:sp>
      <p:sp>
        <p:nvSpPr>
          <p:cNvPr id="109579" name="Text Box 12">
            <a:extLst>
              <a:ext uri="{FF2B5EF4-FFF2-40B4-BE49-F238E27FC236}">
                <a16:creationId xmlns:a16="http://schemas.microsoft.com/office/drawing/2014/main" id="{56AEF594-71A7-D73F-0676-F1911881C14A}"/>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3.37</a:t>
            </a:r>
          </a:p>
        </p:txBody>
      </p:sp>
      <p:pic>
        <p:nvPicPr>
          <p:cNvPr id="109580" name="Picture 13">
            <a:extLst>
              <a:ext uri="{FF2B5EF4-FFF2-40B4-BE49-F238E27FC236}">
                <a16:creationId xmlns:a16="http://schemas.microsoft.com/office/drawing/2014/main" id="{CD9ED2DA-3465-32B1-0F21-77A0628259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276600"/>
            <a:ext cx="6723063" cy="333375"/>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109581" name="Rectangle 14">
            <a:extLst>
              <a:ext uri="{FF2B5EF4-FFF2-40B4-BE49-F238E27FC236}">
                <a16:creationId xmlns:a16="http://schemas.microsoft.com/office/drawing/2014/main" id="{9E57EE6C-A7F7-791E-E319-8F40862FFF3D}"/>
              </a:ext>
            </a:extLst>
          </p:cNvPr>
          <p:cNvSpPr>
            <a:spLocks noChangeArrowheads="1"/>
          </p:cNvSpPr>
          <p:nvPr/>
        </p:nvSpPr>
        <p:spPr bwMode="auto">
          <a:xfrm>
            <a:off x="228600" y="4189413"/>
            <a:ext cx="8534400"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这意味着通道的容量为0，与带宽无关。换句话说，通过该通道不能接收到任何数据。</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灯片编号占位符 1">
            <a:extLst>
              <a:ext uri="{FF2B5EF4-FFF2-40B4-BE49-F238E27FC236}">
                <a16:creationId xmlns:a16="http://schemas.microsoft.com/office/drawing/2014/main" id="{7CD36C84-07A2-155B-E966-4EB93739E7E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F3508BDD-E541-4970-9F25-776C3AD2871C}" type="slidenum">
              <a:rPr lang="en-US" altLang="zh-CN" sz="2000" i="0" baseline="0" smtClean="0">
                <a:latin typeface="Arial" panose="020B0604020202020204" pitchFamily="34" charset="0"/>
              </a:rPr>
              <a:pPr/>
              <a:t>105</a:t>
            </a:fld>
            <a:endParaRPr lang="en-US" altLang="zh-CN" sz="2000" i="0" baseline="0">
              <a:latin typeface="Arial" panose="020B0604020202020204" pitchFamily="34" charset="0"/>
            </a:endParaRPr>
          </a:p>
        </p:txBody>
      </p:sp>
      <p:sp>
        <p:nvSpPr>
          <p:cNvPr id="110595" name="Rectangle 2">
            <a:extLst>
              <a:ext uri="{FF2B5EF4-FFF2-40B4-BE49-F238E27FC236}">
                <a16:creationId xmlns:a16="http://schemas.microsoft.com/office/drawing/2014/main" id="{F2D39496-DFA2-D0D4-F224-00D933E60927}"/>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0596" name="Rectangle 3">
            <a:extLst>
              <a:ext uri="{FF2B5EF4-FFF2-40B4-BE49-F238E27FC236}">
                <a16:creationId xmlns:a16="http://schemas.microsoft.com/office/drawing/2014/main" id="{2D844F34-6BC1-396E-3EAD-5D005DDC98A9}"/>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10597" name="Group 4">
            <a:extLst>
              <a:ext uri="{FF2B5EF4-FFF2-40B4-BE49-F238E27FC236}">
                <a16:creationId xmlns:a16="http://schemas.microsoft.com/office/drawing/2014/main" id="{03F1FF0A-341E-E111-C769-D8F10D7A4EBF}"/>
              </a:ext>
            </a:extLst>
          </p:cNvPr>
          <p:cNvGrpSpPr>
            <a:grpSpLocks/>
          </p:cNvGrpSpPr>
          <p:nvPr/>
        </p:nvGrpSpPr>
        <p:grpSpPr bwMode="auto">
          <a:xfrm>
            <a:off x="490538" y="773113"/>
            <a:ext cx="738187" cy="474662"/>
            <a:chOff x="0" y="0"/>
            <a:chExt cx="465" cy="299"/>
          </a:xfrm>
        </p:grpSpPr>
        <p:sp>
          <p:nvSpPr>
            <p:cNvPr id="110606" name="Rectangle 5">
              <a:extLst>
                <a:ext uri="{FF2B5EF4-FFF2-40B4-BE49-F238E27FC236}">
                  <a16:creationId xmlns:a16="http://schemas.microsoft.com/office/drawing/2014/main" id="{9233D247-1C0E-0FE0-BFF8-18801EBDF8A0}"/>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0607" name="Rectangle 6">
              <a:extLst>
                <a:ext uri="{FF2B5EF4-FFF2-40B4-BE49-F238E27FC236}">
                  <a16:creationId xmlns:a16="http://schemas.microsoft.com/office/drawing/2014/main" id="{F547BEED-8CC7-400B-3803-508C98202463}"/>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10598" name="Rectangle 7">
            <a:extLst>
              <a:ext uri="{FF2B5EF4-FFF2-40B4-BE49-F238E27FC236}">
                <a16:creationId xmlns:a16="http://schemas.microsoft.com/office/drawing/2014/main" id="{E6FA3968-C126-FB15-33C9-C6661137A6A7}"/>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0599" name="Rectangle 8">
            <a:extLst>
              <a:ext uri="{FF2B5EF4-FFF2-40B4-BE49-F238E27FC236}">
                <a16:creationId xmlns:a16="http://schemas.microsoft.com/office/drawing/2014/main" id="{D6074A7F-93CD-1F4A-FBD2-54C385425358}"/>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0600" name="Rectangle 9">
            <a:extLst>
              <a:ext uri="{FF2B5EF4-FFF2-40B4-BE49-F238E27FC236}">
                <a16:creationId xmlns:a16="http://schemas.microsoft.com/office/drawing/2014/main" id="{9BF6EC52-36D9-B3AC-386D-D05401267E11}"/>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0601" name="Rectangle 10">
            <a:extLst>
              <a:ext uri="{FF2B5EF4-FFF2-40B4-BE49-F238E27FC236}">
                <a16:creationId xmlns:a16="http://schemas.microsoft.com/office/drawing/2014/main" id="{7DC7AFD6-BB0D-2EEB-355A-5CEA1475A8A4}"/>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10602" name="Rectangle 11">
            <a:extLst>
              <a:ext uri="{FF2B5EF4-FFF2-40B4-BE49-F238E27FC236}">
                <a16:creationId xmlns:a16="http://schemas.microsoft.com/office/drawing/2014/main" id="{F4B11DA0-0420-686C-9907-E360FFDFB8D5}"/>
              </a:ext>
            </a:extLst>
          </p:cNvPr>
          <p:cNvSpPr>
            <a:spLocks noChangeArrowheads="1"/>
          </p:cNvSpPr>
          <p:nvPr/>
        </p:nvSpPr>
        <p:spPr bwMode="auto">
          <a:xfrm>
            <a:off x="228600" y="12319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我们可以计算一条常规电话线路理论上的最高比特率。通常情况下，电话线路的带宽为3000Hz。信噪比通常为3162。对于这一通道，其容量计算为：</a:t>
            </a:r>
          </a:p>
        </p:txBody>
      </p:sp>
      <p:sp>
        <p:nvSpPr>
          <p:cNvPr id="110603" name="Text Box 12">
            <a:extLst>
              <a:ext uri="{FF2B5EF4-FFF2-40B4-BE49-F238E27FC236}">
                <a16:creationId xmlns:a16="http://schemas.microsoft.com/office/drawing/2014/main" id="{DBAA0CE2-8212-370A-3A3C-15C310C02369}"/>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3.38</a:t>
            </a:r>
          </a:p>
        </p:txBody>
      </p:sp>
      <p:pic>
        <p:nvPicPr>
          <p:cNvPr id="110604" name="Picture 13">
            <a:extLst>
              <a:ext uri="{FF2B5EF4-FFF2-40B4-BE49-F238E27FC236}">
                <a16:creationId xmlns:a16="http://schemas.microsoft.com/office/drawing/2014/main" id="{442A3B1B-7ACA-A2E7-1940-0A9FDCF17C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124200"/>
            <a:ext cx="7046913" cy="676275"/>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110605" name="Rectangle 14">
            <a:extLst>
              <a:ext uri="{FF2B5EF4-FFF2-40B4-BE49-F238E27FC236}">
                <a16:creationId xmlns:a16="http://schemas.microsoft.com/office/drawing/2014/main" id="{43E5F41F-DCAA-6E89-0832-F8A412B318C7}"/>
              </a:ext>
            </a:extLst>
          </p:cNvPr>
          <p:cNvSpPr>
            <a:spLocks noChangeArrowheads="1"/>
          </p:cNvSpPr>
          <p:nvPr/>
        </p:nvSpPr>
        <p:spPr bwMode="auto">
          <a:xfrm>
            <a:off x="228600" y="44196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这表示电话线路的最高比特率是34,860 kbps。如果要使数据发送速率比这更快，则可增大线路的带宽或者提高信噪比。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1">
            <a:extLst>
              <a:ext uri="{FF2B5EF4-FFF2-40B4-BE49-F238E27FC236}">
                <a16:creationId xmlns:a16="http://schemas.microsoft.com/office/drawing/2014/main" id="{785459F9-5C52-CAA7-2025-6C7047EEECE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00FCDD18-E104-4754-A14F-59EEFE2A583E}" type="slidenum">
              <a:rPr lang="en-US" altLang="zh-CN" sz="2000" i="0" baseline="0" smtClean="0">
                <a:latin typeface="Arial" panose="020B0604020202020204" pitchFamily="34" charset="0"/>
              </a:rPr>
              <a:pPr/>
              <a:t>106</a:t>
            </a:fld>
            <a:endParaRPr lang="en-US" altLang="zh-CN" sz="2000" i="0" baseline="0">
              <a:latin typeface="Arial" panose="020B0604020202020204" pitchFamily="34" charset="0"/>
            </a:endParaRPr>
          </a:p>
        </p:txBody>
      </p:sp>
      <p:sp>
        <p:nvSpPr>
          <p:cNvPr id="111619" name="Rectangle 2">
            <a:extLst>
              <a:ext uri="{FF2B5EF4-FFF2-40B4-BE49-F238E27FC236}">
                <a16:creationId xmlns:a16="http://schemas.microsoft.com/office/drawing/2014/main" id="{62B6D349-29FE-0947-5BE7-E03B8FADC12D}"/>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1620" name="Rectangle 3">
            <a:extLst>
              <a:ext uri="{FF2B5EF4-FFF2-40B4-BE49-F238E27FC236}">
                <a16:creationId xmlns:a16="http://schemas.microsoft.com/office/drawing/2014/main" id="{8DCB1E1A-4D2A-F79E-7F2F-8ADAADA5943C}"/>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11621" name="Group 4">
            <a:extLst>
              <a:ext uri="{FF2B5EF4-FFF2-40B4-BE49-F238E27FC236}">
                <a16:creationId xmlns:a16="http://schemas.microsoft.com/office/drawing/2014/main" id="{13D4561B-A406-20F4-62EB-E32A5F59BE29}"/>
              </a:ext>
            </a:extLst>
          </p:cNvPr>
          <p:cNvGrpSpPr>
            <a:grpSpLocks/>
          </p:cNvGrpSpPr>
          <p:nvPr/>
        </p:nvGrpSpPr>
        <p:grpSpPr bwMode="auto">
          <a:xfrm>
            <a:off x="490538" y="773113"/>
            <a:ext cx="738187" cy="474662"/>
            <a:chOff x="0" y="0"/>
            <a:chExt cx="465" cy="299"/>
          </a:xfrm>
        </p:grpSpPr>
        <p:sp>
          <p:nvSpPr>
            <p:cNvPr id="111629" name="Rectangle 5">
              <a:extLst>
                <a:ext uri="{FF2B5EF4-FFF2-40B4-BE49-F238E27FC236}">
                  <a16:creationId xmlns:a16="http://schemas.microsoft.com/office/drawing/2014/main" id="{3DF1F2F3-08F0-7821-BDF7-3AAA0614BF9D}"/>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1630" name="Rectangle 6">
              <a:extLst>
                <a:ext uri="{FF2B5EF4-FFF2-40B4-BE49-F238E27FC236}">
                  <a16:creationId xmlns:a16="http://schemas.microsoft.com/office/drawing/2014/main" id="{22FB34C8-A5F7-8727-06C0-C956A1BA1FC6}"/>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11622" name="Rectangle 7">
            <a:extLst>
              <a:ext uri="{FF2B5EF4-FFF2-40B4-BE49-F238E27FC236}">
                <a16:creationId xmlns:a16="http://schemas.microsoft.com/office/drawing/2014/main" id="{E6F74E26-C382-2E5B-C22B-28737FDD8D9E}"/>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1623" name="Rectangle 8">
            <a:extLst>
              <a:ext uri="{FF2B5EF4-FFF2-40B4-BE49-F238E27FC236}">
                <a16:creationId xmlns:a16="http://schemas.microsoft.com/office/drawing/2014/main" id="{FA034F70-9C64-4E80-90DD-C3C2165E38A4}"/>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1624" name="Rectangle 9">
            <a:extLst>
              <a:ext uri="{FF2B5EF4-FFF2-40B4-BE49-F238E27FC236}">
                <a16:creationId xmlns:a16="http://schemas.microsoft.com/office/drawing/2014/main" id="{36461E18-8565-EE6C-1C29-E3C2F70203AF}"/>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1625" name="Rectangle 10">
            <a:extLst>
              <a:ext uri="{FF2B5EF4-FFF2-40B4-BE49-F238E27FC236}">
                <a16:creationId xmlns:a16="http://schemas.microsoft.com/office/drawing/2014/main" id="{CDF2C4FB-02F8-ABE4-FC6A-A7E0F7B7F95B}"/>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11626" name="Rectangle 11">
            <a:extLst>
              <a:ext uri="{FF2B5EF4-FFF2-40B4-BE49-F238E27FC236}">
                <a16:creationId xmlns:a16="http://schemas.microsoft.com/office/drawing/2014/main" id="{7939FD1B-36D9-89D2-0327-97B39204FB19}"/>
              </a:ext>
            </a:extLst>
          </p:cNvPr>
          <p:cNvSpPr>
            <a:spLocks noChangeArrowheads="1"/>
          </p:cNvSpPr>
          <p:nvPr/>
        </p:nvSpPr>
        <p:spPr bwMode="auto">
          <a:xfrm>
            <a:off x="228600" y="12192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baseline="0">
                <a:ea typeface="宋体" panose="02010600030101010101" pitchFamily="2" charset="-122"/>
              </a:rPr>
              <a:t>信噪比通常以分贝给定。假定SNR</a:t>
            </a:r>
            <a:r>
              <a:rPr lang="zh-CN" altLang="en-US" baseline="-25000">
                <a:ea typeface="宋体" panose="02010600030101010101" pitchFamily="2" charset="-122"/>
              </a:rPr>
              <a:t>dB</a:t>
            </a:r>
            <a:r>
              <a:rPr lang="zh-CN" altLang="en-US" baseline="0">
                <a:ea typeface="宋体" panose="02010600030101010101" pitchFamily="2" charset="-122"/>
              </a:rPr>
              <a:t> = 36，通道带宽是2 MHz。理论上的通道容量计算为：</a:t>
            </a:r>
          </a:p>
          <a:p>
            <a:pPr>
              <a:buFont typeface="Arial" panose="020B0604020202020204" pitchFamily="34" charset="0"/>
              <a:buNone/>
            </a:pPr>
            <a:endParaRPr lang="zh-CN" altLang="en-US" baseline="0">
              <a:ea typeface="宋体" panose="02010600030101010101" pitchFamily="2" charset="-122"/>
            </a:endParaRPr>
          </a:p>
        </p:txBody>
      </p:sp>
      <p:sp>
        <p:nvSpPr>
          <p:cNvPr id="111627" name="Text Box 12">
            <a:extLst>
              <a:ext uri="{FF2B5EF4-FFF2-40B4-BE49-F238E27FC236}">
                <a16:creationId xmlns:a16="http://schemas.microsoft.com/office/drawing/2014/main" id="{85265E2E-536F-4266-2F0B-B1A2DF78F0F9}"/>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3.39</a:t>
            </a:r>
          </a:p>
        </p:txBody>
      </p:sp>
      <p:pic>
        <p:nvPicPr>
          <p:cNvPr id="111628" name="Picture 13">
            <a:extLst>
              <a:ext uri="{FF2B5EF4-FFF2-40B4-BE49-F238E27FC236}">
                <a16:creationId xmlns:a16="http://schemas.microsoft.com/office/drawing/2014/main" id="{A48BB736-0CA8-7A6A-E19C-4146900148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463" y="3457575"/>
            <a:ext cx="8364537" cy="809625"/>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1">
            <a:extLst>
              <a:ext uri="{FF2B5EF4-FFF2-40B4-BE49-F238E27FC236}">
                <a16:creationId xmlns:a16="http://schemas.microsoft.com/office/drawing/2014/main" id="{D6E7A13C-0D5D-24D9-1258-FD714E467C9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20985306-C716-46AB-A56C-700455460D49}" type="slidenum">
              <a:rPr lang="en-US" altLang="zh-CN" sz="2000" i="0" baseline="0" smtClean="0">
                <a:latin typeface="Arial" panose="020B0604020202020204" pitchFamily="34" charset="0"/>
              </a:rPr>
              <a:pPr/>
              <a:t>107</a:t>
            </a:fld>
            <a:endParaRPr lang="en-US" altLang="zh-CN" sz="2000" i="0" baseline="0">
              <a:latin typeface="Arial" panose="020B0604020202020204" pitchFamily="34" charset="0"/>
            </a:endParaRPr>
          </a:p>
        </p:txBody>
      </p:sp>
      <p:sp>
        <p:nvSpPr>
          <p:cNvPr id="112643" name="Rectangle 2">
            <a:extLst>
              <a:ext uri="{FF2B5EF4-FFF2-40B4-BE49-F238E27FC236}">
                <a16:creationId xmlns:a16="http://schemas.microsoft.com/office/drawing/2014/main" id="{255D2F61-3E34-BC7D-08B4-D05726F459EE}"/>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2644" name="Rectangle 3">
            <a:extLst>
              <a:ext uri="{FF2B5EF4-FFF2-40B4-BE49-F238E27FC236}">
                <a16:creationId xmlns:a16="http://schemas.microsoft.com/office/drawing/2014/main" id="{FC51339E-5D3E-3EA4-5508-E6FE630952AB}"/>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12645" name="Group 4">
            <a:extLst>
              <a:ext uri="{FF2B5EF4-FFF2-40B4-BE49-F238E27FC236}">
                <a16:creationId xmlns:a16="http://schemas.microsoft.com/office/drawing/2014/main" id="{72AB63FE-9BFE-69EF-E83F-CC495DBE25B9}"/>
              </a:ext>
            </a:extLst>
          </p:cNvPr>
          <p:cNvGrpSpPr>
            <a:grpSpLocks/>
          </p:cNvGrpSpPr>
          <p:nvPr/>
        </p:nvGrpSpPr>
        <p:grpSpPr bwMode="auto">
          <a:xfrm>
            <a:off x="490538" y="773113"/>
            <a:ext cx="738187" cy="474662"/>
            <a:chOff x="0" y="0"/>
            <a:chExt cx="465" cy="299"/>
          </a:xfrm>
        </p:grpSpPr>
        <p:sp>
          <p:nvSpPr>
            <p:cNvPr id="112655" name="Rectangle 5">
              <a:extLst>
                <a:ext uri="{FF2B5EF4-FFF2-40B4-BE49-F238E27FC236}">
                  <a16:creationId xmlns:a16="http://schemas.microsoft.com/office/drawing/2014/main" id="{93E3E103-F47D-165E-31C8-17CE03545D2A}"/>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2656" name="Rectangle 6">
              <a:extLst>
                <a:ext uri="{FF2B5EF4-FFF2-40B4-BE49-F238E27FC236}">
                  <a16:creationId xmlns:a16="http://schemas.microsoft.com/office/drawing/2014/main" id="{EAFFB863-999E-211E-E098-2C25060ABAC5}"/>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12646" name="Rectangle 7">
            <a:extLst>
              <a:ext uri="{FF2B5EF4-FFF2-40B4-BE49-F238E27FC236}">
                <a16:creationId xmlns:a16="http://schemas.microsoft.com/office/drawing/2014/main" id="{6013CF67-21F6-FAC0-ED05-51E9DA1882BD}"/>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2647" name="Rectangle 8">
            <a:extLst>
              <a:ext uri="{FF2B5EF4-FFF2-40B4-BE49-F238E27FC236}">
                <a16:creationId xmlns:a16="http://schemas.microsoft.com/office/drawing/2014/main" id="{23C67B7A-43D6-507C-DE3D-69F308F22EB0}"/>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2648" name="Rectangle 9">
            <a:extLst>
              <a:ext uri="{FF2B5EF4-FFF2-40B4-BE49-F238E27FC236}">
                <a16:creationId xmlns:a16="http://schemas.microsoft.com/office/drawing/2014/main" id="{00EE4CFF-FF10-41BA-F96B-8DC3867E7C6E}"/>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2649" name="Rectangle 10">
            <a:extLst>
              <a:ext uri="{FF2B5EF4-FFF2-40B4-BE49-F238E27FC236}">
                <a16:creationId xmlns:a16="http://schemas.microsoft.com/office/drawing/2014/main" id="{AFBE5F1B-7969-6E3F-3A50-6110A5797FB0}"/>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12650" name="Rectangle 11">
            <a:extLst>
              <a:ext uri="{FF2B5EF4-FFF2-40B4-BE49-F238E27FC236}">
                <a16:creationId xmlns:a16="http://schemas.microsoft.com/office/drawing/2014/main" id="{5A35DD59-B00A-70F7-535F-7D8ABFE3734B}"/>
              </a:ext>
            </a:extLst>
          </p:cNvPr>
          <p:cNvSpPr>
            <a:spLocks noChangeArrowheads="1"/>
          </p:cNvSpPr>
          <p:nvPr/>
        </p:nvSpPr>
        <p:spPr bwMode="auto">
          <a:xfrm>
            <a:off x="228600" y="1323975"/>
            <a:ext cx="85344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baseline="0">
                <a:ea typeface="宋体" panose="02010600030101010101" pitchFamily="2" charset="-122"/>
              </a:rPr>
              <a:t>        为了实际操作方便，当SNR很大时，假定SNR + 1几乎与 SNR相等，理论通道容量可以简化为：</a:t>
            </a:r>
          </a:p>
        </p:txBody>
      </p:sp>
      <p:sp>
        <p:nvSpPr>
          <p:cNvPr id="112651" name="Text Box 12">
            <a:extLst>
              <a:ext uri="{FF2B5EF4-FFF2-40B4-BE49-F238E27FC236}">
                <a16:creationId xmlns:a16="http://schemas.microsoft.com/office/drawing/2014/main" id="{93503F1C-11B7-5150-5E06-C8B152C375DC}"/>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3.40</a:t>
            </a:r>
          </a:p>
        </p:txBody>
      </p:sp>
      <p:pic>
        <p:nvPicPr>
          <p:cNvPr id="112652" name="Picture 13">
            <a:extLst>
              <a:ext uri="{FF2B5EF4-FFF2-40B4-BE49-F238E27FC236}">
                <a16:creationId xmlns:a16="http://schemas.microsoft.com/office/drawing/2014/main" id="{4C10F695-74C5-2E5B-1AF2-8C50D0D28F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2819400"/>
            <a:ext cx="2222500" cy="641350"/>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112653" name="Rectangle 14">
            <a:extLst>
              <a:ext uri="{FF2B5EF4-FFF2-40B4-BE49-F238E27FC236}">
                <a16:creationId xmlns:a16="http://schemas.microsoft.com/office/drawing/2014/main" id="{53C7DB27-EF80-BE95-F709-B985536358AC}"/>
              </a:ext>
            </a:extLst>
          </p:cNvPr>
          <p:cNvSpPr>
            <a:spLocks noChangeArrowheads="1"/>
          </p:cNvSpPr>
          <p:nvPr/>
        </p:nvSpPr>
        <p:spPr bwMode="auto">
          <a:xfrm>
            <a:off x="228600" y="4114800"/>
            <a:ext cx="85344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例如，我们可以计算前一例子的理论容量为：</a:t>
            </a:r>
          </a:p>
        </p:txBody>
      </p:sp>
      <p:pic>
        <p:nvPicPr>
          <p:cNvPr id="112654" name="Picture 15">
            <a:extLst>
              <a:ext uri="{FF2B5EF4-FFF2-40B4-BE49-F238E27FC236}">
                <a16:creationId xmlns:a16="http://schemas.microsoft.com/office/drawing/2014/main" id="{C8543BE3-FB0D-03B2-D448-E16EFF9CC4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9413" y="5327650"/>
            <a:ext cx="3303587" cy="539750"/>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1">
            <a:extLst>
              <a:ext uri="{FF2B5EF4-FFF2-40B4-BE49-F238E27FC236}">
                <a16:creationId xmlns:a16="http://schemas.microsoft.com/office/drawing/2014/main" id="{B7050F5B-0DA6-7DCB-6EBD-27C0123D918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5BB6CEF6-D889-479A-9A2D-F509FF935974}" type="slidenum">
              <a:rPr lang="en-US" altLang="zh-CN" sz="2000" i="0" baseline="0" smtClean="0">
                <a:latin typeface="Arial" panose="020B0604020202020204" pitchFamily="34" charset="0"/>
              </a:rPr>
              <a:pPr/>
              <a:t>108</a:t>
            </a:fld>
            <a:endParaRPr lang="en-US" altLang="zh-CN" sz="2000" i="0" baseline="0">
              <a:latin typeface="Arial" panose="020B0604020202020204" pitchFamily="34" charset="0"/>
            </a:endParaRPr>
          </a:p>
        </p:txBody>
      </p:sp>
      <p:sp>
        <p:nvSpPr>
          <p:cNvPr id="113667" name="Rectangle 2">
            <a:extLst>
              <a:ext uri="{FF2B5EF4-FFF2-40B4-BE49-F238E27FC236}">
                <a16:creationId xmlns:a16="http://schemas.microsoft.com/office/drawing/2014/main" id="{FDF1BEA8-461A-F1BC-1A83-1CEA38882398}"/>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3668" name="Rectangle 3">
            <a:extLst>
              <a:ext uri="{FF2B5EF4-FFF2-40B4-BE49-F238E27FC236}">
                <a16:creationId xmlns:a16="http://schemas.microsoft.com/office/drawing/2014/main" id="{BFC23B1F-0397-3856-573B-4D865B09BBEE}"/>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13669" name="Group 4">
            <a:extLst>
              <a:ext uri="{FF2B5EF4-FFF2-40B4-BE49-F238E27FC236}">
                <a16:creationId xmlns:a16="http://schemas.microsoft.com/office/drawing/2014/main" id="{B38CFC30-8662-96CE-5D0B-3EDAAC56B4F2}"/>
              </a:ext>
            </a:extLst>
          </p:cNvPr>
          <p:cNvGrpSpPr>
            <a:grpSpLocks/>
          </p:cNvGrpSpPr>
          <p:nvPr/>
        </p:nvGrpSpPr>
        <p:grpSpPr bwMode="auto">
          <a:xfrm>
            <a:off x="490538" y="773113"/>
            <a:ext cx="738187" cy="474662"/>
            <a:chOff x="0" y="0"/>
            <a:chExt cx="465" cy="299"/>
          </a:xfrm>
        </p:grpSpPr>
        <p:sp>
          <p:nvSpPr>
            <p:cNvPr id="113677" name="Rectangle 5">
              <a:extLst>
                <a:ext uri="{FF2B5EF4-FFF2-40B4-BE49-F238E27FC236}">
                  <a16:creationId xmlns:a16="http://schemas.microsoft.com/office/drawing/2014/main" id="{A888C363-8359-287A-2343-F86BD88EA46D}"/>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3678" name="Rectangle 6">
              <a:extLst>
                <a:ext uri="{FF2B5EF4-FFF2-40B4-BE49-F238E27FC236}">
                  <a16:creationId xmlns:a16="http://schemas.microsoft.com/office/drawing/2014/main" id="{D3928C24-FD84-AF2D-1AC9-87A4ABE652BC}"/>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13670" name="Rectangle 7">
            <a:extLst>
              <a:ext uri="{FF2B5EF4-FFF2-40B4-BE49-F238E27FC236}">
                <a16:creationId xmlns:a16="http://schemas.microsoft.com/office/drawing/2014/main" id="{CBC70CD9-0AFE-CE2B-D09B-5F189E53BB79}"/>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3671" name="Rectangle 8">
            <a:extLst>
              <a:ext uri="{FF2B5EF4-FFF2-40B4-BE49-F238E27FC236}">
                <a16:creationId xmlns:a16="http://schemas.microsoft.com/office/drawing/2014/main" id="{68CED840-0459-4D76-A694-DCAE6ABF3162}"/>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3672" name="Rectangle 9">
            <a:extLst>
              <a:ext uri="{FF2B5EF4-FFF2-40B4-BE49-F238E27FC236}">
                <a16:creationId xmlns:a16="http://schemas.microsoft.com/office/drawing/2014/main" id="{84530E50-061D-C92C-98B7-9A5B483BF182}"/>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3673" name="Rectangle 10">
            <a:extLst>
              <a:ext uri="{FF2B5EF4-FFF2-40B4-BE49-F238E27FC236}">
                <a16:creationId xmlns:a16="http://schemas.microsoft.com/office/drawing/2014/main" id="{7208711B-CE9B-4681-C089-0B6A331F66F2}"/>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13674" name="Rectangle 11">
            <a:extLst>
              <a:ext uri="{FF2B5EF4-FFF2-40B4-BE49-F238E27FC236}">
                <a16:creationId xmlns:a16="http://schemas.microsoft.com/office/drawing/2014/main" id="{7F8B6FD5-2AEE-1184-9630-83716F53585A}"/>
              </a:ext>
            </a:extLst>
          </p:cNvPr>
          <p:cNvSpPr>
            <a:spLocks noChangeArrowheads="1"/>
          </p:cNvSpPr>
          <p:nvPr/>
        </p:nvSpPr>
        <p:spPr bwMode="auto">
          <a:xfrm>
            <a:off x="228600" y="1600200"/>
            <a:ext cx="8534400"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baseline="0">
                <a:ea typeface="宋体" panose="02010600030101010101" pitchFamily="2" charset="-122"/>
              </a:rPr>
              <a:t>有一个1MHz带宽的通道。通道的信噪比是63，合适的比特率以及信号电平是多少？</a:t>
            </a:r>
            <a:endParaRPr lang="zh-CN" altLang="en-US" baseline="0">
              <a:solidFill>
                <a:schemeClr val="hlink"/>
              </a:solidFill>
              <a:ea typeface="宋体" panose="02010600030101010101" pitchFamily="2" charset="-122"/>
            </a:endParaRP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首先，使用香农公式确定上限：</a:t>
            </a:r>
          </a:p>
        </p:txBody>
      </p:sp>
      <p:sp>
        <p:nvSpPr>
          <p:cNvPr id="113675" name="Text Box 12">
            <a:extLst>
              <a:ext uri="{FF2B5EF4-FFF2-40B4-BE49-F238E27FC236}">
                <a16:creationId xmlns:a16="http://schemas.microsoft.com/office/drawing/2014/main" id="{9653438A-8D51-8C92-643E-7E0D9F31213C}"/>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3.41</a:t>
            </a:r>
          </a:p>
        </p:txBody>
      </p:sp>
      <p:pic>
        <p:nvPicPr>
          <p:cNvPr id="113676" name="Picture 13">
            <a:extLst>
              <a:ext uri="{FF2B5EF4-FFF2-40B4-BE49-F238E27FC236}">
                <a16:creationId xmlns:a16="http://schemas.microsoft.com/office/drawing/2014/main" id="{B65BBF8F-A64B-3D5D-C825-C56D207B8B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267200"/>
            <a:ext cx="7370763" cy="441325"/>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1">
            <a:extLst>
              <a:ext uri="{FF2B5EF4-FFF2-40B4-BE49-F238E27FC236}">
                <a16:creationId xmlns:a16="http://schemas.microsoft.com/office/drawing/2014/main" id="{AE2C3318-4C45-CA14-CFD2-7FB056E3FF8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C3053B34-DF0A-45D5-96C4-4C8AA04BF563}" type="slidenum">
              <a:rPr lang="en-US" altLang="zh-CN" sz="2000" i="0" baseline="0" smtClean="0">
                <a:latin typeface="Arial" panose="020B0604020202020204" pitchFamily="34" charset="0"/>
              </a:rPr>
              <a:pPr/>
              <a:t>109</a:t>
            </a:fld>
            <a:endParaRPr lang="en-US" altLang="zh-CN" sz="2000" i="0" baseline="0">
              <a:latin typeface="Arial" panose="020B0604020202020204" pitchFamily="34" charset="0"/>
            </a:endParaRPr>
          </a:p>
        </p:txBody>
      </p:sp>
      <p:sp>
        <p:nvSpPr>
          <p:cNvPr id="114691" name="Rectangle 2">
            <a:extLst>
              <a:ext uri="{FF2B5EF4-FFF2-40B4-BE49-F238E27FC236}">
                <a16:creationId xmlns:a16="http://schemas.microsoft.com/office/drawing/2014/main" id="{067B7DAD-5CA4-CCD2-7962-E47DAFCB3650}"/>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4692" name="Rectangle 3">
            <a:extLst>
              <a:ext uri="{FF2B5EF4-FFF2-40B4-BE49-F238E27FC236}">
                <a16:creationId xmlns:a16="http://schemas.microsoft.com/office/drawing/2014/main" id="{2468E243-1BC3-7175-921C-9A40468E479A}"/>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14693" name="Group 4">
            <a:extLst>
              <a:ext uri="{FF2B5EF4-FFF2-40B4-BE49-F238E27FC236}">
                <a16:creationId xmlns:a16="http://schemas.microsoft.com/office/drawing/2014/main" id="{E1053984-CCED-6C4C-F6D2-FF0D8AAF86C0}"/>
              </a:ext>
            </a:extLst>
          </p:cNvPr>
          <p:cNvGrpSpPr>
            <a:grpSpLocks/>
          </p:cNvGrpSpPr>
          <p:nvPr/>
        </p:nvGrpSpPr>
        <p:grpSpPr bwMode="auto">
          <a:xfrm>
            <a:off x="490538" y="773113"/>
            <a:ext cx="738187" cy="474662"/>
            <a:chOff x="0" y="0"/>
            <a:chExt cx="465" cy="299"/>
          </a:xfrm>
        </p:grpSpPr>
        <p:sp>
          <p:nvSpPr>
            <p:cNvPr id="114701" name="Rectangle 5">
              <a:extLst>
                <a:ext uri="{FF2B5EF4-FFF2-40B4-BE49-F238E27FC236}">
                  <a16:creationId xmlns:a16="http://schemas.microsoft.com/office/drawing/2014/main" id="{055837A0-0055-3940-169E-C104215DDAB2}"/>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4702" name="Rectangle 6">
              <a:extLst>
                <a:ext uri="{FF2B5EF4-FFF2-40B4-BE49-F238E27FC236}">
                  <a16:creationId xmlns:a16="http://schemas.microsoft.com/office/drawing/2014/main" id="{8826C40A-C043-3B7C-AD84-EF433680DBD6}"/>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14694" name="Rectangle 7">
            <a:extLst>
              <a:ext uri="{FF2B5EF4-FFF2-40B4-BE49-F238E27FC236}">
                <a16:creationId xmlns:a16="http://schemas.microsoft.com/office/drawing/2014/main" id="{4CB4B007-76B1-9BF3-CDCC-A5695C4EA81D}"/>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4695" name="Rectangle 8">
            <a:extLst>
              <a:ext uri="{FF2B5EF4-FFF2-40B4-BE49-F238E27FC236}">
                <a16:creationId xmlns:a16="http://schemas.microsoft.com/office/drawing/2014/main" id="{98F07A38-5CA3-6331-06F3-ECF92A0B85FA}"/>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4696" name="Rectangle 9">
            <a:extLst>
              <a:ext uri="{FF2B5EF4-FFF2-40B4-BE49-F238E27FC236}">
                <a16:creationId xmlns:a16="http://schemas.microsoft.com/office/drawing/2014/main" id="{BD768F38-D5F7-E839-DB33-625F2F2651D1}"/>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4697" name="Rectangle 10">
            <a:extLst>
              <a:ext uri="{FF2B5EF4-FFF2-40B4-BE49-F238E27FC236}">
                <a16:creationId xmlns:a16="http://schemas.microsoft.com/office/drawing/2014/main" id="{2EDA1460-CC69-1E1E-C08B-75A7EBE2F817}"/>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14698" name="Rectangle 11">
            <a:extLst>
              <a:ext uri="{FF2B5EF4-FFF2-40B4-BE49-F238E27FC236}">
                <a16:creationId xmlns:a16="http://schemas.microsoft.com/office/drawing/2014/main" id="{2735AC68-9995-1CA6-21E9-65F4C888A195}"/>
              </a:ext>
            </a:extLst>
          </p:cNvPr>
          <p:cNvSpPr>
            <a:spLocks noChangeArrowheads="1"/>
          </p:cNvSpPr>
          <p:nvPr/>
        </p:nvSpPr>
        <p:spPr bwMode="auto">
          <a:xfrm>
            <a:off x="228600" y="16002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尽管香农公式计算结果是6 Mbps,但这是上限。为了获得更好的性能，可选择低一些的值，如4 Mbps。然后使用奈奎斯特公式计算信号电平的数量：</a:t>
            </a:r>
          </a:p>
        </p:txBody>
      </p:sp>
      <p:sp>
        <p:nvSpPr>
          <p:cNvPr id="114699" name="Text Box 12">
            <a:extLst>
              <a:ext uri="{FF2B5EF4-FFF2-40B4-BE49-F238E27FC236}">
                <a16:creationId xmlns:a16="http://schemas.microsoft.com/office/drawing/2014/main" id="{02D59286-8304-3E42-7EC8-755986E6FAA5}"/>
              </a:ext>
            </a:extLst>
          </p:cNvPr>
          <p:cNvSpPr txBox="1">
            <a:spLocks noChangeArrowheads="1"/>
          </p:cNvSpPr>
          <p:nvPr/>
        </p:nvSpPr>
        <p:spPr bwMode="auto">
          <a:xfrm>
            <a:off x="1143000" y="182563"/>
            <a:ext cx="35448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3.41 (continued)</a:t>
            </a:r>
          </a:p>
        </p:txBody>
      </p:sp>
      <p:pic>
        <p:nvPicPr>
          <p:cNvPr id="114700" name="Picture 13">
            <a:extLst>
              <a:ext uri="{FF2B5EF4-FFF2-40B4-BE49-F238E27FC236}">
                <a16:creationId xmlns:a16="http://schemas.microsoft.com/office/drawing/2014/main" id="{91ED0B00-E810-55FA-E9BD-2230FFB532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5813" y="3840163"/>
            <a:ext cx="5030787" cy="350837"/>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1">
            <a:extLst>
              <a:ext uri="{FF2B5EF4-FFF2-40B4-BE49-F238E27FC236}">
                <a16:creationId xmlns:a16="http://schemas.microsoft.com/office/drawing/2014/main" id="{8D77A49F-A715-3F71-8C25-EF9A38ABA64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4171D9F1-F118-42E4-9A93-AD6D347D9D8E}" type="slidenum">
              <a:rPr lang="en-US" altLang="zh-CN" sz="2000" i="0" baseline="0" smtClean="0">
                <a:latin typeface="Arial" panose="020B0604020202020204" pitchFamily="34" charset="0"/>
              </a:rPr>
              <a:pPr/>
              <a:t>110</a:t>
            </a:fld>
            <a:endParaRPr lang="en-US" altLang="zh-CN" sz="2000" i="0" baseline="0">
              <a:latin typeface="Arial" panose="020B0604020202020204" pitchFamily="34" charset="0"/>
            </a:endParaRPr>
          </a:p>
        </p:txBody>
      </p:sp>
      <p:sp>
        <p:nvSpPr>
          <p:cNvPr id="115715" name="Rectangle 2">
            <a:extLst>
              <a:ext uri="{FF2B5EF4-FFF2-40B4-BE49-F238E27FC236}">
                <a16:creationId xmlns:a16="http://schemas.microsoft.com/office/drawing/2014/main" id="{F8855436-886C-04AF-ED75-BE79A9ED972D}"/>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5716" name="Rectangle 3">
            <a:extLst>
              <a:ext uri="{FF2B5EF4-FFF2-40B4-BE49-F238E27FC236}">
                <a16:creationId xmlns:a16="http://schemas.microsoft.com/office/drawing/2014/main" id="{074FC38B-BFAD-C579-7715-A0A2331C8CAC}"/>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5717" name="Rectangle 4">
            <a:extLst>
              <a:ext uri="{FF2B5EF4-FFF2-40B4-BE49-F238E27FC236}">
                <a16:creationId xmlns:a16="http://schemas.microsoft.com/office/drawing/2014/main" id="{F8E67F36-96B5-5EC5-59DA-BE91A5092CBF}"/>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5718" name="Rectangle 5">
            <a:extLst>
              <a:ext uri="{FF2B5EF4-FFF2-40B4-BE49-F238E27FC236}">
                <a16:creationId xmlns:a16="http://schemas.microsoft.com/office/drawing/2014/main" id="{0204D17C-5D6A-D02D-6F7B-028C91A6B1E3}"/>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5719" name="Rectangle 6">
            <a:extLst>
              <a:ext uri="{FF2B5EF4-FFF2-40B4-BE49-F238E27FC236}">
                <a16:creationId xmlns:a16="http://schemas.microsoft.com/office/drawing/2014/main" id="{6DE0F546-908B-37D0-5331-E35A5A146410}"/>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5720" name="Rectangle 7">
            <a:extLst>
              <a:ext uri="{FF2B5EF4-FFF2-40B4-BE49-F238E27FC236}">
                <a16:creationId xmlns:a16="http://schemas.microsoft.com/office/drawing/2014/main" id="{22123909-A207-2D60-6C26-709A2FF52785}"/>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5721" name="Rectangle 8">
            <a:extLst>
              <a:ext uri="{FF2B5EF4-FFF2-40B4-BE49-F238E27FC236}">
                <a16:creationId xmlns:a16="http://schemas.microsoft.com/office/drawing/2014/main" id="{805541DA-97D4-8487-829C-0858DCEC9221}"/>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5722" name="Line 9">
            <a:extLst>
              <a:ext uri="{FF2B5EF4-FFF2-40B4-BE49-F238E27FC236}">
                <a16:creationId xmlns:a16="http://schemas.microsoft.com/office/drawing/2014/main" id="{4A6C4251-8D4C-4261-85E2-ED2E7A1D3E3A}"/>
              </a:ext>
            </a:extLst>
          </p:cNvPr>
          <p:cNvSpPr>
            <a:spLocks noChangeShapeType="1"/>
          </p:cNvSpPr>
          <p:nvPr/>
        </p:nvSpPr>
        <p:spPr bwMode="auto">
          <a:xfrm>
            <a:off x="457200" y="2514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3" name="Line 10">
            <a:extLst>
              <a:ext uri="{FF2B5EF4-FFF2-40B4-BE49-F238E27FC236}">
                <a16:creationId xmlns:a16="http://schemas.microsoft.com/office/drawing/2014/main" id="{244083B9-6D9C-139F-BA10-A19736305135}"/>
              </a:ext>
            </a:extLst>
          </p:cNvPr>
          <p:cNvSpPr>
            <a:spLocks noChangeShapeType="1"/>
          </p:cNvSpPr>
          <p:nvPr/>
        </p:nvSpPr>
        <p:spPr bwMode="auto">
          <a:xfrm>
            <a:off x="457200" y="3733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4" name="Rectangle 11">
            <a:extLst>
              <a:ext uri="{FF2B5EF4-FFF2-40B4-BE49-F238E27FC236}">
                <a16:creationId xmlns:a16="http://schemas.microsoft.com/office/drawing/2014/main" id="{C33DC6CE-84D4-6245-E589-277860F0C4D7}"/>
              </a:ext>
            </a:extLst>
          </p:cNvPr>
          <p:cNvSpPr>
            <a:spLocks noChangeArrowheads="1"/>
          </p:cNvSpPr>
          <p:nvPr/>
        </p:nvSpPr>
        <p:spPr bwMode="auto">
          <a:xfrm>
            <a:off x="495300" y="2606675"/>
            <a:ext cx="8077200" cy="1066800"/>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      香农容量定理给出数据速率的上限，奈奎斯特公式给出所需的信号电平数。</a:t>
            </a:r>
          </a:p>
        </p:txBody>
      </p:sp>
      <p:grpSp>
        <p:nvGrpSpPr>
          <p:cNvPr id="115725" name="Group 12">
            <a:extLst>
              <a:ext uri="{FF2B5EF4-FFF2-40B4-BE49-F238E27FC236}">
                <a16:creationId xmlns:a16="http://schemas.microsoft.com/office/drawing/2014/main" id="{9A7AACD0-267E-9D6D-5B54-541EEA86B04F}"/>
              </a:ext>
            </a:extLst>
          </p:cNvPr>
          <p:cNvGrpSpPr>
            <a:grpSpLocks/>
          </p:cNvGrpSpPr>
          <p:nvPr/>
        </p:nvGrpSpPr>
        <p:grpSpPr bwMode="auto">
          <a:xfrm>
            <a:off x="457200" y="1871663"/>
            <a:ext cx="1143000" cy="566737"/>
            <a:chOff x="0" y="0"/>
            <a:chExt cx="720" cy="357"/>
          </a:xfrm>
        </p:grpSpPr>
        <p:pic>
          <p:nvPicPr>
            <p:cNvPr id="115726" name="Picture 13">
              <a:extLst>
                <a:ext uri="{FF2B5EF4-FFF2-40B4-BE49-F238E27FC236}">
                  <a16:creationId xmlns:a16="http://schemas.microsoft.com/office/drawing/2014/main" id="{A4F366BD-8306-5B02-149B-65E87B0CB7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27" name="Text Box 14">
              <a:extLst>
                <a:ext uri="{FF2B5EF4-FFF2-40B4-BE49-F238E27FC236}">
                  <a16:creationId xmlns:a16="http://schemas.microsoft.com/office/drawing/2014/main" id="{AAE3F4F6-2ECE-2D1E-E251-24F3239BA40B}"/>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灯片编号占位符 1">
            <a:extLst>
              <a:ext uri="{FF2B5EF4-FFF2-40B4-BE49-F238E27FC236}">
                <a16:creationId xmlns:a16="http://schemas.microsoft.com/office/drawing/2014/main" id="{BB2CFE6B-7C83-3C21-1E5E-CCB9151EE80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046B5E79-63C5-4B6C-A6E7-852F0DC8AB06}" type="slidenum">
              <a:rPr lang="en-US" altLang="zh-CN" sz="2000" i="0" baseline="0" smtClean="0">
                <a:latin typeface="Arial" panose="020B0604020202020204" pitchFamily="34" charset="0"/>
              </a:rPr>
              <a:pPr/>
              <a:t>111</a:t>
            </a:fld>
            <a:endParaRPr lang="en-US" altLang="zh-CN" sz="2000" i="0" baseline="0">
              <a:latin typeface="Arial" panose="020B0604020202020204" pitchFamily="34" charset="0"/>
            </a:endParaRPr>
          </a:p>
        </p:txBody>
      </p:sp>
      <p:sp>
        <p:nvSpPr>
          <p:cNvPr id="107522" name="Rectangle 2">
            <a:extLst>
              <a:ext uri="{FF2B5EF4-FFF2-40B4-BE49-F238E27FC236}">
                <a16:creationId xmlns:a16="http://schemas.microsoft.com/office/drawing/2014/main" id="{35655A6D-A525-5E91-9E92-3A8043FE2FEB}"/>
              </a:ext>
            </a:extLst>
          </p:cNvPr>
          <p:cNvSpPr>
            <a:spLocks noChangeArrowheads="1"/>
          </p:cNvSpPr>
          <p:nvPr/>
        </p:nvSpPr>
        <p:spPr bwMode="auto">
          <a:xfrm>
            <a:off x="0" y="0"/>
            <a:ext cx="9144000" cy="838200"/>
          </a:xfrm>
          <a:prstGeom prst="rect">
            <a:avLst/>
          </a:prstGeom>
          <a:solidFill>
            <a:srgbClr val="33CCFF"/>
          </a:solidFill>
          <a:ln w="9525" cmpd="sng">
            <a:solidFill>
              <a:schemeClr val="tx1"/>
            </a:solidFill>
            <a:miter lim="800000"/>
            <a:headEnd/>
            <a:tailEnd/>
          </a:ln>
          <a:effectLst/>
        </p:spPr>
        <p:txBody>
          <a:bodyPr wrap="none" anchor="ctr"/>
          <a:lstStyle/>
          <a:p>
            <a:pPr algn="ctr">
              <a:buFont typeface="Arial" panose="020B0604020202020204" pitchFamily="34" charset="0"/>
              <a:buNone/>
              <a:defRPr/>
            </a:pPr>
            <a:endParaRPr lang="zh-CN" altLang="zh-CN" sz="3200" i="0" baseline="0">
              <a:effectLst>
                <a:outerShdw blurRad="38100" dist="38100" dir="2700000" algn="tl">
                  <a:srgbClr val="FFFFFF"/>
                </a:outerShdw>
              </a:effectLst>
              <a:ea typeface="宋体" pitchFamily="2" charset="-122"/>
            </a:endParaRPr>
          </a:p>
        </p:txBody>
      </p:sp>
      <p:sp>
        <p:nvSpPr>
          <p:cNvPr id="107523" name="Text Box 3">
            <a:extLst>
              <a:ext uri="{FF2B5EF4-FFF2-40B4-BE49-F238E27FC236}">
                <a16:creationId xmlns:a16="http://schemas.microsoft.com/office/drawing/2014/main" id="{267FD922-1E9A-99C8-6639-45EDBCB1C920}"/>
              </a:ext>
            </a:extLst>
          </p:cNvPr>
          <p:cNvSpPr txBox="1">
            <a:spLocks noChangeArrowheads="1"/>
          </p:cNvSpPr>
          <p:nvPr/>
        </p:nvSpPr>
        <p:spPr bwMode="auto">
          <a:xfrm>
            <a:off x="228600" y="76200"/>
            <a:ext cx="1841500" cy="579438"/>
          </a:xfrm>
          <a:prstGeom prst="rect">
            <a:avLst/>
          </a:prstGeom>
          <a:noFill/>
          <a:ln w="9525">
            <a:noFill/>
            <a:miter lim="800000"/>
            <a:headEnd/>
            <a:tailEnd/>
          </a:ln>
          <a:effectLst/>
        </p:spPr>
        <p:txBody>
          <a:bodyPr wrap="none">
            <a:spAutoFit/>
          </a:bodyPr>
          <a:lstStyle/>
          <a:p>
            <a:pPr>
              <a:buFont typeface="Arial" panose="020B0604020202020204" pitchFamily="34" charset="0"/>
              <a:buNone/>
              <a:defRPr/>
            </a:pPr>
            <a:r>
              <a:rPr lang="zh-CN" altLang="en-US" sz="3200" i="0" baseline="0">
                <a:effectLst>
                  <a:outerShdw blurRad="38100" dist="38100" dir="2700000" algn="tl">
                    <a:srgbClr val="C0C0C0"/>
                  </a:outerShdw>
                </a:effectLst>
                <a:latin typeface="Times" pitchFamily="2" charset="0"/>
              </a:rPr>
              <a:t>3-6   </a:t>
            </a:r>
            <a:r>
              <a:rPr lang="zh-CN" altLang="en-US" sz="3200" i="0" baseline="0">
                <a:effectLst>
                  <a:outerShdw blurRad="38100" dist="38100" dir="2700000" algn="tl">
                    <a:srgbClr val="C0C0C0"/>
                  </a:outerShdw>
                </a:effectLst>
                <a:latin typeface="Times" pitchFamily="2" charset="0"/>
                <a:ea typeface="宋体" pitchFamily="2" charset="-122"/>
              </a:rPr>
              <a:t>性能</a:t>
            </a:r>
          </a:p>
        </p:txBody>
      </p:sp>
      <p:sp>
        <p:nvSpPr>
          <p:cNvPr id="116741" name="Text Box 4">
            <a:extLst>
              <a:ext uri="{FF2B5EF4-FFF2-40B4-BE49-F238E27FC236}">
                <a16:creationId xmlns:a16="http://schemas.microsoft.com/office/drawing/2014/main" id="{F6169BBD-F82E-A50F-9C07-6CB8A296A2EF}"/>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zh-CN" sz="1800" i="0" baseline="0">
              <a:ea typeface="宋体" panose="02010600030101010101" pitchFamily="2" charset="-122"/>
            </a:endParaRPr>
          </a:p>
        </p:txBody>
      </p:sp>
      <p:sp>
        <p:nvSpPr>
          <p:cNvPr id="107525" name="Rectangle 5">
            <a:extLst>
              <a:ext uri="{FF2B5EF4-FFF2-40B4-BE49-F238E27FC236}">
                <a16:creationId xmlns:a16="http://schemas.microsoft.com/office/drawing/2014/main" id="{31B63D70-FB8A-339F-FABC-BFF88063EA8E}"/>
              </a:ext>
            </a:extLst>
          </p:cNvPr>
          <p:cNvSpPr>
            <a:spLocks noChangeArrowheads="1"/>
          </p:cNvSpPr>
          <p:nvPr/>
        </p:nvSpPr>
        <p:spPr bwMode="auto">
          <a:xfrm>
            <a:off x="76200" y="1281113"/>
            <a:ext cx="8610600" cy="1798637"/>
          </a:xfrm>
          <a:prstGeom prst="rect">
            <a:avLst/>
          </a:prstGeom>
          <a:noFill/>
          <a:ln w="9525">
            <a:noFill/>
            <a:miter lim="800000"/>
            <a:headEnd/>
            <a:tailEnd/>
          </a:ln>
          <a:effectLst/>
        </p:spPr>
        <p:txBody>
          <a:bodyPr anchor="ctr">
            <a:spAutoFit/>
          </a:bodyPr>
          <a:lstStyle/>
          <a:p>
            <a:pPr algn="just" eaLnBrk="1" hangingPunct="1">
              <a:buFont typeface="Arial" panose="020B0604020202020204" pitchFamily="34" charset="0"/>
              <a:buNone/>
              <a:defRPr/>
            </a:pPr>
            <a:r>
              <a:rPr lang="zh-CN" altLang="en-US" baseline="0">
                <a:effectLst>
                  <a:outerShdw blurRad="38100" dist="38100" dir="2700000" algn="tl">
                    <a:srgbClr val="C0C0C0"/>
                  </a:outerShdw>
                </a:effectLst>
                <a:ea typeface="宋体" pitchFamily="2" charset="-122"/>
              </a:rPr>
              <a:t>         网络中的一个重要问题是网络的性能——网络怎么好？我们会在第24章更详细地讨论服务质量、网络性能的整体衡量。这一节，我们介绍以后章节会用到的术语。</a:t>
            </a:r>
          </a:p>
        </p:txBody>
      </p:sp>
      <p:sp>
        <p:nvSpPr>
          <p:cNvPr id="116743" name="Rectangle 6">
            <a:extLst>
              <a:ext uri="{FF2B5EF4-FFF2-40B4-BE49-F238E27FC236}">
                <a16:creationId xmlns:a16="http://schemas.microsoft.com/office/drawing/2014/main" id="{DB7A9E39-3BAF-F643-0896-B2599E54300F}"/>
              </a:ext>
            </a:extLst>
          </p:cNvPr>
          <p:cNvSpPr>
            <a:spLocks noChangeArrowheads="1"/>
          </p:cNvSpPr>
          <p:nvPr/>
        </p:nvSpPr>
        <p:spPr bwMode="auto">
          <a:xfrm>
            <a:off x="306388" y="4819650"/>
            <a:ext cx="5561012"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zh-CN" altLang="en-US" sz="2400" i="0" baseline="0">
                <a:solidFill>
                  <a:srgbClr val="0033CC"/>
                </a:solidFill>
                <a:ea typeface="宋体" panose="02010600030101010101" pitchFamily="2" charset="-122"/>
              </a:rPr>
              <a:t>带宽</a:t>
            </a:r>
            <a:br>
              <a:rPr lang="fr-FR" altLang="en-US" sz="2400" i="0" baseline="0">
                <a:solidFill>
                  <a:srgbClr val="0033CC"/>
                </a:solidFill>
              </a:rPr>
            </a:br>
            <a:r>
              <a:rPr lang="zh-CN" altLang="en-US" sz="2400" i="0" baseline="0">
                <a:solidFill>
                  <a:srgbClr val="0033CC"/>
                </a:solidFill>
                <a:ea typeface="宋体" panose="02010600030101010101" pitchFamily="2" charset="-122"/>
              </a:rPr>
              <a:t>吞吐量</a:t>
            </a:r>
            <a:br>
              <a:rPr lang="fr-FR" altLang="en-US" sz="2400" i="0" baseline="0">
                <a:solidFill>
                  <a:srgbClr val="0033CC"/>
                </a:solidFill>
              </a:rPr>
            </a:br>
            <a:r>
              <a:rPr lang="zh-CN" altLang="en-US" sz="2400" i="0" baseline="0">
                <a:solidFill>
                  <a:srgbClr val="0033CC"/>
                </a:solidFill>
                <a:ea typeface="宋体" panose="02010600030101010101" pitchFamily="2" charset="-122"/>
              </a:rPr>
              <a:t>延迟</a:t>
            </a:r>
          </a:p>
          <a:p>
            <a:pPr>
              <a:buClr>
                <a:schemeClr val="tx1"/>
              </a:buClr>
              <a:buSzPct val="117000"/>
              <a:buFont typeface="Wingdings" panose="05000000000000000000" pitchFamily="2" charset="2"/>
              <a:buNone/>
            </a:pPr>
            <a:r>
              <a:rPr lang="zh-CN" altLang="en-US" sz="2400" i="0" baseline="0">
                <a:solidFill>
                  <a:srgbClr val="0033CC"/>
                </a:solidFill>
                <a:ea typeface="宋体" panose="02010600030101010101" pitchFamily="2" charset="-122"/>
              </a:rPr>
              <a:t>带宽与延迟的乘积</a:t>
            </a:r>
          </a:p>
        </p:txBody>
      </p:sp>
      <p:sp>
        <p:nvSpPr>
          <p:cNvPr id="107527" name="Text Box 7">
            <a:extLst>
              <a:ext uri="{FF2B5EF4-FFF2-40B4-BE49-F238E27FC236}">
                <a16:creationId xmlns:a16="http://schemas.microsoft.com/office/drawing/2014/main" id="{3D664072-366F-0127-C131-209FDFA5C288}"/>
              </a:ext>
            </a:extLst>
          </p:cNvPr>
          <p:cNvSpPr txBox="1">
            <a:spLocks noChangeArrowheads="1"/>
          </p:cNvSpPr>
          <p:nvPr/>
        </p:nvSpPr>
        <p:spPr bwMode="auto">
          <a:xfrm>
            <a:off x="304800" y="4343400"/>
            <a:ext cx="2790825" cy="519113"/>
          </a:xfrm>
          <a:prstGeom prst="rect">
            <a:avLst/>
          </a:prstGeom>
          <a:noFill/>
          <a:ln w="9525">
            <a:noFill/>
            <a:miter lim="800000"/>
            <a:headEnd/>
            <a:tailEnd/>
          </a:ln>
          <a:effectLst/>
        </p:spPr>
        <p:txBody>
          <a:bodyPr wrap="none">
            <a:spAutoFit/>
          </a:bodyPr>
          <a:lstStyle/>
          <a:p>
            <a:pPr algn="ctr">
              <a:buFont typeface="Arial" panose="020B0604020202020204" pitchFamily="34" charset="0"/>
              <a:buNone/>
              <a:defRPr/>
            </a:pPr>
            <a:r>
              <a:rPr lang="zh-CN" altLang="en-US" u="sng" baseline="0">
                <a:solidFill>
                  <a:schemeClr val="hlink"/>
                </a:solidFill>
                <a:effectLst>
                  <a:outerShdw blurRad="38100" dist="38100" dir="2700000" algn="tl">
                    <a:srgbClr val="C0C0C0"/>
                  </a:outerShdw>
                </a:effectLst>
                <a:ea typeface="宋体" pitchFamily="2" charset="-122"/>
              </a:rPr>
              <a:t>本节讨论的主题</a:t>
            </a:r>
            <a:r>
              <a:rPr lang="en-US" altLang="zh-CN" u="sng" baseline="0">
                <a:solidFill>
                  <a:schemeClr val="hlink"/>
                </a:solidFill>
                <a:effectLst>
                  <a:outerShdw blurRad="38100" dist="38100" dir="2700000" algn="tl">
                    <a:srgbClr val="C0C0C0"/>
                  </a:outerShdw>
                </a:effectLst>
                <a:ea typeface="宋体" pitchFamily="2" charset="-122"/>
              </a:rPr>
              <a: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灯片编号占位符 1">
            <a:extLst>
              <a:ext uri="{FF2B5EF4-FFF2-40B4-BE49-F238E27FC236}">
                <a16:creationId xmlns:a16="http://schemas.microsoft.com/office/drawing/2014/main" id="{14255390-F851-7404-15BD-81A97411A57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B0130E19-9BB5-483F-8EE2-37DEA4ABC172}" type="slidenum">
              <a:rPr lang="en-US" altLang="zh-CN" sz="2000" i="0" baseline="0" smtClean="0">
                <a:latin typeface="Arial" panose="020B0604020202020204" pitchFamily="34" charset="0"/>
              </a:rPr>
              <a:pPr/>
              <a:t>112</a:t>
            </a:fld>
            <a:endParaRPr lang="en-US" altLang="zh-CN" sz="2000" i="0" baseline="0">
              <a:latin typeface="Arial" panose="020B0604020202020204" pitchFamily="34" charset="0"/>
            </a:endParaRPr>
          </a:p>
        </p:txBody>
      </p:sp>
      <p:sp>
        <p:nvSpPr>
          <p:cNvPr id="117763" name="Rectangle 2">
            <a:extLst>
              <a:ext uri="{FF2B5EF4-FFF2-40B4-BE49-F238E27FC236}">
                <a16:creationId xmlns:a16="http://schemas.microsoft.com/office/drawing/2014/main" id="{4B0A7A83-9F70-8448-C641-482265DADD57}"/>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7764" name="Rectangle 3">
            <a:extLst>
              <a:ext uri="{FF2B5EF4-FFF2-40B4-BE49-F238E27FC236}">
                <a16:creationId xmlns:a16="http://schemas.microsoft.com/office/drawing/2014/main" id="{77EC03BB-8B37-715D-4EA1-9D6B096B01E4}"/>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7765" name="Rectangle 4">
            <a:extLst>
              <a:ext uri="{FF2B5EF4-FFF2-40B4-BE49-F238E27FC236}">
                <a16:creationId xmlns:a16="http://schemas.microsoft.com/office/drawing/2014/main" id="{A693DA43-16CE-4DBF-1A86-CB8EC02D8E29}"/>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7766" name="Rectangle 5">
            <a:extLst>
              <a:ext uri="{FF2B5EF4-FFF2-40B4-BE49-F238E27FC236}">
                <a16:creationId xmlns:a16="http://schemas.microsoft.com/office/drawing/2014/main" id="{A858D430-FCBC-B7BA-2337-B7B8EFB3B111}"/>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7767" name="Rectangle 6">
            <a:extLst>
              <a:ext uri="{FF2B5EF4-FFF2-40B4-BE49-F238E27FC236}">
                <a16:creationId xmlns:a16="http://schemas.microsoft.com/office/drawing/2014/main" id="{A74D3949-5DBA-B66F-8F6A-F262FAA145F7}"/>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7768" name="Rectangle 7">
            <a:extLst>
              <a:ext uri="{FF2B5EF4-FFF2-40B4-BE49-F238E27FC236}">
                <a16:creationId xmlns:a16="http://schemas.microsoft.com/office/drawing/2014/main" id="{B01E1079-B1FA-34AD-E266-8F5AF181114D}"/>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7769" name="Rectangle 8">
            <a:extLst>
              <a:ext uri="{FF2B5EF4-FFF2-40B4-BE49-F238E27FC236}">
                <a16:creationId xmlns:a16="http://schemas.microsoft.com/office/drawing/2014/main" id="{D9A2DB32-1AE7-2850-8709-4164DD12C4DB}"/>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7770" name="Line 9">
            <a:extLst>
              <a:ext uri="{FF2B5EF4-FFF2-40B4-BE49-F238E27FC236}">
                <a16:creationId xmlns:a16="http://schemas.microsoft.com/office/drawing/2014/main" id="{D3C8F4CF-B455-9A8D-E502-83EB7CC5804A}"/>
              </a:ext>
            </a:extLst>
          </p:cNvPr>
          <p:cNvSpPr>
            <a:spLocks noChangeShapeType="1"/>
          </p:cNvSpPr>
          <p:nvPr/>
        </p:nvSpPr>
        <p:spPr bwMode="auto">
          <a:xfrm>
            <a:off x="457200" y="1676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771" name="Line 10">
            <a:extLst>
              <a:ext uri="{FF2B5EF4-FFF2-40B4-BE49-F238E27FC236}">
                <a16:creationId xmlns:a16="http://schemas.microsoft.com/office/drawing/2014/main" id="{2CB7ABD6-886D-518C-C82C-C32208904AF8}"/>
              </a:ext>
            </a:extLst>
          </p:cNvPr>
          <p:cNvSpPr>
            <a:spLocks noChangeShapeType="1"/>
          </p:cNvSpPr>
          <p:nvPr/>
        </p:nvSpPr>
        <p:spPr bwMode="auto">
          <a:xfrm>
            <a:off x="533400" y="647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772" name="Rectangle 11">
            <a:extLst>
              <a:ext uri="{FF2B5EF4-FFF2-40B4-BE49-F238E27FC236}">
                <a16:creationId xmlns:a16="http://schemas.microsoft.com/office/drawing/2014/main" id="{B36A739F-7454-F00E-3D1D-93278434FC82}"/>
              </a:ext>
            </a:extLst>
          </p:cNvPr>
          <p:cNvSpPr>
            <a:spLocks noChangeArrowheads="1"/>
          </p:cNvSpPr>
          <p:nvPr/>
        </p:nvSpPr>
        <p:spPr bwMode="auto">
          <a:xfrm>
            <a:off x="685800" y="1752600"/>
            <a:ext cx="7734300" cy="4524375"/>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baseline="0">
                <a:solidFill>
                  <a:schemeClr val="folHlink"/>
                </a:solidFill>
                <a:latin typeface="Arial" panose="020B0604020202020204" pitchFamily="34" charset="0"/>
                <a:ea typeface="宋体" panose="02010600030101010101" pitchFamily="2" charset="-122"/>
              </a:rPr>
              <a:t>     在网络中，我们在两种情况下使用术语带宽。</a:t>
            </a:r>
          </a:p>
          <a:p>
            <a:pPr>
              <a:buFont typeface="Arial" panose="020B0604020202020204" pitchFamily="34" charset="0"/>
              <a:buNone/>
            </a:pPr>
            <a:r>
              <a:rPr lang="zh-CN" altLang="en-US" i="0" baseline="0">
                <a:solidFill>
                  <a:schemeClr val="folHlink"/>
                </a:solidFill>
                <a:latin typeface="Arial" panose="020B0604020202020204" pitchFamily="34" charset="0"/>
                <a:ea typeface="宋体" panose="02010600030101010101" pitchFamily="2" charset="-122"/>
              </a:rPr>
              <a:t>❏</a:t>
            </a:r>
            <a:r>
              <a:rPr lang="zh-CN" altLang="en-US" i="0" baseline="0">
                <a:latin typeface="Arial" panose="020B0604020202020204" pitchFamily="34" charset="0"/>
                <a:ea typeface="宋体" panose="02010600030101010101" pitchFamily="2" charset="-122"/>
              </a:rPr>
              <a:t> 第一种，以赫兹衡量的带宽指复合信号包含的频率范围或者通道能通过的频率范围。</a:t>
            </a:r>
          </a:p>
          <a:p>
            <a:pPr>
              <a:buFont typeface="Arial" panose="020B0604020202020204" pitchFamily="34" charset="0"/>
              <a:buNone/>
            </a:pPr>
            <a:r>
              <a:rPr lang="zh-CN" altLang="en-US" i="0" baseline="0">
                <a:solidFill>
                  <a:schemeClr val="folHlink"/>
                </a:solidFill>
                <a:latin typeface="Arial" panose="020B0604020202020204" pitchFamily="34" charset="0"/>
                <a:ea typeface="宋体" panose="02010600030101010101" pitchFamily="2" charset="-122"/>
              </a:rPr>
              <a:t>❏</a:t>
            </a:r>
            <a:r>
              <a:rPr lang="zh-CN" altLang="en-US" i="0" baseline="0">
                <a:latin typeface="Arial" panose="020B0604020202020204" pitchFamily="34" charset="0"/>
                <a:ea typeface="宋体" panose="02010600030101010101" pitchFamily="2" charset="-122"/>
              </a:rPr>
              <a:t> 第二种，以每秒比特数衡量的带宽指通道或链路中位传输的速率。</a:t>
            </a:r>
            <a:endParaRPr lang="en-US" altLang="zh-CN" i="0" baseline="0">
              <a:latin typeface="Arial" panose="020B0604020202020204" pitchFamily="34" charset="0"/>
              <a:ea typeface="宋体" panose="02010600030101010101" pitchFamily="2" charset="-122"/>
            </a:endParaRPr>
          </a:p>
          <a:p>
            <a:pPr>
              <a:buFont typeface="Arial" panose="020B0604020202020204" pitchFamily="34" charset="0"/>
              <a:buNone/>
            </a:pPr>
            <a:r>
              <a:rPr lang="zh-CN" altLang="en-US" i="0" baseline="0">
                <a:latin typeface="Arial" panose="020B0604020202020204" pitchFamily="34" charset="0"/>
                <a:ea typeface="宋体" panose="02010600030101010101" pitchFamily="2" charset="-122"/>
              </a:rPr>
              <a:t>关系：基本上，以赫兹衡量的带宽的增长意味着以每秒比特数衡量的带宽的增长，还要取决于是否基带传输或者调制传输等。</a:t>
            </a:r>
            <a:endParaRPr lang="en-US" altLang="zh-CN" i="0" baseline="0">
              <a:latin typeface="Arial" panose="020B0604020202020204" pitchFamily="34" charset="0"/>
              <a:ea typeface="宋体" panose="02010600030101010101" pitchFamily="2" charset="-122"/>
            </a:endParaRPr>
          </a:p>
          <a:p>
            <a:pPr algn="ctr">
              <a:buFont typeface="Arial" panose="020B0604020202020204" pitchFamily="34" charset="0"/>
              <a:buNone/>
            </a:pPr>
            <a:endParaRPr lang="zh-CN" altLang="en-US" i="0" baseline="0">
              <a:latin typeface="Arial" panose="020B0604020202020204" pitchFamily="34" charset="0"/>
              <a:ea typeface="宋体" panose="02010600030101010101" pitchFamily="2" charset="-122"/>
            </a:endParaRPr>
          </a:p>
        </p:txBody>
      </p:sp>
      <p:grpSp>
        <p:nvGrpSpPr>
          <p:cNvPr id="117773" name="Group 12">
            <a:extLst>
              <a:ext uri="{FF2B5EF4-FFF2-40B4-BE49-F238E27FC236}">
                <a16:creationId xmlns:a16="http://schemas.microsoft.com/office/drawing/2014/main" id="{A3A51624-E865-6CFF-2727-F03E605A71A4}"/>
              </a:ext>
            </a:extLst>
          </p:cNvPr>
          <p:cNvGrpSpPr>
            <a:grpSpLocks/>
          </p:cNvGrpSpPr>
          <p:nvPr/>
        </p:nvGrpSpPr>
        <p:grpSpPr bwMode="auto">
          <a:xfrm>
            <a:off x="457200" y="1033463"/>
            <a:ext cx="1143000" cy="566737"/>
            <a:chOff x="0" y="0"/>
            <a:chExt cx="720" cy="357"/>
          </a:xfrm>
        </p:grpSpPr>
        <p:pic>
          <p:nvPicPr>
            <p:cNvPr id="117774" name="Picture 13">
              <a:extLst>
                <a:ext uri="{FF2B5EF4-FFF2-40B4-BE49-F238E27FC236}">
                  <a16:creationId xmlns:a16="http://schemas.microsoft.com/office/drawing/2014/main" id="{DF525AAA-77AB-0F76-9FF6-B506C0FAC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75" name="Text Box 14">
              <a:extLst>
                <a:ext uri="{FF2B5EF4-FFF2-40B4-BE49-F238E27FC236}">
                  <a16:creationId xmlns:a16="http://schemas.microsoft.com/office/drawing/2014/main" id="{FABCF711-391C-D4D5-5FF1-81B68489F9F3}"/>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灯片编号占位符 1">
            <a:extLst>
              <a:ext uri="{FF2B5EF4-FFF2-40B4-BE49-F238E27FC236}">
                <a16:creationId xmlns:a16="http://schemas.microsoft.com/office/drawing/2014/main" id="{8F9043CE-8433-7574-5103-1FDC99143DB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4386D1DA-D1BD-4142-B592-AD47AC21E26E}" type="slidenum">
              <a:rPr lang="en-US" altLang="zh-CN" sz="2000" i="0" baseline="0" smtClean="0">
                <a:latin typeface="Arial" panose="020B0604020202020204" pitchFamily="34" charset="0"/>
              </a:rPr>
              <a:pPr/>
              <a:t>113</a:t>
            </a:fld>
            <a:endParaRPr lang="en-US" altLang="zh-CN" sz="2000" i="0" baseline="0">
              <a:latin typeface="Arial" panose="020B0604020202020204" pitchFamily="34" charset="0"/>
            </a:endParaRPr>
          </a:p>
        </p:txBody>
      </p:sp>
      <p:sp>
        <p:nvSpPr>
          <p:cNvPr id="118787" name="Rectangle 2">
            <a:extLst>
              <a:ext uri="{FF2B5EF4-FFF2-40B4-BE49-F238E27FC236}">
                <a16:creationId xmlns:a16="http://schemas.microsoft.com/office/drawing/2014/main" id="{DAB989C1-1565-3221-78FA-7BF00F7976AC}"/>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8788" name="Rectangle 3">
            <a:extLst>
              <a:ext uri="{FF2B5EF4-FFF2-40B4-BE49-F238E27FC236}">
                <a16:creationId xmlns:a16="http://schemas.microsoft.com/office/drawing/2014/main" id="{5FADB352-D1EE-7859-2DCA-A7C9F096B1F5}"/>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18789" name="Group 4">
            <a:extLst>
              <a:ext uri="{FF2B5EF4-FFF2-40B4-BE49-F238E27FC236}">
                <a16:creationId xmlns:a16="http://schemas.microsoft.com/office/drawing/2014/main" id="{012CEB03-5AA9-CE92-7875-BFA7F6AB2248}"/>
              </a:ext>
            </a:extLst>
          </p:cNvPr>
          <p:cNvGrpSpPr>
            <a:grpSpLocks/>
          </p:cNvGrpSpPr>
          <p:nvPr/>
        </p:nvGrpSpPr>
        <p:grpSpPr bwMode="auto">
          <a:xfrm>
            <a:off x="490538" y="773113"/>
            <a:ext cx="738187" cy="474662"/>
            <a:chOff x="0" y="0"/>
            <a:chExt cx="465" cy="299"/>
          </a:xfrm>
        </p:grpSpPr>
        <p:sp>
          <p:nvSpPr>
            <p:cNvPr id="118796" name="Rectangle 5">
              <a:extLst>
                <a:ext uri="{FF2B5EF4-FFF2-40B4-BE49-F238E27FC236}">
                  <a16:creationId xmlns:a16="http://schemas.microsoft.com/office/drawing/2014/main" id="{497E4D52-EB1D-C94A-ED4C-CB3E1EE69FEF}"/>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8797" name="Rectangle 6">
              <a:extLst>
                <a:ext uri="{FF2B5EF4-FFF2-40B4-BE49-F238E27FC236}">
                  <a16:creationId xmlns:a16="http://schemas.microsoft.com/office/drawing/2014/main" id="{A33025EE-CA28-80E7-F9A3-67D193278A8E}"/>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18790" name="Rectangle 7">
            <a:extLst>
              <a:ext uri="{FF2B5EF4-FFF2-40B4-BE49-F238E27FC236}">
                <a16:creationId xmlns:a16="http://schemas.microsoft.com/office/drawing/2014/main" id="{92F1CAE6-2043-DEF6-DE83-61F2B0B19D05}"/>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8791" name="Rectangle 8">
            <a:extLst>
              <a:ext uri="{FF2B5EF4-FFF2-40B4-BE49-F238E27FC236}">
                <a16:creationId xmlns:a16="http://schemas.microsoft.com/office/drawing/2014/main" id="{71F42ED3-6035-258B-A25D-AFD4E52BEB6C}"/>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8792" name="Rectangle 9">
            <a:extLst>
              <a:ext uri="{FF2B5EF4-FFF2-40B4-BE49-F238E27FC236}">
                <a16:creationId xmlns:a16="http://schemas.microsoft.com/office/drawing/2014/main" id="{6FF5FA6C-02AD-6DB4-27A6-7479FE116DA7}"/>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8793" name="Rectangle 10">
            <a:extLst>
              <a:ext uri="{FF2B5EF4-FFF2-40B4-BE49-F238E27FC236}">
                <a16:creationId xmlns:a16="http://schemas.microsoft.com/office/drawing/2014/main" id="{CC7C313E-FB47-E89B-AF62-CFEED791A6CB}"/>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18794" name="Rectangle 11">
            <a:extLst>
              <a:ext uri="{FF2B5EF4-FFF2-40B4-BE49-F238E27FC236}">
                <a16:creationId xmlns:a16="http://schemas.microsoft.com/office/drawing/2014/main" id="{79BAF6DD-529A-6DC1-6015-186B83BB3A74}"/>
              </a:ext>
            </a:extLst>
          </p:cNvPr>
          <p:cNvSpPr>
            <a:spLocks noChangeArrowheads="1"/>
          </p:cNvSpPr>
          <p:nvPr/>
        </p:nvSpPr>
        <p:spPr bwMode="auto">
          <a:xfrm>
            <a:off x="228600" y="14478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用于语音或数据的用户线带宽是4 kHz。使用复杂的调制解调器把数字信号转换成模拟信号，这种线路用于数据传输的带宽可以达到56,000bps。</a:t>
            </a:r>
          </a:p>
        </p:txBody>
      </p:sp>
      <p:sp>
        <p:nvSpPr>
          <p:cNvPr id="118795" name="Text Box 12">
            <a:extLst>
              <a:ext uri="{FF2B5EF4-FFF2-40B4-BE49-F238E27FC236}">
                <a16:creationId xmlns:a16="http://schemas.microsoft.com/office/drawing/2014/main" id="{D73F8386-883E-EE21-AFA1-35D129D0F88F}"/>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3.42</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1">
            <a:extLst>
              <a:ext uri="{FF2B5EF4-FFF2-40B4-BE49-F238E27FC236}">
                <a16:creationId xmlns:a16="http://schemas.microsoft.com/office/drawing/2014/main" id="{FAC85B97-DD6F-8A89-FF2F-EA9FEDBE655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B83209C6-1500-4368-808F-F6B287C76FA9}" type="slidenum">
              <a:rPr lang="en-US" altLang="zh-CN" sz="2000" i="0" baseline="0" smtClean="0">
                <a:latin typeface="Arial" panose="020B0604020202020204" pitchFamily="34" charset="0"/>
              </a:rPr>
              <a:pPr/>
              <a:t>114</a:t>
            </a:fld>
            <a:endParaRPr lang="en-US" altLang="zh-CN" sz="2000" i="0" baseline="0">
              <a:latin typeface="Arial" panose="020B0604020202020204" pitchFamily="34" charset="0"/>
            </a:endParaRPr>
          </a:p>
        </p:txBody>
      </p:sp>
      <p:sp>
        <p:nvSpPr>
          <p:cNvPr id="119811" name="Rectangle 2">
            <a:extLst>
              <a:ext uri="{FF2B5EF4-FFF2-40B4-BE49-F238E27FC236}">
                <a16:creationId xmlns:a16="http://schemas.microsoft.com/office/drawing/2014/main" id="{1DAC0A3B-9430-5357-413F-B4C4CAC5A1C0}"/>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9812" name="Rectangle 3">
            <a:extLst>
              <a:ext uri="{FF2B5EF4-FFF2-40B4-BE49-F238E27FC236}">
                <a16:creationId xmlns:a16="http://schemas.microsoft.com/office/drawing/2014/main" id="{9189F01E-B5A2-F48D-D6BA-FABDC50D623C}"/>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19813" name="Group 4">
            <a:extLst>
              <a:ext uri="{FF2B5EF4-FFF2-40B4-BE49-F238E27FC236}">
                <a16:creationId xmlns:a16="http://schemas.microsoft.com/office/drawing/2014/main" id="{3AA35150-4471-AF7C-C6F1-60CC438B4C56}"/>
              </a:ext>
            </a:extLst>
          </p:cNvPr>
          <p:cNvGrpSpPr>
            <a:grpSpLocks/>
          </p:cNvGrpSpPr>
          <p:nvPr/>
        </p:nvGrpSpPr>
        <p:grpSpPr bwMode="auto">
          <a:xfrm>
            <a:off x="490538" y="773113"/>
            <a:ext cx="738187" cy="474662"/>
            <a:chOff x="0" y="0"/>
            <a:chExt cx="465" cy="299"/>
          </a:xfrm>
        </p:grpSpPr>
        <p:sp>
          <p:nvSpPr>
            <p:cNvPr id="119820" name="Rectangle 5">
              <a:extLst>
                <a:ext uri="{FF2B5EF4-FFF2-40B4-BE49-F238E27FC236}">
                  <a16:creationId xmlns:a16="http://schemas.microsoft.com/office/drawing/2014/main" id="{98091C0A-4DF3-8115-EED6-7FC318F7AF96}"/>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9821" name="Rectangle 6">
              <a:extLst>
                <a:ext uri="{FF2B5EF4-FFF2-40B4-BE49-F238E27FC236}">
                  <a16:creationId xmlns:a16="http://schemas.microsoft.com/office/drawing/2014/main" id="{9E322460-D435-B6AC-E553-DA969749F641}"/>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19814" name="Rectangle 7">
            <a:extLst>
              <a:ext uri="{FF2B5EF4-FFF2-40B4-BE49-F238E27FC236}">
                <a16:creationId xmlns:a16="http://schemas.microsoft.com/office/drawing/2014/main" id="{A703AF66-1C00-148E-4026-D3A1E24DC43B}"/>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9815" name="Rectangle 8">
            <a:extLst>
              <a:ext uri="{FF2B5EF4-FFF2-40B4-BE49-F238E27FC236}">
                <a16:creationId xmlns:a16="http://schemas.microsoft.com/office/drawing/2014/main" id="{8B1A30C1-0654-CD07-8873-93DE0E8DCF09}"/>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9816" name="Rectangle 9">
            <a:extLst>
              <a:ext uri="{FF2B5EF4-FFF2-40B4-BE49-F238E27FC236}">
                <a16:creationId xmlns:a16="http://schemas.microsoft.com/office/drawing/2014/main" id="{B844F414-2268-7D7B-E81A-6717379A851C}"/>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19817" name="Rectangle 10">
            <a:extLst>
              <a:ext uri="{FF2B5EF4-FFF2-40B4-BE49-F238E27FC236}">
                <a16:creationId xmlns:a16="http://schemas.microsoft.com/office/drawing/2014/main" id="{3BCED67C-04F4-0F87-79BE-ABD885E4D8EE}"/>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19818" name="Rectangle 11">
            <a:extLst>
              <a:ext uri="{FF2B5EF4-FFF2-40B4-BE49-F238E27FC236}">
                <a16:creationId xmlns:a16="http://schemas.microsoft.com/office/drawing/2014/main" id="{AEE27556-4084-2D20-3244-0BB56A80436B}"/>
              </a:ext>
            </a:extLst>
          </p:cNvPr>
          <p:cNvSpPr>
            <a:spLocks noChangeArrowheads="1"/>
          </p:cNvSpPr>
          <p:nvPr/>
        </p:nvSpPr>
        <p:spPr bwMode="auto">
          <a:xfrm>
            <a:off x="838200" y="1371600"/>
            <a:ext cx="7467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如果电话公司提高线路的质量，把带宽增加到8 kHz,通过例3.42提到的相同技术，可以发送 112,000 bps。</a:t>
            </a:r>
          </a:p>
        </p:txBody>
      </p:sp>
      <p:sp>
        <p:nvSpPr>
          <p:cNvPr id="119819" name="Text Box 12">
            <a:extLst>
              <a:ext uri="{FF2B5EF4-FFF2-40B4-BE49-F238E27FC236}">
                <a16:creationId xmlns:a16="http://schemas.microsoft.com/office/drawing/2014/main" id="{3E6EB012-23C0-E07E-5082-6C15CDC8D643}"/>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3.43</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灯片编号占位符 1">
            <a:extLst>
              <a:ext uri="{FF2B5EF4-FFF2-40B4-BE49-F238E27FC236}">
                <a16:creationId xmlns:a16="http://schemas.microsoft.com/office/drawing/2014/main" id="{8632CE14-59A0-3AA1-5877-F3CBC2362C8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780A1561-D88A-43C3-BC1A-F95A42E6A99D}" type="slidenum">
              <a:rPr lang="en-US" altLang="zh-CN" sz="2000" i="0" baseline="0" smtClean="0">
                <a:latin typeface="Arial" panose="020B0604020202020204" pitchFamily="34" charset="0"/>
              </a:rPr>
              <a:pPr/>
              <a:t>115</a:t>
            </a:fld>
            <a:endParaRPr lang="en-US" altLang="zh-CN" sz="2000" i="0" baseline="0">
              <a:latin typeface="Arial" panose="020B0604020202020204" pitchFamily="34" charset="0"/>
            </a:endParaRPr>
          </a:p>
        </p:txBody>
      </p:sp>
      <p:sp>
        <p:nvSpPr>
          <p:cNvPr id="120835" name="Rectangle 2">
            <a:extLst>
              <a:ext uri="{FF2B5EF4-FFF2-40B4-BE49-F238E27FC236}">
                <a16:creationId xmlns:a16="http://schemas.microsoft.com/office/drawing/2014/main" id="{B90A23A3-7CEC-B44E-2DE3-CE4830357117}"/>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0836" name="Rectangle 3">
            <a:extLst>
              <a:ext uri="{FF2B5EF4-FFF2-40B4-BE49-F238E27FC236}">
                <a16:creationId xmlns:a16="http://schemas.microsoft.com/office/drawing/2014/main" id="{B2A00FD1-21CC-3F16-E538-3433526089F6}"/>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0837" name="Rectangle 4">
            <a:extLst>
              <a:ext uri="{FF2B5EF4-FFF2-40B4-BE49-F238E27FC236}">
                <a16:creationId xmlns:a16="http://schemas.microsoft.com/office/drawing/2014/main" id="{5C10665D-E499-2AC8-BB2F-8D76F6D7ACD2}"/>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0838" name="Rectangle 5">
            <a:extLst>
              <a:ext uri="{FF2B5EF4-FFF2-40B4-BE49-F238E27FC236}">
                <a16:creationId xmlns:a16="http://schemas.microsoft.com/office/drawing/2014/main" id="{2EA0F77A-6EFC-31D8-5E80-567BFF9E86DD}"/>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0839" name="Rectangle 6">
            <a:extLst>
              <a:ext uri="{FF2B5EF4-FFF2-40B4-BE49-F238E27FC236}">
                <a16:creationId xmlns:a16="http://schemas.microsoft.com/office/drawing/2014/main" id="{1EE3B553-4F09-717F-9A04-D24AE5714B5C}"/>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0840" name="Rectangle 7">
            <a:extLst>
              <a:ext uri="{FF2B5EF4-FFF2-40B4-BE49-F238E27FC236}">
                <a16:creationId xmlns:a16="http://schemas.microsoft.com/office/drawing/2014/main" id="{6EE09571-6FBA-B23A-C188-8EBD8932407C}"/>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0841" name="Rectangle 8">
            <a:extLst>
              <a:ext uri="{FF2B5EF4-FFF2-40B4-BE49-F238E27FC236}">
                <a16:creationId xmlns:a16="http://schemas.microsoft.com/office/drawing/2014/main" id="{CC4265C1-25E6-CD92-DC97-F540DE948290}"/>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0842" name="Line 9">
            <a:extLst>
              <a:ext uri="{FF2B5EF4-FFF2-40B4-BE49-F238E27FC236}">
                <a16:creationId xmlns:a16="http://schemas.microsoft.com/office/drawing/2014/main" id="{108585ED-40B0-447C-78F8-A12E01CCBA3C}"/>
              </a:ext>
            </a:extLst>
          </p:cNvPr>
          <p:cNvSpPr>
            <a:spLocks noChangeShapeType="1"/>
          </p:cNvSpPr>
          <p:nvPr/>
        </p:nvSpPr>
        <p:spPr bwMode="auto">
          <a:xfrm>
            <a:off x="457200" y="2514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843" name="Line 10">
            <a:extLst>
              <a:ext uri="{FF2B5EF4-FFF2-40B4-BE49-F238E27FC236}">
                <a16:creationId xmlns:a16="http://schemas.microsoft.com/office/drawing/2014/main" id="{52FEC1DA-9A04-9DD1-CDC1-34DAF434983F}"/>
              </a:ext>
            </a:extLst>
          </p:cNvPr>
          <p:cNvSpPr>
            <a:spLocks noChangeShapeType="1"/>
          </p:cNvSpPr>
          <p:nvPr/>
        </p:nvSpPr>
        <p:spPr bwMode="auto">
          <a:xfrm>
            <a:off x="457200" y="3733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844" name="Rectangle 11">
            <a:extLst>
              <a:ext uri="{FF2B5EF4-FFF2-40B4-BE49-F238E27FC236}">
                <a16:creationId xmlns:a16="http://schemas.microsoft.com/office/drawing/2014/main" id="{464D0685-36FB-0EDD-6608-4679BB07FD99}"/>
              </a:ext>
            </a:extLst>
          </p:cNvPr>
          <p:cNvSpPr>
            <a:spLocks noChangeArrowheads="1"/>
          </p:cNvSpPr>
          <p:nvPr/>
        </p:nvSpPr>
        <p:spPr bwMode="auto">
          <a:xfrm>
            <a:off x="495300" y="2606675"/>
            <a:ext cx="8077200" cy="1077913"/>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      吞吐量：带宽是链路的潜在衡量值，而吞吐量是发送速度快慢的实际衡量值。</a:t>
            </a:r>
          </a:p>
        </p:txBody>
      </p:sp>
      <p:grpSp>
        <p:nvGrpSpPr>
          <p:cNvPr id="120845" name="Group 12">
            <a:extLst>
              <a:ext uri="{FF2B5EF4-FFF2-40B4-BE49-F238E27FC236}">
                <a16:creationId xmlns:a16="http://schemas.microsoft.com/office/drawing/2014/main" id="{5BC25D94-1772-4BB4-10BD-5DCD74364FAB}"/>
              </a:ext>
            </a:extLst>
          </p:cNvPr>
          <p:cNvGrpSpPr>
            <a:grpSpLocks/>
          </p:cNvGrpSpPr>
          <p:nvPr/>
        </p:nvGrpSpPr>
        <p:grpSpPr bwMode="auto">
          <a:xfrm>
            <a:off x="457200" y="1871663"/>
            <a:ext cx="1143000" cy="566737"/>
            <a:chOff x="0" y="0"/>
            <a:chExt cx="720" cy="357"/>
          </a:xfrm>
        </p:grpSpPr>
        <p:pic>
          <p:nvPicPr>
            <p:cNvPr id="120846" name="Picture 13">
              <a:extLst>
                <a:ext uri="{FF2B5EF4-FFF2-40B4-BE49-F238E27FC236}">
                  <a16:creationId xmlns:a16="http://schemas.microsoft.com/office/drawing/2014/main" id="{08CC54EF-430E-A04F-2FDD-310B18E282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47" name="Text Box 14">
              <a:extLst>
                <a:ext uri="{FF2B5EF4-FFF2-40B4-BE49-F238E27FC236}">
                  <a16:creationId xmlns:a16="http://schemas.microsoft.com/office/drawing/2014/main" id="{14D45C19-95D7-3325-9A20-CD5378CD2565}"/>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灯片编号占位符 1">
            <a:extLst>
              <a:ext uri="{FF2B5EF4-FFF2-40B4-BE49-F238E27FC236}">
                <a16:creationId xmlns:a16="http://schemas.microsoft.com/office/drawing/2014/main" id="{105D47EA-91E9-580C-36EC-00F33083864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898DF3EF-1580-4441-86C0-73B84D115CD3}" type="slidenum">
              <a:rPr lang="en-US" altLang="zh-CN" sz="2000" i="0" baseline="0" smtClean="0">
                <a:latin typeface="Arial" panose="020B0604020202020204" pitchFamily="34" charset="0"/>
              </a:rPr>
              <a:pPr/>
              <a:t>116</a:t>
            </a:fld>
            <a:endParaRPr lang="en-US" altLang="zh-CN" sz="2000" i="0" baseline="0">
              <a:latin typeface="Arial" panose="020B0604020202020204" pitchFamily="34" charset="0"/>
            </a:endParaRPr>
          </a:p>
        </p:txBody>
      </p:sp>
      <p:sp>
        <p:nvSpPr>
          <p:cNvPr id="121859" name="Rectangle 2">
            <a:extLst>
              <a:ext uri="{FF2B5EF4-FFF2-40B4-BE49-F238E27FC236}">
                <a16:creationId xmlns:a16="http://schemas.microsoft.com/office/drawing/2014/main" id="{578A3AF3-6C12-81C3-C2E5-BBB09BA61F22}"/>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1860" name="Rectangle 3">
            <a:extLst>
              <a:ext uri="{FF2B5EF4-FFF2-40B4-BE49-F238E27FC236}">
                <a16:creationId xmlns:a16="http://schemas.microsoft.com/office/drawing/2014/main" id="{DE1F2FA8-780E-4839-7D28-CA07A4C829B7}"/>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21861" name="Group 4">
            <a:extLst>
              <a:ext uri="{FF2B5EF4-FFF2-40B4-BE49-F238E27FC236}">
                <a16:creationId xmlns:a16="http://schemas.microsoft.com/office/drawing/2014/main" id="{4C0B102A-95FB-A9E0-93E6-9EA5D379BC04}"/>
              </a:ext>
            </a:extLst>
          </p:cNvPr>
          <p:cNvGrpSpPr>
            <a:grpSpLocks/>
          </p:cNvGrpSpPr>
          <p:nvPr/>
        </p:nvGrpSpPr>
        <p:grpSpPr bwMode="auto">
          <a:xfrm>
            <a:off x="490538" y="773113"/>
            <a:ext cx="738187" cy="474662"/>
            <a:chOff x="0" y="0"/>
            <a:chExt cx="465" cy="299"/>
          </a:xfrm>
        </p:grpSpPr>
        <p:sp>
          <p:nvSpPr>
            <p:cNvPr id="121870" name="Rectangle 5">
              <a:extLst>
                <a:ext uri="{FF2B5EF4-FFF2-40B4-BE49-F238E27FC236}">
                  <a16:creationId xmlns:a16="http://schemas.microsoft.com/office/drawing/2014/main" id="{9958B328-7D30-F947-112C-53A7EBDFC2CA}"/>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1871" name="Rectangle 6">
              <a:extLst>
                <a:ext uri="{FF2B5EF4-FFF2-40B4-BE49-F238E27FC236}">
                  <a16:creationId xmlns:a16="http://schemas.microsoft.com/office/drawing/2014/main" id="{CAC7CC5C-C6F8-8F30-DBD3-AB1153D89EA2}"/>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21862" name="Rectangle 7">
            <a:extLst>
              <a:ext uri="{FF2B5EF4-FFF2-40B4-BE49-F238E27FC236}">
                <a16:creationId xmlns:a16="http://schemas.microsoft.com/office/drawing/2014/main" id="{C7131EA3-62E4-36A0-B6B2-E56B00E4965B}"/>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1863" name="Rectangle 8">
            <a:extLst>
              <a:ext uri="{FF2B5EF4-FFF2-40B4-BE49-F238E27FC236}">
                <a16:creationId xmlns:a16="http://schemas.microsoft.com/office/drawing/2014/main" id="{83728CB0-50B5-B535-0E58-BE5760D2A7AB}"/>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1864" name="Rectangle 9">
            <a:extLst>
              <a:ext uri="{FF2B5EF4-FFF2-40B4-BE49-F238E27FC236}">
                <a16:creationId xmlns:a16="http://schemas.microsoft.com/office/drawing/2014/main" id="{CA2F5B6B-9514-C97B-A2E5-B942919FA7DE}"/>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1865" name="Rectangle 10">
            <a:extLst>
              <a:ext uri="{FF2B5EF4-FFF2-40B4-BE49-F238E27FC236}">
                <a16:creationId xmlns:a16="http://schemas.microsoft.com/office/drawing/2014/main" id="{AD3A8040-DF20-B2FE-6DD9-17D540CE107F}"/>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21866" name="Rectangle 11">
            <a:extLst>
              <a:ext uri="{FF2B5EF4-FFF2-40B4-BE49-F238E27FC236}">
                <a16:creationId xmlns:a16="http://schemas.microsoft.com/office/drawing/2014/main" id="{7A213E20-56B2-7087-D62D-825E4D862A9E}"/>
              </a:ext>
            </a:extLst>
          </p:cNvPr>
          <p:cNvSpPr>
            <a:spLocks noChangeArrowheads="1"/>
          </p:cNvSpPr>
          <p:nvPr/>
        </p:nvSpPr>
        <p:spPr bwMode="auto">
          <a:xfrm>
            <a:off x="228600" y="1295400"/>
            <a:ext cx="853440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带宽为10Mbps的网络每分钟只能平均传输12,000个帧，每个帧平均携带10,000个位。那么这个网络的吞吐量是多少？ </a:t>
            </a: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我们可以计算吞吐量为：</a:t>
            </a:r>
          </a:p>
        </p:txBody>
      </p:sp>
      <p:sp>
        <p:nvSpPr>
          <p:cNvPr id="121867" name="Text Box 12">
            <a:extLst>
              <a:ext uri="{FF2B5EF4-FFF2-40B4-BE49-F238E27FC236}">
                <a16:creationId xmlns:a16="http://schemas.microsoft.com/office/drawing/2014/main" id="{F4BEF3F6-F447-65C0-34D0-4E196F38EF88}"/>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3.44</a:t>
            </a:r>
          </a:p>
        </p:txBody>
      </p:sp>
      <p:pic>
        <p:nvPicPr>
          <p:cNvPr id="121868" name="Picture 13">
            <a:extLst>
              <a:ext uri="{FF2B5EF4-FFF2-40B4-BE49-F238E27FC236}">
                <a16:creationId xmlns:a16="http://schemas.microsoft.com/office/drawing/2014/main" id="{6215F94C-8519-6DDE-3FF9-421774D8C4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038600"/>
            <a:ext cx="4778375" cy="622300"/>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121869" name="Rectangle 14">
            <a:extLst>
              <a:ext uri="{FF2B5EF4-FFF2-40B4-BE49-F238E27FC236}">
                <a16:creationId xmlns:a16="http://schemas.microsoft.com/office/drawing/2014/main" id="{775DB886-500D-E8F6-286D-0D5ACDB809CB}"/>
              </a:ext>
            </a:extLst>
          </p:cNvPr>
          <p:cNvSpPr>
            <a:spLocks noChangeArrowheads="1"/>
          </p:cNvSpPr>
          <p:nvPr/>
        </p:nvSpPr>
        <p:spPr bwMode="auto">
          <a:xfrm>
            <a:off x="304800" y="5334000"/>
            <a:ext cx="8458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这个例子中的吞吐量几乎是带宽的五分之一。</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灯片编号占位符 1">
            <a:extLst>
              <a:ext uri="{FF2B5EF4-FFF2-40B4-BE49-F238E27FC236}">
                <a16:creationId xmlns:a16="http://schemas.microsoft.com/office/drawing/2014/main" id="{23FBBD44-2CEA-852A-AA59-52B132C43D0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5E3C3DA3-A145-4524-B07C-D41DCF3B7A41}" type="slidenum">
              <a:rPr lang="en-US" altLang="zh-CN" sz="2000" i="0" baseline="0" smtClean="0">
                <a:latin typeface="Arial" panose="020B0604020202020204" pitchFamily="34" charset="0"/>
              </a:rPr>
              <a:pPr/>
              <a:t>117</a:t>
            </a:fld>
            <a:endParaRPr lang="en-US" altLang="zh-CN" sz="2000" i="0" baseline="0">
              <a:latin typeface="Arial" panose="020B0604020202020204" pitchFamily="34" charset="0"/>
            </a:endParaRPr>
          </a:p>
        </p:txBody>
      </p:sp>
      <p:sp>
        <p:nvSpPr>
          <p:cNvPr id="122883" name="Rectangle 2">
            <a:extLst>
              <a:ext uri="{FF2B5EF4-FFF2-40B4-BE49-F238E27FC236}">
                <a16:creationId xmlns:a16="http://schemas.microsoft.com/office/drawing/2014/main" id="{DAE73B7A-D401-FA6C-FA28-6BA5206CEF54}"/>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2884" name="Rectangle 3">
            <a:extLst>
              <a:ext uri="{FF2B5EF4-FFF2-40B4-BE49-F238E27FC236}">
                <a16:creationId xmlns:a16="http://schemas.microsoft.com/office/drawing/2014/main" id="{DEF2CAA6-5978-68EB-DFB3-D6BC28DF04D2}"/>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2885" name="Rectangle 4">
            <a:extLst>
              <a:ext uri="{FF2B5EF4-FFF2-40B4-BE49-F238E27FC236}">
                <a16:creationId xmlns:a16="http://schemas.microsoft.com/office/drawing/2014/main" id="{7C0D1F42-CFA1-5DAE-7D6B-D34C39020D81}"/>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2886" name="Rectangle 5">
            <a:extLst>
              <a:ext uri="{FF2B5EF4-FFF2-40B4-BE49-F238E27FC236}">
                <a16:creationId xmlns:a16="http://schemas.microsoft.com/office/drawing/2014/main" id="{8120E03F-54EF-6D83-564A-06AB4A276D0D}"/>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2887" name="Rectangle 6">
            <a:extLst>
              <a:ext uri="{FF2B5EF4-FFF2-40B4-BE49-F238E27FC236}">
                <a16:creationId xmlns:a16="http://schemas.microsoft.com/office/drawing/2014/main" id="{15AFB734-096C-05C0-7FCE-FF0BA2D162A5}"/>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2888" name="Rectangle 7">
            <a:extLst>
              <a:ext uri="{FF2B5EF4-FFF2-40B4-BE49-F238E27FC236}">
                <a16:creationId xmlns:a16="http://schemas.microsoft.com/office/drawing/2014/main" id="{4B67153C-9D9E-D1A7-0DB0-9988CD0877CA}"/>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2889" name="Rectangle 8">
            <a:extLst>
              <a:ext uri="{FF2B5EF4-FFF2-40B4-BE49-F238E27FC236}">
                <a16:creationId xmlns:a16="http://schemas.microsoft.com/office/drawing/2014/main" id="{5CE28F9F-7BC0-FCA7-3519-88D630092271}"/>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2890" name="Line 9">
            <a:extLst>
              <a:ext uri="{FF2B5EF4-FFF2-40B4-BE49-F238E27FC236}">
                <a16:creationId xmlns:a16="http://schemas.microsoft.com/office/drawing/2014/main" id="{15EE414E-AF95-887E-EA70-18FA6718A3B1}"/>
              </a:ext>
            </a:extLst>
          </p:cNvPr>
          <p:cNvSpPr>
            <a:spLocks noChangeShapeType="1"/>
          </p:cNvSpPr>
          <p:nvPr/>
        </p:nvSpPr>
        <p:spPr bwMode="auto">
          <a:xfrm>
            <a:off x="457200" y="2514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891" name="Line 10">
            <a:extLst>
              <a:ext uri="{FF2B5EF4-FFF2-40B4-BE49-F238E27FC236}">
                <a16:creationId xmlns:a16="http://schemas.microsoft.com/office/drawing/2014/main" id="{E4B59D4E-A71A-DDCC-DCA2-962C30991EF1}"/>
              </a:ext>
            </a:extLst>
          </p:cNvPr>
          <p:cNvSpPr>
            <a:spLocks noChangeShapeType="1"/>
          </p:cNvSpPr>
          <p:nvPr/>
        </p:nvSpPr>
        <p:spPr bwMode="auto">
          <a:xfrm>
            <a:off x="457200" y="5257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892" name="Rectangle 11">
            <a:extLst>
              <a:ext uri="{FF2B5EF4-FFF2-40B4-BE49-F238E27FC236}">
                <a16:creationId xmlns:a16="http://schemas.microsoft.com/office/drawing/2014/main" id="{E1EB0B79-79D1-D92F-E470-7963E068DC4D}"/>
              </a:ext>
            </a:extLst>
          </p:cNvPr>
          <p:cNvSpPr>
            <a:spLocks noChangeArrowheads="1"/>
          </p:cNvSpPr>
          <p:nvPr/>
        </p:nvSpPr>
        <p:spPr bwMode="auto">
          <a:xfrm>
            <a:off x="533400" y="2606675"/>
            <a:ext cx="8077200" cy="255428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延迟：报文第一个</a:t>
            </a:r>
            <a:r>
              <a:rPr lang="en-US" altLang="zh-CN" sz="3200" i="0" baseline="0">
                <a:latin typeface="Arial" panose="020B0604020202020204" pitchFamily="34" charset="0"/>
                <a:ea typeface="宋体" panose="02010600030101010101" pitchFamily="2" charset="-122"/>
              </a:rPr>
              <a:t>bit</a:t>
            </a:r>
            <a:r>
              <a:rPr lang="zh-CN" altLang="en-US" sz="3200" i="0" baseline="0">
                <a:latin typeface="Arial" panose="020B0604020202020204" pitchFamily="34" charset="0"/>
                <a:ea typeface="宋体" panose="02010600030101010101" pitchFamily="2" charset="-122"/>
              </a:rPr>
              <a:t>从源开始发送到整个报文完全到达目的站点所经历的时间。</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包含：传播时间、传输时间、排队时间、处理延迟。</a:t>
            </a:r>
          </a:p>
        </p:txBody>
      </p:sp>
      <p:grpSp>
        <p:nvGrpSpPr>
          <p:cNvPr id="122893" name="Group 12">
            <a:extLst>
              <a:ext uri="{FF2B5EF4-FFF2-40B4-BE49-F238E27FC236}">
                <a16:creationId xmlns:a16="http://schemas.microsoft.com/office/drawing/2014/main" id="{7B384473-2EAB-862F-4FB4-58260CACCB87}"/>
              </a:ext>
            </a:extLst>
          </p:cNvPr>
          <p:cNvGrpSpPr>
            <a:grpSpLocks/>
          </p:cNvGrpSpPr>
          <p:nvPr/>
        </p:nvGrpSpPr>
        <p:grpSpPr bwMode="auto">
          <a:xfrm>
            <a:off x="457200" y="1871663"/>
            <a:ext cx="1143000" cy="566737"/>
            <a:chOff x="0" y="0"/>
            <a:chExt cx="720" cy="357"/>
          </a:xfrm>
        </p:grpSpPr>
        <p:pic>
          <p:nvPicPr>
            <p:cNvPr id="122894" name="Picture 13">
              <a:extLst>
                <a:ext uri="{FF2B5EF4-FFF2-40B4-BE49-F238E27FC236}">
                  <a16:creationId xmlns:a16="http://schemas.microsoft.com/office/drawing/2014/main" id="{7A39AC19-4230-B718-666A-2C47213186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95" name="Text Box 14">
              <a:extLst>
                <a:ext uri="{FF2B5EF4-FFF2-40B4-BE49-F238E27FC236}">
                  <a16:creationId xmlns:a16="http://schemas.microsoft.com/office/drawing/2014/main" id="{45C25C46-9C4D-E437-8542-E89D81621B42}"/>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灯片编号占位符 1">
            <a:extLst>
              <a:ext uri="{FF2B5EF4-FFF2-40B4-BE49-F238E27FC236}">
                <a16:creationId xmlns:a16="http://schemas.microsoft.com/office/drawing/2014/main" id="{04C747F2-DBD4-4820-E398-445A77A79BD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06A6F6D0-063D-444C-B7DE-15C0A189B478}" type="slidenum">
              <a:rPr lang="en-US" altLang="zh-CN" sz="2000" i="0" baseline="0" smtClean="0">
                <a:latin typeface="Arial" panose="020B0604020202020204" pitchFamily="34" charset="0"/>
              </a:rPr>
              <a:pPr/>
              <a:t>118</a:t>
            </a:fld>
            <a:endParaRPr lang="en-US" altLang="zh-CN" sz="2000" i="0" baseline="0">
              <a:latin typeface="Arial" panose="020B0604020202020204" pitchFamily="34" charset="0"/>
            </a:endParaRPr>
          </a:p>
        </p:txBody>
      </p:sp>
      <p:sp>
        <p:nvSpPr>
          <p:cNvPr id="123907" name="Rectangle 2">
            <a:extLst>
              <a:ext uri="{FF2B5EF4-FFF2-40B4-BE49-F238E27FC236}">
                <a16:creationId xmlns:a16="http://schemas.microsoft.com/office/drawing/2014/main" id="{45DBA73F-1603-1D1B-F7E5-0C455F1D14C1}"/>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3908" name="Rectangle 3">
            <a:extLst>
              <a:ext uri="{FF2B5EF4-FFF2-40B4-BE49-F238E27FC236}">
                <a16:creationId xmlns:a16="http://schemas.microsoft.com/office/drawing/2014/main" id="{B73B67AD-6276-A45D-59C2-F7973CBC3207}"/>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23909" name="Group 4">
            <a:extLst>
              <a:ext uri="{FF2B5EF4-FFF2-40B4-BE49-F238E27FC236}">
                <a16:creationId xmlns:a16="http://schemas.microsoft.com/office/drawing/2014/main" id="{DA061BCB-2398-6E84-576F-AA61BE63F635}"/>
              </a:ext>
            </a:extLst>
          </p:cNvPr>
          <p:cNvGrpSpPr>
            <a:grpSpLocks/>
          </p:cNvGrpSpPr>
          <p:nvPr/>
        </p:nvGrpSpPr>
        <p:grpSpPr bwMode="auto">
          <a:xfrm>
            <a:off x="490538" y="773113"/>
            <a:ext cx="738187" cy="474662"/>
            <a:chOff x="0" y="0"/>
            <a:chExt cx="465" cy="299"/>
          </a:xfrm>
        </p:grpSpPr>
        <p:sp>
          <p:nvSpPr>
            <p:cNvPr id="123918" name="Rectangle 5">
              <a:extLst>
                <a:ext uri="{FF2B5EF4-FFF2-40B4-BE49-F238E27FC236}">
                  <a16:creationId xmlns:a16="http://schemas.microsoft.com/office/drawing/2014/main" id="{BEA64890-25C0-7D38-3C5F-6EEFF65BA0D1}"/>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3919" name="Rectangle 6">
              <a:extLst>
                <a:ext uri="{FF2B5EF4-FFF2-40B4-BE49-F238E27FC236}">
                  <a16:creationId xmlns:a16="http://schemas.microsoft.com/office/drawing/2014/main" id="{478C1098-C416-A2E5-EFB6-90EBF0495EFA}"/>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23910" name="Rectangle 7">
            <a:extLst>
              <a:ext uri="{FF2B5EF4-FFF2-40B4-BE49-F238E27FC236}">
                <a16:creationId xmlns:a16="http://schemas.microsoft.com/office/drawing/2014/main" id="{6F62647E-D736-703A-C927-4165ED62E218}"/>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3911" name="Rectangle 8">
            <a:extLst>
              <a:ext uri="{FF2B5EF4-FFF2-40B4-BE49-F238E27FC236}">
                <a16:creationId xmlns:a16="http://schemas.microsoft.com/office/drawing/2014/main" id="{DF760D48-FC36-7EC5-96C6-E0E305D624AF}"/>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3912" name="Rectangle 9">
            <a:extLst>
              <a:ext uri="{FF2B5EF4-FFF2-40B4-BE49-F238E27FC236}">
                <a16:creationId xmlns:a16="http://schemas.microsoft.com/office/drawing/2014/main" id="{97891EDA-906E-BF2A-583B-EEAAA6C2CE3B}"/>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3913" name="Rectangle 10">
            <a:extLst>
              <a:ext uri="{FF2B5EF4-FFF2-40B4-BE49-F238E27FC236}">
                <a16:creationId xmlns:a16="http://schemas.microsoft.com/office/drawing/2014/main" id="{857BD4C0-B6F8-5AB8-2949-6DC8975FEC3A}"/>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23914" name="Rectangle 11">
            <a:extLst>
              <a:ext uri="{FF2B5EF4-FFF2-40B4-BE49-F238E27FC236}">
                <a16:creationId xmlns:a16="http://schemas.microsoft.com/office/drawing/2014/main" id="{F106D68E-86ED-D498-8439-3F0E906905ED}"/>
              </a:ext>
            </a:extLst>
          </p:cNvPr>
          <p:cNvSpPr>
            <a:spLocks noChangeArrowheads="1"/>
          </p:cNvSpPr>
          <p:nvPr/>
        </p:nvSpPr>
        <p:spPr bwMode="auto">
          <a:xfrm>
            <a:off x="228600" y="1295400"/>
            <a:ext cx="8534400"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如果两点之间的距离是12,000 km，传播时间是多少？假定电缆中的传播速度是2.4 × 108 m/s。</a:t>
            </a: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我们可以计算传播时间为：</a:t>
            </a:r>
          </a:p>
        </p:txBody>
      </p:sp>
      <p:sp>
        <p:nvSpPr>
          <p:cNvPr id="123915" name="Text Box 12">
            <a:extLst>
              <a:ext uri="{FF2B5EF4-FFF2-40B4-BE49-F238E27FC236}">
                <a16:creationId xmlns:a16="http://schemas.microsoft.com/office/drawing/2014/main" id="{B07B12E5-A490-6BA2-B1BB-64A29E2D7575}"/>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3.45</a:t>
            </a:r>
          </a:p>
        </p:txBody>
      </p:sp>
      <p:pic>
        <p:nvPicPr>
          <p:cNvPr id="123916" name="Picture 13">
            <a:extLst>
              <a:ext uri="{FF2B5EF4-FFF2-40B4-BE49-F238E27FC236}">
                <a16:creationId xmlns:a16="http://schemas.microsoft.com/office/drawing/2014/main" id="{81EECABC-3DB1-DCD0-8867-C06CEE3A72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581400"/>
            <a:ext cx="4994275" cy="819150"/>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123917" name="Rectangle 14">
            <a:extLst>
              <a:ext uri="{FF2B5EF4-FFF2-40B4-BE49-F238E27FC236}">
                <a16:creationId xmlns:a16="http://schemas.microsoft.com/office/drawing/2014/main" id="{8D263C37-CAA1-E8BE-FD42-461AE75F6906}"/>
              </a:ext>
            </a:extLst>
          </p:cNvPr>
          <p:cNvSpPr>
            <a:spLocks noChangeArrowheads="1"/>
          </p:cNvSpPr>
          <p:nvPr/>
        </p:nvSpPr>
        <p:spPr bwMode="auto">
          <a:xfrm>
            <a:off x="228600" y="5029200"/>
            <a:ext cx="84582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这个例子说明如果源和目标之间有直接电缆，一个位经过大西洋只需要50 ms。</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1">
            <a:extLst>
              <a:ext uri="{FF2B5EF4-FFF2-40B4-BE49-F238E27FC236}">
                <a16:creationId xmlns:a16="http://schemas.microsoft.com/office/drawing/2014/main" id="{B7D5CC89-EB9C-5425-D2A1-01C2BB5ADE2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14666F64-92E3-4BC3-A107-C296D8C562DC}" type="slidenum">
              <a:rPr lang="en-US" altLang="zh-CN" sz="2000" i="0" baseline="0" smtClean="0">
                <a:latin typeface="Arial" panose="020B0604020202020204" pitchFamily="34" charset="0"/>
              </a:rPr>
              <a:pPr/>
              <a:t>119</a:t>
            </a:fld>
            <a:endParaRPr lang="en-US" altLang="zh-CN" sz="2000" i="0" baseline="0">
              <a:latin typeface="Arial" panose="020B0604020202020204" pitchFamily="34" charset="0"/>
            </a:endParaRPr>
          </a:p>
        </p:txBody>
      </p:sp>
      <p:sp>
        <p:nvSpPr>
          <p:cNvPr id="124931" name="Rectangle 2">
            <a:extLst>
              <a:ext uri="{FF2B5EF4-FFF2-40B4-BE49-F238E27FC236}">
                <a16:creationId xmlns:a16="http://schemas.microsoft.com/office/drawing/2014/main" id="{4E1F78A4-ECD2-2159-94D9-81AA3657C275}"/>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4932" name="Rectangle 3">
            <a:extLst>
              <a:ext uri="{FF2B5EF4-FFF2-40B4-BE49-F238E27FC236}">
                <a16:creationId xmlns:a16="http://schemas.microsoft.com/office/drawing/2014/main" id="{D001332C-E7F8-6B8A-B2DD-FA1F53238CB5}"/>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24933" name="Group 4">
            <a:extLst>
              <a:ext uri="{FF2B5EF4-FFF2-40B4-BE49-F238E27FC236}">
                <a16:creationId xmlns:a16="http://schemas.microsoft.com/office/drawing/2014/main" id="{E0B39D59-8B2F-BD98-3761-014DFA9026EF}"/>
              </a:ext>
            </a:extLst>
          </p:cNvPr>
          <p:cNvGrpSpPr>
            <a:grpSpLocks/>
          </p:cNvGrpSpPr>
          <p:nvPr/>
        </p:nvGrpSpPr>
        <p:grpSpPr bwMode="auto">
          <a:xfrm>
            <a:off x="490538" y="773113"/>
            <a:ext cx="738187" cy="474662"/>
            <a:chOff x="0" y="0"/>
            <a:chExt cx="465" cy="299"/>
          </a:xfrm>
        </p:grpSpPr>
        <p:sp>
          <p:nvSpPr>
            <p:cNvPr id="124940" name="Rectangle 5">
              <a:extLst>
                <a:ext uri="{FF2B5EF4-FFF2-40B4-BE49-F238E27FC236}">
                  <a16:creationId xmlns:a16="http://schemas.microsoft.com/office/drawing/2014/main" id="{C3C645D5-589A-BE9F-84A2-60B6808285B3}"/>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4941" name="Rectangle 6">
              <a:extLst>
                <a:ext uri="{FF2B5EF4-FFF2-40B4-BE49-F238E27FC236}">
                  <a16:creationId xmlns:a16="http://schemas.microsoft.com/office/drawing/2014/main" id="{2C4BA117-05A0-9FD7-4934-AD755AD666AF}"/>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24934" name="Rectangle 7">
            <a:extLst>
              <a:ext uri="{FF2B5EF4-FFF2-40B4-BE49-F238E27FC236}">
                <a16:creationId xmlns:a16="http://schemas.microsoft.com/office/drawing/2014/main" id="{9655EA6C-92CE-6736-C9C7-89611EFA7347}"/>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4935" name="Rectangle 8">
            <a:extLst>
              <a:ext uri="{FF2B5EF4-FFF2-40B4-BE49-F238E27FC236}">
                <a16:creationId xmlns:a16="http://schemas.microsoft.com/office/drawing/2014/main" id="{37563412-E4E8-789D-42B3-C3131AFF902E}"/>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4936" name="Rectangle 9">
            <a:extLst>
              <a:ext uri="{FF2B5EF4-FFF2-40B4-BE49-F238E27FC236}">
                <a16:creationId xmlns:a16="http://schemas.microsoft.com/office/drawing/2014/main" id="{EA5039B5-5D42-7483-1F04-EFC68552037D}"/>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4937" name="Rectangle 10">
            <a:extLst>
              <a:ext uri="{FF2B5EF4-FFF2-40B4-BE49-F238E27FC236}">
                <a16:creationId xmlns:a16="http://schemas.microsoft.com/office/drawing/2014/main" id="{06CA69E2-C4A0-C3C5-98D0-2D69F2B7AC81}"/>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24938" name="Rectangle 11">
            <a:extLst>
              <a:ext uri="{FF2B5EF4-FFF2-40B4-BE49-F238E27FC236}">
                <a16:creationId xmlns:a16="http://schemas.microsoft.com/office/drawing/2014/main" id="{85B8B622-2D5C-F3B4-DD2A-49417FE98FE0}"/>
              </a:ext>
            </a:extLst>
          </p:cNvPr>
          <p:cNvSpPr>
            <a:spLocks noChangeArrowheads="1"/>
          </p:cNvSpPr>
          <p:nvPr/>
        </p:nvSpPr>
        <p:spPr bwMode="auto">
          <a:xfrm>
            <a:off x="228600" y="1295400"/>
            <a:ext cx="8534400" cy="307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如果网络的带宽是1 Gbps，那么2.5千字节的报文(一封电子邮件)的传播时间和传输时间是多少？假定发送方和接收方之间的距离是12,000 km，光以速度 2.4 × 10</a:t>
            </a:r>
            <a:r>
              <a:rPr lang="zh-CN" altLang="en-US" baseline="30000">
                <a:ea typeface="宋体" panose="02010600030101010101" pitchFamily="2" charset="-122"/>
              </a:rPr>
              <a:t>8</a:t>
            </a:r>
            <a:r>
              <a:rPr lang="zh-CN" altLang="en-US" baseline="0">
                <a:ea typeface="宋体" panose="02010600030101010101" pitchFamily="2" charset="-122"/>
              </a:rPr>
              <a:t> m/s传输。</a:t>
            </a:r>
          </a:p>
          <a:p>
            <a:pPr algn="just">
              <a:buFont typeface="Arial" panose="020B0604020202020204" pitchFamily="34" charset="0"/>
              <a:buNone/>
            </a:pPr>
            <a:endParaRPr lang="zh-CN" altLang="en-US" baseline="0">
              <a:ea typeface="宋体" panose="02010600030101010101" pitchFamily="2" charset="-122"/>
            </a:endParaRP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我们计算传播时间和传输时间为下页所示：</a:t>
            </a:r>
          </a:p>
        </p:txBody>
      </p:sp>
      <p:sp>
        <p:nvSpPr>
          <p:cNvPr id="124939" name="Text Box 12">
            <a:extLst>
              <a:ext uri="{FF2B5EF4-FFF2-40B4-BE49-F238E27FC236}">
                <a16:creationId xmlns:a16="http://schemas.microsoft.com/office/drawing/2014/main" id="{B45CB014-DDE9-D23F-369B-AB84510393EA}"/>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3.46</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灯片编号占位符 1">
            <a:extLst>
              <a:ext uri="{FF2B5EF4-FFF2-40B4-BE49-F238E27FC236}">
                <a16:creationId xmlns:a16="http://schemas.microsoft.com/office/drawing/2014/main" id="{7CAC37FC-10CF-87B6-DE4F-8220FEFB3C7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8603E6EF-CC22-405D-AFF4-773B8A0277D3}" type="slidenum">
              <a:rPr lang="en-US" altLang="zh-CN" sz="2000" i="0" baseline="0" smtClean="0">
                <a:latin typeface="Arial" panose="020B0604020202020204" pitchFamily="34" charset="0"/>
              </a:rPr>
              <a:pPr/>
              <a:t>120</a:t>
            </a:fld>
            <a:endParaRPr lang="en-US" altLang="zh-CN" sz="2000" i="0" baseline="0">
              <a:latin typeface="Arial" panose="020B0604020202020204" pitchFamily="34" charset="0"/>
            </a:endParaRPr>
          </a:p>
        </p:txBody>
      </p:sp>
      <p:sp>
        <p:nvSpPr>
          <p:cNvPr id="125955" name="Rectangle 2">
            <a:extLst>
              <a:ext uri="{FF2B5EF4-FFF2-40B4-BE49-F238E27FC236}">
                <a16:creationId xmlns:a16="http://schemas.microsoft.com/office/drawing/2014/main" id="{0BAD6119-E40B-0697-C41E-B12C8E4BAF69}"/>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5956" name="Rectangle 3">
            <a:extLst>
              <a:ext uri="{FF2B5EF4-FFF2-40B4-BE49-F238E27FC236}">
                <a16:creationId xmlns:a16="http://schemas.microsoft.com/office/drawing/2014/main" id="{268F8C56-F892-BC3F-B190-0CDFEB45D92D}"/>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25957" name="Group 4">
            <a:extLst>
              <a:ext uri="{FF2B5EF4-FFF2-40B4-BE49-F238E27FC236}">
                <a16:creationId xmlns:a16="http://schemas.microsoft.com/office/drawing/2014/main" id="{1B67F9BD-3C6A-E551-4846-F9BE73A19162}"/>
              </a:ext>
            </a:extLst>
          </p:cNvPr>
          <p:cNvGrpSpPr>
            <a:grpSpLocks/>
          </p:cNvGrpSpPr>
          <p:nvPr/>
        </p:nvGrpSpPr>
        <p:grpSpPr bwMode="auto">
          <a:xfrm>
            <a:off x="490538" y="773113"/>
            <a:ext cx="738187" cy="474662"/>
            <a:chOff x="0" y="0"/>
            <a:chExt cx="465" cy="299"/>
          </a:xfrm>
        </p:grpSpPr>
        <p:sp>
          <p:nvSpPr>
            <p:cNvPr id="125965" name="Rectangle 5">
              <a:extLst>
                <a:ext uri="{FF2B5EF4-FFF2-40B4-BE49-F238E27FC236}">
                  <a16:creationId xmlns:a16="http://schemas.microsoft.com/office/drawing/2014/main" id="{D8F47D1E-3B01-9414-D982-D293E1695764}"/>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5966" name="Rectangle 6">
              <a:extLst>
                <a:ext uri="{FF2B5EF4-FFF2-40B4-BE49-F238E27FC236}">
                  <a16:creationId xmlns:a16="http://schemas.microsoft.com/office/drawing/2014/main" id="{598517EF-F58C-1396-15AE-3EB0FDF7C162}"/>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25958" name="Rectangle 7">
            <a:extLst>
              <a:ext uri="{FF2B5EF4-FFF2-40B4-BE49-F238E27FC236}">
                <a16:creationId xmlns:a16="http://schemas.microsoft.com/office/drawing/2014/main" id="{BFDC944B-30EC-F383-2EC8-F1184D62E690}"/>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5959" name="Rectangle 8">
            <a:extLst>
              <a:ext uri="{FF2B5EF4-FFF2-40B4-BE49-F238E27FC236}">
                <a16:creationId xmlns:a16="http://schemas.microsoft.com/office/drawing/2014/main" id="{89153B30-7EA9-4278-4D46-F62914A8C9D1}"/>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5960" name="Rectangle 9">
            <a:extLst>
              <a:ext uri="{FF2B5EF4-FFF2-40B4-BE49-F238E27FC236}">
                <a16:creationId xmlns:a16="http://schemas.microsoft.com/office/drawing/2014/main" id="{8E2EB5F9-BC82-7490-0BC2-687DA851FC75}"/>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5961" name="Rectangle 10">
            <a:extLst>
              <a:ext uri="{FF2B5EF4-FFF2-40B4-BE49-F238E27FC236}">
                <a16:creationId xmlns:a16="http://schemas.microsoft.com/office/drawing/2014/main" id="{B949A71C-F911-1644-C6BD-3E6613BC0A02}"/>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25962" name="Rectangle 11">
            <a:extLst>
              <a:ext uri="{FF2B5EF4-FFF2-40B4-BE49-F238E27FC236}">
                <a16:creationId xmlns:a16="http://schemas.microsoft.com/office/drawing/2014/main" id="{6F3C37ED-6266-2D63-D322-2BBAE8B56B80}"/>
              </a:ext>
            </a:extLst>
          </p:cNvPr>
          <p:cNvSpPr>
            <a:spLocks noChangeArrowheads="1"/>
          </p:cNvSpPr>
          <p:nvPr/>
        </p:nvSpPr>
        <p:spPr bwMode="auto">
          <a:xfrm>
            <a:off x="228600" y="3838575"/>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在这个例子中，因为报文较短而带宽较高，主导因素是传播时间而不是传输时间。传输时间可以忽略不计。</a:t>
            </a:r>
          </a:p>
        </p:txBody>
      </p:sp>
      <p:sp>
        <p:nvSpPr>
          <p:cNvPr id="125963" name="Text Box 12">
            <a:extLst>
              <a:ext uri="{FF2B5EF4-FFF2-40B4-BE49-F238E27FC236}">
                <a16:creationId xmlns:a16="http://schemas.microsoft.com/office/drawing/2014/main" id="{F0096FCD-A052-9EE0-282B-5AFEF44D3E14}"/>
              </a:ext>
            </a:extLst>
          </p:cNvPr>
          <p:cNvSpPr txBox="1">
            <a:spLocks noChangeArrowheads="1"/>
          </p:cNvSpPr>
          <p:nvPr/>
        </p:nvSpPr>
        <p:spPr bwMode="auto">
          <a:xfrm>
            <a:off x="1143000" y="182563"/>
            <a:ext cx="35448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3.46 (continued)</a:t>
            </a:r>
          </a:p>
        </p:txBody>
      </p:sp>
      <p:pic>
        <p:nvPicPr>
          <p:cNvPr id="125964" name="Picture 13">
            <a:extLst>
              <a:ext uri="{FF2B5EF4-FFF2-40B4-BE49-F238E27FC236}">
                <a16:creationId xmlns:a16="http://schemas.microsoft.com/office/drawing/2014/main" id="{D5DB3518-7148-4935-2B3E-C29A56E8B4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9913" y="1249363"/>
            <a:ext cx="5462587" cy="1646237"/>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灯片编号占位符 1">
            <a:extLst>
              <a:ext uri="{FF2B5EF4-FFF2-40B4-BE49-F238E27FC236}">
                <a16:creationId xmlns:a16="http://schemas.microsoft.com/office/drawing/2014/main" id="{C640FFB3-9909-6A23-AD34-12FF5A8D579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E4C3FA6C-3D42-49F3-8F58-3D3521951E07}" type="slidenum">
              <a:rPr lang="en-US" altLang="zh-CN" sz="2000" i="0" baseline="0" smtClean="0">
                <a:latin typeface="Arial" panose="020B0604020202020204" pitchFamily="34" charset="0"/>
              </a:rPr>
              <a:pPr/>
              <a:t>121</a:t>
            </a:fld>
            <a:endParaRPr lang="en-US" altLang="zh-CN" sz="2000" i="0" baseline="0">
              <a:latin typeface="Arial" panose="020B0604020202020204" pitchFamily="34" charset="0"/>
            </a:endParaRPr>
          </a:p>
        </p:txBody>
      </p:sp>
      <p:sp>
        <p:nvSpPr>
          <p:cNvPr id="126979" name="Rectangle 2">
            <a:extLst>
              <a:ext uri="{FF2B5EF4-FFF2-40B4-BE49-F238E27FC236}">
                <a16:creationId xmlns:a16="http://schemas.microsoft.com/office/drawing/2014/main" id="{6BD0C06F-5ADD-D51D-546B-70F910CCDDA5}"/>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6980" name="Rectangle 3">
            <a:extLst>
              <a:ext uri="{FF2B5EF4-FFF2-40B4-BE49-F238E27FC236}">
                <a16:creationId xmlns:a16="http://schemas.microsoft.com/office/drawing/2014/main" id="{A40E4BAA-69E6-4548-7B22-FDE50057B694}"/>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26981" name="Group 4">
            <a:extLst>
              <a:ext uri="{FF2B5EF4-FFF2-40B4-BE49-F238E27FC236}">
                <a16:creationId xmlns:a16="http://schemas.microsoft.com/office/drawing/2014/main" id="{7E819E74-811F-40F6-904A-8EFF34B1A4FA}"/>
              </a:ext>
            </a:extLst>
          </p:cNvPr>
          <p:cNvGrpSpPr>
            <a:grpSpLocks/>
          </p:cNvGrpSpPr>
          <p:nvPr/>
        </p:nvGrpSpPr>
        <p:grpSpPr bwMode="auto">
          <a:xfrm>
            <a:off x="490538" y="773113"/>
            <a:ext cx="738187" cy="474662"/>
            <a:chOff x="0" y="0"/>
            <a:chExt cx="465" cy="299"/>
          </a:xfrm>
        </p:grpSpPr>
        <p:sp>
          <p:nvSpPr>
            <p:cNvPr id="126988" name="Rectangle 5">
              <a:extLst>
                <a:ext uri="{FF2B5EF4-FFF2-40B4-BE49-F238E27FC236}">
                  <a16:creationId xmlns:a16="http://schemas.microsoft.com/office/drawing/2014/main" id="{0F9017F7-C6DE-C20F-A0C3-BDB6EC8142B7}"/>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6989" name="Rectangle 6">
              <a:extLst>
                <a:ext uri="{FF2B5EF4-FFF2-40B4-BE49-F238E27FC236}">
                  <a16:creationId xmlns:a16="http://schemas.microsoft.com/office/drawing/2014/main" id="{188561B3-9BCA-DD11-BCEE-FD726DEB3FDA}"/>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26982" name="Rectangle 7">
            <a:extLst>
              <a:ext uri="{FF2B5EF4-FFF2-40B4-BE49-F238E27FC236}">
                <a16:creationId xmlns:a16="http://schemas.microsoft.com/office/drawing/2014/main" id="{4F20F9C0-C7D1-9E50-ED8F-72BEC03E854D}"/>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6983" name="Rectangle 8">
            <a:extLst>
              <a:ext uri="{FF2B5EF4-FFF2-40B4-BE49-F238E27FC236}">
                <a16:creationId xmlns:a16="http://schemas.microsoft.com/office/drawing/2014/main" id="{C1E2D50A-6ED9-70DA-0138-D79A3A80314D}"/>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6984" name="Rectangle 9">
            <a:extLst>
              <a:ext uri="{FF2B5EF4-FFF2-40B4-BE49-F238E27FC236}">
                <a16:creationId xmlns:a16="http://schemas.microsoft.com/office/drawing/2014/main" id="{149F2C06-7829-2046-5878-222F4F9129C9}"/>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6985" name="Rectangle 10">
            <a:extLst>
              <a:ext uri="{FF2B5EF4-FFF2-40B4-BE49-F238E27FC236}">
                <a16:creationId xmlns:a16="http://schemas.microsoft.com/office/drawing/2014/main" id="{AE8804B2-EE3B-C44D-8571-507CAE69D300}"/>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26986" name="Rectangle 11">
            <a:extLst>
              <a:ext uri="{FF2B5EF4-FFF2-40B4-BE49-F238E27FC236}">
                <a16:creationId xmlns:a16="http://schemas.microsoft.com/office/drawing/2014/main" id="{7DC100EA-095D-D992-5DAC-2F7F80B98DA1}"/>
              </a:ext>
            </a:extLst>
          </p:cNvPr>
          <p:cNvSpPr>
            <a:spLocks noChangeArrowheads="1"/>
          </p:cNvSpPr>
          <p:nvPr/>
        </p:nvSpPr>
        <p:spPr bwMode="auto">
          <a:xfrm>
            <a:off x="228600" y="1295400"/>
            <a:ext cx="8534400"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如果网络带宽是1 Mbps，那么5M字节的报文(一张图像)的传播时间和传输时间是多少？假定发送方和接收方之间的距离是12,000 km，以速度 2.4 × 10</a:t>
            </a:r>
            <a:r>
              <a:rPr lang="zh-CN" altLang="en-US" baseline="30000">
                <a:ea typeface="宋体" panose="02010600030101010101" pitchFamily="2" charset="-122"/>
              </a:rPr>
              <a:t>8</a:t>
            </a:r>
            <a:r>
              <a:rPr lang="zh-CN" altLang="en-US" baseline="0">
                <a:ea typeface="宋体" panose="02010600030101010101" pitchFamily="2" charset="-122"/>
              </a:rPr>
              <a:t> m/s传输。</a:t>
            </a:r>
          </a:p>
          <a:p>
            <a:pPr algn="just">
              <a:buFont typeface="Arial" panose="020B0604020202020204" pitchFamily="34" charset="0"/>
              <a:buNone/>
            </a:pPr>
            <a:r>
              <a:rPr lang="zh-CN" altLang="en-US" baseline="0">
                <a:solidFill>
                  <a:schemeClr val="hlink"/>
                </a:solidFill>
                <a:ea typeface="宋体" panose="02010600030101010101" pitchFamily="2" charset="-122"/>
              </a:rPr>
              <a:t>解：</a:t>
            </a:r>
          </a:p>
          <a:p>
            <a:pPr algn="just">
              <a:buFont typeface="Arial" panose="020B0604020202020204" pitchFamily="34" charset="0"/>
              <a:buNone/>
            </a:pPr>
            <a:r>
              <a:rPr lang="zh-CN" altLang="en-US" baseline="0">
                <a:ea typeface="宋体" panose="02010600030101010101" pitchFamily="2" charset="-122"/>
              </a:rPr>
              <a:t>我们计算传播时间和传输时间为下页所示：</a:t>
            </a:r>
          </a:p>
        </p:txBody>
      </p:sp>
      <p:sp>
        <p:nvSpPr>
          <p:cNvPr id="126987" name="Text Box 12">
            <a:extLst>
              <a:ext uri="{FF2B5EF4-FFF2-40B4-BE49-F238E27FC236}">
                <a16:creationId xmlns:a16="http://schemas.microsoft.com/office/drawing/2014/main" id="{B7217BA6-2B89-5BE5-DE73-B4DEC6E9E3A6}"/>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3.47</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灯片编号占位符 1">
            <a:extLst>
              <a:ext uri="{FF2B5EF4-FFF2-40B4-BE49-F238E27FC236}">
                <a16:creationId xmlns:a16="http://schemas.microsoft.com/office/drawing/2014/main" id="{9EF71F4E-D02F-9851-F3CC-61E542D762D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0EDD5B30-589E-46B0-8DD4-D8FD8E6E02B2}" type="slidenum">
              <a:rPr lang="en-US" altLang="zh-CN" sz="2000" i="0" baseline="0" smtClean="0">
                <a:latin typeface="Arial" panose="020B0604020202020204" pitchFamily="34" charset="0"/>
              </a:rPr>
              <a:pPr/>
              <a:t>122</a:t>
            </a:fld>
            <a:endParaRPr lang="en-US" altLang="zh-CN" sz="2000" i="0" baseline="0">
              <a:latin typeface="Arial" panose="020B0604020202020204" pitchFamily="34" charset="0"/>
            </a:endParaRPr>
          </a:p>
        </p:txBody>
      </p:sp>
      <p:sp>
        <p:nvSpPr>
          <p:cNvPr id="128003" name="Rectangle 2">
            <a:extLst>
              <a:ext uri="{FF2B5EF4-FFF2-40B4-BE49-F238E27FC236}">
                <a16:creationId xmlns:a16="http://schemas.microsoft.com/office/drawing/2014/main" id="{57AC7147-91ED-82CA-5C14-11D771E69111}"/>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8004" name="Rectangle 3">
            <a:extLst>
              <a:ext uri="{FF2B5EF4-FFF2-40B4-BE49-F238E27FC236}">
                <a16:creationId xmlns:a16="http://schemas.microsoft.com/office/drawing/2014/main" id="{285F6191-6FC4-4601-6DFD-98410968D42A}"/>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28005" name="Group 4">
            <a:extLst>
              <a:ext uri="{FF2B5EF4-FFF2-40B4-BE49-F238E27FC236}">
                <a16:creationId xmlns:a16="http://schemas.microsoft.com/office/drawing/2014/main" id="{8D42A2B2-66E0-5DC0-FAF8-9FDCA582E165}"/>
              </a:ext>
            </a:extLst>
          </p:cNvPr>
          <p:cNvGrpSpPr>
            <a:grpSpLocks/>
          </p:cNvGrpSpPr>
          <p:nvPr/>
        </p:nvGrpSpPr>
        <p:grpSpPr bwMode="auto">
          <a:xfrm>
            <a:off x="490538" y="773113"/>
            <a:ext cx="738187" cy="474662"/>
            <a:chOff x="0" y="0"/>
            <a:chExt cx="465" cy="299"/>
          </a:xfrm>
        </p:grpSpPr>
        <p:sp>
          <p:nvSpPr>
            <p:cNvPr id="128013" name="Rectangle 5">
              <a:extLst>
                <a:ext uri="{FF2B5EF4-FFF2-40B4-BE49-F238E27FC236}">
                  <a16:creationId xmlns:a16="http://schemas.microsoft.com/office/drawing/2014/main" id="{7E27EBB6-148F-20D9-F4CE-AC8F601AF70D}"/>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8014" name="Rectangle 6">
              <a:extLst>
                <a:ext uri="{FF2B5EF4-FFF2-40B4-BE49-F238E27FC236}">
                  <a16:creationId xmlns:a16="http://schemas.microsoft.com/office/drawing/2014/main" id="{231CC574-479A-0C4F-F35B-A4199634D248}"/>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28006" name="Rectangle 7">
            <a:extLst>
              <a:ext uri="{FF2B5EF4-FFF2-40B4-BE49-F238E27FC236}">
                <a16:creationId xmlns:a16="http://schemas.microsoft.com/office/drawing/2014/main" id="{A00B7BFB-45F1-D479-AEF8-7A9ADE353118}"/>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8007" name="Rectangle 8">
            <a:extLst>
              <a:ext uri="{FF2B5EF4-FFF2-40B4-BE49-F238E27FC236}">
                <a16:creationId xmlns:a16="http://schemas.microsoft.com/office/drawing/2014/main" id="{311A6B3F-946A-9183-513D-0602257370C8}"/>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8008" name="Rectangle 9">
            <a:extLst>
              <a:ext uri="{FF2B5EF4-FFF2-40B4-BE49-F238E27FC236}">
                <a16:creationId xmlns:a16="http://schemas.microsoft.com/office/drawing/2014/main" id="{65C4F0A0-ECE3-F403-4E94-E1669F1C79C9}"/>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8009" name="Rectangle 10">
            <a:extLst>
              <a:ext uri="{FF2B5EF4-FFF2-40B4-BE49-F238E27FC236}">
                <a16:creationId xmlns:a16="http://schemas.microsoft.com/office/drawing/2014/main" id="{44EF0518-4AD1-F865-ECD0-F6BFD44C5182}"/>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28010" name="Rectangle 11">
            <a:extLst>
              <a:ext uri="{FF2B5EF4-FFF2-40B4-BE49-F238E27FC236}">
                <a16:creationId xmlns:a16="http://schemas.microsoft.com/office/drawing/2014/main" id="{7FC264C3-28BF-351E-FAF0-F37AEE1CCF3E}"/>
              </a:ext>
            </a:extLst>
          </p:cNvPr>
          <p:cNvSpPr>
            <a:spLocks noChangeArrowheads="1"/>
          </p:cNvSpPr>
          <p:nvPr/>
        </p:nvSpPr>
        <p:spPr bwMode="auto">
          <a:xfrm>
            <a:off x="228600" y="38100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注意这个例子中，因为报文较长而带宽不是很高，所以主导因素是传输时间而不是传播时间。传播时间可以忽略不计。</a:t>
            </a:r>
          </a:p>
        </p:txBody>
      </p:sp>
      <p:sp>
        <p:nvSpPr>
          <p:cNvPr id="128011" name="Text Box 12">
            <a:extLst>
              <a:ext uri="{FF2B5EF4-FFF2-40B4-BE49-F238E27FC236}">
                <a16:creationId xmlns:a16="http://schemas.microsoft.com/office/drawing/2014/main" id="{75100071-85CF-D67A-2397-F49747469E26}"/>
              </a:ext>
            </a:extLst>
          </p:cNvPr>
          <p:cNvSpPr txBox="1">
            <a:spLocks noChangeArrowheads="1"/>
          </p:cNvSpPr>
          <p:nvPr/>
        </p:nvSpPr>
        <p:spPr bwMode="auto">
          <a:xfrm>
            <a:off x="1143000" y="182563"/>
            <a:ext cx="35448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3.47 (continued)</a:t>
            </a:r>
          </a:p>
        </p:txBody>
      </p:sp>
      <p:pic>
        <p:nvPicPr>
          <p:cNvPr id="128012" name="Picture 13">
            <a:extLst>
              <a:ext uri="{FF2B5EF4-FFF2-40B4-BE49-F238E27FC236}">
                <a16:creationId xmlns:a16="http://schemas.microsoft.com/office/drawing/2014/main" id="{677AF6E8-2B82-6269-9D54-6BCCE064F7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0038" y="1704975"/>
            <a:ext cx="6002337" cy="1574800"/>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灯片编号占位符 1">
            <a:extLst>
              <a:ext uri="{FF2B5EF4-FFF2-40B4-BE49-F238E27FC236}">
                <a16:creationId xmlns:a16="http://schemas.microsoft.com/office/drawing/2014/main" id="{CEA85A49-A4A2-C490-BA0C-82BD6AA67B5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8EC1222E-2969-4E50-AD9C-ECF3A3AC09C9}" type="slidenum">
              <a:rPr lang="en-US" altLang="zh-CN" sz="2000" i="0" baseline="0" smtClean="0">
                <a:latin typeface="Arial" panose="020B0604020202020204" pitchFamily="34" charset="0"/>
              </a:rPr>
              <a:pPr/>
              <a:t>123</a:t>
            </a:fld>
            <a:endParaRPr lang="en-US" altLang="zh-CN" sz="2000" i="0" baseline="0">
              <a:latin typeface="Arial" panose="020B0604020202020204" pitchFamily="34" charset="0"/>
            </a:endParaRPr>
          </a:p>
        </p:txBody>
      </p:sp>
      <p:sp>
        <p:nvSpPr>
          <p:cNvPr id="129027" name="Rectangle 2">
            <a:extLst>
              <a:ext uri="{FF2B5EF4-FFF2-40B4-BE49-F238E27FC236}">
                <a16:creationId xmlns:a16="http://schemas.microsoft.com/office/drawing/2014/main" id="{E61F9721-AF60-C989-AE02-220135FAA3EE}"/>
              </a:ext>
            </a:extLst>
          </p:cNvPr>
          <p:cNvSpPr>
            <a:spLocks noChangeArrowheads="1"/>
          </p:cNvSpPr>
          <p:nvPr/>
        </p:nvSpPr>
        <p:spPr bwMode="auto">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9028" name="Rectangle 3">
            <a:extLst>
              <a:ext uri="{FF2B5EF4-FFF2-40B4-BE49-F238E27FC236}">
                <a16:creationId xmlns:a16="http://schemas.microsoft.com/office/drawing/2014/main" id="{0A7A577A-E554-6564-45B2-99CA9F57090E}"/>
              </a:ext>
            </a:extLst>
          </p:cNvPr>
          <p:cNvSpPr>
            <a:spLocks noChangeArrowheads="1"/>
          </p:cNvSpPr>
          <p:nvPr/>
        </p:nvSpPr>
        <p:spPr bwMode="auto">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9029" name="Rectangle 4">
            <a:extLst>
              <a:ext uri="{FF2B5EF4-FFF2-40B4-BE49-F238E27FC236}">
                <a16:creationId xmlns:a16="http://schemas.microsoft.com/office/drawing/2014/main" id="{2C9DE635-5046-0D1B-401F-792ACF052670}"/>
              </a:ext>
            </a:extLst>
          </p:cNvPr>
          <p:cNvSpPr>
            <a:spLocks noChangeArrowheads="1"/>
          </p:cNvSpPr>
          <p:nvPr/>
        </p:nvSpPr>
        <p:spPr bwMode="auto">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9030" name="Rectangle 5">
            <a:extLst>
              <a:ext uri="{FF2B5EF4-FFF2-40B4-BE49-F238E27FC236}">
                <a16:creationId xmlns:a16="http://schemas.microsoft.com/office/drawing/2014/main" id="{1FCB4B9C-3A84-96A4-F39F-8776F59DB664}"/>
              </a:ext>
            </a:extLst>
          </p:cNvPr>
          <p:cNvSpPr>
            <a:spLocks noChangeArrowheads="1"/>
          </p:cNvSpPr>
          <p:nvPr/>
        </p:nvSpPr>
        <p:spPr bwMode="auto">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9031" name="Rectangle 6">
            <a:extLst>
              <a:ext uri="{FF2B5EF4-FFF2-40B4-BE49-F238E27FC236}">
                <a16:creationId xmlns:a16="http://schemas.microsoft.com/office/drawing/2014/main" id="{BCF66B32-9E4D-9BDB-37CA-8FBEDE54D305}"/>
              </a:ext>
            </a:extLst>
          </p:cNvPr>
          <p:cNvSpPr>
            <a:spLocks noChangeArrowheads="1"/>
          </p:cNvSpPr>
          <p:nvPr/>
        </p:nvSpPr>
        <p:spPr bwMode="auto">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9032" name="Rectangle 7">
            <a:extLst>
              <a:ext uri="{FF2B5EF4-FFF2-40B4-BE49-F238E27FC236}">
                <a16:creationId xmlns:a16="http://schemas.microsoft.com/office/drawing/2014/main" id="{37B7640E-05C8-8F5C-2D92-6288A504792B}"/>
              </a:ext>
            </a:extLst>
          </p:cNvPr>
          <p:cNvSpPr>
            <a:spLocks noChangeArrowheads="1"/>
          </p:cNvSpPr>
          <p:nvPr/>
        </p:nvSpPr>
        <p:spPr bwMode="auto">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9033" name="Rectangle 8">
            <a:extLst>
              <a:ext uri="{FF2B5EF4-FFF2-40B4-BE49-F238E27FC236}">
                <a16:creationId xmlns:a16="http://schemas.microsoft.com/office/drawing/2014/main" id="{1B57E4C6-D53A-A156-B705-B38975164505}"/>
              </a:ext>
            </a:extLst>
          </p:cNvPr>
          <p:cNvSpPr>
            <a:spLocks noChangeArrowheads="1"/>
          </p:cNvSpPr>
          <p:nvPr/>
        </p:nvSpPr>
        <p:spPr bwMode="auto">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29034" name="Line 9">
            <a:extLst>
              <a:ext uri="{FF2B5EF4-FFF2-40B4-BE49-F238E27FC236}">
                <a16:creationId xmlns:a16="http://schemas.microsoft.com/office/drawing/2014/main" id="{54EBAC08-A47A-877F-B2F2-365C61E8E1C5}"/>
              </a:ext>
            </a:extLst>
          </p:cNvPr>
          <p:cNvSpPr>
            <a:spLocks noChangeShapeType="1"/>
          </p:cNvSpPr>
          <p:nvPr/>
        </p:nvSpPr>
        <p:spPr bwMode="auto">
          <a:xfrm>
            <a:off x="457200" y="2514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5" name="Line 10">
            <a:extLst>
              <a:ext uri="{FF2B5EF4-FFF2-40B4-BE49-F238E27FC236}">
                <a16:creationId xmlns:a16="http://schemas.microsoft.com/office/drawing/2014/main" id="{1E705621-4154-74C6-7325-C1A96A5DA444}"/>
              </a:ext>
            </a:extLst>
          </p:cNvPr>
          <p:cNvSpPr>
            <a:spLocks noChangeShapeType="1"/>
          </p:cNvSpPr>
          <p:nvPr/>
        </p:nvSpPr>
        <p:spPr bwMode="auto">
          <a:xfrm>
            <a:off x="457200" y="3276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6" name="Rectangle 11">
            <a:extLst>
              <a:ext uri="{FF2B5EF4-FFF2-40B4-BE49-F238E27FC236}">
                <a16:creationId xmlns:a16="http://schemas.microsoft.com/office/drawing/2014/main" id="{0D9B572E-A644-0B06-63D7-209B8727C392}"/>
              </a:ext>
            </a:extLst>
          </p:cNvPr>
          <p:cNvSpPr>
            <a:spLocks noChangeArrowheads="1"/>
          </p:cNvSpPr>
          <p:nvPr/>
        </p:nvSpPr>
        <p:spPr bwMode="auto">
          <a:xfrm>
            <a:off x="495300" y="2606675"/>
            <a:ext cx="8077200" cy="579438"/>
          </a:xfrm>
          <a:prstGeom prst="rect">
            <a:avLst/>
          </a:prstGeom>
          <a:solidFill>
            <a:srgbClr val="99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a:buFont typeface="Arial" panose="020B0604020202020204" pitchFamily="34" charset="0"/>
              <a:buNone/>
            </a:pPr>
            <a:r>
              <a:rPr lang="zh-CN" altLang="en-US" sz="3200" i="0" baseline="0">
                <a:latin typeface="Arial" panose="020B0604020202020204" pitchFamily="34" charset="0"/>
                <a:ea typeface="宋体" panose="02010600030101010101" pitchFamily="2" charset="-122"/>
              </a:rPr>
              <a:t>带宽延迟乘积：定义了能充满链路的位数。</a:t>
            </a:r>
          </a:p>
        </p:txBody>
      </p:sp>
      <p:grpSp>
        <p:nvGrpSpPr>
          <p:cNvPr id="129037" name="Group 12">
            <a:extLst>
              <a:ext uri="{FF2B5EF4-FFF2-40B4-BE49-F238E27FC236}">
                <a16:creationId xmlns:a16="http://schemas.microsoft.com/office/drawing/2014/main" id="{F246B8E8-9B33-1C7D-9484-22CA4EE201AF}"/>
              </a:ext>
            </a:extLst>
          </p:cNvPr>
          <p:cNvGrpSpPr>
            <a:grpSpLocks/>
          </p:cNvGrpSpPr>
          <p:nvPr/>
        </p:nvGrpSpPr>
        <p:grpSpPr bwMode="auto">
          <a:xfrm>
            <a:off x="457200" y="1871663"/>
            <a:ext cx="1143000" cy="566737"/>
            <a:chOff x="0" y="0"/>
            <a:chExt cx="720" cy="357"/>
          </a:xfrm>
        </p:grpSpPr>
        <p:pic>
          <p:nvPicPr>
            <p:cNvPr id="129038" name="Picture 13">
              <a:extLst>
                <a:ext uri="{FF2B5EF4-FFF2-40B4-BE49-F238E27FC236}">
                  <a16:creationId xmlns:a16="http://schemas.microsoft.com/office/drawing/2014/main" id="{75FFB78D-AD18-A1F1-08CF-22E0F2D2E9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9" name="Text Box 14">
              <a:extLst>
                <a:ext uri="{FF2B5EF4-FFF2-40B4-BE49-F238E27FC236}">
                  <a16:creationId xmlns:a16="http://schemas.microsoft.com/office/drawing/2014/main" id="{31937EC5-75EC-7370-0E9B-8CC0E8E1BD40}"/>
                </a:ext>
              </a:extLst>
            </p:cNvPr>
            <p:cNvSpPr txBox="1">
              <a:spLocks noChangeArrowheads="1"/>
            </p:cNvSpPr>
            <p:nvPr/>
          </p:nvSpPr>
          <p:spPr bwMode="auto">
            <a:xfrm>
              <a:off x="84" y="0"/>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en-US" altLang="zh-CN" baseline="0">
                  <a:solidFill>
                    <a:schemeClr val="hlink"/>
                  </a:solidFill>
                  <a:ea typeface="宋体" panose="02010600030101010101" pitchFamily="2" charset="-122"/>
                </a:rPr>
                <a:t>Note</a:t>
              </a:r>
            </a:p>
          </p:txBody>
        </p:sp>
      </p:gr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灯片编号占位符 1">
            <a:extLst>
              <a:ext uri="{FF2B5EF4-FFF2-40B4-BE49-F238E27FC236}">
                <a16:creationId xmlns:a16="http://schemas.microsoft.com/office/drawing/2014/main" id="{633DD7B6-3CDD-B7DA-AC45-E8B3D0EFD32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37AEB458-C05C-4B35-8C8B-4DB22E81F572}" type="slidenum">
              <a:rPr lang="en-US" altLang="zh-CN" sz="2000" i="0" baseline="0" smtClean="0">
                <a:latin typeface="Arial" panose="020B0604020202020204" pitchFamily="34" charset="0"/>
              </a:rPr>
              <a:pPr/>
              <a:t>124</a:t>
            </a:fld>
            <a:endParaRPr lang="en-US" altLang="zh-CN" sz="2000" i="0" baseline="0">
              <a:latin typeface="Arial" panose="020B0604020202020204" pitchFamily="34" charset="0"/>
            </a:endParaRPr>
          </a:p>
        </p:txBody>
      </p:sp>
      <p:sp>
        <p:nvSpPr>
          <p:cNvPr id="130051" name="Line 2">
            <a:extLst>
              <a:ext uri="{FF2B5EF4-FFF2-40B4-BE49-F238E27FC236}">
                <a16:creationId xmlns:a16="http://schemas.microsoft.com/office/drawing/2014/main" id="{F6262535-7B92-C311-9418-B1C6EB96FA16}"/>
              </a:ext>
            </a:extLst>
          </p:cNvPr>
          <p:cNvSpPr>
            <a:spLocks noChangeShapeType="1"/>
          </p:cNvSpPr>
          <p:nvPr/>
        </p:nvSpPr>
        <p:spPr bwMode="auto">
          <a:xfrm>
            <a:off x="152400" y="228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52" name="Line 3">
            <a:extLst>
              <a:ext uri="{FF2B5EF4-FFF2-40B4-BE49-F238E27FC236}">
                <a16:creationId xmlns:a16="http://schemas.microsoft.com/office/drawing/2014/main" id="{98EEE7AB-FEA6-DA1E-3084-85C93F34751C}"/>
              </a:ext>
            </a:extLst>
          </p:cNvPr>
          <p:cNvSpPr>
            <a:spLocks noChangeShapeType="1"/>
          </p:cNvSpPr>
          <p:nvPr/>
        </p:nvSpPr>
        <p:spPr bwMode="auto">
          <a:xfrm>
            <a:off x="152400" y="10668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0053" name="Text Box 4">
            <a:extLst>
              <a:ext uri="{FF2B5EF4-FFF2-40B4-BE49-F238E27FC236}">
                <a16:creationId xmlns:a16="http://schemas.microsoft.com/office/drawing/2014/main" id="{926604D7-F483-B97D-C7F3-039C6637552C}"/>
              </a:ext>
            </a:extLst>
          </p:cNvPr>
          <p:cNvSpPr txBox="1">
            <a:spLocks noChangeArrowheads="1"/>
          </p:cNvSpPr>
          <p:nvPr/>
        </p:nvSpPr>
        <p:spPr bwMode="auto">
          <a:xfrm>
            <a:off x="304800" y="457200"/>
            <a:ext cx="3916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3.31  </a:t>
            </a:r>
            <a:r>
              <a:rPr lang="zh-CN" altLang="en-US" sz="2000" baseline="0">
                <a:ea typeface="宋体" panose="02010600030101010101" pitchFamily="2" charset="-122"/>
              </a:rPr>
              <a:t>在情形1中用位充满链路</a:t>
            </a:r>
          </a:p>
        </p:txBody>
      </p:sp>
      <p:sp>
        <p:nvSpPr>
          <p:cNvPr id="130054" name="Line 5">
            <a:extLst>
              <a:ext uri="{FF2B5EF4-FFF2-40B4-BE49-F238E27FC236}">
                <a16:creationId xmlns:a16="http://schemas.microsoft.com/office/drawing/2014/main" id="{F4674F8B-DFD1-F75D-39E0-B7151A661D1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30055" name="Picture 6">
            <a:extLst>
              <a:ext uri="{FF2B5EF4-FFF2-40B4-BE49-F238E27FC236}">
                <a16:creationId xmlns:a16="http://schemas.microsoft.com/office/drawing/2014/main" id="{DC7695F6-E85A-1622-6DAC-23B94E43CA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500" y="2070100"/>
            <a:ext cx="74041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灯片编号占位符 1">
            <a:extLst>
              <a:ext uri="{FF2B5EF4-FFF2-40B4-BE49-F238E27FC236}">
                <a16:creationId xmlns:a16="http://schemas.microsoft.com/office/drawing/2014/main" id="{F563FC20-328F-ABB6-34FA-4ECF53CB4DB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BEEC69C7-8495-4A7A-A14C-F6D8D457BFBC}" type="slidenum">
              <a:rPr lang="en-US" altLang="zh-CN" sz="2000" i="0" baseline="0" smtClean="0">
                <a:latin typeface="Arial" panose="020B0604020202020204" pitchFamily="34" charset="0"/>
              </a:rPr>
              <a:pPr/>
              <a:t>125</a:t>
            </a:fld>
            <a:endParaRPr lang="en-US" altLang="zh-CN" sz="2000" i="0" baseline="0">
              <a:latin typeface="Arial" panose="020B0604020202020204" pitchFamily="34" charset="0"/>
            </a:endParaRPr>
          </a:p>
        </p:txBody>
      </p:sp>
      <p:sp>
        <p:nvSpPr>
          <p:cNvPr id="131075" name="Rectangle 2">
            <a:extLst>
              <a:ext uri="{FF2B5EF4-FFF2-40B4-BE49-F238E27FC236}">
                <a16:creationId xmlns:a16="http://schemas.microsoft.com/office/drawing/2014/main" id="{6EF9F3FB-35C4-7F0E-FA90-C707C90F664B}"/>
              </a:ext>
            </a:extLst>
          </p:cNvPr>
          <p:cNvSpPr>
            <a:spLocks noChangeArrowheads="1"/>
          </p:cNvSpPr>
          <p:nvPr/>
        </p:nvSpPr>
        <p:spPr bwMode="auto">
          <a:xfrm>
            <a:off x="366713" y="350838"/>
            <a:ext cx="438150" cy="47466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31076" name="Rectangle 3">
            <a:extLst>
              <a:ext uri="{FF2B5EF4-FFF2-40B4-BE49-F238E27FC236}">
                <a16:creationId xmlns:a16="http://schemas.microsoft.com/office/drawing/2014/main" id="{FCC87B96-3CEB-DF17-7639-AC70D0505B43}"/>
              </a:ext>
            </a:extLst>
          </p:cNvPr>
          <p:cNvSpPr>
            <a:spLocks noChangeArrowheads="1"/>
          </p:cNvSpPr>
          <p:nvPr/>
        </p:nvSpPr>
        <p:spPr bwMode="auto">
          <a:xfrm>
            <a:off x="749300" y="350838"/>
            <a:ext cx="328613" cy="47466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nvGrpSpPr>
          <p:cNvPr id="131077" name="Group 4">
            <a:extLst>
              <a:ext uri="{FF2B5EF4-FFF2-40B4-BE49-F238E27FC236}">
                <a16:creationId xmlns:a16="http://schemas.microsoft.com/office/drawing/2014/main" id="{AB018C0C-CCCD-987F-D8B2-12A723DDDAA3}"/>
              </a:ext>
            </a:extLst>
          </p:cNvPr>
          <p:cNvGrpSpPr>
            <a:grpSpLocks/>
          </p:cNvGrpSpPr>
          <p:nvPr/>
        </p:nvGrpSpPr>
        <p:grpSpPr bwMode="auto">
          <a:xfrm>
            <a:off x="490538" y="773113"/>
            <a:ext cx="738187" cy="474662"/>
            <a:chOff x="0" y="0"/>
            <a:chExt cx="465" cy="299"/>
          </a:xfrm>
        </p:grpSpPr>
        <p:sp>
          <p:nvSpPr>
            <p:cNvPr id="131084" name="Rectangle 5">
              <a:extLst>
                <a:ext uri="{FF2B5EF4-FFF2-40B4-BE49-F238E27FC236}">
                  <a16:creationId xmlns:a16="http://schemas.microsoft.com/office/drawing/2014/main" id="{9ABB4181-A910-0CFC-AFA3-2DE180266650}"/>
                </a:ext>
              </a:extLst>
            </p:cNvPr>
            <p:cNvSpPr>
              <a:spLocks noChangeArrowheads="1"/>
            </p:cNvSpPr>
            <p:nvPr/>
          </p:nvSpPr>
          <p:spPr bwMode="auto">
            <a:xfrm>
              <a:off x="0" y="0"/>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31085" name="Rectangle 6">
              <a:extLst>
                <a:ext uri="{FF2B5EF4-FFF2-40B4-BE49-F238E27FC236}">
                  <a16:creationId xmlns:a16="http://schemas.microsoft.com/office/drawing/2014/main" id="{FC5F24FD-87C4-16E1-BEF3-5A939EE41428}"/>
                </a:ext>
              </a:extLst>
            </p:cNvPr>
            <p:cNvSpPr>
              <a:spLocks noChangeArrowheads="1"/>
            </p:cNvSpPr>
            <p:nvPr/>
          </p:nvSpPr>
          <p:spPr bwMode="auto">
            <a:xfrm>
              <a:off x="233" y="0"/>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grpSp>
      <p:sp>
        <p:nvSpPr>
          <p:cNvPr id="131078" name="Rectangle 7">
            <a:extLst>
              <a:ext uri="{FF2B5EF4-FFF2-40B4-BE49-F238E27FC236}">
                <a16:creationId xmlns:a16="http://schemas.microsoft.com/office/drawing/2014/main" id="{B734151E-D651-37B8-0DA5-7B990A9EA853}"/>
              </a:ext>
            </a:extLst>
          </p:cNvPr>
          <p:cNvSpPr>
            <a:spLocks noChangeArrowheads="1"/>
          </p:cNvSpPr>
          <p:nvPr/>
        </p:nvSpPr>
        <p:spPr bwMode="auto">
          <a:xfrm>
            <a:off x="76200" y="700088"/>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31079" name="Rectangle 8">
            <a:extLst>
              <a:ext uri="{FF2B5EF4-FFF2-40B4-BE49-F238E27FC236}">
                <a16:creationId xmlns:a16="http://schemas.microsoft.com/office/drawing/2014/main" id="{90E12278-FC6C-4C17-701E-6FB2D32126E0}"/>
              </a:ext>
            </a:extLst>
          </p:cNvPr>
          <p:cNvSpPr>
            <a:spLocks noChangeArrowheads="1"/>
          </p:cNvSpPr>
          <p:nvPr/>
        </p:nvSpPr>
        <p:spPr bwMode="auto">
          <a:xfrm>
            <a:off x="711200" y="242888"/>
            <a:ext cx="31750" cy="10525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31080" name="Rectangle 9">
            <a:extLst>
              <a:ext uri="{FF2B5EF4-FFF2-40B4-BE49-F238E27FC236}">
                <a16:creationId xmlns:a16="http://schemas.microsoft.com/office/drawing/2014/main" id="{F83584E6-2193-46DC-E50F-63734496C27E}"/>
              </a:ext>
            </a:extLst>
          </p:cNvPr>
          <p:cNvSpPr>
            <a:spLocks noChangeArrowheads="1"/>
          </p:cNvSpPr>
          <p:nvPr/>
        </p:nvSpPr>
        <p:spPr bwMode="auto">
          <a:xfrm>
            <a:off x="442913" y="773113"/>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ctr" eaLnBrk="1" hangingPunct="1">
              <a:buFont typeface="Arial" panose="020B0604020202020204" pitchFamily="34" charset="0"/>
              <a:buNone/>
            </a:pPr>
            <a:endParaRPr lang="zh-CN" altLang="zh-CN" sz="2400" b="0" i="0" baseline="0">
              <a:latin typeface="Tahoma" panose="020B0604030504040204" pitchFamily="34" charset="0"/>
              <a:ea typeface="宋体" panose="02010600030101010101" pitchFamily="2" charset="-122"/>
            </a:endParaRPr>
          </a:p>
        </p:txBody>
      </p:sp>
      <p:sp>
        <p:nvSpPr>
          <p:cNvPr id="131081" name="Rectangle 10">
            <a:extLst>
              <a:ext uri="{FF2B5EF4-FFF2-40B4-BE49-F238E27FC236}">
                <a16:creationId xmlns:a16="http://schemas.microsoft.com/office/drawing/2014/main" id="{7AA163F6-DF2D-0B79-5C22-C0DEADC7AF66}"/>
              </a:ext>
            </a:extLst>
          </p:cNvPr>
          <p:cNvSpPr>
            <a:spLocks noChangeArrowheads="1"/>
          </p:cNvSpPr>
          <p:nvPr/>
        </p:nvSpPr>
        <p:spPr bwMode="auto">
          <a:xfrm>
            <a:off x="152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131082" name="Rectangle 11">
            <a:extLst>
              <a:ext uri="{FF2B5EF4-FFF2-40B4-BE49-F238E27FC236}">
                <a16:creationId xmlns:a16="http://schemas.microsoft.com/office/drawing/2014/main" id="{49B8F461-FFBC-BCF6-0466-3EB12CB7DE35}"/>
              </a:ext>
            </a:extLst>
          </p:cNvPr>
          <p:cNvSpPr>
            <a:spLocks noChangeArrowheads="1"/>
          </p:cNvSpPr>
          <p:nvPr/>
        </p:nvSpPr>
        <p:spPr bwMode="auto">
          <a:xfrm>
            <a:off x="228600" y="1447800"/>
            <a:ext cx="853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buFont typeface="Arial" panose="020B0604020202020204" pitchFamily="34" charset="0"/>
              <a:buNone/>
            </a:pPr>
            <a:r>
              <a:rPr lang="zh-CN" altLang="en-US" baseline="0">
                <a:ea typeface="宋体" panose="02010600030101010101" pitchFamily="2" charset="-122"/>
              </a:rPr>
              <a:t>        我们把两点间的链路看做管道。管道的横截面表示带宽，管道的长度表示延迟。我们可以说管道的容量定义了带宽延迟乘积，如图3.33所示。</a:t>
            </a:r>
          </a:p>
        </p:txBody>
      </p:sp>
      <p:sp>
        <p:nvSpPr>
          <p:cNvPr id="131083" name="Text Box 12">
            <a:extLst>
              <a:ext uri="{FF2B5EF4-FFF2-40B4-BE49-F238E27FC236}">
                <a16:creationId xmlns:a16="http://schemas.microsoft.com/office/drawing/2014/main" id="{8F20B917-AD3A-A1C1-609F-B6E68655472C}"/>
              </a:ext>
            </a:extLst>
          </p:cNvPr>
          <p:cNvSpPr txBox="1">
            <a:spLocks noChangeArrowheads="1"/>
          </p:cNvSpPr>
          <p:nvPr/>
        </p:nvSpPr>
        <p:spPr bwMode="auto">
          <a:xfrm>
            <a:off x="1143000" y="182563"/>
            <a:ext cx="15033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3200" baseline="0">
                <a:solidFill>
                  <a:schemeClr val="hlink"/>
                </a:solidFill>
                <a:ea typeface="宋体" panose="02010600030101010101" pitchFamily="2" charset="-122"/>
              </a:rPr>
              <a:t>例  3.48</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灯片编号占位符 1">
            <a:extLst>
              <a:ext uri="{FF2B5EF4-FFF2-40B4-BE49-F238E27FC236}">
                <a16:creationId xmlns:a16="http://schemas.microsoft.com/office/drawing/2014/main" id="{E42DAF9B-3165-12A2-C321-57B08507B96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C5A8783D-32FA-4524-9BB6-132ACE50B8BA}" type="slidenum">
              <a:rPr lang="en-US" altLang="zh-CN" sz="2000" i="0" baseline="0" smtClean="0">
                <a:latin typeface="Arial" panose="020B0604020202020204" pitchFamily="34" charset="0"/>
              </a:rPr>
              <a:pPr/>
              <a:t>126</a:t>
            </a:fld>
            <a:endParaRPr lang="en-US" altLang="zh-CN" sz="2000" i="0" baseline="0">
              <a:latin typeface="Arial" panose="020B0604020202020204" pitchFamily="34" charset="0"/>
            </a:endParaRPr>
          </a:p>
        </p:txBody>
      </p:sp>
      <p:sp>
        <p:nvSpPr>
          <p:cNvPr id="132099" name="Line 2">
            <a:extLst>
              <a:ext uri="{FF2B5EF4-FFF2-40B4-BE49-F238E27FC236}">
                <a16:creationId xmlns:a16="http://schemas.microsoft.com/office/drawing/2014/main" id="{A90D75B5-F555-1D22-6779-F5926B3116E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00" name="Line 3">
            <a:extLst>
              <a:ext uri="{FF2B5EF4-FFF2-40B4-BE49-F238E27FC236}">
                <a16:creationId xmlns:a16="http://schemas.microsoft.com/office/drawing/2014/main" id="{AB54A8F0-6140-489B-8A6C-0F08E22F00B8}"/>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2101" name="Text Box 4">
            <a:extLst>
              <a:ext uri="{FF2B5EF4-FFF2-40B4-BE49-F238E27FC236}">
                <a16:creationId xmlns:a16="http://schemas.microsoft.com/office/drawing/2014/main" id="{3AC10307-1A0E-D36E-4109-5C0369E51521}"/>
              </a:ext>
            </a:extLst>
          </p:cNvPr>
          <p:cNvSpPr txBox="1">
            <a:spLocks noChangeArrowheads="1"/>
          </p:cNvSpPr>
          <p:nvPr/>
        </p:nvSpPr>
        <p:spPr bwMode="auto">
          <a:xfrm>
            <a:off x="304800" y="381000"/>
            <a:ext cx="3916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3.32  </a:t>
            </a:r>
            <a:r>
              <a:rPr lang="zh-CN" altLang="en-US" sz="2000" baseline="0">
                <a:ea typeface="宋体" panose="02010600030101010101" pitchFamily="2" charset="-122"/>
              </a:rPr>
              <a:t>在情形2下用位充满链路</a:t>
            </a:r>
          </a:p>
        </p:txBody>
      </p:sp>
      <p:sp>
        <p:nvSpPr>
          <p:cNvPr id="132102" name="Line 5">
            <a:extLst>
              <a:ext uri="{FF2B5EF4-FFF2-40B4-BE49-F238E27FC236}">
                <a16:creationId xmlns:a16="http://schemas.microsoft.com/office/drawing/2014/main" id="{B6DFDB4E-2DEC-E05B-DC83-D3857C0C0E5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32103" name="Picture 6">
            <a:extLst>
              <a:ext uri="{FF2B5EF4-FFF2-40B4-BE49-F238E27FC236}">
                <a16:creationId xmlns:a16="http://schemas.microsoft.com/office/drawing/2014/main" id="{112E2674-80FC-26D6-38B1-87F3D95A8F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563" y="1598613"/>
            <a:ext cx="7386637" cy="442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灯片编号占位符 1">
            <a:extLst>
              <a:ext uri="{FF2B5EF4-FFF2-40B4-BE49-F238E27FC236}">
                <a16:creationId xmlns:a16="http://schemas.microsoft.com/office/drawing/2014/main" id="{1B086CED-531D-F077-49A6-FC5C842F2B9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en-US" altLang="zh-CN" sz="2000" i="0" baseline="0">
                <a:latin typeface="Arial" panose="020B0604020202020204" pitchFamily="34" charset="0"/>
              </a:rPr>
              <a:t>3.</a:t>
            </a:r>
            <a:fld id="{1A6EEDB7-28FF-426C-BBEA-4E0A8DD31B5E}" type="slidenum">
              <a:rPr lang="en-US" altLang="zh-CN" sz="2000" i="0" baseline="0" smtClean="0">
                <a:latin typeface="Arial" panose="020B0604020202020204" pitchFamily="34" charset="0"/>
              </a:rPr>
              <a:pPr/>
              <a:t>127</a:t>
            </a:fld>
            <a:endParaRPr lang="en-US" altLang="zh-CN" sz="2000" i="0" baseline="0">
              <a:latin typeface="Arial" panose="020B0604020202020204" pitchFamily="34" charset="0"/>
            </a:endParaRPr>
          </a:p>
        </p:txBody>
      </p:sp>
      <p:sp>
        <p:nvSpPr>
          <p:cNvPr id="133123" name="Line 2">
            <a:extLst>
              <a:ext uri="{FF2B5EF4-FFF2-40B4-BE49-F238E27FC236}">
                <a16:creationId xmlns:a16="http://schemas.microsoft.com/office/drawing/2014/main" id="{7B4B4DDD-AD1B-2E26-60F4-B947C02126B2}"/>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4" name="Line 3">
            <a:extLst>
              <a:ext uri="{FF2B5EF4-FFF2-40B4-BE49-F238E27FC236}">
                <a16:creationId xmlns:a16="http://schemas.microsoft.com/office/drawing/2014/main" id="{E07407C3-39E3-678C-678C-1C77C78FEC1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5" name="Text Box 4">
            <a:extLst>
              <a:ext uri="{FF2B5EF4-FFF2-40B4-BE49-F238E27FC236}">
                <a16:creationId xmlns:a16="http://schemas.microsoft.com/office/drawing/2014/main" id="{ACBEB4AE-7950-162F-BA20-77B5FD3D576C}"/>
              </a:ext>
            </a:extLst>
          </p:cNvPr>
          <p:cNvSpPr txBox="1">
            <a:spLocks noChangeArrowheads="1"/>
          </p:cNvSpPr>
          <p:nvPr/>
        </p:nvSpPr>
        <p:spPr bwMode="auto">
          <a:xfrm>
            <a:off x="304800" y="762000"/>
            <a:ext cx="3535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a:solidFill>
                  <a:schemeClr val="folHlink"/>
                </a:solidFill>
                <a:ea typeface="宋体" panose="02010600030101010101" pitchFamily="2" charset="-122"/>
              </a:rPr>
              <a:t>图 3.33  </a:t>
            </a:r>
            <a:r>
              <a:rPr lang="zh-CN" altLang="en-US" sz="2000" baseline="0">
                <a:ea typeface="宋体" panose="02010600030101010101" pitchFamily="2" charset="-122"/>
              </a:rPr>
              <a:t>带宽延迟乘积的概念</a:t>
            </a:r>
          </a:p>
        </p:txBody>
      </p:sp>
      <p:sp>
        <p:nvSpPr>
          <p:cNvPr id="133126" name="Line 5">
            <a:extLst>
              <a:ext uri="{FF2B5EF4-FFF2-40B4-BE49-F238E27FC236}">
                <a16:creationId xmlns:a16="http://schemas.microsoft.com/office/drawing/2014/main" id="{496569FA-F084-9FD6-D016-F4A041DDFBF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33127" name="Picture 6">
            <a:extLst>
              <a:ext uri="{FF2B5EF4-FFF2-40B4-BE49-F238E27FC236}">
                <a16:creationId xmlns:a16="http://schemas.microsoft.com/office/drawing/2014/main" id="{A4CDA1A0-4E9D-5CA5-E096-EC89C7CD8D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538" y="3076575"/>
            <a:ext cx="7916862"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en-US" sz="2800" b="1" i="1" u="none" strike="noStrike" cap="none" normalizeH="0" baseline="-1800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en-US" sz="2800" b="1" i="1" u="none" strike="noStrike" cap="none" normalizeH="0" baseline="-18000" smtClean="0">
            <a:ln>
              <a:noFill/>
            </a:ln>
            <a:solidFill>
              <a:schemeClr val="tx1"/>
            </a:solidFill>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427</TotalTime>
  <Pages>0</Pages>
  <Words>5782</Words>
  <Characters>0</Characters>
  <Application>Microsoft Office PowerPoint</Application>
  <DocSecurity>0</DocSecurity>
  <PresentationFormat>全屏显示(4:3)</PresentationFormat>
  <Lines>0</Lines>
  <Paragraphs>562</Paragraphs>
  <Slides>127</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127</vt:i4>
      </vt:variant>
    </vt:vector>
  </HeadingPairs>
  <TitlesOfParts>
    <vt:vector size="138" baseType="lpstr">
      <vt:lpstr>Times New Roman</vt:lpstr>
      <vt:lpstr>Arial</vt:lpstr>
      <vt:lpstr>Tahoma</vt:lpstr>
      <vt:lpstr>Wingdings</vt:lpstr>
      <vt:lpstr>宋体</vt:lpstr>
      <vt:lpstr>McGrawHill-Italic</vt:lpstr>
      <vt:lpstr>Times</vt:lpstr>
      <vt:lpstr>Calibri</vt:lpstr>
      <vt:lpstr>Blends</vt:lpstr>
      <vt:lpstr>Microsoft 公式 3.0</vt:lpstr>
      <vt:lpstr>Microsoft Graph 图表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Valued Gateway Client</dc:creator>
  <cp:keywords/>
  <dc:description/>
  <cp:lastModifiedBy>浩嘉 申</cp:lastModifiedBy>
  <cp:revision>200</cp:revision>
  <dcterms:created xsi:type="dcterms:W3CDTF">2000-01-15T04:50:39Z</dcterms:created>
  <dcterms:modified xsi:type="dcterms:W3CDTF">2026-06-02T07:11:56Z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2052-9.1.0.4764</vt:lpwstr>
  </property>
</Properties>
</file>