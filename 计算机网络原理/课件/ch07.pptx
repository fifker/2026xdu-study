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33"/>
  </p:notesMasterIdLst>
  <p:sldIdLst>
    <p:sldId id="776" r:id="rId2"/>
    <p:sldId id="747" r:id="rId3"/>
    <p:sldId id="748" r:id="rId4"/>
    <p:sldId id="535" r:id="rId5"/>
    <p:sldId id="749" r:id="rId6"/>
    <p:sldId id="750" r:id="rId7"/>
    <p:sldId id="772" r:id="rId8"/>
    <p:sldId id="751" r:id="rId9"/>
    <p:sldId id="752" r:id="rId10"/>
    <p:sldId id="753" r:id="rId11"/>
    <p:sldId id="773" r:id="rId12"/>
    <p:sldId id="754" r:id="rId13"/>
    <p:sldId id="755" r:id="rId14"/>
    <p:sldId id="756" r:id="rId15"/>
    <p:sldId id="757" r:id="rId16"/>
    <p:sldId id="758" r:id="rId17"/>
    <p:sldId id="759" r:id="rId18"/>
    <p:sldId id="774" r:id="rId19"/>
    <p:sldId id="760" r:id="rId20"/>
    <p:sldId id="761" r:id="rId21"/>
    <p:sldId id="762" r:id="rId22"/>
    <p:sldId id="746" r:id="rId23"/>
    <p:sldId id="763" r:id="rId24"/>
    <p:sldId id="764" r:id="rId25"/>
    <p:sldId id="775" r:id="rId26"/>
    <p:sldId id="765" r:id="rId27"/>
    <p:sldId id="766" r:id="rId28"/>
    <p:sldId id="769" r:id="rId29"/>
    <p:sldId id="767" r:id="rId30"/>
    <p:sldId id="770" r:id="rId31"/>
    <p:sldId id="771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>
          <p15:clr>
            <a:srgbClr val="A4A3A4"/>
          </p15:clr>
        </p15:guide>
        <p15:guide id="2" pos="27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FFFF00"/>
    <a:srgbClr val="FFCCFF"/>
    <a:srgbClr val="CCFFFF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66" d="100"/>
          <a:sy n="66" d="100"/>
        </p:scale>
        <p:origin x="0" y="0"/>
      </p:cViewPr>
      <p:guideLst>
        <p:guide orient="horz" pos="2194"/>
        <p:guide pos="2774"/>
      </p:guideLst>
    </p:cSldViewPr>
  </p:slide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2DB83C6-B23E-BA4B-899C-B02CD4C563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430D9EC-7591-1897-DF47-BE9E0B23846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5F48CB6-3C26-6FA9-D588-75A51F83E8AC}"/>
              </a:ext>
            </a:extLst>
          </p:cNvPr>
          <p:cNvSpPr>
            <a:spLocks noGrp="1" noRo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3158AAB-29CF-CF90-F900-6AEBBF724D98}"/>
              </a:ext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7CCF6B7C-6B24-E9DC-BCFD-51E01BCB976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522B271-3611-B07E-5F6A-84BE853046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1CAF5EAA-A37C-47DE-B958-888B7475022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>
            <a:extLst>
              <a:ext uri="{FF2B5EF4-FFF2-40B4-BE49-F238E27FC236}">
                <a16:creationId xmlns:a16="http://schemas.microsoft.com/office/drawing/2014/main" id="{0110E9D4-2934-A746-977B-70F04786BA1E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2051" name="Group 3">
              <a:extLst>
                <a:ext uri="{FF2B5EF4-FFF2-40B4-BE49-F238E27FC236}">
                  <a16:creationId xmlns:a16="http://schemas.microsoft.com/office/drawing/2014/main" id="{26ECF055-5AEF-5FDB-FB83-FBF0C4FA51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68"/>
              <a:ext cx="448" cy="299"/>
              <a:chOff x="0" y="0"/>
              <a:chExt cx="624" cy="432"/>
            </a:xfrm>
          </p:grpSpPr>
          <p:sp>
            <p:nvSpPr>
              <p:cNvPr id="2052" name="Rectangle 4">
                <a:extLst>
                  <a:ext uri="{FF2B5EF4-FFF2-40B4-BE49-F238E27FC236}">
                    <a16:creationId xmlns:a16="http://schemas.microsoft.com/office/drawing/2014/main" id="{A927BA8A-E7B5-83BD-6929-05BE50DBF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3" name="Rectangle 5">
                <a:extLst>
                  <a:ext uri="{FF2B5EF4-FFF2-40B4-BE49-F238E27FC236}">
                    <a16:creationId xmlns:a16="http://schemas.microsoft.com/office/drawing/2014/main" id="{F1F5F990-31D7-81E9-1D5F-F4C3D76EA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54" name="Group 6">
              <a:extLst>
                <a:ext uri="{FF2B5EF4-FFF2-40B4-BE49-F238E27FC236}">
                  <a16:creationId xmlns:a16="http://schemas.microsoft.com/office/drawing/2014/main" id="{A85F692F-D29E-C44F-6674-818E6A455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334"/>
              <a:ext cx="465" cy="299"/>
              <a:chOff x="0" y="0"/>
              <a:chExt cx="672" cy="432"/>
            </a:xfrm>
          </p:grpSpPr>
          <p:sp>
            <p:nvSpPr>
              <p:cNvPr id="2055" name="Rectangle 7">
                <a:extLst>
                  <a:ext uri="{FF2B5EF4-FFF2-40B4-BE49-F238E27FC236}">
                    <a16:creationId xmlns:a16="http://schemas.microsoft.com/office/drawing/2014/main" id="{67BC4A4D-D967-92FD-F466-9A5F91B57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6" name="Rectangle 8">
                <a:extLst>
                  <a:ext uri="{FF2B5EF4-FFF2-40B4-BE49-F238E27FC236}">
                    <a16:creationId xmlns:a16="http://schemas.microsoft.com/office/drawing/2014/main" id="{53EC6592-CFD5-AB08-FB6C-DA5E4FA16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7" name="Rectangle 9">
              <a:extLst>
                <a:ext uri="{FF2B5EF4-FFF2-40B4-BE49-F238E27FC236}">
                  <a16:creationId xmlns:a16="http://schemas.microsoft.com/office/drawing/2014/main" id="{33BEDB1B-343B-1609-23C9-D6C18F932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" name="Rectangle 10">
              <a:extLst>
                <a:ext uri="{FF2B5EF4-FFF2-40B4-BE49-F238E27FC236}">
                  <a16:creationId xmlns:a16="http://schemas.microsoft.com/office/drawing/2014/main" id="{FA8568D3-07BA-C5D2-8803-DBDD86086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" name="Rectangle 11">
              <a:extLst>
                <a:ext uri="{FF2B5EF4-FFF2-40B4-BE49-F238E27FC236}">
                  <a16:creationId xmlns:a16="http://schemas.microsoft.com/office/drawing/2014/main" id="{B8CAF36B-8084-F896-FAE0-9CAAEE5E09F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60" name="Rectangle 12">
            <a:extLst>
              <a:ext uri="{FF2B5EF4-FFF2-40B4-BE49-F238E27FC236}">
                <a16:creationId xmlns:a16="http://schemas.microsoft.com/office/drawing/2014/main" id="{5FCF6F4E-2266-5031-3F20-48337CCB42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A4F6EB2E-929B-6FE5-7DE8-184239A2467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62D7A4D0-85CA-B2DD-1513-48911A0FF7D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6238E7B8-4CFD-A43F-7359-9438213E93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7F43C97A-FBFF-361B-390B-BBE4A99800A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+mn-lt"/>
              </a:defRPr>
            </a:lvl1pPr>
          </a:lstStyle>
          <a:p>
            <a:fld id="{57B44B4F-C1CF-4935-8C21-F9C579D1665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065" name="Text Box 17">
            <a:extLst>
              <a:ext uri="{FF2B5EF4-FFF2-40B4-BE49-F238E27FC236}">
                <a16:creationId xmlns:a16="http://schemas.microsoft.com/office/drawing/2014/main" id="{338F0167-0A26-E397-D88A-AE24A9BEA7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0">
                <a:latin typeface="McGrawHill-Italic" pitchFamily="2" charset="0"/>
              </a:rPr>
              <a:t>McGraw-Hill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2066" name="Text Box 18">
            <a:extLst>
              <a:ext uri="{FF2B5EF4-FFF2-40B4-BE49-F238E27FC236}">
                <a16:creationId xmlns:a16="http://schemas.microsoft.com/office/drawing/2014/main" id="{3F5F324E-2562-CCB2-4BCD-5AE1AD70A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 typeface="Arial" panose="020B0604020202020204" pitchFamily="34" charset="0"/>
              <a:buChar char="©"/>
            </a:pPr>
            <a:r>
              <a:rPr lang="en-US" altLang="zh-CN" sz="1400" b="0">
                <a:latin typeface="McGrawHill-Italic" pitchFamily="2" charset="0"/>
              </a:rPr>
              <a:t>The McGraw-Hill Companies, Inc., 2000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077B46-0BCB-493A-82CD-E325A93EF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42D8E2-01AD-0E37-319D-C22C9A97E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345375-219E-1F16-8DA3-DAC04A4C49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7.</a:t>
            </a:r>
            <a:fld id="{7F3AE6BB-82C5-4E3A-8C7D-C48E25ECE27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7783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EE3D1-1936-2D83-95B8-2FE0BE2A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854FD9-5BD6-7FCC-A0FC-1BB2CD34F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2F5ED1-F5AC-6223-E28B-9F3735ECF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7.</a:t>
            </a:r>
            <a:fld id="{8B26E84D-FD17-4D3D-A4D3-7405DDB0AE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5511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8F4C03-5D83-C851-2A85-6C343E05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1AE74D-12FC-5C09-90AC-88E10AE8C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8A8391-16D8-BC3B-332F-EB0B4065C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75AE89-95F5-5297-F66B-CF0EABA6B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7.</a:t>
            </a:r>
            <a:fld id="{D56AB968-F120-422A-9738-CC397AC5A7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6524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F1C2B-998E-26E7-2D9F-B0CA73B0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EEB771-7FA5-AF33-45F4-82857F623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B88D66-76D8-880D-014C-876C71EFF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11C661-5A04-F618-F978-DE0ADDF84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77785B-561F-1EEA-177D-C81137624C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0DDFDA-234D-AC0D-0E4C-ED48E11336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7.</a:t>
            </a:r>
            <a:fld id="{7C3C17F0-DF61-480A-AA50-23CB45EC5B4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0D4A0-1B78-9780-06ED-BAB6A68D6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65A2BA-25BD-C607-553B-D7278DE22A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7.</a:t>
            </a:r>
            <a:fld id="{7D812A2B-531E-4F03-8A47-ADF2FF020F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9411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699C9A-B312-CE4E-118B-7721B4150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7.</a:t>
            </a:r>
            <a:fld id="{4462F0F9-72F1-419A-B91B-BBB97F0A5E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5518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E6AE0-E741-55CD-3F79-F3A5CB863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0C2E2-D08C-A6B9-33DB-696E84E82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830095-FF13-C1ED-51A5-0FE21CF25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150A7D-8151-5FF9-4EE6-1DFC69690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7.</a:t>
            </a:r>
            <a:fld id="{A89091F3-2F75-42F4-96FA-83DF8FAE548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4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32678-2FA8-C4E6-CA14-5AA77ADA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697019E-76D3-5E36-84ED-2385E804B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65D740-1CCD-4E52-8B2F-DFD3ECDEE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D9652F-9641-504B-3938-C0316BB0F8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7.</a:t>
            </a:r>
            <a:fld id="{A5BD81B4-83A4-4B7A-9285-E9EF904945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068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16B89C-89A9-8BBA-64FF-351779FBD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EA5ABD-3BFF-0A08-3F7B-7CA1E34C4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2E198D-FF19-0710-9A7E-1373D3EE7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7.</a:t>
            </a:r>
            <a:fld id="{676D8B74-056F-4FB1-AF55-5BF6AE8FF0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262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BE3F0FC-E486-F22E-9F0B-75F2ED461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A5CFB1-5A24-ECE2-63D0-3C3F1964C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0911CC-794E-52E4-5075-95DF0C4AC8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7.</a:t>
            </a:r>
            <a:fld id="{4436669E-496B-42B1-B2E1-D4A3B860A5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7930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D7DCEC3-0F11-565F-099D-D554E98A3E2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7C63CD-5A13-03B3-5590-C1813FC7AE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7.</a:t>
            </a:r>
            <a:fld id="{74543E12-88E8-46C9-AFA9-7535C4EFAFD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387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7A77FDA-98CE-73E7-81DF-D4A2633E004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7.</a:t>
            </a:r>
            <a:fld id="{6392EB1C-E505-47C3-A49E-27997DEC026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0305232D-9135-0DF6-4BD0-F3DB732D16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82831167-3EA5-4FC2-B287-8505C12AC4CA}" type="slidenum">
              <a:rPr lang="en-US" altLang="zh-CN"/>
              <a:pPr/>
              <a:t>1</a:t>
            </a:fld>
            <a:endParaRPr lang="en-US" altLang="zh-C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6A56EEE-BBA3-64BC-4EED-8E518028B0C7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9" name="Rectangle 3">
            <a:extLst>
              <a:ext uri="{FF2B5EF4-FFF2-40B4-BE49-F238E27FC236}">
                <a16:creationId xmlns:a16="http://schemas.microsoft.com/office/drawing/2014/main" id="{73A2212B-3DB0-3529-A191-43A035E17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第</a:t>
            </a:r>
            <a:r>
              <a:rPr lang="en-US" altLang="zh-CN" sz="4400">
                <a:solidFill>
                  <a:schemeClr val="tx2"/>
                </a:solidFill>
              </a:rPr>
              <a:t>7</a:t>
            </a:r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章</a:t>
            </a:r>
            <a:endParaRPr lang="en-US" altLang="zh-CN" sz="4400">
              <a:solidFill>
                <a:schemeClr val="tx2"/>
              </a:solidFill>
            </a:endParaRPr>
          </a:p>
          <a:p>
            <a:pPr algn="ctr"/>
            <a:endParaRPr lang="en-US" altLang="zh-CN" sz="2000">
              <a:solidFill>
                <a:schemeClr val="tx2"/>
              </a:solidFill>
            </a:endParaRPr>
          </a:p>
          <a:p>
            <a:pPr algn="ctr"/>
            <a:r>
              <a:rPr lang="zh-CN" altLang="en-US" sz="4400">
                <a:ea typeface="宋体" panose="02010600030101010101" pitchFamily="2" charset="-122"/>
              </a:rPr>
              <a:t>传输介质</a:t>
            </a:r>
          </a:p>
        </p:txBody>
      </p:sp>
      <p:sp>
        <p:nvSpPr>
          <p:cNvPr id="4100" name="Text Box 4">
            <a:extLst>
              <a:ext uri="{FF2B5EF4-FFF2-40B4-BE49-F238E27FC236}">
                <a16:creationId xmlns:a16="http://schemas.microsoft.com/office/drawing/2014/main" id="{34E6260D-8CA0-7A8A-EE5F-B23AD08E9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E227B2-3A31-06ED-5822-D3B65D195B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59171424-6530-4F4E-9BEB-2DEFA602D647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5122" name="Line 2">
            <a:extLst>
              <a:ext uri="{FF2B5EF4-FFF2-40B4-BE49-F238E27FC236}">
                <a16:creationId xmlns:a16="http://schemas.microsoft.com/office/drawing/2014/main" id="{D12655E2-840A-4A71-8C4A-A9E0200F13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3" name="Line 3">
            <a:extLst>
              <a:ext uri="{FF2B5EF4-FFF2-40B4-BE49-F238E27FC236}">
                <a16:creationId xmlns:a16="http://schemas.microsoft.com/office/drawing/2014/main" id="{C90723B0-7473-5A36-5C28-B3937EA3B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04460050-9966-71B9-464D-6A79953A5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052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7.1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传输介质与物理层</a:t>
            </a:r>
          </a:p>
        </p:txBody>
      </p:sp>
      <p:sp>
        <p:nvSpPr>
          <p:cNvPr id="5125" name="Line 5">
            <a:extLst>
              <a:ext uri="{FF2B5EF4-FFF2-40B4-BE49-F238E27FC236}">
                <a16:creationId xmlns:a16="http://schemas.microsoft.com/office/drawing/2014/main" id="{DE4F73A8-8BCF-81B1-AE05-8404D77AB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B4671957-0080-5954-3D0E-AF1288934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2584450"/>
            <a:ext cx="8729662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7" name="TextBox 10">
            <a:extLst>
              <a:ext uri="{FF2B5EF4-FFF2-40B4-BE49-F238E27FC236}">
                <a16:creationId xmlns:a16="http://schemas.microsoft.com/office/drawing/2014/main" id="{41EBC66E-FF95-363D-8A42-F9AAF0C4B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971800"/>
            <a:ext cx="1752600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物理层</a:t>
            </a:r>
          </a:p>
        </p:txBody>
      </p:sp>
      <p:sp>
        <p:nvSpPr>
          <p:cNvPr id="5128" name="TextBox 10">
            <a:extLst>
              <a:ext uri="{FF2B5EF4-FFF2-40B4-BE49-F238E27FC236}">
                <a16:creationId xmlns:a16="http://schemas.microsoft.com/office/drawing/2014/main" id="{665DB1A7-14F2-0DF5-0CCB-7A7CFBCB5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971800"/>
            <a:ext cx="1752600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物理层</a:t>
            </a:r>
          </a:p>
        </p:txBody>
      </p:sp>
      <p:sp>
        <p:nvSpPr>
          <p:cNvPr id="5129" name="TextBox 12">
            <a:extLst>
              <a:ext uri="{FF2B5EF4-FFF2-40B4-BE49-F238E27FC236}">
                <a16:creationId xmlns:a16="http://schemas.microsoft.com/office/drawing/2014/main" id="{D847FF9F-0233-C61B-40FA-BBF974100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657600"/>
            <a:ext cx="2438400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传输介质</a:t>
            </a:r>
          </a:p>
        </p:txBody>
      </p:sp>
      <p:sp>
        <p:nvSpPr>
          <p:cNvPr id="5130" name="TextBox 13">
            <a:extLst>
              <a:ext uri="{FF2B5EF4-FFF2-40B4-BE49-F238E27FC236}">
                <a16:creationId xmlns:a16="http://schemas.microsoft.com/office/drawing/2014/main" id="{5FD43FF4-6680-FB21-C3F9-24AC38AA7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795838"/>
            <a:ext cx="2438400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电缆或空气</a:t>
            </a:r>
          </a:p>
        </p:txBody>
      </p:sp>
      <p:sp>
        <p:nvSpPr>
          <p:cNvPr id="5131" name="TextBox 8">
            <a:extLst>
              <a:ext uri="{FF2B5EF4-FFF2-40B4-BE49-F238E27FC236}">
                <a16:creationId xmlns:a16="http://schemas.microsoft.com/office/drawing/2014/main" id="{60DF42A8-C249-4DE5-C07F-3F2ED54DC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362200"/>
            <a:ext cx="1143000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发送方</a:t>
            </a:r>
          </a:p>
        </p:txBody>
      </p:sp>
      <p:sp>
        <p:nvSpPr>
          <p:cNvPr id="5132" name="TextBox 8">
            <a:extLst>
              <a:ext uri="{FF2B5EF4-FFF2-40B4-BE49-F238E27FC236}">
                <a16:creationId xmlns:a16="http://schemas.microsoft.com/office/drawing/2014/main" id="{455B8D69-39B3-5CC5-395F-B744C427C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438400"/>
            <a:ext cx="1143000" cy="4826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接收方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31F4E3-6BB1-DA1B-EB92-9722F57758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78188CCB-9FD0-4583-BCB3-54A27F6DA889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6146" name="Line 2">
            <a:extLst>
              <a:ext uri="{FF2B5EF4-FFF2-40B4-BE49-F238E27FC236}">
                <a16:creationId xmlns:a16="http://schemas.microsoft.com/office/drawing/2014/main" id="{44D96D7B-7884-6EFC-353A-6E22EA8AF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Line 3">
            <a:extLst>
              <a:ext uri="{FF2B5EF4-FFF2-40B4-BE49-F238E27FC236}">
                <a16:creationId xmlns:a16="http://schemas.microsoft.com/office/drawing/2014/main" id="{F888291E-88B5-DC66-6962-D8A60D1CE5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4471598B-F48A-6BB9-2757-87ABD84A0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874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传输介质的分类</a:t>
            </a:r>
          </a:p>
        </p:txBody>
      </p:sp>
      <p:sp>
        <p:nvSpPr>
          <p:cNvPr id="6149" name="Line 5">
            <a:extLst>
              <a:ext uri="{FF2B5EF4-FFF2-40B4-BE49-F238E27FC236}">
                <a16:creationId xmlns:a16="http://schemas.microsoft.com/office/drawing/2014/main" id="{C10A65D1-4395-4B00-F991-2D693FA80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50" name="Object 9">
            <a:extLst>
              <a:ext uri="{FF2B5EF4-FFF2-40B4-BE49-F238E27FC236}">
                <a16:creationId xmlns:a16="http://schemas.microsoft.com/office/drawing/2014/main" id="{9C398ACE-0D3A-21E2-B6B0-509DE92A6F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1752600"/>
          <a:ext cx="7688263" cy="364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750800" imgH="3917160" progId="Visio.Drawing.11">
                  <p:embed/>
                </p:oleObj>
              </mc:Choice>
              <mc:Fallback>
                <p:oleObj r:id="rId2" imgW="7750800" imgH="3917160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52600"/>
                        <a:ext cx="7688263" cy="364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52BB776-CB8E-2C16-BD4B-2641CCBFCD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82E2695C-EA02-41B3-8A39-A3D03122F57B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759B1C44-C867-A89B-1205-F1810B1B0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6C0C67B5-D14F-5E2E-10AA-2128FE106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2654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7-1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有向介质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75247C49-4859-3383-816B-BA6CE592D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ACF3ED78-E7E5-7D1F-4FDA-6A861BD19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738313"/>
            <a:ext cx="82296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     有向介质是指那些在设备之间提供通路的介质，包括双绞线、同轴电缆和光缆。</a:t>
            </a:r>
            <a:endParaRPr lang="zh-CN" altLang="en-US" sz="2800" i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0FC9E0F1-D69E-FE1D-7124-76EDDCB45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8" y="4679950"/>
            <a:ext cx="6551612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双绞线</a:t>
            </a:r>
            <a:b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同轴电缆</a:t>
            </a:r>
            <a:b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光缆</a:t>
            </a:r>
          </a:p>
        </p:txBody>
      </p:sp>
      <p:sp>
        <p:nvSpPr>
          <p:cNvPr id="7175" name="Text Box 7">
            <a:extLst>
              <a:ext uri="{FF2B5EF4-FFF2-40B4-BE49-F238E27FC236}">
                <a16:creationId xmlns:a16="http://schemas.microsoft.com/office/drawing/2014/main" id="{0EE01164-4D1E-259E-1982-82108AFA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91000"/>
            <a:ext cx="2790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本节讨论的主题</a:t>
            </a: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7B2616-FC9E-E73C-D9A2-7EC46B350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DD59E0CA-C014-4001-B2D9-F2AF6DDFC5A0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8194" name="Line 2">
            <a:extLst>
              <a:ext uri="{FF2B5EF4-FFF2-40B4-BE49-F238E27FC236}">
                <a16:creationId xmlns:a16="http://schemas.microsoft.com/office/drawing/2014/main" id="{94208719-7F83-B1A6-E493-8F099B25D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5" name="Line 3">
            <a:extLst>
              <a:ext uri="{FF2B5EF4-FFF2-40B4-BE49-F238E27FC236}">
                <a16:creationId xmlns:a16="http://schemas.microsoft.com/office/drawing/2014/main" id="{00649E91-3D84-EF6C-01DA-906E1870A3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862A6908-97B8-6CD0-0EA5-0A525EDFD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1858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双绞线</a:t>
            </a:r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371192A7-BA92-D8D6-E3D4-9809E14FF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918C4F2F-F9BE-A80F-37E9-F15ECEC1B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986088"/>
            <a:ext cx="8610600" cy="1204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9" name="TextBox 7">
            <a:extLst>
              <a:ext uri="{FF2B5EF4-FFF2-40B4-BE49-F238E27FC236}">
                <a16:creationId xmlns:a16="http://schemas.microsoft.com/office/drawing/2014/main" id="{FBF4043F-C461-E88D-8F99-ADB558FE8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52800"/>
            <a:ext cx="990600" cy="40640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 sz="19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绝缘层</a:t>
            </a:r>
          </a:p>
        </p:txBody>
      </p:sp>
      <p:sp>
        <p:nvSpPr>
          <p:cNvPr id="8200" name="TextBox 8">
            <a:extLst>
              <a:ext uri="{FF2B5EF4-FFF2-40B4-BE49-F238E27FC236}">
                <a16:creationId xmlns:a16="http://schemas.microsoft.com/office/drawing/2014/main" id="{098E091E-D3B9-76F9-58C3-F23807CAD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3352800"/>
            <a:ext cx="914400" cy="42227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导 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702A25-6EEA-B152-9642-B1770A02F1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4AA760DA-D5DA-42C5-A18C-683FBC77DF41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9218" name="Line 2">
            <a:extLst>
              <a:ext uri="{FF2B5EF4-FFF2-40B4-BE49-F238E27FC236}">
                <a16:creationId xmlns:a16="http://schemas.microsoft.com/office/drawing/2014/main" id="{7A555066-B4A6-9050-55F2-C24CE690D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1EC66B1E-944F-B0AA-0775-0F7213AD7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5604E8A6-ABED-69BB-137C-53E7931BC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556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7.4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非屏蔽双绞线</a:t>
            </a:r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(UTP )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和屏蔽双绞线</a:t>
            </a:r>
            <a:r>
              <a:rPr lang="en-US" altLang="zh-CN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( STP)</a:t>
            </a:r>
          </a:p>
        </p:txBody>
      </p:sp>
      <p:sp>
        <p:nvSpPr>
          <p:cNvPr id="9221" name="Line 5">
            <a:extLst>
              <a:ext uri="{FF2B5EF4-FFF2-40B4-BE49-F238E27FC236}">
                <a16:creationId xmlns:a16="http://schemas.microsoft.com/office/drawing/2014/main" id="{E96E0A3C-98FB-C8B3-33B6-2D800AC99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D2E4FC60-A557-1EB9-EE91-D54F1D7F1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2112963"/>
            <a:ext cx="8501062" cy="337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23" name="TextBox 8">
            <a:extLst>
              <a:ext uri="{FF2B5EF4-FFF2-40B4-BE49-F238E27FC236}">
                <a16:creationId xmlns:a16="http://schemas.microsoft.com/office/drawing/2014/main" id="{F8B92DDB-6C95-98E9-0778-AAC546793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691063"/>
            <a:ext cx="990600" cy="346075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 sz="15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塑料封套</a:t>
            </a:r>
          </a:p>
        </p:txBody>
      </p:sp>
      <p:sp>
        <p:nvSpPr>
          <p:cNvPr id="9224" name="TextBox 8">
            <a:extLst>
              <a:ext uri="{FF2B5EF4-FFF2-40B4-BE49-F238E27FC236}">
                <a16:creationId xmlns:a16="http://schemas.microsoft.com/office/drawing/2014/main" id="{76A86338-8344-5385-3832-B8DC5E0A6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724400"/>
            <a:ext cx="990600" cy="346075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 sz="15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塑料封套</a:t>
            </a:r>
            <a:endParaRPr lang="zh-CN" altLang="en-US" b="0">
              <a:ea typeface="宋体" panose="02010600030101010101" pitchFamily="2" charset="-122"/>
            </a:endParaRPr>
          </a:p>
        </p:txBody>
      </p:sp>
      <p:sp>
        <p:nvSpPr>
          <p:cNvPr id="9225" name="TextBox 10">
            <a:extLst>
              <a:ext uri="{FF2B5EF4-FFF2-40B4-BE49-F238E27FC236}">
                <a16:creationId xmlns:a16="http://schemas.microsoft.com/office/drawing/2014/main" id="{81BE2977-EA0B-E8FF-AE9E-D898E1EFB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362200"/>
            <a:ext cx="1066800" cy="315913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 sz="13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金属屏蔽层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4F4D51-FE98-4670-7BAF-79978AE98A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CE00E502-E590-4C77-BE01-68603C900F2D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0242" name="Text Box 2">
            <a:extLst>
              <a:ext uri="{FF2B5EF4-FFF2-40B4-BE49-F238E27FC236}">
                <a16:creationId xmlns:a16="http://schemas.microsoft.com/office/drawing/2014/main" id="{9568E65D-AB54-7AB0-6A34-BA4C06138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8600"/>
            <a:ext cx="3382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非屏蔽双绞线的分类</a:t>
            </a:r>
          </a:p>
        </p:txBody>
      </p:sp>
      <p:graphicFrame>
        <p:nvGraphicFramePr>
          <p:cNvPr id="10243" name="Group 3">
            <a:extLst>
              <a:ext uri="{FF2B5EF4-FFF2-40B4-BE49-F238E27FC236}">
                <a16:creationId xmlns:a16="http://schemas.microsoft.com/office/drawing/2014/main" id="{939A5A2A-DBC9-2F9B-4DFC-79545364E14A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838200"/>
          <a:ext cx="7467600" cy="52482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428977844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54460308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871184626"/>
                    </a:ext>
                  </a:extLst>
                </a:gridCol>
                <a:gridCol w="1387475">
                  <a:extLst>
                    <a:ext uri="{9D8B030D-6E8A-4147-A177-3AD203B41FA5}">
                      <a16:colId xmlns:a16="http://schemas.microsoft.com/office/drawing/2014/main" val="2673377347"/>
                    </a:ext>
                  </a:extLst>
                </a:gridCol>
              </a:tblGrid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分类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说明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数据速率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(Mbps)</a:t>
                      </a:r>
                      <a:endParaRPr kumimoji="0" lang="zh-CN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用途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423269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电话中使用的非屏蔽双绞线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&lt;0.1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电话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652123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本来用于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-线路的非屏蔽双绞线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-1线路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426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改进的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CAT 2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，用于局域网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局域网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304190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改进的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CAT 3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，用于令牌环网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局域网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535545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电缆线通常带有一个盒子和外面护层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24AWG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局域网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079057"/>
                  </a:ext>
                </a:extLst>
              </a:tr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5E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类线的扩充包括最小串扰和抗电磁干扰的额外特性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125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局域网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396845"/>
                  </a:ext>
                </a:extLst>
              </a:tr>
              <a:tr h="6508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数据速率通过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200Mbps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测试的一种新的电缆线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局域网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517858"/>
                  </a:ext>
                </a:extLst>
              </a:tr>
              <a:tr h="1190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有时又称为SSTP(屏蔽网屏双绞线)，每对双绞线独立的地封装在螺旋状的一个金属薄膜的箔中，在外部再加封套。屏蔽减少串扰和增加数据率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局域网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8641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FC5CBE-5A01-47E9-481B-2BCD5B096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A37B97D3-CC14-4888-8850-AA378B205B47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1266" name="Line 2">
            <a:extLst>
              <a:ext uri="{FF2B5EF4-FFF2-40B4-BE49-F238E27FC236}">
                <a16:creationId xmlns:a16="http://schemas.microsoft.com/office/drawing/2014/main" id="{35E7C0C8-B9A0-9D3B-68EF-1C22B075B3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7" name="Line 3">
            <a:extLst>
              <a:ext uri="{FF2B5EF4-FFF2-40B4-BE49-F238E27FC236}">
                <a16:creationId xmlns:a16="http://schemas.microsoft.com/office/drawing/2014/main" id="{74E12001-6CDD-3EC6-0C47-C4E5FD9EE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5115DC48-1209-7ADC-FF0A-EDD836783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1002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7.5  </a:t>
            </a:r>
            <a:r>
              <a:rPr lang="zh-CN" altLang="en-US" sz="2000" i="1">
                <a:latin typeface="Times New Roman" panose="02020603050405020304" pitchFamily="18" charset="0"/>
              </a:rPr>
              <a:t>UTP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连接</a:t>
            </a:r>
          </a:p>
        </p:txBody>
      </p:sp>
      <p:sp>
        <p:nvSpPr>
          <p:cNvPr id="11269" name="Line 5">
            <a:extLst>
              <a:ext uri="{FF2B5EF4-FFF2-40B4-BE49-F238E27FC236}">
                <a16:creationId xmlns:a16="http://schemas.microsoft.com/office/drawing/2014/main" id="{D7E52357-28C7-6F4B-53DC-421175C11E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FD662A57-1EBB-F989-A84E-BDE6ED674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2244725"/>
            <a:ext cx="6481762" cy="270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71" name="TextBox 7">
            <a:extLst>
              <a:ext uri="{FF2B5EF4-FFF2-40B4-BE49-F238E27FC236}">
                <a16:creationId xmlns:a16="http://schemas.microsoft.com/office/drawing/2014/main" id="{B7C40516-5FE6-4607-78FB-CEF5E16AC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724400"/>
            <a:ext cx="1295400" cy="39052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000000"/>
                </a:solidFill>
                <a:ea typeface="宋体" panose="02010600030101010101" pitchFamily="2" charset="-122"/>
              </a:rPr>
              <a:t>RJ-45</a:t>
            </a:r>
            <a:r>
              <a:rPr lang="zh-CN" altLang="en-US" sz="1800">
                <a:solidFill>
                  <a:srgbClr val="000000"/>
                </a:solidFill>
                <a:ea typeface="宋体" panose="02010600030101010101" pitchFamily="2" charset="-122"/>
              </a:rPr>
              <a:t>插座</a:t>
            </a:r>
          </a:p>
        </p:txBody>
      </p:sp>
      <p:sp>
        <p:nvSpPr>
          <p:cNvPr id="11272" name="TextBox 8">
            <a:extLst>
              <a:ext uri="{FF2B5EF4-FFF2-40B4-BE49-F238E27FC236}">
                <a16:creationId xmlns:a16="http://schemas.microsoft.com/office/drawing/2014/main" id="{42FCC87D-7BFD-0B2D-96EC-ED6637717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735513"/>
            <a:ext cx="1295400" cy="392112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000000"/>
                </a:solidFill>
                <a:ea typeface="宋体" panose="02010600030101010101" pitchFamily="2" charset="-122"/>
              </a:rPr>
              <a:t>RJ-45</a:t>
            </a:r>
            <a:r>
              <a:rPr lang="zh-CN" altLang="en-US" sz="1800">
                <a:solidFill>
                  <a:srgbClr val="000000"/>
                </a:solidFill>
                <a:ea typeface="宋体" panose="02010600030101010101" pitchFamily="2" charset="-122"/>
              </a:rPr>
              <a:t>插头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FEDDFE3-CD07-ABC0-5439-619A5E78CD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D1404379-507F-47A4-AAA3-70401859F8C4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2290" name="Line 2">
            <a:extLst>
              <a:ext uri="{FF2B5EF4-FFF2-40B4-BE49-F238E27FC236}">
                <a16:creationId xmlns:a16="http://schemas.microsoft.com/office/drawing/2014/main" id="{E4609055-46DA-98E3-DE0C-488869060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1" name="Line 3">
            <a:extLst>
              <a:ext uri="{FF2B5EF4-FFF2-40B4-BE49-F238E27FC236}">
                <a16:creationId xmlns:a16="http://schemas.microsoft.com/office/drawing/2014/main" id="{9813313C-04C5-B0EE-74C1-02B2596870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BF032B3F-79FB-5D9F-418F-60CD9477D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417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7.6  </a:t>
            </a:r>
            <a:r>
              <a:rPr lang="zh-CN" altLang="en-US" sz="2000" i="1">
                <a:latin typeface="Times New Roman" panose="02020603050405020304" pitchFamily="18" charset="0"/>
              </a:rPr>
              <a:t>UTP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的性能</a:t>
            </a:r>
          </a:p>
        </p:txBody>
      </p:sp>
      <p:sp>
        <p:nvSpPr>
          <p:cNvPr id="12293" name="Line 5">
            <a:extLst>
              <a:ext uri="{FF2B5EF4-FFF2-40B4-BE49-F238E27FC236}">
                <a16:creationId xmlns:a16="http://schemas.microsoft.com/office/drawing/2014/main" id="{6A835CDD-641D-4318-4557-EBFA78841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294" name="Picture 6">
            <a:extLst>
              <a:ext uri="{FF2B5EF4-FFF2-40B4-BE49-F238E27FC236}">
                <a16:creationId xmlns:a16="http://schemas.microsoft.com/office/drawing/2014/main" id="{BD624326-F6D3-7B5B-5E5A-303137297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76400"/>
            <a:ext cx="6124575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3E079F-4C6B-9BBE-AA4F-438CCA593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2E0BC68A-6EAF-4069-8684-3907C3655980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3314" name="Line 2">
            <a:extLst>
              <a:ext uri="{FF2B5EF4-FFF2-40B4-BE49-F238E27FC236}">
                <a16:creationId xmlns:a16="http://schemas.microsoft.com/office/drawing/2014/main" id="{43319653-60B7-2023-67A3-0204D4297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5" name="Line 3">
            <a:extLst>
              <a:ext uri="{FF2B5EF4-FFF2-40B4-BE49-F238E27FC236}">
                <a16:creationId xmlns:a16="http://schemas.microsoft.com/office/drawing/2014/main" id="{06881485-F403-03A3-607B-EAC45BADFE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46C43174-9890-65D0-0720-053A8ABF9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112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7.7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同轴电缆</a:t>
            </a:r>
          </a:p>
        </p:txBody>
      </p:sp>
      <p:sp>
        <p:nvSpPr>
          <p:cNvPr id="13317" name="Line 5">
            <a:extLst>
              <a:ext uri="{FF2B5EF4-FFF2-40B4-BE49-F238E27FC236}">
                <a16:creationId xmlns:a16="http://schemas.microsoft.com/office/drawing/2014/main" id="{C0D4A145-95AA-A050-4489-9C18B9187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8" name="Picture 6">
            <a:extLst>
              <a:ext uri="{FF2B5EF4-FFF2-40B4-BE49-F238E27FC236}">
                <a16:creationId xmlns:a16="http://schemas.microsoft.com/office/drawing/2014/main" id="{A777BF50-E234-0111-85F4-1DB1AFBC5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1957388"/>
            <a:ext cx="8145462" cy="352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9" name="TextBox 7">
            <a:extLst>
              <a:ext uri="{FF2B5EF4-FFF2-40B4-BE49-F238E27FC236}">
                <a16:creationId xmlns:a16="http://schemas.microsoft.com/office/drawing/2014/main" id="{F863DF3B-63E7-F412-ED66-1FDDF6668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057400"/>
            <a:ext cx="990600" cy="346075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 sz="1500">
                <a:solidFill>
                  <a:srgbClr val="000000"/>
                </a:solidFill>
                <a:ea typeface="宋体" panose="02010600030101010101" pitchFamily="2" charset="-122"/>
              </a:rPr>
              <a:t>绝缘层</a:t>
            </a:r>
          </a:p>
        </p:txBody>
      </p:sp>
      <p:sp>
        <p:nvSpPr>
          <p:cNvPr id="13320" name="TextBox 8">
            <a:extLst>
              <a:ext uri="{FF2B5EF4-FFF2-40B4-BE49-F238E27FC236}">
                <a16:creationId xmlns:a16="http://schemas.microsoft.com/office/drawing/2014/main" id="{68FAB363-B6B8-E400-5D9E-3C74DB338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029200"/>
            <a:ext cx="1143000" cy="346075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 sz="15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塑料外套</a:t>
            </a:r>
          </a:p>
        </p:txBody>
      </p:sp>
      <p:sp>
        <p:nvSpPr>
          <p:cNvPr id="13321" name="TextBox 9">
            <a:extLst>
              <a:ext uri="{FF2B5EF4-FFF2-40B4-BE49-F238E27FC236}">
                <a16:creationId xmlns:a16="http://schemas.microsoft.com/office/drawing/2014/main" id="{0E9F6C1C-E1C5-9C60-E7D3-D51AB98929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800600"/>
            <a:ext cx="1600200" cy="574675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 sz="15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外部导体</a:t>
            </a:r>
            <a:endParaRPr lang="en-US" altLang="zh-CN" sz="15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ctr" eaLnBrk="1" hangingPunct="1"/>
            <a:r>
              <a:rPr lang="zh-CN" altLang="en-US" sz="15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（屏蔽）</a:t>
            </a:r>
          </a:p>
        </p:txBody>
      </p:sp>
      <p:sp>
        <p:nvSpPr>
          <p:cNvPr id="13322" name="TextBox 10">
            <a:extLst>
              <a:ext uri="{FF2B5EF4-FFF2-40B4-BE49-F238E27FC236}">
                <a16:creationId xmlns:a16="http://schemas.microsoft.com/office/drawing/2014/main" id="{BF1F8868-1758-22D7-0D97-9662CE065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248150"/>
            <a:ext cx="1524000" cy="346075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FF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 sz="15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内部导体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BFFEF8-7A52-25E0-6F07-45815D4BCA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6CD8DBA1-6D60-49D2-A1C3-FA0834F108E9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4338" name="Text Box 2">
            <a:extLst>
              <a:ext uri="{FF2B5EF4-FFF2-40B4-BE49-F238E27FC236}">
                <a16:creationId xmlns:a16="http://schemas.microsoft.com/office/drawing/2014/main" id="{7F39CC25-4CD5-A800-B1AD-DC85596F4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0538" y="1828800"/>
            <a:ext cx="2798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7.2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同轴电缆的分类</a:t>
            </a:r>
          </a:p>
        </p:txBody>
      </p:sp>
      <p:graphicFrame>
        <p:nvGraphicFramePr>
          <p:cNvPr id="14339" name="Group 3">
            <a:extLst>
              <a:ext uri="{FF2B5EF4-FFF2-40B4-BE49-F238E27FC236}">
                <a16:creationId xmlns:a16="http://schemas.microsoft.com/office/drawing/2014/main" id="{A2C25D2A-A687-192E-552A-D7D10E9AE582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590800"/>
          <a:ext cx="6096000" cy="1482725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38846896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286581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56185132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阻抗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用途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706729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RG-59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75Ω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有线电视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56312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RG-58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细缆以太网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893371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RG-11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粗缆以太网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205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328E03C-A87F-3E68-06B7-35B448A336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4AD7F246-EBAB-4BF0-B8E0-1DEC838D2B5E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5362" name="Line 2">
            <a:extLst>
              <a:ext uri="{FF2B5EF4-FFF2-40B4-BE49-F238E27FC236}">
                <a16:creationId xmlns:a16="http://schemas.microsoft.com/office/drawing/2014/main" id="{6676194A-577C-C52D-B869-070968AAF3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3" name="Line 3">
            <a:extLst>
              <a:ext uri="{FF2B5EF4-FFF2-40B4-BE49-F238E27FC236}">
                <a16:creationId xmlns:a16="http://schemas.microsoft.com/office/drawing/2014/main" id="{448E3C92-3BCF-6F79-9AE4-7F427BEB4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2F8DD23C-AA2F-D0F0-75FB-E83170376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954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7.8  </a:t>
            </a:r>
            <a:r>
              <a:rPr lang="zh-CN" altLang="en-US" sz="2000" i="1">
                <a:latin typeface="Times New Roman" panose="02020603050405020304" pitchFamily="18" charset="0"/>
              </a:rPr>
              <a:t>BNC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连接器类型</a:t>
            </a:r>
          </a:p>
        </p:txBody>
      </p:sp>
      <p:sp>
        <p:nvSpPr>
          <p:cNvPr id="15365" name="Line 5">
            <a:extLst>
              <a:ext uri="{FF2B5EF4-FFF2-40B4-BE49-F238E27FC236}">
                <a16:creationId xmlns:a16="http://schemas.microsoft.com/office/drawing/2014/main" id="{57A8075D-465D-C1D1-FB7D-D0A1D8C3AB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5366" name="Picture 6">
            <a:extLst>
              <a:ext uri="{FF2B5EF4-FFF2-40B4-BE49-F238E27FC236}">
                <a16:creationId xmlns:a16="http://schemas.microsoft.com/office/drawing/2014/main" id="{CF6A3C2A-61FF-E11B-BE02-C2B9A7796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25738"/>
            <a:ext cx="7924800" cy="1998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7" name="TextBox 10">
            <a:extLst>
              <a:ext uri="{FF2B5EF4-FFF2-40B4-BE49-F238E27FC236}">
                <a16:creationId xmlns:a16="http://schemas.microsoft.com/office/drawing/2014/main" id="{3E409906-2C85-5A8F-BD67-594EFC065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267200"/>
            <a:ext cx="1371600" cy="360363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 sz="1600">
                <a:solidFill>
                  <a:srgbClr val="000000"/>
                </a:solidFill>
                <a:ea typeface="宋体" panose="02010600030101010101" pitchFamily="2" charset="-122"/>
              </a:rPr>
              <a:t>BNC连接器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7C9C51A0-0241-61A9-F557-1650DBF8A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351338"/>
            <a:ext cx="1600200" cy="604837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sz="1600">
                <a:solidFill>
                  <a:srgbClr val="000000"/>
                </a:solidFill>
                <a:ea typeface="宋体" panose="02010600030101010101" pitchFamily="2" charset="-122"/>
              </a:rPr>
              <a:t>50Ω</a:t>
            </a:r>
          </a:p>
          <a:p>
            <a:pPr algn="ctr" eaLnBrk="1" hangingPunct="1"/>
            <a:r>
              <a:rPr lang="zh-CN" altLang="en-US" sz="1600">
                <a:solidFill>
                  <a:srgbClr val="000000"/>
                </a:solidFill>
                <a:ea typeface="宋体" panose="02010600030101010101" pitchFamily="2" charset="-122"/>
              </a:rPr>
              <a:t>BNC终接器</a:t>
            </a:r>
          </a:p>
        </p:txBody>
      </p:sp>
      <p:sp>
        <p:nvSpPr>
          <p:cNvPr id="15369" name="TextBox 8">
            <a:extLst>
              <a:ext uri="{FF2B5EF4-FFF2-40B4-BE49-F238E27FC236}">
                <a16:creationId xmlns:a16="http://schemas.microsoft.com/office/drawing/2014/main" id="{905C76CC-6177-31D8-CED7-99AABC147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709863"/>
            <a:ext cx="762000" cy="360362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电缆</a:t>
            </a:r>
          </a:p>
        </p:txBody>
      </p:sp>
      <p:sp>
        <p:nvSpPr>
          <p:cNvPr id="15370" name="TextBox 12">
            <a:extLst>
              <a:ext uri="{FF2B5EF4-FFF2-40B4-BE49-F238E27FC236}">
                <a16:creationId xmlns:a16="http://schemas.microsoft.com/office/drawing/2014/main" id="{40B8A96B-F04A-515F-4361-7B455E58E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4343400"/>
            <a:ext cx="685800" cy="361950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地线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2B80B1-3683-61FE-A1EC-26E9F2F57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995F1D5B-758A-481D-A09C-4B566C530459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6386" name="Line 2">
            <a:extLst>
              <a:ext uri="{FF2B5EF4-FFF2-40B4-BE49-F238E27FC236}">
                <a16:creationId xmlns:a16="http://schemas.microsoft.com/office/drawing/2014/main" id="{93660A17-2B8D-C937-A7EB-EE2ED6500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7" name="Line 3">
            <a:extLst>
              <a:ext uri="{FF2B5EF4-FFF2-40B4-BE49-F238E27FC236}">
                <a16:creationId xmlns:a16="http://schemas.microsoft.com/office/drawing/2014/main" id="{83D26FD9-089A-A0A5-60C4-B584CB10FE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28985111-B3E9-6AA7-956B-ECEFE6237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874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7.9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同轴电缆的性能</a:t>
            </a:r>
          </a:p>
        </p:txBody>
      </p:sp>
      <p:sp>
        <p:nvSpPr>
          <p:cNvPr id="16389" name="Line 5">
            <a:extLst>
              <a:ext uri="{FF2B5EF4-FFF2-40B4-BE49-F238E27FC236}">
                <a16:creationId xmlns:a16="http://schemas.microsoft.com/office/drawing/2014/main" id="{AC2E6FFB-E6CE-BEB0-40D8-D51B7FC0B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6390" name="Picture 6">
            <a:extLst>
              <a:ext uri="{FF2B5EF4-FFF2-40B4-BE49-F238E27FC236}">
                <a16:creationId xmlns:a16="http://schemas.microsoft.com/office/drawing/2014/main" id="{AB08C721-0A30-B610-83A7-3477FC841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627188"/>
            <a:ext cx="6115050" cy="446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01B4E4-C686-E19F-2073-8DEE6D0F0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F51E22A8-D43B-453C-BA87-6DEC86863B53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7410" name="Line 2">
            <a:extLst>
              <a:ext uri="{FF2B5EF4-FFF2-40B4-BE49-F238E27FC236}">
                <a16:creationId xmlns:a16="http://schemas.microsoft.com/office/drawing/2014/main" id="{29AAD6DD-7DA3-3F97-E1CA-FFF358C69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1" name="Line 3">
            <a:extLst>
              <a:ext uri="{FF2B5EF4-FFF2-40B4-BE49-F238E27FC236}">
                <a16:creationId xmlns:a16="http://schemas.microsoft.com/office/drawing/2014/main" id="{512DCC87-730F-FCDC-913E-6DB81526C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88EF43FF-E737-112E-CC47-0F307E385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7.10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光线的折射</a:t>
            </a:r>
          </a:p>
        </p:txBody>
      </p:sp>
      <p:sp>
        <p:nvSpPr>
          <p:cNvPr id="17413" name="Line 5">
            <a:extLst>
              <a:ext uri="{FF2B5EF4-FFF2-40B4-BE49-F238E27FC236}">
                <a16:creationId xmlns:a16="http://schemas.microsoft.com/office/drawing/2014/main" id="{59150F87-C604-7B37-8C2E-F5E0F9D82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7414" name="Picture 6">
            <a:extLst>
              <a:ext uri="{FF2B5EF4-FFF2-40B4-BE49-F238E27FC236}">
                <a16:creationId xmlns:a16="http://schemas.microsoft.com/office/drawing/2014/main" id="{F8D441D5-05E6-D598-B95D-8E580FF8A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2362200"/>
            <a:ext cx="8070850" cy="227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5" name="TextBox 7">
            <a:extLst>
              <a:ext uri="{FF2B5EF4-FFF2-40B4-BE49-F238E27FC236}">
                <a16:creationId xmlns:a16="http://schemas.microsoft.com/office/drawing/2014/main" id="{01D35B81-277D-C31B-F667-3BD1BCCB7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286000"/>
            <a:ext cx="914400" cy="604838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ctr" eaLnBrk="1" hangingPunct="1"/>
            <a:r>
              <a:rPr lang="zh-CN" altLang="en-US" sz="16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低密度</a:t>
            </a:r>
          </a:p>
        </p:txBody>
      </p:sp>
      <p:sp>
        <p:nvSpPr>
          <p:cNvPr id="17416" name="TextBox 7">
            <a:extLst>
              <a:ext uri="{FF2B5EF4-FFF2-40B4-BE49-F238E27FC236}">
                <a16:creationId xmlns:a16="http://schemas.microsoft.com/office/drawing/2014/main" id="{99A8C8E2-46A7-E3BE-0AAD-B8E0B1C8E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86000"/>
            <a:ext cx="914400" cy="604838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ctr" eaLnBrk="1" hangingPunct="1"/>
            <a:r>
              <a:rPr lang="zh-CN" altLang="en-US" sz="16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低密度</a:t>
            </a:r>
          </a:p>
        </p:txBody>
      </p:sp>
      <p:sp>
        <p:nvSpPr>
          <p:cNvPr id="17417" name="TextBox 7">
            <a:extLst>
              <a:ext uri="{FF2B5EF4-FFF2-40B4-BE49-F238E27FC236}">
                <a16:creationId xmlns:a16="http://schemas.microsoft.com/office/drawing/2014/main" id="{AD9E90AF-ACA7-4114-6B91-A3C62B7AF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86000"/>
            <a:ext cx="914400" cy="604838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zh-CN" altLang="en-US" sz="16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ctr" eaLnBrk="1" hangingPunct="1"/>
            <a:r>
              <a:rPr lang="zh-CN" altLang="en-US" sz="16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低密度</a:t>
            </a:r>
          </a:p>
        </p:txBody>
      </p:sp>
      <p:sp>
        <p:nvSpPr>
          <p:cNvPr id="17418" name="TextBox 8">
            <a:extLst>
              <a:ext uri="{FF2B5EF4-FFF2-40B4-BE49-F238E27FC236}">
                <a16:creationId xmlns:a16="http://schemas.microsoft.com/office/drawing/2014/main" id="{A4F907AC-4783-6DCF-E4C7-04C403593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48000"/>
            <a:ext cx="762000" cy="579438"/>
          </a:xfrm>
          <a:prstGeom prst="rect">
            <a:avLst/>
          </a:prstGeom>
          <a:solidFill>
            <a:srgbClr val="C1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高密度</a:t>
            </a:r>
          </a:p>
        </p:txBody>
      </p:sp>
      <p:sp>
        <p:nvSpPr>
          <p:cNvPr id="17419" name="TextBox 8">
            <a:extLst>
              <a:ext uri="{FF2B5EF4-FFF2-40B4-BE49-F238E27FC236}">
                <a16:creationId xmlns:a16="http://schemas.microsoft.com/office/drawing/2014/main" id="{C1DEC47D-8E81-9918-745D-D97A3D9B1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048000"/>
            <a:ext cx="762000" cy="579438"/>
          </a:xfrm>
          <a:prstGeom prst="rect">
            <a:avLst/>
          </a:prstGeom>
          <a:solidFill>
            <a:srgbClr val="C1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高密度</a:t>
            </a:r>
          </a:p>
        </p:txBody>
      </p:sp>
      <p:sp>
        <p:nvSpPr>
          <p:cNvPr id="17420" name="TextBox 8">
            <a:extLst>
              <a:ext uri="{FF2B5EF4-FFF2-40B4-BE49-F238E27FC236}">
                <a16:creationId xmlns:a16="http://schemas.microsoft.com/office/drawing/2014/main" id="{F24EA96C-E5D9-4B2C-2D30-EAA656A3C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971800"/>
            <a:ext cx="609600" cy="579438"/>
          </a:xfrm>
          <a:prstGeom prst="rect">
            <a:avLst/>
          </a:prstGeom>
          <a:solidFill>
            <a:srgbClr val="C1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高密度</a:t>
            </a:r>
          </a:p>
        </p:txBody>
      </p:sp>
      <p:sp>
        <p:nvSpPr>
          <p:cNvPr id="17421" name="TextBox 13">
            <a:extLst>
              <a:ext uri="{FF2B5EF4-FFF2-40B4-BE49-F238E27FC236}">
                <a16:creationId xmlns:a16="http://schemas.microsoft.com/office/drawing/2014/main" id="{80D6390F-16B5-E16F-85A7-D90601017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232275"/>
            <a:ext cx="2286000" cy="390525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000000"/>
                </a:solidFill>
                <a:cs typeface="Times New Roman" panose="02020603050405020304" pitchFamily="18" charset="0"/>
              </a:rPr>
              <a:t>I&lt;</a:t>
            </a:r>
            <a:r>
              <a:rPr lang="zh-CN" altLang="en-US" sz="180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临界角折射</a:t>
            </a:r>
          </a:p>
        </p:txBody>
      </p:sp>
      <p:sp>
        <p:nvSpPr>
          <p:cNvPr id="17422" name="TextBox 13">
            <a:extLst>
              <a:ext uri="{FF2B5EF4-FFF2-40B4-BE49-F238E27FC236}">
                <a16:creationId xmlns:a16="http://schemas.microsoft.com/office/drawing/2014/main" id="{5D3DB0AD-15EB-59D3-919A-4E9781B74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191000"/>
            <a:ext cx="2286000" cy="392113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sz="180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zh-CN" altLang="en-US" sz="180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临界角折射</a:t>
            </a:r>
          </a:p>
        </p:txBody>
      </p:sp>
      <p:sp>
        <p:nvSpPr>
          <p:cNvPr id="17423" name="TextBox 13">
            <a:extLst>
              <a:ext uri="{FF2B5EF4-FFF2-40B4-BE49-F238E27FC236}">
                <a16:creationId xmlns:a16="http://schemas.microsoft.com/office/drawing/2014/main" id="{0AA7E632-C370-1C03-66BF-F08617F6A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191000"/>
            <a:ext cx="2286000" cy="392113"/>
          </a:xfrm>
          <a:prstGeom prst="rect">
            <a:avLst/>
          </a:prstGeom>
          <a:solidFill>
            <a:schemeClr val="bg1"/>
          </a:solidFill>
          <a:ln w="25400" cap="flat" cmpd="sng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zh-CN" sz="1800">
                <a:solidFill>
                  <a:srgbClr val="000000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sz="1800">
                <a:solidFill>
                  <a:srgbClr val="000000"/>
                </a:solidFill>
                <a:ea typeface="宋体" panose="02010600030101010101" pitchFamily="2" charset="-122"/>
              </a:rPr>
              <a:t>&gt;</a:t>
            </a:r>
            <a:r>
              <a:rPr lang="zh-CN" altLang="en-US" sz="180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临界角反射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8F6E72-6BCA-E17D-6975-9BFDD88F10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1BA0D061-7ED7-4D77-8CE2-9D4227086F5E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8434" name="Line 2">
            <a:extLst>
              <a:ext uri="{FF2B5EF4-FFF2-40B4-BE49-F238E27FC236}">
                <a16:creationId xmlns:a16="http://schemas.microsoft.com/office/drawing/2014/main" id="{08F8D2B4-B0AB-F890-77BD-621233623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5" name="Line 3">
            <a:extLst>
              <a:ext uri="{FF2B5EF4-FFF2-40B4-BE49-F238E27FC236}">
                <a16:creationId xmlns:a16="http://schemas.microsoft.com/office/drawing/2014/main" id="{4F158453-A0B5-EF95-6643-D8F34A0DCC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0859128C-2AC8-C298-6A02-874920649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1757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7.11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光纤</a:t>
            </a:r>
          </a:p>
        </p:txBody>
      </p:sp>
      <p:sp>
        <p:nvSpPr>
          <p:cNvPr id="18437" name="Line 5">
            <a:extLst>
              <a:ext uri="{FF2B5EF4-FFF2-40B4-BE49-F238E27FC236}">
                <a16:creationId xmlns:a16="http://schemas.microsoft.com/office/drawing/2014/main" id="{9BDB4B83-AB40-29C1-2165-3568D5C25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8438" name="Picture 6">
            <a:extLst>
              <a:ext uri="{FF2B5EF4-FFF2-40B4-BE49-F238E27FC236}">
                <a16:creationId xmlns:a16="http://schemas.microsoft.com/office/drawing/2014/main" id="{B57BF3A9-8C5E-4ADB-27E8-6A80405B4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25" y="2987675"/>
            <a:ext cx="8308975" cy="158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9" name="Text Box 7">
            <a:extLst>
              <a:ext uri="{FF2B5EF4-FFF2-40B4-BE49-F238E27FC236}">
                <a16:creationId xmlns:a16="http://schemas.microsoft.com/office/drawing/2014/main" id="{05A30A3D-4C24-8BDB-9DE2-ADDA1BD3B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581400"/>
            <a:ext cx="803275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ea typeface="宋体" panose="02010600030101010101" pitchFamily="2" charset="-122"/>
              </a:rPr>
              <a:t>发送方</a:t>
            </a:r>
          </a:p>
        </p:txBody>
      </p:sp>
      <p:sp>
        <p:nvSpPr>
          <p:cNvPr id="18440" name="Text Box 8">
            <a:extLst>
              <a:ext uri="{FF2B5EF4-FFF2-40B4-BE49-F238E27FC236}">
                <a16:creationId xmlns:a16="http://schemas.microsoft.com/office/drawing/2014/main" id="{15D8BFE7-CAE9-F20F-3129-51FD9ACA7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3581400"/>
            <a:ext cx="803275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ea typeface="宋体" panose="02010600030101010101" pitchFamily="2" charset="-122"/>
              </a:rPr>
              <a:t>接收方</a:t>
            </a:r>
          </a:p>
        </p:txBody>
      </p:sp>
      <p:sp>
        <p:nvSpPr>
          <p:cNvPr id="18441" name="Text Box 9">
            <a:extLst>
              <a:ext uri="{FF2B5EF4-FFF2-40B4-BE49-F238E27FC236}">
                <a16:creationId xmlns:a16="http://schemas.microsoft.com/office/drawing/2014/main" id="{C06422C0-BBD8-08D7-2E76-FA05C4E27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048000"/>
            <a:ext cx="9223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 sz="1600"/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6FE3FC72-9823-1019-80CC-1D633AE1E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0350" y="3092450"/>
            <a:ext cx="806450" cy="33496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ea typeface="宋体" panose="02010600030101010101" pitchFamily="2" charset="-122"/>
              </a:rPr>
              <a:t>包层</a:t>
            </a:r>
            <a:endParaRPr lang="zh-CN" altLang="en-US" sz="1600"/>
          </a:p>
        </p:txBody>
      </p:sp>
      <p:sp>
        <p:nvSpPr>
          <p:cNvPr id="18443" name="Text Box 11">
            <a:extLst>
              <a:ext uri="{FF2B5EF4-FFF2-40B4-BE49-F238E27FC236}">
                <a16:creationId xmlns:a16="http://schemas.microsoft.com/office/drawing/2014/main" id="{751C73CA-69B9-1FEB-D061-CDBAB62ED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191000"/>
            <a:ext cx="806450" cy="33655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ea typeface="宋体" panose="02010600030101010101" pitchFamily="2" charset="-122"/>
              </a:rPr>
              <a:t>包层</a:t>
            </a:r>
            <a:endParaRPr lang="zh-CN" altLang="en-US" sz="1600"/>
          </a:p>
        </p:txBody>
      </p:sp>
      <p:sp>
        <p:nvSpPr>
          <p:cNvPr id="18444" name="Text Box 12">
            <a:extLst>
              <a:ext uri="{FF2B5EF4-FFF2-40B4-BE49-F238E27FC236}">
                <a16:creationId xmlns:a16="http://schemas.microsoft.com/office/drawing/2014/main" id="{8496B93E-57DE-88DD-9C53-C83E97BCB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608388"/>
            <a:ext cx="5334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zh-CN" sz="1600"/>
          </a:p>
        </p:txBody>
      </p:sp>
      <p:sp>
        <p:nvSpPr>
          <p:cNvPr id="18445" name="Text Box 13">
            <a:extLst>
              <a:ext uri="{FF2B5EF4-FFF2-40B4-BE49-F238E27FC236}">
                <a16:creationId xmlns:a16="http://schemas.microsoft.com/office/drawing/2014/main" id="{128792AC-3CB5-4DDE-1BBE-71DF727EE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505200"/>
            <a:ext cx="609600" cy="3365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ea typeface="宋体" panose="02010600030101010101" pitchFamily="2" charset="-122"/>
              </a:rPr>
              <a:t>纤芯</a:t>
            </a:r>
            <a:endParaRPr lang="zh-CN" alt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CC925A-80B1-FFDF-62F2-DB06F70A2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EEFC17A3-E3BE-42E8-9E01-859748B9D4E4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9458" name="Line 2">
            <a:extLst>
              <a:ext uri="{FF2B5EF4-FFF2-40B4-BE49-F238E27FC236}">
                <a16:creationId xmlns:a16="http://schemas.microsoft.com/office/drawing/2014/main" id="{7F3AFE4B-949B-551E-2796-B59CBA94A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9" name="Line 3">
            <a:extLst>
              <a:ext uri="{FF2B5EF4-FFF2-40B4-BE49-F238E27FC236}">
                <a16:creationId xmlns:a16="http://schemas.microsoft.com/office/drawing/2014/main" id="{F5779106-C340-14DD-B511-48C675D38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ABE059D1-6B2E-62F2-0FA3-C13829412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26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7.12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传播模式</a:t>
            </a:r>
          </a:p>
        </p:txBody>
      </p:sp>
      <p:sp>
        <p:nvSpPr>
          <p:cNvPr id="19461" name="Line 5">
            <a:extLst>
              <a:ext uri="{FF2B5EF4-FFF2-40B4-BE49-F238E27FC236}">
                <a16:creationId xmlns:a16="http://schemas.microsoft.com/office/drawing/2014/main" id="{67CCF5D4-741E-A1E1-E1FF-82E354921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462" name="Picture 6">
            <a:extLst>
              <a:ext uri="{FF2B5EF4-FFF2-40B4-BE49-F238E27FC236}">
                <a16:creationId xmlns:a16="http://schemas.microsoft.com/office/drawing/2014/main" id="{691C8217-67DE-250A-EB8F-8B602FE3E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2133600"/>
            <a:ext cx="76327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63" name="Text Box 7">
            <a:extLst>
              <a:ext uri="{FF2B5EF4-FFF2-40B4-BE49-F238E27FC236}">
                <a16:creationId xmlns:a16="http://schemas.microsoft.com/office/drawing/2014/main" id="{9A406774-B882-DFDF-B864-2EFC61DD3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225675"/>
            <a:ext cx="1143000" cy="3667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ea typeface="宋体" panose="02010600030101010101" pitchFamily="2" charset="-122"/>
              </a:rPr>
              <a:t>模式</a:t>
            </a:r>
            <a:endParaRPr lang="zh-CN" altLang="en-US" sz="1800"/>
          </a:p>
        </p:txBody>
      </p:sp>
      <p:sp>
        <p:nvSpPr>
          <p:cNvPr id="19464" name="Text Box 8">
            <a:extLst>
              <a:ext uri="{FF2B5EF4-FFF2-40B4-BE49-F238E27FC236}">
                <a16:creationId xmlns:a16="http://schemas.microsoft.com/office/drawing/2014/main" id="{6DDA6A8D-85D4-FC68-61FF-CEB2A38F3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581400"/>
            <a:ext cx="1219200" cy="3667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ea typeface="宋体" panose="02010600030101010101" pitchFamily="2" charset="-122"/>
              </a:rPr>
              <a:t>单模</a:t>
            </a:r>
            <a:endParaRPr lang="zh-CN" altLang="en-US" sz="1800"/>
          </a:p>
        </p:txBody>
      </p:sp>
      <p:sp>
        <p:nvSpPr>
          <p:cNvPr id="19465" name="Text Box 9">
            <a:extLst>
              <a:ext uri="{FF2B5EF4-FFF2-40B4-BE49-F238E27FC236}">
                <a16:creationId xmlns:a16="http://schemas.microsoft.com/office/drawing/2014/main" id="{15F19A13-C89D-70E0-75E9-02223E843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581400"/>
            <a:ext cx="1219200" cy="3667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ea typeface="宋体" panose="02010600030101010101" pitchFamily="2" charset="-122"/>
              </a:rPr>
              <a:t>多模</a:t>
            </a:r>
            <a:endParaRPr lang="zh-CN" altLang="en-US" sz="1800"/>
          </a:p>
        </p:txBody>
      </p:sp>
      <p:sp>
        <p:nvSpPr>
          <p:cNvPr id="19466" name="Text Box 10">
            <a:extLst>
              <a:ext uri="{FF2B5EF4-FFF2-40B4-BE49-F238E27FC236}">
                <a16:creationId xmlns:a16="http://schemas.microsoft.com/office/drawing/2014/main" id="{60BB97AD-AF93-A4B1-F298-11213467D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76800"/>
            <a:ext cx="16002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    阶跃折射率模式</a:t>
            </a:r>
          </a:p>
        </p:txBody>
      </p:sp>
      <p:sp>
        <p:nvSpPr>
          <p:cNvPr id="19467" name="Text Box 11">
            <a:extLst>
              <a:ext uri="{FF2B5EF4-FFF2-40B4-BE49-F238E27FC236}">
                <a16:creationId xmlns:a16="http://schemas.microsoft.com/office/drawing/2014/main" id="{B81AD3C0-73B7-9C2E-4F02-3CE7E0881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876800"/>
            <a:ext cx="16002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    渐进折射率模式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9669EF7-0A1C-CFEF-A352-C003232E6E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16C6AFB7-CC62-49D9-B509-BB8AE2FB2D77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20482" name="Line 2">
            <a:extLst>
              <a:ext uri="{FF2B5EF4-FFF2-40B4-BE49-F238E27FC236}">
                <a16:creationId xmlns:a16="http://schemas.microsoft.com/office/drawing/2014/main" id="{07343B37-0488-EF22-73FC-A42C1A44BD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3" name="Line 3">
            <a:extLst>
              <a:ext uri="{FF2B5EF4-FFF2-40B4-BE49-F238E27FC236}">
                <a16:creationId xmlns:a16="http://schemas.microsoft.com/office/drawing/2014/main" id="{91F97623-9E28-9384-F9ED-CB72744DC6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A27D28DF-2052-9D24-B5E5-244C473CA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226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7.13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传播模式</a:t>
            </a:r>
          </a:p>
        </p:txBody>
      </p:sp>
      <p:sp>
        <p:nvSpPr>
          <p:cNvPr id="20485" name="Line 5">
            <a:extLst>
              <a:ext uri="{FF2B5EF4-FFF2-40B4-BE49-F238E27FC236}">
                <a16:creationId xmlns:a16="http://schemas.microsoft.com/office/drawing/2014/main" id="{DAE61C71-6131-6A2E-BD9D-D9203AE35F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770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486" name="Picture 6">
            <a:extLst>
              <a:ext uri="{FF2B5EF4-FFF2-40B4-BE49-F238E27FC236}">
                <a16:creationId xmlns:a16="http://schemas.microsoft.com/office/drawing/2014/main" id="{5305AA5B-027A-8F58-42E9-0EFB8C468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838200"/>
            <a:ext cx="6370638" cy="528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7" name="Text Box 7">
            <a:extLst>
              <a:ext uri="{FF2B5EF4-FFF2-40B4-BE49-F238E27FC236}">
                <a16:creationId xmlns:a16="http://schemas.microsoft.com/office/drawing/2014/main" id="{9BF352E3-7907-BE27-A651-1A379E5F2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286000"/>
            <a:ext cx="2052638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200">
                <a:ea typeface="宋体" panose="02010600030101010101" pitchFamily="2" charset="-122"/>
              </a:rPr>
              <a:t>a.多模，阶跃折射率模式</a:t>
            </a:r>
            <a:endParaRPr lang="zh-CN" altLang="en-US" sz="1200"/>
          </a:p>
        </p:txBody>
      </p:sp>
      <p:sp>
        <p:nvSpPr>
          <p:cNvPr id="20488" name="Text Box 8">
            <a:extLst>
              <a:ext uri="{FF2B5EF4-FFF2-40B4-BE49-F238E27FC236}">
                <a16:creationId xmlns:a16="http://schemas.microsoft.com/office/drawing/2014/main" id="{EF573507-B565-9E66-A8AE-896CA07DC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114800"/>
            <a:ext cx="2052638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200">
                <a:ea typeface="宋体" panose="02010600030101010101" pitchFamily="2" charset="-122"/>
              </a:rPr>
              <a:t>b.多模，渐进折射率模式</a:t>
            </a:r>
            <a:endParaRPr lang="zh-CN" altLang="en-US" sz="1200"/>
          </a:p>
        </p:txBody>
      </p:sp>
      <p:sp>
        <p:nvSpPr>
          <p:cNvPr id="20489" name="Text Box 9">
            <a:extLst>
              <a:ext uri="{FF2B5EF4-FFF2-40B4-BE49-F238E27FC236}">
                <a16:creationId xmlns:a16="http://schemas.microsoft.com/office/drawing/2014/main" id="{39AC520B-1748-06D4-26CA-DDE973F7C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943600"/>
            <a:ext cx="2052638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200">
                <a:ea typeface="宋体" panose="02010600030101010101" pitchFamily="2" charset="-122"/>
              </a:rPr>
              <a:t>c.单模</a:t>
            </a:r>
            <a:endParaRPr lang="zh-CN" altLang="en-US" sz="1200"/>
          </a:p>
        </p:txBody>
      </p:sp>
      <p:sp>
        <p:nvSpPr>
          <p:cNvPr id="20490" name="Text Box 10">
            <a:extLst>
              <a:ext uri="{FF2B5EF4-FFF2-40B4-BE49-F238E27FC236}">
                <a16:creationId xmlns:a16="http://schemas.microsoft.com/office/drawing/2014/main" id="{2CFF46A2-95C5-A6EA-DA7B-7AA1A8AB7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1709738"/>
            <a:ext cx="574675" cy="274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ea typeface="宋体" panose="02010600030101010101" pitchFamily="2" charset="-122"/>
              </a:rPr>
              <a:t>源</a:t>
            </a:r>
            <a:endParaRPr lang="zh-CN" altLang="en-US" sz="1200"/>
          </a:p>
        </p:txBody>
      </p:sp>
      <p:sp>
        <p:nvSpPr>
          <p:cNvPr id="20491" name="Text Box 11">
            <a:extLst>
              <a:ext uri="{FF2B5EF4-FFF2-40B4-BE49-F238E27FC236}">
                <a16:creationId xmlns:a16="http://schemas.microsoft.com/office/drawing/2014/main" id="{CD7BA724-7C15-45CC-D74D-305E8D6D2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676400"/>
            <a:ext cx="990600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ea typeface="宋体" panose="02010600030101010101" pitchFamily="2" charset="-122"/>
              </a:rPr>
              <a:t>目的</a:t>
            </a:r>
            <a:endParaRPr lang="zh-CN" altLang="en-US" sz="1200"/>
          </a:p>
        </p:txBody>
      </p:sp>
      <p:sp>
        <p:nvSpPr>
          <p:cNvPr id="20492" name="Text Box 12">
            <a:extLst>
              <a:ext uri="{FF2B5EF4-FFF2-40B4-BE49-F238E27FC236}">
                <a16:creationId xmlns:a16="http://schemas.microsoft.com/office/drawing/2014/main" id="{95CA48C9-525B-43C0-CD5E-B2E331A8B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581400"/>
            <a:ext cx="990600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ea typeface="宋体" panose="02010600030101010101" pitchFamily="2" charset="-122"/>
              </a:rPr>
              <a:t>目的</a:t>
            </a:r>
            <a:endParaRPr lang="zh-CN" altLang="en-US" sz="1200"/>
          </a:p>
        </p:txBody>
      </p:sp>
      <p:sp>
        <p:nvSpPr>
          <p:cNvPr id="20493" name="Text Box 13">
            <a:extLst>
              <a:ext uri="{FF2B5EF4-FFF2-40B4-BE49-F238E27FC236}">
                <a16:creationId xmlns:a16="http://schemas.microsoft.com/office/drawing/2014/main" id="{487C5D91-97B1-F28A-9C47-628D42E4F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5334000"/>
            <a:ext cx="990600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ea typeface="宋体" panose="02010600030101010101" pitchFamily="2" charset="-122"/>
              </a:rPr>
              <a:t>目的</a:t>
            </a:r>
            <a:endParaRPr lang="zh-CN" altLang="en-US" sz="1200"/>
          </a:p>
        </p:txBody>
      </p:sp>
      <p:sp>
        <p:nvSpPr>
          <p:cNvPr id="20494" name="Text Box 14">
            <a:extLst>
              <a:ext uri="{FF2B5EF4-FFF2-40B4-BE49-F238E27FC236}">
                <a16:creationId xmlns:a16="http://schemas.microsoft.com/office/drawing/2014/main" id="{0464DE57-C56C-505A-2F84-F50C5703C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581400"/>
            <a:ext cx="574675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ea typeface="宋体" panose="02010600030101010101" pitchFamily="2" charset="-122"/>
              </a:rPr>
              <a:t>源</a:t>
            </a:r>
            <a:endParaRPr lang="zh-CN" altLang="en-US" sz="1200"/>
          </a:p>
        </p:txBody>
      </p:sp>
      <p:sp>
        <p:nvSpPr>
          <p:cNvPr id="20495" name="Text Box 15">
            <a:extLst>
              <a:ext uri="{FF2B5EF4-FFF2-40B4-BE49-F238E27FC236}">
                <a16:creationId xmlns:a16="http://schemas.microsoft.com/office/drawing/2014/main" id="{B9DDADC0-EE28-E4A5-C8B8-9848CDAE8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410200"/>
            <a:ext cx="574675" cy="2746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200">
                <a:ea typeface="宋体" panose="02010600030101010101" pitchFamily="2" charset="-122"/>
              </a:rPr>
              <a:t>源</a:t>
            </a:r>
            <a:endParaRPr lang="zh-CN" alt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580771-8710-75EF-E926-21DDAE0E7A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B558A47A-2652-4321-9E68-3E594F8CCCC9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21506" name="Text Box 2">
            <a:extLst>
              <a:ext uri="{FF2B5EF4-FFF2-40B4-BE49-F238E27FC236}">
                <a16:creationId xmlns:a16="http://schemas.microsoft.com/office/drawing/2014/main" id="{B098918D-E256-30CF-B7DE-63151373E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3" y="1676400"/>
            <a:ext cx="2112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7.3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光纤类型</a:t>
            </a:r>
          </a:p>
        </p:txBody>
      </p:sp>
      <p:graphicFrame>
        <p:nvGraphicFramePr>
          <p:cNvPr id="21507" name="Group 3">
            <a:extLst>
              <a:ext uri="{FF2B5EF4-FFF2-40B4-BE49-F238E27FC236}">
                <a16:creationId xmlns:a16="http://schemas.microsoft.com/office/drawing/2014/main" id="{B9FC38E5-0CE7-F9B6-21E1-1B00A44A9A4C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2438400"/>
          <a:ext cx="8623300" cy="1852613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4893708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402721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41410304"/>
                    </a:ext>
                  </a:extLst>
                </a:gridCol>
                <a:gridCol w="2527300">
                  <a:extLst>
                    <a:ext uri="{9D8B030D-6E8A-4147-A177-3AD203B41FA5}">
                      <a16:colId xmlns:a16="http://schemas.microsoft.com/office/drawing/2014/main" val="2427654974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纤芯（</a:t>
                      </a:r>
                      <a:r>
                        <a:rPr kumimoji="0" lang="zh-CN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μ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包层（</a:t>
                      </a:r>
                      <a:r>
                        <a:rPr kumimoji="0" lang="zh-CN" alt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μ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460861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50/125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多模，渐变折射率模式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018696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62.5/125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62.5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多模，渐变折射率模式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852123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100/125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多模，渐变折射率模式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178217"/>
                  </a:ext>
                </a:extLst>
              </a:tr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7/125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2506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B07DE0-2D53-335B-404B-76B780F2C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3A54783B-6A3D-4675-9C61-700DEBCA6412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2530" name="Line 2">
            <a:extLst>
              <a:ext uri="{FF2B5EF4-FFF2-40B4-BE49-F238E27FC236}">
                <a16:creationId xmlns:a16="http://schemas.microsoft.com/office/drawing/2014/main" id="{E577251D-E63B-F195-61E3-18C4D2C0E6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1" name="Line 3">
            <a:extLst>
              <a:ext uri="{FF2B5EF4-FFF2-40B4-BE49-F238E27FC236}">
                <a16:creationId xmlns:a16="http://schemas.microsoft.com/office/drawing/2014/main" id="{17B041C4-F769-7EF4-C72F-455295A46A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667C0060-71D4-EC5E-68AE-61EA2A1E1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26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7.14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光纤组成</a:t>
            </a:r>
          </a:p>
        </p:txBody>
      </p:sp>
      <p:sp>
        <p:nvSpPr>
          <p:cNvPr id="22533" name="Line 5">
            <a:extLst>
              <a:ext uri="{FF2B5EF4-FFF2-40B4-BE49-F238E27FC236}">
                <a16:creationId xmlns:a16="http://schemas.microsoft.com/office/drawing/2014/main" id="{E1613936-7D1E-9467-F683-AE1647BEF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2534" name="Picture 6">
            <a:extLst>
              <a:ext uri="{FF2B5EF4-FFF2-40B4-BE49-F238E27FC236}">
                <a16:creationId xmlns:a16="http://schemas.microsoft.com/office/drawing/2014/main" id="{6CCE38EB-3BE1-DD75-7CE5-9ECD5E507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1843088"/>
            <a:ext cx="6499225" cy="394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5" name="Text Box 7">
            <a:extLst>
              <a:ext uri="{FF2B5EF4-FFF2-40B4-BE49-F238E27FC236}">
                <a16:creationId xmlns:a16="http://schemas.microsoft.com/office/drawing/2014/main" id="{99EF8D1D-8A0A-8234-46BA-609113E9C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133600"/>
            <a:ext cx="14160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ea typeface="宋体" panose="02010600030101010101" pitchFamily="2" charset="-122"/>
              </a:rPr>
              <a:t>外部封套</a:t>
            </a:r>
            <a:endParaRPr lang="zh-CN" altLang="en-US" sz="1800"/>
          </a:p>
        </p:txBody>
      </p:sp>
      <p:sp>
        <p:nvSpPr>
          <p:cNvPr id="22536" name="Text Box 8">
            <a:extLst>
              <a:ext uri="{FF2B5EF4-FFF2-40B4-BE49-F238E27FC236}">
                <a16:creationId xmlns:a16="http://schemas.microsoft.com/office/drawing/2014/main" id="{38395483-5F54-3F6D-92D8-0453E0F35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752600"/>
            <a:ext cx="18288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DuPont Kevlar</a:t>
            </a:r>
          </a:p>
          <a:p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用于增加强度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7" name="Text Box 9">
            <a:extLst>
              <a:ext uri="{FF2B5EF4-FFF2-40B4-BE49-F238E27FC236}">
                <a16:creationId xmlns:a16="http://schemas.microsoft.com/office/drawing/2014/main" id="{D833C776-0266-4E18-8E83-DAB5171C6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550" y="2606675"/>
            <a:ext cx="908050" cy="365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ea typeface="宋体" panose="02010600030101010101" pitchFamily="2" charset="-122"/>
              </a:rPr>
              <a:t>包层</a:t>
            </a:r>
          </a:p>
        </p:txBody>
      </p:sp>
      <p:sp>
        <p:nvSpPr>
          <p:cNvPr id="22538" name="Text Box 10">
            <a:extLst>
              <a:ext uri="{FF2B5EF4-FFF2-40B4-BE49-F238E27FC236}">
                <a16:creationId xmlns:a16="http://schemas.microsoft.com/office/drawing/2014/main" id="{1CB6F393-5B2D-8762-0561-3BE6C792F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429000"/>
            <a:ext cx="9906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ea typeface="宋体" panose="02010600030101010101" pitchFamily="2" charset="-122"/>
              </a:rPr>
              <a:t>塑料缓冲层</a:t>
            </a:r>
            <a:endParaRPr lang="zh-CN" altLang="en-US" sz="1800"/>
          </a:p>
        </p:txBody>
      </p:sp>
      <p:sp>
        <p:nvSpPr>
          <p:cNvPr id="22539" name="Text Box 11">
            <a:extLst>
              <a:ext uri="{FF2B5EF4-FFF2-40B4-BE49-F238E27FC236}">
                <a16:creationId xmlns:a16="http://schemas.microsoft.com/office/drawing/2014/main" id="{586527F3-4EDD-2D95-6DD3-C72790F51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962400"/>
            <a:ext cx="1066800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ea typeface="宋体" panose="02010600030101010101" pitchFamily="2" charset="-122"/>
              </a:rPr>
              <a:t>玻璃或塑料芯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1711A0-CF76-5F7F-444A-B437374A1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388253C0-410E-45FA-8BB5-DC923652FF32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3554" name="Line 2">
            <a:extLst>
              <a:ext uri="{FF2B5EF4-FFF2-40B4-BE49-F238E27FC236}">
                <a16:creationId xmlns:a16="http://schemas.microsoft.com/office/drawing/2014/main" id="{D286EEBA-2CA9-C07F-92FF-77B94241F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5" name="Line 3">
            <a:extLst>
              <a:ext uri="{FF2B5EF4-FFF2-40B4-BE49-F238E27FC236}">
                <a16:creationId xmlns:a16="http://schemas.microsoft.com/office/drawing/2014/main" id="{F15541F4-FC0E-F538-5FA9-E79F8743A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1D0BD59A-A7DC-B497-35F0-5D99E8070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7.15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光纤连接器</a:t>
            </a:r>
          </a:p>
        </p:txBody>
      </p:sp>
      <p:sp>
        <p:nvSpPr>
          <p:cNvPr id="23557" name="Line 5">
            <a:extLst>
              <a:ext uri="{FF2B5EF4-FFF2-40B4-BE49-F238E27FC236}">
                <a16:creationId xmlns:a16="http://schemas.microsoft.com/office/drawing/2014/main" id="{C5899F5E-4441-C526-8EAC-19B55576CF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558" name="Picture 6">
            <a:extLst>
              <a:ext uri="{FF2B5EF4-FFF2-40B4-BE49-F238E27FC236}">
                <a16:creationId xmlns:a16="http://schemas.microsoft.com/office/drawing/2014/main" id="{C29B32A0-80C3-BF30-86A6-55C0C1AD8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90713"/>
            <a:ext cx="8593138" cy="3900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9" name="Text Box 7">
            <a:extLst>
              <a:ext uri="{FF2B5EF4-FFF2-40B4-BE49-F238E27FC236}">
                <a16:creationId xmlns:a16="http://schemas.microsoft.com/office/drawing/2014/main" id="{431F10E6-A4F2-9721-E776-A733A35D5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263" y="3270250"/>
            <a:ext cx="1404937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SC连接器</a:t>
            </a:r>
            <a:endParaRPr lang="zh-CN" altLang="en-US" sz="1600"/>
          </a:p>
        </p:txBody>
      </p:sp>
      <p:sp>
        <p:nvSpPr>
          <p:cNvPr id="23560" name="Text Box 8">
            <a:extLst>
              <a:ext uri="{FF2B5EF4-FFF2-40B4-BE49-F238E27FC236}">
                <a16:creationId xmlns:a16="http://schemas.microsoft.com/office/drawing/2014/main" id="{904E603D-D22B-6238-D120-CE8E23BC2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276600"/>
            <a:ext cx="1404938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ST连接器</a:t>
            </a:r>
            <a:endParaRPr lang="zh-CN" altLang="en-US" sz="1600"/>
          </a:p>
        </p:txBody>
      </p:sp>
      <p:sp>
        <p:nvSpPr>
          <p:cNvPr id="23561" name="Text Box 9">
            <a:extLst>
              <a:ext uri="{FF2B5EF4-FFF2-40B4-BE49-F238E27FC236}">
                <a16:creationId xmlns:a16="http://schemas.microsoft.com/office/drawing/2014/main" id="{91BEB9D8-32A3-4965-733E-FFDDEBB15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62600"/>
            <a:ext cx="1600200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MT-RJ连接器</a:t>
            </a:r>
            <a:endParaRPr lang="zh-CN" alt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3F5864-5D7B-F232-A8B4-9977C6921D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75A7FB02-4C24-4C17-8709-1404FC6DF192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24578" name="Line 2">
            <a:extLst>
              <a:ext uri="{FF2B5EF4-FFF2-40B4-BE49-F238E27FC236}">
                <a16:creationId xmlns:a16="http://schemas.microsoft.com/office/drawing/2014/main" id="{332FC228-851C-5937-D7BB-7B7E99586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79" name="Line 3">
            <a:extLst>
              <a:ext uri="{FF2B5EF4-FFF2-40B4-BE49-F238E27FC236}">
                <a16:creationId xmlns:a16="http://schemas.microsoft.com/office/drawing/2014/main" id="{7E604A30-BBAD-CBAF-184E-968FE426C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61DD97B1-6BF1-D485-74F4-293BB4C2B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26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7.16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光纤性能</a:t>
            </a:r>
          </a:p>
        </p:txBody>
      </p:sp>
      <p:sp>
        <p:nvSpPr>
          <p:cNvPr id="24581" name="Line 5">
            <a:extLst>
              <a:ext uri="{FF2B5EF4-FFF2-40B4-BE49-F238E27FC236}">
                <a16:creationId xmlns:a16="http://schemas.microsoft.com/office/drawing/2014/main" id="{50E2F976-69B9-874C-8777-C7C902934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4582" name="Picture 6">
            <a:extLst>
              <a:ext uri="{FF2B5EF4-FFF2-40B4-BE49-F238E27FC236}">
                <a16:creationId xmlns:a16="http://schemas.microsoft.com/office/drawing/2014/main" id="{E9AAE45A-D726-5A95-C083-B83F52750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676400"/>
            <a:ext cx="557530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15B98A-A8AF-C8CF-4842-1D64C592C0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5ECEC7F5-1E60-40BF-B4B3-9C88C76F3910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E036063B-2123-029E-5867-F108BC97C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2178461D-7696-DA1C-F924-943CF7957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7036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7-2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无向介质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</a:rPr>
              <a:t>: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无线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CCE82CD3-F9C6-605D-C1EE-0A334A823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9FC4ECE3-343C-3E40-F986-259DD48BA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14513"/>
            <a:ext cx="82296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zh-CN" altLang="en-US" sz="2800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        无向介质不使用物理导体传输电磁波。这种类型的通信通常是指无线通信。</a:t>
            </a:r>
            <a:endParaRPr lang="zh-CN" altLang="en-US" sz="2800" i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0FB81BFE-E15F-D62B-3D98-8075BBE9D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679950"/>
            <a:ext cx="6629400" cy="118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无线电波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微波</a:t>
            </a: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红外线</a:t>
            </a:r>
          </a:p>
        </p:txBody>
      </p:sp>
      <p:sp>
        <p:nvSpPr>
          <p:cNvPr id="25607" name="Text Box 7">
            <a:extLst>
              <a:ext uri="{FF2B5EF4-FFF2-40B4-BE49-F238E27FC236}">
                <a16:creationId xmlns:a16="http://schemas.microsoft.com/office/drawing/2014/main" id="{96D36429-F21D-2BDC-2DC9-F625E4E35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91000"/>
            <a:ext cx="2790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本节讨论的主题</a:t>
            </a:r>
            <a:r>
              <a:rPr lang="en-US" altLang="zh-CN" sz="2800" i="1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A4D1D8C-3BF1-38CA-51B1-47DE40869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0F389915-F5C3-4CB0-9F91-DBB92E300456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26626" name="Line 2">
            <a:extLst>
              <a:ext uri="{FF2B5EF4-FFF2-40B4-BE49-F238E27FC236}">
                <a16:creationId xmlns:a16="http://schemas.microsoft.com/office/drawing/2014/main" id="{54A544B9-FA20-ACF8-A8C0-627CC9584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7" name="Line 3">
            <a:extLst>
              <a:ext uri="{FF2B5EF4-FFF2-40B4-BE49-F238E27FC236}">
                <a16:creationId xmlns:a16="http://schemas.microsoft.com/office/drawing/2014/main" id="{B5751186-147A-E2B3-3435-3B97618EDE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DDBD6EF7-38C7-8077-49F9-139FE27E1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043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7.17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无线通信使用的电磁频谱</a:t>
            </a:r>
          </a:p>
        </p:txBody>
      </p:sp>
      <p:sp>
        <p:nvSpPr>
          <p:cNvPr id="26629" name="Line 5">
            <a:extLst>
              <a:ext uri="{FF2B5EF4-FFF2-40B4-BE49-F238E27FC236}">
                <a16:creationId xmlns:a16="http://schemas.microsoft.com/office/drawing/2014/main" id="{245BC0B7-1859-210E-8528-42727F473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6630" name="Picture 6">
            <a:extLst>
              <a:ext uri="{FF2B5EF4-FFF2-40B4-BE49-F238E27FC236}">
                <a16:creationId xmlns:a16="http://schemas.microsoft.com/office/drawing/2014/main" id="{D8B3D068-86CD-293D-43F4-F65EE784B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" y="2590800"/>
            <a:ext cx="840105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631" name="Text Box 7">
            <a:extLst>
              <a:ext uri="{FF2B5EF4-FFF2-40B4-BE49-F238E27FC236}">
                <a16:creationId xmlns:a16="http://schemas.microsoft.com/office/drawing/2014/main" id="{A9A1D9C4-84C9-4EDF-07B8-930F103EF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588" y="3640138"/>
            <a:ext cx="2360612" cy="33496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无线电波和微波</a:t>
            </a:r>
            <a:endParaRPr lang="zh-CN" altLang="en-US" sz="1600"/>
          </a:p>
        </p:txBody>
      </p:sp>
      <p:sp>
        <p:nvSpPr>
          <p:cNvPr id="26632" name="Text Box 8">
            <a:extLst>
              <a:ext uri="{FF2B5EF4-FFF2-40B4-BE49-F238E27FC236}">
                <a16:creationId xmlns:a16="http://schemas.microsoft.com/office/drawing/2014/main" id="{E1F99DE9-E88F-8555-BC01-EFAEC1A59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550" y="3714750"/>
            <a:ext cx="831850" cy="3349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ea typeface="宋体" panose="02010600030101010101" pitchFamily="2" charset="-122"/>
              </a:rPr>
              <a:t>红外线</a:t>
            </a:r>
            <a:endParaRPr lang="zh-CN" altLang="en-US" sz="1600"/>
          </a:p>
        </p:txBody>
      </p:sp>
      <p:sp>
        <p:nvSpPr>
          <p:cNvPr id="26633" name="Text Box 9">
            <a:extLst>
              <a:ext uri="{FF2B5EF4-FFF2-40B4-BE49-F238E27FC236}">
                <a16:creationId xmlns:a16="http://schemas.microsoft.com/office/drawing/2014/main" id="{A2568E0B-3290-B1A9-34E4-9EC37449F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0463" y="2627313"/>
            <a:ext cx="947737" cy="3349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光波</a:t>
            </a:r>
            <a:endParaRPr lang="zh-CN" altLang="en-US"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C2D1F4-DBD6-8C40-D5E0-D78963B1FE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6D3334E2-EADE-40B4-9B34-8A7645A6928E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27650" name="Line 2">
            <a:extLst>
              <a:ext uri="{FF2B5EF4-FFF2-40B4-BE49-F238E27FC236}">
                <a16:creationId xmlns:a16="http://schemas.microsoft.com/office/drawing/2014/main" id="{3BF54269-0933-D89C-0DB8-9C8803E0D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1" name="Line 3">
            <a:extLst>
              <a:ext uri="{FF2B5EF4-FFF2-40B4-BE49-F238E27FC236}">
                <a16:creationId xmlns:a16="http://schemas.microsoft.com/office/drawing/2014/main" id="{1CE1F082-D6B8-830B-656E-0E6133A96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63BAB5C8-8BE6-2092-66F2-3B2E05F92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26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7.18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传播方法</a:t>
            </a:r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143EA84B-C5E6-7511-F288-6AFD618A6E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7654" name="Picture 6">
            <a:extLst>
              <a:ext uri="{FF2B5EF4-FFF2-40B4-BE49-F238E27FC236}">
                <a16:creationId xmlns:a16="http://schemas.microsoft.com/office/drawing/2014/main" id="{B097DFE1-3161-1DC7-F9FB-33A163679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1917700"/>
            <a:ext cx="8501062" cy="356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55" name="Text Box 7">
            <a:extLst>
              <a:ext uri="{FF2B5EF4-FFF2-40B4-BE49-F238E27FC236}">
                <a16:creationId xmlns:a16="http://schemas.microsoft.com/office/drawing/2014/main" id="{4F872AF2-D0BD-226F-557B-2E67AF296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6488" y="1846263"/>
            <a:ext cx="1103312" cy="334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电离层</a:t>
            </a:r>
            <a:endParaRPr lang="zh-CN" altLang="en-US" sz="1600"/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E1F59D9C-821E-C652-A229-E89E76F6B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828800"/>
            <a:ext cx="1103313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电离层</a:t>
            </a:r>
            <a:endParaRPr lang="zh-CN" altLang="en-US" sz="1600"/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4EFC8A6C-A891-CC3C-F7A0-6931AC6CE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828800"/>
            <a:ext cx="1103313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电离层</a:t>
            </a:r>
            <a:endParaRPr lang="zh-CN" altLang="en-US" sz="1600"/>
          </a:p>
        </p:txBody>
      </p:sp>
      <p:sp>
        <p:nvSpPr>
          <p:cNvPr id="27658" name="Text Box 10">
            <a:extLst>
              <a:ext uri="{FF2B5EF4-FFF2-40B4-BE49-F238E27FC236}">
                <a16:creationId xmlns:a16="http://schemas.microsoft.com/office/drawing/2014/main" id="{8D5E2F2E-5EFD-5750-621A-CBDCBF987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953000"/>
            <a:ext cx="2109788" cy="5826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地表传播（低于2MHz）</a:t>
            </a:r>
            <a:endParaRPr lang="zh-CN" altLang="en-US" sz="1600"/>
          </a:p>
        </p:txBody>
      </p:sp>
      <p:sp>
        <p:nvSpPr>
          <p:cNvPr id="27659" name="Text Box 11">
            <a:extLst>
              <a:ext uri="{FF2B5EF4-FFF2-40B4-BE49-F238E27FC236}">
                <a16:creationId xmlns:a16="http://schemas.microsoft.com/office/drawing/2014/main" id="{8532DF40-37AC-BD33-5B3D-A982F371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953000"/>
            <a:ext cx="2109788" cy="5826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天空传播（2MHz到30MHz）</a:t>
            </a:r>
            <a:endParaRPr lang="zh-CN" altLang="en-US" sz="1600"/>
          </a:p>
        </p:txBody>
      </p:sp>
      <p:sp>
        <p:nvSpPr>
          <p:cNvPr id="27660" name="Text Box 12">
            <a:extLst>
              <a:ext uri="{FF2B5EF4-FFF2-40B4-BE49-F238E27FC236}">
                <a16:creationId xmlns:a16="http://schemas.microsoft.com/office/drawing/2014/main" id="{3503E8E0-26D6-DCD8-DE07-2512FD7D2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953000"/>
            <a:ext cx="2362200" cy="5826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170" tIns="46990" rIns="90170" bIns="46990">
            <a:spAutoFit/>
          </a:bodyPr>
          <a:lstStyle/>
          <a:p>
            <a:pPr algn="ctr"/>
            <a:r>
              <a:rPr lang="zh-CN" altLang="en-US" sz="1600">
                <a:ea typeface="宋体" panose="02010600030101010101" pitchFamily="2" charset="-122"/>
              </a:rPr>
              <a:t>      视线传播（30MHz以上）</a:t>
            </a:r>
            <a:endParaRPr lang="zh-CN" altLang="en-US"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C4AE05-800E-03D5-8418-61C3E4FF50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3A65BAE5-B242-4EB2-958F-4F5CE128EBAF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28674" name="Text Box 2">
            <a:extLst>
              <a:ext uri="{FF2B5EF4-FFF2-40B4-BE49-F238E27FC236}">
                <a16:creationId xmlns:a16="http://schemas.microsoft.com/office/drawing/2014/main" id="{1B94A328-6A7E-B839-4764-52D7B4DC0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668338"/>
            <a:ext cx="1604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7.4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波段</a:t>
            </a:r>
          </a:p>
        </p:txBody>
      </p:sp>
      <p:graphicFrame>
        <p:nvGraphicFramePr>
          <p:cNvPr id="28675" name="Group 3">
            <a:extLst>
              <a:ext uri="{FF2B5EF4-FFF2-40B4-BE49-F238E27FC236}">
                <a16:creationId xmlns:a16="http://schemas.microsoft.com/office/drawing/2014/main" id="{0064A8E4-810E-E8CA-94C0-3BA3EF329C9E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371600"/>
          <a:ext cx="7924800" cy="3652838"/>
        </p:xfrm>
        <a:graphic>
          <a:graphicData uri="http://schemas.openxmlformats.org/drawingml/2006/table">
            <a:tbl>
              <a:tblPr/>
              <a:tblGrid>
                <a:gridCol w="1520825">
                  <a:extLst>
                    <a:ext uri="{9D8B030D-6E8A-4147-A177-3AD203B41FA5}">
                      <a16:colId xmlns:a16="http://schemas.microsoft.com/office/drawing/2014/main" val="4109885031"/>
                    </a:ext>
                  </a:extLst>
                </a:gridCol>
                <a:gridCol w="1781175">
                  <a:extLst>
                    <a:ext uri="{9D8B030D-6E8A-4147-A177-3AD203B41FA5}">
                      <a16:colId xmlns:a16="http://schemas.microsoft.com/office/drawing/2014/main" val="2453428582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4186857715"/>
                    </a:ext>
                  </a:extLst>
                </a:gridCol>
                <a:gridCol w="3270250">
                  <a:extLst>
                    <a:ext uri="{9D8B030D-6E8A-4147-A177-3AD203B41FA5}">
                      <a16:colId xmlns:a16="http://schemas.microsoft.com/office/drawing/2014/main" val="2396441724"/>
                    </a:ext>
                  </a:extLst>
                </a:gridCol>
              </a:tblGrid>
              <a:tr h="4079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波段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范围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传播</a:t>
                      </a:r>
                      <a:endParaRPr kumimoji="0" lang="zh-CN" alt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应用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929288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VLF(甚低频)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3~30kHz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地面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远程无线电导航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873250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LF(低频)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30~300kHz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地面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无线电导航台和导航定位器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390712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MF(中频)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300kHz~3MHz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天空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AM广播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777130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HF(高频)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3~30MHz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天空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民用波段(CB)和航海/航空通信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967899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VHF(甚高频)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30~300MHz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天空和视线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VHF电视波段和FM广播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96536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UHF(超高频)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300MHz~3GHz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视线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UHF电视波段，移动电话，寻呼，卫星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523557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SHF(特高频)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3~30GHz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视线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卫星通信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225589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EHF(极高频)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30~300GHz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视线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雷达和卫星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6972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3C3C05-46F0-2883-AAAF-DC6712D59F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10B7CCEE-81D5-4D9A-AEF6-B292FC28263F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29698" name="Line 2">
            <a:extLst>
              <a:ext uri="{FF2B5EF4-FFF2-40B4-BE49-F238E27FC236}">
                <a16:creationId xmlns:a16="http://schemas.microsoft.com/office/drawing/2014/main" id="{FB491DEB-AC44-269D-D59B-559FE036D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699" name="Line 3">
            <a:extLst>
              <a:ext uri="{FF2B5EF4-FFF2-40B4-BE49-F238E27FC236}">
                <a16:creationId xmlns:a16="http://schemas.microsoft.com/office/drawing/2014/main" id="{107571D9-25A6-1ED9-1005-84F85D5C8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5FAEA9A2-C4B7-A7F9-7592-54C1E9AEF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51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7.19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无线传输波</a:t>
            </a:r>
          </a:p>
        </p:txBody>
      </p:sp>
      <p:sp>
        <p:nvSpPr>
          <p:cNvPr id="29701" name="Line 5">
            <a:extLst>
              <a:ext uri="{FF2B5EF4-FFF2-40B4-BE49-F238E27FC236}">
                <a16:creationId xmlns:a16="http://schemas.microsoft.com/office/drawing/2014/main" id="{B62941D5-8776-A324-3330-E1A5E4E7B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9702" name="Picture 6">
            <a:extLst>
              <a:ext uri="{FF2B5EF4-FFF2-40B4-BE49-F238E27FC236}">
                <a16:creationId xmlns:a16="http://schemas.microsoft.com/office/drawing/2014/main" id="{CFC55372-8E8B-4409-43B9-81EF99F52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043113"/>
            <a:ext cx="8239125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703" name="Text Box 7">
            <a:extLst>
              <a:ext uri="{FF2B5EF4-FFF2-40B4-BE49-F238E27FC236}">
                <a16:creationId xmlns:a16="http://schemas.microsoft.com/office/drawing/2014/main" id="{95362757-FDCD-3593-7045-EAE1C290E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209800"/>
            <a:ext cx="2057400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600">
                <a:ea typeface="宋体" panose="02010600030101010101" pitchFamily="2" charset="-122"/>
              </a:rPr>
              <a:t>无线传输</a:t>
            </a:r>
            <a:endParaRPr lang="zh-CN" altLang="en-US" sz="3600"/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B5C09340-8D47-2367-2AA5-7E3B26089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3" y="3924300"/>
            <a:ext cx="2001837" cy="579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ea typeface="宋体" panose="02010600030101010101" pitchFamily="2" charset="-122"/>
              </a:rPr>
              <a:t>无线电波</a:t>
            </a:r>
            <a:endParaRPr lang="zh-CN" altLang="en-US"/>
          </a:p>
        </p:txBody>
      </p:sp>
      <p:sp>
        <p:nvSpPr>
          <p:cNvPr id="29705" name="Text Box 9">
            <a:extLst>
              <a:ext uri="{FF2B5EF4-FFF2-40B4-BE49-F238E27FC236}">
                <a16:creationId xmlns:a16="http://schemas.microsoft.com/office/drawing/2014/main" id="{BD639797-FB5F-F58C-B6C8-62F30D138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962400"/>
            <a:ext cx="1643063" cy="579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ea typeface="宋体" panose="02010600030101010101" pitchFamily="2" charset="-122"/>
              </a:rPr>
              <a:t>微波</a:t>
            </a:r>
            <a:endParaRPr lang="zh-CN" altLang="en-US"/>
          </a:p>
        </p:txBody>
      </p:sp>
      <p:sp>
        <p:nvSpPr>
          <p:cNvPr id="29706" name="Text Box 10">
            <a:extLst>
              <a:ext uri="{FF2B5EF4-FFF2-40B4-BE49-F238E27FC236}">
                <a16:creationId xmlns:a16="http://schemas.microsoft.com/office/drawing/2014/main" id="{86F68462-14E8-3043-1E38-E6B3B7C4D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4800" y="3924300"/>
            <a:ext cx="1574800" cy="579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ea typeface="宋体" panose="02010600030101010101" pitchFamily="2" charset="-122"/>
              </a:rPr>
              <a:t>红外波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12903B-C685-1AF8-0D08-7FF16F9AF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F9AD269E-A52F-4F0D-BA07-BF00D735459D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30722" name="Line 2">
            <a:extLst>
              <a:ext uri="{FF2B5EF4-FFF2-40B4-BE49-F238E27FC236}">
                <a16:creationId xmlns:a16="http://schemas.microsoft.com/office/drawing/2014/main" id="{C0654102-CA54-CB9F-ABDC-43C2F0E89B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3" name="Line 3">
            <a:extLst>
              <a:ext uri="{FF2B5EF4-FFF2-40B4-BE49-F238E27FC236}">
                <a16:creationId xmlns:a16="http://schemas.microsoft.com/office/drawing/2014/main" id="{8C09E569-D6F5-9AE5-771D-C66AEB3AC8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45376367-84D4-46A8-A931-8EE81E183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26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7.20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全向天线</a:t>
            </a:r>
          </a:p>
        </p:txBody>
      </p:sp>
      <p:sp>
        <p:nvSpPr>
          <p:cNvPr id="30725" name="Line 5">
            <a:extLst>
              <a:ext uri="{FF2B5EF4-FFF2-40B4-BE49-F238E27FC236}">
                <a16:creationId xmlns:a16="http://schemas.microsoft.com/office/drawing/2014/main" id="{65298BF5-2E04-0985-AFF0-67647C1F6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6" name="Picture 6">
            <a:extLst>
              <a:ext uri="{FF2B5EF4-FFF2-40B4-BE49-F238E27FC236}">
                <a16:creationId xmlns:a16="http://schemas.microsoft.com/office/drawing/2014/main" id="{3BA8436C-01DA-B3B4-4831-FAC2B2521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2039938"/>
            <a:ext cx="3263900" cy="367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DA5EBF6-3FC9-1A57-2ED2-1A3A906D0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291EBB47-F1C4-468A-8C27-5B50967A086B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DCCE455C-DF00-BC02-4C33-7EEA1B617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A455E2F-A216-9E37-2DD0-8B6FB3879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28200C25-E38C-9099-7275-5EBE8DFBC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FD8CF606-C963-7931-31E7-9D3CEF6F4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EFA8ECA2-6DF0-62B4-C803-515CFFF13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3D445363-5420-E835-D6EC-F245F31D6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1752" name="Rectangle 8">
            <a:extLst>
              <a:ext uri="{FF2B5EF4-FFF2-40B4-BE49-F238E27FC236}">
                <a16:creationId xmlns:a16="http://schemas.microsoft.com/office/drawing/2014/main" id="{FE039C5A-50CD-054D-83A0-A6DFFFC4C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1753" name="Line 9">
            <a:extLst>
              <a:ext uri="{FF2B5EF4-FFF2-40B4-BE49-F238E27FC236}">
                <a16:creationId xmlns:a16="http://schemas.microsoft.com/office/drawing/2014/main" id="{4ED7E256-B718-AC90-807A-93B53FAE0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4" name="Line 10">
            <a:extLst>
              <a:ext uri="{FF2B5EF4-FFF2-40B4-BE49-F238E27FC236}">
                <a16:creationId xmlns:a16="http://schemas.microsoft.com/office/drawing/2014/main" id="{3A82CCDE-D9EB-EC3A-0FA6-92A698022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8862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55" name="Rectangle 11">
            <a:extLst>
              <a:ext uri="{FF2B5EF4-FFF2-40B4-BE49-F238E27FC236}">
                <a16:creationId xmlns:a16="http://schemas.microsoft.com/office/drawing/2014/main" id="{D27DBC86-46EF-61DD-F577-910CC1CC1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3200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ea typeface="宋体" panose="02010600030101010101" pitchFamily="2" charset="-122"/>
              </a:rPr>
              <a:t>无线电波用于多播通信，如收音机、电视以及寻呼系统。</a:t>
            </a:r>
            <a:endParaRPr lang="zh-CN" altLang="en-US"/>
          </a:p>
        </p:txBody>
      </p:sp>
      <p:grpSp>
        <p:nvGrpSpPr>
          <p:cNvPr id="31756" name="Group 12">
            <a:extLst>
              <a:ext uri="{FF2B5EF4-FFF2-40B4-BE49-F238E27FC236}">
                <a16:creationId xmlns:a16="http://schemas.microsoft.com/office/drawing/2014/main" id="{908DEE0B-5796-1EC0-4AC9-FE0C3C3CAB0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0" y="0"/>
            <a:chExt cx="720" cy="357"/>
          </a:xfrm>
        </p:grpSpPr>
        <p:pic>
          <p:nvPicPr>
            <p:cNvPr id="31757" name="Picture 13">
              <a:extLst>
                <a:ext uri="{FF2B5EF4-FFF2-40B4-BE49-F238E27FC236}">
                  <a16:creationId xmlns:a16="http://schemas.microsoft.com/office/drawing/2014/main" id="{E793EDAA-DD22-D976-00CA-FF3A29812A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758" name="Text Box 14">
              <a:extLst>
                <a:ext uri="{FF2B5EF4-FFF2-40B4-BE49-F238E27FC236}">
                  <a16:creationId xmlns:a16="http://schemas.microsoft.com/office/drawing/2014/main" id="{5052DF3B-165D-EA2E-B545-354BC385B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EF91C2-F06D-9EBD-BDBF-F384D22188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AE2E1539-2715-4860-8498-131938DBBCF0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32770" name="Line 2">
            <a:extLst>
              <a:ext uri="{FF2B5EF4-FFF2-40B4-BE49-F238E27FC236}">
                <a16:creationId xmlns:a16="http://schemas.microsoft.com/office/drawing/2014/main" id="{436AA5E4-3933-C10B-2BFD-00A336450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1" name="Line 3">
            <a:extLst>
              <a:ext uri="{FF2B5EF4-FFF2-40B4-BE49-F238E27FC236}">
                <a16:creationId xmlns:a16="http://schemas.microsoft.com/office/drawing/2014/main" id="{F400A632-1B94-6DD8-8827-E25873E061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B7C6AFE0-8B1B-B03C-42DA-2CF8EE6BB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265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</a:rPr>
              <a:t> 7.21  </a:t>
            </a:r>
            <a:r>
              <a:rPr lang="zh-CN" altLang="en-US" sz="2000" i="1">
                <a:latin typeface="Times New Roman" panose="02020603050405020304" pitchFamily="18" charset="0"/>
                <a:ea typeface="宋体" panose="02010600030101010101" pitchFamily="2" charset="-122"/>
              </a:rPr>
              <a:t>单向天线</a:t>
            </a:r>
          </a:p>
        </p:txBody>
      </p:sp>
      <p:sp>
        <p:nvSpPr>
          <p:cNvPr id="32773" name="Line 5">
            <a:extLst>
              <a:ext uri="{FF2B5EF4-FFF2-40B4-BE49-F238E27FC236}">
                <a16:creationId xmlns:a16="http://schemas.microsoft.com/office/drawing/2014/main" id="{EDBD857E-BA96-5B2B-E27F-2047D335F1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2774" name="Picture 6">
            <a:extLst>
              <a:ext uri="{FF2B5EF4-FFF2-40B4-BE49-F238E27FC236}">
                <a16:creationId xmlns:a16="http://schemas.microsoft.com/office/drawing/2014/main" id="{5F4641B6-0111-E378-6CA7-DDBF2F95A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2051050"/>
            <a:ext cx="7394575" cy="351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5" name="Text Box 7">
            <a:extLst>
              <a:ext uri="{FF2B5EF4-FFF2-40B4-BE49-F238E27FC236}">
                <a16:creationId xmlns:a16="http://schemas.microsoft.com/office/drawing/2014/main" id="{04E59AE3-5E54-4A16-5A74-AC611AE8F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5349875"/>
            <a:ext cx="1417637" cy="334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ea typeface="宋体" panose="02010600030101010101" pitchFamily="2" charset="-122"/>
              </a:rPr>
              <a:t>a.碟形天线</a:t>
            </a:r>
            <a:endParaRPr lang="zh-CN" altLang="en-US" sz="1600"/>
          </a:p>
        </p:txBody>
      </p:sp>
      <p:sp>
        <p:nvSpPr>
          <p:cNvPr id="32776" name="Text Box 8">
            <a:extLst>
              <a:ext uri="{FF2B5EF4-FFF2-40B4-BE49-F238E27FC236}">
                <a16:creationId xmlns:a16="http://schemas.microsoft.com/office/drawing/2014/main" id="{2F65DAC8-8B36-D820-BD3B-343DEF8FD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334000"/>
            <a:ext cx="1417638" cy="336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ea typeface="宋体" panose="02010600030101010101" pitchFamily="2" charset="-122"/>
              </a:rPr>
              <a:t>b.喇叭天线</a:t>
            </a:r>
            <a:endParaRPr lang="zh-CN" altLang="en-US" sz="1600"/>
          </a:p>
        </p:txBody>
      </p:sp>
      <p:sp>
        <p:nvSpPr>
          <p:cNvPr id="32777" name="Text Box 9">
            <a:extLst>
              <a:ext uri="{FF2B5EF4-FFF2-40B4-BE49-F238E27FC236}">
                <a16:creationId xmlns:a16="http://schemas.microsoft.com/office/drawing/2014/main" id="{9D11A16F-5D98-177E-BCAA-7D4C46A5B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3563" y="2965450"/>
            <a:ext cx="604837" cy="334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ea typeface="宋体" panose="02010600030101010101" pitchFamily="2" charset="-122"/>
              </a:rPr>
              <a:t>焦点</a:t>
            </a:r>
            <a:endParaRPr lang="zh-CN" altLang="en-US" sz="1600"/>
          </a:p>
        </p:txBody>
      </p:sp>
      <p:sp>
        <p:nvSpPr>
          <p:cNvPr id="32778" name="Text Box 10">
            <a:extLst>
              <a:ext uri="{FF2B5EF4-FFF2-40B4-BE49-F238E27FC236}">
                <a16:creationId xmlns:a16="http://schemas.microsoft.com/office/drawing/2014/main" id="{4DCF8C15-8BA2-D443-F53B-21B978ABD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5325" y="4019550"/>
            <a:ext cx="955675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ea typeface="宋体" panose="02010600030101010101" pitchFamily="2" charset="-122"/>
              </a:rPr>
              <a:t>波导</a:t>
            </a:r>
            <a:endParaRPr lang="zh-CN" altLang="en-US"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20D78D2-804E-0ADC-649F-D6DEF8C1C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80D77E7E-5BA0-40B7-A051-09302A5A8391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E7F9D93E-128B-C763-9083-D160B1BD4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AF545EF5-D14E-3CE4-5E45-1D5165A99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8E1CCF7A-0C49-AE86-A445-85E4E2707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8BED9B4D-8A76-3B8D-E873-7848E1D69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87EA7490-5486-CF1E-3FFC-9F9882865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128BEDC6-9D7B-9379-5072-CD9C66701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3800" name="Rectangle 8">
            <a:extLst>
              <a:ext uri="{FF2B5EF4-FFF2-40B4-BE49-F238E27FC236}">
                <a16:creationId xmlns:a16="http://schemas.microsoft.com/office/drawing/2014/main" id="{6CECE267-60D9-B91A-011A-4D7A15BBF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3801" name="Line 9">
            <a:extLst>
              <a:ext uri="{FF2B5EF4-FFF2-40B4-BE49-F238E27FC236}">
                <a16:creationId xmlns:a16="http://schemas.microsoft.com/office/drawing/2014/main" id="{AA904326-639B-64E9-9476-B44F493CFC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395538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2" name="Line 10">
            <a:extLst>
              <a:ext uri="{FF2B5EF4-FFF2-40B4-BE49-F238E27FC236}">
                <a16:creationId xmlns:a16="http://schemas.microsoft.com/office/drawing/2014/main" id="{FBED7432-9E58-873F-4B41-900B3EAC3D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" y="36576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3" name="Rectangle 11">
            <a:extLst>
              <a:ext uri="{FF2B5EF4-FFF2-40B4-BE49-F238E27FC236}">
                <a16:creationId xmlns:a16="http://schemas.microsoft.com/office/drawing/2014/main" id="{CAD579F0-8532-F04B-4FEC-1ED1B73C6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487613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ea typeface="宋体" panose="02010600030101010101" pitchFamily="2" charset="-122"/>
              </a:rPr>
              <a:t>微波用于单播通信，如移动电话、卫星网络和无线局域网。</a:t>
            </a:r>
            <a:endParaRPr lang="zh-CN" altLang="en-US"/>
          </a:p>
        </p:txBody>
      </p:sp>
      <p:grpSp>
        <p:nvGrpSpPr>
          <p:cNvPr id="33804" name="Group 12">
            <a:extLst>
              <a:ext uri="{FF2B5EF4-FFF2-40B4-BE49-F238E27FC236}">
                <a16:creationId xmlns:a16="http://schemas.microsoft.com/office/drawing/2014/main" id="{AD5CAA1C-3DA5-E688-5853-8628B7A97CE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752600"/>
            <a:ext cx="1143000" cy="566738"/>
            <a:chOff x="0" y="0"/>
            <a:chExt cx="720" cy="357"/>
          </a:xfrm>
        </p:grpSpPr>
        <p:pic>
          <p:nvPicPr>
            <p:cNvPr id="33805" name="Picture 13">
              <a:extLst>
                <a:ext uri="{FF2B5EF4-FFF2-40B4-BE49-F238E27FC236}">
                  <a16:creationId xmlns:a16="http://schemas.microsoft.com/office/drawing/2014/main" id="{A6F4345E-E3FA-66C4-078E-563A38B3E3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3806" name="Text Box 14">
              <a:extLst>
                <a:ext uri="{FF2B5EF4-FFF2-40B4-BE49-F238E27FC236}">
                  <a16:creationId xmlns:a16="http://schemas.microsoft.com/office/drawing/2014/main" id="{9AAD02B1-B211-7E29-ABA9-008F1E6C2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EB07F2E-A0B2-A03E-C416-D0E76632A9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7.</a:t>
            </a:r>
            <a:fld id="{3843F3FD-F8A0-4ECC-89E1-DCA27A6FCADE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778F6155-1D32-BB97-B21F-B77919B41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D6CD227-BE43-D9EF-F986-BF8B827D7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19F895B3-FD44-595C-4DB0-6FBB9C896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75A84F7C-573C-E5C0-E1C0-69027DEB1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A7C2C43D-5F9F-6E2F-7AB3-C594F275A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EEA8C225-7FFD-942E-50FF-7AF9F61D0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4824" name="Rectangle 8">
            <a:extLst>
              <a:ext uri="{FF2B5EF4-FFF2-40B4-BE49-F238E27FC236}">
                <a16:creationId xmlns:a16="http://schemas.microsoft.com/office/drawing/2014/main" id="{FC007D23-828B-AA0A-27BA-D8B9AC2BE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4825" name="Line 9">
            <a:extLst>
              <a:ext uri="{FF2B5EF4-FFF2-40B4-BE49-F238E27FC236}">
                <a16:creationId xmlns:a16="http://schemas.microsoft.com/office/drawing/2014/main" id="{63CE1E49-D099-FCF9-C13C-C54BA7FBC8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6" name="Line 10">
            <a:extLst>
              <a:ext uri="{FF2B5EF4-FFF2-40B4-BE49-F238E27FC236}">
                <a16:creationId xmlns:a16="http://schemas.microsoft.com/office/drawing/2014/main" id="{24FE61C0-650B-FB84-AC85-1D79924718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8862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7" name="Rectangle 11">
            <a:extLst>
              <a:ext uri="{FF2B5EF4-FFF2-40B4-BE49-F238E27FC236}">
                <a16:creationId xmlns:a16="http://schemas.microsoft.com/office/drawing/2014/main" id="{026732B1-ACC8-1F09-1B60-3E6A9A733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>
                <a:ea typeface="宋体" panose="02010600030101010101" pitchFamily="2" charset="-122"/>
              </a:rPr>
              <a:t>红外信号可以在封闭区域用于短距离通信，使用视线传播。</a:t>
            </a:r>
            <a:endParaRPr lang="zh-CN" altLang="en-US"/>
          </a:p>
        </p:txBody>
      </p:sp>
      <p:grpSp>
        <p:nvGrpSpPr>
          <p:cNvPr id="34828" name="Group 12">
            <a:extLst>
              <a:ext uri="{FF2B5EF4-FFF2-40B4-BE49-F238E27FC236}">
                <a16:creationId xmlns:a16="http://schemas.microsoft.com/office/drawing/2014/main" id="{97A0D50D-F623-F8F0-232B-CDE8DE3D0B6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2024063"/>
            <a:ext cx="1143000" cy="566737"/>
            <a:chOff x="0" y="0"/>
            <a:chExt cx="720" cy="357"/>
          </a:xfrm>
        </p:grpSpPr>
        <p:pic>
          <p:nvPicPr>
            <p:cNvPr id="34829" name="Picture 13">
              <a:extLst>
                <a:ext uri="{FF2B5EF4-FFF2-40B4-BE49-F238E27FC236}">
                  <a16:creationId xmlns:a16="http://schemas.microsoft.com/office/drawing/2014/main" id="{F2468A44-788C-E43F-224F-FBAAB3280D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4830" name="Text Box 14">
              <a:extLst>
                <a:ext uri="{FF2B5EF4-FFF2-40B4-BE49-F238E27FC236}">
                  <a16:creationId xmlns:a16="http://schemas.microsoft.com/office/drawing/2014/main" id="{F00AF756-4C7E-6151-F19A-06BE103B0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Note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ages>0</Pages>
  <Words>851</Words>
  <Characters>0</Characters>
  <Application>Microsoft Office PowerPoint</Application>
  <DocSecurity>0</DocSecurity>
  <PresentationFormat>全屏显示(4:3)</PresentationFormat>
  <Lines>0</Lines>
  <Paragraphs>262</Paragraphs>
  <Slides>31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Arial</vt:lpstr>
      <vt:lpstr>宋体</vt:lpstr>
      <vt:lpstr>Wingdings</vt:lpstr>
      <vt:lpstr>Times New Roman</vt:lpstr>
      <vt:lpstr>Tahoma</vt:lpstr>
      <vt:lpstr>McGrawHill-Italic</vt:lpstr>
      <vt:lpstr>Times</vt:lpstr>
      <vt:lpstr>Segoe Print</vt:lpstr>
      <vt:lpstr>Calibri</vt:lpstr>
      <vt:lpstr>Segoe Print</vt:lpstr>
      <vt:lpstr>Blends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Valued Gateway Client</dc:creator>
  <cp:keywords/>
  <dc:description/>
  <cp:lastModifiedBy>浩嘉 申</cp:lastModifiedBy>
  <cp:revision>163</cp:revision>
  <dcterms:created xsi:type="dcterms:W3CDTF">2000-01-15T04:50:39Z</dcterms:created>
  <dcterms:modified xsi:type="dcterms:W3CDTF">2026-06-02T07:12:00Z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2052-9.1.0.4764</vt:lpwstr>
  </property>
</Properties>
</file>