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9"/>
  </p:notesMasterIdLst>
  <p:sldIdLst>
    <p:sldId id="840" r:id="rId2"/>
    <p:sldId id="775" r:id="rId3"/>
    <p:sldId id="535" r:id="rId4"/>
    <p:sldId id="776" r:id="rId5"/>
    <p:sldId id="750" r:id="rId6"/>
    <p:sldId id="777" r:id="rId7"/>
    <p:sldId id="751" r:id="rId8"/>
    <p:sldId id="778" r:id="rId9"/>
    <p:sldId id="752" r:id="rId10"/>
    <p:sldId id="779" r:id="rId11"/>
    <p:sldId id="780" r:id="rId12"/>
    <p:sldId id="753" r:id="rId13"/>
    <p:sldId id="746" r:id="rId14"/>
    <p:sldId id="754" r:id="rId15"/>
    <p:sldId id="807" r:id="rId16"/>
    <p:sldId id="755" r:id="rId17"/>
    <p:sldId id="842" r:id="rId18"/>
    <p:sldId id="781" r:id="rId19"/>
    <p:sldId id="756" r:id="rId20"/>
    <p:sldId id="782" r:id="rId21"/>
    <p:sldId id="810" r:id="rId22"/>
    <p:sldId id="783" r:id="rId23"/>
    <p:sldId id="811" r:id="rId24"/>
    <p:sldId id="812" r:id="rId25"/>
    <p:sldId id="784" r:id="rId26"/>
    <p:sldId id="813" r:id="rId27"/>
    <p:sldId id="757" r:id="rId28"/>
    <p:sldId id="758" r:id="rId29"/>
    <p:sldId id="785" r:id="rId30"/>
    <p:sldId id="747" r:id="rId31"/>
    <p:sldId id="786" r:id="rId32"/>
    <p:sldId id="787" r:id="rId33"/>
    <p:sldId id="801" r:id="rId34"/>
    <p:sldId id="759" r:id="rId35"/>
    <p:sldId id="788" r:id="rId36"/>
    <p:sldId id="760" r:id="rId37"/>
    <p:sldId id="836" r:id="rId38"/>
    <p:sldId id="837" r:id="rId39"/>
    <p:sldId id="789" r:id="rId40"/>
    <p:sldId id="802" r:id="rId41"/>
    <p:sldId id="761" r:id="rId42"/>
    <p:sldId id="803" r:id="rId43"/>
    <p:sldId id="819" r:id="rId44"/>
    <p:sldId id="820" r:id="rId45"/>
    <p:sldId id="762" r:id="rId46"/>
    <p:sldId id="748" r:id="rId47"/>
    <p:sldId id="804" r:id="rId48"/>
    <p:sldId id="763" r:id="rId49"/>
    <p:sldId id="764" r:id="rId50"/>
    <p:sldId id="765" r:id="rId51"/>
    <p:sldId id="766" r:id="rId52"/>
    <p:sldId id="767" r:id="rId53"/>
    <p:sldId id="768" r:id="rId54"/>
    <p:sldId id="769" r:id="rId55"/>
    <p:sldId id="770" r:id="rId56"/>
    <p:sldId id="771" r:id="rId57"/>
    <p:sldId id="790" r:id="rId58"/>
    <p:sldId id="791" r:id="rId59"/>
    <p:sldId id="792" r:id="rId60"/>
    <p:sldId id="793" r:id="rId61"/>
    <p:sldId id="821" r:id="rId62"/>
    <p:sldId id="772" r:id="rId63"/>
    <p:sldId id="794" r:id="rId64"/>
    <p:sldId id="822" r:id="rId65"/>
    <p:sldId id="795" r:id="rId66"/>
    <p:sldId id="796" r:id="rId67"/>
    <p:sldId id="823" r:id="rId68"/>
    <p:sldId id="839" r:id="rId69"/>
    <p:sldId id="830" r:id="rId70"/>
    <p:sldId id="806" r:id="rId71"/>
    <p:sldId id="749" r:id="rId72"/>
    <p:sldId id="824" r:id="rId73"/>
    <p:sldId id="825" r:id="rId74"/>
    <p:sldId id="797" r:id="rId75"/>
    <p:sldId id="798" r:id="rId76"/>
    <p:sldId id="774" r:id="rId77"/>
    <p:sldId id="841" r:id="rId7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 autoAdjust="0"/>
    <p:restoredTop sz="94680" autoAdjust="0"/>
  </p:normalViewPr>
  <p:slideViewPr>
    <p:cSldViewPr>
      <p:cViewPr varScale="1">
        <p:scale>
          <a:sx n="153" d="100"/>
          <a:sy n="153" d="100"/>
        </p:scale>
        <p:origin x="456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Rectangle 2">
            <a:extLst>
              <a:ext uri="{FF2B5EF4-FFF2-40B4-BE49-F238E27FC236}">
                <a16:creationId xmlns:a16="http://schemas.microsoft.com/office/drawing/2014/main" id="{73415CE2-A972-ECCC-64AD-4178BDE035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23" name="Rectangle 3">
            <a:extLst>
              <a:ext uri="{FF2B5EF4-FFF2-40B4-BE49-F238E27FC236}">
                <a16:creationId xmlns:a16="http://schemas.microsoft.com/office/drawing/2014/main" id="{BF7AA2F0-F583-0CFB-B090-BB410E06201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99BC9AF-132D-D72A-9DE9-55691D40D3D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25" name="Rectangle 5">
            <a:extLst>
              <a:ext uri="{FF2B5EF4-FFF2-40B4-BE49-F238E27FC236}">
                <a16:creationId xmlns:a16="http://schemas.microsoft.com/office/drawing/2014/main" id="{FA8BEC4D-27A8-AAF6-49A7-32A11C22995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52326" name="Rectangle 6">
            <a:extLst>
              <a:ext uri="{FF2B5EF4-FFF2-40B4-BE49-F238E27FC236}">
                <a16:creationId xmlns:a16="http://schemas.microsoft.com/office/drawing/2014/main" id="{B13A8491-A91E-7278-BE01-67F22278F1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27" name="Rectangle 7">
            <a:extLst>
              <a:ext uri="{FF2B5EF4-FFF2-40B4-BE49-F238E27FC236}">
                <a16:creationId xmlns:a16="http://schemas.microsoft.com/office/drawing/2014/main" id="{B448B1C6-7954-A148-8E69-FADF3B74AC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F6ED8DD-2D14-4C4D-BBDD-AFE863A5F0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77C7477-2FE9-22E3-FD87-868FE85742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021D6-897C-46A7-BB30-7334964E3421}" type="slidenum">
              <a:rPr lang="en-US" altLang="zh-CN" sz="1200" b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F40921C-BB3F-A44D-B2BF-2533C56FD4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B21412B7-E676-1B69-EEBF-8D257AA30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CA9E514-BEB1-C2D9-F0C6-10930D76F7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5E9981-975B-4ABD-BD65-78662239A464}" type="slidenum">
              <a:rPr lang="en-US" altLang="zh-CN" sz="1200" b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5192B88-B44A-B460-A163-1D75431B99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9E2C1C4-C89F-97DA-9A2F-A7A36D461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8EA88029-6FB1-5413-1451-5D8205154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4B3934-BDDA-4FB3-9D4B-CA3C595A3EF2}" type="slidenum">
              <a:rPr lang="en-US" altLang="zh-CN" sz="1200" b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E763917-A401-5FDB-228B-86FE314710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857031A-BDCA-C836-C192-DE8763C72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43843210-5E94-689F-2D55-FFEB328528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81FA80-DF45-4DF5-A0ED-5B218BFBB14A}" type="slidenum">
              <a:rPr lang="en-US" altLang="zh-CN" sz="1200" b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1B15031-94EA-D216-8164-359282EB71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25E14B2-D98B-3514-E5E8-976405BFA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31E82738-0884-E846-FD84-3F07DBBA24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6580CC-AC60-43E9-8768-2DD53AB45FC7}" type="slidenum">
              <a:rPr lang="en-US" altLang="zh-CN" sz="1200" b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F8FA47EE-4127-6BC9-AE44-EC0234DD43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6912B58-1F4B-7D97-371B-E18C3ED0C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D2D6AFA-3478-2772-7E36-B636926657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E20639-55EC-4C85-B811-8F1AE624A858}" type="slidenum">
              <a:rPr lang="en-US" altLang="zh-CN" sz="1200" b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DBD204C-610C-CB15-7B5A-36E34386987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03905AF-B254-3880-E091-34DF794C8C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AD4C3D7-AD4C-94C5-7CF0-F5755C9A38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461807-426A-432A-9693-4D0BD6D5F9E9}" type="slidenum">
              <a:rPr lang="en-US" altLang="zh-CN" sz="1200" b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8D19B8B-A36E-524C-9A34-92D8244569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B3C3BC1-6AB7-3562-FFCA-17A1E8AB2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6E47175-7BA6-E214-604C-89CF674A4C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E74944-F10C-45F2-89B4-6B5FBC8C86A7}" type="slidenum">
              <a:rPr lang="en-US" altLang="zh-CN" sz="1200" b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0B6B1D2-BAC1-106F-39F1-556E08AF7E6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F752084-AC2A-7AF7-3467-3A69D91DE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B226E094-733E-C87C-5095-8FDDCA316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47902D-ABFE-4E23-89A4-67A8E68099A8}" type="slidenum">
              <a:rPr lang="en-US" altLang="zh-CN" sz="1200" b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838696D-2662-37AA-28AA-B175D3066E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26CF9CA-5DE5-416F-504F-D530D11A7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23B33E6-E41A-111D-FAA9-AD20BD42BB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B5BD42-CBCD-4366-AB0B-5560F35AFA94}" type="slidenum">
              <a:rPr lang="en-US" altLang="zh-CN" sz="1200" b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43F8877-C7FF-E1D6-9524-B91E42E6B9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E6AEECF-F616-178E-70C0-FC95072BD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42BF0AE-166C-582E-AB97-CE9753FB3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53187D-0D77-4B86-A54B-8EBFF1232A15}" type="slidenum">
              <a:rPr lang="en-US" altLang="zh-CN" sz="1200" b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80A6F0E-F6DB-83C3-9334-D605759CC1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4F7B18D-673B-2B4A-3A04-C84B49C23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7B464988-5CF9-A05A-84D0-B971E5792B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75C438-9D7B-4C44-9FE1-5FBE50915E7B}" type="slidenum">
              <a:rPr lang="en-US" altLang="zh-CN" sz="1200" b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CBADCD7-628E-0B86-B2B3-BEA6271D2E1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5E875D0-E6D6-58B2-B720-C6E46C89E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C5B2BCBA-4D71-C323-1F90-345453770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CF1829-3E4A-47BE-91A6-93374C60F877}" type="slidenum">
              <a:rPr lang="en-US" altLang="zh-CN" sz="1200" b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8AE6AE0D-33DD-D8BC-85C2-C3E46E5E86E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4915023-8871-C66A-E02C-391B4DFE3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EB970A0-EE49-D46C-8221-B2EDF8EF56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431CA8-D89B-4528-9DBF-FA2D39CB5BB3}" type="slidenum">
              <a:rPr lang="en-US" altLang="zh-CN" sz="1200" b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02AAD57-9BD0-0842-78E6-F1483AA4D55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FCB4E70-F92B-8AF7-6770-BE16642270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913417F-66E7-5654-64A7-C7261C724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2B6A69-31C7-41AA-B2A9-D8E8EB613D41}" type="slidenum">
              <a:rPr lang="en-US" altLang="zh-CN" sz="1200" b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472C1AB-5EF8-0C0B-3F82-A3538D910F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0C7A6BA-0661-BD59-5F18-80785114A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E7047FB-F34F-D4E7-5DD6-2767C37C9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A36541-4064-43A5-8C87-403B35F7A38C}" type="slidenum">
              <a:rPr lang="en-US" altLang="zh-CN" sz="1200" b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1C92593-8E31-65B0-6686-F1C27A9A7F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4330604-BB58-2BA2-F42D-125BA208F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4321450-197C-5AE2-82D3-E4682F067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747B3D-45CF-42AB-A2B6-DDC9563D5C50}" type="slidenum">
              <a:rPr lang="en-US" altLang="zh-CN" sz="1200" b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1BCC8A1-C90D-9182-801A-85AB5B705D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4F51E15-3460-E16E-6D80-F0BFB3AD5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A81DF0F-D034-EA34-D391-3C8F16E67D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067D4F-5B7F-49FC-A90A-362E95B6B7B7}" type="slidenum">
              <a:rPr lang="en-US" altLang="zh-CN" sz="1200" b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9DC3C13-B1A4-94B2-0EBB-C61AAC568E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D72A8AE-3D71-BC95-19AE-18789C9A7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76286892-82B4-E916-1730-855006189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EBB4A1-AA43-4469-9F46-E25F6F860F32}" type="slidenum">
              <a:rPr lang="en-US" altLang="zh-CN" sz="1200" b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E39CCA4-324C-C740-0DA3-8CD67A02E9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BF5666E-D45F-332F-7877-C46B6A1EE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9A964885-08BF-FCE9-9A98-249875950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2E071-5F96-403C-8B11-0BD1A2BFD991}" type="slidenum">
              <a:rPr lang="en-US" altLang="zh-CN" sz="1200" b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3D55CF9-92AA-0ADC-544C-0B8E562512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391F334-2FE4-313D-9873-54FF91A7E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8E948183-C1B5-3A55-C340-73ABEE5F0C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1A035B-7B0A-4348-AB5A-6575CC076753}" type="slidenum">
              <a:rPr lang="en-US" altLang="zh-CN" sz="1200" b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82BC8D5-E8FA-1412-F8AC-3CD5BA79DD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97FD159F-6FFA-7216-3467-BD3526F60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1BB8C772-66A1-6DC2-74B9-E9F3186B6E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2D6FD6-19A1-4DE0-87D4-0D8B4BCA0B44}" type="slidenum">
              <a:rPr lang="en-US" altLang="zh-CN" sz="1200" b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990C002-8643-03E4-792F-4B89A8D518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590C9F4-518D-5CA3-986D-14AD88C5E6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7D8E715-68C1-042E-5695-D0643B55A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F0BF10-EBA0-436E-94E7-3839FD201C14}" type="slidenum">
              <a:rPr lang="en-US" altLang="zh-CN" sz="1200" b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69257A3-474B-6507-209C-8DAE73FF6E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70CBD72-775D-0067-2175-39323679F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0455F6F1-63C1-6EA6-7C9C-73C5EE61C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9197AF-088A-4B00-BFD5-D36976616FE6}" type="slidenum">
              <a:rPr lang="en-US" altLang="zh-CN" sz="1200" b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F5000FA7-7902-02F6-D5B2-D1915B377DE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130047B-44D7-94D7-852B-DF0E6E339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11CC832F-C957-3FA6-803C-0E461D4126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DCDC75-3C83-41F8-8740-020977FBB1D0}" type="slidenum">
              <a:rPr lang="en-US" altLang="zh-CN" sz="1200" b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E05CBA4-860F-1294-B10D-A6E1C84B5FE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EE17BB2A-3BA5-55FD-3598-935D9AC9E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6F24344-F9DB-7A92-0AFB-B19B2359E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36E42E-5C64-4F9E-BDD6-492F75FD1715}" type="slidenum">
              <a:rPr lang="en-US" altLang="zh-CN" sz="1200" b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7229FE1-4136-20F6-7281-4621ADA282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584A9623-21DA-E19A-D4C2-5182DA18A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F2D588D9-BAB4-2F26-D5B5-1D63737DE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7774A8-3232-4780-A304-5FDAD3906E8A}" type="slidenum">
              <a:rPr lang="en-US" altLang="zh-CN" sz="1200" b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F188CC4-7686-EE96-DDB3-05DC29BEC0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262753E-2216-E681-4476-526BBF41C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963AA9B0-BD5F-C639-10B5-440EFD0136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2E65D6-B14F-4443-80C3-FD18F2981E6C}" type="slidenum">
              <a:rPr lang="en-US" altLang="zh-CN" sz="1200" b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3773689-C2D7-8C9E-7362-5E013FD232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B8F3C78-710D-93F1-B003-1E935856B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94078DF-803C-8D76-3424-8CE2EDDE75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9975EB-FC9F-4CEF-9B72-3F8D82099C99}" type="slidenum">
              <a:rPr lang="en-US" altLang="zh-CN" sz="1200" b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AB11C73-A3F9-C861-7257-37E79CDDE0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05EEBED-D5A1-96D1-ED42-42945A5BB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988698A0-60F4-4BD2-0F61-523D2E5EC0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A6BEFC-CAE9-4215-B504-8D913CEE0542}" type="slidenum">
              <a:rPr lang="en-US" altLang="zh-CN" sz="1200" b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3AE1697F-1A2F-5217-EA7D-E74301C70E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7972B31-72DD-495A-9202-D86A0A6EF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5DFF0995-65EE-3F4C-5FE5-4D9AD25144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462EEE-21EA-465A-93C4-5A508F8E199A}" type="slidenum">
              <a:rPr lang="en-US" altLang="zh-CN" sz="1200" b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EA8E63F-23D0-CCC5-EFD1-CE22D3D7E3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5E697FB2-12A3-ABE4-F5DB-887F96C83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44814ED4-B011-4BA4-D9E5-53778BAD16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0CCC00-2BB5-4C55-A421-41F0A5EF9C44}" type="slidenum">
              <a:rPr lang="en-US" altLang="zh-CN" sz="1200" b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CB6BF74-7308-BE58-CC2D-D262F9404C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0B087BD-2848-AB50-9882-8870CFC4E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5F01ABBB-393E-A549-CD79-BF81922142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C02B06-D472-412F-AEB5-D81823B03A63}" type="slidenum">
              <a:rPr lang="en-US" altLang="zh-CN" sz="1200" b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FA68933C-5998-2AB4-C615-072BDD9D86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61AEA935-5CDD-D804-5AA0-18AB4EDBE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0F20FC09-A6D7-2DA6-B7A1-3B08AF7DEC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975E08-63EA-436D-A93A-867BA8F2FB8A}" type="slidenum">
              <a:rPr lang="en-US" altLang="zh-CN" sz="1200" b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853E4C5-7740-06D4-4511-0C2ED11F4B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891F9A7-8157-7FC9-B62A-BF6FBAE91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64C2F1AB-E290-0CDD-701D-23EB7AA6B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9B0B13-8874-4576-A54A-B84D80B50B64}" type="slidenum">
              <a:rPr lang="en-US" altLang="zh-CN" sz="1200" b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393F56B-4F70-AA35-A7D8-F072B197CD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D4A8B95B-6BF4-CC5F-307D-9ECBDE314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80506EAB-92CD-5842-6662-0E43B00EE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321BE3-A406-49CE-B460-C13B8C75AD55}" type="slidenum">
              <a:rPr lang="en-US" altLang="zh-CN" sz="1200" b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6A42B193-A412-F28F-84F1-F6AEA50090F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4453AF3-F941-A899-783E-D97A6FF44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4C519F4-A7E9-AF63-227C-51A22CC5A5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911A24-7E3B-482D-A698-C7D692CCBEF0}" type="slidenum">
              <a:rPr lang="en-US" altLang="zh-CN" sz="1200" b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C8D19CA5-F793-67D6-1793-88B94DB861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4FBA54C-9C13-D410-3ADC-142546A35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C8534F6-EDB6-7E04-529C-6AA3DB400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471B29-18BF-40F3-A01D-2FFBC7D1EEB3}" type="slidenum">
              <a:rPr lang="en-US" altLang="zh-CN" sz="1200" b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94F8B94-574D-7718-ECAD-C2E3918F91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23CFECE4-B505-76DF-4012-94DBEED6D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18A821F9-67FE-5B98-A8CD-0E7F6CB7D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102E4B-65CE-4601-A261-5F26744643EE}" type="slidenum">
              <a:rPr lang="en-US" altLang="zh-CN" sz="1200" b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CB961DDB-3FA8-E091-D181-FDBE772C3E1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7E6DBE46-DD09-227A-4FBE-3717214C2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9DF022E8-A08A-F767-AE94-1CCC3582C4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CA4B6E-60B6-4F76-BE4B-43586BB1DA05}" type="slidenum">
              <a:rPr lang="en-US" altLang="zh-CN" sz="1200" b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68B6FAE-1E69-85C1-36CE-F2841E651D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8EB7E25A-9AD2-2DED-34FB-53C0AB8D6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70162239-B918-DEB9-CE90-D4AB13D363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3C3057-A435-43D7-B9B5-D40F7A1CCC17}" type="slidenum">
              <a:rPr lang="en-US" altLang="zh-CN" sz="1200" b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E69F76F6-1018-0F8D-BE89-399FEE80A6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82F24DC2-29EB-77D8-5F8F-5142D5F02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850DFC2-A255-FC36-8F6A-C12C4CB7A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D3A7A0-B30E-4F2D-BD0E-B8FF9E881A77}" type="slidenum">
              <a:rPr lang="en-US" altLang="zh-CN" sz="1200" b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13363B18-2C08-AD75-9A15-0E221FABA0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7804B92C-F1F6-CB8D-C915-290638C98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DD93A91E-B877-5CDE-C43F-DF62D5548B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30D766-4D2C-4FDE-85E9-79A12061EAFB}" type="slidenum">
              <a:rPr lang="en-US" altLang="zh-CN" sz="1200" b="0">
                <a:latin typeface="Times New Roman" panose="02020603050405020304" pitchFamily="18" charset="0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3B031B4-0B9A-EB0A-1773-6A22603067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F39D382B-6420-B3E8-4CA8-D6D72E6A8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9EF1807-3835-9DEC-F124-E4FF67C3F1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061D9C-6244-484E-9FF6-2A61070025C1}" type="slidenum">
              <a:rPr lang="en-US" altLang="zh-CN" sz="1200" b="0">
                <a:latin typeface="Times New Roman" panose="02020603050405020304" pitchFamily="18" charset="0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2D02D5-2896-E421-ED79-A6D49D9180E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52B8570-6E66-1705-8F8A-7CC9AF827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D4CB56D5-7AF5-F424-9DE0-3638B7009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46B815-E43C-4E2C-85C6-DCB8FD35BCB4}" type="slidenum">
              <a:rPr lang="en-US" altLang="zh-CN" sz="1200" b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1819325-E75A-E2FB-A045-F551C32C39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7E6EA2DB-5DDA-A42E-0C18-6D0E187FFF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56B1A52D-6E05-0E2A-16FE-1F9173EEC5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8EA4F9-7DD0-406F-81BF-229E2D3AD3DB}" type="slidenum">
              <a:rPr lang="en-US" altLang="zh-CN" sz="1200" b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C446B8-2BFC-F80F-6A14-F3E0B68065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C54270FE-73F5-818A-CEB3-C86ECA829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1117DF46-2E70-42A2-53A6-5D9BC62C60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63E49A-3995-4B56-A9EB-C56B001F98DB}" type="slidenum">
              <a:rPr lang="en-US" altLang="zh-CN" sz="1200" b="0">
                <a:latin typeface="Times New Roman" panose="02020603050405020304" pitchFamily="18" charset="0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13D737F-CF5A-B835-BC43-DD88AC2167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97C01756-5584-8BA4-61D1-267E49176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D45B4A1-8A8D-766E-4314-195899FF6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2F4AD7-2D4E-47EE-B5FD-EAAE5D703328}" type="slidenum">
              <a:rPr lang="en-US" altLang="zh-CN" sz="1200" b="0">
                <a:latin typeface="Times New Roman" panose="02020603050405020304" pitchFamily="18" charset="0"/>
              </a:rPr>
              <a:pPr/>
              <a:t>48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6D3F1A52-45C4-B73A-EA99-97267645D5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5F58C90C-5F86-4DA4-296E-54A62C591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80D2010-5070-2C84-E2F9-D766290C82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14EBCF-D916-438A-A45C-0A0BABCE7CF7}" type="slidenum">
              <a:rPr lang="en-US" altLang="zh-CN" sz="1200" b="0">
                <a:latin typeface="Times New Roman" panose="02020603050405020304" pitchFamily="18" charset="0"/>
              </a:rPr>
              <a:pPr/>
              <a:t>49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C91A187A-6EC3-3627-FFE8-82033E5FC3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49953389-E25C-073C-D654-01D677278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AE3B3E6E-D38E-262F-D5A0-B58CB192C0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126E67-9221-4AE1-9DC8-212958CD9ECC}" type="slidenum">
              <a:rPr lang="en-US" altLang="zh-CN" sz="1200" b="0">
                <a:latin typeface="Times New Roman" panose="02020603050405020304" pitchFamily="18" charset="0"/>
              </a:rPr>
              <a:pPr/>
              <a:t>50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B06177DF-14D5-D276-C2C2-D4F91FD919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0D5EAE27-7A46-4256-90BB-8D452B29D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347D0488-9C2E-B12C-8FF4-8749728BD9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C6CD91-6B1B-43E2-BCBC-57C6F3BEF115}" type="slidenum">
              <a:rPr lang="en-US" altLang="zh-CN" sz="1200" b="0">
                <a:latin typeface="Times New Roman" panose="02020603050405020304" pitchFamily="18" charset="0"/>
              </a:rPr>
              <a:pPr/>
              <a:t>51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694E9128-3B91-5844-BF4B-1DDC9C1722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2F661EFB-7546-6F98-897B-374BDD80F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2C1113ED-2658-48A4-B697-98234FCD1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94DA91-5665-47AB-8EE7-F5ED8B5C9B99}" type="slidenum">
              <a:rPr lang="en-US" altLang="zh-CN" sz="1200" b="0">
                <a:latin typeface="Times New Roman" panose="02020603050405020304" pitchFamily="18" charset="0"/>
              </a:rPr>
              <a:pPr/>
              <a:t>52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92B776F-DE35-5F3F-A28A-CC77306EFD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EEB381A6-A617-2121-A606-9F5BB1A4E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CBF2955C-FAD5-7945-48E1-715A7E84CE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B696F7-BAA4-4126-A15C-69611F7A633D}" type="slidenum">
              <a:rPr lang="en-US" altLang="zh-CN" sz="1200" b="0">
                <a:latin typeface="Times New Roman" panose="02020603050405020304" pitchFamily="18" charset="0"/>
              </a:rPr>
              <a:pPr/>
              <a:t>53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5C8835FB-C74E-19D3-3E20-F1BA7C23A5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3DEF3EFA-D1B9-D899-5326-0FD1B733E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BD03380-41ED-65A2-4F34-E78D5F62E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1EEBF5-DCC4-4993-A86B-3DAEF70F9B23}" type="slidenum">
              <a:rPr lang="en-US" altLang="zh-CN" sz="1200" b="0">
                <a:latin typeface="Times New Roman" panose="02020603050405020304" pitchFamily="18" charset="0"/>
              </a:rPr>
              <a:pPr/>
              <a:t>54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36E02A0A-01D5-8B38-7D0C-D3998BCE32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F476A16C-849C-FAA9-3279-46C398C0E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5977ABB5-74F4-78EC-1417-7BA52CEF98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A49872-A658-4150-BC1C-E50466FF2E19}" type="slidenum">
              <a:rPr lang="en-US" altLang="zh-CN" sz="1200" b="0">
                <a:latin typeface="Times New Roman" panose="02020603050405020304" pitchFamily="18" charset="0"/>
              </a:rPr>
              <a:pPr/>
              <a:t>55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200C8AC-F336-D13C-950C-2F59002312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CAC708DD-44AE-774C-EDC5-7B6E77BDEB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F5BF84FB-04E5-FD1A-E2EB-B741CBB92A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93B3C4-93FB-4224-A6AC-C81817D8A24E}" type="slidenum">
              <a:rPr lang="en-US" altLang="zh-CN" sz="1200" b="0">
                <a:latin typeface="Times New Roman" panose="02020603050405020304" pitchFamily="18" charset="0"/>
              </a:rPr>
              <a:pPr/>
              <a:t>56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267C10F4-EE7F-836D-34EE-00628FB78C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0A6FEDAC-1122-C4CE-AB99-831783DD5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FC574398-F218-A5E6-FE92-DDC6EBCA22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D1666F-3D2C-49D5-8E80-2402297804B2}" type="slidenum">
              <a:rPr lang="en-US" altLang="zh-CN" sz="1200" b="0">
                <a:latin typeface="Times New Roman" panose="02020603050405020304" pitchFamily="18" charset="0"/>
              </a:rPr>
              <a:pPr/>
              <a:t>57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F958B0F4-7646-F4AB-7C47-AA3FCC080C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3F9C1847-5DF0-2422-7802-574A149B5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773A56FA-7566-B71A-16F6-76B323EFA8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64C476-1D52-4203-A730-8A9B3BD18E8E}" type="slidenum">
              <a:rPr lang="en-US" altLang="zh-CN" sz="1200" b="0">
                <a:latin typeface="Times New Roman" panose="02020603050405020304" pitchFamily="18" charset="0"/>
              </a:rPr>
              <a:pPr/>
              <a:t>58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1715ECA6-F014-9FF3-BD3F-391B98236E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339EB078-35FD-D469-44FF-5E6CCC96F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3AA9B7A0-31C6-7F6D-90D1-5C6F86C990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C5F0EF-FDD4-45F0-B9DB-BA3D104821AD}" type="slidenum">
              <a:rPr lang="en-US" altLang="zh-CN" sz="1200" b="0">
                <a:latin typeface="Times New Roman" panose="02020603050405020304" pitchFamily="18" charset="0"/>
              </a:rPr>
              <a:pPr/>
              <a:t>59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44E08C5-AB53-1E1D-5212-FE07BBFB94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B1B6A5B0-04EA-4687-888E-865FD428A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3F982CAE-6FF9-976B-38F1-636152784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EC86BD-040B-491F-85DB-E9C3BF39F1E1}" type="slidenum">
              <a:rPr lang="en-US" altLang="zh-CN" sz="1200" b="0">
                <a:latin typeface="Times New Roman" panose="02020603050405020304" pitchFamily="18" charset="0"/>
              </a:rPr>
              <a:pPr/>
              <a:t>60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4632AC64-B67E-9044-1C25-013A03410DF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18C11951-9935-BB5E-FC22-239996F65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DE2880F5-E40A-D941-A161-418C7F946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933757-894F-4D27-AC40-3937513BF964}" type="slidenum">
              <a:rPr lang="en-US" altLang="zh-CN" sz="1200" b="0">
                <a:latin typeface="Times New Roman" panose="02020603050405020304" pitchFamily="18" charset="0"/>
              </a:rPr>
              <a:pPr/>
              <a:t>61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9DE07694-CE72-2AC8-269F-50DA0F0C57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9D9C3CFF-508A-D8F0-3417-09B1189D1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FE059708-0DE8-CEA2-2DE8-CFCC9F8CFE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42F8F4-F052-4478-B6BF-35461CB1C5A7}" type="slidenum">
              <a:rPr lang="en-US" altLang="zh-CN" sz="1200" b="0">
                <a:latin typeface="Times New Roman" panose="02020603050405020304" pitchFamily="18" charset="0"/>
              </a:rPr>
              <a:pPr/>
              <a:t>62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93B441EB-0D8F-443A-FBCE-6763ED1C4B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90DC724D-A9F5-34E2-0E79-37A35015C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ACB680C1-D605-7BF4-5382-3E45752840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8E8FD9-0025-40BB-BA0D-BBB82E78E528}" type="slidenum">
              <a:rPr lang="en-US" altLang="zh-CN" sz="1200" b="0">
                <a:latin typeface="Times New Roman" panose="02020603050405020304" pitchFamily="18" charset="0"/>
              </a:rPr>
              <a:pPr/>
              <a:t>63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CAF9C86B-3580-4C5D-915C-C1779EE53E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13034817-8EF6-6D86-EA81-A067B1F9D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D36C62BC-ABD4-F1C7-BEE9-675476C313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4E95B6-062D-4C50-A4E3-9CF10E511A3B}" type="slidenum">
              <a:rPr lang="en-US" altLang="zh-CN" sz="1200" b="0">
                <a:latin typeface="Times New Roman" panose="02020603050405020304" pitchFamily="18" charset="0"/>
              </a:rPr>
              <a:pPr/>
              <a:t>64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0F5CB2E-B0A1-3996-19E4-BB13305AAB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10D95E52-34EB-06A9-3F36-E3A1CDC67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105501B2-8090-F5CA-D197-12B2A83BC3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EAE9B6-CC86-4AA2-99BC-EDC0678264C0}" type="slidenum">
              <a:rPr lang="en-US" altLang="zh-CN" sz="1200" b="0">
                <a:latin typeface="Times New Roman" panose="02020603050405020304" pitchFamily="18" charset="0"/>
              </a:rPr>
              <a:pPr/>
              <a:t>65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B0EE0A13-EB62-653D-68E0-7323023666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4AA9EB8-EB71-F10F-18B3-5CAD956E9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2DDC6DEF-DF55-68A0-9D40-05A38BB6A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98DA9C-4A4F-4604-9A11-4B42CBA4AFA5}" type="slidenum">
              <a:rPr lang="en-US" altLang="zh-CN" sz="1200" b="0">
                <a:latin typeface="Times New Roman" panose="02020603050405020304" pitchFamily="18" charset="0"/>
              </a:rPr>
              <a:pPr/>
              <a:t>66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9BE9922-27B7-76EE-27EC-2059045839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B72FE64A-F483-5C53-1842-0CAA4F1EA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919F0C8D-026A-DE05-7468-D5C270CDB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E6170C-E340-428D-A9FB-8DD47D567E53}" type="slidenum">
              <a:rPr lang="en-US" altLang="zh-CN" sz="1200" b="0">
                <a:latin typeface="Times New Roman" panose="02020603050405020304" pitchFamily="18" charset="0"/>
              </a:rPr>
              <a:pPr/>
              <a:t>67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1621F5E4-1B6E-758D-FE39-A91E260B84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6D09A0BB-E2E1-28DA-FD4A-B1B9504AB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3E19B4C1-97F9-1969-6E1E-F3190B673E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A159BB-CE8C-4B5A-934A-489F4D93F4DB}" type="slidenum">
              <a:rPr lang="en-US" altLang="zh-CN" sz="1200" b="0">
                <a:latin typeface="Times New Roman" panose="02020603050405020304" pitchFamily="18" charset="0"/>
              </a:rPr>
              <a:pPr/>
              <a:t>68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7F64EEF1-770B-D5E8-276C-C8E13922CF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8774D61E-2D83-A5E4-0566-885E72F49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BDF1D3A1-6315-C5FB-5561-D27FDA6DD8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AE7C90-CF5B-4888-B21D-CD8AC2A58D9A}" type="slidenum">
              <a:rPr lang="en-US" altLang="zh-CN" sz="1200" b="0">
                <a:latin typeface="Times New Roman" panose="02020603050405020304" pitchFamily="18" charset="0"/>
              </a:rPr>
              <a:pPr/>
              <a:t>69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2F8A10C1-AFB3-3049-A42A-1609C89F2D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62FA3658-8E4D-F1F2-32A7-48FB9C42E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FA0BF040-667A-AD90-3750-2CDF428C7D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26447F-6A8A-4981-96F1-EC57C46D91C3}" type="slidenum">
              <a:rPr lang="en-US" altLang="zh-CN" sz="1200" b="0">
                <a:latin typeface="Times New Roman" panose="02020603050405020304" pitchFamily="18" charset="0"/>
              </a:rPr>
              <a:pPr/>
              <a:t>70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9703A8B2-8EBA-749A-C5B2-68FA528E6D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C28EF0F6-CFBA-4C95-C9DE-2CFA16298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3650739D-E2F7-6131-8975-E61B744CA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F88E9C-79E3-4E24-9F1C-82825C29F880}" type="slidenum">
              <a:rPr lang="en-US" altLang="zh-CN" sz="1200" b="0">
                <a:latin typeface="Times New Roman" panose="02020603050405020304" pitchFamily="18" charset="0"/>
              </a:rPr>
              <a:pPr/>
              <a:t>71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EA7B9337-D57F-5304-5080-AF836A6678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EC6DDE9D-5557-5F59-8E13-D066531AA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D10DD5CC-3F46-2093-D5F8-B9D5986357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D2BEC3-2136-4EEC-B825-A4BDF81AFDCB}" type="slidenum">
              <a:rPr lang="en-US" altLang="zh-CN" sz="1200" b="0">
                <a:latin typeface="Times New Roman" panose="02020603050405020304" pitchFamily="18" charset="0"/>
              </a:rPr>
              <a:pPr/>
              <a:t>72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8E533397-1FFB-54C0-DA6E-283FFDCE20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FC9E2CD5-5CBB-8EF8-BCDB-115C24055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D966340B-E9B6-821F-97D8-4D6538446C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15AE0C-8895-4174-A825-21B6E9A49A3D}" type="slidenum">
              <a:rPr lang="en-US" altLang="zh-CN" sz="1200" b="0">
                <a:latin typeface="Times New Roman" panose="02020603050405020304" pitchFamily="18" charset="0"/>
              </a:rPr>
              <a:pPr/>
              <a:t>73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75706784-74C8-345C-69DA-E270D13117A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125F0C27-EC37-6512-F98A-23BE10D5D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A37317F6-57F8-188F-8D69-6919FDA05C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90096-7E07-46C0-B6D0-EB2AD7CED5B3}" type="slidenum">
              <a:rPr lang="en-US" altLang="zh-CN" sz="1200" b="0">
                <a:latin typeface="Times New Roman" panose="02020603050405020304" pitchFamily="18" charset="0"/>
              </a:rPr>
              <a:pPr/>
              <a:t>74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C4ED1231-7B14-3A27-2146-25DD7F6338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34C2A0F1-31FC-6AC5-0B82-A2E49C71C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BEE63DE8-624D-188C-EFD0-002AD8CF4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1AEE52-4469-47DA-AD0C-32A3EF578035}" type="slidenum">
              <a:rPr lang="en-US" altLang="zh-CN" sz="1200" b="0">
                <a:latin typeface="Times New Roman" panose="02020603050405020304" pitchFamily="18" charset="0"/>
              </a:rPr>
              <a:pPr/>
              <a:t>75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87821927-E18C-7900-FE7E-DB051A3456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B319CC22-8979-6D28-0052-211FCE055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0360A4DA-1B57-B315-ECF5-A3C9A49088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C2F293-F723-4249-B2AB-F2B60D9BA4A7}" type="slidenum">
              <a:rPr lang="en-US" altLang="zh-CN" sz="1200" b="0">
                <a:latin typeface="Times New Roman" panose="02020603050405020304" pitchFamily="18" charset="0"/>
              </a:rPr>
              <a:pPr/>
              <a:t>76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142A5295-C1F0-4F99-5D29-225255DB70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03F9ED3-D280-62BB-2919-68DE8B78F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BB5C6E-79EA-91B9-66B8-33B1F9E7E60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00E7B5A-3ACD-6D2C-D9FE-B32EAACDC6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760754F0-9A6B-C74A-243B-37F8C7591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3B06886-988A-D387-473D-E76D99AAA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31D06D4-2DFC-5DF6-130F-F1CD9B6457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ACFA6F4-FE55-D4EE-6893-BA9F88EE2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30CA4C-29AB-12F2-F1B7-58EC0CF61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5EB4FAE-4259-1D05-D0E7-8AD2F2554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0D8AA7C-6A3F-8BC6-32D2-7FA29D3F0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8957007-950D-2D58-529D-DB9776ED0C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ABE2EBCD-3E75-3715-3B25-7F9CF21D8B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F91C00A1-1659-A0EF-2DF2-B7E9AB361A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91D6141-E7AB-667E-E0BD-3B2E3B43B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1CDEA897-8192-54B3-6BFD-94E46FA8DA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95DD6A7-AFCA-2055-9634-07E4F794A9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22B5C2E-8D62-4078-A977-02B5FCDBF1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97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3FB0F820-F516-E994-DC4A-CC7B1BC476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D5BA5DA7-0F5A-4B5F-B00D-0E5C69C88E5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910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AAC6A8BD-E133-1D84-F7F5-CA293C7538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69D871C6-A50D-44A6-A2C4-569F46D39B7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775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C89228B-EA17-2BF6-E305-83FA3404D2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614ECA4C-7B07-4981-8BB5-BE5972A4ADA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18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5108CEE-7458-E648-9B52-D281B9FEF7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E37172BD-59BD-4567-86E7-3852D193447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236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965B1280-237D-F5D3-FF5C-B8CC12C668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892531DD-0113-4037-BBBC-D6D7BC7EDFF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89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83A6C93B-C65C-FCCB-5D85-66D1F2525D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CA5B012B-674B-463D-9FB4-D0493E8FF77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7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95351911-0B38-DBB6-271C-26B109C37C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90C15F64-3B2A-46FC-A16E-54BCCC01A16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38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AF344B6-8DDB-9DDE-0FF0-F6BA84243C7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B17E8CD8-1EAC-4B50-A83D-8FD18A094FC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787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A3023E3-1015-9F90-3EAA-6FACA56EE1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E56B0171-0CB5-4878-9A2D-AA39CC06E2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21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FE8418D0-A2FD-923F-A786-4073C439FA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6A6CCC67-6EE6-4DDE-BB5F-E599FA2E63F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991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4EF0D92D-EE1D-C49F-F6DC-A9481B2FFE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10.</a:t>
            </a:r>
            <a:fld id="{86601EFA-471C-400E-84EB-DD9BFDEC099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507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80723877-D93F-4739-6704-FC52806002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10.</a:t>
            </a:r>
            <a:fld id="{B6E888FC-4FA0-4791-86A4-2394C9B0C10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2">
            <a:extLst>
              <a:ext uri="{FF2B5EF4-FFF2-40B4-BE49-F238E27FC236}">
                <a16:creationId xmlns:a16="http://schemas.microsoft.com/office/drawing/2014/main" id="{96326860-7790-EE1F-4DDE-75016419D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D41BCE1-0921-4C83-89C9-5880EE5F7839}" type="slidenum">
              <a:rPr lang="en-US" altLang="zh-CN" sz="2000" smtClean="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4099" name="Picture 2" descr="Forouzan4e07_banner">
            <a:extLst>
              <a:ext uri="{FF2B5EF4-FFF2-40B4-BE49-F238E27FC236}">
                <a16:creationId xmlns:a16="http://schemas.microsoft.com/office/drawing/2014/main" id="{90454725-C0BD-1956-39D4-B779A4BB9DB9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3">
            <a:extLst>
              <a:ext uri="{FF2B5EF4-FFF2-40B4-BE49-F238E27FC236}">
                <a16:creationId xmlns:a16="http://schemas.microsoft.com/office/drawing/2014/main" id="{B9BC29ED-C250-58E3-850D-2AFAF2F8E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1676400"/>
            <a:ext cx="6858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10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en-US" altLang="zh-CN" sz="4400">
                <a:ea typeface="宋体" panose="02010600030101010101" pitchFamily="2" charset="-122"/>
              </a:rPr>
              <a:t>Error Detection </a:t>
            </a:r>
            <a:br>
              <a:rPr lang="en-US" altLang="zh-CN" sz="4400">
                <a:ea typeface="宋体" panose="02010600030101010101" pitchFamily="2" charset="-122"/>
              </a:rPr>
            </a:br>
            <a:r>
              <a:rPr lang="en-US" altLang="zh-CN" sz="4400">
                <a:ea typeface="宋体" panose="02010600030101010101" pitchFamily="2" charset="-122"/>
              </a:rPr>
              <a:t>and </a:t>
            </a:r>
            <a:br>
              <a:rPr lang="en-US" altLang="zh-CN" sz="4400">
                <a:ea typeface="宋体" panose="02010600030101010101" pitchFamily="2" charset="-122"/>
              </a:rPr>
            </a:br>
            <a:r>
              <a:rPr lang="en-US" altLang="zh-CN" sz="4400">
                <a:ea typeface="宋体" panose="02010600030101010101" pitchFamily="2" charset="-122"/>
              </a:rPr>
              <a:t>Correction</a:t>
            </a: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检错与纠错</a:t>
            </a:r>
            <a:endParaRPr lang="en-US" altLang="zh-CN" sz="4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C105957A-3919-A368-1ADE-2C2AB0AFA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E205C872-8837-4A42-A96F-B3AA4328C846}" type="slidenum">
              <a:rPr lang="en-US" altLang="zh-CN" sz="2000" smtClean="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1736F9-BD76-67BD-F278-4ED3607733A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019042F-0A67-0A63-E393-EC5EC48A5B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1942E508-D21B-762E-5FAA-7836F447CFD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C49830CB-5B75-B79F-E432-88E02B0EE0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id="{3A6ED2FA-4BC8-26C0-7C0E-BB1F34119F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Rectangle 7">
            <a:extLst>
              <a:ext uri="{FF2B5EF4-FFF2-40B4-BE49-F238E27FC236}">
                <a16:creationId xmlns:a16="http://schemas.microsoft.com/office/drawing/2014/main" id="{557C36A7-598E-5B28-25FF-322062D3CF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Rectangle 8">
            <a:extLst>
              <a:ext uri="{FF2B5EF4-FFF2-40B4-BE49-F238E27FC236}">
                <a16:creationId xmlns:a16="http://schemas.microsoft.com/office/drawing/2014/main" id="{15DC77F0-E413-56A1-3201-4B76B1B036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Line 9">
            <a:extLst>
              <a:ext uri="{FF2B5EF4-FFF2-40B4-BE49-F238E27FC236}">
                <a16:creationId xmlns:a16="http://schemas.microsoft.com/office/drawing/2014/main" id="{634E5C63-D368-B9A5-BDD4-46A00DCA0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813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5" name="Line 10">
            <a:extLst>
              <a:ext uri="{FF2B5EF4-FFF2-40B4-BE49-F238E27FC236}">
                <a16:creationId xmlns:a16="http://schemas.microsoft.com/office/drawing/2014/main" id="{86DD8977-4A86-7928-115D-85BFA2406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4267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6" name="Rectangle 11">
            <a:extLst>
              <a:ext uri="{FF2B5EF4-FFF2-40B4-BE49-F238E27FC236}">
                <a16:creationId xmlns:a16="http://schemas.microsoft.com/office/drawing/2014/main" id="{0D327135-6CFB-0FF5-0ACC-4688FCE59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892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数据在出传输额过程中可能遭到破坏，一些应用程序也需要进行检错和纠错。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6157" name="Group 12">
            <a:extLst>
              <a:ext uri="{FF2B5EF4-FFF2-40B4-BE49-F238E27FC236}">
                <a16:creationId xmlns:a16="http://schemas.microsoft.com/office/drawing/2014/main" id="{C372A88F-0976-A393-C263-6E307ED1CB1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338263"/>
            <a:ext cx="1143000" cy="566737"/>
            <a:chOff x="1200" y="1248"/>
            <a:chExt cx="720" cy="357"/>
          </a:xfrm>
        </p:grpSpPr>
        <p:pic>
          <p:nvPicPr>
            <p:cNvPr id="6158" name="Picture 13">
              <a:extLst>
                <a:ext uri="{FF2B5EF4-FFF2-40B4-BE49-F238E27FC236}">
                  <a16:creationId xmlns:a16="http://schemas.microsoft.com/office/drawing/2014/main" id="{9BAF2079-82EA-AD10-A894-DF0902A140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9" name="Text Box 14">
              <a:extLst>
                <a:ext uri="{FF2B5EF4-FFF2-40B4-BE49-F238E27FC236}">
                  <a16:creationId xmlns:a16="http://schemas.microsoft.com/office/drawing/2014/main" id="{60A0F785-40BA-9E9C-9316-43A72C2D7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0BE90EDB-D92B-32D4-9B39-83DA1EA09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CE64510-BFC6-4FCC-9683-E53D6F24F1B4}" type="slidenum">
              <a:rPr lang="en-US" altLang="zh-CN" sz="2000" smtClean="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0BAFB293-ED5F-5F00-F4E3-8CB639A4E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EA410CAD-D6AD-64F4-DA6B-FB72430AB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44878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10-1   INTRODUCTION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E18C97E3-65EC-5ED8-6A00-8919BB44E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E54D7072-42A6-03EE-FCFB-E6C76C7B9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47838"/>
            <a:ext cx="82296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首先讨论差错检测和差错纠正的相关问题</a:t>
            </a:r>
            <a:endParaRPr lang="en-US" altLang="zh-CN" sz="24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199" name="Rectangle 29">
            <a:extLst>
              <a:ext uri="{FF2B5EF4-FFF2-40B4-BE49-F238E27FC236}">
                <a16:creationId xmlns:a16="http://schemas.microsoft.com/office/drawing/2014/main" id="{71996CD0-B89D-41BC-BF91-0211AA9C4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371850"/>
            <a:ext cx="8991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Types of Errors             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差错类型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Redundancy                  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冗余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Detection Versus Correction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检错和纠错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Forward Error Correction Versus Retransmission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前向纠错和重传</a:t>
            </a:r>
            <a:b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Coding                            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编码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Modular Arithmetic      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模运算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3237FCA5-C9AC-3BEB-B531-A17BD8BE9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28956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10944FE3-EEBE-08A7-F997-99310A88B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9148B8F7-AEE4-4BE9-B713-BFBF689EBD86}" type="slidenum">
              <a:rPr lang="en-US" altLang="zh-CN" sz="2000" smtClean="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E5A687A-EC81-83C2-CDC0-F6CB66F8A5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B232800-E46C-D162-19BC-0DC57D99B7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E8EF2873-D355-AD52-086A-3FE7AA4203D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09E381F8-84B5-C8CF-5F8C-403933F0F8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E890EBC3-11CC-3F83-13E1-69B8423347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8A442B55-B7AF-60EC-7FE5-5FC471CA53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5AB5F2F5-A3B1-3AB8-E8A2-41BA2796DF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50" name="Line 9">
            <a:extLst>
              <a:ext uri="{FF2B5EF4-FFF2-40B4-BE49-F238E27FC236}">
                <a16:creationId xmlns:a16="http://schemas.microsoft.com/office/drawing/2014/main" id="{35943B34-A5FF-6404-29D0-284912271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Line 10">
            <a:extLst>
              <a:ext uri="{FF2B5EF4-FFF2-40B4-BE49-F238E27FC236}">
                <a16:creationId xmlns:a16="http://schemas.microsoft.com/office/drawing/2014/main" id="{E0A90160-568C-3210-EDAB-7FF673C67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2" name="Rectangle 11">
            <a:extLst>
              <a:ext uri="{FF2B5EF4-FFF2-40B4-BE49-F238E27FC236}">
                <a16:creationId xmlns:a16="http://schemas.microsoft.com/office/drawing/2014/main" id="{70C02882-6B85-78C0-1DD0-79669B44F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在单比特差错中，数据单位中仅有一比特发生变化。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0253" name="Group 12">
            <a:extLst>
              <a:ext uri="{FF2B5EF4-FFF2-40B4-BE49-F238E27FC236}">
                <a16:creationId xmlns:a16="http://schemas.microsoft.com/office/drawing/2014/main" id="{84AFDAE0-DBF2-EF12-A209-AB22A5AD1133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47863"/>
            <a:ext cx="1143000" cy="566737"/>
            <a:chOff x="1200" y="1248"/>
            <a:chExt cx="720" cy="357"/>
          </a:xfrm>
        </p:grpSpPr>
        <p:pic>
          <p:nvPicPr>
            <p:cNvPr id="10254" name="Picture 13">
              <a:extLst>
                <a:ext uri="{FF2B5EF4-FFF2-40B4-BE49-F238E27FC236}">
                  <a16:creationId xmlns:a16="http://schemas.microsoft.com/office/drawing/2014/main" id="{DB1A711C-16A7-D407-185D-0C72FC71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5" name="Text Box 14">
              <a:extLst>
                <a:ext uri="{FF2B5EF4-FFF2-40B4-BE49-F238E27FC236}">
                  <a16:creationId xmlns:a16="http://schemas.microsoft.com/office/drawing/2014/main" id="{4E70E2B0-0E1A-5B4E-DB36-A8F1395A3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0DABAAA4-6A28-E104-AB9D-64271BDDC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B38EE760-5AEE-4329-8C68-091BA7B96A04}" type="slidenum">
              <a:rPr lang="en-US" altLang="zh-CN" sz="2000" smtClean="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291" name="Line 2">
            <a:extLst>
              <a:ext uri="{FF2B5EF4-FFF2-40B4-BE49-F238E27FC236}">
                <a16:creationId xmlns:a16="http://schemas.microsoft.com/office/drawing/2014/main" id="{3E238DE3-3E75-F634-FC0E-193A94CE2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A12F5A1C-59B6-8C71-DA9D-C5665065E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68A1388E-7EF9-0173-D0B8-50C2687DD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1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Single-bit error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0636F7AA-D836-9F74-5BC0-2777FC0B1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5" name="Picture 6">
            <a:extLst>
              <a:ext uri="{FF2B5EF4-FFF2-40B4-BE49-F238E27FC236}">
                <a16:creationId xmlns:a16="http://schemas.microsoft.com/office/drawing/2014/main" id="{6B147A70-7DDC-004A-76E5-1CD958C01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587625"/>
            <a:ext cx="8153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TextBox 7">
            <a:extLst>
              <a:ext uri="{FF2B5EF4-FFF2-40B4-BE49-F238E27FC236}">
                <a16:creationId xmlns:a16="http://schemas.microsoft.com/office/drawing/2014/main" id="{B568C279-1097-3EF8-E1F4-B2C059077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24400"/>
            <a:ext cx="7315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单</a:t>
            </a:r>
            <a:r>
              <a:rPr lang="en-US" altLang="zh-CN" sz="2400">
                <a:ea typeface="宋体" panose="02010600030101010101" pitchFamily="2" charset="-122"/>
              </a:rPr>
              <a:t>bit</a:t>
            </a:r>
            <a:r>
              <a:rPr lang="zh-CN" altLang="en-US" sz="2400">
                <a:ea typeface="宋体" panose="02010600030101010101" pitchFamily="2" charset="-122"/>
              </a:rPr>
              <a:t>差错在串行数据传输中很少出现，比如</a:t>
            </a:r>
            <a:r>
              <a:rPr lang="en-US" altLang="zh-CN" sz="2400">
                <a:ea typeface="宋体" panose="02010600030101010101" pitchFamily="2" charset="-122"/>
              </a:rPr>
              <a:t>1Mbps</a:t>
            </a:r>
            <a:r>
              <a:rPr lang="zh-CN" altLang="en-US" sz="2400">
                <a:ea typeface="宋体" panose="02010600030101010101" pitchFamily="2" charset="-122"/>
              </a:rPr>
              <a:t>的数据速率，每一</a:t>
            </a:r>
            <a:r>
              <a:rPr lang="en-US" altLang="zh-CN" sz="2400">
                <a:ea typeface="宋体" panose="02010600030101010101" pitchFamily="2" charset="-122"/>
              </a:rPr>
              <a:t>bit</a:t>
            </a:r>
            <a:r>
              <a:rPr lang="zh-CN" altLang="en-US" sz="2400">
                <a:ea typeface="宋体" panose="02010600030101010101" pitchFamily="2" charset="-122"/>
              </a:rPr>
              <a:t>的持续时间仅仅是</a:t>
            </a:r>
            <a:r>
              <a:rPr lang="en-US" altLang="zh-CN" sz="2400">
                <a:ea typeface="宋体" panose="02010600030101010101" pitchFamily="2" charset="-122"/>
              </a:rPr>
              <a:t>1μs</a:t>
            </a:r>
            <a:r>
              <a:rPr lang="zh-CN" altLang="en-US" sz="2400">
                <a:ea typeface="宋体" panose="02010600030101010101" pitchFamily="2" charset="-122"/>
              </a:rPr>
              <a:t>，噪声也必须只有</a:t>
            </a:r>
            <a:r>
              <a:rPr lang="en-US" altLang="zh-CN" sz="2400">
                <a:ea typeface="宋体" panose="02010600030101010101" pitchFamily="2" charset="-122"/>
              </a:rPr>
              <a:t>1μs</a:t>
            </a:r>
            <a:r>
              <a:rPr lang="zh-CN" altLang="en-US" sz="2400">
                <a:ea typeface="宋体" panose="02010600030101010101" pitchFamily="2" charset="-122"/>
              </a:rPr>
              <a:t>，但一般噪声都比这个时间长。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FA5CFED3-EBA3-ECE9-0BF1-CB9B1AAF9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010F396C-7269-4C81-8D68-D49EA6242CF1}" type="slidenum">
              <a:rPr lang="en-US" altLang="zh-CN" sz="2000" smtClean="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3A7D81E-E78F-4A89-23EC-0D31EBE604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5FB73AA-3D76-9031-1DC5-7CF287DF64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DC3DAAFB-E48E-FB6D-5F80-52031FA718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F5636974-8DC3-0319-BCD4-B91F007B3D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E0DDA93C-60BD-E1A4-DBEE-8E0A95555A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9A461842-364E-7760-9DE9-040FB274A6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14535F7C-C871-0B1C-C8D7-85F97C63A7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6" name="Line 9">
            <a:extLst>
              <a:ext uri="{FF2B5EF4-FFF2-40B4-BE49-F238E27FC236}">
                <a16:creationId xmlns:a16="http://schemas.microsoft.com/office/drawing/2014/main" id="{FBD0F387-FB70-6486-251B-A02EACE2D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0">
            <a:extLst>
              <a:ext uri="{FF2B5EF4-FFF2-40B4-BE49-F238E27FC236}">
                <a16:creationId xmlns:a16="http://schemas.microsoft.com/office/drawing/2014/main" id="{B1D36350-77B4-AACC-94A7-393A3C780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0A3C29F0-946F-1F86-1DD2-AA80ECCF5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一个突发差错意味着数据单元中两位或多位发生变化。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4349" name="Group 12">
            <a:extLst>
              <a:ext uri="{FF2B5EF4-FFF2-40B4-BE49-F238E27FC236}">
                <a16:creationId xmlns:a16="http://schemas.microsoft.com/office/drawing/2014/main" id="{115CE262-2AD1-0A26-7009-3CE85C4C100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14350" name="Picture 13">
              <a:extLst>
                <a:ext uri="{FF2B5EF4-FFF2-40B4-BE49-F238E27FC236}">
                  <a16:creationId xmlns:a16="http://schemas.microsoft.com/office/drawing/2014/main" id="{0562E606-50A3-6C9A-EEF2-303DABE954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1" name="Text Box 14">
              <a:extLst>
                <a:ext uri="{FF2B5EF4-FFF2-40B4-BE49-F238E27FC236}">
                  <a16:creationId xmlns:a16="http://schemas.microsoft.com/office/drawing/2014/main" id="{B15AB679-46E7-0072-CFFC-5C50096E6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63671643-2C1B-50D6-335A-5DE592627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1EEE3840-4EA5-4381-89B7-45E946A3E9E4}" type="slidenum">
              <a:rPr lang="en-US" altLang="zh-CN" sz="2000" smtClean="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F0D4734C-FFB8-A719-049C-4F28C984D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43DA49DD-BFEB-730E-2BDF-3C72AF99C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CBCC2829-0CF3-4E26-9797-C55C02BB4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75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Burst error of length 8</a:t>
            </a: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8F974D93-8AB9-7DF8-4E56-227F6C423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1" name="Picture 6">
            <a:extLst>
              <a:ext uri="{FF2B5EF4-FFF2-40B4-BE49-F238E27FC236}">
                <a16:creationId xmlns:a16="http://schemas.microsoft.com/office/drawing/2014/main" id="{2E085413-F679-F0F4-6A58-83E35AD4A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1698625"/>
            <a:ext cx="7167563" cy="345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Box 7">
            <a:extLst>
              <a:ext uri="{FF2B5EF4-FFF2-40B4-BE49-F238E27FC236}">
                <a16:creationId xmlns:a16="http://schemas.microsoft.com/office/drawing/2014/main" id="{7507399D-3FBA-D61A-D759-91F84CC1D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0"/>
            <a:ext cx="6781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突发性错误的长度按从第一个出错位到最后一个出错位长度计算，其间某些位可能未产生错误。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9F53C037-3BD7-4F76-FC6F-6F6423F16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D9AF9934-798D-4BD0-BAEF-87F27ED04932}" type="slidenum">
              <a:rPr lang="en-US" altLang="zh-CN" sz="2000" smtClean="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C5CE5C1-F4EF-9AAC-3DC4-E4BAE40E45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12EFBC2-0506-C4B1-D942-31A6E1682E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D1FF8D86-44BB-4310-0603-6730A3BD37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7C4FD496-131B-6C28-FADE-CA75F5676F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3DFA07B5-164F-E09D-6D97-66B62F4928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92260B5A-B2CA-FF66-B565-449D424A9E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6151C67D-6ADE-7D28-D5DF-43A1910EB4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Line 9">
            <a:extLst>
              <a:ext uri="{FF2B5EF4-FFF2-40B4-BE49-F238E27FC236}">
                <a16:creationId xmlns:a16="http://schemas.microsoft.com/office/drawing/2014/main" id="{7AFBB5EC-5567-1D37-CD66-36B9EDE10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10">
            <a:extLst>
              <a:ext uri="{FF2B5EF4-FFF2-40B4-BE49-F238E27FC236}">
                <a16:creationId xmlns:a16="http://schemas.microsoft.com/office/drawing/2014/main" id="{852159AB-3ECA-4AFB-E424-7B92B56F7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6400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Rectangle 11">
            <a:extLst>
              <a:ext uri="{FF2B5EF4-FFF2-40B4-BE49-F238E27FC236}">
                <a16:creationId xmlns:a16="http://schemas.microsoft.com/office/drawing/2014/main" id="{538E9800-46E8-6DF1-E16D-1C71DBB0C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59075"/>
            <a:ext cx="8077200" cy="35401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为了检测或纠正错误，我们需要发送除了数据外的额外（冗余）位，这是核心思想。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有两种纠错方法：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向前纠错：接收方通过冗余位纠错报文；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重传纠错：接收检测出错误，通过请求重传来纠错。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8445" name="Group 12">
            <a:extLst>
              <a:ext uri="{FF2B5EF4-FFF2-40B4-BE49-F238E27FC236}">
                <a16:creationId xmlns:a16="http://schemas.microsoft.com/office/drawing/2014/main" id="{F2729816-1C61-87F8-A0C2-556DED67B5B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18446" name="Picture 13">
              <a:extLst>
                <a:ext uri="{FF2B5EF4-FFF2-40B4-BE49-F238E27FC236}">
                  <a16:creationId xmlns:a16="http://schemas.microsoft.com/office/drawing/2014/main" id="{1EC61681-ED7D-47F4-1874-5ECDC1AE1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7" name="Text Box 14">
              <a:extLst>
                <a:ext uri="{FF2B5EF4-FFF2-40B4-BE49-F238E27FC236}">
                  <a16:creationId xmlns:a16="http://schemas.microsoft.com/office/drawing/2014/main" id="{3845602F-530B-A7C0-0DC8-79BDF9C96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61D91921-4BBA-617E-49F1-D3141DC0A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7FFFFA92-984C-4A06-B526-CC446A7B0D39}" type="slidenum">
              <a:rPr lang="en-US" altLang="zh-CN" sz="2000" smtClean="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6AB91B70-134F-0595-E242-46220C369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5F5C5B04-018A-ABCD-580A-D99B79736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7C9F7C2A-442B-5BAF-6A32-F3F3D968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编码器和译码器的结构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2F7FB252-FDED-BA51-85BD-A8B4803E9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6">
            <a:extLst>
              <a:ext uri="{FF2B5EF4-FFF2-40B4-BE49-F238E27FC236}">
                <a16:creationId xmlns:a16="http://schemas.microsoft.com/office/drawing/2014/main" id="{52DE8B2E-BFAC-3321-435E-6333BC026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943100"/>
            <a:ext cx="87852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Box 7">
            <a:extLst>
              <a:ext uri="{FF2B5EF4-FFF2-40B4-BE49-F238E27FC236}">
                <a16:creationId xmlns:a16="http://schemas.microsoft.com/office/drawing/2014/main" id="{C81B2D17-D45D-B21D-C8D0-CBCF3A0CF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715000"/>
            <a:ext cx="441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通过各种编码方案实现冗余。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ACEFEDC0-8B12-CFEA-DF4A-BD4948DF3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1591F8A4-2188-4C5A-8912-8B8BB027EE2D}" type="slidenum">
              <a:rPr lang="en-US" altLang="zh-CN" sz="2000" smtClean="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5F6BA30-6769-CCC2-EA17-EEC5B3986A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DFC4C57-7BB2-9DE5-E715-F2CC848E5B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5B2CD6E3-0A8B-8659-D68C-E228A1BC5C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A1851427-4401-C955-9165-A7536E0585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DF0358EF-830C-E113-372B-5BAE674167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A693D057-FFAF-90E4-A86D-2C4F66CB69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DBB9CE06-AB98-91E6-19B2-8F56200B31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Line 9">
            <a:extLst>
              <a:ext uri="{FF2B5EF4-FFF2-40B4-BE49-F238E27FC236}">
                <a16:creationId xmlns:a16="http://schemas.microsoft.com/office/drawing/2014/main" id="{B219821F-94E9-9EF5-2CA6-F0C7C9C29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0">
            <a:extLst>
              <a:ext uri="{FF2B5EF4-FFF2-40B4-BE49-F238E27FC236}">
                <a16:creationId xmlns:a16="http://schemas.microsoft.com/office/drawing/2014/main" id="{2E8F259D-CE5D-A468-22E7-E9E05F45A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Rectangle 11">
            <a:extLst>
              <a:ext uri="{FF2B5EF4-FFF2-40B4-BE49-F238E27FC236}">
                <a16:creationId xmlns:a16="http://schemas.microsoft.com/office/drawing/2014/main" id="{D44B8235-9AB5-F665-9E11-23910FEC4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编码方案分为两大类：块编码和卷积编码。本课程，我们主要介绍块编码。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2541" name="Group 12">
            <a:extLst>
              <a:ext uri="{FF2B5EF4-FFF2-40B4-BE49-F238E27FC236}">
                <a16:creationId xmlns:a16="http://schemas.microsoft.com/office/drawing/2014/main" id="{4BE15890-66E8-CFC6-2CC1-39AB3A6E54B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22542" name="Picture 13">
              <a:extLst>
                <a:ext uri="{FF2B5EF4-FFF2-40B4-BE49-F238E27FC236}">
                  <a16:creationId xmlns:a16="http://schemas.microsoft.com/office/drawing/2014/main" id="{2743B40B-E5A3-7531-8627-7E516F9BF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3" name="Text Box 14">
              <a:extLst>
                <a:ext uri="{FF2B5EF4-FFF2-40B4-BE49-F238E27FC236}">
                  <a16:creationId xmlns:a16="http://schemas.microsoft.com/office/drawing/2014/main" id="{A81C66FF-F679-219A-7711-E01739838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E7FBC1DC-09B6-122D-9EB6-AF13DEF84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232663BE-E2DF-464B-9BAD-BD5287B896E3}" type="slidenum">
              <a:rPr lang="en-US" altLang="zh-CN" sz="2000" smtClean="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F8605FE-88CC-1F19-AC16-630884ACE2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D9584BD-D0AB-DC64-C8A4-E79921E3036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4A70C797-8155-612F-6EDF-3DEB5825E4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84E95FC0-936E-3C5A-3FF1-93F1CFAF78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B85CFF64-5F25-40B9-AA9F-3AAD3FADD2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3949B742-C18E-707C-4B92-C01970D28E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381042BF-A921-0E1B-F99D-EF0E41BEB1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Line 9">
            <a:extLst>
              <a:ext uri="{FF2B5EF4-FFF2-40B4-BE49-F238E27FC236}">
                <a16:creationId xmlns:a16="http://schemas.microsoft.com/office/drawing/2014/main" id="{5EA8F6B3-3982-E53D-47BD-E8C45B116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Line 10">
            <a:extLst>
              <a:ext uri="{FF2B5EF4-FFF2-40B4-BE49-F238E27FC236}">
                <a16:creationId xmlns:a16="http://schemas.microsoft.com/office/drawing/2014/main" id="{DCFBA339-B2C1-FCB7-3ED5-8A6513AB6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Rectangle 11">
            <a:extLst>
              <a:ext uri="{FF2B5EF4-FFF2-40B4-BE49-F238E27FC236}">
                <a16:creationId xmlns:a16="http://schemas.microsoft.com/office/drawing/2014/main" id="{62434783-CC80-9C07-5398-13AB83748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模运算的概念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在模</a:t>
            </a:r>
            <a:r>
              <a:rPr lang="en-US" altLang="zh-CN">
                <a:ea typeface="宋体" panose="02010600030101010101" pitchFamily="2" charset="-122"/>
              </a:rPr>
              <a:t>N</a:t>
            </a:r>
            <a:r>
              <a:rPr lang="zh-CN" altLang="en-US">
                <a:ea typeface="宋体" panose="02010600030101010101" pitchFamily="2" charset="-122"/>
              </a:rPr>
              <a:t>运算中，只使用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到</a:t>
            </a:r>
            <a:r>
              <a:rPr lang="en-US" altLang="zh-CN">
                <a:ea typeface="宋体" panose="02010600030101010101" pitchFamily="2" charset="-122"/>
              </a:rPr>
              <a:t>N-1</a:t>
            </a:r>
            <a:r>
              <a:rPr lang="zh-CN" altLang="en-US">
                <a:ea typeface="宋体" panose="02010600030101010101" pitchFamily="2" charset="-122"/>
              </a:rPr>
              <a:t>的整数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4589" name="Group 12">
            <a:extLst>
              <a:ext uri="{FF2B5EF4-FFF2-40B4-BE49-F238E27FC236}">
                <a16:creationId xmlns:a16="http://schemas.microsoft.com/office/drawing/2014/main" id="{8F6B7B7E-1987-9EBF-02D4-0AE9ABE036B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24590" name="Picture 13">
              <a:extLst>
                <a:ext uri="{FF2B5EF4-FFF2-40B4-BE49-F238E27FC236}">
                  <a16:creationId xmlns:a16="http://schemas.microsoft.com/office/drawing/2014/main" id="{700D501D-2E6B-599D-9E9A-19772FFDB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91" name="Text Box 14">
              <a:extLst>
                <a:ext uri="{FF2B5EF4-FFF2-40B4-BE49-F238E27FC236}">
                  <a16:creationId xmlns:a16="http://schemas.microsoft.com/office/drawing/2014/main" id="{F7246482-5D33-8E2A-31F1-9625B2D57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73CD7898-48E0-87B5-6B60-9A0936107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21237067-1841-4C91-8C67-BDE875A9D014}" type="slidenum">
              <a:rPr lang="en-US" altLang="zh-CN" sz="2000" smtClean="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2F5E74B4-A657-9267-1F90-B9D57580A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8B12538F-C68C-41F2-5CD9-AE51B7DFF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63FEF535-99C4-7EA3-A347-D290975B9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83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模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运算和异或运算关系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BE2581CD-988E-5A4A-D274-B1A943AE6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1" name="Picture 6">
            <a:extLst>
              <a:ext uri="{FF2B5EF4-FFF2-40B4-BE49-F238E27FC236}">
                <a16:creationId xmlns:a16="http://schemas.microsoft.com/office/drawing/2014/main" id="{ACD2FBD5-DF0E-B0F6-9251-25793C9FB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2373313"/>
            <a:ext cx="8675687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FB404E8E-13E0-C9AC-C9AF-80B86F7E2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AC9C8351-825D-403A-949E-B29B33EC56D9}" type="slidenum">
              <a:rPr lang="en-US" altLang="zh-CN" sz="2000" smtClean="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FCB84C76-C841-C1D8-5F7C-34023521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A5D4F59C-706C-1DAC-2CD7-4BDBCDFA0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68580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10-2   BLOCK CODING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块编码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4E0ED90C-153A-F818-DC7E-A14BBACB9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17" name="Rectangle 5">
            <a:extLst>
              <a:ext uri="{FF2B5EF4-FFF2-40B4-BE49-F238E27FC236}">
                <a16:creationId xmlns:a16="http://schemas.microsoft.com/office/drawing/2014/main" id="{5D64576D-17E7-7B4F-FFD9-60F17A8F8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912938"/>
            <a:ext cx="8229600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在块编码中，我们把报文划分成块，每块</a:t>
            </a:r>
            <a:r>
              <a:rPr lang="en-US" altLang="zh-CN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k</a:t>
            </a: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位，称数据字（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dataword</a:t>
            </a: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），并增加</a:t>
            </a:r>
            <a:r>
              <a:rPr lang="en-US" altLang="zh-CN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r</a:t>
            </a: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个冗余位使其长度变为</a:t>
            </a:r>
            <a:r>
              <a:rPr lang="en-US" altLang="zh-CN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n=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k+r</a:t>
            </a: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，形成</a:t>
            </a:r>
            <a:r>
              <a:rPr lang="en-US" altLang="zh-CN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n</a:t>
            </a: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位块称为码字（</a:t>
            </a:r>
            <a:r>
              <a:rPr lang="en-US" altLang="zh-CN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codeword</a:t>
            </a:r>
            <a:r>
              <a:rPr lang="zh-CN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）。</a:t>
            </a:r>
            <a:endParaRPr lang="en-US" altLang="zh-CN" sz="24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F46536D2-41AE-497F-84AD-61A6F54AE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Error Detection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检错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Error Correction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纠错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Hamming Distance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汉明距离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Minimum Hamming Distance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最小汉明距离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19" name="Text Box 7">
            <a:extLst>
              <a:ext uri="{FF2B5EF4-FFF2-40B4-BE49-F238E27FC236}">
                <a16:creationId xmlns:a16="http://schemas.microsoft.com/office/drawing/2014/main" id="{18598DC2-5EFE-F656-DD37-967486EC5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55DACCB0-43F6-5D6B-CA02-A8690DA63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A31F5B05-DB5F-4C23-9804-F467DF45D18C}" type="slidenum">
              <a:rPr lang="en-US" altLang="zh-CN" sz="2000" smtClean="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74883011-D994-E9BA-9AE1-37CD36BF3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A5F9CBA4-0DB7-68BB-0FEE-901D38158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EF953699-8B11-5CB9-7DAE-980D258C9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10.5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数据字和码字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6F79F7DE-0C5D-9168-6223-D4B745226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210965A6-44CA-8A8C-20AB-2729BDD58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5000"/>
            <a:ext cx="7085013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Box 8">
            <a:extLst>
              <a:ext uri="{FF2B5EF4-FFF2-40B4-BE49-F238E27FC236}">
                <a16:creationId xmlns:a16="http://schemas.microsoft.com/office/drawing/2014/main" id="{B39D15E1-1BDE-2E73-EE6D-A2BDB899A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76800"/>
            <a:ext cx="7010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k</a:t>
            </a:r>
            <a:r>
              <a:rPr lang="zh-CN" altLang="en-US" sz="2400">
                <a:ea typeface="宋体" panose="02010600030101010101" pitchFamily="2" charset="-122"/>
              </a:rPr>
              <a:t>位就有</a:t>
            </a:r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en-US" altLang="zh-CN" sz="2400" baseline="30000">
                <a:ea typeface="宋体" panose="02010600030101010101" pitchFamily="2" charset="-122"/>
              </a:rPr>
              <a:t>k</a:t>
            </a:r>
            <a:r>
              <a:rPr lang="zh-CN" altLang="en-US" sz="2400">
                <a:ea typeface="宋体" panose="02010600030101010101" pitchFamily="2" charset="-122"/>
              </a:rPr>
              <a:t>种情况；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n</a:t>
            </a:r>
            <a:r>
              <a:rPr lang="zh-CN" altLang="en-US" sz="2400">
                <a:ea typeface="宋体" panose="02010600030101010101" pitchFamily="2" charset="-122"/>
              </a:rPr>
              <a:t>位同理；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n</a:t>
            </a:r>
            <a:r>
              <a:rPr lang="zh-CN" altLang="en-US" sz="2400">
                <a:ea typeface="宋体" panose="02010600030101010101" pitchFamily="2" charset="-122"/>
              </a:rPr>
              <a:t>比</a:t>
            </a:r>
            <a:r>
              <a:rPr lang="en-US" altLang="zh-CN" sz="2400">
                <a:ea typeface="宋体" panose="02010600030101010101" pitchFamily="2" charset="-122"/>
              </a:rPr>
              <a:t>k</a:t>
            </a:r>
            <a:r>
              <a:rPr lang="zh-CN" altLang="en-US" sz="2400">
                <a:ea typeface="宋体" panose="02010600030101010101" pitchFamily="2" charset="-122"/>
              </a:rPr>
              <a:t>大，所以</a:t>
            </a:r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en-US" altLang="zh-CN" sz="2400" baseline="30000">
                <a:ea typeface="宋体" panose="02010600030101010101" pitchFamily="2" charset="-122"/>
              </a:rPr>
              <a:t>n</a:t>
            </a:r>
            <a:r>
              <a:rPr lang="en-US" altLang="zh-CN" sz="2400">
                <a:ea typeface="宋体" panose="02010600030101010101" pitchFamily="2" charset="-122"/>
              </a:rPr>
              <a:t>- 2</a:t>
            </a:r>
            <a:r>
              <a:rPr lang="en-US" altLang="zh-CN" sz="2400" baseline="30000">
                <a:ea typeface="宋体" panose="02010600030101010101" pitchFamily="2" charset="-122"/>
              </a:rPr>
              <a:t>k</a:t>
            </a:r>
            <a:r>
              <a:rPr lang="zh-CN" altLang="en-US" sz="2400">
                <a:ea typeface="宋体" panose="02010600030101010101" pitchFamily="2" charset="-122"/>
              </a:rPr>
              <a:t>个码子是无效或非法码。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29A5059B-71D7-23E0-24EA-E590447B9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41814739-3E37-4E67-BAD6-FA4DF8BD154A}" type="slidenum">
              <a:rPr lang="en-US" altLang="zh-CN" sz="2000" smtClean="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82B51A9-8B73-248F-7EEE-AD22A70A66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90FDA95-FBDF-14B6-387D-6324A02579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2CEE28F7-422B-17DD-5707-66EA4E4B48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CFD15A1E-2BFC-A477-CDDC-348F6923FE1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6905DED7-0BD3-17BA-771A-890983825A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24D1C525-5A45-D73B-F639-E8E228AB5B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F14F2D0E-178C-6F22-E1F5-E0E09331AD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Rectangle 9">
            <a:extLst>
              <a:ext uri="{FF2B5EF4-FFF2-40B4-BE49-F238E27FC236}">
                <a16:creationId xmlns:a16="http://schemas.microsoft.com/office/drawing/2014/main" id="{BFB74A63-2E25-3DB4-4BAA-574D9F7FC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05000"/>
            <a:ext cx="8686800" cy="1816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第四章讨论的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4B/5B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码就是这种编码的一个好例子。我们可以看到，由于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k=4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n=5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，则数据字有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= 16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个，码字有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= 32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个。我们从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个码字里精心挑选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个码字用于报文传输。其余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个不用。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9" name="Text Box 11">
            <a:extLst>
              <a:ext uri="{FF2B5EF4-FFF2-40B4-BE49-F238E27FC236}">
                <a16:creationId xmlns:a16="http://schemas.microsoft.com/office/drawing/2014/main" id="{B0521247-11A3-99DB-6C65-9F04B973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6034508D-C66B-BEE3-1413-A86F2A247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30DF56BF-221E-4D4A-8F6E-4E6ABA9FA0CD}" type="slidenum">
              <a:rPr lang="en-US" altLang="zh-CN" sz="2000" smtClean="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4819" name="Line 2">
            <a:extLst>
              <a:ext uri="{FF2B5EF4-FFF2-40B4-BE49-F238E27FC236}">
                <a16:creationId xmlns:a16="http://schemas.microsoft.com/office/drawing/2014/main" id="{29CA5989-7245-F5E0-6F1E-A4EC9313F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Line 3">
            <a:extLst>
              <a:ext uri="{FF2B5EF4-FFF2-40B4-BE49-F238E27FC236}">
                <a16:creationId xmlns:a16="http://schemas.microsoft.com/office/drawing/2014/main" id="{48DDB105-E4DE-4A27-0798-C4ED5BE3E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C674A598-8083-5BB4-4891-A67DB67E2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83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块编码的差错检测过程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2" name="Line 5">
            <a:extLst>
              <a:ext uri="{FF2B5EF4-FFF2-40B4-BE49-F238E27FC236}">
                <a16:creationId xmlns:a16="http://schemas.microsoft.com/office/drawing/2014/main" id="{C4A2F2FD-4A20-8108-F9B4-DAD67DAEB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823" name="Picture 6">
            <a:extLst>
              <a:ext uri="{FF2B5EF4-FFF2-40B4-BE49-F238E27FC236}">
                <a16:creationId xmlns:a16="http://schemas.microsoft.com/office/drawing/2014/main" id="{43D9244B-20F2-80EF-35A4-85174652A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1873250"/>
            <a:ext cx="8802687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B4C44835-5105-F64D-EC3A-E18CBAB56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CE3D6BDE-F654-4BEE-BD46-2C93B88A8CBD}" type="slidenum">
              <a:rPr lang="en-US" altLang="zh-CN" sz="2000" smtClean="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7055E59-3E80-EFC7-559D-691C40DCDC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DFA7C7F-C1A7-DEC5-555B-0A9BA5FE15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1DD63AE2-F19D-F605-403A-84AB88CE66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8363C8ED-4D08-7DAD-1719-6D623A21D7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24180A78-81F8-C9D4-BBF5-68DC2B8D9A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D4ED7D0E-E40E-D4E7-6931-B64D029E44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B2CEA874-D882-168C-C24A-440DF3089F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BFCA766E-51F5-6F39-2FA9-6C0B4B44D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0">
            <a:extLst>
              <a:ext uri="{FF2B5EF4-FFF2-40B4-BE49-F238E27FC236}">
                <a16:creationId xmlns:a16="http://schemas.microsoft.com/office/drawing/2014/main" id="{6E260C2B-B255-23F4-5EAA-7B36916DF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733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22F32FA0-6B12-C213-D345-5BB60F865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57400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满足以下两个条件，接收方就能检测错误：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1.</a:t>
            </a:r>
            <a:r>
              <a:rPr lang="zh-CN" altLang="en-US">
                <a:ea typeface="宋体" panose="02010600030101010101" pitchFamily="2" charset="-122"/>
              </a:rPr>
              <a:t>接收方有有效码子的列表；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2.</a:t>
            </a:r>
            <a:r>
              <a:rPr lang="zh-CN" altLang="en-US">
                <a:ea typeface="宋体" panose="02010600030101010101" pitchFamily="2" charset="-122"/>
              </a:rPr>
              <a:t>原来的码子已经改变成无效的码子；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6877" name="Group 12">
            <a:extLst>
              <a:ext uri="{FF2B5EF4-FFF2-40B4-BE49-F238E27FC236}">
                <a16:creationId xmlns:a16="http://schemas.microsoft.com/office/drawing/2014/main" id="{94F2AA8B-79FB-DEDD-5120-85E0FE208C61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1046163"/>
            <a:ext cx="1143000" cy="566737"/>
            <a:chOff x="1200" y="1248"/>
            <a:chExt cx="720" cy="357"/>
          </a:xfrm>
        </p:grpSpPr>
        <p:pic>
          <p:nvPicPr>
            <p:cNvPr id="36878" name="Picture 13">
              <a:extLst>
                <a:ext uri="{FF2B5EF4-FFF2-40B4-BE49-F238E27FC236}">
                  <a16:creationId xmlns:a16="http://schemas.microsoft.com/office/drawing/2014/main" id="{60355DD5-9731-449B-5D02-4C14EE81ED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6E500979-C9E9-78CA-5392-1DF5DD398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C4A3741B-7CFB-7DA9-BF64-181E5D52C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13049D21-F8F3-40F5-A631-043FBC0F42BA}" type="slidenum">
              <a:rPr lang="en-US" altLang="zh-CN" sz="2000" smtClean="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81CB735-6939-20C8-ED92-F0FE52C036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4FF9AF8-A5A0-B015-9422-D07F9E5A8F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A12901DD-60FF-CB8F-578B-401CF8E63A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626E07C6-3A94-0FFB-1582-2E613AF837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89E4C8EF-BE97-BFAC-CB8B-D532D6F1BA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0" name="Rectangle 7">
            <a:extLst>
              <a:ext uri="{FF2B5EF4-FFF2-40B4-BE49-F238E27FC236}">
                <a16:creationId xmlns:a16="http://schemas.microsoft.com/office/drawing/2014/main" id="{9184C5C2-3F7C-58A7-68F4-959FC2F18C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1" name="Rectangle 8">
            <a:extLst>
              <a:ext uri="{FF2B5EF4-FFF2-40B4-BE49-F238E27FC236}">
                <a16:creationId xmlns:a16="http://schemas.microsoft.com/office/drawing/2014/main" id="{2177C608-3B6E-41AD-FF52-BC3E2959C5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2" name="Line 9">
            <a:extLst>
              <a:ext uri="{FF2B5EF4-FFF2-40B4-BE49-F238E27FC236}">
                <a16:creationId xmlns:a16="http://schemas.microsoft.com/office/drawing/2014/main" id="{DF8D86FF-BEAC-5AA8-F587-7412D7D28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0">
            <a:extLst>
              <a:ext uri="{FF2B5EF4-FFF2-40B4-BE49-F238E27FC236}">
                <a16:creationId xmlns:a16="http://schemas.microsoft.com/office/drawing/2014/main" id="{F8E68ADF-269F-98AC-03D0-08CF14F6C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10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4" name="Rectangle 11">
            <a:extLst>
              <a:ext uri="{FF2B5EF4-FFF2-40B4-BE49-F238E27FC236}">
                <a16:creationId xmlns:a16="http://schemas.microsoft.com/office/drawing/2014/main" id="{82DCFEE9-9D6D-4E09-B4BB-69F9C1EC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57400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检错码是为某些类型的差错而设计的，因此只能检测这些类型的差错；其它类型的差错就无法检测到。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8925" name="Group 12">
            <a:extLst>
              <a:ext uri="{FF2B5EF4-FFF2-40B4-BE49-F238E27FC236}">
                <a16:creationId xmlns:a16="http://schemas.microsoft.com/office/drawing/2014/main" id="{124E1192-B068-F0E7-58B0-84617BE84A6C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1046163"/>
            <a:ext cx="1143000" cy="566737"/>
            <a:chOff x="1200" y="1248"/>
            <a:chExt cx="720" cy="357"/>
          </a:xfrm>
        </p:grpSpPr>
        <p:pic>
          <p:nvPicPr>
            <p:cNvPr id="38926" name="Picture 13">
              <a:extLst>
                <a:ext uri="{FF2B5EF4-FFF2-40B4-BE49-F238E27FC236}">
                  <a16:creationId xmlns:a16="http://schemas.microsoft.com/office/drawing/2014/main" id="{24369448-EFFC-C3B1-091E-D84424AAA8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7" name="Text Box 14">
              <a:extLst>
                <a:ext uri="{FF2B5EF4-FFF2-40B4-BE49-F238E27FC236}">
                  <a16:creationId xmlns:a16="http://schemas.microsoft.com/office/drawing/2014/main" id="{48E03AEC-14A2-D3F7-8B37-866F4B471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AB9C1FF0-B8A8-8BEC-2E07-647BE5EC8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67A09930-8929-45E3-80CD-98A9A4C60F4D}" type="slidenum">
              <a:rPr lang="en-US" altLang="zh-CN" sz="2000" smtClean="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0963" name="Line 2">
            <a:extLst>
              <a:ext uri="{FF2B5EF4-FFF2-40B4-BE49-F238E27FC236}">
                <a16:creationId xmlns:a16="http://schemas.microsoft.com/office/drawing/2014/main" id="{B5E0EB80-C419-9B6D-1D5B-C334FC31A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Line 3">
            <a:extLst>
              <a:ext uri="{FF2B5EF4-FFF2-40B4-BE49-F238E27FC236}">
                <a16:creationId xmlns:a16="http://schemas.microsoft.com/office/drawing/2014/main" id="{4579DD86-47F7-D3DD-0558-324B40400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48DFDCE8-A5A8-654F-B851-A6148A1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5662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10.7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纠错码的编码器和译码器的结构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6" name="Line 5">
            <a:extLst>
              <a:ext uri="{FF2B5EF4-FFF2-40B4-BE49-F238E27FC236}">
                <a16:creationId xmlns:a16="http://schemas.microsoft.com/office/drawing/2014/main" id="{2F16C6A0-3835-96C3-C8E0-247863674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0967" name="Picture 6">
            <a:extLst>
              <a:ext uri="{FF2B5EF4-FFF2-40B4-BE49-F238E27FC236}">
                <a16:creationId xmlns:a16="http://schemas.microsoft.com/office/drawing/2014/main" id="{082E8635-F565-2257-CD01-0A27B023E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1200"/>
            <a:ext cx="87852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F575E9D8-EA12-2DEE-C46E-B515FC173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86E4A7A4-AEE4-4102-B7E6-185E57190712}" type="slidenum">
              <a:rPr lang="en-US" altLang="zh-CN" sz="2000" smtClean="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B6B75C7-8A62-D7B9-CE38-8F1F08B181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E09D17A6-CAB6-F8C5-1989-BEAC521EBC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3C426D5D-4D86-F47E-52E6-F3317CA9D6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4" name="Rectangle 5">
            <a:extLst>
              <a:ext uri="{FF2B5EF4-FFF2-40B4-BE49-F238E27FC236}">
                <a16:creationId xmlns:a16="http://schemas.microsoft.com/office/drawing/2014/main" id="{54B18F6E-4455-BE45-1DCC-11683C657A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5" name="Rectangle 6">
            <a:extLst>
              <a:ext uri="{FF2B5EF4-FFF2-40B4-BE49-F238E27FC236}">
                <a16:creationId xmlns:a16="http://schemas.microsoft.com/office/drawing/2014/main" id="{2E709298-AE02-D23A-486E-F718877827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6" name="Rectangle 7">
            <a:extLst>
              <a:ext uri="{FF2B5EF4-FFF2-40B4-BE49-F238E27FC236}">
                <a16:creationId xmlns:a16="http://schemas.microsoft.com/office/drawing/2014/main" id="{2ABD77BF-D7BE-E3A1-849F-2EDC1E0430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7" name="Rectangle 8">
            <a:extLst>
              <a:ext uri="{FF2B5EF4-FFF2-40B4-BE49-F238E27FC236}">
                <a16:creationId xmlns:a16="http://schemas.microsoft.com/office/drawing/2014/main" id="{F6BE7350-10C3-5485-3818-E01CAEBB44A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8" name="Line 9">
            <a:extLst>
              <a:ext uri="{FF2B5EF4-FFF2-40B4-BE49-F238E27FC236}">
                <a16:creationId xmlns:a16="http://schemas.microsoft.com/office/drawing/2014/main" id="{50AD5655-EA34-6311-D743-006631F65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9" name="Line 10">
            <a:extLst>
              <a:ext uri="{FF2B5EF4-FFF2-40B4-BE49-F238E27FC236}">
                <a16:creationId xmlns:a16="http://schemas.microsoft.com/office/drawing/2014/main" id="{408F426A-F722-17FB-0C8E-BE06D1FD1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0" name="Rectangle 11">
            <a:extLst>
              <a:ext uri="{FF2B5EF4-FFF2-40B4-BE49-F238E27FC236}">
                <a16:creationId xmlns:a16="http://schemas.microsoft.com/office/drawing/2014/main" id="{F1133D93-5BCA-9326-6B12-764A64495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542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1.</a:t>
            </a:r>
            <a:r>
              <a:rPr lang="zh-CN" altLang="en-US">
                <a:ea typeface="宋体" panose="02010600030101010101" pitchFamily="2" charset="-122"/>
              </a:rPr>
              <a:t>纠错更复杂，需要比检测更多的冗余位。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2.</a:t>
            </a:r>
            <a:r>
              <a:rPr lang="zh-CN" altLang="en-US">
                <a:ea typeface="宋体" panose="02010600030101010101" pitchFamily="2" charset="-122"/>
              </a:rPr>
              <a:t>两个字（</a:t>
            </a:r>
            <a:r>
              <a:rPr lang="en-US" altLang="zh-CN">
                <a:ea typeface="宋体" panose="02010600030101010101" pitchFamily="2" charset="-122"/>
              </a:rPr>
              <a:t>codeword</a:t>
            </a:r>
            <a:r>
              <a:rPr lang="zh-CN" altLang="en-US">
                <a:ea typeface="宋体" panose="02010600030101010101" pitchFamily="2" charset="-122"/>
              </a:rPr>
              <a:t>）的汉明距离是：对应位不同的数量。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3.</a:t>
            </a:r>
            <a:r>
              <a:rPr lang="zh-CN" altLang="en-US">
                <a:ea typeface="宋体" panose="02010600030101010101" pitchFamily="2" charset="-122"/>
              </a:rPr>
              <a:t>如果对两个字进行异或并计算结果中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的个数，就能算出汉明距离。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3021" name="Group 12">
            <a:extLst>
              <a:ext uri="{FF2B5EF4-FFF2-40B4-BE49-F238E27FC236}">
                <a16:creationId xmlns:a16="http://schemas.microsoft.com/office/drawing/2014/main" id="{470B7160-E806-7E79-6EE9-1979A8595DC7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1741488"/>
            <a:ext cx="1143000" cy="565150"/>
            <a:chOff x="1200" y="1248"/>
            <a:chExt cx="720" cy="357"/>
          </a:xfrm>
        </p:grpSpPr>
        <p:pic>
          <p:nvPicPr>
            <p:cNvPr id="43022" name="Picture 13">
              <a:extLst>
                <a:ext uri="{FF2B5EF4-FFF2-40B4-BE49-F238E27FC236}">
                  <a16:creationId xmlns:a16="http://schemas.microsoft.com/office/drawing/2014/main" id="{E7BE34D4-FA14-FB65-83FA-5FB3C5AA0E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23" name="Text Box 14">
              <a:extLst>
                <a:ext uri="{FF2B5EF4-FFF2-40B4-BE49-F238E27FC236}">
                  <a16:creationId xmlns:a16="http://schemas.microsoft.com/office/drawing/2014/main" id="{D3AE5474-16A0-CE47-74F2-B88C0E179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4825E5B3-B08F-1EA0-47EB-FD2431ACC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6212366D-FF4A-4186-B794-2C1D1CE0CEAC}" type="slidenum">
              <a:rPr lang="en-US" altLang="zh-CN" sz="2000" smtClean="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D160125-D69C-E338-95D7-CC0F713DD8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3DD77CEC-3237-321C-B05B-0E585FF7A3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62EF2C83-409C-B84B-C2FB-C37CA7656E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560A85C5-3610-F735-5517-97196A6AE7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CBEC22AA-5165-AFA0-3D38-1A006E2DC4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8B7E2FD1-14A0-08AE-6630-9721415A2E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8F6DF1B0-65E6-F57D-7C2C-5439D83702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6" name="Rectangle 9">
            <a:extLst>
              <a:ext uri="{FF2B5EF4-FFF2-40B4-BE49-F238E27FC236}">
                <a16:creationId xmlns:a16="http://schemas.microsoft.com/office/drawing/2014/main" id="{01BC4532-BBE2-F897-CAFD-035CEFE46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2246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用异或计算汉明距离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Let us find the Hamming distance between two pairs of words.</a:t>
            </a: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The Hamming distance d(000, 011) is 2 because 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45067" name="Text Box 11">
            <a:extLst>
              <a:ext uri="{FF2B5EF4-FFF2-40B4-BE49-F238E27FC236}">
                <a16:creationId xmlns:a16="http://schemas.microsoft.com/office/drawing/2014/main" id="{A7B72232-C8E4-B145-16E4-EEA2F77F2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10.4</a:t>
            </a:r>
          </a:p>
        </p:txBody>
      </p:sp>
      <p:sp>
        <p:nvSpPr>
          <p:cNvPr id="45068" name="Rectangle 13">
            <a:extLst>
              <a:ext uri="{FF2B5EF4-FFF2-40B4-BE49-F238E27FC236}">
                <a16:creationId xmlns:a16="http://schemas.microsoft.com/office/drawing/2014/main" id="{5FCC19BF-6FFF-60ED-99B7-44A9C243B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148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The Hamming distance d(10101, 11110) is 3 because</a:t>
            </a:r>
          </a:p>
        </p:txBody>
      </p:sp>
      <p:pic>
        <p:nvPicPr>
          <p:cNvPr id="45069" name="Picture 15">
            <a:extLst>
              <a:ext uri="{FF2B5EF4-FFF2-40B4-BE49-F238E27FC236}">
                <a16:creationId xmlns:a16="http://schemas.microsoft.com/office/drawing/2014/main" id="{D7C7998E-4509-338A-A781-22E70CE19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88" y="3257550"/>
            <a:ext cx="2906712" cy="34131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70" name="Picture 16">
            <a:extLst>
              <a:ext uri="{FF2B5EF4-FFF2-40B4-BE49-F238E27FC236}">
                <a16:creationId xmlns:a16="http://schemas.microsoft.com/office/drawing/2014/main" id="{4C1C0E43-5A47-7DD6-6845-872EECA5C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027613"/>
            <a:ext cx="3811588" cy="307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CC6179F2-1F33-9116-EFAC-2EF82ADD6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A186852C-45A1-4175-97DE-34B035F8EF6F}" type="slidenum">
              <a:rPr lang="en-US" altLang="zh-CN" sz="2000" smtClean="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16FF522-535F-DA1A-6C30-141BDDA734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7E517EA-EFDD-CAE3-A1F6-21A5EA2162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090C87A0-ECE5-F849-2C51-01ECECED1C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0" name="Rectangle 5">
            <a:extLst>
              <a:ext uri="{FF2B5EF4-FFF2-40B4-BE49-F238E27FC236}">
                <a16:creationId xmlns:a16="http://schemas.microsoft.com/office/drawing/2014/main" id="{AA836D74-2981-EA38-9CAA-BFAF8DDE87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E3EFCAAA-5A4B-37C4-94AF-2DCB367E4C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2" name="Rectangle 7">
            <a:extLst>
              <a:ext uri="{FF2B5EF4-FFF2-40B4-BE49-F238E27FC236}">
                <a16:creationId xmlns:a16="http://schemas.microsoft.com/office/drawing/2014/main" id="{727C6792-4CEE-9772-6F51-5A86E3CF8D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3" name="Rectangle 8">
            <a:extLst>
              <a:ext uri="{FF2B5EF4-FFF2-40B4-BE49-F238E27FC236}">
                <a16:creationId xmlns:a16="http://schemas.microsoft.com/office/drawing/2014/main" id="{C6594F8F-D36A-E2FE-FBD1-7CDB2AF4A0B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4" name="Line 9">
            <a:extLst>
              <a:ext uri="{FF2B5EF4-FFF2-40B4-BE49-F238E27FC236}">
                <a16:creationId xmlns:a16="http://schemas.microsoft.com/office/drawing/2014/main" id="{9CD54282-6487-3021-2A4B-29D0D028A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5" name="Line 10">
            <a:extLst>
              <a:ext uri="{FF2B5EF4-FFF2-40B4-BE49-F238E27FC236}">
                <a16:creationId xmlns:a16="http://schemas.microsoft.com/office/drawing/2014/main" id="{5A562945-85FC-692D-6DE3-EED98E0A3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6" name="Rectangle 11">
            <a:extLst>
              <a:ext uri="{FF2B5EF4-FFF2-40B4-BE49-F238E27FC236}">
                <a16:creationId xmlns:a16="http://schemas.microsoft.com/office/drawing/2014/main" id="{6F1B837B-1435-E7A1-B741-62F452633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最小汉明距离是一组字中所有可能对的最小汉明距离。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7117" name="Group 12">
            <a:extLst>
              <a:ext uri="{FF2B5EF4-FFF2-40B4-BE49-F238E27FC236}">
                <a16:creationId xmlns:a16="http://schemas.microsoft.com/office/drawing/2014/main" id="{D1391C15-9D4E-8704-A2AA-C6CA8118C57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47118" name="Picture 13">
              <a:extLst>
                <a:ext uri="{FF2B5EF4-FFF2-40B4-BE49-F238E27FC236}">
                  <a16:creationId xmlns:a16="http://schemas.microsoft.com/office/drawing/2014/main" id="{D6A234A6-B8C9-7535-9A51-AFD0D1C575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9" name="Text Box 14">
              <a:extLst>
                <a:ext uri="{FF2B5EF4-FFF2-40B4-BE49-F238E27FC236}">
                  <a16:creationId xmlns:a16="http://schemas.microsoft.com/office/drawing/2014/main" id="{8851D6A0-A530-2690-4997-58BF85F41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0857D97B-0843-E671-C709-08AF96DEC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649FDE18-70F1-4E21-BEC5-2999E3E8A059}" type="slidenum">
              <a:rPr lang="en-US" altLang="zh-CN" sz="2000" smtClean="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6409CAE-7513-AA7F-040A-7E5C8DED6F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0A12A5D-38BF-4C18-D0D9-0AD162D59E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Rectangle 4">
            <a:extLst>
              <a:ext uri="{FF2B5EF4-FFF2-40B4-BE49-F238E27FC236}">
                <a16:creationId xmlns:a16="http://schemas.microsoft.com/office/drawing/2014/main" id="{E66B6FF7-FCDD-AA88-70C5-A73C53504A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Rectangle 5">
            <a:extLst>
              <a:ext uri="{FF2B5EF4-FFF2-40B4-BE49-F238E27FC236}">
                <a16:creationId xmlns:a16="http://schemas.microsoft.com/office/drawing/2014/main" id="{C6E70676-F9D1-BEF4-B92C-3171EC59CD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9" name="Rectangle 6">
            <a:extLst>
              <a:ext uri="{FF2B5EF4-FFF2-40B4-BE49-F238E27FC236}">
                <a16:creationId xmlns:a16="http://schemas.microsoft.com/office/drawing/2014/main" id="{99A9F60A-C6A9-9A5B-A408-D28DEB6260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0" name="Rectangle 7">
            <a:extLst>
              <a:ext uri="{FF2B5EF4-FFF2-40B4-BE49-F238E27FC236}">
                <a16:creationId xmlns:a16="http://schemas.microsoft.com/office/drawing/2014/main" id="{534B8EE6-142F-2BA3-D729-A444CFE9A71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Rectangle 8">
            <a:extLst>
              <a:ext uri="{FF2B5EF4-FFF2-40B4-BE49-F238E27FC236}">
                <a16:creationId xmlns:a16="http://schemas.microsoft.com/office/drawing/2014/main" id="{2ED531E8-A273-F524-44E0-EF28C59F54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2" name="Rectangle 9">
            <a:extLst>
              <a:ext uri="{FF2B5EF4-FFF2-40B4-BE49-F238E27FC236}">
                <a16:creationId xmlns:a16="http://schemas.microsoft.com/office/drawing/2014/main" id="{DF5AFA49-44EA-9557-A869-11E253FBE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52525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求表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10.1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编码方案的最小汉明距离。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3" name="Rectangle 10">
            <a:extLst>
              <a:ext uri="{FF2B5EF4-FFF2-40B4-BE49-F238E27FC236}">
                <a16:creationId xmlns:a16="http://schemas.microsoft.com/office/drawing/2014/main" id="{16CFDB34-AD77-794D-38B9-67210F2A3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09800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We first find all Hamming distances.</a:t>
            </a:r>
          </a:p>
        </p:txBody>
      </p:sp>
      <p:sp>
        <p:nvSpPr>
          <p:cNvPr id="49164" name="Text Box 13">
            <a:extLst>
              <a:ext uri="{FF2B5EF4-FFF2-40B4-BE49-F238E27FC236}">
                <a16:creationId xmlns:a16="http://schemas.microsoft.com/office/drawing/2014/main" id="{D6D98338-7B47-30C7-7411-F27DF6D0C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10.5</a:t>
            </a:r>
          </a:p>
        </p:txBody>
      </p:sp>
      <p:pic>
        <p:nvPicPr>
          <p:cNvPr id="49165" name="Picture 15">
            <a:extLst>
              <a:ext uri="{FF2B5EF4-FFF2-40B4-BE49-F238E27FC236}">
                <a16:creationId xmlns:a16="http://schemas.microsoft.com/office/drawing/2014/main" id="{41CA381C-E6D5-F9BD-6843-BC97C6CA2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3341688"/>
            <a:ext cx="8558213" cy="620712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66" name="Rectangle 16">
            <a:extLst>
              <a:ext uri="{FF2B5EF4-FFF2-40B4-BE49-F238E27FC236}">
                <a16:creationId xmlns:a16="http://schemas.microsoft.com/office/drawing/2014/main" id="{151CE003-4BF9-5EBC-D820-A3CF2A8CD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267200"/>
            <a:ext cx="868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The d</a:t>
            </a:r>
            <a:r>
              <a:rPr lang="en-US" altLang="zh-CN" sz="2800" i="1" baseline="-25000">
                <a:latin typeface="Times" panose="02020603050405020304" pitchFamily="18" charset="0"/>
                <a:ea typeface="宋体" panose="02010600030101010101" pitchFamily="2" charset="-122"/>
              </a:rPr>
              <a:t>min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in this case is 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>
            <a:extLst>
              <a:ext uri="{FF2B5EF4-FFF2-40B4-BE49-F238E27FC236}">
                <a16:creationId xmlns:a16="http://schemas.microsoft.com/office/drawing/2014/main" id="{BA5B0457-8816-4935-4728-D3998D118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E9229E4B-7E9D-488F-92A3-C081DD289732}" type="slidenum">
              <a:rPr lang="en-US" altLang="zh-CN" sz="2000" smtClean="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9953010C-17A9-EBF0-BD8C-6C6C98BEBBC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58973CEB-D44B-9FF7-4E2D-82F70A8A88B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5" name="Rectangle 4">
            <a:extLst>
              <a:ext uri="{FF2B5EF4-FFF2-40B4-BE49-F238E27FC236}">
                <a16:creationId xmlns:a16="http://schemas.microsoft.com/office/drawing/2014/main" id="{292AE0B5-D638-2928-ED7C-413FD93BDE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A564A6AF-E3C4-801A-D4C1-205CBA7633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Rectangle 6">
            <a:extLst>
              <a:ext uri="{FF2B5EF4-FFF2-40B4-BE49-F238E27FC236}">
                <a16:creationId xmlns:a16="http://schemas.microsoft.com/office/drawing/2014/main" id="{2BF9DB16-2A90-F4A2-BE6D-EC965ED4A52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8" name="Rectangle 7">
            <a:extLst>
              <a:ext uri="{FF2B5EF4-FFF2-40B4-BE49-F238E27FC236}">
                <a16:creationId xmlns:a16="http://schemas.microsoft.com/office/drawing/2014/main" id="{A5046810-5D87-4FD8-8F19-6D27CF6FE0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9" name="Rectangle 8">
            <a:extLst>
              <a:ext uri="{FF2B5EF4-FFF2-40B4-BE49-F238E27FC236}">
                <a16:creationId xmlns:a16="http://schemas.microsoft.com/office/drawing/2014/main" id="{1F1C1CAA-216C-4B3D-6A1E-EC6E6FC765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10" name="Rectangle 9">
            <a:extLst>
              <a:ext uri="{FF2B5EF4-FFF2-40B4-BE49-F238E27FC236}">
                <a16:creationId xmlns:a16="http://schemas.microsoft.com/office/drawing/2014/main" id="{21D9ED13-E958-707C-2C39-65A6F302D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79513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求表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10.2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编码方案的最小汉明距离。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11" name="Rectangle 10">
            <a:extLst>
              <a:ext uri="{FF2B5EF4-FFF2-40B4-BE49-F238E27FC236}">
                <a16:creationId xmlns:a16="http://schemas.microsoft.com/office/drawing/2014/main" id="{5BAA5A1B-C198-9579-CA21-13870D67E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We first find all the Hamming distances.</a:t>
            </a:r>
          </a:p>
        </p:txBody>
      </p:sp>
      <p:sp>
        <p:nvSpPr>
          <p:cNvPr id="51212" name="Rectangle 12">
            <a:extLst>
              <a:ext uri="{FF2B5EF4-FFF2-40B4-BE49-F238E27FC236}">
                <a16:creationId xmlns:a16="http://schemas.microsoft.com/office/drawing/2014/main" id="{C3481349-07ED-7348-0001-3E20E9EB5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24400"/>
            <a:ext cx="868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The d</a:t>
            </a:r>
            <a:r>
              <a:rPr lang="en-US" altLang="zh-CN" sz="28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in this case is 3.</a:t>
            </a:r>
          </a:p>
        </p:txBody>
      </p:sp>
      <p:sp>
        <p:nvSpPr>
          <p:cNvPr id="51213" name="Text Box 13">
            <a:extLst>
              <a:ext uri="{FF2B5EF4-FFF2-40B4-BE49-F238E27FC236}">
                <a16:creationId xmlns:a16="http://schemas.microsoft.com/office/drawing/2014/main" id="{F75AE490-F44F-F0C1-1308-D9F5EAE11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10.6</a:t>
            </a:r>
          </a:p>
        </p:txBody>
      </p:sp>
      <p:pic>
        <p:nvPicPr>
          <p:cNvPr id="51214" name="Picture 14">
            <a:extLst>
              <a:ext uri="{FF2B5EF4-FFF2-40B4-BE49-F238E27FC236}">
                <a16:creationId xmlns:a16="http://schemas.microsoft.com/office/drawing/2014/main" id="{C71B0645-A1EB-0980-21F3-278047A9E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3771900"/>
            <a:ext cx="7945437" cy="64770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>
            <a:extLst>
              <a:ext uri="{FF2B5EF4-FFF2-40B4-BE49-F238E27FC236}">
                <a16:creationId xmlns:a16="http://schemas.microsoft.com/office/drawing/2014/main" id="{ECA972EA-804B-EB4E-18FC-44E8E949A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9FA46658-8C2B-424A-8593-F2805A8CD79E}" type="slidenum">
              <a:rPr lang="en-US" altLang="zh-CN" sz="2000" smtClean="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EFCFC97-2E15-DFFF-F778-80379B2EB4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7508D659-F6D2-1D1F-6FA5-429A70F86B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48C184CD-D8AB-21F1-06F4-F0B9817F59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4" name="Rectangle 5">
            <a:extLst>
              <a:ext uri="{FF2B5EF4-FFF2-40B4-BE49-F238E27FC236}">
                <a16:creationId xmlns:a16="http://schemas.microsoft.com/office/drawing/2014/main" id="{571A4632-59D6-353D-48ED-ADA686DDF3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5" name="Rectangle 6">
            <a:extLst>
              <a:ext uri="{FF2B5EF4-FFF2-40B4-BE49-F238E27FC236}">
                <a16:creationId xmlns:a16="http://schemas.microsoft.com/office/drawing/2014/main" id="{DC64E235-E87C-B84F-B046-2EA7339EDB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6" name="Rectangle 7">
            <a:extLst>
              <a:ext uri="{FF2B5EF4-FFF2-40B4-BE49-F238E27FC236}">
                <a16:creationId xmlns:a16="http://schemas.microsoft.com/office/drawing/2014/main" id="{0F584851-D14B-D64C-AAAD-E0FE605948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7" name="Rectangle 8">
            <a:extLst>
              <a:ext uri="{FF2B5EF4-FFF2-40B4-BE49-F238E27FC236}">
                <a16:creationId xmlns:a16="http://schemas.microsoft.com/office/drawing/2014/main" id="{84D1E9C8-4B1B-C3DB-FF5A-615AB429F7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8" name="Line 9">
            <a:extLst>
              <a:ext uri="{FF2B5EF4-FFF2-40B4-BE49-F238E27FC236}">
                <a16:creationId xmlns:a16="http://schemas.microsoft.com/office/drawing/2014/main" id="{BD7DCBAE-223F-CBF0-1FFB-2A427EA2F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9" name="Line 10">
            <a:extLst>
              <a:ext uri="{FF2B5EF4-FFF2-40B4-BE49-F238E27FC236}">
                <a16:creationId xmlns:a16="http://schemas.microsoft.com/office/drawing/2014/main" id="{6072884F-2B1C-942B-FF11-30BBC05AC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Rectangle 11">
            <a:extLst>
              <a:ext uri="{FF2B5EF4-FFF2-40B4-BE49-F238E27FC236}">
                <a16:creationId xmlns:a16="http://schemas.microsoft.com/office/drawing/2014/main" id="{6A06146C-31F4-C35F-E8DC-357B95604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为了保证检测出最多</a:t>
            </a:r>
            <a:r>
              <a:rPr lang="en-US" altLang="zh-CN">
                <a:ea typeface="宋体" panose="02010600030101010101" pitchFamily="2" charset="-122"/>
              </a:rPr>
              <a:t>s</a:t>
            </a:r>
            <a:r>
              <a:rPr lang="zh-CN" altLang="en-US">
                <a:ea typeface="宋体" panose="02010600030101010101" pitchFamily="2" charset="-122"/>
              </a:rPr>
              <a:t>个错误，块编码中最小汉明距离一定是</a:t>
            </a:r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en-US" altLang="zh-CN" baseline="-18000">
                <a:ea typeface="宋体" panose="02010600030101010101" pitchFamily="2" charset="-122"/>
              </a:rPr>
              <a:t>min</a:t>
            </a:r>
            <a:r>
              <a:rPr lang="en-US" altLang="zh-CN">
                <a:ea typeface="宋体" panose="02010600030101010101" pitchFamily="2" charset="-122"/>
              </a:rPr>
              <a:t> = s + 1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53261" name="Group 12">
            <a:extLst>
              <a:ext uri="{FF2B5EF4-FFF2-40B4-BE49-F238E27FC236}">
                <a16:creationId xmlns:a16="http://schemas.microsoft.com/office/drawing/2014/main" id="{984969B1-8F17-15F8-CE6A-957D948537A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53262" name="Picture 13">
              <a:extLst>
                <a:ext uri="{FF2B5EF4-FFF2-40B4-BE49-F238E27FC236}">
                  <a16:creationId xmlns:a16="http://schemas.microsoft.com/office/drawing/2014/main" id="{15903CD8-3C26-0DFA-5C56-7F296BF13D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63" name="Text Box 14">
              <a:extLst>
                <a:ext uri="{FF2B5EF4-FFF2-40B4-BE49-F238E27FC236}">
                  <a16:creationId xmlns:a16="http://schemas.microsoft.com/office/drawing/2014/main" id="{30BDA899-3C71-E436-9F93-681983FA5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DB72E046-592A-3D72-BD33-32FF2F0C9C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92FF6419-276E-444C-8393-786262E103FF}" type="slidenum">
              <a:rPr lang="en-US" altLang="zh-CN" sz="2000" smtClean="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8935ADA-C15E-E865-0977-56AB5548FB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BCC15612-3BA2-8844-AED1-FC36A535C8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1" name="Rectangle 4">
            <a:extLst>
              <a:ext uri="{FF2B5EF4-FFF2-40B4-BE49-F238E27FC236}">
                <a16:creationId xmlns:a16="http://schemas.microsoft.com/office/drawing/2014/main" id="{EA84C1E3-E109-71E0-7EDF-A62195628A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2" name="Rectangle 5">
            <a:extLst>
              <a:ext uri="{FF2B5EF4-FFF2-40B4-BE49-F238E27FC236}">
                <a16:creationId xmlns:a16="http://schemas.microsoft.com/office/drawing/2014/main" id="{74B919AA-A9F5-F167-A3EA-15CFCE05F6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6245D5F6-9988-E344-144F-B4B1A77243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4" name="Rectangle 7">
            <a:extLst>
              <a:ext uri="{FF2B5EF4-FFF2-40B4-BE49-F238E27FC236}">
                <a16:creationId xmlns:a16="http://schemas.microsoft.com/office/drawing/2014/main" id="{B663FFD9-F526-2917-DC28-CC1AA1722F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5" name="Rectangle 8">
            <a:extLst>
              <a:ext uri="{FF2B5EF4-FFF2-40B4-BE49-F238E27FC236}">
                <a16:creationId xmlns:a16="http://schemas.microsoft.com/office/drawing/2014/main" id="{82A58099-6D0F-5E63-754F-C4FD7A8CCF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6" name="Rectangle 9">
            <a:extLst>
              <a:ext uri="{FF2B5EF4-FFF2-40B4-BE49-F238E27FC236}">
                <a16:creationId xmlns:a16="http://schemas.microsoft.com/office/drawing/2014/main" id="{AB24404A-C84C-DCAA-96AF-4ACBD6CAF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84313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10.1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第一个编码方案的最小汉明距离为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，所以只能检单比特错误。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7" name="Text Box 11">
            <a:extLst>
              <a:ext uri="{FF2B5EF4-FFF2-40B4-BE49-F238E27FC236}">
                <a16:creationId xmlns:a16="http://schemas.microsoft.com/office/drawing/2014/main" id="{62CB3F32-04F7-2FB2-BF26-EBEF42393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10.7</a:t>
            </a:r>
          </a:p>
        </p:txBody>
      </p:sp>
      <p:sp>
        <p:nvSpPr>
          <p:cNvPr id="55308" name="Rectangle 9">
            <a:extLst>
              <a:ext uri="{FF2B5EF4-FFF2-40B4-BE49-F238E27FC236}">
                <a16:creationId xmlns:a16="http://schemas.microsoft.com/office/drawing/2014/main" id="{05815077-9B8F-F825-E1F7-AC6E1E5A4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932113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10.2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第二个编码方案的最小汉明距离为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，所以最多能检两比特差错。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1">
            <a:extLst>
              <a:ext uri="{FF2B5EF4-FFF2-40B4-BE49-F238E27FC236}">
                <a16:creationId xmlns:a16="http://schemas.microsoft.com/office/drawing/2014/main" id="{62B97809-1E06-E5B4-2797-785913187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B8A1A74D-5716-464B-B772-0ADC1DFE8379}" type="slidenum">
              <a:rPr lang="en-US" altLang="zh-CN" sz="2000" smtClean="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7347" name="Line 2">
            <a:extLst>
              <a:ext uri="{FF2B5EF4-FFF2-40B4-BE49-F238E27FC236}">
                <a16:creationId xmlns:a16="http://schemas.microsoft.com/office/drawing/2014/main" id="{053A0A8F-225F-7D21-C866-F3FC1F043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Line 3">
            <a:extLst>
              <a:ext uri="{FF2B5EF4-FFF2-40B4-BE49-F238E27FC236}">
                <a16:creationId xmlns:a16="http://schemas.microsoft.com/office/drawing/2014/main" id="{986F4213-CF48-BF21-989D-CDB6FEE2E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9" name="Text Box 4">
            <a:extLst>
              <a:ext uri="{FF2B5EF4-FFF2-40B4-BE49-F238E27FC236}">
                <a16:creationId xmlns:a16="http://schemas.microsoft.com/office/drawing/2014/main" id="{2D193FFD-53AC-AEEF-AB40-07B5300A7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检错码的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i="1" baseline="-14000"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几何意义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50" name="Line 5">
            <a:extLst>
              <a:ext uri="{FF2B5EF4-FFF2-40B4-BE49-F238E27FC236}">
                <a16:creationId xmlns:a16="http://schemas.microsoft.com/office/drawing/2014/main" id="{3EF89453-C125-0C12-3908-2A4F858E7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7351" name="Picture 7">
            <a:extLst>
              <a:ext uri="{FF2B5EF4-FFF2-40B4-BE49-F238E27FC236}">
                <a16:creationId xmlns:a16="http://schemas.microsoft.com/office/drawing/2014/main" id="{E393EDFD-E8F8-43A4-E5ED-088A17218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71675"/>
            <a:ext cx="8510588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1">
            <a:extLst>
              <a:ext uri="{FF2B5EF4-FFF2-40B4-BE49-F238E27FC236}">
                <a16:creationId xmlns:a16="http://schemas.microsoft.com/office/drawing/2014/main" id="{EAEF4F6B-BC78-3391-EB24-28B07EAE3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029EE6C9-7C5C-4334-8E22-665DCAFC0686}" type="slidenum">
              <a:rPr lang="en-US" altLang="zh-CN" sz="2000" smtClean="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9395" name="Line 2">
            <a:extLst>
              <a:ext uri="{FF2B5EF4-FFF2-40B4-BE49-F238E27FC236}">
                <a16:creationId xmlns:a16="http://schemas.microsoft.com/office/drawing/2014/main" id="{0746A458-072C-F36F-B902-277445210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Line 3">
            <a:extLst>
              <a:ext uri="{FF2B5EF4-FFF2-40B4-BE49-F238E27FC236}">
                <a16:creationId xmlns:a16="http://schemas.microsoft.com/office/drawing/2014/main" id="{FA293CA8-1322-B9C4-78D7-48BAB3A38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0F7B5A20-B88D-866F-7A28-6B8424B6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9913"/>
            <a:ext cx="4068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10.9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纠错码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i="1" baseline="-14000"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几何意义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8" name="Line 5">
            <a:extLst>
              <a:ext uri="{FF2B5EF4-FFF2-40B4-BE49-F238E27FC236}">
                <a16:creationId xmlns:a16="http://schemas.microsoft.com/office/drawing/2014/main" id="{FCE0D08C-A8D4-E551-26C5-080D846E2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9399" name="Picture 6">
            <a:extLst>
              <a:ext uri="{FF2B5EF4-FFF2-40B4-BE49-F238E27FC236}">
                <a16:creationId xmlns:a16="http://schemas.microsoft.com/office/drawing/2014/main" id="{78B2AFD6-1B1B-DBFA-7CC4-534B9C120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51063"/>
            <a:ext cx="8610600" cy="310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1">
            <a:extLst>
              <a:ext uri="{FF2B5EF4-FFF2-40B4-BE49-F238E27FC236}">
                <a16:creationId xmlns:a16="http://schemas.microsoft.com/office/drawing/2014/main" id="{946FAA99-4F4E-1010-42C1-BC3632A48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FB7AC1A9-0379-45CC-91EF-75EEB00E2CA6}" type="slidenum">
              <a:rPr lang="en-US" altLang="zh-CN" sz="2000" smtClean="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C448B29-0294-6395-4494-97D328738E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9CBB0B47-0801-64B3-BF94-61FC0371C8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B21DA767-82CF-FB1E-FA29-C375C05500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6" name="Rectangle 5">
            <a:extLst>
              <a:ext uri="{FF2B5EF4-FFF2-40B4-BE49-F238E27FC236}">
                <a16:creationId xmlns:a16="http://schemas.microsoft.com/office/drawing/2014/main" id="{2F041656-60EE-73BA-C965-EDA126B849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7" name="Rectangle 6">
            <a:extLst>
              <a:ext uri="{FF2B5EF4-FFF2-40B4-BE49-F238E27FC236}">
                <a16:creationId xmlns:a16="http://schemas.microsoft.com/office/drawing/2014/main" id="{F60F86E1-63CA-1665-91DB-BE08D6DB32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8" name="Rectangle 7">
            <a:extLst>
              <a:ext uri="{FF2B5EF4-FFF2-40B4-BE49-F238E27FC236}">
                <a16:creationId xmlns:a16="http://schemas.microsoft.com/office/drawing/2014/main" id="{526180C0-55DB-365A-C65D-C2F5A219C9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9" name="Rectangle 8">
            <a:extLst>
              <a:ext uri="{FF2B5EF4-FFF2-40B4-BE49-F238E27FC236}">
                <a16:creationId xmlns:a16="http://schemas.microsoft.com/office/drawing/2014/main" id="{C720EB53-4BAD-1ED5-83AF-EF15023A1A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50" name="Line 9">
            <a:extLst>
              <a:ext uri="{FF2B5EF4-FFF2-40B4-BE49-F238E27FC236}">
                <a16:creationId xmlns:a16="http://schemas.microsoft.com/office/drawing/2014/main" id="{01F561DF-D578-325B-A21A-B27ACF397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1" name="Line 10">
            <a:extLst>
              <a:ext uri="{FF2B5EF4-FFF2-40B4-BE49-F238E27FC236}">
                <a16:creationId xmlns:a16="http://schemas.microsoft.com/office/drawing/2014/main" id="{76E286CA-60C6-3711-E80F-2506B286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2" name="Rectangle 11">
            <a:extLst>
              <a:ext uri="{FF2B5EF4-FFF2-40B4-BE49-F238E27FC236}">
                <a16:creationId xmlns:a16="http://schemas.microsoft.com/office/drawing/2014/main" id="{4D126930-160B-933A-A256-C8C9B687A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为了保证最多能纠正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zh-CN" altLang="en-US">
                <a:ea typeface="宋体" panose="02010600030101010101" pitchFamily="2" charset="-122"/>
              </a:rPr>
              <a:t>个差错，块码中最小汉明距离是</a:t>
            </a:r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en-US" altLang="zh-CN" baseline="-18000">
                <a:ea typeface="宋体" panose="02010600030101010101" pitchFamily="2" charset="-122"/>
              </a:rPr>
              <a:t>min</a:t>
            </a:r>
            <a:r>
              <a:rPr lang="en-US" altLang="zh-CN">
                <a:ea typeface="宋体" panose="02010600030101010101" pitchFamily="2" charset="-122"/>
              </a:rPr>
              <a:t> = 2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+ 1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61453" name="Group 12">
            <a:extLst>
              <a:ext uri="{FF2B5EF4-FFF2-40B4-BE49-F238E27FC236}">
                <a16:creationId xmlns:a16="http://schemas.microsoft.com/office/drawing/2014/main" id="{B46C27E3-E7FC-7FB1-B802-97EE2429338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47863"/>
            <a:ext cx="1143000" cy="566737"/>
            <a:chOff x="1200" y="1248"/>
            <a:chExt cx="720" cy="357"/>
          </a:xfrm>
        </p:grpSpPr>
        <p:pic>
          <p:nvPicPr>
            <p:cNvPr id="61454" name="Picture 13">
              <a:extLst>
                <a:ext uri="{FF2B5EF4-FFF2-40B4-BE49-F238E27FC236}">
                  <a16:creationId xmlns:a16="http://schemas.microsoft.com/office/drawing/2014/main" id="{6B368987-E487-B565-6C04-6FDAF6A21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55" name="Text Box 14">
              <a:extLst>
                <a:ext uri="{FF2B5EF4-FFF2-40B4-BE49-F238E27FC236}">
                  <a16:creationId xmlns:a16="http://schemas.microsoft.com/office/drawing/2014/main" id="{111F5AD2-1A03-D448-AD89-681CED5EE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1">
            <a:extLst>
              <a:ext uri="{FF2B5EF4-FFF2-40B4-BE49-F238E27FC236}">
                <a16:creationId xmlns:a16="http://schemas.microsoft.com/office/drawing/2014/main" id="{1DC20945-3E56-5D13-B46B-EACCFEF049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406A4AFC-947F-467B-BB6E-497CC4FD05A3}" type="slidenum">
              <a:rPr lang="en-US" altLang="zh-CN" sz="2000" smtClean="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C12494E5-9095-C5C3-2CDC-0F1C3387E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113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6910464A-793E-0749-22D6-E6300561C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88803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10-3   LINEAR BLOCK CODES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725DCB01-A0D5-4C45-3FA0-E740FF54B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1" name="Rectangle 5">
            <a:extLst>
              <a:ext uri="{FF2B5EF4-FFF2-40B4-BE49-F238E27FC236}">
                <a16:creationId xmlns:a16="http://schemas.microsoft.com/office/drawing/2014/main" id="{BAE30388-1001-2640-FBCC-793B5DAD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1739900"/>
            <a:ext cx="822960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当前，几乎所有使用的块码都属于一个称为线性块编码的子集。在线性块码中，任两个有效码字的异或（即模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加）生成另一个有效码字。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63495" name="Rectangle 6">
            <a:extLst>
              <a:ext uri="{FF2B5EF4-FFF2-40B4-BE49-F238E27FC236}">
                <a16:creationId xmlns:a16="http://schemas.microsoft.com/office/drawing/2014/main" id="{1F0B3654-0AA2-310D-D86B-958311ECD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502275"/>
            <a:ext cx="88122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Minimum Distance for Linear Block Codes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线性块码的最小距离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Some Linear Block Codes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一些线性块编码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3" name="Text Box 7">
            <a:extLst>
              <a:ext uri="{FF2B5EF4-FFF2-40B4-BE49-F238E27FC236}">
                <a16:creationId xmlns:a16="http://schemas.microsoft.com/office/drawing/2014/main" id="{78B6D5FC-BAD4-1552-53A4-D9BB6AAD4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983163"/>
            <a:ext cx="4862513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1">
            <a:extLst>
              <a:ext uri="{FF2B5EF4-FFF2-40B4-BE49-F238E27FC236}">
                <a16:creationId xmlns:a16="http://schemas.microsoft.com/office/drawing/2014/main" id="{4BC31710-70AD-1C0B-D410-A1D3AD360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9B18E428-FA96-457A-AFBB-1E5DD1E999D5}" type="slidenum">
              <a:rPr lang="en-US" altLang="zh-CN" sz="2000" smtClean="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EB989E8-C8F3-A9B3-9BBC-BF97D689B3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7E1D4217-9EC9-650B-3D6C-F2265F5E0B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F0753671-B751-18D2-5F5D-49ED53915B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Rectangle 5">
            <a:extLst>
              <a:ext uri="{FF2B5EF4-FFF2-40B4-BE49-F238E27FC236}">
                <a16:creationId xmlns:a16="http://schemas.microsoft.com/office/drawing/2014/main" id="{44DC2AE2-DA81-D112-B795-4667ED43B8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3" name="Rectangle 6">
            <a:extLst>
              <a:ext uri="{FF2B5EF4-FFF2-40B4-BE49-F238E27FC236}">
                <a16:creationId xmlns:a16="http://schemas.microsoft.com/office/drawing/2014/main" id="{9119EB17-ECFB-3394-AA54-0366EFA1CF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4" name="Rectangle 7">
            <a:extLst>
              <a:ext uri="{FF2B5EF4-FFF2-40B4-BE49-F238E27FC236}">
                <a16:creationId xmlns:a16="http://schemas.microsoft.com/office/drawing/2014/main" id="{5482BE0C-3B70-7A80-0F88-62768BD00E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5" name="Rectangle 8">
            <a:extLst>
              <a:ext uri="{FF2B5EF4-FFF2-40B4-BE49-F238E27FC236}">
                <a16:creationId xmlns:a16="http://schemas.microsoft.com/office/drawing/2014/main" id="{B255E54F-00F1-BB91-7650-BCDF288A51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6" name="Line 9">
            <a:extLst>
              <a:ext uri="{FF2B5EF4-FFF2-40B4-BE49-F238E27FC236}">
                <a16:creationId xmlns:a16="http://schemas.microsoft.com/office/drawing/2014/main" id="{BB830AF7-A06C-1049-6695-DA380B6FB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7" name="Line 10">
            <a:extLst>
              <a:ext uri="{FF2B5EF4-FFF2-40B4-BE49-F238E27FC236}">
                <a16:creationId xmlns:a16="http://schemas.microsoft.com/office/drawing/2014/main" id="{3E509BA8-C596-53D0-3066-EDB41D47B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9083" name="Rectangle 11">
            <a:extLst>
              <a:ext uri="{FF2B5EF4-FFF2-40B4-BE49-F238E27FC236}">
                <a16:creationId xmlns:a16="http://schemas.microsoft.com/office/drawing/2014/main" id="{1034F925-7AD9-47A2-423E-CE57A5B7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在线性块码中，任两个有效码字的异或（即模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加）生成另一个有效码字。</a:t>
            </a:r>
            <a:endParaRPr lang="en-US" altLang="zh-CN" dirty="0">
              <a:latin typeface="Arial" charset="0"/>
              <a:ea typeface="宋体" charset="-122"/>
            </a:endParaRPr>
          </a:p>
        </p:txBody>
      </p:sp>
      <p:grpSp>
        <p:nvGrpSpPr>
          <p:cNvPr id="65549" name="Group 12">
            <a:extLst>
              <a:ext uri="{FF2B5EF4-FFF2-40B4-BE49-F238E27FC236}">
                <a16:creationId xmlns:a16="http://schemas.microsoft.com/office/drawing/2014/main" id="{71971F94-60FD-B043-05B4-5ECC66155DE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65550" name="Picture 13">
              <a:extLst>
                <a:ext uri="{FF2B5EF4-FFF2-40B4-BE49-F238E27FC236}">
                  <a16:creationId xmlns:a16="http://schemas.microsoft.com/office/drawing/2014/main" id="{7F6DCEA5-CCCF-A7BB-30C2-D50B2E155F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51" name="Text Box 14">
              <a:extLst>
                <a:ext uri="{FF2B5EF4-FFF2-40B4-BE49-F238E27FC236}">
                  <a16:creationId xmlns:a16="http://schemas.microsoft.com/office/drawing/2014/main" id="{7A850816-3360-F902-113B-7DF3BF506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1">
            <a:extLst>
              <a:ext uri="{FF2B5EF4-FFF2-40B4-BE49-F238E27FC236}">
                <a16:creationId xmlns:a16="http://schemas.microsoft.com/office/drawing/2014/main" id="{DCE546B1-844C-8BAA-70F1-39A816DC2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C4B11C88-48D6-41B6-A740-1FCCE549EBBA}" type="slidenum">
              <a:rPr lang="en-US" altLang="zh-CN" sz="2000" smtClean="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619B683-68B0-ED36-8187-D41D68D193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A9BABDD2-88DF-AB98-F81D-945176A8A7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Rectangle 4">
            <a:extLst>
              <a:ext uri="{FF2B5EF4-FFF2-40B4-BE49-F238E27FC236}">
                <a16:creationId xmlns:a16="http://schemas.microsoft.com/office/drawing/2014/main" id="{31389E3C-81B3-2EF4-16AB-DDFBCDDC06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0" name="Rectangle 5">
            <a:extLst>
              <a:ext uri="{FF2B5EF4-FFF2-40B4-BE49-F238E27FC236}">
                <a16:creationId xmlns:a16="http://schemas.microsoft.com/office/drawing/2014/main" id="{6E9381D3-6D73-F76B-F6E6-32D2A539F5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1" name="Rectangle 6">
            <a:extLst>
              <a:ext uri="{FF2B5EF4-FFF2-40B4-BE49-F238E27FC236}">
                <a16:creationId xmlns:a16="http://schemas.microsoft.com/office/drawing/2014/main" id="{036626C6-3D51-67D7-3E2F-453FA9D5FC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2" name="Rectangle 7">
            <a:extLst>
              <a:ext uri="{FF2B5EF4-FFF2-40B4-BE49-F238E27FC236}">
                <a16:creationId xmlns:a16="http://schemas.microsoft.com/office/drawing/2014/main" id="{5FAAFC81-4C7B-A535-8AB8-6087BA6269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3" name="Rectangle 8">
            <a:extLst>
              <a:ext uri="{FF2B5EF4-FFF2-40B4-BE49-F238E27FC236}">
                <a16:creationId xmlns:a16="http://schemas.microsoft.com/office/drawing/2014/main" id="{772AE1E8-A15F-77EE-A0DF-57108A36C4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4" name="Line 9">
            <a:extLst>
              <a:ext uri="{FF2B5EF4-FFF2-40B4-BE49-F238E27FC236}">
                <a16:creationId xmlns:a16="http://schemas.microsoft.com/office/drawing/2014/main" id="{870BA810-C423-D3B9-CFDE-84F4D22AE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5" name="Line 10">
            <a:extLst>
              <a:ext uri="{FF2B5EF4-FFF2-40B4-BE49-F238E27FC236}">
                <a16:creationId xmlns:a16="http://schemas.microsoft.com/office/drawing/2014/main" id="{D63EF708-26D4-A58B-5163-769C2F8DB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6" name="Rectangle 11">
            <a:extLst>
              <a:ext uri="{FF2B5EF4-FFF2-40B4-BE49-F238E27FC236}">
                <a16:creationId xmlns:a16="http://schemas.microsoft.com/office/drawing/2014/main" id="{D654424B-3630-8706-C379-3A95770FC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1153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奇偶校验码是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= 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+ 1</a:t>
            </a:r>
            <a:r>
              <a:rPr lang="zh-CN" altLang="en-US">
                <a:ea typeface="宋体" panose="02010600030101010101" pitchFamily="2" charset="-122"/>
              </a:rPr>
              <a:t>，使得码字中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的总数为偶数个，且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d</a:t>
            </a:r>
            <a:r>
              <a:rPr lang="en-US" altLang="zh-CN" baseline="-18000">
                <a:ea typeface="宋体" panose="02010600030101010101" pitchFamily="2" charset="-122"/>
              </a:rPr>
              <a:t>min</a:t>
            </a:r>
            <a:r>
              <a:rPr lang="en-US" altLang="zh-CN">
                <a:ea typeface="宋体" panose="02010600030101010101" pitchFamily="2" charset="-122"/>
              </a:rPr>
              <a:t> = 2</a:t>
            </a:r>
            <a:r>
              <a:rPr lang="zh-CN" altLang="en-US">
                <a:ea typeface="宋体" panose="02010600030101010101" pitchFamily="2" charset="-122"/>
              </a:rPr>
              <a:t>的单比特检错码。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67597" name="Group 12">
            <a:extLst>
              <a:ext uri="{FF2B5EF4-FFF2-40B4-BE49-F238E27FC236}">
                <a16:creationId xmlns:a16="http://schemas.microsoft.com/office/drawing/2014/main" id="{C9B53707-7F7B-DE44-ECAE-95100F0AD66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67598" name="Picture 13">
              <a:extLst>
                <a:ext uri="{FF2B5EF4-FFF2-40B4-BE49-F238E27FC236}">
                  <a16:creationId xmlns:a16="http://schemas.microsoft.com/office/drawing/2014/main" id="{7CF87598-4D60-3056-B8BC-BCE4BA7AB1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99" name="Text Box 14">
              <a:extLst>
                <a:ext uri="{FF2B5EF4-FFF2-40B4-BE49-F238E27FC236}">
                  <a16:creationId xmlns:a16="http://schemas.microsoft.com/office/drawing/2014/main" id="{3FA5EA6A-FB52-011B-0996-3A186C029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1">
            <a:extLst>
              <a:ext uri="{FF2B5EF4-FFF2-40B4-BE49-F238E27FC236}">
                <a16:creationId xmlns:a16="http://schemas.microsoft.com/office/drawing/2014/main" id="{590D64F7-B541-9188-E2FF-4EA746E87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6A4FEBC4-78F8-404D-B816-02CB0796C558}" type="slidenum">
              <a:rPr lang="en-US" altLang="zh-CN" sz="2000" smtClean="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9635" name="Text Box 2">
            <a:extLst>
              <a:ext uri="{FF2B5EF4-FFF2-40B4-BE49-F238E27FC236}">
                <a16:creationId xmlns:a16="http://schemas.microsoft.com/office/drawing/2014/main" id="{AD93F1F5-8E91-10E5-07EC-0AB24BA92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14400"/>
            <a:ext cx="7242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10.3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Simple parity-check code C(5, 4)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简单的奇偶校验码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9636" name="Picture 4">
            <a:extLst>
              <a:ext uri="{FF2B5EF4-FFF2-40B4-BE49-F238E27FC236}">
                <a16:creationId xmlns:a16="http://schemas.microsoft.com/office/drawing/2014/main" id="{BE874877-599F-2BBB-C1DD-BAD8666FF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303338"/>
            <a:ext cx="8520112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1">
            <a:extLst>
              <a:ext uri="{FF2B5EF4-FFF2-40B4-BE49-F238E27FC236}">
                <a16:creationId xmlns:a16="http://schemas.microsoft.com/office/drawing/2014/main" id="{7D765D31-B388-AB79-8577-4B950619C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B679B636-158D-4576-94FA-9B77FDD2DA32}" type="slidenum">
              <a:rPr lang="en-US" altLang="zh-CN" sz="2000" smtClean="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683" name="Line 2">
            <a:extLst>
              <a:ext uri="{FF2B5EF4-FFF2-40B4-BE49-F238E27FC236}">
                <a16:creationId xmlns:a16="http://schemas.microsoft.com/office/drawing/2014/main" id="{A51837FA-0FE8-7113-DB22-BC32D246C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Line 3">
            <a:extLst>
              <a:ext uri="{FF2B5EF4-FFF2-40B4-BE49-F238E27FC236}">
                <a16:creationId xmlns:a16="http://schemas.microsoft.com/office/drawing/2014/main" id="{A7E4C770-5CB9-FB7D-2446-F02977597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5" name="Text Box 4">
            <a:extLst>
              <a:ext uri="{FF2B5EF4-FFF2-40B4-BE49-F238E27FC236}">
                <a16:creationId xmlns:a16="http://schemas.microsoft.com/office/drawing/2014/main" id="{05BF1984-0CC5-F929-1002-20D247EDE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601663"/>
            <a:ext cx="697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10.10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奇偶校验码的编码器和译码器 （模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加运算）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6" name="Line 5">
            <a:extLst>
              <a:ext uri="{FF2B5EF4-FFF2-40B4-BE49-F238E27FC236}">
                <a16:creationId xmlns:a16="http://schemas.microsoft.com/office/drawing/2014/main" id="{B60E76AA-BC5D-C449-05CB-749E77259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687" name="Picture 6">
            <a:extLst>
              <a:ext uri="{FF2B5EF4-FFF2-40B4-BE49-F238E27FC236}">
                <a16:creationId xmlns:a16="http://schemas.microsoft.com/office/drawing/2014/main" id="{F4E6FF56-D0D5-DBB5-6BEC-11AD13E55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447800"/>
            <a:ext cx="8099425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8" name="TextBox 8">
            <a:extLst>
              <a:ext uri="{FF2B5EF4-FFF2-40B4-BE49-F238E27FC236}">
                <a16:creationId xmlns:a16="http://schemas.microsoft.com/office/drawing/2014/main" id="{6979EB27-D4F9-10B1-6311-CCCB101C9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91200"/>
            <a:ext cx="8077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a0+a1+a2+a3=r0                          q0+a0+a1+a2+a3=s0  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1">
            <a:extLst>
              <a:ext uri="{FF2B5EF4-FFF2-40B4-BE49-F238E27FC236}">
                <a16:creationId xmlns:a16="http://schemas.microsoft.com/office/drawing/2014/main" id="{4370514F-EC55-5C98-C601-EB8A3469F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0C28C85D-3EDF-4893-BAC8-A83599D24B3A}" type="slidenum">
              <a:rPr lang="en-US" altLang="zh-CN" sz="2000" smtClean="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3CEA1E4-F500-E950-D3CE-475E1E2E09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B5ABFFE1-06FE-9A30-1B2A-287ECD8D51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F4060EC1-FB9F-EAA1-9B07-0BFD90D8D2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4" name="Rectangle 5">
            <a:extLst>
              <a:ext uri="{FF2B5EF4-FFF2-40B4-BE49-F238E27FC236}">
                <a16:creationId xmlns:a16="http://schemas.microsoft.com/office/drawing/2014/main" id="{E0710A6A-A9C7-8D47-7BF1-334B57FB773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5" name="Rectangle 6">
            <a:extLst>
              <a:ext uri="{FF2B5EF4-FFF2-40B4-BE49-F238E27FC236}">
                <a16:creationId xmlns:a16="http://schemas.microsoft.com/office/drawing/2014/main" id="{DD34A144-CCE2-8440-0919-74E4D220E4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6" name="Rectangle 7">
            <a:extLst>
              <a:ext uri="{FF2B5EF4-FFF2-40B4-BE49-F238E27FC236}">
                <a16:creationId xmlns:a16="http://schemas.microsoft.com/office/drawing/2014/main" id="{18B1FC1D-B312-DECE-67DA-8500A6C21D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7" name="Rectangle 8">
            <a:extLst>
              <a:ext uri="{FF2B5EF4-FFF2-40B4-BE49-F238E27FC236}">
                <a16:creationId xmlns:a16="http://schemas.microsoft.com/office/drawing/2014/main" id="{FD363BFF-18AD-4575-C809-69EA9C3CB7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8" name="Line 9">
            <a:extLst>
              <a:ext uri="{FF2B5EF4-FFF2-40B4-BE49-F238E27FC236}">
                <a16:creationId xmlns:a16="http://schemas.microsoft.com/office/drawing/2014/main" id="{536B433F-9E2E-2595-C990-C1CE436BC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9" name="Line 10">
            <a:extLst>
              <a:ext uri="{FF2B5EF4-FFF2-40B4-BE49-F238E27FC236}">
                <a16:creationId xmlns:a16="http://schemas.microsoft.com/office/drawing/2014/main" id="{7CD8D359-6EED-D16C-EA53-B145E715C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0" name="Rectangle 11">
            <a:extLst>
              <a:ext uri="{FF2B5EF4-FFF2-40B4-BE49-F238E27FC236}">
                <a16:creationId xmlns:a16="http://schemas.microsoft.com/office/drawing/2014/main" id="{596EC2E0-C0A7-87CA-067D-0E5020257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简单奇偶校验码能检出奇数个差错。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73741" name="Group 12">
            <a:extLst>
              <a:ext uri="{FF2B5EF4-FFF2-40B4-BE49-F238E27FC236}">
                <a16:creationId xmlns:a16="http://schemas.microsoft.com/office/drawing/2014/main" id="{8F66D5A7-229D-8ACE-D36B-90EC0F869C1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73742" name="Picture 13">
              <a:extLst>
                <a:ext uri="{FF2B5EF4-FFF2-40B4-BE49-F238E27FC236}">
                  <a16:creationId xmlns:a16="http://schemas.microsoft.com/office/drawing/2014/main" id="{CAD5B950-71CE-A5AE-DBE8-7EABA14200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43" name="Text Box 14">
              <a:extLst>
                <a:ext uri="{FF2B5EF4-FFF2-40B4-BE49-F238E27FC236}">
                  <a16:creationId xmlns:a16="http://schemas.microsoft.com/office/drawing/2014/main" id="{BA98098F-9B72-694D-5375-23BE51AE9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1">
            <a:extLst>
              <a:ext uri="{FF2B5EF4-FFF2-40B4-BE49-F238E27FC236}">
                <a16:creationId xmlns:a16="http://schemas.microsoft.com/office/drawing/2014/main" id="{14E07459-37B4-557B-5D10-14885A0C1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74EF0DA9-38B4-4015-828B-B141B2862C21}" type="slidenum">
              <a:rPr lang="en-US" altLang="zh-CN" sz="2000" smtClean="0">
                <a:solidFill>
                  <a:schemeClr val="bg2"/>
                </a:solidFill>
              </a:rPr>
              <a:pPr/>
              <a:t>36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5779" name="Line 2">
            <a:extLst>
              <a:ext uri="{FF2B5EF4-FFF2-40B4-BE49-F238E27FC236}">
                <a16:creationId xmlns:a16="http://schemas.microsoft.com/office/drawing/2014/main" id="{987C4A24-6FB3-595F-DEB1-E9B4DD358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0" name="Line 3">
            <a:extLst>
              <a:ext uri="{FF2B5EF4-FFF2-40B4-BE49-F238E27FC236}">
                <a16:creationId xmlns:a16="http://schemas.microsoft.com/office/drawing/2014/main" id="{C19B3706-F06B-3274-6185-861DFBB8B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03E52B31-10E1-5D08-53C7-0C96B6973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76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10.11  </a:t>
            </a:r>
            <a:r>
              <a:rPr lang="zh-CN" altLang="en-US" sz="2000" i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两维奇偶校验码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2" name="Line 5">
            <a:extLst>
              <a:ext uri="{FF2B5EF4-FFF2-40B4-BE49-F238E27FC236}">
                <a16:creationId xmlns:a16="http://schemas.microsoft.com/office/drawing/2014/main" id="{109D0302-BF5A-AB53-6A6A-D4C8F2CFC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5783" name="Picture 9">
            <a:extLst>
              <a:ext uri="{FF2B5EF4-FFF2-40B4-BE49-F238E27FC236}">
                <a16:creationId xmlns:a16="http://schemas.microsoft.com/office/drawing/2014/main" id="{5D9B4B24-B177-0E24-2052-1FB8773C5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550" y="2209800"/>
            <a:ext cx="43878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1">
            <a:extLst>
              <a:ext uri="{FF2B5EF4-FFF2-40B4-BE49-F238E27FC236}">
                <a16:creationId xmlns:a16="http://schemas.microsoft.com/office/drawing/2014/main" id="{B09D82CE-958A-F5BC-D809-93D3BFC63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6B4D4CB4-7FC9-418A-B55F-98E867D64E21}" type="slidenum">
              <a:rPr lang="en-US" altLang="zh-CN" sz="2000" smtClean="0">
                <a:solidFill>
                  <a:schemeClr val="bg2"/>
                </a:solidFill>
              </a:rPr>
              <a:pPr/>
              <a:t>37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7827" name="Line 2">
            <a:extLst>
              <a:ext uri="{FF2B5EF4-FFF2-40B4-BE49-F238E27FC236}">
                <a16:creationId xmlns:a16="http://schemas.microsoft.com/office/drawing/2014/main" id="{0FBAACDC-B9F1-24A1-C84F-A610299767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Line 3">
            <a:extLst>
              <a:ext uri="{FF2B5EF4-FFF2-40B4-BE49-F238E27FC236}">
                <a16:creationId xmlns:a16="http://schemas.microsoft.com/office/drawing/2014/main" id="{E20AFF9F-D75C-8602-A638-E9C09594C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9" name="Text Box 4">
            <a:extLst>
              <a:ext uri="{FF2B5EF4-FFF2-40B4-BE49-F238E27FC236}">
                <a16:creationId xmlns:a16="http://schemas.microsoft.com/office/drawing/2014/main" id="{61204EB4-D614-9926-4D78-4909C3D2D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8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Two-dimensional parity-check code</a:t>
            </a:r>
          </a:p>
        </p:txBody>
      </p:sp>
      <p:sp>
        <p:nvSpPr>
          <p:cNvPr id="77830" name="Line 5">
            <a:extLst>
              <a:ext uri="{FF2B5EF4-FFF2-40B4-BE49-F238E27FC236}">
                <a16:creationId xmlns:a16="http://schemas.microsoft.com/office/drawing/2014/main" id="{A66E17A8-11C7-FBFB-AC07-581335181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7831" name="Picture 8">
            <a:extLst>
              <a:ext uri="{FF2B5EF4-FFF2-40B4-BE49-F238E27FC236}">
                <a16:creationId xmlns:a16="http://schemas.microsoft.com/office/drawing/2014/main" id="{9EE6291A-823E-5463-71D4-8DE68551E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47900"/>
            <a:ext cx="85471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1">
            <a:extLst>
              <a:ext uri="{FF2B5EF4-FFF2-40B4-BE49-F238E27FC236}">
                <a16:creationId xmlns:a16="http://schemas.microsoft.com/office/drawing/2014/main" id="{261BF729-14BB-1F35-BD35-BA962E282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28F9A57-A123-4938-956C-F931B1FDC4AC}" type="slidenum">
              <a:rPr lang="en-US" altLang="zh-CN" sz="2000" smtClean="0">
                <a:solidFill>
                  <a:schemeClr val="bg2"/>
                </a:solidFill>
              </a:rPr>
              <a:pPr/>
              <a:t>38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9875" name="Line 2">
            <a:extLst>
              <a:ext uri="{FF2B5EF4-FFF2-40B4-BE49-F238E27FC236}">
                <a16:creationId xmlns:a16="http://schemas.microsoft.com/office/drawing/2014/main" id="{5A54E9B9-5C48-ED16-9B0F-8FED3966B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Line 3">
            <a:extLst>
              <a:ext uri="{FF2B5EF4-FFF2-40B4-BE49-F238E27FC236}">
                <a16:creationId xmlns:a16="http://schemas.microsoft.com/office/drawing/2014/main" id="{61C9B225-EA07-9A81-BA25-8715077C7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7" name="Text Box 4">
            <a:extLst>
              <a:ext uri="{FF2B5EF4-FFF2-40B4-BE49-F238E27FC236}">
                <a16:creationId xmlns:a16="http://schemas.microsoft.com/office/drawing/2014/main" id="{FFC4D4A5-79DC-6F34-9EFA-921AB829D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8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Two-dimensional parity-check code</a:t>
            </a:r>
          </a:p>
        </p:txBody>
      </p:sp>
      <p:sp>
        <p:nvSpPr>
          <p:cNvPr id="79878" name="Line 5">
            <a:extLst>
              <a:ext uri="{FF2B5EF4-FFF2-40B4-BE49-F238E27FC236}">
                <a16:creationId xmlns:a16="http://schemas.microsoft.com/office/drawing/2014/main" id="{7E3255B0-E754-A1F5-CA49-5415C436D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9879" name="Picture 7">
            <a:extLst>
              <a:ext uri="{FF2B5EF4-FFF2-40B4-BE49-F238E27FC236}">
                <a16:creationId xmlns:a16="http://schemas.microsoft.com/office/drawing/2014/main" id="{A3BFDFC6-9792-0B27-B189-CDE12FCD7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2189163"/>
            <a:ext cx="8547100" cy="284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80" name="TextBox 7">
            <a:extLst>
              <a:ext uri="{FF2B5EF4-FFF2-40B4-BE49-F238E27FC236}">
                <a16:creationId xmlns:a16="http://schemas.microsoft.com/office/drawing/2014/main" id="{6E296DAA-E7AC-4F7E-7B50-23F552360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181600"/>
            <a:ext cx="41148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en-US" altLang="zh-CN" baseline="-25000">
                <a:ea typeface="宋体" panose="02010600030101010101" pitchFamily="2" charset="-122"/>
              </a:rPr>
              <a:t>min</a:t>
            </a:r>
            <a:r>
              <a:rPr lang="en-US" altLang="zh-CN">
                <a:ea typeface="宋体" panose="02010600030101010101" pitchFamily="2" charset="-122"/>
              </a:rPr>
              <a:t> = s + 1;</a:t>
            </a:r>
          </a:p>
          <a:p>
            <a:r>
              <a:rPr lang="en-US" altLang="zh-CN">
                <a:ea typeface="宋体" panose="02010600030101010101" pitchFamily="2" charset="-122"/>
              </a:rPr>
              <a:t>s=3, so,d</a:t>
            </a:r>
            <a:r>
              <a:rPr lang="en-US" altLang="zh-CN" baseline="-25000">
                <a:ea typeface="宋体" panose="02010600030101010101" pitchFamily="2" charset="-122"/>
              </a:rPr>
              <a:t>min</a:t>
            </a:r>
            <a:r>
              <a:rPr lang="en-US" altLang="zh-CN">
                <a:ea typeface="宋体" panose="02010600030101010101" pitchFamily="2" charset="-122"/>
              </a:rPr>
              <a:t> = 4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1">
            <a:extLst>
              <a:ext uri="{FF2B5EF4-FFF2-40B4-BE49-F238E27FC236}">
                <a16:creationId xmlns:a16="http://schemas.microsoft.com/office/drawing/2014/main" id="{A9D4AD77-63BF-36F8-BA8F-92D8CC5D5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A3E33422-C205-4408-923A-D14423F478FA}" type="slidenum">
              <a:rPr lang="en-US" altLang="zh-CN" sz="2000" smtClean="0">
                <a:solidFill>
                  <a:schemeClr val="bg2"/>
                </a:solidFill>
              </a:rPr>
              <a:pPr/>
              <a:t>39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DDB5F92-6E99-B65C-D811-9F7BE80367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81A89A6D-510F-DE4A-6BC9-A000805ED6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5" name="Rectangle 4">
            <a:extLst>
              <a:ext uri="{FF2B5EF4-FFF2-40B4-BE49-F238E27FC236}">
                <a16:creationId xmlns:a16="http://schemas.microsoft.com/office/drawing/2014/main" id="{D9344FB5-0936-F2AB-57C1-BE29DE6DFD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6" name="Rectangle 5">
            <a:extLst>
              <a:ext uri="{FF2B5EF4-FFF2-40B4-BE49-F238E27FC236}">
                <a16:creationId xmlns:a16="http://schemas.microsoft.com/office/drawing/2014/main" id="{43AFBF40-0EE8-5BC7-AF8F-E2854B9931A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7" name="Rectangle 6">
            <a:extLst>
              <a:ext uri="{FF2B5EF4-FFF2-40B4-BE49-F238E27FC236}">
                <a16:creationId xmlns:a16="http://schemas.microsoft.com/office/drawing/2014/main" id="{ADB9DAC0-9902-7308-2D68-126262DBAB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8" name="Rectangle 7">
            <a:extLst>
              <a:ext uri="{FF2B5EF4-FFF2-40B4-BE49-F238E27FC236}">
                <a16:creationId xmlns:a16="http://schemas.microsoft.com/office/drawing/2014/main" id="{60DC5791-70F6-E57B-9773-A5D583E7AB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9" name="Rectangle 8">
            <a:extLst>
              <a:ext uri="{FF2B5EF4-FFF2-40B4-BE49-F238E27FC236}">
                <a16:creationId xmlns:a16="http://schemas.microsoft.com/office/drawing/2014/main" id="{0F678124-84C5-A628-FA10-7561C25AB3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30" name="Line 9">
            <a:extLst>
              <a:ext uri="{FF2B5EF4-FFF2-40B4-BE49-F238E27FC236}">
                <a16:creationId xmlns:a16="http://schemas.microsoft.com/office/drawing/2014/main" id="{C087FB76-3568-E291-7F45-F4E9B8060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057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1" name="Line 10">
            <a:extLst>
              <a:ext uri="{FF2B5EF4-FFF2-40B4-BE49-F238E27FC236}">
                <a16:creationId xmlns:a16="http://schemas.microsoft.com/office/drawing/2014/main" id="{DC743ACC-ADFD-C33A-6787-0ECA1355F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248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Rectangle 11">
            <a:extLst>
              <a:ext uri="{FF2B5EF4-FFF2-40B4-BE49-F238E27FC236}">
                <a16:creationId xmlns:a16="http://schemas.microsoft.com/office/drawing/2014/main" id="{366C5CC5-FADC-E91F-6D90-43642EBE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149475"/>
            <a:ext cx="8077200" cy="40322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All Hamming codes discussed in this book have d</a:t>
            </a:r>
            <a:r>
              <a:rPr lang="en-US" altLang="zh-CN" baseline="-18000">
                <a:ea typeface="宋体" panose="02010600030101010101" pitchFamily="2" charset="-122"/>
              </a:rPr>
              <a:t>min</a:t>
            </a:r>
            <a:r>
              <a:rPr lang="en-US" altLang="zh-CN">
                <a:ea typeface="宋体" panose="02010600030101010101" pitchFamily="2" charset="-122"/>
              </a:rPr>
              <a:t> = 3.</a:t>
            </a: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本书只讨论汉明距离为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的最小的汉明码，这样能检出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位差错，和纠正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位差错。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The relationship between 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in these codes is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= 2^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− 1</a:t>
            </a: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汉明距离</a:t>
            </a:r>
            <a:r>
              <a:rPr lang="en-US" altLang="zh-CN">
                <a:ea typeface="宋体" panose="02010600030101010101" pitchFamily="2" charset="-122"/>
              </a:rPr>
              <a:t>m</a:t>
            </a:r>
            <a:r>
              <a:rPr lang="zh-CN" altLang="en-US">
                <a:ea typeface="宋体" panose="02010600030101010101" pitchFamily="2" charset="-122"/>
              </a:rPr>
              <a:t>与码字长</a:t>
            </a:r>
            <a:r>
              <a:rPr lang="en-US" altLang="zh-CN">
                <a:ea typeface="宋体" panose="02010600030101010101" pitchFamily="2" charset="-122"/>
              </a:rPr>
              <a:t>n</a:t>
            </a:r>
            <a:r>
              <a:rPr lang="zh-CN" altLang="en-US">
                <a:ea typeface="宋体" panose="02010600030101010101" pitchFamily="2" charset="-122"/>
              </a:rPr>
              <a:t>和数据字长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en-US">
                <a:ea typeface="宋体" panose="02010600030101010101" pitchFamily="2" charset="-122"/>
              </a:rPr>
              <a:t>的关系为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= 2^</a:t>
            </a:r>
            <a:r>
              <a:rPr lang="en-US" altLang="zh-CN" i="1">
                <a:ea typeface="宋体" panose="02010600030101010101" pitchFamily="2" charset="-122"/>
              </a:rPr>
              <a:t>m</a:t>
            </a:r>
            <a:r>
              <a:rPr lang="en-US" altLang="zh-CN">
                <a:ea typeface="宋体" panose="02010600030101010101" pitchFamily="2" charset="-122"/>
              </a:rPr>
              <a:t> − 1, k=n-m,r=n-k</a:t>
            </a:r>
          </a:p>
        </p:txBody>
      </p:sp>
      <p:grpSp>
        <p:nvGrpSpPr>
          <p:cNvPr id="81933" name="Group 12">
            <a:extLst>
              <a:ext uri="{FF2B5EF4-FFF2-40B4-BE49-F238E27FC236}">
                <a16:creationId xmlns:a16="http://schemas.microsoft.com/office/drawing/2014/main" id="{F93A6A9A-8B43-239E-F2D7-13A147933F5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371600"/>
            <a:ext cx="1143000" cy="566738"/>
            <a:chOff x="1200" y="1248"/>
            <a:chExt cx="720" cy="357"/>
          </a:xfrm>
        </p:grpSpPr>
        <p:pic>
          <p:nvPicPr>
            <p:cNvPr id="81934" name="Picture 13">
              <a:extLst>
                <a:ext uri="{FF2B5EF4-FFF2-40B4-BE49-F238E27FC236}">
                  <a16:creationId xmlns:a16="http://schemas.microsoft.com/office/drawing/2014/main" id="{E4A5B83C-4995-C668-A112-52921F032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35" name="Text Box 14">
              <a:extLst>
                <a:ext uri="{FF2B5EF4-FFF2-40B4-BE49-F238E27FC236}">
                  <a16:creationId xmlns:a16="http://schemas.microsoft.com/office/drawing/2014/main" id="{911A9482-0251-C9B8-67D8-1FE407A14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1">
            <a:extLst>
              <a:ext uri="{FF2B5EF4-FFF2-40B4-BE49-F238E27FC236}">
                <a16:creationId xmlns:a16="http://schemas.microsoft.com/office/drawing/2014/main" id="{B625D7C7-0978-7FE0-E3FF-B607ED1F0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8EA5E0C-C194-4671-874D-240FCA2933F9}" type="slidenum">
              <a:rPr lang="en-US" altLang="zh-CN" sz="2000" smtClean="0">
                <a:solidFill>
                  <a:schemeClr val="bg2"/>
                </a:solidFill>
              </a:rPr>
              <a:pPr/>
              <a:t>40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3971" name="Text Box 2">
            <a:extLst>
              <a:ext uri="{FF2B5EF4-FFF2-40B4-BE49-F238E27FC236}">
                <a16:creationId xmlns:a16="http://schemas.microsoft.com/office/drawing/2014/main" id="{22A24B22-54A3-531C-7B53-6337E3E0B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38200"/>
            <a:ext cx="407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10.4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Hamming code C(7, 4)</a:t>
            </a:r>
          </a:p>
        </p:txBody>
      </p:sp>
      <p:pic>
        <p:nvPicPr>
          <p:cNvPr id="83972" name="Picture 4">
            <a:extLst>
              <a:ext uri="{FF2B5EF4-FFF2-40B4-BE49-F238E27FC236}">
                <a16:creationId xmlns:a16="http://schemas.microsoft.com/office/drawing/2014/main" id="{B88B2DA7-97FF-5E27-19AC-AD02EFFA7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1308100"/>
            <a:ext cx="8637587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1">
            <a:extLst>
              <a:ext uri="{FF2B5EF4-FFF2-40B4-BE49-F238E27FC236}">
                <a16:creationId xmlns:a16="http://schemas.microsoft.com/office/drawing/2014/main" id="{429E2882-3203-2890-E163-5D2FCA827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A03EDA18-2DCE-4B91-B572-46BDAF293543}" type="slidenum">
              <a:rPr lang="en-US" altLang="zh-CN" sz="2000" smtClean="0">
                <a:solidFill>
                  <a:schemeClr val="bg2"/>
                </a:solidFill>
              </a:rPr>
              <a:pPr/>
              <a:t>41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019" name="Line 2">
            <a:extLst>
              <a:ext uri="{FF2B5EF4-FFF2-40B4-BE49-F238E27FC236}">
                <a16:creationId xmlns:a16="http://schemas.microsoft.com/office/drawing/2014/main" id="{AAF4FA81-3D68-413A-57D2-36030C44B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Line 3">
            <a:extLst>
              <a:ext uri="{FF2B5EF4-FFF2-40B4-BE49-F238E27FC236}">
                <a16:creationId xmlns:a16="http://schemas.microsoft.com/office/drawing/2014/main" id="{328EC40A-31E8-C44E-B4ED-811399147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1" name="Text Box 4">
            <a:extLst>
              <a:ext uri="{FF2B5EF4-FFF2-40B4-BE49-F238E27FC236}">
                <a16:creationId xmlns:a16="http://schemas.microsoft.com/office/drawing/2014/main" id="{94C3A713-9493-4FAD-9136-4479CD990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2088"/>
            <a:ext cx="88201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The structure of the encoder and decoder for a Hamming code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汉明码的编码器和解码器的结构 （冗余位也是模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运算，见书）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2" name="Line 5">
            <a:extLst>
              <a:ext uri="{FF2B5EF4-FFF2-40B4-BE49-F238E27FC236}">
                <a16:creationId xmlns:a16="http://schemas.microsoft.com/office/drawing/2014/main" id="{7F3F2D50-DF05-AFB4-B5F0-E4F65FD1D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6023" name="Picture 6">
            <a:extLst>
              <a:ext uri="{FF2B5EF4-FFF2-40B4-BE49-F238E27FC236}">
                <a16:creationId xmlns:a16="http://schemas.microsoft.com/office/drawing/2014/main" id="{E6C40A3C-389D-FC3A-8D7E-AAAD76D3A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1306513"/>
            <a:ext cx="8656637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1">
            <a:extLst>
              <a:ext uri="{FF2B5EF4-FFF2-40B4-BE49-F238E27FC236}">
                <a16:creationId xmlns:a16="http://schemas.microsoft.com/office/drawing/2014/main" id="{ABDFC7E9-1F59-3114-4E33-89A63690A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D9B34F4F-536B-4B31-8D64-89E56E64CDB4}" type="slidenum">
              <a:rPr lang="en-US" altLang="zh-CN" sz="2000" smtClean="0">
                <a:solidFill>
                  <a:schemeClr val="bg2"/>
                </a:solidFill>
              </a:rPr>
              <a:pPr/>
              <a:t>42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8067" name="Text Box 2">
            <a:extLst>
              <a:ext uri="{FF2B5EF4-FFF2-40B4-BE49-F238E27FC236}">
                <a16:creationId xmlns:a16="http://schemas.microsoft.com/office/drawing/2014/main" id="{39444294-64AB-FAE7-34DD-321C942E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16113"/>
            <a:ext cx="74168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10.5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Logical decision made by the correction logic analyzer</a:t>
            </a:r>
          </a:p>
          <a:p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译码器的纠错逻辑分析器的逻辑判定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8068" name="Picture 4">
            <a:extLst>
              <a:ext uri="{FF2B5EF4-FFF2-40B4-BE49-F238E27FC236}">
                <a16:creationId xmlns:a16="http://schemas.microsoft.com/office/drawing/2014/main" id="{55C8E6C9-CD6C-2FAD-84D9-2D017C23C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2686050"/>
            <a:ext cx="89122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1">
            <a:extLst>
              <a:ext uri="{FF2B5EF4-FFF2-40B4-BE49-F238E27FC236}">
                <a16:creationId xmlns:a16="http://schemas.microsoft.com/office/drawing/2014/main" id="{7FE47862-6033-A250-9296-4D518B394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C49E5B5-3713-4C9C-A0DF-4741C312847F}" type="slidenum">
              <a:rPr lang="en-US" altLang="zh-CN" sz="2000" smtClean="0">
                <a:solidFill>
                  <a:schemeClr val="bg2"/>
                </a:solidFill>
              </a:rPr>
              <a:pPr/>
              <a:t>43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C6F0CCA-3D62-61FB-4426-2E7AA46197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26F8D61-D5C8-C996-6277-1C26D7B3A7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7" name="Rectangle 4">
            <a:extLst>
              <a:ext uri="{FF2B5EF4-FFF2-40B4-BE49-F238E27FC236}">
                <a16:creationId xmlns:a16="http://schemas.microsoft.com/office/drawing/2014/main" id="{2B9B09CA-D514-BB6A-7862-19DF37C998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8" name="Rectangle 5">
            <a:extLst>
              <a:ext uri="{FF2B5EF4-FFF2-40B4-BE49-F238E27FC236}">
                <a16:creationId xmlns:a16="http://schemas.microsoft.com/office/drawing/2014/main" id="{8C5FA937-070A-3E12-9ECC-D108177AEA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9" name="Rectangle 6">
            <a:extLst>
              <a:ext uri="{FF2B5EF4-FFF2-40B4-BE49-F238E27FC236}">
                <a16:creationId xmlns:a16="http://schemas.microsoft.com/office/drawing/2014/main" id="{7A1B4B2B-BA23-A8AA-69F5-46E5A6B4CA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20" name="Rectangle 7">
            <a:extLst>
              <a:ext uri="{FF2B5EF4-FFF2-40B4-BE49-F238E27FC236}">
                <a16:creationId xmlns:a16="http://schemas.microsoft.com/office/drawing/2014/main" id="{AEB89D2A-F695-D80A-557F-59C80862C8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21" name="Rectangle 8">
            <a:extLst>
              <a:ext uri="{FF2B5EF4-FFF2-40B4-BE49-F238E27FC236}">
                <a16:creationId xmlns:a16="http://schemas.microsoft.com/office/drawing/2014/main" id="{6121BB42-0EC9-B067-CC53-CCC18F71BE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22" name="Rectangle 9">
            <a:extLst>
              <a:ext uri="{FF2B5EF4-FFF2-40B4-BE49-F238E27FC236}">
                <a16:creationId xmlns:a16="http://schemas.microsoft.com/office/drawing/2014/main" id="{DD382F29-7C1A-93C9-EBBF-A0CC3E3E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736600"/>
            <a:ext cx="8686800" cy="569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Let us trace the path of three datawords from the sender to the destination:</a:t>
            </a:r>
          </a:p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跟踪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个数据字从发送端到目的端的路径，见书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P185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The dataword 0100 becomes the codeword 0100011.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 The codeword 0100011 is received. The syndrome is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 000, the final dataword is 0100.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The dataword 0111 becomes the codeword 0111001.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The syndrome is 011. After  flipping b</a:t>
            </a:r>
            <a:r>
              <a:rPr lang="en-US" altLang="zh-CN" sz="2800" i="1" baseline="-14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(changing the 1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 to 0), the final dataword is 0111.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The dataword 1101 becomes the codeword 1101000.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The syndrome is 101. After flipping b</a:t>
            </a:r>
            <a:r>
              <a:rPr lang="en-US" altLang="zh-CN" sz="2800" i="1" baseline="-14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we get 0000,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the wrong dataword. This shows that our code cannot</a:t>
            </a:r>
            <a:b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correct two errors.</a:t>
            </a:r>
          </a:p>
        </p:txBody>
      </p:sp>
      <p:sp>
        <p:nvSpPr>
          <p:cNvPr id="90123" name="Text Box 11">
            <a:extLst>
              <a:ext uri="{FF2B5EF4-FFF2-40B4-BE49-F238E27FC236}">
                <a16:creationId xmlns:a16="http://schemas.microsoft.com/office/drawing/2014/main" id="{22A22E45-4261-653C-6E4D-D3740C239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1">
            <a:extLst>
              <a:ext uri="{FF2B5EF4-FFF2-40B4-BE49-F238E27FC236}">
                <a16:creationId xmlns:a16="http://schemas.microsoft.com/office/drawing/2014/main" id="{1C073BEC-2B23-8108-E558-29A6054EC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E768C742-1754-44B8-92E8-7156F9AEB6DF}" type="slidenum">
              <a:rPr lang="en-US" altLang="zh-CN" sz="2000" smtClean="0">
                <a:solidFill>
                  <a:schemeClr val="bg2"/>
                </a:solidFill>
              </a:rPr>
              <a:pPr/>
              <a:t>44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F4862248-5BD4-7760-1FEB-F32FAAB434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18471B2-FD09-720A-3F3A-E3EF565511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5" name="Rectangle 4">
            <a:extLst>
              <a:ext uri="{FF2B5EF4-FFF2-40B4-BE49-F238E27FC236}">
                <a16:creationId xmlns:a16="http://schemas.microsoft.com/office/drawing/2014/main" id="{67AAD1E5-4B44-57FB-C39F-AAAD7FAE98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6" name="Rectangle 5">
            <a:extLst>
              <a:ext uri="{FF2B5EF4-FFF2-40B4-BE49-F238E27FC236}">
                <a16:creationId xmlns:a16="http://schemas.microsoft.com/office/drawing/2014/main" id="{20F15F4C-1AB6-578D-F1C3-C12263B360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7" name="Rectangle 6">
            <a:extLst>
              <a:ext uri="{FF2B5EF4-FFF2-40B4-BE49-F238E27FC236}">
                <a16:creationId xmlns:a16="http://schemas.microsoft.com/office/drawing/2014/main" id="{6D0C7054-BB38-1758-982D-C6DCADBDC4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8" name="Rectangle 7">
            <a:extLst>
              <a:ext uri="{FF2B5EF4-FFF2-40B4-BE49-F238E27FC236}">
                <a16:creationId xmlns:a16="http://schemas.microsoft.com/office/drawing/2014/main" id="{3E6C8087-1792-34CC-229A-C35C15AEF5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9" name="Rectangle 8">
            <a:extLst>
              <a:ext uri="{FF2B5EF4-FFF2-40B4-BE49-F238E27FC236}">
                <a16:creationId xmlns:a16="http://schemas.microsoft.com/office/drawing/2014/main" id="{3DD80934-5C73-231D-A2A1-AE8343EAB1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70" name="Rectangle 9">
            <a:extLst>
              <a:ext uri="{FF2B5EF4-FFF2-40B4-BE49-F238E27FC236}">
                <a16:creationId xmlns:a16="http://schemas.microsoft.com/office/drawing/2014/main" id="{6E1970D4-B089-7785-0E4E-044B1824A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741363"/>
            <a:ext cx="86868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We need a dataword of at least 7 bits. Calculate values of k and n that satisfy this requirement.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若数据字至少为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比特，计算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71" name="Rectangle 10">
            <a:extLst>
              <a:ext uri="{FF2B5EF4-FFF2-40B4-BE49-F238E27FC236}">
                <a16:creationId xmlns:a16="http://schemas.microsoft.com/office/drawing/2014/main" id="{2852A8FE-9E24-6438-A384-926FB69F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30425"/>
            <a:ext cx="8686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We need to make k = n − m greater than or equal to 7, or  2^m − 1 − m ≥ 7.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If we set m = 3, the result is n = 23 − 1 and k = 7 − 3, or 4, which is not acceptable.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If we set m = 4, then n = 24 − 1 = 15 and k = 15 − 4 = 11, which satisfies the condition. So the code is</a:t>
            </a:r>
          </a:p>
        </p:txBody>
      </p:sp>
      <p:sp>
        <p:nvSpPr>
          <p:cNvPr id="92172" name="Text Box 11">
            <a:extLst>
              <a:ext uri="{FF2B5EF4-FFF2-40B4-BE49-F238E27FC236}">
                <a16:creationId xmlns:a16="http://schemas.microsoft.com/office/drawing/2014/main" id="{8F0DBC4D-86FC-6FE9-FC18-0847DB15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10.14</a:t>
            </a:r>
          </a:p>
        </p:txBody>
      </p:sp>
      <p:sp>
        <p:nvSpPr>
          <p:cNvPr id="92173" name="Rectangle 12">
            <a:extLst>
              <a:ext uri="{FF2B5EF4-FFF2-40B4-BE49-F238E27FC236}">
                <a16:creationId xmlns:a16="http://schemas.microsoft.com/office/drawing/2014/main" id="{F0E66B6E-C9AD-21B1-410F-AF92FBF5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181600"/>
            <a:ext cx="1905000" cy="523875"/>
          </a:xfrm>
          <a:prstGeom prst="rect">
            <a:avLst/>
          </a:prstGeom>
          <a:solidFill>
            <a:srgbClr val="FFFF00"/>
          </a:solidFill>
          <a:ln w="57150" cmpd="thickThin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C(15, 11)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1">
            <a:extLst>
              <a:ext uri="{FF2B5EF4-FFF2-40B4-BE49-F238E27FC236}">
                <a16:creationId xmlns:a16="http://schemas.microsoft.com/office/drawing/2014/main" id="{50C4BE6C-EE2C-8443-70AE-FD9952C55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7FA7E753-49B9-453A-9D5F-849D6FD74AE1}" type="slidenum">
              <a:rPr lang="en-US" altLang="zh-CN" sz="2000" smtClean="0">
                <a:solidFill>
                  <a:schemeClr val="bg2"/>
                </a:solidFill>
              </a:rPr>
              <a:pPr/>
              <a:t>45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4211" name="Line 2">
            <a:extLst>
              <a:ext uri="{FF2B5EF4-FFF2-40B4-BE49-F238E27FC236}">
                <a16:creationId xmlns:a16="http://schemas.microsoft.com/office/drawing/2014/main" id="{DB06F157-0FAB-33B0-1FEA-2EC8FB8A7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Line 3">
            <a:extLst>
              <a:ext uri="{FF2B5EF4-FFF2-40B4-BE49-F238E27FC236}">
                <a16:creationId xmlns:a16="http://schemas.microsoft.com/office/drawing/2014/main" id="{139C7BE1-3F74-8082-AA7B-175E04058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3" name="Text Box 4">
            <a:extLst>
              <a:ext uri="{FF2B5EF4-FFF2-40B4-BE49-F238E27FC236}">
                <a16:creationId xmlns:a16="http://schemas.microsoft.com/office/drawing/2014/main" id="{BA5E6B3F-3E6C-8532-E6EA-F9F79A9F5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2088"/>
            <a:ext cx="73993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Burst error correction using Hamming code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使用交织编码技术的汉明码，提高突发错误能力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4" name="Line 5">
            <a:extLst>
              <a:ext uri="{FF2B5EF4-FFF2-40B4-BE49-F238E27FC236}">
                <a16:creationId xmlns:a16="http://schemas.microsoft.com/office/drawing/2014/main" id="{5707536C-1A7E-9A92-E499-7DE717E92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4215" name="Picture 6">
            <a:extLst>
              <a:ext uri="{FF2B5EF4-FFF2-40B4-BE49-F238E27FC236}">
                <a16:creationId xmlns:a16="http://schemas.microsoft.com/office/drawing/2014/main" id="{30EA100B-0B27-0113-FA09-2CCD36969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066800"/>
            <a:ext cx="772477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1">
            <a:extLst>
              <a:ext uri="{FF2B5EF4-FFF2-40B4-BE49-F238E27FC236}">
                <a16:creationId xmlns:a16="http://schemas.microsoft.com/office/drawing/2014/main" id="{248BF6B6-D5F2-80C8-0320-D1FA988BC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5598603-FA24-418B-B596-069072FF2671}" type="slidenum">
              <a:rPr lang="en-US" altLang="zh-CN" sz="2000" smtClean="0">
                <a:solidFill>
                  <a:schemeClr val="bg2"/>
                </a:solidFill>
              </a:rPr>
              <a:pPr/>
              <a:t>46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0162" name="Rectangle 2">
            <a:extLst>
              <a:ext uri="{FF2B5EF4-FFF2-40B4-BE49-F238E27FC236}">
                <a16:creationId xmlns:a16="http://schemas.microsoft.com/office/drawing/2014/main" id="{3EFDF844-C70F-C8D5-CC5F-49A0348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60163" name="Text Box 3">
            <a:extLst>
              <a:ext uri="{FF2B5EF4-FFF2-40B4-BE49-F238E27FC236}">
                <a16:creationId xmlns:a16="http://schemas.microsoft.com/office/drawing/2014/main" id="{E7E8AF8D-1779-45BD-C544-D8717F40F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719763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10-4   CYCLIC CODES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循环码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96261" name="Text Box 4">
            <a:extLst>
              <a:ext uri="{FF2B5EF4-FFF2-40B4-BE49-F238E27FC236}">
                <a16:creationId xmlns:a16="http://schemas.microsoft.com/office/drawing/2014/main" id="{C20E8C2B-88A4-F6AA-DB73-E16E29F12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165" name="Rectangle 5">
            <a:extLst>
              <a:ext uri="{FF2B5EF4-FFF2-40B4-BE49-F238E27FC236}">
                <a16:creationId xmlns:a16="http://schemas.microsoft.com/office/drawing/2014/main" id="{7D4B13C4-C68F-9BFE-83D5-299924E90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4313"/>
            <a:ext cx="914400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循环码是有一个附加性质的特殊的线性块码。这个性质是如果码字循环移位，结果还是另一个循环码字。例如，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1011000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是一个码子，循环左移，那么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0110001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也是码子。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96263" name="Rectangle 6">
            <a:extLst>
              <a:ext uri="{FF2B5EF4-FFF2-40B4-BE49-F238E27FC236}">
                <a16:creationId xmlns:a16="http://schemas.microsoft.com/office/drawing/2014/main" id="{20D7126A-C65B-7C2E-E8C3-D95C0CF94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981450"/>
            <a:ext cx="6705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Cyclic Redundancy Check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循环冗余校验码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Hardware Implementation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硬件实现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Polynomials              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多项式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Cyclic Code Analysis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循环码性能分析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Advantages of Cyclic Codes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循环码的优点</a:t>
            </a:r>
            <a:b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Other Cyclic Codes            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其它循环码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860167" name="Text Box 7">
            <a:extLst>
              <a:ext uri="{FF2B5EF4-FFF2-40B4-BE49-F238E27FC236}">
                <a16:creationId xmlns:a16="http://schemas.microsoft.com/office/drawing/2014/main" id="{26F5C0E9-4010-D232-ACCA-2C202DB4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35052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1">
            <a:extLst>
              <a:ext uri="{FF2B5EF4-FFF2-40B4-BE49-F238E27FC236}">
                <a16:creationId xmlns:a16="http://schemas.microsoft.com/office/drawing/2014/main" id="{D030FF3D-C4E3-474C-0D5C-195659210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D72B646C-E026-4856-BCAD-EF1A1F084433}" type="slidenum">
              <a:rPr lang="en-US" altLang="zh-CN" sz="2000" smtClean="0">
                <a:solidFill>
                  <a:schemeClr val="bg2"/>
                </a:solidFill>
              </a:rPr>
              <a:pPr/>
              <a:t>47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8307" name="Text Box 2">
            <a:extLst>
              <a:ext uri="{FF2B5EF4-FFF2-40B4-BE49-F238E27FC236}">
                <a16:creationId xmlns:a16="http://schemas.microsoft.com/office/drawing/2014/main" id="{F5D88A5E-8FFD-5425-992A-36EB076BA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717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10.6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 CRC code with C(7, 4)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循环冗余校验码简称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</a:p>
        </p:txBody>
      </p:sp>
      <p:pic>
        <p:nvPicPr>
          <p:cNvPr id="98308" name="Picture 6">
            <a:extLst>
              <a:ext uri="{FF2B5EF4-FFF2-40B4-BE49-F238E27FC236}">
                <a16:creationId xmlns:a16="http://schemas.microsoft.com/office/drawing/2014/main" id="{832463CA-12EB-4245-36DD-C0BCC3F32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201738"/>
            <a:ext cx="8739187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1">
            <a:extLst>
              <a:ext uri="{FF2B5EF4-FFF2-40B4-BE49-F238E27FC236}">
                <a16:creationId xmlns:a16="http://schemas.microsoft.com/office/drawing/2014/main" id="{75029FB9-6418-ACD0-2F5D-0640F6C18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031750E6-37DC-40A9-B69A-3B482E6C9BBC}" type="slidenum">
              <a:rPr lang="en-US" altLang="zh-CN" sz="2000" smtClean="0">
                <a:solidFill>
                  <a:schemeClr val="bg2"/>
                </a:solidFill>
              </a:rPr>
              <a:pPr/>
              <a:t>48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0355" name="Line 2">
            <a:extLst>
              <a:ext uri="{FF2B5EF4-FFF2-40B4-BE49-F238E27FC236}">
                <a16:creationId xmlns:a16="http://schemas.microsoft.com/office/drawing/2014/main" id="{CDFBC0F3-DE2E-5AF3-2101-DEBA2535F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6" name="Line 3">
            <a:extLst>
              <a:ext uri="{FF2B5EF4-FFF2-40B4-BE49-F238E27FC236}">
                <a16:creationId xmlns:a16="http://schemas.microsoft.com/office/drawing/2014/main" id="{DDB34E90-676C-D05F-D855-6A6407F94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7" name="Text Box 4">
            <a:extLst>
              <a:ext uri="{FF2B5EF4-FFF2-40B4-BE49-F238E27FC236}">
                <a16:creationId xmlns:a16="http://schemas.microsoft.com/office/drawing/2014/main" id="{3DFDC9A8-7A5C-21C8-858D-0C85ECEA9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70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CRC encoder and decoder</a:t>
            </a:r>
          </a:p>
        </p:txBody>
      </p:sp>
      <p:sp>
        <p:nvSpPr>
          <p:cNvPr id="100358" name="Line 5">
            <a:extLst>
              <a:ext uri="{FF2B5EF4-FFF2-40B4-BE49-F238E27FC236}">
                <a16:creationId xmlns:a16="http://schemas.microsoft.com/office/drawing/2014/main" id="{56FA19BE-C295-BC2C-0388-94FA9A352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0359" name="Picture 6">
            <a:extLst>
              <a:ext uri="{FF2B5EF4-FFF2-40B4-BE49-F238E27FC236}">
                <a16:creationId xmlns:a16="http://schemas.microsoft.com/office/drawing/2014/main" id="{13A56B3A-F942-4B14-D098-EB9DEB9AC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8355013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60" name="TextBox 7">
            <a:extLst>
              <a:ext uri="{FF2B5EF4-FFF2-40B4-BE49-F238E27FC236}">
                <a16:creationId xmlns:a16="http://schemas.microsoft.com/office/drawing/2014/main" id="{CF6830A4-7E51-0C65-3154-63168B646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90600"/>
            <a:ext cx="716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数据字</a:t>
            </a:r>
            <a:r>
              <a:rPr lang="en-US" altLang="zh-CN" sz="2400">
                <a:ea typeface="宋体" panose="02010600030101010101" pitchFamily="2" charset="-122"/>
              </a:rPr>
              <a:t>k=4</a:t>
            </a:r>
            <a:r>
              <a:rPr lang="zh-CN" altLang="en-US" sz="2400">
                <a:ea typeface="宋体" panose="02010600030101010101" pitchFamily="2" charset="-122"/>
              </a:rPr>
              <a:t>位，码子</a:t>
            </a:r>
            <a:r>
              <a:rPr lang="en-US" altLang="zh-CN" sz="2400">
                <a:ea typeface="宋体" panose="02010600030101010101" pitchFamily="2" charset="-122"/>
              </a:rPr>
              <a:t>n=7</a:t>
            </a:r>
            <a:r>
              <a:rPr lang="zh-CN" altLang="en-US" sz="2400">
                <a:ea typeface="宋体" panose="02010600030101010101" pitchFamily="2" charset="-122"/>
              </a:rPr>
              <a:t>位</a:t>
            </a:r>
            <a:r>
              <a:rPr lang="en-US" altLang="zh-CN" sz="2400">
                <a:ea typeface="宋体" panose="02010600030101010101" pitchFamily="2" charset="-122"/>
              </a:rPr>
              <a:t>,</a:t>
            </a:r>
            <a:r>
              <a:rPr lang="zh-CN" altLang="en-US" sz="2400">
                <a:ea typeface="宋体" panose="02010600030101010101" pitchFamily="2" charset="-122"/>
              </a:rPr>
              <a:t>数据字右边加上</a:t>
            </a:r>
            <a:r>
              <a:rPr lang="en-US" altLang="zh-CN" sz="2400">
                <a:ea typeface="宋体" panose="02010600030101010101" pitchFamily="2" charset="-122"/>
              </a:rPr>
              <a:t>n-k=3</a:t>
            </a:r>
            <a:r>
              <a:rPr lang="zh-CN" altLang="en-US" sz="2400">
                <a:ea typeface="宋体" panose="02010600030101010101" pitchFamily="2" charset="-122"/>
              </a:rPr>
              <a:t>个位零，除数是</a:t>
            </a:r>
            <a:r>
              <a:rPr lang="en-US" altLang="zh-CN" sz="2400">
                <a:ea typeface="宋体" panose="02010600030101010101" pitchFamily="2" charset="-122"/>
              </a:rPr>
              <a:t>n-k+1=4</a:t>
            </a:r>
            <a:r>
              <a:rPr lang="zh-CN" altLang="en-US" sz="2400">
                <a:ea typeface="宋体" panose="02010600030101010101" pitchFamily="2" charset="-122"/>
              </a:rPr>
              <a:t>位，双方提前协商好的。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1">
            <a:extLst>
              <a:ext uri="{FF2B5EF4-FFF2-40B4-BE49-F238E27FC236}">
                <a16:creationId xmlns:a16="http://schemas.microsoft.com/office/drawing/2014/main" id="{143533BD-955D-9E2A-F860-3D780AD38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40D6D5A2-963A-4699-B288-35593721AC1D}" type="slidenum">
              <a:rPr lang="en-US" altLang="zh-CN" sz="2000" smtClean="0">
                <a:solidFill>
                  <a:schemeClr val="bg2"/>
                </a:solidFill>
              </a:rPr>
              <a:pPr/>
              <a:t>49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03" name="Line 2">
            <a:extLst>
              <a:ext uri="{FF2B5EF4-FFF2-40B4-BE49-F238E27FC236}">
                <a16:creationId xmlns:a16="http://schemas.microsoft.com/office/drawing/2014/main" id="{5E987680-3ABC-4230-3AE3-803BA1644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4" name="Line 3">
            <a:extLst>
              <a:ext uri="{FF2B5EF4-FFF2-40B4-BE49-F238E27FC236}">
                <a16:creationId xmlns:a16="http://schemas.microsoft.com/office/drawing/2014/main" id="{CFD227D8-A5DB-385A-9FCC-0A0DE0B89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5" name="Text Box 4">
            <a:extLst>
              <a:ext uri="{FF2B5EF4-FFF2-40B4-BE49-F238E27FC236}">
                <a16:creationId xmlns:a16="http://schemas.microsoft.com/office/drawing/2014/main" id="{5D8CC6AF-19CA-3FF0-2543-8106FF22E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482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Division in CRC encoder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编码器中的除法（模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运算）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6" name="Line 5">
            <a:extLst>
              <a:ext uri="{FF2B5EF4-FFF2-40B4-BE49-F238E27FC236}">
                <a16:creationId xmlns:a16="http://schemas.microsoft.com/office/drawing/2014/main" id="{47F3F887-8E41-8B03-8AF7-9B9C59BA4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07" name="Picture 6">
            <a:extLst>
              <a:ext uri="{FF2B5EF4-FFF2-40B4-BE49-F238E27FC236}">
                <a16:creationId xmlns:a16="http://schemas.microsoft.com/office/drawing/2014/main" id="{E079E49F-E733-B19B-A1BC-8D0A8BE80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0125"/>
            <a:ext cx="4854575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8" name="TextBox 7">
            <a:extLst>
              <a:ext uri="{FF2B5EF4-FFF2-40B4-BE49-F238E27FC236}">
                <a16:creationId xmlns:a16="http://schemas.microsoft.com/office/drawing/2014/main" id="{4BD0C663-23B3-8340-EEC4-4D43818DB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362200"/>
            <a:ext cx="4191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1.</a:t>
            </a:r>
            <a:r>
              <a:rPr lang="zh-CN" altLang="en-US" sz="2400">
                <a:ea typeface="宋体" panose="02010600030101010101" pitchFamily="2" charset="-122"/>
              </a:rPr>
              <a:t>模</a:t>
            </a:r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zh-CN" altLang="en-US" sz="2400">
                <a:ea typeface="宋体" panose="02010600030101010101" pitchFamily="2" charset="-122"/>
              </a:rPr>
              <a:t>除法也等同于异或；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2.</a:t>
            </a:r>
            <a:r>
              <a:rPr lang="zh-CN" altLang="en-US" sz="2400">
                <a:ea typeface="宋体" panose="02010600030101010101" pitchFamily="2" charset="-122"/>
              </a:rPr>
              <a:t>如果被除数最左边的位是</a:t>
            </a:r>
            <a:r>
              <a:rPr lang="en-US" altLang="zh-CN" sz="2400">
                <a:ea typeface="宋体" panose="02010600030101010101" pitchFamily="2" charset="-122"/>
              </a:rPr>
              <a:t>0</a:t>
            </a:r>
            <a:r>
              <a:rPr lang="zh-CN" altLang="en-US" sz="2400">
                <a:ea typeface="宋体" panose="02010600030101010101" pitchFamily="2" charset="-122"/>
              </a:rPr>
              <a:t>，这一步就不能用正常的除数，而需要使用全</a:t>
            </a:r>
            <a:r>
              <a:rPr lang="en-US" altLang="zh-CN" sz="2400">
                <a:ea typeface="宋体" panose="02010600030101010101" pitchFamily="2" charset="-122"/>
              </a:rPr>
              <a:t>0</a:t>
            </a:r>
            <a:r>
              <a:rPr lang="zh-CN" altLang="en-US" sz="2400">
                <a:ea typeface="宋体" panose="02010600030101010101" pitchFamily="2" charset="-122"/>
              </a:rPr>
              <a:t>的除数；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1">
            <a:extLst>
              <a:ext uri="{FF2B5EF4-FFF2-40B4-BE49-F238E27FC236}">
                <a16:creationId xmlns:a16="http://schemas.microsoft.com/office/drawing/2014/main" id="{40B94799-7FE0-93F9-610E-81109C705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F0EA5942-5FB4-4FF7-BF23-50E158901EED}" type="slidenum">
              <a:rPr lang="en-US" altLang="zh-CN" sz="2000" smtClean="0">
                <a:solidFill>
                  <a:schemeClr val="bg2"/>
                </a:solidFill>
              </a:rPr>
              <a:pPr/>
              <a:t>50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4451" name="Line 2">
            <a:extLst>
              <a:ext uri="{FF2B5EF4-FFF2-40B4-BE49-F238E27FC236}">
                <a16:creationId xmlns:a16="http://schemas.microsoft.com/office/drawing/2014/main" id="{177DFA26-FC73-156E-A3B3-2B2B25E05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2" name="Line 3">
            <a:extLst>
              <a:ext uri="{FF2B5EF4-FFF2-40B4-BE49-F238E27FC236}">
                <a16:creationId xmlns:a16="http://schemas.microsoft.com/office/drawing/2014/main" id="{BE12B988-3724-B96B-8372-FF58886E0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3" name="Text Box 4">
            <a:extLst>
              <a:ext uri="{FF2B5EF4-FFF2-40B4-BE49-F238E27FC236}">
                <a16:creationId xmlns:a16="http://schemas.microsoft.com/office/drawing/2014/main" id="{8F9EF2A6-9DEB-CD4C-2A45-DF1A90971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33400"/>
            <a:ext cx="7018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10.16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的译码器中的除法（除尽和除不尽）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4" name="Line 5">
            <a:extLst>
              <a:ext uri="{FF2B5EF4-FFF2-40B4-BE49-F238E27FC236}">
                <a16:creationId xmlns:a16="http://schemas.microsoft.com/office/drawing/2014/main" id="{0B9D62B7-FADD-0B8C-7899-7AB315C82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4455" name="Picture 6">
            <a:extLst>
              <a:ext uri="{FF2B5EF4-FFF2-40B4-BE49-F238E27FC236}">
                <a16:creationId xmlns:a16="http://schemas.microsoft.com/office/drawing/2014/main" id="{C197CF7F-3C44-DF10-CEE2-A2E2A4365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1550988"/>
            <a:ext cx="7659687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1">
            <a:extLst>
              <a:ext uri="{FF2B5EF4-FFF2-40B4-BE49-F238E27FC236}">
                <a16:creationId xmlns:a16="http://schemas.microsoft.com/office/drawing/2014/main" id="{47FED128-4F11-854D-D692-0BE119387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EC462009-1D4D-4213-8B8F-E325A2050E64}" type="slidenum">
              <a:rPr lang="en-US" altLang="zh-CN" sz="2000" smtClean="0">
                <a:solidFill>
                  <a:schemeClr val="bg2"/>
                </a:solidFill>
              </a:rPr>
              <a:pPr/>
              <a:t>51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6499" name="Line 2">
            <a:extLst>
              <a:ext uri="{FF2B5EF4-FFF2-40B4-BE49-F238E27FC236}">
                <a16:creationId xmlns:a16="http://schemas.microsoft.com/office/drawing/2014/main" id="{22BA65C0-A653-C25B-65ED-6F9BA38B6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0" name="Line 3">
            <a:extLst>
              <a:ext uri="{FF2B5EF4-FFF2-40B4-BE49-F238E27FC236}">
                <a16:creationId xmlns:a16="http://schemas.microsoft.com/office/drawing/2014/main" id="{C6B1FCE8-3C90-4160-FF2C-F7F39787E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1" name="Text Box 4">
            <a:extLst>
              <a:ext uri="{FF2B5EF4-FFF2-40B4-BE49-F238E27FC236}">
                <a16:creationId xmlns:a16="http://schemas.microsoft.com/office/drawing/2014/main" id="{9EEA24A1-152C-6CC3-EC80-108387D9D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61563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Hardwired design of the divisor in CRC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CRC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的硬件实现不做要求，选讲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2" name="Line 5">
            <a:extLst>
              <a:ext uri="{FF2B5EF4-FFF2-40B4-BE49-F238E27FC236}">
                <a16:creationId xmlns:a16="http://schemas.microsoft.com/office/drawing/2014/main" id="{75139F1A-C4AF-D301-61D1-A0400E30C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6503" name="Picture 6">
            <a:extLst>
              <a:ext uri="{FF2B5EF4-FFF2-40B4-BE49-F238E27FC236}">
                <a16:creationId xmlns:a16="http://schemas.microsoft.com/office/drawing/2014/main" id="{F8EB0748-0DF4-B96D-EFFD-317E7DA3A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7467600" cy="287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1">
            <a:extLst>
              <a:ext uri="{FF2B5EF4-FFF2-40B4-BE49-F238E27FC236}">
                <a16:creationId xmlns:a16="http://schemas.microsoft.com/office/drawing/2014/main" id="{4E556428-27FD-78DC-A54E-546EAE5C7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D05C218E-1BEA-438B-9587-9015235E00EA}" type="slidenum">
              <a:rPr lang="en-US" altLang="zh-CN" sz="2000" smtClean="0">
                <a:solidFill>
                  <a:schemeClr val="bg2"/>
                </a:solidFill>
              </a:rPr>
              <a:pPr/>
              <a:t>52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8547" name="Line 2">
            <a:extLst>
              <a:ext uri="{FF2B5EF4-FFF2-40B4-BE49-F238E27FC236}">
                <a16:creationId xmlns:a16="http://schemas.microsoft.com/office/drawing/2014/main" id="{59EC3CFB-2CD9-DE98-2440-5CAC70983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Line 3">
            <a:extLst>
              <a:ext uri="{FF2B5EF4-FFF2-40B4-BE49-F238E27FC236}">
                <a16:creationId xmlns:a16="http://schemas.microsoft.com/office/drawing/2014/main" id="{6AA4CED5-E8E6-E101-5B04-97A63C235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9" name="Text Box 4">
            <a:extLst>
              <a:ext uri="{FF2B5EF4-FFF2-40B4-BE49-F238E27FC236}">
                <a16:creationId xmlns:a16="http://schemas.microsoft.com/office/drawing/2014/main" id="{38D08428-E4CF-1870-3256-3F8602711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7963"/>
            <a:ext cx="60642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Simulation of division in CRC encoder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的硬件实现不做要求，选讲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50" name="Line 5">
            <a:extLst>
              <a:ext uri="{FF2B5EF4-FFF2-40B4-BE49-F238E27FC236}">
                <a16:creationId xmlns:a16="http://schemas.microsoft.com/office/drawing/2014/main" id="{B735AD4C-6F3F-2D6A-D534-2823F347D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8551" name="Picture 6">
            <a:extLst>
              <a:ext uri="{FF2B5EF4-FFF2-40B4-BE49-F238E27FC236}">
                <a16:creationId xmlns:a16="http://schemas.microsoft.com/office/drawing/2014/main" id="{64D1D570-2699-8AFD-D819-A76D2C3F6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1093788"/>
            <a:ext cx="6069013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1">
            <a:extLst>
              <a:ext uri="{FF2B5EF4-FFF2-40B4-BE49-F238E27FC236}">
                <a16:creationId xmlns:a16="http://schemas.microsoft.com/office/drawing/2014/main" id="{0A752DB3-7CCE-C944-E28A-D842F34AF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94B907CA-D457-4DB8-9C26-7456ED9587D7}" type="slidenum">
              <a:rPr lang="en-US" altLang="zh-CN" sz="2000" smtClean="0">
                <a:solidFill>
                  <a:schemeClr val="bg2"/>
                </a:solidFill>
              </a:rPr>
              <a:pPr/>
              <a:t>53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0595" name="Line 2">
            <a:extLst>
              <a:ext uri="{FF2B5EF4-FFF2-40B4-BE49-F238E27FC236}">
                <a16:creationId xmlns:a16="http://schemas.microsoft.com/office/drawing/2014/main" id="{8E44E396-9D5C-0EFF-6D11-B9E76D0F06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6" name="Line 3">
            <a:extLst>
              <a:ext uri="{FF2B5EF4-FFF2-40B4-BE49-F238E27FC236}">
                <a16:creationId xmlns:a16="http://schemas.microsoft.com/office/drawing/2014/main" id="{2B0E636B-B8BD-033D-B986-707C2646C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7" name="Text Box 4">
            <a:extLst>
              <a:ext uri="{FF2B5EF4-FFF2-40B4-BE49-F238E27FC236}">
                <a16:creationId xmlns:a16="http://schemas.microsoft.com/office/drawing/2014/main" id="{1B175B7F-5056-1F65-1A64-F3E23A98B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12775"/>
            <a:ext cx="675481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10.19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The CRC encoder design using shift registers</a:t>
            </a: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CRC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的硬件实现不做要求，选讲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8" name="Line 5">
            <a:extLst>
              <a:ext uri="{FF2B5EF4-FFF2-40B4-BE49-F238E27FC236}">
                <a16:creationId xmlns:a16="http://schemas.microsoft.com/office/drawing/2014/main" id="{5411ED23-AB29-8BA2-DCAE-229EB0B6E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0599" name="Picture 6">
            <a:extLst>
              <a:ext uri="{FF2B5EF4-FFF2-40B4-BE49-F238E27FC236}">
                <a16:creationId xmlns:a16="http://schemas.microsoft.com/office/drawing/2014/main" id="{F7DBFC93-A01A-D075-8278-2081D158F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54338"/>
            <a:ext cx="741362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1">
            <a:extLst>
              <a:ext uri="{FF2B5EF4-FFF2-40B4-BE49-F238E27FC236}">
                <a16:creationId xmlns:a16="http://schemas.microsoft.com/office/drawing/2014/main" id="{063F9967-7AFD-B6AB-FE6F-EE0D1C40CE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FD93CB77-84DA-46D0-B90A-90044844E6C7}" type="slidenum">
              <a:rPr lang="en-US" altLang="zh-CN" sz="2000" smtClean="0">
                <a:solidFill>
                  <a:schemeClr val="bg2"/>
                </a:solidFill>
              </a:rPr>
              <a:pPr/>
              <a:t>54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43" name="Line 2">
            <a:extLst>
              <a:ext uri="{FF2B5EF4-FFF2-40B4-BE49-F238E27FC236}">
                <a16:creationId xmlns:a16="http://schemas.microsoft.com/office/drawing/2014/main" id="{267A7E63-EF64-6185-F576-4BB6BE177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4" name="Line 3">
            <a:extLst>
              <a:ext uri="{FF2B5EF4-FFF2-40B4-BE49-F238E27FC236}">
                <a16:creationId xmlns:a16="http://schemas.microsoft.com/office/drawing/2014/main" id="{E2C20558-1B16-F87F-BA7D-2CAA09E31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5" name="Text Box 4">
            <a:extLst>
              <a:ext uri="{FF2B5EF4-FFF2-40B4-BE49-F238E27FC236}">
                <a16:creationId xmlns:a16="http://schemas.microsoft.com/office/drawing/2014/main" id="{927EF898-3EC7-7A8A-6992-BAE57F29F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4488"/>
            <a:ext cx="7705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10.20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General design of encoder and decoder of a CRC code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的硬件实现不做要求，选讲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6" name="Line 5">
            <a:extLst>
              <a:ext uri="{FF2B5EF4-FFF2-40B4-BE49-F238E27FC236}">
                <a16:creationId xmlns:a16="http://schemas.microsoft.com/office/drawing/2014/main" id="{5A55C313-E3D9-CE25-002E-87BF62F3F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647" name="Picture 6">
            <a:extLst>
              <a:ext uri="{FF2B5EF4-FFF2-40B4-BE49-F238E27FC236}">
                <a16:creationId xmlns:a16="http://schemas.microsoft.com/office/drawing/2014/main" id="{ECC0BC0E-E965-9B9F-E4FC-40B985DDF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38" y="1371600"/>
            <a:ext cx="6545262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1">
            <a:extLst>
              <a:ext uri="{FF2B5EF4-FFF2-40B4-BE49-F238E27FC236}">
                <a16:creationId xmlns:a16="http://schemas.microsoft.com/office/drawing/2014/main" id="{47427345-9FE3-EA84-7DA1-386E76F0E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DF55ADCC-F379-4951-A84A-F5986F7319D9}" type="slidenum">
              <a:rPr lang="en-US" altLang="zh-CN" sz="2000" smtClean="0">
                <a:solidFill>
                  <a:schemeClr val="bg2"/>
                </a:solidFill>
              </a:rPr>
              <a:pPr/>
              <a:t>55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4691" name="Line 2">
            <a:extLst>
              <a:ext uri="{FF2B5EF4-FFF2-40B4-BE49-F238E27FC236}">
                <a16:creationId xmlns:a16="http://schemas.microsoft.com/office/drawing/2014/main" id="{41E4F936-073C-4949-8B8D-CED221DA7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2" name="Line 3">
            <a:extLst>
              <a:ext uri="{FF2B5EF4-FFF2-40B4-BE49-F238E27FC236}">
                <a16:creationId xmlns:a16="http://schemas.microsoft.com/office/drawing/2014/main" id="{FA6ADFB5-2846-C013-87AA-1B32C4D1D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3" name="Text Box 4">
            <a:extLst>
              <a:ext uri="{FF2B5EF4-FFF2-40B4-BE49-F238E27FC236}">
                <a16:creationId xmlns:a16="http://schemas.microsoft.com/office/drawing/2014/main" id="{7974E43D-56F2-CC43-4974-E3885EF07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44513"/>
            <a:ext cx="6488113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10.21  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polynomial to represent a binary word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循环冗余校验码可以用多项式表示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4" name="Line 5">
            <a:extLst>
              <a:ext uri="{FF2B5EF4-FFF2-40B4-BE49-F238E27FC236}">
                <a16:creationId xmlns:a16="http://schemas.microsoft.com/office/drawing/2014/main" id="{7E6BBCF0-5605-577D-0B3B-FFC487653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4695" name="Picture 6">
            <a:extLst>
              <a:ext uri="{FF2B5EF4-FFF2-40B4-BE49-F238E27FC236}">
                <a16:creationId xmlns:a16="http://schemas.microsoft.com/office/drawing/2014/main" id="{F54B9C64-1444-FCB3-4E49-99AEA0F9C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560638"/>
            <a:ext cx="8848725" cy="239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1">
            <a:extLst>
              <a:ext uri="{FF2B5EF4-FFF2-40B4-BE49-F238E27FC236}">
                <a16:creationId xmlns:a16="http://schemas.microsoft.com/office/drawing/2014/main" id="{10A04A51-2ECD-11E5-028D-9E81977F4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36C84DB5-B76C-4F3F-ACD8-45CF59DF0F39}" type="slidenum">
              <a:rPr lang="en-US" altLang="zh-CN" sz="2000" smtClean="0">
                <a:solidFill>
                  <a:schemeClr val="bg2"/>
                </a:solidFill>
              </a:rPr>
              <a:pPr/>
              <a:t>56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6739" name="Line 2">
            <a:extLst>
              <a:ext uri="{FF2B5EF4-FFF2-40B4-BE49-F238E27FC236}">
                <a16:creationId xmlns:a16="http://schemas.microsoft.com/office/drawing/2014/main" id="{93D5E581-9B62-0E08-72C9-9E02565DB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0" name="Line 3">
            <a:extLst>
              <a:ext uri="{FF2B5EF4-FFF2-40B4-BE49-F238E27FC236}">
                <a16:creationId xmlns:a16="http://schemas.microsoft.com/office/drawing/2014/main" id="{E97209DC-DEB1-2822-A465-E57AAAC26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1" name="Text Box 4">
            <a:extLst>
              <a:ext uri="{FF2B5EF4-FFF2-40B4-BE49-F238E27FC236}">
                <a16:creationId xmlns:a16="http://schemas.microsoft.com/office/drawing/2014/main" id="{7531DF0C-379D-27D1-F304-C35B21508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220663"/>
            <a:ext cx="58499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10.22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CRC division using polynomials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这样，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除法就变成多项式除法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42" name="Line 5">
            <a:extLst>
              <a:ext uri="{FF2B5EF4-FFF2-40B4-BE49-F238E27FC236}">
                <a16:creationId xmlns:a16="http://schemas.microsoft.com/office/drawing/2014/main" id="{C9F262DA-3CC4-C7AC-54D9-26C77532E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6743" name="Picture 6">
            <a:extLst>
              <a:ext uri="{FF2B5EF4-FFF2-40B4-BE49-F238E27FC236}">
                <a16:creationId xmlns:a16="http://schemas.microsoft.com/office/drawing/2014/main" id="{C5CA1009-735B-0CC7-2448-4A153FEBC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524000"/>
            <a:ext cx="6097587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1">
            <a:extLst>
              <a:ext uri="{FF2B5EF4-FFF2-40B4-BE49-F238E27FC236}">
                <a16:creationId xmlns:a16="http://schemas.microsoft.com/office/drawing/2014/main" id="{1A63C268-4C9C-8945-DFAC-982D37EE2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EC07FE55-4CE5-40D4-87F9-5C4AC9E09E68}" type="slidenum">
              <a:rPr lang="en-US" altLang="zh-CN" sz="2000" smtClean="0">
                <a:solidFill>
                  <a:schemeClr val="bg2"/>
                </a:solidFill>
              </a:rPr>
              <a:pPr/>
              <a:t>57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89DA72DF-A103-3476-65F6-8464134199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DFB7E42B-1079-A8A3-8E29-BC11884B03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9" name="Rectangle 4">
            <a:extLst>
              <a:ext uri="{FF2B5EF4-FFF2-40B4-BE49-F238E27FC236}">
                <a16:creationId xmlns:a16="http://schemas.microsoft.com/office/drawing/2014/main" id="{6A1A49EA-01C7-E185-AF6B-56A5073C9A2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90" name="Rectangle 5">
            <a:extLst>
              <a:ext uri="{FF2B5EF4-FFF2-40B4-BE49-F238E27FC236}">
                <a16:creationId xmlns:a16="http://schemas.microsoft.com/office/drawing/2014/main" id="{C8CED7FE-FB8A-B59B-6A84-B660513043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91" name="Rectangle 6">
            <a:extLst>
              <a:ext uri="{FF2B5EF4-FFF2-40B4-BE49-F238E27FC236}">
                <a16:creationId xmlns:a16="http://schemas.microsoft.com/office/drawing/2014/main" id="{DC4E089F-7346-F2B0-7C0C-2F3838C54D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92" name="Rectangle 7">
            <a:extLst>
              <a:ext uri="{FF2B5EF4-FFF2-40B4-BE49-F238E27FC236}">
                <a16:creationId xmlns:a16="http://schemas.microsoft.com/office/drawing/2014/main" id="{9A54E3A1-CAA5-E3CB-E8A9-2B43A59023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93" name="Rectangle 8">
            <a:extLst>
              <a:ext uri="{FF2B5EF4-FFF2-40B4-BE49-F238E27FC236}">
                <a16:creationId xmlns:a16="http://schemas.microsoft.com/office/drawing/2014/main" id="{FF73505D-3202-BDD7-20BE-C5B0E6FAC8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94" name="Line 9">
            <a:extLst>
              <a:ext uri="{FF2B5EF4-FFF2-40B4-BE49-F238E27FC236}">
                <a16:creationId xmlns:a16="http://schemas.microsoft.com/office/drawing/2014/main" id="{2C1B7956-560C-6461-4956-38CC5D085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5" name="Line 10">
            <a:extLst>
              <a:ext uri="{FF2B5EF4-FFF2-40B4-BE49-F238E27FC236}">
                <a16:creationId xmlns:a16="http://schemas.microsoft.com/office/drawing/2014/main" id="{34FEEB5C-F38D-C196-AA39-AE2B5D77D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6" name="Rectangle 11">
            <a:extLst>
              <a:ext uri="{FF2B5EF4-FFF2-40B4-BE49-F238E27FC236}">
                <a16:creationId xmlns:a16="http://schemas.microsoft.com/office/drawing/2014/main" id="{444B6B81-412B-991E-DDCE-B8A44B0A5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循环码的除数通常称为生成多项式，简称生成子（生成器）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18797" name="Group 12">
            <a:extLst>
              <a:ext uri="{FF2B5EF4-FFF2-40B4-BE49-F238E27FC236}">
                <a16:creationId xmlns:a16="http://schemas.microsoft.com/office/drawing/2014/main" id="{C3DCE125-4625-C46F-736E-E83EC5E3FFD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118798" name="Picture 13">
              <a:extLst>
                <a:ext uri="{FF2B5EF4-FFF2-40B4-BE49-F238E27FC236}">
                  <a16:creationId xmlns:a16="http://schemas.microsoft.com/office/drawing/2014/main" id="{C9D2F544-8336-4E2B-D755-7CA43A454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799" name="Text Box 14">
              <a:extLst>
                <a:ext uri="{FF2B5EF4-FFF2-40B4-BE49-F238E27FC236}">
                  <a16:creationId xmlns:a16="http://schemas.microsoft.com/office/drawing/2014/main" id="{142D273A-85EB-359C-2AE6-BEDE44F64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1">
            <a:extLst>
              <a:ext uri="{FF2B5EF4-FFF2-40B4-BE49-F238E27FC236}">
                <a16:creationId xmlns:a16="http://schemas.microsoft.com/office/drawing/2014/main" id="{2F3BF318-08FE-86EA-9E2A-A3045D25A1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82468F48-2DEC-499A-A010-C80F9AA309FE}" type="slidenum">
              <a:rPr lang="en-US" altLang="zh-CN" sz="2000" smtClean="0">
                <a:solidFill>
                  <a:schemeClr val="bg2"/>
                </a:solidFill>
              </a:rPr>
              <a:pPr/>
              <a:t>58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F8D08D2-9F9D-54E8-553D-5D999B81DB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CAA275C6-259E-0144-9874-8CD81B28FF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37" name="Rectangle 4">
            <a:extLst>
              <a:ext uri="{FF2B5EF4-FFF2-40B4-BE49-F238E27FC236}">
                <a16:creationId xmlns:a16="http://schemas.microsoft.com/office/drawing/2014/main" id="{D3E4ADDC-29B5-A879-D727-831B7F8C7C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38" name="Rectangle 5">
            <a:extLst>
              <a:ext uri="{FF2B5EF4-FFF2-40B4-BE49-F238E27FC236}">
                <a16:creationId xmlns:a16="http://schemas.microsoft.com/office/drawing/2014/main" id="{9F511BE3-60D3-294A-FA92-206EC6AAC8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39" name="Rectangle 6">
            <a:extLst>
              <a:ext uri="{FF2B5EF4-FFF2-40B4-BE49-F238E27FC236}">
                <a16:creationId xmlns:a16="http://schemas.microsoft.com/office/drawing/2014/main" id="{9D8D4998-001B-98E4-1BCC-36B45431F03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40" name="Rectangle 7">
            <a:extLst>
              <a:ext uri="{FF2B5EF4-FFF2-40B4-BE49-F238E27FC236}">
                <a16:creationId xmlns:a16="http://schemas.microsoft.com/office/drawing/2014/main" id="{1D5DCAE5-4240-9A36-AE61-E17F71B961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0841" name="Rectangle 8">
            <a:extLst>
              <a:ext uri="{FF2B5EF4-FFF2-40B4-BE49-F238E27FC236}">
                <a16:creationId xmlns:a16="http://schemas.microsoft.com/office/drawing/2014/main" id="{2690EAC3-F20C-3A66-F262-FF5E967C65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0842" name="Group 12">
            <a:extLst>
              <a:ext uri="{FF2B5EF4-FFF2-40B4-BE49-F238E27FC236}">
                <a16:creationId xmlns:a16="http://schemas.microsoft.com/office/drawing/2014/main" id="{5ABFFC30-8F90-ECAE-825B-1CEE7D3DF6CF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1130300"/>
            <a:ext cx="8686800" cy="5194300"/>
            <a:chOff x="192" y="1440"/>
            <a:chExt cx="5137" cy="2863"/>
          </a:xfrm>
        </p:grpSpPr>
        <p:sp>
          <p:nvSpPr>
            <p:cNvPr id="120848" name="Line 9">
              <a:extLst>
                <a:ext uri="{FF2B5EF4-FFF2-40B4-BE49-F238E27FC236}">
                  <a16:creationId xmlns:a16="http://schemas.microsoft.com/office/drawing/2014/main" id="{388E5992-D116-D99F-ADAB-2D8A80A4E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440"/>
              <a:ext cx="5136" cy="0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49" name="Line 10">
              <a:extLst>
                <a:ext uri="{FF2B5EF4-FFF2-40B4-BE49-F238E27FC236}">
                  <a16:creationId xmlns:a16="http://schemas.microsoft.com/office/drawing/2014/main" id="{0E36B3F8-E30D-27B7-4DEA-365FC3839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" y="4303"/>
              <a:ext cx="5136" cy="0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43" name="Rectangle 11">
            <a:extLst>
              <a:ext uri="{FF2B5EF4-FFF2-40B4-BE49-F238E27FC236}">
                <a16:creationId xmlns:a16="http://schemas.microsoft.com/office/drawing/2014/main" id="{2EA2CBDB-B167-4ECB-52AD-1EEB0BA15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19200"/>
            <a:ext cx="8496300" cy="50165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 a cyclic code,</a:t>
            </a:r>
          </a:p>
          <a:p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(x) ≠ 0, one or more bits is corrupted.</a:t>
            </a:r>
          </a:p>
          <a:p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(x) = 0, either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   </a:t>
            </a:r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a.</a:t>
            </a:r>
            <a:r>
              <a:rPr lang="en-US" altLang="zh-CN">
                <a:ea typeface="宋体" panose="02010600030101010101" pitchFamily="2" charset="-122"/>
              </a:rPr>
              <a:t> No bit is corrupted. or</a:t>
            </a:r>
          </a:p>
          <a:p>
            <a:r>
              <a:rPr lang="en-US" altLang="zh-CN">
                <a:ea typeface="宋体" panose="02010600030101010101" pitchFamily="2" charset="-122"/>
              </a:rPr>
              <a:t>   </a:t>
            </a:r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b.</a:t>
            </a:r>
            <a:r>
              <a:rPr lang="en-US" altLang="zh-CN">
                <a:ea typeface="宋体" panose="02010600030101010101" pitchFamily="2" charset="-122"/>
              </a:rPr>
              <a:t> Some bits are corrupted, but the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   decoder failed to detect them.</a:t>
            </a:r>
          </a:p>
          <a:p>
            <a:r>
              <a:rPr lang="en-US" altLang="zh-CN">
                <a:ea typeface="宋体" panose="02010600030101010101" pitchFamily="2" charset="-122"/>
              </a:rPr>
              <a:t>CRC</a:t>
            </a:r>
            <a:r>
              <a:rPr lang="zh-CN" altLang="en-US">
                <a:ea typeface="宋体" panose="02010600030101010101" pitchFamily="2" charset="-122"/>
              </a:rPr>
              <a:t>中，校正子</a:t>
            </a:r>
            <a:r>
              <a:rPr lang="en-US" altLang="zh-CN">
                <a:ea typeface="宋体" panose="02010600030101010101" pitchFamily="2" charset="-122"/>
              </a:rPr>
              <a:t>S(x) ≠ 0</a:t>
            </a:r>
            <a:r>
              <a:rPr lang="zh-CN" altLang="en-US">
                <a:ea typeface="宋体" panose="02010600030101010101" pitchFamily="2" charset="-122"/>
              </a:rPr>
              <a:t>说明有差错；</a:t>
            </a:r>
            <a:r>
              <a:rPr lang="en-US" altLang="zh-CN">
                <a:ea typeface="宋体" panose="02010600030101010101" pitchFamily="2" charset="-122"/>
              </a:rPr>
              <a:t>=0</a:t>
            </a:r>
            <a:r>
              <a:rPr lang="zh-CN" altLang="en-US">
                <a:ea typeface="宋体" panose="02010600030101010101" pitchFamily="2" charset="-122"/>
              </a:rPr>
              <a:t>说明无差错或者有差错但译码器无法检测出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zh-CN" altLang="en-US">
                <a:ea typeface="宋体" panose="02010600030101010101" pitchFamily="2" charset="-122"/>
              </a:rPr>
              <a:t>超出检错能力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20844" name="Group 13">
            <a:extLst>
              <a:ext uri="{FF2B5EF4-FFF2-40B4-BE49-F238E27FC236}">
                <a16:creationId xmlns:a16="http://schemas.microsoft.com/office/drawing/2014/main" id="{92299039-60CA-865A-E04F-7D62391314F9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557213"/>
            <a:ext cx="1143000" cy="566737"/>
            <a:chOff x="1200" y="1248"/>
            <a:chExt cx="720" cy="357"/>
          </a:xfrm>
        </p:grpSpPr>
        <p:pic>
          <p:nvPicPr>
            <p:cNvPr id="120846" name="Picture 14">
              <a:extLst>
                <a:ext uri="{FF2B5EF4-FFF2-40B4-BE49-F238E27FC236}">
                  <a16:creationId xmlns:a16="http://schemas.microsoft.com/office/drawing/2014/main" id="{AC3AD128-1D1E-14F4-2F30-09C966D71F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847" name="Text Box 15">
              <a:extLst>
                <a:ext uri="{FF2B5EF4-FFF2-40B4-BE49-F238E27FC236}">
                  <a16:creationId xmlns:a16="http://schemas.microsoft.com/office/drawing/2014/main" id="{2C888648-F2BB-1005-8609-D1A899DC8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sp>
        <p:nvSpPr>
          <p:cNvPr id="120845" name="Text Box 4">
            <a:extLst>
              <a:ext uri="{FF2B5EF4-FFF2-40B4-BE49-F238E27FC236}">
                <a16:creationId xmlns:a16="http://schemas.microsoft.com/office/drawing/2014/main" id="{52C96A3A-91E2-902B-8260-C1D387401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25463"/>
            <a:ext cx="173196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CRC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性能分析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1">
            <a:extLst>
              <a:ext uri="{FF2B5EF4-FFF2-40B4-BE49-F238E27FC236}">
                <a16:creationId xmlns:a16="http://schemas.microsoft.com/office/drawing/2014/main" id="{8F11D18D-9A24-A6FB-7EB3-792525897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760D6547-F565-4631-8F3C-214C64D4C9E5}" type="slidenum">
              <a:rPr lang="en-US" altLang="zh-CN" sz="2000" smtClean="0">
                <a:solidFill>
                  <a:schemeClr val="bg2"/>
                </a:solidFill>
              </a:rPr>
              <a:pPr/>
              <a:t>59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4B66CE73-C36C-3BC5-AFD9-9B4F7988F9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94B86279-949D-5695-4E42-847A5C7B5C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85" name="Rectangle 4">
            <a:extLst>
              <a:ext uri="{FF2B5EF4-FFF2-40B4-BE49-F238E27FC236}">
                <a16:creationId xmlns:a16="http://schemas.microsoft.com/office/drawing/2014/main" id="{9AE4DE98-CAC9-693F-520E-BA11DA098B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86" name="Rectangle 5">
            <a:extLst>
              <a:ext uri="{FF2B5EF4-FFF2-40B4-BE49-F238E27FC236}">
                <a16:creationId xmlns:a16="http://schemas.microsoft.com/office/drawing/2014/main" id="{D43D7DE4-125D-00A6-5BBC-D6FDE607CA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87" name="Rectangle 6">
            <a:extLst>
              <a:ext uri="{FF2B5EF4-FFF2-40B4-BE49-F238E27FC236}">
                <a16:creationId xmlns:a16="http://schemas.microsoft.com/office/drawing/2014/main" id="{8695A248-2F8E-73B4-41E4-2089C26A007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88" name="Rectangle 7">
            <a:extLst>
              <a:ext uri="{FF2B5EF4-FFF2-40B4-BE49-F238E27FC236}">
                <a16:creationId xmlns:a16="http://schemas.microsoft.com/office/drawing/2014/main" id="{D1E454D0-7F42-AAFC-1DE2-BF5E63CC8B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89" name="Rectangle 8">
            <a:extLst>
              <a:ext uri="{FF2B5EF4-FFF2-40B4-BE49-F238E27FC236}">
                <a16:creationId xmlns:a16="http://schemas.microsoft.com/office/drawing/2014/main" id="{2C4DA702-F89A-2963-BFFA-C3E1443DF2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890" name="Line 9">
            <a:extLst>
              <a:ext uri="{FF2B5EF4-FFF2-40B4-BE49-F238E27FC236}">
                <a16:creationId xmlns:a16="http://schemas.microsoft.com/office/drawing/2014/main" id="{CF609279-8383-5DFF-12CA-5B3D21CEE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91" name="Line 10">
            <a:extLst>
              <a:ext uri="{FF2B5EF4-FFF2-40B4-BE49-F238E27FC236}">
                <a16:creationId xmlns:a16="http://schemas.microsoft.com/office/drawing/2014/main" id="{6AF48865-F326-648C-085A-F796BAE60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92" name="Rectangle 11">
            <a:extLst>
              <a:ext uri="{FF2B5EF4-FFF2-40B4-BE49-F238E27FC236}">
                <a16:creationId xmlns:a16="http://schemas.microsoft.com/office/drawing/2014/main" id="{A8EF8F1E-571F-BC4E-0801-56C105CA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 a cyclic code, those </a:t>
            </a:r>
            <a:r>
              <a:rPr lang="en-US" altLang="zh-CN" i="1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(x) errors that are divisible by 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(x) are not caught.</a:t>
            </a:r>
          </a:p>
          <a:p>
            <a:r>
              <a:rPr lang="zh-CN" altLang="en-US">
                <a:ea typeface="宋体" panose="02010600030101010101" pitchFamily="2" charset="-122"/>
              </a:rPr>
              <a:t>循环码中，有些可以被生成多项式</a:t>
            </a:r>
            <a:r>
              <a:rPr lang="en-US" altLang="zh-CN">
                <a:ea typeface="宋体" panose="02010600030101010101" pitchFamily="2" charset="-122"/>
              </a:rPr>
              <a:t>g(x)</a:t>
            </a:r>
            <a:r>
              <a:rPr lang="zh-CN" altLang="en-US">
                <a:ea typeface="宋体" panose="02010600030101010101" pitchFamily="2" charset="-122"/>
              </a:rPr>
              <a:t>整除的差错无法被捕捉到。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zh-CN" altLang="en-US">
                <a:ea typeface="宋体" panose="02010600030101010101" pitchFamily="2" charset="-122"/>
              </a:rPr>
              <a:t>发生的概率极小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22893" name="Group 12">
            <a:extLst>
              <a:ext uri="{FF2B5EF4-FFF2-40B4-BE49-F238E27FC236}">
                <a16:creationId xmlns:a16="http://schemas.microsoft.com/office/drawing/2014/main" id="{33560CF4-A439-93B6-26A3-B7D2CE13335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122894" name="Picture 13">
              <a:extLst>
                <a:ext uri="{FF2B5EF4-FFF2-40B4-BE49-F238E27FC236}">
                  <a16:creationId xmlns:a16="http://schemas.microsoft.com/office/drawing/2014/main" id="{709EB44D-E243-E2BE-317D-1C9F250A57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895" name="Text Box 14">
              <a:extLst>
                <a:ext uri="{FF2B5EF4-FFF2-40B4-BE49-F238E27FC236}">
                  <a16:creationId xmlns:a16="http://schemas.microsoft.com/office/drawing/2014/main" id="{A45003CA-4E56-5751-4833-584C46414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1">
            <a:extLst>
              <a:ext uri="{FF2B5EF4-FFF2-40B4-BE49-F238E27FC236}">
                <a16:creationId xmlns:a16="http://schemas.microsoft.com/office/drawing/2014/main" id="{FC8CD21D-7D65-6B45-9FAF-14121FDFD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3B2FD64D-77E4-4550-8061-F184086B1A26}" type="slidenum">
              <a:rPr lang="en-US" altLang="zh-CN" sz="2000" smtClean="0">
                <a:solidFill>
                  <a:schemeClr val="bg2"/>
                </a:solidFill>
              </a:rPr>
              <a:pPr/>
              <a:t>60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0C073EDE-9C60-AF1C-0286-6E9FE02D66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14815396-B229-22A0-295B-B8D241A2E9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3" name="Rectangle 4">
            <a:extLst>
              <a:ext uri="{FF2B5EF4-FFF2-40B4-BE49-F238E27FC236}">
                <a16:creationId xmlns:a16="http://schemas.microsoft.com/office/drawing/2014/main" id="{20C5D6A5-E077-49B4-0B4C-CFA13968F2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4" name="Rectangle 5">
            <a:extLst>
              <a:ext uri="{FF2B5EF4-FFF2-40B4-BE49-F238E27FC236}">
                <a16:creationId xmlns:a16="http://schemas.microsoft.com/office/drawing/2014/main" id="{BF7A36E7-03C0-170E-D953-282D17956F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5" name="Rectangle 6">
            <a:extLst>
              <a:ext uri="{FF2B5EF4-FFF2-40B4-BE49-F238E27FC236}">
                <a16:creationId xmlns:a16="http://schemas.microsoft.com/office/drawing/2014/main" id="{7FC0A7BC-04BE-5AB6-492B-99A7C8EC4B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6" name="Rectangle 7">
            <a:extLst>
              <a:ext uri="{FF2B5EF4-FFF2-40B4-BE49-F238E27FC236}">
                <a16:creationId xmlns:a16="http://schemas.microsoft.com/office/drawing/2014/main" id="{DF131ED5-7F2A-C5DE-8AAE-FC5EF08C50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7" name="Rectangle 8">
            <a:extLst>
              <a:ext uri="{FF2B5EF4-FFF2-40B4-BE49-F238E27FC236}">
                <a16:creationId xmlns:a16="http://schemas.microsoft.com/office/drawing/2014/main" id="{A7EC7C9F-EA37-88A4-EA12-88BE04FEF6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8" name="Line 9">
            <a:extLst>
              <a:ext uri="{FF2B5EF4-FFF2-40B4-BE49-F238E27FC236}">
                <a16:creationId xmlns:a16="http://schemas.microsoft.com/office/drawing/2014/main" id="{000DD464-872A-C603-AA29-AEFA6BEA0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9" name="Line 10">
            <a:extLst>
              <a:ext uri="{FF2B5EF4-FFF2-40B4-BE49-F238E27FC236}">
                <a16:creationId xmlns:a16="http://schemas.microsoft.com/office/drawing/2014/main" id="{54CBC350-1AE2-BEF1-C4BA-7C8A8F0B5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40" name="Rectangle 11">
            <a:extLst>
              <a:ext uri="{FF2B5EF4-FFF2-40B4-BE49-F238E27FC236}">
                <a16:creationId xmlns:a16="http://schemas.microsoft.com/office/drawing/2014/main" id="{8B19BC5A-64AA-A78B-1F95-C91D039A4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542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If the generator has more than one term and the coefficient of x</a:t>
            </a:r>
            <a:r>
              <a:rPr lang="en-US" altLang="zh-CN" baseline="30000"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 is 1,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all single errors can be caught.</a:t>
            </a:r>
          </a:p>
          <a:p>
            <a:r>
              <a:rPr lang="zh-CN" altLang="en-US">
                <a:ea typeface="宋体" panose="02010600030101010101" pitchFamily="2" charset="-122"/>
              </a:rPr>
              <a:t>若生成多项式至少有两项，且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30000"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的系数是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，则所有单比特错误都可以检出。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24941" name="Group 12">
            <a:extLst>
              <a:ext uri="{FF2B5EF4-FFF2-40B4-BE49-F238E27FC236}">
                <a16:creationId xmlns:a16="http://schemas.microsoft.com/office/drawing/2014/main" id="{D2C131E5-F88F-07B8-C1D5-D46E3EB0E88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124942" name="Picture 13">
              <a:extLst>
                <a:ext uri="{FF2B5EF4-FFF2-40B4-BE49-F238E27FC236}">
                  <a16:creationId xmlns:a16="http://schemas.microsoft.com/office/drawing/2014/main" id="{30B07327-E3A6-B51F-A66F-24281518E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4943" name="Text Box 14">
              <a:extLst>
                <a:ext uri="{FF2B5EF4-FFF2-40B4-BE49-F238E27FC236}">
                  <a16:creationId xmlns:a16="http://schemas.microsoft.com/office/drawing/2014/main" id="{E8AD6268-C428-9A02-BC78-B9BB35090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1">
            <a:extLst>
              <a:ext uri="{FF2B5EF4-FFF2-40B4-BE49-F238E27FC236}">
                <a16:creationId xmlns:a16="http://schemas.microsoft.com/office/drawing/2014/main" id="{C7ECD035-B89C-4420-7703-CEF0DB5E1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7950BEB8-72C4-450D-8D15-9E2C19BA7BF5}" type="slidenum">
              <a:rPr lang="en-US" altLang="zh-CN" sz="2000" smtClean="0">
                <a:solidFill>
                  <a:schemeClr val="bg2"/>
                </a:solidFill>
              </a:rPr>
              <a:pPr/>
              <a:t>61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87F38A63-2DC2-72C3-5551-DCF5FD17B7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2E741C24-0742-F813-50C8-C987466F11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1" name="Rectangle 4">
            <a:extLst>
              <a:ext uri="{FF2B5EF4-FFF2-40B4-BE49-F238E27FC236}">
                <a16:creationId xmlns:a16="http://schemas.microsoft.com/office/drawing/2014/main" id="{A70C311C-0F5E-1DB9-8CB0-72C158410C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2" name="Rectangle 5">
            <a:extLst>
              <a:ext uri="{FF2B5EF4-FFF2-40B4-BE49-F238E27FC236}">
                <a16:creationId xmlns:a16="http://schemas.microsoft.com/office/drawing/2014/main" id="{79C782EA-4C38-EC0F-C827-1F678D11B3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3" name="Rectangle 6">
            <a:extLst>
              <a:ext uri="{FF2B5EF4-FFF2-40B4-BE49-F238E27FC236}">
                <a16:creationId xmlns:a16="http://schemas.microsoft.com/office/drawing/2014/main" id="{141B5C15-136F-213B-A4EE-17E2EBC840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4" name="Rectangle 7">
            <a:extLst>
              <a:ext uri="{FF2B5EF4-FFF2-40B4-BE49-F238E27FC236}">
                <a16:creationId xmlns:a16="http://schemas.microsoft.com/office/drawing/2014/main" id="{D13FFD3E-8F35-109C-608C-914AEBE312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5" name="Rectangle 8">
            <a:extLst>
              <a:ext uri="{FF2B5EF4-FFF2-40B4-BE49-F238E27FC236}">
                <a16:creationId xmlns:a16="http://schemas.microsoft.com/office/drawing/2014/main" id="{E27D7E4D-7020-D515-2060-3A3690C263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6" name="Rectangle 9">
            <a:extLst>
              <a:ext uri="{FF2B5EF4-FFF2-40B4-BE49-F238E27FC236}">
                <a16:creationId xmlns:a16="http://schemas.microsoft.com/office/drawing/2014/main" id="{75D5A871-45EE-2F1F-FA5E-386350610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69925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下面三个生成多项式的纠错能力如何？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Which of the following g(x) values guarantees that a single-bit error is caught? For each case, what is the error that cannot be caught?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x +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8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</a:p>
        </p:txBody>
      </p:sp>
      <p:sp>
        <p:nvSpPr>
          <p:cNvPr id="126987" name="Rectangle 10">
            <a:extLst>
              <a:ext uri="{FF2B5EF4-FFF2-40B4-BE49-F238E27FC236}">
                <a16:creationId xmlns:a16="http://schemas.microsoft.com/office/drawing/2014/main" id="{A13060E5-3F26-65D0-D7EE-90B61E096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14663"/>
            <a:ext cx="868680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No x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can be divisible by x + 1. Any single-bit error can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be caught.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If i is equal to or greater than 3, x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is divisible by g(x).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All single-bit errors in positions 1 to 3 are caught.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All values of i make x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divisible by g(x). No single-bit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error can be caught. This  g(x) is useless.</a:t>
            </a:r>
          </a:p>
        </p:txBody>
      </p:sp>
      <p:sp>
        <p:nvSpPr>
          <p:cNvPr id="126988" name="Text Box 11">
            <a:extLst>
              <a:ext uri="{FF2B5EF4-FFF2-40B4-BE49-F238E27FC236}">
                <a16:creationId xmlns:a16="http://schemas.microsoft.com/office/drawing/2014/main" id="{21CF6627-7223-2850-83F5-16E5FF57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1">
            <a:extLst>
              <a:ext uri="{FF2B5EF4-FFF2-40B4-BE49-F238E27FC236}">
                <a16:creationId xmlns:a16="http://schemas.microsoft.com/office/drawing/2014/main" id="{2F9906DE-0469-C6E4-15FC-0D7B42D11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2CB581CA-9C2B-4B4C-9208-310E87C6B98A}" type="slidenum">
              <a:rPr lang="en-US" altLang="zh-CN" sz="2000" smtClean="0">
                <a:solidFill>
                  <a:schemeClr val="bg2"/>
                </a:solidFill>
              </a:rPr>
              <a:pPr/>
              <a:t>62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9027" name="Line 2">
            <a:extLst>
              <a:ext uri="{FF2B5EF4-FFF2-40B4-BE49-F238E27FC236}">
                <a16:creationId xmlns:a16="http://schemas.microsoft.com/office/drawing/2014/main" id="{DE4FDA12-C143-7699-4501-97B7DA831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28" name="Line 3">
            <a:extLst>
              <a:ext uri="{FF2B5EF4-FFF2-40B4-BE49-F238E27FC236}">
                <a16:creationId xmlns:a16="http://schemas.microsoft.com/office/drawing/2014/main" id="{3CCD90F8-277A-2E0B-7A91-0B1F43423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29" name="Text Box 4">
            <a:extLst>
              <a:ext uri="{FF2B5EF4-FFF2-40B4-BE49-F238E27FC236}">
                <a16:creationId xmlns:a16="http://schemas.microsoft.com/office/drawing/2014/main" id="{9FDC55BA-5BE3-AEAB-2F67-37FF9D18E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4513"/>
            <a:ext cx="88900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10.23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Representation of two isolated single-bit errors using polynomials</a:t>
            </a:r>
          </a:p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使用多项式表示的两个独立的单比特差错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30" name="Line 5">
            <a:extLst>
              <a:ext uri="{FF2B5EF4-FFF2-40B4-BE49-F238E27FC236}">
                <a16:creationId xmlns:a16="http://schemas.microsoft.com/office/drawing/2014/main" id="{9915EC54-EAA1-790A-C3AF-55B747E85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9031" name="Picture 6">
            <a:extLst>
              <a:ext uri="{FF2B5EF4-FFF2-40B4-BE49-F238E27FC236}">
                <a16:creationId xmlns:a16="http://schemas.microsoft.com/office/drawing/2014/main" id="{86100840-3280-695A-4042-1343B5AFF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" y="2587625"/>
            <a:ext cx="7148513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1">
            <a:extLst>
              <a:ext uri="{FF2B5EF4-FFF2-40B4-BE49-F238E27FC236}">
                <a16:creationId xmlns:a16="http://schemas.microsoft.com/office/drawing/2014/main" id="{5CDCA16C-F55E-6940-28B0-E082F4E02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CA4A5DDF-F6EB-475B-B887-43B06DF2DA9D}" type="slidenum">
              <a:rPr lang="en-US" altLang="zh-CN" sz="2000" smtClean="0">
                <a:solidFill>
                  <a:schemeClr val="bg2"/>
                </a:solidFill>
              </a:rPr>
              <a:pPr/>
              <a:t>63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22A6A74E-B7FB-73AE-58B6-CE9662C78F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8491E172-038B-5A0D-6967-F9E3FD2479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77" name="Rectangle 4">
            <a:extLst>
              <a:ext uri="{FF2B5EF4-FFF2-40B4-BE49-F238E27FC236}">
                <a16:creationId xmlns:a16="http://schemas.microsoft.com/office/drawing/2014/main" id="{71021BBC-230D-6DD8-AB12-4DB78C055E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78" name="Rectangle 5">
            <a:extLst>
              <a:ext uri="{FF2B5EF4-FFF2-40B4-BE49-F238E27FC236}">
                <a16:creationId xmlns:a16="http://schemas.microsoft.com/office/drawing/2014/main" id="{A8F2DA24-C4C4-E1D2-3DF3-9E9B0F3559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79" name="Rectangle 6">
            <a:extLst>
              <a:ext uri="{FF2B5EF4-FFF2-40B4-BE49-F238E27FC236}">
                <a16:creationId xmlns:a16="http://schemas.microsoft.com/office/drawing/2014/main" id="{1B064AF9-C513-0E66-5F15-1831232D0C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80" name="Rectangle 7">
            <a:extLst>
              <a:ext uri="{FF2B5EF4-FFF2-40B4-BE49-F238E27FC236}">
                <a16:creationId xmlns:a16="http://schemas.microsoft.com/office/drawing/2014/main" id="{C1EF31E6-ADD9-F0F3-7B3E-76D21EAF1F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81" name="Rectangle 8">
            <a:extLst>
              <a:ext uri="{FF2B5EF4-FFF2-40B4-BE49-F238E27FC236}">
                <a16:creationId xmlns:a16="http://schemas.microsoft.com/office/drawing/2014/main" id="{2A067374-4652-117D-AAF9-78DB659498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1082" name="Line 9">
            <a:extLst>
              <a:ext uri="{FF2B5EF4-FFF2-40B4-BE49-F238E27FC236}">
                <a16:creationId xmlns:a16="http://schemas.microsoft.com/office/drawing/2014/main" id="{176339F7-484F-DF7F-BC5C-471DE1A3B8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86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3" name="Line 10">
            <a:extLst>
              <a:ext uri="{FF2B5EF4-FFF2-40B4-BE49-F238E27FC236}">
                <a16:creationId xmlns:a16="http://schemas.microsoft.com/office/drawing/2014/main" id="{04DE0564-9543-44AE-63FF-1D53612FC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3" y="5486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4" name="Rectangle 11">
            <a:extLst>
              <a:ext uri="{FF2B5EF4-FFF2-40B4-BE49-F238E27FC236}">
                <a16:creationId xmlns:a16="http://schemas.microsoft.com/office/drawing/2014/main" id="{EAAD7DA8-65AA-10C3-526A-C8C17731A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378075"/>
            <a:ext cx="8077200" cy="30464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If a generator cannot divide x</a:t>
            </a:r>
            <a:r>
              <a:rPr lang="en-US" altLang="zh-CN" baseline="30000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+ 1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(t between 0 and n – 1),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then all isolated double errors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can be detected.</a:t>
            </a:r>
          </a:p>
          <a:p>
            <a:r>
              <a:rPr lang="zh-CN" altLang="en-US">
                <a:ea typeface="宋体" panose="02010600030101010101" pitchFamily="2" charset="-122"/>
              </a:rPr>
              <a:t>若生成多项式不能整除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30000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+ 1 </a:t>
            </a:r>
            <a:r>
              <a:rPr lang="zh-CN" altLang="en-US">
                <a:ea typeface="宋体" panose="02010600030101010101" pitchFamily="2" charset="-122"/>
              </a:rPr>
              <a:t>，那么所有独立的双比特错误都能被检测到。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31085" name="Group 12">
            <a:extLst>
              <a:ext uri="{FF2B5EF4-FFF2-40B4-BE49-F238E27FC236}">
                <a16:creationId xmlns:a16="http://schemas.microsoft.com/office/drawing/2014/main" id="{99584E86-4436-8CCD-809C-FF4244598E3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00200"/>
            <a:ext cx="1143000" cy="566738"/>
            <a:chOff x="1200" y="1248"/>
            <a:chExt cx="720" cy="357"/>
          </a:xfrm>
        </p:grpSpPr>
        <p:pic>
          <p:nvPicPr>
            <p:cNvPr id="131086" name="Picture 13">
              <a:extLst>
                <a:ext uri="{FF2B5EF4-FFF2-40B4-BE49-F238E27FC236}">
                  <a16:creationId xmlns:a16="http://schemas.microsoft.com/office/drawing/2014/main" id="{2EFDA228-FB98-1498-48B2-D03BC371F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087" name="Text Box 14">
              <a:extLst>
                <a:ext uri="{FF2B5EF4-FFF2-40B4-BE49-F238E27FC236}">
                  <a16:creationId xmlns:a16="http://schemas.microsoft.com/office/drawing/2014/main" id="{7E2222FA-FA13-B438-DED0-384CC9C97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1">
            <a:extLst>
              <a:ext uri="{FF2B5EF4-FFF2-40B4-BE49-F238E27FC236}">
                <a16:creationId xmlns:a16="http://schemas.microsoft.com/office/drawing/2014/main" id="{C09EAAAD-198A-585A-A797-EDD7339F7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FF22D3AF-EDA0-4F61-9A8A-411FB2DF3EE2}" type="slidenum">
              <a:rPr lang="en-US" altLang="zh-CN" sz="2000" smtClean="0">
                <a:solidFill>
                  <a:schemeClr val="bg2"/>
                </a:solidFill>
              </a:rPr>
              <a:pPr/>
              <a:t>64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1C02CF5C-135F-05CD-5F91-C944D0F19C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C56D1A4-334F-1C73-1E12-A23165890E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25" name="Rectangle 4">
            <a:extLst>
              <a:ext uri="{FF2B5EF4-FFF2-40B4-BE49-F238E27FC236}">
                <a16:creationId xmlns:a16="http://schemas.microsoft.com/office/drawing/2014/main" id="{DBB5DAD6-988C-DAD8-DB39-5B6A744419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26" name="Rectangle 5">
            <a:extLst>
              <a:ext uri="{FF2B5EF4-FFF2-40B4-BE49-F238E27FC236}">
                <a16:creationId xmlns:a16="http://schemas.microsoft.com/office/drawing/2014/main" id="{369C7FF6-00EF-BC75-7E05-1DE5C93057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27" name="Rectangle 6">
            <a:extLst>
              <a:ext uri="{FF2B5EF4-FFF2-40B4-BE49-F238E27FC236}">
                <a16:creationId xmlns:a16="http://schemas.microsoft.com/office/drawing/2014/main" id="{7B041435-02E9-5E7D-33F3-65D533F4EE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28" name="Rectangle 7">
            <a:extLst>
              <a:ext uri="{FF2B5EF4-FFF2-40B4-BE49-F238E27FC236}">
                <a16:creationId xmlns:a16="http://schemas.microsoft.com/office/drawing/2014/main" id="{9F5E827C-9476-7895-6A68-CCBB03D29A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29" name="Rectangle 8">
            <a:extLst>
              <a:ext uri="{FF2B5EF4-FFF2-40B4-BE49-F238E27FC236}">
                <a16:creationId xmlns:a16="http://schemas.microsoft.com/office/drawing/2014/main" id="{20FE3B02-1373-77BE-A734-C541AFC4F8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30" name="Rectangle 9">
            <a:extLst>
              <a:ext uri="{FF2B5EF4-FFF2-40B4-BE49-F238E27FC236}">
                <a16:creationId xmlns:a16="http://schemas.microsoft.com/office/drawing/2014/main" id="{7C1C28B7-535A-D46B-45FA-A3B3E7932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68338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下面几个生成多项式对独立的双比特差错能力如何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Find the status of the following generators related to two isolated, single-bit errors.</a:t>
            </a: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 + 1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+ 1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+ 1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+ 1</a:t>
            </a:r>
          </a:p>
        </p:txBody>
      </p:sp>
      <p:sp>
        <p:nvSpPr>
          <p:cNvPr id="133131" name="Rectangle 10">
            <a:extLst>
              <a:ext uri="{FF2B5EF4-FFF2-40B4-BE49-F238E27FC236}">
                <a16:creationId xmlns:a16="http://schemas.microsoft.com/office/drawing/2014/main" id="{245AB937-2B17-1D74-DC2C-E9CC0D241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14600"/>
            <a:ext cx="8686800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is a very poor choice for a generator. Any two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errors next to each other cannot be detected.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generator cannot detect two errors that are four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 positions apart.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is a good choice for this purpose.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polynomial cannot divide x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+ 1 if t is less than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 32,768. A codeword with two isolated errors up to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 32,768 bits apart can be detected by this generator.</a:t>
            </a:r>
          </a:p>
        </p:txBody>
      </p:sp>
      <p:sp>
        <p:nvSpPr>
          <p:cNvPr id="133132" name="Text Box 11">
            <a:extLst>
              <a:ext uri="{FF2B5EF4-FFF2-40B4-BE49-F238E27FC236}">
                <a16:creationId xmlns:a16="http://schemas.microsoft.com/office/drawing/2014/main" id="{33A70E04-B097-9D88-3180-5676F2191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1">
            <a:extLst>
              <a:ext uri="{FF2B5EF4-FFF2-40B4-BE49-F238E27FC236}">
                <a16:creationId xmlns:a16="http://schemas.microsoft.com/office/drawing/2014/main" id="{5DDC61C2-E722-2224-A5E6-31423D996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C5A7CF6B-474A-4908-8D20-975AAA24F3EE}" type="slidenum">
              <a:rPr lang="en-US" altLang="zh-CN" sz="2000" smtClean="0">
                <a:solidFill>
                  <a:schemeClr val="bg2"/>
                </a:solidFill>
              </a:rPr>
              <a:pPr/>
              <a:t>65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C8A2410C-6871-7EA5-096C-BD83B2A969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0DA4FD02-8D6A-9D13-B2F9-0377E6ABAE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3" name="Rectangle 4">
            <a:extLst>
              <a:ext uri="{FF2B5EF4-FFF2-40B4-BE49-F238E27FC236}">
                <a16:creationId xmlns:a16="http://schemas.microsoft.com/office/drawing/2014/main" id="{68DDD2E2-2A42-3DCF-0A3C-1BB70B2AFA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4" name="Rectangle 5">
            <a:extLst>
              <a:ext uri="{FF2B5EF4-FFF2-40B4-BE49-F238E27FC236}">
                <a16:creationId xmlns:a16="http://schemas.microsoft.com/office/drawing/2014/main" id="{721B2D3F-EE6E-542C-2F1E-8AAACC3565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5" name="Rectangle 6">
            <a:extLst>
              <a:ext uri="{FF2B5EF4-FFF2-40B4-BE49-F238E27FC236}">
                <a16:creationId xmlns:a16="http://schemas.microsoft.com/office/drawing/2014/main" id="{11FEA264-625F-ABE8-C620-5019FF6EFE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6" name="Rectangle 7">
            <a:extLst>
              <a:ext uri="{FF2B5EF4-FFF2-40B4-BE49-F238E27FC236}">
                <a16:creationId xmlns:a16="http://schemas.microsoft.com/office/drawing/2014/main" id="{F43FDCA8-5108-14C4-0F16-21733B4ECA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7" name="Rectangle 8">
            <a:extLst>
              <a:ext uri="{FF2B5EF4-FFF2-40B4-BE49-F238E27FC236}">
                <a16:creationId xmlns:a16="http://schemas.microsoft.com/office/drawing/2014/main" id="{65AD3A03-3303-1579-ACE9-BB07C640F2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8" name="Line 9">
            <a:extLst>
              <a:ext uri="{FF2B5EF4-FFF2-40B4-BE49-F238E27FC236}">
                <a16:creationId xmlns:a16="http://schemas.microsoft.com/office/drawing/2014/main" id="{36BC295A-080F-4F15-6CF6-48FD4AF9C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9" name="Line 10">
            <a:extLst>
              <a:ext uri="{FF2B5EF4-FFF2-40B4-BE49-F238E27FC236}">
                <a16:creationId xmlns:a16="http://schemas.microsoft.com/office/drawing/2014/main" id="{03139AB9-788D-740F-B676-8B8115BED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0" name="Rectangle 11">
            <a:extLst>
              <a:ext uri="{FF2B5EF4-FFF2-40B4-BE49-F238E27FC236}">
                <a16:creationId xmlns:a16="http://schemas.microsoft.com/office/drawing/2014/main" id="{50C4DEA4-5D1A-CC2E-6180-2FC255E7D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542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 generator that contains a factor of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 + 1 can detect all odd-numbered errors.</a:t>
            </a:r>
          </a:p>
          <a:p>
            <a:r>
              <a:rPr lang="zh-CN" altLang="en-US">
                <a:ea typeface="宋体" panose="02010600030101010101" pitchFamily="2" charset="-122"/>
              </a:rPr>
              <a:t>包含</a:t>
            </a:r>
            <a:r>
              <a:rPr lang="en-US" altLang="zh-CN">
                <a:ea typeface="宋体" panose="02010600030101010101" pitchFamily="2" charset="-122"/>
              </a:rPr>
              <a:t>x+1</a:t>
            </a:r>
            <a:r>
              <a:rPr lang="zh-CN" altLang="en-US">
                <a:ea typeface="宋体" panose="02010600030101010101" pitchFamily="2" charset="-122"/>
              </a:rPr>
              <a:t>因子的生成多项式能检测到所有奇数个比特错误。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35181" name="Group 12">
            <a:extLst>
              <a:ext uri="{FF2B5EF4-FFF2-40B4-BE49-F238E27FC236}">
                <a16:creationId xmlns:a16="http://schemas.microsoft.com/office/drawing/2014/main" id="{C107CAFF-2134-ECD3-68FB-8FB92A6FAE6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24063"/>
            <a:ext cx="1143000" cy="566737"/>
            <a:chOff x="1200" y="1248"/>
            <a:chExt cx="720" cy="357"/>
          </a:xfrm>
        </p:grpSpPr>
        <p:pic>
          <p:nvPicPr>
            <p:cNvPr id="135182" name="Picture 13">
              <a:extLst>
                <a:ext uri="{FF2B5EF4-FFF2-40B4-BE49-F238E27FC236}">
                  <a16:creationId xmlns:a16="http://schemas.microsoft.com/office/drawing/2014/main" id="{9901288E-E46F-28A2-9B2A-5862D0096F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183" name="Text Box 14">
              <a:extLst>
                <a:ext uri="{FF2B5EF4-FFF2-40B4-BE49-F238E27FC236}">
                  <a16:creationId xmlns:a16="http://schemas.microsoft.com/office/drawing/2014/main" id="{6FF384F6-FF13-2BD4-CAF6-308F8496F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灯片编号占位符 1">
            <a:extLst>
              <a:ext uri="{FF2B5EF4-FFF2-40B4-BE49-F238E27FC236}">
                <a16:creationId xmlns:a16="http://schemas.microsoft.com/office/drawing/2014/main" id="{99EC1FDF-B123-7B7D-7B0F-C9D9835A77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8E4FCC97-B7F6-4611-A22C-F9A14E1E5326}" type="slidenum">
              <a:rPr lang="en-US" altLang="zh-CN" sz="2000" smtClean="0">
                <a:solidFill>
                  <a:schemeClr val="bg2"/>
                </a:solidFill>
              </a:rPr>
              <a:pPr/>
              <a:t>66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794953C5-16E8-C468-96C9-166B4CD999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53B397AC-B3A0-CA9B-4011-75486298FF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221" name="Rectangle 4">
            <a:extLst>
              <a:ext uri="{FF2B5EF4-FFF2-40B4-BE49-F238E27FC236}">
                <a16:creationId xmlns:a16="http://schemas.microsoft.com/office/drawing/2014/main" id="{0D611206-121B-84D2-AE85-01C7C2F864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222" name="Rectangle 5">
            <a:extLst>
              <a:ext uri="{FF2B5EF4-FFF2-40B4-BE49-F238E27FC236}">
                <a16:creationId xmlns:a16="http://schemas.microsoft.com/office/drawing/2014/main" id="{5EE02161-2337-D5D3-9584-9F4210AAD4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223" name="Rectangle 6">
            <a:extLst>
              <a:ext uri="{FF2B5EF4-FFF2-40B4-BE49-F238E27FC236}">
                <a16:creationId xmlns:a16="http://schemas.microsoft.com/office/drawing/2014/main" id="{074AE5DB-C147-DFAE-DBC9-F36158CBC6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224" name="Rectangle 7">
            <a:extLst>
              <a:ext uri="{FF2B5EF4-FFF2-40B4-BE49-F238E27FC236}">
                <a16:creationId xmlns:a16="http://schemas.microsoft.com/office/drawing/2014/main" id="{BB175DC7-A485-6AC5-801A-AE97C1D111D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225" name="Rectangle 8">
            <a:extLst>
              <a:ext uri="{FF2B5EF4-FFF2-40B4-BE49-F238E27FC236}">
                <a16:creationId xmlns:a16="http://schemas.microsoft.com/office/drawing/2014/main" id="{0477F082-721D-18D6-E182-FF2B394CAD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7226" name="Group 12">
            <a:extLst>
              <a:ext uri="{FF2B5EF4-FFF2-40B4-BE49-F238E27FC236}">
                <a16:creationId xmlns:a16="http://schemas.microsoft.com/office/drawing/2014/main" id="{A1D41045-6394-2CF5-044D-F98C579D19D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043113"/>
            <a:ext cx="8154988" cy="3671887"/>
            <a:chOff x="144" y="1287"/>
            <a:chExt cx="5137" cy="2313"/>
          </a:xfrm>
        </p:grpSpPr>
        <p:sp>
          <p:nvSpPr>
            <p:cNvPr id="137231" name="Line 9">
              <a:extLst>
                <a:ext uri="{FF2B5EF4-FFF2-40B4-BE49-F238E27FC236}">
                  <a16:creationId xmlns:a16="http://schemas.microsoft.com/office/drawing/2014/main" id="{14D9C698-4FD2-5B81-3248-BB5F17F53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287"/>
              <a:ext cx="5136" cy="0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32" name="Line 10">
              <a:extLst>
                <a:ext uri="{FF2B5EF4-FFF2-40B4-BE49-F238E27FC236}">
                  <a16:creationId xmlns:a16="http://schemas.microsoft.com/office/drawing/2014/main" id="{878B5E3A-77F6-0900-4FDE-BEE8F2580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" y="3600"/>
              <a:ext cx="5136" cy="0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7227" name="Rectangle 11">
            <a:extLst>
              <a:ext uri="{FF2B5EF4-FFF2-40B4-BE49-F238E27FC236}">
                <a16:creationId xmlns:a16="http://schemas.microsoft.com/office/drawing/2014/main" id="{F6D4F88B-1763-6562-7D2B-4B121EAF1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135188"/>
            <a:ext cx="8496300" cy="35401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b="0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All burst errors with </a:t>
            </a:r>
            <a:r>
              <a:rPr lang="en-US" altLang="zh-CN" i="1">
                <a:ea typeface="宋体" panose="02010600030101010101" pitchFamily="2" charset="-122"/>
              </a:rPr>
              <a:t>L </a:t>
            </a:r>
            <a:r>
              <a:rPr lang="en-US" altLang="zh-CN" b="0">
                <a:ea typeface="宋体" panose="02010600030101010101" pitchFamily="2" charset="-122"/>
              </a:rPr>
              <a:t>≤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</a:rPr>
              <a:t>will be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 detected.</a:t>
            </a:r>
          </a:p>
          <a:p>
            <a:r>
              <a:rPr lang="en-US" altLang="zh-CN" b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b="0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All burst errors with </a:t>
            </a:r>
            <a:r>
              <a:rPr lang="en-US" altLang="zh-CN" i="1">
                <a:ea typeface="宋体" panose="02010600030101010101" pitchFamily="2" charset="-122"/>
              </a:rPr>
              <a:t>L </a:t>
            </a:r>
            <a:r>
              <a:rPr lang="en-US" altLang="zh-CN">
                <a:ea typeface="宋体" panose="02010600030101010101" pitchFamily="2" charset="-122"/>
              </a:rPr>
              <a:t>=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</a:rPr>
              <a:t>+ 1 will be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detected with probability 1 – (1/2)</a:t>
            </a:r>
            <a:r>
              <a:rPr lang="en-US" altLang="zh-CN" i="1" baseline="30000">
                <a:ea typeface="宋体" panose="02010600030101010101" pitchFamily="2" charset="-122"/>
              </a:rPr>
              <a:t>r</a:t>
            </a:r>
            <a:r>
              <a:rPr lang="en-US" altLang="zh-CN" baseline="30000">
                <a:ea typeface="宋体" panose="02010600030101010101" pitchFamily="2" charset="-122"/>
              </a:rPr>
              <a:t>–1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r>
              <a:rPr lang="en-US" altLang="zh-CN" b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b="0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All burst errors with </a:t>
            </a:r>
            <a:r>
              <a:rPr lang="en-US" altLang="zh-CN" i="1">
                <a:ea typeface="宋体" panose="02010600030101010101" pitchFamily="2" charset="-122"/>
              </a:rPr>
              <a:t>L </a:t>
            </a:r>
            <a:r>
              <a:rPr lang="en-US" altLang="zh-CN">
                <a:ea typeface="宋体" panose="02010600030101010101" pitchFamily="2" charset="-122"/>
              </a:rPr>
              <a:t>&gt; </a:t>
            </a:r>
            <a:r>
              <a:rPr lang="en-US" altLang="zh-CN" i="1">
                <a:ea typeface="宋体" panose="02010600030101010101" pitchFamily="2" charset="-122"/>
              </a:rPr>
              <a:t>r </a:t>
            </a:r>
            <a:r>
              <a:rPr lang="en-US" altLang="zh-CN">
                <a:ea typeface="宋体" panose="02010600030101010101" pitchFamily="2" charset="-122"/>
              </a:rPr>
              <a:t>+ 1 will be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 detected with probability 1 – (1/2)</a:t>
            </a:r>
            <a:r>
              <a:rPr lang="en-US" altLang="zh-CN" i="1" baseline="30000">
                <a:ea typeface="宋体" panose="02010600030101010101" pitchFamily="2" charset="-122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r>
              <a:rPr lang="zh-CN" altLang="en-US">
                <a:ea typeface="宋体" panose="02010600030101010101" pitchFamily="2" charset="-122"/>
              </a:rPr>
              <a:t>生成多项式纠突发错误的能力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37228" name="Group 13">
            <a:extLst>
              <a:ext uri="{FF2B5EF4-FFF2-40B4-BE49-F238E27FC236}">
                <a16:creationId xmlns:a16="http://schemas.microsoft.com/office/drawing/2014/main" id="{F07A4F40-D69A-6C80-4A76-0629CBD1C21F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371600"/>
            <a:ext cx="1143000" cy="566738"/>
            <a:chOff x="1200" y="1248"/>
            <a:chExt cx="720" cy="357"/>
          </a:xfrm>
        </p:grpSpPr>
        <p:pic>
          <p:nvPicPr>
            <p:cNvPr id="137229" name="Picture 14">
              <a:extLst>
                <a:ext uri="{FF2B5EF4-FFF2-40B4-BE49-F238E27FC236}">
                  <a16:creationId xmlns:a16="http://schemas.microsoft.com/office/drawing/2014/main" id="{81B15992-E2B0-3565-8A7F-296508FE5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7230" name="Text Box 15">
              <a:extLst>
                <a:ext uri="{FF2B5EF4-FFF2-40B4-BE49-F238E27FC236}">
                  <a16:creationId xmlns:a16="http://schemas.microsoft.com/office/drawing/2014/main" id="{B84FCB0B-4B0A-7AD7-C2F6-8659C5070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1">
            <a:extLst>
              <a:ext uri="{FF2B5EF4-FFF2-40B4-BE49-F238E27FC236}">
                <a16:creationId xmlns:a16="http://schemas.microsoft.com/office/drawing/2014/main" id="{101F48B1-C0CD-6094-5963-FC60CD915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3E6250E3-FD26-4EEF-B84E-49757DD02AB1}" type="slidenum">
              <a:rPr lang="en-US" altLang="zh-CN" sz="2000" smtClean="0">
                <a:solidFill>
                  <a:schemeClr val="bg2"/>
                </a:solidFill>
              </a:rPr>
              <a:pPr/>
              <a:t>67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77672B2F-99A2-3C52-0465-A9161F3DF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2F3A9D92-AA25-14C7-09E5-21B8DCCD9F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69" name="Rectangle 4">
            <a:extLst>
              <a:ext uri="{FF2B5EF4-FFF2-40B4-BE49-F238E27FC236}">
                <a16:creationId xmlns:a16="http://schemas.microsoft.com/office/drawing/2014/main" id="{75CC3CFD-C184-2988-76C3-11E3382CBA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70" name="Rectangle 5">
            <a:extLst>
              <a:ext uri="{FF2B5EF4-FFF2-40B4-BE49-F238E27FC236}">
                <a16:creationId xmlns:a16="http://schemas.microsoft.com/office/drawing/2014/main" id="{FE0A4C53-67D3-1AA2-6D6C-6C09C4E084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71" name="Rectangle 6">
            <a:extLst>
              <a:ext uri="{FF2B5EF4-FFF2-40B4-BE49-F238E27FC236}">
                <a16:creationId xmlns:a16="http://schemas.microsoft.com/office/drawing/2014/main" id="{776093F8-968A-2F95-C065-5E14D92EB9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72" name="Rectangle 7">
            <a:extLst>
              <a:ext uri="{FF2B5EF4-FFF2-40B4-BE49-F238E27FC236}">
                <a16:creationId xmlns:a16="http://schemas.microsoft.com/office/drawing/2014/main" id="{51EA4FC9-D556-6A2D-2EE2-7195F209C14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73" name="Rectangle 8">
            <a:extLst>
              <a:ext uri="{FF2B5EF4-FFF2-40B4-BE49-F238E27FC236}">
                <a16:creationId xmlns:a16="http://schemas.microsoft.com/office/drawing/2014/main" id="{47A83920-49C3-492A-C8EA-90D86C6583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274" name="Rectangle 9">
            <a:extLst>
              <a:ext uri="{FF2B5EF4-FFF2-40B4-BE49-F238E27FC236}">
                <a16:creationId xmlns:a16="http://schemas.microsoft.com/office/drawing/2014/main" id="{A57EDD41-9004-1978-5DEF-0C2A5E1EA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66763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下面的生成多项式纠突发错误的能力如何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Find the suitability of the following generators in relation to burst errors of different lengths.</a:t>
            </a: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+ 1   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x + 1  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x</a:t>
            </a:r>
            <a:r>
              <a:rPr lang="en-US" altLang="zh-CN" sz="28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+ 1</a:t>
            </a:r>
          </a:p>
        </p:txBody>
      </p:sp>
      <p:sp>
        <p:nvSpPr>
          <p:cNvPr id="139275" name="Rectangle 10">
            <a:extLst>
              <a:ext uri="{FF2B5EF4-FFF2-40B4-BE49-F238E27FC236}">
                <a16:creationId xmlns:a16="http://schemas.microsoft.com/office/drawing/2014/main" id="{AA517FCE-BAB3-6995-2134-BB200E431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generator can detect all burst errors with a length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less than or equal to 6 bits; 3 out of 100 burst errors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with length 7 will slip by; 16 out of 1000 burst errors of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length 8 or more will slip by.</a:t>
            </a:r>
          </a:p>
        </p:txBody>
      </p:sp>
      <p:sp>
        <p:nvSpPr>
          <p:cNvPr id="139276" name="Text Box 11">
            <a:extLst>
              <a:ext uri="{FF2B5EF4-FFF2-40B4-BE49-F238E27FC236}">
                <a16:creationId xmlns:a16="http://schemas.microsoft.com/office/drawing/2014/main" id="{7F8CE1FA-ED41-699D-6107-99F9FFD7D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1">
            <a:extLst>
              <a:ext uri="{FF2B5EF4-FFF2-40B4-BE49-F238E27FC236}">
                <a16:creationId xmlns:a16="http://schemas.microsoft.com/office/drawing/2014/main" id="{27AEA43F-3AA8-F7E5-43CA-86EBF77A6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0C5B6B2B-2CB8-456E-A945-F99662249C13}" type="slidenum">
              <a:rPr lang="en-US" altLang="zh-CN" sz="2000" smtClean="0">
                <a:solidFill>
                  <a:schemeClr val="bg2"/>
                </a:solidFill>
              </a:rPr>
              <a:pPr/>
              <a:t>68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4AB30E9E-3351-CD1F-3E2C-2285BD7D50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F30FCA8E-2D95-4B68-7E96-B13EDFF137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17" name="Rectangle 4">
            <a:extLst>
              <a:ext uri="{FF2B5EF4-FFF2-40B4-BE49-F238E27FC236}">
                <a16:creationId xmlns:a16="http://schemas.microsoft.com/office/drawing/2014/main" id="{DA8FF53B-B360-4994-92CA-30FD2FDDD4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18" name="Rectangle 5">
            <a:extLst>
              <a:ext uri="{FF2B5EF4-FFF2-40B4-BE49-F238E27FC236}">
                <a16:creationId xmlns:a16="http://schemas.microsoft.com/office/drawing/2014/main" id="{1F368652-1CED-69D8-8E33-6C88416113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19" name="Rectangle 6">
            <a:extLst>
              <a:ext uri="{FF2B5EF4-FFF2-40B4-BE49-F238E27FC236}">
                <a16:creationId xmlns:a16="http://schemas.microsoft.com/office/drawing/2014/main" id="{86642D71-53EF-ACFE-68FC-824A360992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20" name="Rectangle 7">
            <a:extLst>
              <a:ext uri="{FF2B5EF4-FFF2-40B4-BE49-F238E27FC236}">
                <a16:creationId xmlns:a16="http://schemas.microsoft.com/office/drawing/2014/main" id="{EF39D977-A148-855B-F8D4-AFDEB75C802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21" name="Rectangle 8">
            <a:extLst>
              <a:ext uri="{FF2B5EF4-FFF2-40B4-BE49-F238E27FC236}">
                <a16:creationId xmlns:a16="http://schemas.microsoft.com/office/drawing/2014/main" id="{9C54A0D7-FC38-B4C0-D7EF-B723AE7BEE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322" name="Rectangle 10">
            <a:extLst>
              <a:ext uri="{FF2B5EF4-FFF2-40B4-BE49-F238E27FC236}">
                <a16:creationId xmlns:a16="http://schemas.microsoft.com/office/drawing/2014/main" id="{D59AA5C5-8812-99CC-A460-21D9F7D3A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generator can detect all burst errors with a length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less than or equal to 18 bits; 8 out of 1 million burst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errors with length 19 will slip by; 4 out of 1 million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burst errors of length 20 or more will slip by.</a:t>
            </a:r>
          </a:p>
          <a:p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This generator can detect all burst errors with a length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less than or equal to 32 bits; 5 out of 10 billion burst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errors with length 33 will slip by; 3 out of 10 billion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burst errors of length 34 or more will slip by.</a:t>
            </a:r>
          </a:p>
        </p:txBody>
      </p:sp>
      <p:sp>
        <p:nvSpPr>
          <p:cNvPr id="141323" name="Text Box 11">
            <a:extLst>
              <a:ext uri="{FF2B5EF4-FFF2-40B4-BE49-F238E27FC236}">
                <a16:creationId xmlns:a16="http://schemas.microsoft.com/office/drawing/2014/main" id="{6C2F1213-DCB4-59CB-351C-04623BE76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7323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10.17 (continued)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灯片编号占位符 1">
            <a:extLst>
              <a:ext uri="{FF2B5EF4-FFF2-40B4-BE49-F238E27FC236}">
                <a16:creationId xmlns:a16="http://schemas.microsoft.com/office/drawing/2014/main" id="{87C6FD39-34F8-3891-49D1-D3E221430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78F02D4-08F6-4471-9460-3BC481C5E844}" type="slidenum">
              <a:rPr lang="en-US" altLang="zh-CN" sz="2000" smtClean="0">
                <a:solidFill>
                  <a:schemeClr val="bg2"/>
                </a:solidFill>
              </a:rPr>
              <a:pPr/>
              <a:t>69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6C8EB34B-2905-284D-9481-85D1229C53B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091052D5-8ADE-E5D1-0759-78C1658DDE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65" name="Rectangle 4">
            <a:extLst>
              <a:ext uri="{FF2B5EF4-FFF2-40B4-BE49-F238E27FC236}">
                <a16:creationId xmlns:a16="http://schemas.microsoft.com/office/drawing/2014/main" id="{9760E36C-7C44-FD1D-065B-172D0C492B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66" name="Rectangle 5">
            <a:extLst>
              <a:ext uri="{FF2B5EF4-FFF2-40B4-BE49-F238E27FC236}">
                <a16:creationId xmlns:a16="http://schemas.microsoft.com/office/drawing/2014/main" id="{AED4D400-C6BE-8320-814B-BF2D99AFAD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67" name="Rectangle 6">
            <a:extLst>
              <a:ext uri="{FF2B5EF4-FFF2-40B4-BE49-F238E27FC236}">
                <a16:creationId xmlns:a16="http://schemas.microsoft.com/office/drawing/2014/main" id="{ED8378E2-0187-13E8-75E4-03E028F502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68" name="Rectangle 7">
            <a:extLst>
              <a:ext uri="{FF2B5EF4-FFF2-40B4-BE49-F238E27FC236}">
                <a16:creationId xmlns:a16="http://schemas.microsoft.com/office/drawing/2014/main" id="{3EA7C0AF-D5D5-110A-D067-979AE024F6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69" name="Rectangle 8">
            <a:extLst>
              <a:ext uri="{FF2B5EF4-FFF2-40B4-BE49-F238E27FC236}">
                <a16:creationId xmlns:a16="http://schemas.microsoft.com/office/drawing/2014/main" id="{2C58FBA7-13F6-B8DA-A987-0E0122468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370" name="Line 9">
            <a:extLst>
              <a:ext uri="{FF2B5EF4-FFF2-40B4-BE49-F238E27FC236}">
                <a16:creationId xmlns:a16="http://schemas.microsoft.com/office/drawing/2014/main" id="{696FFE9B-62F0-1D63-5303-D787975AD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" y="1371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71" name="Line 10">
            <a:extLst>
              <a:ext uri="{FF2B5EF4-FFF2-40B4-BE49-F238E27FC236}">
                <a16:creationId xmlns:a16="http://schemas.microsoft.com/office/drawing/2014/main" id="{69BFCBFE-E4CB-5BBF-DFF6-0DB2EE5F8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6553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72" name="Rectangle 11">
            <a:extLst>
              <a:ext uri="{FF2B5EF4-FFF2-40B4-BE49-F238E27FC236}">
                <a16:creationId xmlns:a16="http://schemas.microsoft.com/office/drawing/2014/main" id="{F08308A8-FCC5-429E-3926-3F566AEFA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452563"/>
            <a:ext cx="8077200" cy="50165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生成多项式检错能力总结：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 good polynomial generator needs to have the following characteristics:</a:t>
            </a:r>
          </a:p>
          <a:p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1.</a:t>
            </a:r>
            <a:r>
              <a:rPr lang="en-US" altLang="zh-CN">
                <a:ea typeface="宋体" panose="02010600030101010101" pitchFamily="2" charset="-122"/>
              </a:rPr>
              <a:t> It should have at least two terms. </a:t>
            </a:r>
            <a:r>
              <a:rPr lang="zh-CN" altLang="en-US">
                <a:ea typeface="宋体" panose="02010600030101010101" pitchFamily="2" charset="-122"/>
              </a:rPr>
              <a:t>两项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2.</a:t>
            </a:r>
            <a:r>
              <a:rPr lang="en-US" altLang="zh-CN">
                <a:ea typeface="宋体" panose="02010600030101010101" pitchFamily="2" charset="-122"/>
              </a:rPr>
              <a:t> The coefficient of the term x</a:t>
            </a:r>
            <a:r>
              <a:rPr lang="en-US" altLang="zh-CN" baseline="30000">
                <a:ea typeface="宋体" panose="02010600030101010101" pitchFamily="2" charset="-122"/>
              </a:rPr>
              <a:t>0</a:t>
            </a:r>
            <a:r>
              <a:rPr lang="en-US" altLang="zh-CN">
                <a:ea typeface="宋体" panose="02010600030101010101" pitchFamily="2" charset="-122"/>
              </a:rPr>
              <a:t> should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be 1. </a:t>
            </a:r>
            <a:r>
              <a:rPr lang="zh-CN" altLang="en-US">
                <a:ea typeface="宋体" panose="02010600030101010101" pitchFamily="2" charset="-122"/>
              </a:rPr>
              <a:t>即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30000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系数一定不为</a:t>
            </a:r>
            <a:r>
              <a:rPr lang="en-US" altLang="zh-CN">
                <a:ea typeface="宋体" panose="02010600030101010101" pitchFamily="2" charset="-122"/>
              </a:rPr>
              <a:t>0</a:t>
            </a:r>
          </a:p>
          <a:p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3.</a:t>
            </a:r>
            <a:r>
              <a:rPr lang="en-US" altLang="zh-CN">
                <a:ea typeface="宋体" panose="02010600030101010101" pitchFamily="2" charset="-122"/>
              </a:rPr>
              <a:t> It should not divide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30000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+ 1, for 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   between 2 and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− 1. </a:t>
            </a:r>
            <a:r>
              <a:rPr lang="zh-CN" altLang="en-US">
                <a:ea typeface="宋体" panose="02010600030101010101" pitchFamily="2" charset="-122"/>
              </a:rPr>
              <a:t>没有因子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30000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 + 1</a:t>
            </a:r>
          </a:p>
          <a:p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4.</a:t>
            </a:r>
            <a:r>
              <a:rPr lang="en-US" altLang="zh-CN">
                <a:ea typeface="宋体" panose="02010600030101010101" pitchFamily="2" charset="-122"/>
              </a:rPr>
              <a:t> It should have the factor 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 + 1.</a:t>
            </a:r>
            <a:r>
              <a:rPr lang="zh-CN" altLang="en-US">
                <a:ea typeface="宋体" panose="02010600030101010101" pitchFamily="2" charset="-122"/>
              </a:rPr>
              <a:t>待讨论</a:t>
            </a:r>
            <a:r>
              <a:rPr lang="en-US" altLang="zh-CN">
                <a:ea typeface="宋体" panose="02010600030101010101" pitchFamily="2" charset="-122"/>
              </a:rPr>
              <a:t>?</a:t>
            </a:r>
          </a:p>
          <a:p>
            <a:r>
              <a:rPr lang="en-US" altLang="zh-CN">
                <a:ea typeface="宋体" panose="02010600030101010101" pitchFamily="2" charset="-122"/>
              </a:rPr>
              <a:t>5. </a:t>
            </a:r>
            <a:r>
              <a:rPr lang="zh-CN" altLang="en-US">
                <a:ea typeface="宋体" panose="02010600030101010101" pitchFamily="2" charset="-122"/>
              </a:rPr>
              <a:t>一定是一个素的生成多项式。（新加的）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43373" name="Group 12">
            <a:extLst>
              <a:ext uri="{FF2B5EF4-FFF2-40B4-BE49-F238E27FC236}">
                <a16:creationId xmlns:a16="http://schemas.microsoft.com/office/drawing/2014/main" id="{2AFB8A88-672B-7169-E139-019A333FEC85}"/>
              </a:ext>
            </a:extLst>
          </p:cNvPr>
          <p:cNvGrpSpPr>
            <a:grpSpLocks/>
          </p:cNvGrpSpPr>
          <p:nvPr/>
        </p:nvGrpSpPr>
        <p:grpSpPr bwMode="auto">
          <a:xfrm>
            <a:off x="636588" y="722313"/>
            <a:ext cx="1143000" cy="566737"/>
            <a:chOff x="1200" y="1248"/>
            <a:chExt cx="720" cy="357"/>
          </a:xfrm>
        </p:grpSpPr>
        <p:pic>
          <p:nvPicPr>
            <p:cNvPr id="143374" name="Picture 13">
              <a:extLst>
                <a:ext uri="{FF2B5EF4-FFF2-40B4-BE49-F238E27FC236}">
                  <a16:creationId xmlns:a16="http://schemas.microsoft.com/office/drawing/2014/main" id="{00EA667D-9C39-6D1B-9A90-6E48A9D37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375" name="Text Box 14">
              <a:extLst>
                <a:ext uri="{FF2B5EF4-FFF2-40B4-BE49-F238E27FC236}">
                  <a16:creationId xmlns:a16="http://schemas.microsoft.com/office/drawing/2014/main" id="{BAAC9E3C-8C7F-8CEE-EF15-1F798B143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灯片编号占位符 1">
            <a:extLst>
              <a:ext uri="{FF2B5EF4-FFF2-40B4-BE49-F238E27FC236}">
                <a16:creationId xmlns:a16="http://schemas.microsoft.com/office/drawing/2014/main" id="{55D59421-1AFF-A1A3-81E0-768B5C47D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3C096AEF-E37E-4770-A54B-1FE8C8A53AAA}" type="slidenum">
              <a:rPr lang="en-US" altLang="zh-CN" sz="2000" smtClean="0">
                <a:solidFill>
                  <a:schemeClr val="bg2"/>
                </a:solidFill>
              </a:rPr>
              <a:pPr/>
              <a:t>70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5411" name="Text Box 2">
            <a:extLst>
              <a:ext uri="{FF2B5EF4-FFF2-40B4-BE49-F238E27FC236}">
                <a16:creationId xmlns:a16="http://schemas.microsoft.com/office/drawing/2014/main" id="{54B610A7-7E2B-2BEA-91EB-AA85EC1AF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95400"/>
            <a:ext cx="731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10.7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Standard polynomials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一些常用的标准生成多项式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5412" name="Picture 4">
            <a:extLst>
              <a:ext uri="{FF2B5EF4-FFF2-40B4-BE49-F238E27FC236}">
                <a16:creationId xmlns:a16="http://schemas.microsoft.com/office/drawing/2014/main" id="{9B1D7250-CF0F-88B1-56DB-5812AA018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1703388"/>
            <a:ext cx="8994775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灯片编号占位符 1">
            <a:extLst>
              <a:ext uri="{FF2B5EF4-FFF2-40B4-BE49-F238E27FC236}">
                <a16:creationId xmlns:a16="http://schemas.microsoft.com/office/drawing/2014/main" id="{3F5D6A05-D535-5943-D82D-690124FB8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BC0851FA-504A-49DD-A336-D60DF82D20BC}" type="slidenum">
              <a:rPr lang="en-US" altLang="zh-CN" sz="2000" smtClean="0">
                <a:solidFill>
                  <a:schemeClr val="bg2"/>
                </a:solidFill>
              </a:rPr>
              <a:pPr/>
              <a:t>71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1186" name="Rectangle 2">
            <a:extLst>
              <a:ext uri="{FF2B5EF4-FFF2-40B4-BE49-F238E27FC236}">
                <a16:creationId xmlns:a16="http://schemas.microsoft.com/office/drawing/2014/main" id="{4117D0D3-B580-6AF5-6C17-4FA103997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61187" name="Text Box 3">
            <a:extLst>
              <a:ext uri="{FF2B5EF4-FFF2-40B4-BE49-F238E27FC236}">
                <a16:creationId xmlns:a16="http://schemas.microsoft.com/office/drawing/2014/main" id="{097194AA-0558-77AF-A2EF-679CBFD1C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633888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10-5   CHECKSUM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校验和与反码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147461" name="Text Box 4">
            <a:extLst>
              <a:ext uri="{FF2B5EF4-FFF2-40B4-BE49-F238E27FC236}">
                <a16:creationId xmlns:a16="http://schemas.microsoft.com/office/drawing/2014/main" id="{59F344C1-4784-5DBB-C903-20270AFD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1189" name="Rectangle 5">
            <a:extLst>
              <a:ext uri="{FF2B5EF4-FFF2-40B4-BE49-F238E27FC236}">
                <a16:creationId xmlns:a16="http://schemas.microsoft.com/office/drawing/2014/main" id="{6DF22119-FA9C-7B58-F515-F7BF64695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560513"/>
            <a:ext cx="822960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最后讨论的一个检错方法称为校验和；校验和在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Internet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中被许多不属于数据链路层的协议使用；校验和也是基于冗余的概念。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47463" name="Rectangle 6">
            <a:extLst>
              <a:ext uri="{FF2B5EF4-FFF2-40B4-BE49-F238E27FC236}">
                <a16:creationId xmlns:a16="http://schemas.microsoft.com/office/drawing/2014/main" id="{3DF25280-5BDB-7975-19D0-A700C4CAB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4911725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Idea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概念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One’s Complement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反码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Internet Checksum  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因特网中的校验和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1191" name="Text Box 7">
            <a:extLst>
              <a:ext uri="{FF2B5EF4-FFF2-40B4-BE49-F238E27FC236}">
                <a16:creationId xmlns:a16="http://schemas.microsoft.com/office/drawing/2014/main" id="{DDB34523-19F7-C990-4C92-82B968166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4419600"/>
            <a:ext cx="48625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1">
            <a:extLst>
              <a:ext uri="{FF2B5EF4-FFF2-40B4-BE49-F238E27FC236}">
                <a16:creationId xmlns:a16="http://schemas.microsoft.com/office/drawing/2014/main" id="{EA07BB42-7D59-085F-3EB8-3DB6519E2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285D4BFC-BC73-415A-AEEE-017378945EA8}" type="slidenum">
              <a:rPr lang="en-US" altLang="zh-CN" sz="2000" smtClean="0">
                <a:solidFill>
                  <a:schemeClr val="bg2"/>
                </a:solidFill>
              </a:rPr>
              <a:pPr/>
              <a:t>72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79A7CF37-7E26-95F4-2B17-0E168BDD19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DF55A6E7-5DD1-9EF2-03D8-FF5E945072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09" name="Rectangle 4">
            <a:extLst>
              <a:ext uri="{FF2B5EF4-FFF2-40B4-BE49-F238E27FC236}">
                <a16:creationId xmlns:a16="http://schemas.microsoft.com/office/drawing/2014/main" id="{5248343F-AB62-1189-0165-046A7CBEA5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10" name="Rectangle 5">
            <a:extLst>
              <a:ext uri="{FF2B5EF4-FFF2-40B4-BE49-F238E27FC236}">
                <a16:creationId xmlns:a16="http://schemas.microsoft.com/office/drawing/2014/main" id="{BA24BA2D-C07E-EFAF-35F0-434E849F435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11" name="Rectangle 6">
            <a:extLst>
              <a:ext uri="{FF2B5EF4-FFF2-40B4-BE49-F238E27FC236}">
                <a16:creationId xmlns:a16="http://schemas.microsoft.com/office/drawing/2014/main" id="{DBA55393-EB75-BAE2-475E-692D3B3DC7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12" name="Rectangle 7">
            <a:extLst>
              <a:ext uri="{FF2B5EF4-FFF2-40B4-BE49-F238E27FC236}">
                <a16:creationId xmlns:a16="http://schemas.microsoft.com/office/drawing/2014/main" id="{B64D703F-5BA8-DEA8-5E09-671B6034873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13" name="Rectangle 8">
            <a:extLst>
              <a:ext uri="{FF2B5EF4-FFF2-40B4-BE49-F238E27FC236}">
                <a16:creationId xmlns:a16="http://schemas.microsoft.com/office/drawing/2014/main" id="{D8F5E061-5088-F8D3-E0F4-F0C5A5036B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9514" name="Rectangle 9">
            <a:extLst>
              <a:ext uri="{FF2B5EF4-FFF2-40B4-BE49-F238E27FC236}">
                <a16:creationId xmlns:a16="http://schemas.microsoft.com/office/drawing/2014/main" id="{9F4628C5-4F58-F6B8-BE25-27D61D921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将要发送的数字为：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(7, 11, 12, 0, 6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实际发送的数字为：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(7, 11, 12, 0, 6,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是发送数字的和；接收方将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个数字相加并与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比较，如果两者相同接收方就认为没错，否则，认为发送错误。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，就是校验和的概念。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15" name="Text Box 11">
            <a:extLst>
              <a:ext uri="{FF2B5EF4-FFF2-40B4-BE49-F238E27FC236}">
                <a16:creationId xmlns:a16="http://schemas.microsoft.com/office/drawing/2014/main" id="{17310C17-0DB3-06FF-0F05-4878E9F17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灯片编号占位符 1">
            <a:extLst>
              <a:ext uri="{FF2B5EF4-FFF2-40B4-BE49-F238E27FC236}">
                <a16:creationId xmlns:a16="http://schemas.microsoft.com/office/drawing/2014/main" id="{EB5EA37C-D24C-BD4A-9D30-77133AC85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6C896F7F-FD34-4357-8421-79E1C7FB2422}" type="slidenum">
              <a:rPr lang="en-US" altLang="zh-CN" sz="2000" smtClean="0">
                <a:solidFill>
                  <a:schemeClr val="bg2"/>
                </a:solidFill>
              </a:rPr>
              <a:pPr/>
              <a:t>73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8CA4A92A-EB7A-7C74-3EB6-D3A798575F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EEC23736-82C0-30F0-2851-3B4C60A300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57" name="Rectangle 4">
            <a:extLst>
              <a:ext uri="{FF2B5EF4-FFF2-40B4-BE49-F238E27FC236}">
                <a16:creationId xmlns:a16="http://schemas.microsoft.com/office/drawing/2014/main" id="{71B614DC-170A-47C7-7646-8BB948C870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58" name="Rectangle 5">
            <a:extLst>
              <a:ext uri="{FF2B5EF4-FFF2-40B4-BE49-F238E27FC236}">
                <a16:creationId xmlns:a16="http://schemas.microsoft.com/office/drawing/2014/main" id="{0D50CA5C-0F1F-5DD5-3FE5-3D512C6AD1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59" name="Rectangle 6">
            <a:extLst>
              <a:ext uri="{FF2B5EF4-FFF2-40B4-BE49-F238E27FC236}">
                <a16:creationId xmlns:a16="http://schemas.microsoft.com/office/drawing/2014/main" id="{D1A5055B-B8AB-BCC1-BCC5-4A391C25C42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60" name="Rectangle 7">
            <a:extLst>
              <a:ext uri="{FF2B5EF4-FFF2-40B4-BE49-F238E27FC236}">
                <a16:creationId xmlns:a16="http://schemas.microsoft.com/office/drawing/2014/main" id="{9A4C7672-89A7-11D6-9404-49C853359D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61" name="Rectangle 8">
            <a:extLst>
              <a:ext uri="{FF2B5EF4-FFF2-40B4-BE49-F238E27FC236}">
                <a16:creationId xmlns:a16="http://schemas.microsoft.com/office/drawing/2014/main" id="{12A47FC8-132E-7896-5CC0-93BB1C4C60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62" name="Rectangle 9">
            <a:extLst>
              <a:ext uri="{FF2B5EF4-FFF2-40B4-BE49-F238E27FC236}">
                <a16:creationId xmlns:a16="http://schemas.microsoft.com/office/drawing/2014/main" id="{B61A1C2E-808E-8824-3194-45CBBF22A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We can make the job of the receiver easier if we send the negative (complement) of the sum, called the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checksum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In this case, we send (7, 11, 12, 0, 6,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−36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). The receiver can add all the numbers received (including the checksum). If the result is 0, it assumes no error; otherwise, there is an error.</a:t>
            </a:r>
          </a:p>
          <a:p>
            <a:pPr algn="just"/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也可以发送和的反码，这样接收器处理更简单些。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63" name="Text Box 11">
            <a:extLst>
              <a:ext uri="{FF2B5EF4-FFF2-40B4-BE49-F238E27FC236}">
                <a16:creationId xmlns:a16="http://schemas.microsoft.com/office/drawing/2014/main" id="{A2CB5383-D50E-A6DC-2940-42DF2306B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10.19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灯片编号占位符 1">
            <a:extLst>
              <a:ext uri="{FF2B5EF4-FFF2-40B4-BE49-F238E27FC236}">
                <a16:creationId xmlns:a16="http://schemas.microsoft.com/office/drawing/2014/main" id="{6B58F340-737E-53AF-4A11-A07B5347F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466FBBCC-B1EC-4BA1-B5BE-FA8CB270781D}" type="slidenum">
              <a:rPr lang="en-US" altLang="zh-CN" sz="2000" smtClean="0">
                <a:solidFill>
                  <a:schemeClr val="bg2"/>
                </a:solidFill>
              </a:rPr>
              <a:pPr/>
              <a:t>74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6CA727FF-3B51-BBE6-A3EB-E986F22630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5CC54D70-EAF1-9BB7-7792-B80FC7FFBC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05" name="Rectangle 4">
            <a:extLst>
              <a:ext uri="{FF2B5EF4-FFF2-40B4-BE49-F238E27FC236}">
                <a16:creationId xmlns:a16="http://schemas.microsoft.com/office/drawing/2014/main" id="{CC085F37-CA49-9F3E-3FF7-40535CA886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06" name="Rectangle 5">
            <a:extLst>
              <a:ext uri="{FF2B5EF4-FFF2-40B4-BE49-F238E27FC236}">
                <a16:creationId xmlns:a16="http://schemas.microsoft.com/office/drawing/2014/main" id="{13F50456-B601-DBD0-7DBF-196983AA55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07" name="Rectangle 6">
            <a:extLst>
              <a:ext uri="{FF2B5EF4-FFF2-40B4-BE49-F238E27FC236}">
                <a16:creationId xmlns:a16="http://schemas.microsoft.com/office/drawing/2014/main" id="{65A71AE0-569D-DE87-7DB2-41C0D1FF78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08" name="Rectangle 7">
            <a:extLst>
              <a:ext uri="{FF2B5EF4-FFF2-40B4-BE49-F238E27FC236}">
                <a16:creationId xmlns:a16="http://schemas.microsoft.com/office/drawing/2014/main" id="{B73906DB-5306-1C42-082D-0E0844F1C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09" name="Rectangle 8">
            <a:extLst>
              <a:ext uri="{FF2B5EF4-FFF2-40B4-BE49-F238E27FC236}">
                <a16:creationId xmlns:a16="http://schemas.microsoft.com/office/drawing/2014/main" id="{FBBDADE6-E467-074E-2902-A778A8BDBB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10" name="Line 9">
            <a:extLst>
              <a:ext uri="{FF2B5EF4-FFF2-40B4-BE49-F238E27FC236}">
                <a16:creationId xmlns:a16="http://schemas.microsoft.com/office/drawing/2014/main" id="{BF7BE791-2422-B866-9F24-208C5B1D4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828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1" name="Line 10">
            <a:extLst>
              <a:ext uri="{FF2B5EF4-FFF2-40B4-BE49-F238E27FC236}">
                <a16:creationId xmlns:a16="http://schemas.microsoft.com/office/drawing/2014/main" id="{66282B5D-982E-494B-5B12-E45C5B159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56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2" name="Rectangle 11">
            <a:extLst>
              <a:ext uri="{FF2B5EF4-FFF2-40B4-BE49-F238E27FC236}">
                <a16:creationId xmlns:a16="http://schemas.microsoft.com/office/drawing/2014/main" id="{FBB07FE3-F4E3-098C-433B-A96EE48BC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892300"/>
            <a:ext cx="8077200" cy="40322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Sender site: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800">
                <a:ea typeface="宋体" panose="02010600030101010101" pitchFamily="2" charset="-122"/>
              </a:rPr>
              <a:t> The message is divided into 16-bit words.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2.</a:t>
            </a:r>
            <a:r>
              <a:rPr lang="en-US" altLang="zh-CN" sz="2800">
                <a:ea typeface="宋体" panose="02010600030101010101" pitchFamily="2" charset="-122"/>
              </a:rPr>
              <a:t> The value of the checksum word is set to 0.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3.</a:t>
            </a:r>
            <a:r>
              <a:rPr lang="en-US" altLang="zh-CN" sz="2800">
                <a:ea typeface="宋体" panose="02010600030101010101" pitchFamily="2" charset="-122"/>
              </a:rPr>
              <a:t> All words including the checksum are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    added using one’s complement addition.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                 (</a:t>
            </a:r>
            <a:r>
              <a:rPr lang="zh-CN" altLang="en-US" sz="2800">
                <a:ea typeface="宋体" panose="02010600030101010101" pitchFamily="2" charset="-122"/>
              </a:rPr>
              <a:t>使用反码运算相加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4.</a:t>
            </a:r>
            <a:r>
              <a:rPr lang="en-US" altLang="zh-CN" sz="2800">
                <a:ea typeface="宋体" panose="02010600030101010101" pitchFamily="2" charset="-122"/>
              </a:rPr>
              <a:t> The sum is complemented and becomes the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     checksum. (</a:t>
            </a:r>
            <a:r>
              <a:rPr lang="zh-CN" altLang="en-US" sz="2800">
                <a:ea typeface="宋体" panose="02010600030101010101" pitchFamily="2" charset="-122"/>
              </a:rPr>
              <a:t>累加和求反码变成校验和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5.</a:t>
            </a:r>
            <a:r>
              <a:rPr lang="en-US" altLang="zh-CN" sz="2800">
                <a:ea typeface="宋体" panose="02010600030101010101" pitchFamily="2" charset="-122"/>
              </a:rPr>
              <a:t> The checksum is sent with the data.</a:t>
            </a:r>
          </a:p>
        </p:txBody>
      </p:sp>
      <p:grpSp>
        <p:nvGrpSpPr>
          <p:cNvPr id="153613" name="Group 12">
            <a:extLst>
              <a:ext uri="{FF2B5EF4-FFF2-40B4-BE49-F238E27FC236}">
                <a16:creationId xmlns:a16="http://schemas.microsoft.com/office/drawing/2014/main" id="{7438C3CE-D86F-58E7-286E-9B2D608DC02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85863"/>
            <a:ext cx="1143000" cy="566737"/>
            <a:chOff x="1200" y="1248"/>
            <a:chExt cx="720" cy="357"/>
          </a:xfrm>
        </p:grpSpPr>
        <p:pic>
          <p:nvPicPr>
            <p:cNvPr id="153615" name="Picture 13">
              <a:extLst>
                <a:ext uri="{FF2B5EF4-FFF2-40B4-BE49-F238E27FC236}">
                  <a16:creationId xmlns:a16="http://schemas.microsoft.com/office/drawing/2014/main" id="{361C6F11-D220-3B65-D2AC-4B8C6F180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16" name="Text Box 14">
              <a:extLst>
                <a:ext uri="{FF2B5EF4-FFF2-40B4-BE49-F238E27FC236}">
                  <a16:creationId xmlns:a16="http://schemas.microsoft.com/office/drawing/2014/main" id="{8217F6A3-20FC-4FF6-DE1D-4FC2201BD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sp>
        <p:nvSpPr>
          <p:cNvPr id="153614" name="Text Box 4">
            <a:extLst>
              <a:ext uri="{FF2B5EF4-FFF2-40B4-BE49-F238E27FC236}">
                <a16:creationId xmlns:a16="http://schemas.microsoft.com/office/drawing/2014/main" id="{F9B8A378-0D33-B912-BF28-F44DCF481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063625"/>
            <a:ext cx="5943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因特网校验和的步骤：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发送方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1">
            <a:extLst>
              <a:ext uri="{FF2B5EF4-FFF2-40B4-BE49-F238E27FC236}">
                <a16:creationId xmlns:a16="http://schemas.microsoft.com/office/drawing/2014/main" id="{C5FE98BD-DD84-F612-6FA5-B42D911B6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4D537DA8-81C9-4EB4-B1D4-3F4E1E8B997A}" type="slidenum">
              <a:rPr lang="en-US" altLang="zh-CN" sz="2000" smtClean="0">
                <a:solidFill>
                  <a:schemeClr val="bg2"/>
                </a:solidFill>
              </a:rPr>
              <a:pPr/>
              <a:t>75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5E26C9E3-E83A-2C2C-7003-C95B8E45EB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4EE09E96-C513-97F1-D56D-B36D918E32A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3" name="Rectangle 4">
            <a:extLst>
              <a:ext uri="{FF2B5EF4-FFF2-40B4-BE49-F238E27FC236}">
                <a16:creationId xmlns:a16="http://schemas.microsoft.com/office/drawing/2014/main" id="{398C3392-E90A-4345-C801-86BE3C7A1E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4" name="Rectangle 5">
            <a:extLst>
              <a:ext uri="{FF2B5EF4-FFF2-40B4-BE49-F238E27FC236}">
                <a16:creationId xmlns:a16="http://schemas.microsoft.com/office/drawing/2014/main" id="{9D57FD6E-173C-0EE6-D080-A8C759292A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5" name="Rectangle 6">
            <a:extLst>
              <a:ext uri="{FF2B5EF4-FFF2-40B4-BE49-F238E27FC236}">
                <a16:creationId xmlns:a16="http://schemas.microsoft.com/office/drawing/2014/main" id="{000AC809-1324-3E90-E1B8-0AF0A72D0B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6" name="Rectangle 7">
            <a:extLst>
              <a:ext uri="{FF2B5EF4-FFF2-40B4-BE49-F238E27FC236}">
                <a16:creationId xmlns:a16="http://schemas.microsoft.com/office/drawing/2014/main" id="{1E9D5D1F-4F5C-A205-D0DD-87BC0238A1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7" name="Rectangle 8">
            <a:extLst>
              <a:ext uri="{FF2B5EF4-FFF2-40B4-BE49-F238E27FC236}">
                <a16:creationId xmlns:a16="http://schemas.microsoft.com/office/drawing/2014/main" id="{DFAC67C5-8260-CFD8-1F00-3ABFAD7ED0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5658" name="Line 9">
            <a:extLst>
              <a:ext uri="{FF2B5EF4-FFF2-40B4-BE49-F238E27FC236}">
                <a16:creationId xmlns:a16="http://schemas.microsoft.com/office/drawing/2014/main" id="{A3E12F9F-5997-F769-593B-F0BAD545E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828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9" name="Line 10">
            <a:extLst>
              <a:ext uri="{FF2B5EF4-FFF2-40B4-BE49-F238E27FC236}">
                <a16:creationId xmlns:a16="http://schemas.microsoft.com/office/drawing/2014/main" id="{64368590-2F6C-FB36-0C7D-D1CCCC3F1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601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0" name="Rectangle 11">
            <a:extLst>
              <a:ext uri="{FF2B5EF4-FFF2-40B4-BE49-F238E27FC236}">
                <a16:creationId xmlns:a16="http://schemas.microsoft.com/office/drawing/2014/main" id="{C28996A3-5FC1-1674-FC3C-299E82416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920875"/>
            <a:ext cx="8077200" cy="40322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Receiver site: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1.</a:t>
            </a:r>
            <a:r>
              <a:rPr lang="en-US" altLang="zh-CN" sz="2800">
                <a:ea typeface="宋体" panose="02010600030101010101" pitchFamily="2" charset="-122"/>
              </a:rPr>
              <a:t> The message (including checksum) is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    divided into 16-bit words.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2.</a:t>
            </a:r>
            <a:r>
              <a:rPr lang="en-US" altLang="zh-CN" sz="2800">
                <a:ea typeface="宋体" panose="02010600030101010101" pitchFamily="2" charset="-122"/>
              </a:rPr>
              <a:t> All words are added using one’s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    complement addition. (</a:t>
            </a:r>
            <a:r>
              <a:rPr lang="zh-CN" altLang="en-US" sz="2800">
                <a:ea typeface="宋体" panose="02010600030101010101" pitchFamily="2" charset="-122"/>
              </a:rPr>
              <a:t>使用反码运算相加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3.</a:t>
            </a:r>
            <a:r>
              <a:rPr lang="en-US" altLang="zh-CN" sz="2800">
                <a:ea typeface="宋体" panose="02010600030101010101" pitchFamily="2" charset="-122"/>
              </a:rPr>
              <a:t> The sum is complemented and becomes the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    new checksum. (</a:t>
            </a:r>
            <a:r>
              <a:rPr lang="zh-CN" altLang="en-US" sz="2800">
                <a:ea typeface="宋体" panose="02010600030101010101" pitchFamily="2" charset="-122"/>
              </a:rPr>
              <a:t>求反码变成新校验和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4.</a:t>
            </a:r>
            <a:r>
              <a:rPr lang="en-US" altLang="zh-CN" sz="2800">
                <a:ea typeface="宋体" panose="02010600030101010101" pitchFamily="2" charset="-122"/>
              </a:rPr>
              <a:t> If the value of checksum is 0, the message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    is accepted; otherwise, it is rejected.</a:t>
            </a:r>
          </a:p>
        </p:txBody>
      </p:sp>
      <p:grpSp>
        <p:nvGrpSpPr>
          <p:cNvPr id="155661" name="Group 12">
            <a:extLst>
              <a:ext uri="{FF2B5EF4-FFF2-40B4-BE49-F238E27FC236}">
                <a16:creationId xmlns:a16="http://schemas.microsoft.com/office/drawing/2014/main" id="{B1997570-FCC9-A33C-8197-894B02009F0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85863"/>
            <a:ext cx="1143000" cy="566737"/>
            <a:chOff x="1200" y="1248"/>
            <a:chExt cx="720" cy="357"/>
          </a:xfrm>
        </p:grpSpPr>
        <p:pic>
          <p:nvPicPr>
            <p:cNvPr id="155663" name="Picture 13">
              <a:extLst>
                <a:ext uri="{FF2B5EF4-FFF2-40B4-BE49-F238E27FC236}">
                  <a16:creationId xmlns:a16="http://schemas.microsoft.com/office/drawing/2014/main" id="{EDAA1946-6975-0C50-CD92-5393E6964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664" name="Text Box 14">
              <a:extLst>
                <a:ext uri="{FF2B5EF4-FFF2-40B4-BE49-F238E27FC236}">
                  <a16:creationId xmlns:a16="http://schemas.microsoft.com/office/drawing/2014/main" id="{F84F0949-F34C-CE5C-CFEF-A71D005B1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sp>
        <p:nvSpPr>
          <p:cNvPr id="155662" name="Text Box 4">
            <a:extLst>
              <a:ext uri="{FF2B5EF4-FFF2-40B4-BE49-F238E27FC236}">
                <a16:creationId xmlns:a16="http://schemas.microsoft.com/office/drawing/2014/main" id="{8B8DABF0-B967-1C13-D7FF-43AEC83C1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063625"/>
            <a:ext cx="5943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因特网校验和的步骤：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接收方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灯片编号占位符 1">
            <a:extLst>
              <a:ext uri="{FF2B5EF4-FFF2-40B4-BE49-F238E27FC236}">
                <a16:creationId xmlns:a16="http://schemas.microsoft.com/office/drawing/2014/main" id="{04A68774-AE00-FCD1-52BB-78B157C42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543F2E28-BC23-46FA-8E0A-A8762CE39B24}" type="slidenum">
              <a:rPr lang="en-US" altLang="zh-CN" sz="2000" smtClean="0">
                <a:solidFill>
                  <a:schemeClr val="bg2"/>
                </a:solidFill>
              </a:rPr>
              <a:pPr/>
              <a:t>76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7699" name="Line 2">
            <a:extLst>
              <a:ext uri="{FF2B5EF4-FFF2-40B4-BE49-F238E27FC236}">
                <a16:creationId xmlns:a16="http://schemas.microsoft.com/office/drawing/2014/main" id="{5F745AE5-A06D-31CD-5C34-E70F595C4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00" name="Line 3">
            <a:extLst>
              <a:ext uri="{FF2B5EF4-FFF2-40B4-BE49-F238E27FC236}">
                <a16:creationId xmlns:a16="http://schemas.microsoft.com/office/drawing/2014/main" id="{98CAF303-D1FF-2CDA-59FA-B83331826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01" name="Text Box 4">
            <a:extLst>
              <a:ext uri="{FF2B5EF4-FFF2-40B4-BE49-F238E27FC236}">
                <a16:creationId xmlns:a16="http://schemas.microsoft.com/office/drawing/2014/main" id="{21E67984-05C3-7EE4-47C8-36709690D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98488"/>
            <a:ext cx="794067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10.25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10.23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注意分段，进位，和反码等相关的操作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(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注意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图右下角有错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2" name="Line 5">
            <a:extLst>
              <a:ext uri="{FF2B5EF4-FFF2-40B4-BE49-F238E27FC236}">
                <a16:creationId xmlns:a16="http://schemas.microsoft.com/office/drawing/2014/main" id="{3502B630-C67A-7A2E-0DD8-9B664E947F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7703" name="Picture 13">
            <a:extLst>
              <a:ext uri="{FF2B5EF4-FFF2-40B4-BE49-F238E27FC236}">
                <a16:creationId xmlns:a16="http://schemas.microsoft.com/office/drawing/2014/main" id="{539F0372-28F5-9642-47BE-F9BC0717B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2359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灯片编号占位符 1">
            <a:extLst>
              <a:ext uri="{FF2B5EF4-FFF2-40B4-BE49-F238E27FC236}">
                <a16:creationId xmlns:a16="http://schemas.microsoft.com/office/drawing/2014/main" id="{E17EFF63-3797-8BA7-BA1B-C638A9500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10.</a:t>
            </a:r>
            <a:fld id="{37C90C52-634B-454E-8104-8A56E54E5F88}" type="slidenum">
              <a:rPr lang="en-US" altLang="zh-CN" sz="2000" smtClean="0">
                <a:solidFill>
                  <a:schemeClr val="bg2"/>
                </a:solidFill>
              </a:rPr>
              <a:pPr/>
              <a:t>77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9747" name="TextBox 2">
            <a:extLst>
              <a:ext uri="{FF2B5EF4-FFF2-40B4-BE49-F238E27FC236}">
                <a16:creationId xmlns:a16="http://schemas.microsoft.com/office/drawing/2014/main" id="{47CA5413-56FC-5720-760B-751580BDA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838200"/>
            <a:ext cx="7162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本章作业：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15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18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23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27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30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4005</TotalTime>
  <Words>3447</Words>
  <Application>Microsoft Office PowerPoint</Application>
  <PresentationFormat>全屏显示(4:3)</PresentationFormat>
  <Paragraphs>405</Paragraphs>
  <Slides>77</Slides>
  <Notes>76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5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236</cp:revision>
  <dcterms:created xsi:type="dcterms:W3CDTF">2000-01-15T04:50:39Z</dcterms:created>
  <dcterms:modified xsi:type="dcterms:W3CDTF">2026-06-02T07:12:01Z</dcterms:modified>
</cp:coreProperties>
</file>